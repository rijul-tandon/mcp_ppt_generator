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70.xml" ContentType="application/vnd.openxmlformats-officedocument.presentationml.slide+xml"/>
  <Override PartName="/ppt/slides/slide330.xml" ContentType="application/vnd.openxmlformats-officedocument.presentationml.slide+xml"/>
  <Override PartName="/ppt/slides/slide350.xml" ContentType="application/vnd.openxmlformats-officedocument.presentationml.slide+xml"/>
  <Override PartName="/ppt/charts/chart10.xml" ContentType="application/vnd.openxmlformats-officedocument.drawingml.chart+xml"/>
  <Override PartName="/ppt/slideLayouts/slideLayout40.xml" ContentType="application/vnd.openxmlformats-officedocument.presentationml.slideLayout+xml"/>
  <Override PartName="/ppt/charts/colors10.xml" ContentType="application/vnd.ms-office.chartcolorstyle+xml"/>
  <Override PartName="/ppt/charts/style10.xml" ContentType="application/vnd.ms-office.chartstyle+xml"/>
  <Override PartName="/ppt/slideMasters/slideMaster10.xml" ContentType="application/vnd.openxmlformats-officedocument.presentationml.slideMaster+xml"/>
  <Override PartName="/ppt/slideLayouts/slideLayout80.xml" ContentType="application/vnd.openxmlformats-officedocument.presentationml.slideLayout+xml"/>
  <Override PartName="/ppt/slideLayouts/slideLayout130.xml" ContentType="application/vnd.openxmlformats-officedocument.presentationml.slideLayout+xml"/>
  <Override PartName="/ppt/slideLayouts/slideLayout180.xml" ContentType="application/vnd.openxmlformats-officedocument.presentationml.slideLayout+xml"/>
  <Override PartName="/ppt/slideLayouts/slideLayout30.xml" ContentType="application/vnd.openxmlformats-officedocument.presentationml.slideLayout+xml"/>
  <Override PartName="/ppt/tags/tag20.xml" ContentType="application/vnd.openxmlformats-officedocument.presentationml.tags+xml"/>
  <Override PartName="/ppt/slideLayouts/slideLayout70.xml" ContentType="application/vnd.openxmlformats-officedocument.presentationml.slideLayout+xml"/>
  <Override PartName="/ppt/slideLayouts/slideLayout120.xml" ContentType="application/vnd.openxmlformats-officedocument.presentationml.slideLayout+xml"/>
  <Override PartName="/ppt/slideLayouts/slideLayout170.xml" ContentType="application/vnd.openxmlformats-officedocument.presentationml.slideLayout+xml"/>
  <Override PartName="/ppt/slideLayouts/slideLayout20.xml" ContentType="application/vnd.openxmlformats-officedocument.presentationml.slideLayout+xml"/>
  <Override PartName="/ppt/slideLayouts/slideLayout160.xml" ContentType="application/vnd.openxmlformats-officedocument.presentationml.slideLayout+xml"/>
  <Override PartName="/ppt/tags/tag10.xml" ContentType="application/vnd.openxmlformats-officedocument.presentationml.tags+xml"/>
  <Override PartName="/ppt/slideLayouts/slideLayout19.xml" ContentType="application/vnd.openxmlformats-officedocument.presentationml.slideLayout+xml"/>
  <Override PartName="/ppt/slideLayouts/slideLayout60.xml" ContentType="application/vnd.openxmlformats-officedocument.presentationml.slideLayout+xml"/>
  <Override PartName="/ppt/slideLayouts/slideLayout110.xml" ContentType="application/vnd.openxmlformats-officedocument.presentationml.slideLayout+xml"/>
  <Override PartName="/ppt/slideLayouts/slideLayout50.xml" ContentType="application/vnd.openxmlformats-officedocument.presentationml.slideLayout+xml"/>
  <Override PartName="/ppt/slideLayouts/slideLayout150.xml" ContentType="application/vnd.openxmlformats-officedocument.presentationml.slideLayout+xml"/>
  <Override PartName="/ppt/slideLayouts/slideLayout100.xml" ContentType="application/vnd.openxmlformats-officedocument.presentationml.slideLayout+xml"/>
  <Override PartName="/ppt/theme/theme10.xml" ContentType="application/vnd.openxmlformats-officedocument.theme+xml"/>
  <Override PartName="/ppt/slideLayouts/slideLayout90.xml" ContentType="application/vnd.openxmlformats-officedocument.presentationml.slideLayout+xml"/>
  <Override PartName="/ppt/slideLayouts/slideLayout140.xml" ContentType="application/vnd.openxmlformats-officedocument.presentationml.slideLayout+xml"/>
  <Override PartName="/ppt/tags/tag3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9"/>
  </p:notesMasterIdLst>
  <p:sldIdLst>
    <p:sldId id="2145707066" r:id="rId5"/>
    <p:sldId id="350" r:id="rId6"/>
    <p:sldId id="2145707128" r:id="rId7"/>
    <p:sldId id="2145707130" r:id="rId8"/>
    <p:sldId id="2145707131" r:id="rId9"/>
    <p:sldId id="2145707126" r:id="rId10"/>
    <p:sldId id="2145707123" r:id="rId11"/>
    <p:sldId id="2145707122" r:id="rId12"/>
    <p:sldId id="341" r:id="rId13"/>
    <p:sldId id="343" r:id="rId14"/>
    <p:sldId id="364" r:id="rId15"/>
    <p:sldId id="2145707111" r:id="rId16"/>
    <p:sldId id="2145707068" r:id="rId17"/>
    <p:sldId id="2145707073" r:id="rId18"/>
    <p:sldId id="2145707074" r:id="rId19"/>
    <p:sldId id="2145707113" r:id="rId20"/>
    <p:sldId id="2145707107" r:id="rId21"/>
    <p:sldId id="267" r:id="rId22"/>
    <p:sldId id="2145707075" r:id="rId23"/>
    <p:sldId id="338" r:id="rId24"/>
    <p:sldId id="2145707078" r:id="rId25"/>
    <p:sldId id="2145707080" r:id="rId26"/>
    <p:sldId id="2145707114" r:id="rId27"/>
    <p:sldId id="2145707093" r:id="rId28"/>
    <p:sldId id="2145707103" r:id="rId29"/>
    <p:sldId id="2145707108" r:id="rId30"/>
    <p:sldId id="2145707100" r:id="rId31"/>
    <p:sldId id="2145707115" r:id="rId32"/>
    <p:sldId id="2145707116" r:id="rId33"/>
    <p:sldId id="2145707117" r:id="rId34"/>
    <p:sldId id="2145707091" r:id="rId35"/>
    <p:sldId id="2145707118" r:id="rId36"/>
    <p:sldId id="2145707077" r:id="rId37"/>
    <p:sldId id="2145707099" r:id="rId38"/>
    <p:sldId id="2145707109" r:id="rId39"/>
    <p:sldId id="2145707089" r:id="rId40"/>
    <p:sldId id="2145707090" r:id="rId41"/>
    <p:sldId id="2145707083" r:id="rId42"/>
    <p:sldId id="2145707112" r:id="rId43"/>
    <p:sldId id="2145707086" r:id="rId44"/>
    <p:sldId id="2145707084" r:id="rId45"/>
    <p:sldId id="2145707088" r:id="rId46"/>
    <p:sldId id="2145707085" r:id="rId47"/>
    <p:sldId id="214570708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FCF53C2-63CE-4CC4-B754-7F47CCD2CFE1}">
          <p14:sldIdLst>
            <p14:sldId id="2145707066"/>
            <p14:sldId id="350"/>
            <p14:sldId id="2145707128"/>
            <p14:sldId id="2145707130"/>
            <p14:sldId id="2145707131"/>
            <p14:sldId id="2145707126"/>
            <p14:sldId id="2145707123"/>
            <p14:sldId id="2145707122"/>
            <p14:sldId id="341"/>
            <p14:sldId id="343"/>
            <p14:sldId id="364"/>
            <p14:sldId id="2145707111"/>
            <p14:sldId id="2145707068"/>
            <p14:sldId id="2145707073"/>
            <p14:sldId id="2145707074"/>
            <p14:sldId id="2145707113"/>
            <p14:sldId id="2145707107"/>
            <p14:sldId id="267"/>
            <p14:sldId id="2145707075"/>
            <p14:sldId id="338"/>
            <p14:sldId id="2145707078"/>
            <p14:sldId id="2145707080"/>
            <p14:sldId id="2145707114"/>
            <p14:sldId id="2145707093"/>
            <p14:sldId id="2145707103"/>
            <p14:sldId id="2145707108"/>
            <p14:sldId id="2145707100"/>
          </p14:sldIdLst>
        </p14:section>
        <p14:section name="Appendix" id="{26F07EC1-6426-4EFC-8993-5F6EB021E17F}">
          <p14:sldIdLst>
            <p14:sldId id="2145707115"/>
            <p14:sldId id="2145707116"/>
            <p14:sldId id="2145707117"/>
            <p14:sldId id="2145707091"/>
            <p14:sldId id="2145707118"/>
            <p14:sldId id="2145707077"/>
            <p14:sldId id="2145707099"/>
            <p14:sldId id="2145707109"/>
            <p14:sldId id="2145707089"/>
            <p14:sldId id="2145707090"/>
            <p14:sldId id="2145707083"/>
            <p14:sldId id="2145707112"/>
            <p14:sldId id="2145707086"/>
            <p14:sldId id="2145707084"/>
            <p14:sldId id="2145707088"/>
            <p14:sldId id="2145707085"/>
            <p14:sldId id="2145707087"/>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597B22-1892-2385-96C1-4D7EDEB91C08}" name="Kanika Maheshwari" initials="KM" userId="S::kanika.maheshwari@procdna.com::594c5f91-4e07-41ca-8fec-8d5e529a864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5A236-49AE-40DB-BDFB-4CE1612D6CCD}" v="146" dt="2026-06-03T22:20:41.118"/>
    <p1510:client id="{3CCD289D-92D1-417F-B1E0-0D642A008442}" v="548" dt="2026-06-03T14:24:45.189"/>
    <p1510:client id="{C05D725E-971E-4021-92DD-27798F417566}" v="486" dt="2026-06-03T11:45:48.3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2" autoAdjust="0"/>
    <p:restoredTop sz="94660"/>
  </p:normalViewPr>
  <p:slideViewPr>
    <p:cSldViewPr snapToGrid="0">
      <p:cViewPr varScale="1">
        <p:scale>
          <a:sx n="109" d="100"/>
          <a:sy n="109" d="100"/>
        </p:scale>
        <p:origin x="12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ika Maheshwari" userId="594c5f91-4e07-41ca-8fec-8d5e529a8640" providerId="ADAL" clId="{BA71AA44-F8F6-4A53-908B-187483859789}"/>
    <pc:docChg chg="undo redo custSel addSld delSld modSld sldOrd addSection delSection modSection">
      <pc:chgData name="Kanika Maheshwari" userId="594c5f91-4e07-41ca-8fec-8d5e529a8640" providerId="ADAL" clId="{BA71AA44-F8F6-4A53-908B-187483859789}" dt="2026-06-03T22:21:04.088" v="2530" actId="17851"/>
      <pc:docMkLst>
        <pc:docMk/>
      </pc:docMkLst>
      <pc:sldChg chg="ord">
        <pc:chgData name="Kanika Maheshwari" userId="594c5f91-4e07-41ca-8fec-8d5e529a8640" providerId="ADAL" clId="{BA71AA44-F8F6-4A53-908B-187483859789}" dt="2026-06-02T12:56:31.196" v="241"/>
        <pc:sldMkLst>
          <pc:docMk/>
          <pc:sldMk cId="1181304381" sldId="341"/>
        </pc:sldMkLst>
      </pc:sldChg>
      <pc:sldChg chg="ord">
        <pc:chgData name="Kanika Maheshwari" userId="594c5f91-4e07-41ca-8fec-8d5e529a8640" providerId="ADAL" clId="{BA71AA44-F8F6-4A53-908B-187483859789}" dt="2026-06-02T12:56:31.196" v="241"/>
        <pc:sldMkLst>
          <pc:docMk/>
          <pc:sldMk cId="3832929762" sldId="343"/>
        </pc:sldMkLst>
      </pc:sldChg>
      <pc:sldChg chg="addSp delSp modSp mod delAnim modAnim">
        <pc:chgData name="Kanika Maheshwari" userId="594c5f91-4e07-41ca-8fec-8d5e529a8640" providerId="ADAL" clId="{BA71AA44-F8F6-4A53-908B-187483859789}" dt="2026-06-03T20:23:17.038" v="1083" actId="12789"/>
        <pc:sldMkLst>
          <pc:docMk/>
          <pc:sldMk cId="3141369065" sldId="350"/>
        </pc:sldMkLst>
        <pc:spChg chg="add del mod ord">
          <ac:chgData name="Kanika Maheshwari" userId="594c5f91-4e07-41ca-8fec-8d5e529a8640" providerId="ADAL" clId="{BA71AA44-F8F6-4A53-908B-187483859789}" dt="2026-06-02T12:46:33.029" v="107" actId="11529"/>
          <ac:spMkLst>
            <pc:docMk/>
            <pc:sldMk cId="3141369065" sldId="350"/>
            <ac:spMk id="3" creationId="{7F952248-E142-F470-AFF1-BC184DC0792C}"/>
          </ac:spMkLst>
        </pc:spChg>
        <pc:spChg chg="add del mod">
          <ac:chgData name="Kanika Maheshwari" userId="594c5f91-4e07-41ca-8fec-8d5e529a8640" providerId="ADAL" clId="{BA71AA44-F8F6-4A53-908B-187483859789}" dt="2026-06-03T20:22:42.736" v="1025" actId="478"/>
          <ac:spMkLst>
            <pc:docMk/>
            <pc:sldMk cId="3141369065" sldId="350"/>
            <ac:spMk id="5" creationId="{CBF8B965-220A-73E6-6F81-12B49F2DD149}"/>
          </ac:spMkLst>
        </pc:spChg>
        <pc:graphicFrameChg chg="mod modGraphic">
          <ac:chgData name="Kanika Maheshwari" userId="594c5f91-4e07-41ca-8fec-8d5e529a8640" providerId="ADAL" clId="{BA71AA44-F8F6-4A53-908B-187483859789}" dt="2026-06-03T20:23:17.038" v="1083" actId="12789"/>
          <ac:graphicFrameMkLst>
            <pc:docMk/>
            <pc:sldMk cId="3141369065" sldId="350"/>
            <ac:graphicFrameMk id="4" creationId="{1C1DEFB2-2124-0E5B-1113-48470709C291}"/>
          </ac:graphicFrameMkLst>
        </pc:graphicFrameChg>
        <pc:graphicFrameChg chg="add del mod modGraphic">
          <ac:chgData name="Kanika Maheshwari" userId="594c5f91-4e07-41ca-8fec-8d5e529a8640" providerId="ADAL" clId="{BA71AA44-F8F6-4A53-908B-187483859789}" dt="2026-06-03T20:22:41.067" v="1024" actId="478"/>
          <ac:graphicFrameMkLst>
            <pc:docMk/>
            <pc:sldMk cId="3141369065" sldId="350"/>
            <ac:graphicFrameMk id="6" creationId="{CF5B0DB9-122F-E76B-0541-8476A6FD648A}"/>
          </ac:graphicFrameMkLst>
        </pc:graphicFrameChg>
      </pc:sldChg>
      <pc:sldChg chg="ord">
        <pc:chgData name="Kanika Maheshwari" userId="594c5f91-4e07-41ca-8fec-8d5e529a8640" providerId="ADAL" clId="{BA71AA44-F8F6-4A53-908B-187483859789}" dt="2026-06-02T12:56:31.196" v="241"/>
        <pc:sldMkLst>
          <pc:docMk/>
          <pc:sldMk cId="462443701" sldId="364"/>
        </pc:sldMkLst>
      </pc:sldChg>
      <pc:sldChg chg="ord">
        <pc:chgData name="Kanika Maheshwari" userId="594c5f91-4e07-41ca-8fec-8d5e529a8640" providerId="ADAL" clId="{BA71AA44-F8F6-4A53-908B-187483859789}" dt="2026-06-03T22:20:24.020" v="2522"/>
        <pc:sldMkLst>
          <pc:docMk/>
          <pc:sldMk cId="2585623934" sldId="2145707075"/>
        </pc:sldMkLst>
      </pc:sldChg>
      <pc:sldChg chg="add mod ord modShow">
        <pc:chgData name="Kanika Maheshwari" userId="594c5f91-4e07-41ca-8fec-8d5e529a8640" providerId="ADAL" clId="{BA71AA44-F8F6-4A53-908B-187483859789}" dt="2026-06-03T22:20:58.793" v="2529"/>
        <pc:sldMkLst>
          <pc:docMk/>
          <pc:sldMk cId="2273196573" sldId="2145707091"/>
        </pc:sldMkLst>
      </pc:sldChg>
      <pc:sldChg chg="add">
        <pc:chgData name="Kanika Maheshwari" userId="594c5f91-4e07-41ca-8fec-8d5e529a8640" providerId="ADAL" clId="{BA71AA44-F8F6-4A53-908B-187483859789}" dt="2026-06-03T22:20:41.118" v="2526"/>
        <pc:sldMkLst>
          <pc:docMk/>
          <pc:sldMk cId="702771241" sldId="2145707100"/>
        </pc:sldMkLst>
      </pc:sldChg>
      <pc:sldChg chg="del">
        <pc:chgData name="Kanika Maheshwari" userId="594c5f91-4e07-41ca-8fec-8d5e529a8640" providerId="ADAL" clId="{BA71AA44-F8F6-4A53-908B-187483859789}" dt="2026-06-02T13:19:25.928" v="362" actId="2696"/>
        <pc:sldMkLst>
          <pc:docMk/>
          <pc:sldMk cId="2752133663" sldId="2145707100"/>
        </pc:sldMkLst>
      </pc:sldChg>
      <pc:sldChg chg="add del mod modShow">
        <pc:chgData name="Kanika Maheshwari" userId="594c5f91-4e07-41ca-8fec-8d5e529a8640" providerId="ADAL" clId="{BA71AA44-F8F6-4A53-908B-187483859789}" dt="2026-06-03T22:20:33.955" v="2525" actId="2696"/>
        <pc:sldMkLst>
          <pc:docMk/>
          <pc:sldMk cId="3691599145" sldId="2145707100"/>
        </pc:sldMkLst>
      </pc:sldChg>
      <pc:sldChg chg="add del">
        <pc:chgData name="Kanika Maheshwari" userId="594c5f91-4e07-41ca-8fec-8d5e529a8640" providerId="ADAL" clId="{BA71AA44-F8F6-4A53-908B-187483859789}" dt="2026-06-03T22:20:11.779" v="2518" actId="2696"/>
        <pc:sldMkLst>
          <pc:docMk/>
          <pc:sldMk cId="4180996295" sldId="2145707100"/>
        </pc:sldMkLst>
      </pc:sldChg>
      <pc:sldChg chg="modSp add del mod">
        <pc:chgData name="Kanika Maheshwari" userId="594c5f91-4e07-41ca-8fec-8d5e529a8640" providerId="ADAL" clId="{BA71AA44-F8F6-4A53-908B-187483859789}" dt="2026-06-03T20:21:23.024" v="1010" actId="47"/>
        <pc:sldMkLst>
          <pc:docMk/>
          <pc:sldMk cId="2293206548" sldId="2145707101"/>
        </pc:sldMkLst>
        <pc:spChg chg="mod">
          <ac:chgData name="Kanika Maheshwari" userId="594c5f91-4e07-41ca-8fec-8d5e529a8640" providerId="ADAL" clId="{BA71AA44-F8F6-4A53-908B-187483859789}" dt="2026-06-02T12:32:51.976" v="79" actId="20577"/>
          <ac:spMkLst>
            <pc:docMk/>
            <pc:sldMk cId="2293206548" sldId="2145707101"/>
            <ac:spMk id="12" creationId="{0897395D-0A3B-BC1B-B5DD-6A1B4943D22D}"/>
          </ac:spMkLst>
        </pc:spChg>
      </pc:sldChg>
      <pc:sldChg chg="del">
        <pc:chgData name="Kanika Maheshwari" userId="594c5f91-4e07-41ca-8fec-8d5e529a8640" providerId="ADAL" clId="{BA71AA44-F8F6-4A53-908B-187483859789}" dt="2026-06-02T13:19:25.928" v="362" actId="2696"/>
        <pc:sldMkLst>
          <pc:docMk/>
          <pc:sldMk cId="532944434" sldId="2145707103"/>
        </pc:sldMkLst>
      </pc:sldChg>
      <pc:sldChg chg="add">
        <pc:chgData name="Kanika Maheshwari" userId="594c5f91-4e07-41ca-8fec-8d5e529a8640" providerId="ADAL" clId="{BA71AA44-F8F6-4A53-908B-187483859789}" dt="2026-06-03T22:20:41.118" v="2526"/>
        <pc:sldMkLst>
          <pc:docMk/>
          <pc:sldMk cId="2868304586" sldId="2145707103"/>
        </pc:sldMkLst>
      </pc:sldChg>
      <pc:sldChg chg="add del">
        <pc:chgData name="Kanika Maheshwari" userId="594c5f91-4e07-41ca-8fec-8d5e529a8640" providerId="ADAL" clId="{BA71AA44-F8F6-4A53-908B-187483859789}" dt="2026-06-03T22:20:11.779" v="2518" actId="2696"/>
        <pc:sldMkLst>
          <pc:docMk/>
          <pc:sldMk cId="3836254766" sldId="2145707103"/>
        </pc:sldMkLst>
      </pc:sldChg>
      <pc:sldChg chg="add del mod modShow">
        <pc:chgData name="Kanika Maheshwari" userId="594c5f91-4e07-41ca-8fec-8d5e529a8640" providerId="ADAL" clId="{BA71AA44-F8F6-4A53-908B-187483859789}" dt="2026-06-03T22:20:33.955" v="2525" actId="2696"/>
        <pc:sldMkLst>
          <pc:docMk/>
          <pc:sldMk cId="4242755852" sldId="2145707103"/>
        </pc:sldMkLst>
      </pc:sldChg>
      <pc:sldChg chg="add mod modShow">
        <pc:chgData name="Kanika Maheshwari" userId="594c5f91-4e07-41ca-8fec-8d5e529a8640" providerId="ADAL" clId="{BA71AA44-F8F6-4A53-908B-187483859789}" dt="2026-06-03T22:20:30.511" v="2524" actId="34476"/>
        <pc:sldMkLst>
          <pc:docMk/>
          <pc:sldMk cId="3013115813" sldId="2145707107"/>
        </pc:sldMkLst>
      </pc:sldChg>
      <pc:sldChg chg="del ord">
        <pc:chgData name="Kanika Maheshwari" userId="594c5f91-4e07-41ca-8fec-8d5e529a8640" providerId="ADAL" clId="{BA71AA44-F8F6-4A53-908B-187483859789}" dt="2026-06-03T22:20:11.779" v="2518" actId="2696"/>
        <pc:sldMkLst>
          <pc:docMk/>
          <pc:sldMk cId="3945679849" sldId="2145707107"/>
        </pc:sldMkLst>
      </pc:sldChg>
      <pc:sldChg chg="add del mod modShow">
        <pc:chgData name="Kanika Maheshwari" userId="594c5f91-4e07-41ca-8fec-8d5e529a8640" providerId="ADAL" clId="{BA71AA44-F8F6-4A53-908B-187483859789}" dt="2026-06-03T22:20:33.955" v="2525" actId="2696"/>
        <pc:sldMkLst>
          <pc:docMk/>
          <pc:sldMk cId="458819346" sldId="2145707108"/>
        </pc:sldMkLst>
      </pc:sldChg>
      <pc:sldChg chg="add">
        <pc:chgData name="Kanika Maheshwari" userId="594c5f91-4e07-41ca-8fec-8d5e529a8640" providerId="ADAL" clId="{BA71AA44-F8F6-4A53-908B-187483859789}" dt="2026-06-03T22:20:41.118" v="2526"/>
        <pc:sldMkLst>
          <pc:docMk/>
          <pc:sldMk cId="764257928" sldId="2145707108"/>
        </pc:sldMkLst>
      </pc:sldChg>
      <pc:sldChg chg="add del">
        <pc:chgData name="Kanika Maheshwari" userId="594c5f91-4e07-41ca-8fec-8d5e529a8640" providerId="ADAL" clId="{BA71AA44-F8F6-4A53-908B-187483859789}" dt="2026-06-03T22:20:11.779" v="2518" actId="2696"/>
        <pc:sldMkLst>
          <pc:docMk/>
          <pc:sldMk cId="2223118654" sldId="2145707108"/>
        </pc:sldMkLst>
      </pc:sldChg>
      <pc:sldChg chg="del">
        <pc:chgData name="Kanika Maheshwari" userId="594c5f91-4e07-41ca-8fec-8d5e529a8640" providerId="ADAL" clId="{BA71AA44-F8F6-4A53-908B-187483859789}" dt="2026-06-02T13:19:25.928" v="362" actId="2696"/>
        <pc:sldMkLst>
          <pc:docMk/>
          <pc:sldMk cId="2611545299" sldId="2145707108"/>
        </pc:sldMkLst>
      </pc:sldChg>
      <pc:sldChg chg="del">
        <pc:chgData name="Kanika Maheshwari" userId="594c5f91-4e07-41ca-8fec-8d5e529a8640" providerId="ADAL" clId="{BA71AA44-F8F6-4A53-908B-187483859789}" dt="2026-06-02T12:49:44.749" v="196" actId="47"/>
        <pc:sldMkLst>
          <pc:docMk/>
          <pc:sldMk cId="3764238089" sldId="2145707110"/>
        </pc:sldMkLst>
      </pc:sldChg>
      <pc:sldChg chg="add mod ord modShow">
        <pc:chgData name="Kanika Maheshwari" userId="594c5f91-4e07-41ca-8fec-8d5e529a8640" providerId="ADAL" clId="{BA71AA44-F8F6-4A53-908B-187483859789}" dt="2026-06-03T22:20:58.793" v="2529"/>
        <pc:sldMkLst>
          <pc:docMk/>
          <pc:sldMk cId="2881280564" sldId="2145707116"/>
        </pc:sldMkLst>
      </pc:sldChg>
      <pc:sldChg chg="add mod ord modShow">
        <pc:chgData name="Kanika Maheshwari" userId="594c5f91-4e07-41ca-8fec-8d5e529a8640" providerId="ADAL" clId="{BA71AA44-F8F6-4A53-908B-187483859789}" dt="2026-06-03T22:20:58.793" v="2529"/>
        <pc:sldMkLst>
          <pc:docMk/>
          <pc:sldMk cId="431841074" sldId="2145707117"/>
        </pc:sldMkLst>
      </pc:sldChg>
      <pc:sldChg chg="add mod ord modShow">
        <pc:chgData name="Kanika Maheshwari" userId="594c5f91-4e07-41ca-8fec-8d5e529a8640" providerId="ADAL" clId="{BA71AA44-F8F6-4A53-908B-187483859789}" dt="2026-06-03T22:20:58.793" v="2529"/>
        <pc:sldMkLst>
          <pc:docMk/>
          <pc:sldMk cId="2458491473" sldId="2145707118"/>
        </pc:sldMkLst>
      </pc:sldChg>
      <pc:sldChg chg="add del ord">
        <pc:chgData name="Kanika Maheshwari" userId="594c5f91-4e07-41ca-8fec-8d5e529a8640" providerId="ADAL" clId="{BA71AA44-F8F6-4A53-908B-187483859789}" dt="2026-06-02T12:49:14.458" v="195" actId="47"/>
        <pc:sldMkLst>
          <pc:docMk/>
          <pc:sldMk cId="3078556163" sldId="2145707119"/>
        </pc:sldMkLst>
      </pc:sldChg>
      <pc:sldChg chg="add del">
        <pc:chgData name="Kanika Maheshwari" userId="594c5f91-4e07-41ca-8fec-8d5e529a8640" providerId="ADAL" clId="{BA71AA44-F8F6-4A53-908B-187483859789}" dt="2026-06-02T12:46:27.428" v="98" actId="2890"/>
        <pc:sldMkLst>
          <pc:docMk/>
          <pc:sldMk cId="3175353019" sldId="2145707119"/>
        </pc:sldMkLst>
      </pc:sldChg>
      <pc:sldChg chg="modSp add del mod">
        <pc:chgData name="Kanika Maheshwari" userId="594c5f91-4e07-41ca-8fec-8d5e529a8640" providerId="ADAL" clId="{BA71AA44-F8F6-4A53-908B-187483859789}" dt="2026-06-03T20:22:04.801" v="1014" actId="47"/>
        <pc:sldMkLst>
          <pc:docMk/>
          <pc:sldMk cId="2576227421" sldId="2145707120"/>
        </pc:sldMkLst>
        <pc:spChg chg="mod">
          <ac:chgData name="Kanika Maheshwari" userId="594c5f91-4e07-41ca-8fec-8d5e529a8640" providerId="ADAL" clId="{BA71AA44-F8F6-4A53-908B-187483859789}" dt="2026-06-02T12:47:19.960" v="149" actId="1036"/>
          <ac:spMkLst>
            <pc:docMk/>
            <pc:sldMk cId="2576227421" sldId="2145707120"/>
            <ac:spMk id="3" creationId="{180E77F2-D09B-267F-4CE6-D00189420FF0}"/>
          </ac:spMkLst>
        </pc:spChg>
        <pc:graphicFrameChg chg="mod modGraphic">
          <ac:chgData name="Kanika Maheshwari" userId="594c5f91-4e07-41ca-8fec-8d5e529a8640" providerId="ADAL" clId="{BA71AA44-F8F6-4A53-908B-187483859789}" dt="2026-06-02T12:47:11.572" v="115" actId="108"/>
          <ac:graphicFrameMkLst>
            <pc:docMk/>
            <pc:sldMk cId="2576227421" sldId="2145707120"/>
            <ac:graphicFrameMk id="4" creationId="{E34AE7C2-7EFB-AC88-8C36-7C6724A34FED}"/>
          </ac:graphicFrameMkLst>
        </pc:graphicFrameChg>
      </pc:sldChg>
      <pc:sldChg chg="modSp add del mod">
        <pc:chgData name="Kanika Maheshwari" userId="594c5f91-4e07-41ca-8fec-8d5e529a8640" providerId="ADAL" clId="{BA71AA44-F8F6-4A53-908B-187483859789}" dt="2026-06-03T20:22:04.801" v="1014" actId="47"/>
        <pc:sldMkLst>
          <pc:docMk/>
          <pc:sldMk cId="4121239149" sldId="2145707121"/>
        </pc:sldMkLst>
        <pc:spChg chg="mod">
          <ac:chgData name="Kanika Maheshwari" userId="594c5f91-4e07-41ca-8fec-8d5e529a8640" providerId="ADAL" clId="{BA71AA44-F8F6-4A53-908B-187483859789}" dt="2026-06-02T12:50:48.260" v="239" actId="1036"/>
          <ac:spMkLst>
            <pc:docMk/>
            <pc:sldMk cId="4121239149" sldId="2145707121"/>
            <ac:spMk id="3" creationId="{145E7532-830A-3D1F-77CB-D8C24E19421C}"/>
          </ac:spMkLst>
        </pc:spChg>
        <pc:graphicFrameChg chg="mod modGraphic">
          <ac:chgData name="Kanika Maheshwari" userId="594c5f91-4e07-41ca-8fec-8d5e529a8640" providerId="ADAL" clId="{BA71AA44-F8F6-4A53-908B-187483859789}" dt="2026-06-02T12:57:41.369" v="306" actId="20577"/>
          <ac:graphicFrameMkLst>
            <pc:docMk/>
            <pc:sldMk cId="4121239149" sldId="2145707121"/>
            <ac:graphicFrameMk id="4" creationId="{B507505C-C823-AAB3-825D-4B9F01E22CA9}"/>
          </ac:graphicFrameMkLst>
        </pc:graphicFrameChg>
      </pc:sldChg>
      <pc:sldChg chg="modSp add mod">
        <pc:chgData name="Kanika Maheshwari" userId="594c5f91-4e07-41ca-8fec-8d5e529a8640" providerId="ADAL" clId="{BA71AA44-F8F6-4A53-908B-187483859789}" dt="2026-06-02T12:57:04.951" v="283" actId="14100"/>
        <pc:sldMkLst>
          <pc:docMk/>
          <pc:sldMk cId="3193420937" sldId="2145707122"/>
        </pc:sldMkLst>
        <pc:spChg chg="mod">
          <ac:chgData name="Kanika Maheshwari" userId="594c5f91-4e07-41ca-8fec-8d5e529a8640" providerId="ADAL" clId="{BA71AA44-F8F6-4A53-908B-187483859789}" dt="2026-06-02T12:57:04.951" v="283" actId="14100"/>
          <ac:spMkLst>
            <pc:docMk/>
            <pc:sldMk cId="3193420937" sldId="2145707122"/>
            <ac:spMk id="5" creationId="{C6640B84-9349-2417-9230-1680A5769C51}"/>
          </ac:spMkLst>
        </pc:spChg>
      </pc:sldChg>
      <pc:sldChg chg="modSp add mod">
        <pc:chgData name="Kanika Maheshwari" userId="594c5f91-4e07-41ca-8fec-8d5e529a8640" providerId="ADAL" clId="{BA71AA44-F8F6-4A53-908B-187483859789}" dt="2026-06-03T22:20:02.690" v="2517" actId="1036"/>
        <pc:sldMkLst>
          <pc:docMk/>
          <pc:sldMk cId="1616166806" sldId="2145707123"/>
        </pc:sldMkLst>
        <pc:spChg chg="mod">
          <ac:chgData name="Kanika Maheshwari" userId="594c5f91-4e07-41ca-8fec-8d5e529a8640" providerId="ADAL" clId="{BA71AA44-F8F6-4A53-908B-187483859789}" dt="2026-06-03T22:19:59.688" v="2511" actId="1076"/>
          <ac:spMkLst>
            <pc:docMk/>
            <pc:sldMk cId="1616166806" sldId="2145707123"/>
            <ac:spMk id="2" creationId="{67983643-E99C-70F1-1BEF-39C4F8CBE00C}"/>
          </ac:spMkLst>
        </pc:spChg>
        <pc:spChg chg="mod">
          <ac:chgData name="Kanika Maheshwari" userId="594c5f91-4e07-41ca-8fec-8d5e529a8640" providerId="ADAL" clId="{BA71AA44-F8F6-4A53-908B-187483859789}" dt="2026-06-03T22:20:02.690" v="2517" actId="1036"/>
          <ac:spMkLst>
            <pc:docMk/>
            <pc:sldMk cId="1616166806" sldId="2145707123"/>
            <ac:spMk id="3" creationId="{6984735A-4213-BE1A-6D25-8134E8B576C3}"/>
          </ac:spMkLst>
        </pc:spChg>
        <pc:graphicFrameChg chg="mod modGraphic">
          <ac:chgData name="Kanika Maheshwari" userId="594c5f91-4e07-41ca-8fec-8d5e529a8640" providerId="ADAL" clId="{BA71AA44-F8F6-4A53-908B-187483859789}" dt="2026-06-03T22:19:56.140" v="2509" actId="12"/>
          <ac:graphicFrameMkLst>
            <pc:docMk/>
            <pc:sldMk cId="1616166806" sldId="2145707123"/>
            <ac:graphicFrameMk id="4" creationId="{A6C1B7A3-1365-5DE1-FDA7-D5C21DFEE2F3}"/>
          </ac:graphicFrameMkLst>
        </pc:graphicFrameChg>
      </pc:sldChg>
      <pc:sldChg chg="del">
        <pc:chgData name="Kanika Maheshwari" userId="594c5f91-4e07-41ca-8fec-8d5e529a8640" providerId="ADAL" clId="{BA71AA44-F8F6-4A53-908B-187483859789}" dt="2026-06-03T22:19:02.455" v="2475" actId="47"/>
        <pc:sldMkLst>
          <pc:docMk/>
          <pc:sldMk cId="3275556720" sldId="2145707124"/>
        </pc:sldMkLst>
      </pc:sldChg>
      <pc:sldChg chg="addSp delSp modSp mod ord modShow">
        <pc:chgData name="Kanika Maheshwari" userId="594c5f91-4e07-41ca-8fec-8d5e529a8640" providerId="ADAL" clId="{BA71AA44-F8F6-4A53-908B-187483859789}" dt="2026-06-03T22:18:51.635" v="2474" actId="403"/>
        <pc:sldMkLst>
          <pc:docMk/>
          <pc:sldMk cId="1990211103" sldId="2145707126"/>
        </pc:sldMkLst>
        <pc:spChg chg="add mod">
          <ac:chgData name="Kanika Maheshwari" userId="594c5f91-4e07-41ca-8fec-8d5e529a8640" providerId="ADAL" clId="{BA71AA44-F8F6-4A53-908B-187483859789}" dt="2026-06-03T15:42:52.837" v="426"/>
          <ac:spMkLst>
            <pc:docMk/>
            <pc:sldMk cId="1990211103" sldId="2145707126"/>
            <ac:spMk id="2" creationId="{0F40CAA6-0BE3-3CF8-A71B-5BC5BD3F98CC}"/>
          </ac:spMkLst>
        </pc:spChg>
        <pc:spChg chg="mod">
          <ac:chgData name="Kanika Maheshwari" userId="594c5f91-4e07-41ca-8fec-8d5e529a8640" providerId="ADAL" clId="{BA71AA44-F8F6-4A53-908B-187483859789}" dt="2026-06-03T22:14:20.163" v="2341" actId="164"/>
          <ac:spMkLst>
            <pc:docMk/>
            <pc:sldMk cId="1990211103" sldId="2145707126"/>
            <ac:spMk id="5" creationId="{E586F7A1-AA75-6995-44EC-98AC0B812947}"/>
          </ac:spMkLst>
        </pc:spChg>
        <pc:spChg chg="mod">
          <ac:chgData name="Kanika Maheshwari" userId="594c5f91-4e07-41ca-8fec-8d5e529a8640" providerId="ADAL" clId="{BA71AA44-F8F6-4A53-908B-187483859789}" dt="2026-06-03T22:18:51.635" v="2474" actId="403"/>
          <ac:spMkLst>
            <pc:docMk/>
            <pc:sldMk cId="1990211103" sldId="2145707126"/>
            <ac:spMk id="6" creationId="{D743D7FB-F4CD-16F8-FCC8-2E56DE622D19}"/>
          </ac:spMkLst>
        </pc:spChg>
        <pc:spChg chg="mod">
          <ac:chgData name="Kanika Maheshwari" userId="594c5f91-4e07-41ca-8fec-8d5e529a8640" providerId="ADAL" clId="{BA71AA44-F8F6-4A53-908B-187483859789}" dt="2026-06-03T22:14:20.163" v="2341" actId="164"/>
          <ac:spMkLst>
            <pc:docMk/>
            <pc:sldMk cId="1990211103" sldId="2145707126"/>
            <ac:spMk id="7" creationId="{38A435BB-53EA-692B-1E8B-8ECD3DBC867F}"/>
          </ac:spMkLst>
        </pc:spChg>
        <pc:spChg chg="mod">
          <ac:chgData name="Kanika Maheshwari" userId="594c5f91-4e07-41ca-8fec-8d5e529a8640" providerId="ADAL" clId="{BA71AA44-F8F6-4A53-908B-187483859789}" dt="2026-06-03T22:14:20.163" v="2341" actId="164"/>
          <ac:spMkLst>
            <pc:docMk/>
            <pc:sldMk cId="1990211103" sldId="2145707126"/>
            <ac:spMk id="8" creationId="{B551C1B0-DCEB-C104-901A-16CF54AF62CD}"/>
          </ac:spMkLst>
        </pc:spChg>
        <pc:spChg chg="mod">
          <ac:chgData name="Kanika Maheshwari" userId="594c5f91-4e07-41ca-8fec-8d5e529a8640" providerId="ADAL" clId="{BA71AA44-F8F6-4A53-908B-187483859789}" dt="2026-06-03T22:14:26.972" v="2362" actId="164"/>
          <ac:spMkLst>
            <pc:docMk/>
            <pc:sldMk cId="1990211103" sldId="2145707126"/>
            <ac:spMk id="9" creationId="{47D9E13D-F9D2-8B36-E5F0-7A67F895CFF5}"/>
          </ac:spMkLst>
        </pc:spChg>
        <pc:spChg chg="mod">
          <ac:chgData name="Kanika Maheshwari" userId="594c5f91-4e07-41ca-8fec-8d5e529a8640" providerId="ADAL" clId="{BA71AA44-F8F6-4A53-908B-187483859789}" dt="2026-06-03T22:18:47.493" v="2473" actId="20577"/>
          <ac:spMkLst>
            <pc:docMk/>
            <pc:sldMk cId="1990211103" sldId="2145707126"/>
            <ac:spMk id="10" creationId="{3767D441-8418-3326-814C-E3D9C30EC9CD}"/>
          </ac:spMkLst>
        </pc:spChg>
        <pc:spChg chg="mod">
          <ac:chgData name="Kanika Maheshwari" userId="594c5f91-4e07-41ca-8fec-8d5e529a8640" providerId="ADAL" clId="{BA71AA44-F8F6-4A53-908B-187483859789}" dt="2026-06-03T22:14:26.972" v="2362" actId="164"/>
          <ac:spMkLst>
            <pc:docMk/>
            <pc:sldMk cId="1990211103" sldId="2145707126"/>
            <ac:spMk id="11" creationId="{9ECB9952-C575-EAB8-794B-B33BBD2E6271}"/>
          </ac:spMkLst>
        </pc:spChg>
        <pc:spChg chg="mod">
          <ac:chgData name="Kanika Maheshwari" userId="594c5f91-4e07-41ca-8fec-8d5e529a8640" providerId="ADAL" clId="{BA71AA44-F8F6-4A53-908B-187483859789}" dt="2026-06-03T22:15:56.870" v="2440" actId="20577"/>
          <ac:spMkLst>
            <pc:docMk/>
            <pc:sldMk cId="1990211103" sldId="2145707126"/>
            <ac:spMk id="12" creationId="{9484F27B-4060-E535-3545-C209A8606C40}"/>
          </ac:spMkLst>
        </pc:spChg>
        <pc:spChg chg="mod">
          <ac:chgData name="Kanika Maheshwari" userId="594c5f91-4e07-41ca-8fec-8d5e529a8640" providerId="ADAL" clId="{BA71AA44-F8F6-4A53-908B-187483859789}" dt="2026-06-03T22:14:32.478" v="2375" actId="164"/>
          <ac:spMkLst>
            <pc:docMk/>
            <pc:sldMk cId="1990211103" sldId="2145707126"/>
            <ac:spMk id="13" creationId="{1FAC50E9-7750-F04F-8C20-E02141A3D2C7}"/>
          </ac:spMkLst>
        </pc:spChg>
        <pc:spChg chg="mod">
          <ac:chgData name="Kanika Maheshwari" userId="594c5f91-4e07-41ca-8fec-8d5e529a8640" providerId="ADAL" clId="{BA71AA44-F8F6-4A53-908B-187483859789}" dt="2026-06-03T22:18:44.319" v="2469" actId="404"/>
          <ac:spMkLst>
            <pc:docMk/>
            <pc:sldMk cId="1990211103" sldId="2145707126"/>
            <ac:spMk id="14" creationId="{82FEE0A7-95E7-4E8A-9A16-430CFB3B66A9}"/>
          </ac:spMkLst>
        </pc:spChg>
        <pc:spChg chg="mod">
          <ac:chgData name="Kanika Maheshwari" userId="594c5f91-4e07-41ca-8fec-8d5e529a8640" providerId="ADAL" clId="{BA71AA44-F8F6-4A53-908B-187483859789}" dt="2026-06-03T22:14:32.478" v="2375" actId="164"/>
          <ac:spMkLst>
            <pc:docMk/>
            <pc:sldMk cId="1990211103" sldId="2145707126"/>
            <ac:spMk id="15" creationId="{5CF3CB07-76D4-87E4-645B-E190BCE57CDC}"/>
          </ac:spMkLst>
        </pc:spChg>
        <pc:spChg chg="mod">
          <ac:chgData name="Kanika Maheshwari" userId="594c5f91-4e07-41ca-8fec-8d5e529a8640" providerId="ADAL" clId="{BA71AA44-F8F6-4A53-908B-187483859789}" dt="2026-06-03T19:15:30.336" v="429" actId="20577"/>
          <ac:spMkLst>
            <pc:docMk/>
            <pc:sldMk cId="1990211103" sldId="2145707126"/>
            <ac:spMk id="16" creationId="{1335DAB3-7454-85EA-1EE8-FE306C9DEA94}"/>
          </ac:spMkLst>
        </pc:spChg>
        <pc:spChg chg="del">
          <ac:chgData name="Kanika Maheshwari" userId="594c5f91-4e07-41ca-8fec-8d5e529a8640" providerId="ADAL" clId="{BA71AA44-F8F6-4A53-908B-187483859789}" dt="2026-06-03T15:42:51.940" v="425" actId="478"/>
          <ac:spMkLst>
            <pc:docMk/>
            <pc:sldMk cId="1990211103" sldId="2145707126"/>
            <ac:spMk id="17" creationId="{B22FA08E-EB60-A219-5DC5-F49FA163D6B0}"/>
          </ac:spMkLst>
        </pc:spChg>
        <pc:spChg chg="add mod">
          <ac:chgData name="Kanika Maheshwari" userId="594c5f91-4e07-41ca-8fec-8d5e529a8640" providerId="ADAL" clId="{BA71AA44-F8F6-4A53-908B-187483859789}" dt="2026-06-03T21:02:51.385" v="1619" actId="3064"/>
          <ac:spMkLst>
            <pc:docMk/>
            <pc:sldMk cId="1990211103" sldId="2145707126"/>
            <ac:spMk id="18" creationId="{80FAE362-12C8-10AE-883E-FCC8EBBC5EFE}"/>
          </ac:spMkLst>
        </pc:spChg>
        <pc:spChg chg="add mod">
          <ac:chgData name="Kanika Maheshwari" userId="594c5f91-4e07-41ca-8fec-8d5e529a8640" providerId="ADAL" clId="{BA71AA44-F8F6-4A53-908B-187483859789}" dt="2026-06-03T21:02:51.385" v="1619" actId="3064"/>
          <ac:spMkLst>
            <pc:docMk/>
            <pc:sldMk cId="1990211103" sldId="2145707126"/>
            <ac:spMk id="19" creationId="{1B04680E-42EB-D504-EE76-FF51B4ADFE18}"/>
          </ac:spMkLst>
        </pc:spChg>
        <pc:spChg chg="add mod">
          <ac:chgData name="Kanika Maheshwari" userId="594c5f91-4e07-41ca-8fec-8d5e529a8640" providerId="ADAL" clId="{BA71AA44-F8F6-4A53-908B-187483859789}" dt="2026-06-03T21:02:51.385" v="1619" actId="3064"/>
          <ac:spMkLst>
            <pc:docMk/>
            <pc:sldMk cId="1990211103" sldId="2145707126"/>
            <ac:spMk id="20" creationId="{9B632FFA-2B4A-2891-2DC9-287396D05CDE}"/>
          </ac:spMkLst>
        </pc:spChg>
        <pc:spChg chg="add mod">
          <ac:chgData name="Kanika Maheshwari" userId="594c5f91-4e07-41ca-8fec-8d5e529a8640" providerId="ADAL" clId="{BA71AA44-F8F6-4A53-908B-187483859789}" dt="2026-06-03T21:02:51.385" v="1619" actId="3064"/>
          <ac:spMkLst>
            <pc:docMk/>
            <pc:sldMk cId="1990211103" sldId="2145707126"/>
            <ac:spMk id="21" creationId="{DFB74457-56DC-9CE0-D81C-C67D6E3BD0B0}"/>
          </ac:spMkLst>
        </pc:spChg>
        <pc:spChg chg="mod">
          <ac:chgData name="Kanika Maheshwari" userId="594c5f91-4e07-41ca-8fec-8d5e529a8640" providerId="ADAL" clId="{BA71AA44-F8F6-4A53-908B-187483859789}" dt="2026-06-03T22:14:49.947" v="2405" actId="571"/>
          <ac:spMkLst>
            <pc:docMk/>
            <pc:sldMk cId="1990211103" sldId="2145707126"/>
            <ac:spMk id="27" creationId="{1D6CD8EB-4C6F-F5D5-3954-7C15A951F22D}"/>
          </ac:spMkLst>
        </pc:spChg>
        <pc:spChg chg="mod">
          <ac:chgData name="Kanika Maheshwari" userId="594c5f91-4e07-41ca-8fec-8d5e529a8640" providerId="ADAL" clId="{BA71AA44-F8F6-4A53-908B-187483859789}" dt="2026-06-03T22:16:42.477" v="2454" actId="20577"/>
          <ac:spMkLst>
            <pc:docMk/>
            <pc:sldMk cId="1990211103" sldId="2145707126"/>
            <ac:spMk id="28" creationId="{A80248BC-6954-BA3D-98BF-D8FF9CD6354E}"/>
          </ac:spMkLst>
        </pc:spChg>
        <pc:spChg chg="mod">
          <ac:chgData name="Kanika Maheshwari" userId="594c5f91-4e07-41ca-8fec-8d5e529a8640" providerId="ADAL" clId="{BA71AA44-F8F6-4A53-908B-187483859789}" dt="2026-06-03T22:14:49.947" v="2405" actId="571"/>
          <ac:spMkLst>
            <pc:docMk/>
            <pc:sldMk cId="1990211103" sldId="2145707126"/>
            <ac:spMk id="29" creationId="{101A0358-EC56-5EC3-9B05-4FDE310425AC}"/>
          </ac:spMkLst>
        </pc:spChg>
        <pc:spChg chg="mod">
          <ac:chgData name="Kanika Maheshwari" userId="594c5f91-4e07-41ca-8fec-8d5e529a8640" providerId="ADAL" clId="{BA71AA44-F8F6-4A53-908B-187483859789}" dt="2026-06-03T22:17:32.783" v="2458" actId="20577"/>
          <ac:spMkLst>
            <pc:docMk/>
            <pc:sldMk cId="1990211103" sldId="2145707126"/>
            <ac:spMk id="30" creationId="{007B716A-BCD9-3E91-0996-BCDCDCE2F0C6}"/>
          </ac:spMkLst>
        </pc:spChg>
        <pc:spChg chg="mod">
          <ac:chgData name="Kanika Maheshwari" userId="594c5f91-4e07-41ca-8fec-8d5e529a8640" providerId="ADAL" clId="{BA71AA44-F8F6-4A53-908B-187483859789}" dt="2026-06-03T22:14:49.947" v="2405" actId="571"/>
          <ac:spMkLst>
            <pc:docMk/>
            <pc:sldMk cId="1990211103" sldId="2145707126"/>
            <ac:spMk id="31" creationId="{FD145061-70FD-D478-B7BD-5EC4DC245FDB}"/>
          </ac:spMkLst>
        </pc:spChg>
        <pc:spChg chg="mod">
          <ac:chgData name="Kanika Maheshwari" userId="594c5f91-4e07-41ca-8fec-8d5e529a8640" providerId="ADAL" clId="{BA71AA44-F8F6-4A53-908B-187483859789}" dt="2026-06-03T22:18:10.587" v="2463" actId="313"/>
          <ac:spMkLst>
            <pc:docMk/>
            <pc:sldMk cId="1990211103" sldId="2145707126"/>
            <ac:spMk id="32" creationId="{5922D85D-75D3-5049-FBB3-5B7DB97C40BC}"/>
          </ac:spMkLst>
        </pc:spChg>
        <pc:spChg chg="mod">
          <ac:chgData name="Kanika Maheshwari" userId="594c5f91-4e07-41ca-8fec-8d5e529a8640" providerId="ADAL" clId="{BA71AA44-F8F6-4A53-908B-187483859789}" dt="2026-06-03T22:14:32.478" v="2375" actId="164"/>
          <ac:spMkLst>
            <pc:docMk/>
            <pc:sldMk cId="1990211103" sldId="2145707126"/>
            <ac:spMk id="35" creationId="{D4D97323-D570-699B-EEFC-5DA9843BDF2B}"/>
          </ac:spMkLst>
        </pc:spChg>
        <pc:spChg chg="mod">
          <ac:chgData name="Kanika Maheshwari" userId="594c5f91-4e07-41ca-8fec-8d5e529a8640" providerId="ADAL" clId="{BA71AA44-F8F6-4A53-908B-187483859789}" dt="2026-06-03T22:14:45.490" v="2392" actId="164"/>
          <ac:spMkLst>
            <pc:docMk/>
            <pc:sldMk cId="1990211103" sldId="2145707126"/>
            <ac:spMk id="36" creationId="{DAC15B44-2922-369E-8AE6-83A2A0BC30D2}"/>
          </ac:spMkLst>
        </pc:spChg>
        <pc:spChg chg="mod">
          <ac:chgData name="Kanika Maheshwari" userId="594c5f91-4e07-41ca-8fec-8d5e529a8640" providerId="ADAL" clId="{BA71AA44-F8F6-4A53-908B-187483859789}" dt="2026-06-03T22:14:45.490" v="2392" actId="164"/>
          <ac:spMkLst>
            <pc:docMk/>
            <pc:sldMk cId="1990211103" sldId="2145707126"/>
            <ac:spMk id="37" creationId="{E60AB78F-B8DD-E05A-5365-2E88E5C8A779}"/>
          </ac:spMkLst>
        </pc:spChg>
        <pc:spChg chg="mod">
          <ac:chgData name="Kanika Maheshwari" userId="594c5f91-4e07-41ca-8fec-8d5e529a8640" providerId="ADAL" clId="{BA71AA44-F8F6-4A53-908B-187483859789}" dt="2026-06-03T22:14:45.490" v="2392" actId="164"/>
          <ac:spMkLst>
            <pc:docMk/>
            <pc:sldMk cId="1990211103" sldId="2145707126"/>
            <ac:spMk id="38" creationId="{4FF78835-2DF0-23EF-58EA-42E4D5C2B582}"/>
          </ac:spMkLst>
        </pc:spChg>
        <pc:spChg chg="mod">
          <ac:chgData name="Kanika Maheshwari" userId="594c5f91-4e07-41ca-8fec-8d5e529a8640" providerId="ADAL" clId="{BA71AA44-F8F6-4A53-908B-187483859789}" dt="2026-06-03T22:14:45.490" v="2392" actId="164"/>
          <ac:spMkLst>
            <pc:docMk/>
            <pc:sldMk cId="1990211103" sldId="2145707126"/>
            <ac:spMk id="39" creationId="{9F88F9B3-5220-DD7D-0CA8-D649F26995DB}"/>
          </ac:spMkLst>
        </pc:spChg>
        <pc:spChg chg="mod">
          <ac:chgData name="Kanika Maheshwari" userId="594c5f91-4e07-41ca-8fec-8d5e529a8640" providerId="ADAL" clId="{BA71AA44-F8F6-4A53-908B-187483859789}" dt="2026-06-03T22:14:20.163" v="2341" actId="164"/>
          <ac:spMkLst>
            <pc:docMk/>
            <pc:sldMk cId="1990211103" sldId="2145707126"/>
            <ac:spMk id="40" creationId="{3D977F38-5594-624A-DA4F-7C2435883876}"/>
          </ac:spMkLst>
        </pc:spChg>
        <pc:spChg chg="mod">
          <ac:chgData name="Kanika Maheshwari" userId="594c5f91-4e07-41ca-8fec-8d5e529a8640" providerId="ADAL" clId="{BA71AA44-F8F6-4A53-908B-187483859789}" dt="2026-06-03T22:14:20.163" v="2341" actId="164"/>
          <ac:spMkLst>
            <pc:docMk/>
            <pc:sldMk cId="1990211103" sldId="2145707126"/>
            <ac:spMk id="41" creationId="{665252D9-A6D5-16C3-FD60-207534F33A22}"/>
          </ac:spMkLst>
        </pc:spChg>
        <pc:spChg chg="mod">
          <ac:chgData name="Kanika Maheshwari" userId="594c5f91-4e07-41ca-8fec-8d5e529a8640" providerId="ADAL" clId="{BA71AA44-F8F6-4A53-908B-187483859789}" dt="2026-06-03T22:14:26.972" v="2362" actId="164"/>
          <ac:spMkLst>
            <pc:docMk/>
            <pc:sldMk cId="1990211103" sldId="2145707126"/>
            <ac:spMk id="42" creationId="{377CA843-2E00-2FB2-31BB-ED3CD1539980}"/>
          </ac:spMkLst>
        </pc:spChg>
        <pc:spChg chg="mod">
          <ac:chgData name="Kanika Maheshwari" userId="594c5f91-4e07-41ca-8fec-8d5e529a8640" providerId="ADAL" clId="{BA71AA44-F8F6-4A53-908B-187483859789}" dt="2026-06-03T22:14:26.972" v="2362" actId="164"/>
          <ac:spMkLst>
            <pc:docMk/>
            <pc:sldMk cId="1990211103" sldId="2145707126"/>
            <ac:spMk id="43" creationId="{82433B72-6B9E-775D-490D-23E223DD91E2}"/>
          </ac:spMkLst>
        </pc:spChg>
        <pc:spChg chg="mod">
          <ac:chgData name="Kanika Maheshwari" userId="594c5f91-4e07-41ca-8fec-8d5e529a8640" providerId="ADAL" clId="{BA71AA44-F8F6-4A53-908B-187483859789}" dt="2026-06-03T22:14:32.478" v="2375" actId="164"/>
          <ac:spMkLst>
            <pc:docMk/>
            <pc:sldMk cId="1990211103" sldId="2145707126"/>
            <ac:spMk id="44" creationId="{9BFBCA10-A2D2-AE73-5AC9-F1301E5E33FF}"/>
          </ac:spMkLst>
        </pc:spChg>
        <pc:spChg chg="mod">
          <ac:chgData name="Kanika Maheshwari" userId="594c5f91-4e07-41ca-8fec-8d5e529a8640" providerId="ADAL" clId="{BA71AA44-F8F6-4A53-908B-187483859789}" dt="2026-06-03T22:14:32.478" v="2375" actId="164"/>
          <ac:spMkLst>
            <pc:docMk/>
            <pc:sldMk cId="1990211103" sldId="2145707126"/>
            <ac:spMk id="45" creationId="{846A73CB-1543-A65D-9386-5E0F85CA64F5}"/>
          </ac:spMkLst>
        </pc:spChg>
        <pc:spChg chg="mod">
          <ac:chgData name="Kanika Maheshwari" userId="594c5f91-4e07-41ca-8fec-8d5e529a8640" providerId="ADAL" clId="{BA71AA44-F8F6-4A53-908B-187483859789}" dt="2026-06-03T22:14:45.490" v="2392" actId="164"/>
          <ac:spMkLst>
            <pc:docMk/>
            <pc:sldMk cId="1990211103" sldId="2145707126"/>
            <ac:spMk id="46" creationId="{1206B4CD-568D-5EA9-DC85-462C42C488A0}"/>
          </ac:spMkLst>
        </pc:spChg>
        <pc:spChg chg="mod">
          <ac:chgData name="Kanika Maheshwari" userId="594c5f91-4e07-41ca-8fec-8d5e529a8640" providerId="ADAL" clId="{BA71AA44-F8F6-4A53-908B-187483859789}" dt="2026-06-03T22:14:45.490" v="2392" actId="164"/>
          <ac:spMkLst>
            <pc:docMk/>
            <pc:sldMk cId="1990211103" sldId="2145707126"/>
            <ac:spMk id="47" creationId="{B05407FE-1040-1752-1935-C0A58C89B0B7}"/>
          </ac:spMkLst>
        </pc:spChg>
        <pc:grpChg chg="add mod">
          <ac:chgData name="Kanika Maheshwari" userId="594c5f91-4e07-41ca-8fec-8d5e529a8640" providerId="ADAL" clId="{BA71AA44-F8F6-4A53-908B-187483859789}" dt="2026-06-03T22:16:06.031" v="2450" actId="1035"/>
          <ac:grpSpMkLst>
            <pc:docMk/>
            <pc:sldMk cId="1990211103" sldId="2145707126"/>
            <ac:grpSpMk id="22" creationId="{E470C36E-D1FB-5554-68BE-167F4FB68B4E}"/>
          </ac:grpSpMkLst>
        </pc:grpChg>
        <pc:grpChg chg="add mod">
          <ac:chgData name="Kanika Maheshwari" userId="594c5f91-4e07-41ca-8fec-8d5e529a8640" providerId="ADAL" clId="{BA71AA44-F8F6-4A53-908B-187483859789}" dt="2026-06-03T22:16:11.441" v="2451" actId="465"/>
          <ac:grpSpMkLst>
            <pc:docMk/>
            <pc:sldMk cId="1990211103" sldId="2145707126"/>
            <ac:grpSpMk id="23" creationId="{2C7E5145-32DC-B523-3DFC-297BC0224849}"/>
          </ac:grpSpMkLst>
        </pc:grpChg>
        <pc:grpChg chg="add mod">
          <ac:chgData name="Kanika Maheshwari" userId="594c5f91-4e07-41ca-8fec-8d5e529a8640" providerId="ADAL" clId="{BA71AA44-F8F6-4A53-908B-187483859789}" dt="2026-06-03T22:16:11.441" v="2451" actId="465"/>
          <ac:grpSpMkLst>
            <pc:docMk/>
            <pc:sldMk cId="1990211103" sldId="2145707126"/>
            <ac:grpSpMk id="24" creationId="{5C2DC3EC-76F4-0D63-4EB8-0D04F9A86311}"/>
          </ac:grpSpMkLst>
        </pc:grpChg>
        <pc:grpChg chg="add mod">
          <ac:chgData name="Kanika Maheshwari" userId="594c5f91-4e07-41ca-8fec-8d5e529a8640" providerId="ADAL" clId="{BA71AA44-F8F6-4A53-908B-187483859789}" dt="2026-06-03T22:16:11.441" v="2451" actId="465"/>
          <ac:grpSpMkLst>
            <pc:docMk/>
            <pc:sldMk cId="1990211103" sldId="2145707126"/>
            <ac:grpSpMk id="25" creationId="{C414F3EF-695F-1B13-25B5-FBDB5F90D20E}"/>
          </ac:grpSpMkLst>
        </pc:grpChg>
        <pc:grpChg chg="add mod">
          <ac:chgData name="Kanika Maheshwari" userId="594c5f91-4e07-41ca-8fec-8d5e529a8640" providerId="ADAL" clId="{BA71AA44-F8F6-4A53-908B-187483859789}" dt="2026-06-03T22:15:19.382" v="2419" actId="14100"/>
          <ac:grpSpMkLst>
            <pc:docMk/>
            <pc:sldMk cId="1990211103" sldId="2145707126"/>
            <ac:grpSpMk id="26" creationId="{B03A9458-79BE-BBCD-71C8-BD28069ED527}"/>
          </ac:grpSpMkLst>
        </pc:grpChg>
      </pc:sldChg>
      <pc:sldChg chg="addSp delSp modSp mod">
        <pc:chgData name="Kanika Maheshwari" userId="594c5f91-4e07-41ca-8fec-8d5e529a8640" providerId="ADAL" clId="{BA71AA44-F8F6-4A53-908B-187483859789}" dt="2026-06-03T21:02:27.731" v="1617" actId="3064"/>
        <pc:sldMkLst>
          <pc:docMk/>
          <pc:sldMk cId="2180791596" sldId="2145707128"/>
        </pc:sldMkLst>
        <pc:spChg chg="mod ord topLvl">
          <ac:chgData name="Kanika Maheshwari" userId="594c5f91-4e07-41ca-8fec-8d5e529a8640" providerId="ADAL" clId="{BA71AA44-F8F6-4A53-908B-187483859789}" dt="2026-06-03T20:01:18.595" v="779" actId="1035"/>
          <ac:spMkLst>
            <pc:docMk/>
            <pc:sldMk cId="2180791596" sldId="2145707128"/>
            <ac:spMk id="2" creationId="{35F0353B-78FC-1E26-AB00-3B84D7F74D96}"/>
          </ac:spMkLst>
        </pc:spChg>
        <pc:spChg chg="del">
          <ac:chgData name="Kanika Maheshwari" userId="594c5f91-4e07-41ca-8fec-8d5e529a8640" providerId="ADAL" clId="{BA71AA44-F8F6-4A53-908B-187483859789}" dt="2026-06-03T19:46:23.814" v="431" actId="478"/>
          <ac:spMkLst>
            <pc:docMk/>
            <pc:sldMk cId="2180791596" sldId="2145707128"/>
            <ac:spMk id="3" creationId="{9A80A618-B70C-D828-FA84-B122CBF50FEE}"/>
          </ac:spMkLst>
        </pc:spChg>
        <pc:spChg chg="add del mod">
          <ac:chgData name="Kanika Maheshwari" userId="594c5f91-4e07-41ca-8fec-8d5e529a8640" providerId="ADAL" clId="{BA71AA44-F8F6-4A53-908B-187483859789}" dt="2026-06-03T19:14:47.164" v="427" actId="478"/>
          <ac:spMkLst>
            <pc:docMk/>
            <pc:sldMk cId="2180791596" sldId="2145707128"/>
            <ac:spMk id="5" creationId="{9A521D1C-BC2F-7D65-0581-71EA68A0D94D}"/>
          </ac:spMkLst>
        </pc:spChg>
        <pc:spChg chg="add mod">
          <ac:chgData name="Kanika Maheshwari" userId="594c5f91-4e07-41ca-8fec-8d5e529a8640" providerId="ADAL" clId="{BA71AA44-F8F6-4A53-908B-187483859789}" dt="2026-06-03T19:14:47.803" v="428"/>
          <ac:spMkLst>
            <pc:docMk/>
            <pc:sldMk cId="2180791596" sldId="2145707128"/>
            <ac:spMk id="6" creationId="{7B7DA553-EB4E-9817-268B-0D07C0C4ADA9}"/>
          </ac:spMkLst>
        </pc:spChg>
        <pc:spChg chg="add del mod">
          <ac:chgData name="Kanika Maheshwari" userId="594c5f91-4e07-41ca-8fec-8d5e529a8640" providerId="ADAL" clId="{BA71AA44-F8F6-4A53-908B-187483859789}" dt="2026-06-03T19:46:26.279" v="432" actId="478"/>
          <ac:spMkLst>
            <pc:docMk/>
            <pc:sldMk cId="2180791596" sldId="2145707128"/>
            <ac:spMk id="8" creationId="{6F64BB08-0C0F-2F75-7349-D71600859D06}"/>
          </ac:spMkLst>
        </pc:spChg>
        <pc:spChg chg="mod ord topLvl">
          <ac:chgData name="Kanika Maheshwari" userId="594c5f91-4e07-41ca-8fec-8d5e529a8640" providerId="ADAL" clId="{BA71AA44-F8F6-4A53-908B-187483859789}" dt="2026-06-03T20:01:18.595" v="779" actId="1035"/>
          <ac:spMkLst>
            <pc:docMk/>
            <pc:sldMk cId="2180791596" sldId="2145707128"/>
            <ac:spMk id="12" creationId="{E8D08117-CCEA-9BD1-BA48-A8E1E70058F3}"/>
          </ac:spMkLst>
        </pc:spChg>
        <pc:spChg chg="mod topLvl">
          <ac:chgData name="Kanika Maheshwari" userId="594c5f91-4e07-41ca-8fec-8d5e529a8640" providerId="ADAL" clId="{BA71AA44-F8F6-4A53-908B-187483859789}" dt="2026-06-03T20:01:18.595" v="779" actId="1035"/>
          <ac:spMkLst>
            <pc:docMk/>
            <pc:sldMk cId="2180791596" sldId="2145707128"/>
            <ac:spMk id="13" creationId="{A02A3722-C602-859D-2A7F-5B05CD2F1C5E}"/>
          </ac:spMkLst>
        </pc:spChg>
        <pc:spChg chg="del mod topLvl">
          <ac:chgData name="Kanika Maheshwari" userId="594c5f91-4e07-41ca-8fec-8d5e529a8640" providerId="ADAL" clId="{BA71AA44-F8F6-4A53-908B-187483859789}" dt="2026-06-03T19:58:45.581" v="668" actId="478"/>
          <ac:spMkLst>
            <pc:docMk/>
            <pc:sldMk cId="2180791596" sldId="2145707128"/>
            <ac:spMk id="14" creationId="{AFE7C16F-4891-7EF7-E810-BE1E6BE31ED2}"/>
          </ac:spMkLst>
        </pc:spChg>
        <pc:spChg chg="mod">
          <ac:chgData name="Kanika Maheshwari" userId="594c5f91-4e07-41ca-8fec-8d5e529a8640" providerId="ADAL" clId="{BA71AA44-F8F6-4A53-908B-187483859789}" dt="2026-06-03T20:05:16.594" v="829" actId="20577"/>
          <ac:spMkLst>
            <pc:docMk/>
            <pc:sldMk cId="2180791596" sldId="2145707128"/>
            <ac:spMk id="16" creationId="{3D9502B6-3357-AECE-CCD4-9461C52C0093}"/>
          </ac:spMkLst>
        </pc:spChg>
        <pc:spChg chg="del">
          <ac:chgData name="Kanika Maheshwari" userId="594c5f91-4e07-41ca-8fec-8d5e529a8640" providerId="ADAL" clId="{BA71AA44-F8F6-4A53-908B-187483859789}" dt="2026-06-03T15:42:20.648" v="418" actId="478"/>
          <ac:spMkLst>
            <pc:docMk/>
            <pc:sldMk cId="2180791596" sldId="2145707128"/>
            <ac:spMk id="17" creationId="{A738DE76-6E86-EF1A-29FD-66A594882F9B}"/>
          </ac:spMkLst>
        </pc:spChg>
        <pc:spChg chg="del">
          <ac:chgData name="Kanika Maheshwari" userId="594c5f91-4e07-41ca-8fec-8d5e529a8640" providerId="ADAL" clId="{BA71AA44-F8F6-4A53-908B-187483859789}" dt="2026-06-03T19:51:01.586" v="468" actId="478"/>
          <ac:spMkLst>
            <pc:docMk/>
            <pc:sldMk cId="2180791596" sldId="2145707128"/>
            <ac:spMk id="18" creationId="{A85186F7-CD17-ADBF-55AF-1797598066AE}"/>
          </ac:spMkLst>
        </pc:spChg>
        <pc:spChg chg="del mod ord topLvl">
          <ac:chgData name="Kanika Maheshwari" userId="594c5f91-4e07-41ca-8fec-8d5e529a8640" providerId="ADAL" clId="{BA71AA44-F8F6-4A53-908B-187483859789}" dt="2026-06-03T19:58:45.581" v="668" actId="478"/>
          <ac:spMkLst>
            <pc:docMk/>
            <pc:sldMk cId="2180791596" sldId="2145707128"/>
            <ac:spMk id="19" creationId="{57BCB77B-E625-DDF9-906E-B3FA5C106E30}"/>
          </ac:spMkLst>
        </pc:spChg>
        <pc:spChg chg="mod topLvl">
          <ac:chgData name="Kanika Maheshwari" userId="594c5f91-4e07-41ca-8fec-8d5e529a8640" providerId="ADAL" clId="{BA71AA44-F8F6-4A53-908B-187483859789}" dt="2026-06-03T20:01:18.595" v="779" actId="1035"/>
          <ac:spMkLst>
            <pc:docMk/>
            <pc:sldMk cId="2180791596" sldId="2145707128"/>
            <ac:spMk id="20" creationId="{C0EE1DB5-A9A5-6646-F04A-CCFCDDE7B2A8}"/>
          </ac:spMkLst>
        </pc:spChg>
        <pc:spChg chg="del">
          <ac:chgData name="Kanika Maheshwari" userId="594c5f91-4e07-41ca-8fec-8d5e529a8640" providerId="ADAL" clId="{BA71AA44-F8F6-4A53-908B-187483859789}" dt="2026-06-03T19:46:31.144" v="433" actId="478"/>
          <ac:spMkLst>
            <pc:docMk/>
            <pc:sldMk cId="2180791596" sldId="2145707128"/>
            <ac:spMk id="21" creationId="{4E5AB343-F29F-288B-8651-A69AF71095CA}"/>
          </ac:spMkLst>
        </pc:spChg>
        <pc:spChg chg="del">
          <ac:chgData name="Kanika Maheshwari" userId="594c5f91-4e07-41ca-8fec-8d5e529a8640" providerId="ADAL" clId="{BA71AA44-F8F6-4A53-908B-187483859789}" dt="2026-06-03T19:46:31.144" v="433" actId="478"/>
          <ac:spMkLst>
            <pc:docMk/>
            <pc:sldMk cId="2180791596" sldId="2145707128"/>
            <ac:spMk id="22" creationId="{2D64C025-70F9-E965-A391-799A6849C08F}"/>
          </ac:spMkLst>
        </pc:spChg>
        <pc:spChg chg="del">
          <ac:chgData name="Kanika Maheshwari" userId="594c5f91-4e07-41ca-8fec-8d5e529a8640" providerId="ADAL" clId="{BA71AA44-F8F6-4A53-908B-187483859789}" dt="2026-06-03T19:46:18.697" v="430" actId="478"/>
          <ac:spMkLst>
            <pc:docMk/>
            <pc:sldMk cId="2180791596" sldId="2145707128"/>
            <ac:spMk id="23" creationId="{7A0546C5-BE29-2C4A-AF1B-85F111541284}"/>
          </ac:spMkLst>
        </pc:spChg>
        <pc:spChg chg="del">
          <ac:chgData name="Kanika Maheshwari" userId="594c5f91-4e07-41ca-8fec-8d5e529a8640" providerId="ADAL" clId="{BA71AA44-F8F6-4A53-908B-187483859789}" dt="2026-06-03T19:46:18.697" v="430" actId="478"/>
          <ac:spMkLst>
            <pc:docMk/>
            <pc:sldMk cId="2180791596" sldId="2145707128"/>
            <ac:spMk id="24" creationId="{9ED45864-780C-2CEB-BC71-F85A221A41D0}"/>
          </ac:spMkLst>
        </pc:spChg>
        <pc:spChg chg="del">
          <ac:chgData name="Kanika Maheshwari" userId="594c5f91-4e07-41ca-8fec-8d5e529a8640" providerId="ADAL" clId="{BA71AA44-F8F6-4A53-908B-187483859789}" dt="2026-06-03T19:46:18.697" v="430" actId="478"/>
          <ac:spMkLst>
            <pc:docMk/>
            <pc:sldMk cId="2180791596" sldId="2145707128"/>
            <ac:spMk id="25" creationId="{04F9FFDD-06AF-6BAC-FAB2-0FF38F54D210}"/>
          </ac:spMkLst>
        </pc:spChg>
        <pc:spChg chg="del">
          <ac:chgData name="Kanika Maheshwari" userId="594c5f91-4e07-41ca-8fec-8d5e529a8640" providerId="ADAL" clId="{BA71AA44-F8F6-4A53-908B-187483859789}" dt="2026-06-03T19:46:18.697" v="430" actId="478"/>
          <ac:spMkLst>
            <pc:docMk/>
            <pc:sldMk cId="2180791596" sldId="2145707128"/>
            <ac:spMk id="26" creationId="{D78FE69B-BCE8-0843-9B73-4B34F8253C16}"/>
          </ac:spMkLst>
        </pc:spChg>
        <pc:spChg chg="del">
          <ac:chgData name="Kanika Maheshwari" userId="594c5f91-4e07-41ca-8fec-8d5e529a8640" providerId="ADAL" clId="{BA71AA44-F8F6-4A53-908B-187483859789}" dt="2026-06-03T19:46:18.697" v="430" actId="478"/>
          <ac:spMkLst>
            <pc:docMk/>
            <pc:sldMk cId="2180791596" sldId="2145707128"/>
            <ac:spMk id="27" creationId="{3F4813DD-2971-2692-7FEE-600D874474BE}"/>
          </ac:spMkLst>
        </pc:spChg>
        <pc:spChg chg="del">
          <ac:chgData name="Kanika Maheshwari" userId="594c5f91-4e07-41ca-8fec-8d5e529a8640" providerId="ADAL" clId="{BA71AA44-F8F6-4A53-908B-187483859789}" dt="2026-06-03T19:46:18.697" v="430" actId="478"/>
          <ac:spMkLst>
            <pc:docMk/>
            <pc:sldMk cId="2180791596" sldId="2145707128"/>
            <ac:spMk id="28" creationId="{8EE8C317-7332-1795-673F-5DD587DF583A}"/>
          </ac:spMkLst>
        </pc:spChg>
        <pc:spChg chg="del">
          <ac:chgData name="Kanika Maheshwari" userId="594c5f91-4e07-41ca-8fec-8d5e529a8640" providerId="ADAL" clId="{BA71AA44-F8F6-4A53-908B-187483859789}" dt="2026-06-03T19:46:18.697" v="430" actId="478"/>
          <ac:spMkLst>
            <pc:docMk/>
            <pc:sldMk cId="2180791596" sldId="2145707128"/>
            <ac:spMk id="29" creationId="{1653E279-91D0-1B7E-D55D-8E38713E5385}"/>
          </ac:spMkLst>
        </pc:spChg>
        <pc:spChg chg="del">
          <ac:chgData name="Kanika Maheshwari" userId="594c5f91-4e07-41ca-8fec-8d5e529a8640" providerId="ADAL" clId="{BA71AA44-F8F6-4A53-908B-187483859789}" dt="2026-06-03T19:46:18.697" v="430" actId="478"/>
          <ac:spMkLst>
            <pc:docMk/>
            <pc:sldMk cId="2180791596" sldId="2145707128"/>
            <ac:spMk id="30" creationId="{30ED8DEC-1D63-4CA8-693E-7E05D5532AB1}"/>
          </ac:spMkLst>
        </pc:spChg>
        <pc:spChg chg="del">
          <ac:chgData name="Kanika Maheshwari" userId="594c5f91-4e07-41ca-8fec-8d5e529a8640" providerId="ADAL" clId="{BA71AA44-F8F6-4A53-908B-187483859789}" dt="2026-06-03T19:46:18.697" v="430" actId="478"/>
          <ac:spMkLst>
            <pc:docMk/>
            <pc:sldMk cId="2180791596" sldId="2145707128"/>
            <ac:spMk id="33" creationId="{8D27A394-8E74-542B-5324-ED847DC4336E}"/>
          </ac:spMkLst>
        </pc:spChg>
        <pc:spChg chg="del">
          <ac:chgData name="Kanika Maheshwari" userId="594c5f91-4e07-41ca-8fec-8d5e529a8640" providerId="ADAL" clId="{BA71AA44-F8F6-4A53-908B-187483859789}" dt="2026-06-03T19:46:18.697" v="430" actId="478"/>
          <ac:spMkLst>
            <pc:docMk/>
            <pc:sldMk cId="2180791596" sldId="2145707128"/>
            <ac:spMk id="34" creationId="{BF78A013-B006-C87B-E3D3-23C310AB08C3}"/>
          </ac:spMkLst>
        </pc:spChg>
        <pc:spChg chg="mod ord topLvl">
          <ac:chgData name="Kanika Maheshwari" userId="594c5f91-4e07-41ca-8fec-8d5e529a8640" providerId="ADAL" clId="{BA71AA44-F8F6-4A53-908B-187483859789}" dt="2026-06-03T20:01:18.595" v="779" actId="1035"/>
          <ac:spMkLst>
            <pc:docMk/>
            <pc:sldMk cId="2180791596" sldId="2145707128"/>
            <ac:spMk id="36" creationId="{5FE89FDF-0DE2-BEAA-BB7D-0A90BEF62DA5}"/>
          </ac:spMkLst>
        </pc:spChg>
        <pc:spChg chg="mod topLvl">
          <ac:chgData name="Kanika Maheshwari" userId="594c5f91-4e07-41ca-8fec-8d5e529a8640" providerId="ADAL" clId="{BA71AA44-F8F6-4A53-908B-187483859789}" dt="2026-06-03T20:01:18.595" v="779" actId="1035"/>
          <ac:spMkLst>
            <pc:docMk/>
            <pc:sldMk cId="2180791596" sldId="2145707128"/>
            <ac:spMk id="37" creationId="{84AA105D-E465-7887-55CF-53F2B7A9B0CA}"/>
          </ac:spMkLst>
        </pc:spChg>
        <pc:spChg chg="del mod topLvl">
          <ac:chgData name="Kanika Maheshwari" userId="594c5f91-4e07-41ca-8fec-8d5e529a8640" providerId="ADAL" clId="{BA71AA44-F8F6-4A53-908B-187483859789}" dt="2026-06-03T19:58:45.581" v="668" actId="478"/>
          <ac:spMkLst>
            <pc:docMk/>
            <pc:sldMk cId="2180791596" sldId="2145707128"/>
            <ac:spMk id="38" creationId="{4945C586-C3E9-906B-A1AB-EE00341A9619}"/>
          </ac:spMkLst>
        </pc:spChg>
        <pc:spChg chg="add mod">
          <ac:chgData name="Kanika Maheshwari" userId="594c5f91-4e07-41ca-8fec-8d5e529a8640" providerId="ADAL" clId="{BA71AA44-F8F6-4A53-908B-187483859789}" dt="2026-06-03T20:38:33.857" v="1149" actId="207"/>
          <ac:spMkLst>
            <pc:docMk/>
            <pc:sldMk cId="2180791596" sldId="2145707128"/>
            <ac:spMk id="39" creationId="{BFA817B8-7BD1-D92A-4314-D6F0FF4B42AB}"/>
          </ac:spMkLst>
        </pc:spChg>
        <pc:spChg chg="add mod">
          <ac:chgData name="Kanika Maheshwari" userId="594c5f91-4e07-41ca-8fec-8d5e529a8640" providerId="ADAL" clId="{BA71AA44-F8F6-4A53-908B-187483859789}" dt="2026-06-03T20:04:59.090" v="807" actId="1036"/>
          <ac:spMkLst>
            <pc:docMk/>
            <pc:sldMk cId="2180791596" sldId="2145707128"/>
            <ac:spMk id="40" creationId="{5D7F8555-C08D-F9DC-112B-A06912DF0E09}"/>
          </ac:spMkLst>
        </pc:spChg>
        <pc:spChg chg="add mod">
          <ac:chgData name="Kanika Maheshwari" userId="594c5f91-4e07-41ca-8fec-8d5e529a8640" providerId="ADAL" clId="{BA71AA44-F8F6-4A53-908B-187483859789}" dt="2026-06-03T21:02:27.731" v="1617" actId="3064"/>
          <ac:spMkLst>
            <pc:docMk/>
            <pc:sldMk cId="2180791596" sldId="2145707128"/>
            <ac:spMk id="41" creationId="{25A17209-0D92-F9A7-F4B8-9ED2F4B1CF56}"/>
          </ac:spMkLst>
        </pc:spChg>
        <pc:spChg chg="add mod">
          <ac:chgData name="Kanika Maheshwari" userId="594c5f91-4e07-41ca-8fec-8d5e529a8640" providerId="ADAL" clId="{BA71AA44-F8F6-4A53-908B-187483859789}" dt="2026-06-03T21:02:27.731" v="1617" actId="3064"/>
          <ac:spMkLst>
            <pc:docMk/>
            <pc:sldMk cId="2180791596" sldId="2145707128"/>
            <ac:spMk id="42" creationId="{B275A5A6-D023-79A7-A5FA-61107C476230}"/>
          </ac:spMkLst>
        </pc:spChg>
        <pc:spChg chg="add mod">
          <ac:chgData name="Kanika Maheshwari" userId="594c5f91-4e07-41ca-8fec-8d5e529a8640" providerId="ADAL" clId="{BA71AA44-F8F6-4A53-908B-187483859789}" dt="2026-06-03T21:02:27.731" v="1617" actId="3064"/>
          <ac:spMkLst>
            <pc:docMk/>
            <pc:sldMk cId="2180791596" sldId="2145707128"/>
            <ac:spMk id="43" creationId="{B42118EC-452D-0F68-F581-95D210D0BD00}"/>
          </ac:spMkLst>
        </pc:spChg>
        <pc:spChg chg="add mod">
          <ac:chgData name="Kanika Maheshwari" userId="594c5f91-4e07-41ca-8fec-8d5e529a8640" providerId="ADAL" clId="{BA71AA44-F8F6-4A53-908B-187483859789}" dt="2026-06-03T21:02:27.731" v="1617" actId="3064"/>
          <ac:spMkLst>
            <pc:docMk/>
            <pc:sldMk cId="2180791596" sldId="2145707128"/>
            <ac:spMk id="44" creationId="{512165F5-9C69-CC57-4169-BE1FBEFF3F74}"/>
          </ac:spMkLst>
        </pc:spChg>
        <pc:grpChg chg="add del mod">
          <ac:chgData name="Kanika Maheshwari" userId="594c5f91-4e07-41ca-8fec-8d5e529a8640" providerId="ADAL" clId="{BA71AA44-F8F6-4A53-908B-187483859789}" dt="2026-06-03T19:48:42.485" v="449" actId="165"/>
          <ac:grpSpMkLst>
            <pc:docMk/>
            <pc:sldMk cId="2180791596" sldId="2145707128"/>
            <ac:grpSpMk id="9" creationId="{3D4B5B40-F827-1A0B-0A6E-BEDEB25071CA}"/>
          </ac:grpSpMkLst>
        </pc:grpChg>
        <pc:grpChg chg="add mod">
          <ac:chgData name="Kanika Maheshwari" userId="594c5f91-4e07-41ca-8fec-8d5e529a8640" providerId="ADAL" clId="{BA71AA44-F8F6-4A53-908B-187483859789}" dt="2026-06-03T19:51:10.312" v="470" actId="14100"/>
          <ac:grpSpMkLst>
            <pc:docMk/>
            <pc:sldMk cId="2180791596" sldId="2145707128"/>
            <ac:grpSpMk id="10" creationId="{275358BF-4928-03C9-46AF-F3765DB625AA}"/>
          </ac:grpSpMkLst>
        </pc:grpChg>
        <pc:grpChg chg="add del mod">
          <ac:chgData name="Kanika Maheshwari" userId="594c5f91-4e07-41ca-8fec-8d5e529a8640" providerId="ADAL" clId="{BA71AA44-F8F6-4A53-908B-187483859789}" dt="2026-06-03T19:51:20.762" v="472" actId="165"/>
          <ac:grpSpMkLst>
            <pc:docMk/>
            <pc:sldMk cId="2180791596" sldId="2145707128"/>
            <ac:grpSpMk id="11" creationId="{A1EE85FF-052D-7C08-0449-B3349BC1090C}"/>
          </ac:grpSpMkLst>
        </pc:grpChg>
        <pc:grpChg chg="add mod">
          <ac:chgData name="Kanika Maheshwari" userId="594c5f91-4e07-41ca-8fec-8d5e529a8640" providerId="ADAL" clId="{BA71AA44-F8F6-4A53-908B-187483859789}" dt="2026-06-03T19:51:10.312" v="470" actId="14100"/>
          <ac:grpSpMkLst>
            <pc:docMk/>
            <pc:sldMk cId="2180791596" sldId="2145707128"/>
            <ac:grpSpMk id="15" creationId="{F8EC9E37-1A78-0131-04B3-DCF1604B42C8}"/>
          </ac:grpSpMkLst>
        </pc:grpChg>
      </pc:sldChg>
      <pc:sldChg chg="add del mod modShow">
        <pc:chgData name="Kanika Maheshwari" userId="594c5f91-4e07-41ca-8fec-8d5e529a8640" providerId="ADAL" clId="{BA71AA44-F8F6-4A53-908B-187483859789}" dt="2026-06-03T22:18:19.376" v="2464" actId="47"/>
        <pc:sldMkLst>
          <pc:docMk/>
          <pc:sldMk cId="2267857408" sldId="2145707129"/>
        </pc:sldMkLst>
      </pc:sldChg>
      <pc:sldChg chg="addSp delSp modSp add mod">
        <pc:chgData name="Kanika Maheshwari" userId="594c5f91-4e07-41ca-8fec-8d5e529a8640" providerId="ADAL" clId="{BA71AA44-F8F6-4A53-908B-187483859789}" dt="2026-06-03T21:28:37.062" v="1708" actId="207"/>
        <pc:sldMkLst>
          <pc:docMk/>
          <pc:sldMk cId="326413750" sldId="2145707130"/>
        </pc:sldMkLst>
        <pc:spChg chg="add del mod">
          <ac:chgData name="Kanika Maheshwari" userId="594c5f91-4e07-41ca-8fec-8d5e529a8640" providerId="ADAL" clId="{BA71AA44-F8F6-4A53-908B-187483859789}" dt="2026-06-03T20:51:28.912" v="1416" actId="478"/>
          <ac:spMkLst>
            <pc:docMk/>
            <pc:sldMk cId="326413750" sldId="2145707130"/>
            <ac:spMk id="2" creationId="{4CF232E6-E665-A966-2D20-C4AB3B179074}"/>
          </ac:spMkLst>
        </pc:spChg>
        <pc:spChg chg="del">
          <ac:chgData name="Kanika Maheshwari" userId="594c5f91-4e07-41ca-8fec-8d5e529a8640" providerId="ADAL" clId="{BA71AA44-F8F6-4A53-908B-187483859789}" dt="2026-06-03T20:37:31.556" v="1142" actId="478"/>
          <ac:spMkLst>
            <pc:docMk/>
            <pc:sldMk cId="326413750" sldId="2145707130"/>
            <ac:spMk id="2" creationId="{D304A2CD-CE2E-BC7B-F02C-951A6F95BB51}"/>
          </ac:spMkLst>
        </pc:spChg>
        <pc:spChg chg="add del mod">
          <ac:chgData name="Kanika Maheshwari" userId="594c5f91-4e07-41ca-8fec-8d5e529a8640" providerId="ADAL" clId="{BA71AA44-F8F6-4A53-908B-187483859789}" dt="2026-06-03T20:27:03.023" v="1112" actId="21"/>
          <ac:spMkLst>
            <pc:docMk/>
            <pc:sldMk cId="326413750" sldId="2145707130"/>
            <ac:spMk id="3" creationId="{88067DB3-CEDC-55BE-173E-5C7AC5DDDE88}"/>
          </ac:spMkLst>
        </pc:spChg>
        <pc:spChg chg="add mod">
          <ac:chgData name="Kanika Maheshwari" userId="594c5f91-4e07-41ca-8fec-8d5e529a8640" providerId="ADAL" clId="{BA71AA44-F8F6-4A53-908B-187483859789}" dt="2026-06-03T21:28:37.062" v="1708" actId="207"/>
          <ac:spMkLst>
            <pc:docMk/>
            <pc:sldMk cId="326413750" sldId="2145707130"/>
            <ac:spMk id="3" creationId="{ED2A5E42-FDBA-62C8-13DF-02DB976518C3}"/>
          </ac:spMkLst>
        </pc:spChg>
        <pc:spChg chg="add mod">
          <ac:chgData name="Kanika Maheshwari" userId="594c5f91-4e07-41ca-8fec-8d5e529a8640" providerId="ADAL" clId="{BA71AA44-F8F6-4A53-908B-187483859789}" dt="2026-06-03T20:27:05.576" v="1114"/>
          <ac:spMkLst>
            <pc:docMk/>
            <pc:sldMk cId="326413750" sldId="2145707130"/>
            <ac:spMk id="5" creationId="{88067DB3-CEDC-55BE-173E-5C7AC5DDDE88}"/>
          </ac:spMkLst>
        </pc:spChg>
        <pc:spChg chg="del">
          <ac:chgData name="Kanika Maheshwari" userId="594c5f91-4e07-41ca-8fec-8d5e529a8640" providerId="ADAL" clId="{BA71AA44-F8F6-4A53-908B-187483859789}" dt="2026-06-03T20:27:05" v="1113" actId="478"/>
          <ac:spMkLst>
            <pc:docMk/>
            <pc:sldMk cId="326413750" sldId="2145707130"/>
            <ac:spMk id="6" creationId="{504C9C5D-BDEC-CD67-9E8A-A4BE94788DCD}"/>
          </ac:spMkLst>
        </pc:spChg>
        <pc:spChg chg="add mod">
          <ac:chgData name="Kanika Maheshwari" userId="594c5f91-4e07-41ca-8fec-8d5e529a8640" providerId="ADAL" clId="{BA71AA44-F8F6-4A53-908B-187483859789}" dt="2026-06-03T21:28:37.062" v="1708" actId="207"/>
          <ac:spMkLst>
            <pc:docMk/>
            <pc:sldMk cId="326413750" sldId="2145707130"/>
            <ac:spMk id="7" creationId="{23A63CF2-C4FA-BD9F-6A31-4BACB4558600}"/>
          </ac:spMkLst>
        </pc:spChg>
        <pc:spChg chg="mod">
          <ac:chgData name="Kanika Maheshwari" userId="594c5f91-4e07-41ca-8fec-8d5e529a8640" providerId="ADAL" clId="{BA71AA44-F8F6-4A53-908B-187483859789}" dt="2026-06-03T20:38:15.358" v="1147" actId="207"/>
          <ac:spMkLst>
            <pc:docMk/>
            <pc:sldMk cId="326413750" sldId="2145707130"/>
            <ac:spMk id="9" creationId="{003884C2-0BB4-8326-4FE9-22C2B763AE1B}"/>
          </ac:spMkLst>
        </pc:spChg>
        <pc:spChg chg="mod">
          <ac:chgData name="Kanika Maheshwari" userId="594c5f91-4e07-41ca-8fec-8d5e529a8640" providerId="ADAL" clId="{BA71AA44-F8F6-4A53-908B-187483859789}" dt="2026-06-03T20:52:32.045" v="1435" actId="20577"/>
          <ac:spMkLst>
            <pc:docMk/>
            <pc:sldMk cId="326413750" sldId="2145707130"/>
            <ac:spMk id="10" creationId="{4E75C0D9-0646-6523-68C4-BDAB2D4EA96C}"/>
          </ac:spMkLst>
        </pc:spChg>
        <pc:spChg chg="add mod">
          <ac:chgData name="Kanika Maheshwari" userId="594c5f91-4e07-41ca-8fec-8d5e529a8640" providerId="ADAL" clId="{BA71AA44-F8F6-4A53-908B-187483859789}" dt="2026-06-03T20:56:59.733" v="1527" actId="554"/>
          <ac:spMkLst>
            <pc:docMk/>
            <pc:sldMk cId="326413750" sldId="2145707130"/>
            <ac:spMk id="11" creationId="{D4717E6C-959D-3294-7BA7-119A4DFB7FAF}"/>
          </ac:spMkLst>
        </pc:spChg>
        <pc:spChg chg="del">
          <ac:chgData name="Kanika Maheshwari" userId="594c5f91-4e07-41ca-8fec-8d5e529a8640" providerId="ADAL" clId="{BA71AA44-F8F6-4A53-908B-187483859789}" dt="2026-06-03T20:37:31.556" v="1142" actId="478"/>
          <ac:spMkLst>
            <pc:docMk/>
            <pc:sldMk cId="326413750" sldId="2145707130"/>
            <ac:spMk id="12" creationId="{0A6D141C-6A47-04CA-CB0F-33993DC5DAA0}"/>
          </ac:spMkLst>
        </pc:spChg>
        <pc:spChg chg="mod">
          <ac:chgData name="Kanika Maheshwari" userId="594c5f91-4e07-41ca-8fec-8d5e529a8640" providerId="ADAL" clId="{BA71AA44-F8F6-4A53-908B-187483859789}" dt="2026-06-03T20:49:42.720" v="1402" actId="571"/>
          <ac:spMkLst>
            <pc:docMk/>
            <pc:sldMk cId="326413750" sldId="2145707130"/>
            <ac:spMk id="12" creationId="{A5C5ECF0-4357-E74C-33BB-9D8FFF2DF275}"/>
          </ac:spMkLst>
        </pc:spChg>
        <pc:spChg chg="del">
          <ac:chgData name="Kanika Maheshwari" userId="594c5f91-4e07-41ca-8fec-8d5e529a8640" providerId="ADAL" clId="{BA71AA44-F8F6-4A53-908B-187483859789}" dt="2026-06-03T20:37:31.556" v="1142" actId="478"/>
          <ac:spMkLst>
            <pc:docMk/>
            <pc:sldMk cId="326413750" sldId="2145707130"/>
            <ac:spMk id="13" creationId="{094B90ED-7735-6082-3B9D-D649EC48C24F}"/>
          </ac:spMkLst>
        </pc:spChg>
        <pc:spChg chg="mod">
          <ac:chgData name="Kanika Maheshwari" userId="594c5f91-4e07-41ca-8fec-8d5e529a8640" providerId="ADAL" clId="{BA71AA44-F8F6-4A53-908B-187483859789}" dt="2026-06-03T20:52:29.018" v="1434" actId="20577"/>
          <ac:spMkLst>
            <pc:docMk/>
            <pc:sldMk cId="326413750" sldId="2145707130"/>
            <ac:spMk id="13" creationId="{5790EE00-706D-A50C-0054-16A9FE527D09}"/>
          </ac:spMkLst>
        </pc:spChg>
        <pc:spChg chg="add mod">
          <ac:chgData name="Kanika Maheshwari" userId="594c5f91-4e07-41ca-8fec-8d5e529a8640" providerId="ADAL" clId="{BA71AA44-F8F6-4A53-908B-187483859789}" dt="2026-06-03T20:57:32.719" v="1533" actId="465"/>
          <ac:spMkLst>
            <pc:docMk/>
            <pc:sldMk cId="326413750" sldId="2145707130"/>
            <ac:spMk id="14" creationId="{F85F8570-3075-77A0-31AB-8DD7FE47CA53}"/>
          </ac:spMkLst>
        </pc:spChg>
        <pc:spChg chg="add mod">
          <ac:chgData name="Kanika Maheshwari" userId="594c5f91-4e07-41ca-8fec-8d5e529a8640" providerId="ADAL" clId="{BA71AA44-F8F6-4A53-908B-187483859789}" dt="2026-06-03T20:57:32.719" v="1533" actId="465"/>
          <ac:spMkLst>
            <pc:docMk/>
            <pc:sldMk cId="326413750" sldId="2145707130"/>
            <ac:spMk id="15" creationId="{0335FE83-DE16-6346-61E7-B5BB04FF7177}"/>
          </ac:spMkLst>
        </pc:spChg>
        <pc:spChg chg="mod">
          <ac:chgData name="Kanika Maheshwari" userId="594c5f91-4e07-41ca-8fec-8d5e529a8640" providerId="ADAL" clId="{BA71AA44-F8F6-4A53-908B-187483859789}" dt="2026-06-03T20:28:42.714" v="1141" actId="20577"/>
          <ac:spMkLst>
            <pc:docMk/>
            <pc:sldMk cId="326413750" sldId="2145707130"/>
            <ac:spMk id="16" creationId="{C8EC332A-F61B-B535-763D-173EA86DDE9B}"/>
          </ac:spMkLst>
        </pc:spChg>
        <pc:spChg chg="add mod">
          <ac:chgData name="Kanika Maheshwari" userId="594c5f91-4e07-41ca-8fec-8d5e529a8640" providerId="ADAL" clId="{BA71AA44-F8F6-4A53-908B-187483859789}" dt="2026-06-03T20:56:59.733" v="1527" actId="554"/>
          <ac:spMkLst>
            <pc:docMk/>
            <pc:sldMk cId="326413750" sldId="2145707130"/>
            <ac:spMk id="17" creationId="{512F6888-ECDC-740C-EC2A-9948BBE37F9A}"/>
          </ac:spMkLst>
        </pc:spChg>
        <pc:spChg chg="add mod">
          <ac:chgData name="Kanika Maheshwari" userId="594c5f91-4e07-41ca-8fec-8d5e529a8640" providerId="ADAL" clId="{BA71AA44-F8F6-4A53-908B-187483859789}" dt="2026-06-03T21:01:24.283" v="1611" actId="465"/>
          <ac:spMkLst>
            <pc:docMk/>
            <pc:sldMk cId="326413750" sldId="2145707130"/>
            <ac:spMk id="18" creationId="{1C4D7AB1-22FD-9149-2097-1FD0073371F0}"/>
          </ac:spMkLst>
        </pc:spChg>
        <pc:spChg chg="add mod">
          <ac:chgData name="Kanika Maheshwari" userId="594c5f91-4e07-41ca-8fec-8d5e529a8640" providerId="ADAL" clId="{BA71AA44-F8F6-4A53-908B-187483859789}" dt="2026-06-03T21:01:18.929" v="1610" actId="1035"/>
          <ac:spMkLst>
            <pc:docMk/>
            <pc:sldMk cId="326413750" sldId="2145707130"/>
            <ac:spMk id="19" creationId="{1101D4BF-4F30-218F-A1DB-E00BAFA58502}"/>
          </ac:spMkLst>
        </pc:spChg>
        <pc:spChg chg="del">
          <ac:chgData name="Kanika Maheshwari" userId="594c5f91-4e07-41ca-8fec-8d5e529a8640" providerId="ADAL" clId="{BA71AA44-F8F6-4A53-908B-187483859789}" dt="2026-06-03T20:37:31.556" v="1142" actId="478"/>
          <ac:spMkLst>
            <pc:docMk/>
            <pc:sldMk cId="326413750" sldId="2145707130"/>
            <ac:spMk id="20" creationId="{20D9087C-2E83-986B-F2B5-6C3E7C8F6578}"/>
          </ac:spMkLst>
        </pc:spChg>
        <pc:spChg chg="add mod">
          <ac:chgData name="Kanika Maheshwari" userId="594c5f91-4e07-41ca-8fec-8d5e529a8640" providerId="ADAL" clId="{BA71AA44-F8F6-4A53-908B-187483859789}" dt="2026-06-03T21:01:24.283" v="1611" actId="465"/>
          <ac:spMkLst>
            <pc:docMk/>
            <pc:sldMk cId="326413750" sldId="2145707130"/>
            <ac:spMk id="20" creationId="{CD595E1F-E9A1-0FDE-9727-B3125EBF492C}"/>
          </ac:spMkLst>
        </pc:spChg>
        <pc:spChg chg="add mod">
          <ac:chgData name="Kanika Maheshwari" userId="594c5f91-4e07-41ca-8fec-8d5e529a8640" providerId="ADAL" clId="{BA71AA44-F8F6-4A53-908B-187483859789}" dt="2026-06-03T21:01:24.283" v="1611" actId="465"/>
          <ac:spMkLst>
            <pc:docMk/>
            <pc:sldMk cId="326413750" sldId="2145707130"/>
            <ac:spMk id="21" creationId="{0E399C7B-F964-A5BA-9FB1-B7EF44DB71F4}"/>
          </ac:spMkLst>
        </pc:spChg>
        <pc:spChg chg="add mod">
          <ac:chgData name="Kanika Maheshwari" userId="594c5f91-4e07-41ca-8fec-8d5e529a8640" providerId="ADAL" clId="{BA71AA44-F8F6-4A53-908B-187483859789}" dt="2026-06-03T21:00:58.417" v="1603" actId="164"/>
          <ac:spMkLst>
            <pc:docMk/>
            <pc:sldMk cId="326413750" sldId="2145707130"/>
            <ac:spMk id="22" creationId="{0BAE03A0-0D49-590A-9E6A-A73E03B9529B}"/>
          </ac:spMkLst>
        </pc:spChg>
        <pc:spChg chg="add mod">
          <ac:chgData name="Kanika Maheshwari" userId="594c5f91-4e07-41ca-8fec-8d5e529a8640" providerId="ADAL" clId="{BA71AA44-F8F6-4A53-908B-187483859789}" dt="2026-06-03T21:00:58.417" v="1603" actId="164"/>
          <ac:spMkLst>
            <pc:docMk/>
            <pc:sldMk cId="326413750" sldId="2145707130"/>
            <ac:spMk id="23" creationId="{777BD928-EB1D-287B-709F-6AF9A3B6694A}"/>
          </ac:spMkLst>
        </pc:spChg>
        <pc:spChg chg="del">
          <ac:chgData name="Kanika Maheshwari" userId="594c5f91-4e07-41ca-8fec-8d5e529a8640" providerId="ADAL" clId="{BA71AA44-F8F6-4A53-908B-187483859789}" dt="2026-06-03T20:37:31.556" v="1142" actId="478"/>
          <ac:spMkLst>
            <pc:docMk/>
            <pc:sldMk cId="326413750" sldId="2145707130"/>
            <ac:spMk id="36" creationId="{ED07D993-3669-C52F-8D6B-95F3D38C5C7E}"/>
          </ac:spMkLst>
        </pc:spChg>
        <pc:spChg chg="del">
          <ac:chgData name="Kanika Maheshwari" userId="594c5f91-4e07-41ca-8fec-8d5e529a8640" providerId="ADAL" clId="{BA71AA44-F8F6-4A53-908B-187483859789}" dt="2026-06-03T20:37:31.556" v="1142" actId="478"/>
          <ac:spMkLst>
            <pc:docMk/>
            <pc:sldMk cId="326413750" sldId="2145707130"/>
            <ac:spMk id="37" creationId="{E943822F-F0D7-49D8-7981-A490BC9E327B}"/>
          </ac:spMkLst>
        </pc:spChg>
        <pc:spChg chg="del mod">
          <ac:chgData name="Kanika Maheshwari" userId="594c5f91-4e07-41ca-8fec-8d5e529a8640" providerId="ADAL" clId="{BA71AA44-F8F6-4A53-908B-187483859789}" dt="2026-06-03T20:37:31.556" v="1142" actId="478"/>
          <ac:spMkLst>
            <pc:docMk/>
            <pc:sldMk cId="326413750" sldId="2145707130"/>
            <ac:spMk id="39" creationId="{B5DF91CF-D9C8-D4A7-81B4-AF2685235FCD}"/>
          </ac:spMkLst>
        </pc:spChg>
        <pc:spChg chg="del">
          <ac:chgData name="Kanika Maheshwari" userId="594c5f91-4e07-41ca-8fec-8d5e529a8640" providerId="ADAL" clId="{BA71AA44-F8F6-4A53-908B-187483859789}" dt="2026-06-03T20:37:31.556" v="1142" actId="478"/>
          <ac:spMkLst>
            <pc:docMk/>
            <pc:sldMk cId="326413750" sldId="2145707130"/>
            <ac:spMk id="40" creationId="{996FE3E1-3525-57BD-86E9-AFF18E1F0899}"/>
          </ac:spMkLst>
        </pc:spChg>
        <pc:spChg chg="mod">
          <ac:chgData name="Kanika Maheshwari" userId="594c5f91-4e07-41ca-8fec-8d5e529a8640" providerId="ADAL" clId="{BA71AA44-F8F6-4A53-908B-187483859789}" dt="2026-06-03T21:02:40.347" v="1618" actId="3064"/>
          <ac:spMkLst>
            <pc:docMk/>
            <pc:sldMk cId="326413750" sldId="2145707130"/>
            <ac:spMk id="41" creationId="{0B300956-5306-660F-CAA0-D2D8180A9938}"/>
          </ac:spMkLst>
        </pc:spChg>
        <pc:spChg chg="mod">
          <ac:chgData name="Kanika Maheshwari" userId="594c5f91-4e07-41ca-8fec-8d5e529a8640" providerId="ADAL" clId="{BA71AA44-F8F6-4A53-908B-187483859789}" dt="2026-06-03T21:02:40.347" v="1618" actId="3064"/>
          <ac:spMkLst>
            <pc:docMk/>
            <pc:sldMk cId="326413750" sldId="2145707130"/>
            <ac:spMk id="42" creationId="{BF6FF4A9-1F44-0F44-B72D-D52B94F632AB}"/>
          </ac:spMkLst>
        </pc:spChg>
        <pc:spChg chg="mod">
          <ac:chgData name="Kanika Maheshwari" userId="594c5f91-4e07-41ca-8fec-8d5e529a8640" providerId="ADAL" clId="{BA71AA44-F8F6-4A53-908B-187483859789}" dt="2026-06-03T21:02:40.347" v="1618" actId="3064"/>
          <ac:spMkLst>
            <pc:docMk/>
            <pc:sldMk cId="326413750" sldId="2145707130"/>
            <ac:spMk id="43" creationId="{B14CCFB5-351E-B1D1-333B-E874B5BD3150}"/>
          </ac:spMkLst>
        </pc:spChg>
        <pc:spChg chg="mod">
          <ac:chgData name="Kanika Maheshwari" userId="594c5f91-4e07-41ca-8fec-8d5e529a8640" providerId="ADAL" clId="{BA71AA44-F8F6-4A53-908B-187483859789}" dt="2026-06-03T21:02:40.347" v="1618" actId="3064"/>
          <ac:spMkLst>
            <pc:docMk/>
            <pc:sldMk cId="326413750" sldId="2145707130"/>
            <ac:spMk id="44" creationId="{71BFA236-1360-ED9F-EB1D-73FA21F40E64}"/>
          </ac:spMkLst>
        </pc:spChg>
        <pc:grpChg chg="add mod">
          <ac:chgData name="Kanika Maheshwari" userId="594c5f91-4e07-41ca-8fec-8d5e529a8640" providerId="ADAL" clId="{BA71AA44-F8F6-4A53-908B-187483859789}" dt="2026-06-03T20:51:57.819" v="1419" actId="1076"/>
          <ac:grpSpMkLst>
            <pc:docMk/>
            <pc:sldMk cId="326413750" sldId="2145707130"/>
            <ac:grpSpMk id="6" creationId="{297D4326-56F4-2B90-CF75-C26622E2B85A}"/>
          </ac:grpSpMkLst>
        </pc:grpChg>
        <pc:grpChg chg="add mod">
          <ac:chgData name="Kanika Maheshwari" userId="594c5f91-4e07-41ca-8fec-8d5e529a8640" providerId="ADAL" clId="{BA71AA44-F8F6-4A53-908B-187483859789}" dt="2026-06-03T20:51:14.004" v="1414" actId="14100"/>
          <ac:grpSpMkLst>
            <pc:docMk/>
            <pc:sldMk cId="326413750" sldId="2145707130"/>
            <ac:grpSpMk id="8" creationId="{9D1F99E5-EA2E-F391-BB4A-3F20FCF03E26}"/>
          </ac:grpSpMkLst>
        </pc:grpChg>
        <pc:grpChg chg="add mod">
          <ac:chgData name="Kanika Maheshwari" userId="594c5f91-4e07-41ca-8fec-8d5e529a8640" providerId="ADAL" clId="{BA71AA44-F8F6-4A53-908B-187483859789}" dt="2026-06-03T21:00:58.417" v="1603" actId="164"/>
          <ac:grpSpMkLst>
            <pc:docMk/>
            <pc:sldMk cId="326413750" sldId="2145707130"/>
            <ac:grpSpMk id="24" creationId="{703FFD88-91D2-A9D9-C0BE-750CBD0F1E3D}"/>
          </ac:grpSpMkLst>
        </pc:grpChg>
      </pc:sldChg>
      <pc:sldChg chg="addSp delSp modSp add mod">
        <pc:chgData name="Kanika Maheshwari" userId="594c5f91-4e07-41ca-8fec-8d5e529a8640" providerId="ADAL" clId="{BA71AA44-F8F6-4A53-908B-187483859789}" dt="2026-06-03T21:38:25.327" v="2140" actId="115"/>
        <pc:sldMkLst>
          <pc:docMk/>
          <pc:sldMk cId="3309504270" sldId="2145707131"/>
        </pc:sldMkLst>
        <pc:spChg chg="del">
          <ac:chgData name="Kanika Maheshwari" userId="594c5f91-4e07-41ca-8fec-8d5e529a8640" providerId="ADAL" clId="{BA71AA44-F8F6-4A53-908B-187483859789}" dt="2026-06-03T21:23:06.231" v="1677" actId="478"/>
          <ac:spMkLst>
            <pc:docMk/>
            <pc:sldMk cId="3309504270" sldId="2145707131"/>
            <ac:spMk id="3" creationId="{DFACF51D-9E98-8152-BFAD-0B8C6B071928}"/>
          </ac:spMkLst>
        </pc:spChg>
        <pc:spChg chg="add del mod">
          <ac:chgData name="Kanika Maheshwari" userId="594c5f91-4e07-41ca-8fec-8d5e529a8640" providerId="ADAL" clId="{BA71AA44-F8F6-4A53-908B-187483859789}" dt="2026-06-03T21:22:37.555" v="1669" actId="478"/>
          <ac:spMkLst>
            <pc:docMk/>
            <pc:sldMk cId="3309504270" sldId="2145707131"/>
            <ac:spMk id="5" creationId="{2BB397D4-94D2-5337-6331-299F75FC28CB}"/>
          </ac:spMkLst>
        </pc:spChg>
        <pc:spChg chg="del">
          <ac:chgData name="Kanika Maheshwari" userId="594c5f91-4e07-41ca-8fec-8d5e529a8640" providerId="ADAL" clId="{BA71AA44-F8F6-4A53-908B-187483859789}" dt="2026-06-03T21:23:06.231" v="1677" actId="478"/>
          <ac:spMkLst>
            <pc:docMk/>
            <pc:sldMk cId="3309504270" sldId="2145707131"/>
            <ac:spMk id="7" creationId="{D9282E37-9494-5810-77B6-0B7F3151E4E4}"/>
          </ac:spMkLst>
        </pc:spChg>
        <pc:spChg chg="del">
          <ac:chgData name="Kanika Maheshwari" userId="594c5f91-4e07-41ca-8fec-8d5e529a8640" providerId="ADAL" clId="{BA71AA44-F8F6-4A53-908B-187483859789}" dt="2026-06-03T21:23:06.231" v="1677" actId="478"/>
          <ac:spMkLst>
            <pc:docMk/>
            <pc:sldMk cId="3309504270" sldId="2145707131"/>
            <ac:spMk id="11" creationId="{1CB9417A-877E-55A3-0CCD-9A3C45D6F838}"/>
          </ac:spMkLst>
        </pc:spChg>
        <pc:spChg chg="del">
          <ac:chgData name="Kanika Maheshwari" userId="594c5f91-4e07-41ca-8fec-8d5e529a8640" providerId="ADAL" clId="{BA71AA44-F8F6-4A53-908B-187483859789}" dt="2026-06-03T21:23:06.231" v="1677" actId="478"/>
          <ac:spMkLst>
            <pc:docMk/>
            <pc:sldMk cId="3309504270" sldId="2145707131"/>
            <ac:spMk id="14" creationId="{F9CBCDF6-2F9E-EC92-252F-294811A19CE8}"/>
          </ac:spMkLst>
        </pc:spChg>
        <pc:spChg chg="del">
          <ac:chgData name="Kanika Maheshwari" userId="594c5f91-4e07-41ca-8fec-8d5e529a8640" providerId="ADAL" clId="{BA71AA44-F8F6-4A53-908B-187483859789}" dt="2026-06-03T21:23:06.231" v="1677" actId="478"/>
          <ac:spMkLst>
            <pc:docMk/>
            <pc:sldMk cId="3309504270" sldId="2145707131"/>
            <ac:spMk id="15" creationId="{7EE5A37D-7AF2-3218-D525-8AE08214C360}"/>
          </ac:spMkLst>
        </pc:spChg>
        <pc:spChg chg="mod">
          <ac:chgData name="Kanika Maheshwari" userId="594c5f91-4e07-41ca-8fec-8d5e529a8640" providerId="ADAL" clId="{BA71AA44-F8F6-4A53-908B-187483859789}" dt="2026-06-03T21:21:43.973" v="1627"/>
          <ac:spMkLst>
            <pc:docMk/>
            <pc:sldMk cId="3309504270" sldId="2145707131"/>
            <ac:spMk id="16" creationId="{B50A013B-231A-0672-27C8-DA0DD03D6532}"/>
          </ac:spMkLst>
        </pc:spChg>
        <pc:spChg chg="del">
          <ac:chgData name="Kanika Maheshwari" userId="594c5f91-4e07-41ca-8fec-8d5e529a8640" providerId="ADAL" clId="{BA71AA44-F8F6-4A53-908B-187483859789}" dt="2026-06-03T21:23:06.231" v="1677" actId="478"/>
          <ac:spMkLst>
            <pc:docMk/>
            <pc:sldMk cId="3309504270" sldId="2145707131"/>
            <ac:spMk id="17" creationId="{DACBA8B2-3E65-A57F-FF8A-217A93FECC7C}"/>
          </ac:spMkLst>
        </pc:spChg>
        <pc:spChg chg="del">
          <ac:chgData name="Kanika Maheshwari" userId="594c5f91-4e07-41ca-8fec-8d5e529a8640" providerId="ADAL" clId="{BA71AA44-F8F6-4A53-908B-187483859789}" dt="2026-06-03T21:23:06.231" v="1677" actId="478"/>
          <ac:spMkLst>
            <pc:docMk/>
            <pc:sldMk cId="3309504270" sldId="2145707131"/>
            <ac:spMk id="18" creationId="{E392607E-2CE2-21AD-F248-F619EFBCB94A}"/>
          </ac:spMkLst>
        </pc:spChg>
        <pc:spChg chg="del">
          <ac:chgData name="Kanika Maheshwari" userId="594c5f91-4e07-41ca-8fec-8d5e529a8640" providerId="ADAL" clId="{BA71AA44-F8F6-4A53-908B-187483859789}" dt="2026-06-03T21:23:06.231" v="1677" actId="478"/>
          <ac:spMkLst>
            <pc:docMk/>
            <pc:sldMk cId="3309504270" sldId="2145707131"/>
            <ac:spMk id="19" creationId="{4DDAD29F-706C-D3A0-DDCB-5B2280172D0A}"/>
          </ac:spMkLst>
        </pc:spChg>
        <pc:spChg chg="del">
          <ac:chgData name="Kanika Maheshwari" userId="594c5f91-4e07-41ca-8fec-8d5e529a8640" providerId="ADAL" clId="{BA71AA44-F8F6-4A53-908B-187483859789}" dt="2026-06-03T21:23:06.231" v="1677" actId="478"/>
          <ac:spMkLst>
            <pc:docMk/>
            <pc:sldMk cId="3309504270" sldId="2145707131"/>
            <ac:spMk id="20" creationId="{2BF35DEE-25CF-AD9F-5F4E-8203C4951D82}"/>
          </ac:spMkLst>
        </pc:spChg>
        <pc:spChg chg="del">
          <ac:chgData name="Kanika Maheshwari" userId="594c5f91-4e07-41ca-8fec-8d5e529a8640" providerId="ADAL" clId="{BA71AA44-F8F6-4A53-908B-187483859789}" dt="2026-06-03T21:23:06.231" v="1677" actId="478"/>
          <ac:spMkLst>
            <pc:docMk/>
            <pc:sldMk cId="3309504270" sldId="2145707131"/>
            <ac:spMk id="21" creationId="{9156F01C-6549-E31D-E950-42E2DAFD5BC3}"/>
          </ac:spMkLst>
        </pc:spChg>
        <pc:spChg chg="mod">
          <ac:chgData name="Kanika Maheshwari" userId="594c5f91-4e07-41ca-8fec-8d5e529a8640" providerId="ADAL" clId="{BA71AA44-F8F6-4A53-908B-187483859789}" dt="2026-06-03T21:22:05.433" v="1629" actId="108"/>
          <ac:spMkLst>
            <pc:docMk/>
            <pc:sldMk cId="3309504270" sldId="2145707131"/>
            <ac:spMk id="25" creationId="{D60D858B-F42A-13B1-0DA5-8D8B7ABCFCEB}"/>
          </ac:spMkLst>
        </pc:spChg>
        <pc:spChg chg="mod">
          <ac:chgData name="Kanika Maheshwari" userId="594c5f91-4e07-41ca-8fec-8d5e529a8640" providerId="ADAL" clId="{BA71AA44-F8F6-4A53-908B-187483859789}" dt="2026-06-03T21:22:05.433" v="1629" actId="108"/>
          <ac:spMkLst>
            <pc:docMk/>
            <pc:sldMk cId="3309504270" sldId="2145707131"/>
            <ac:spMk id="26" creationId="{D3E62CF0-CB0F-6393-EA9B-C283FFD8EED6}"/>
          </ac:spMkLst>
        </pc:spChg>
        <pc:spChg chg="mod">
          <ac:chgData name="Kanika Maheshwari" userId="594c5f91-4e07-41ca-8fec-8d5e529a8640" providerId="ADAL" clId="{BA71AA44-F8F6-4A53-908B-187483859789}" dt="2026-06-03T21:22:05.433" v="1629" actId="108"/>
          <ac:spMkLst>
            <pc:docMk/>
            <pc:sldMk cId="3309504270" sldId="2145707131"/>
            <ac:spMk id="27" creationId="{616B1EB0-B5EA-B3E5-16E4-EDAF59A3DA0A}"/>
          </ac:spMkLst>
        </pc:spChg>
        <pc:spChg chg="mod">
          <ac:chgData name="Kanika Maheshwari" userId="594c5f91-4e07-41ca-8fec-8d5e529a8640" providerId="ADAL" clId="{BA71AA44-F8F6-4A53-908B-187483859789}" dt="2026-06-03T21:22:05.433" v="1629" actId="108"/>
          <ac:spMkLst>
            <pc:docMk/>
            <pc:sldMk cId="3309504270" sldId="2145707131"/>
            <ac:spMk id="28" creationId="{0E20D19E-4B6A-A725-336A-1FC6AD457396}"/>
          </ac:spMkLst>
        </pc:spChg>
        <pc:spChg chg="mod">
          <ac:chgData name="Kanika Maheshwari" userId="594c5f91-4e07-41ca-8fec-8d5e529a8640" providerId="ADAL" clId="{BA71AA44-F8F6-4A53-908B-187483859789}" dt="2026-06-03T21:22:38.034" v="1670"/>
          <ac:spMkLst>
            <pc:docMk/>
            <pc:sldMk cId="3309504270" sldId="2145707131"/>
            <ac:spMk id="30" creationId="{D60D858B-F42A-13B1-0DA5-8D8B7ABCFCEB}"/>
          </ac:spMkLst>
        </pc:spChg>
        <pc:spChg chg="mod">
          <ac:chgData name="Kanika Maheshwari" userId="594c5f91-4e07-41ca-8fec-8d5e529a8640" providerId="ADAL" clId="{BA71AA44-F8F6-4A53-908B-187483859789}" dt="2026-06-03T21:22:38.034" v="1670"/>
          <ac:spMkLst>
            <pc:docMk/>
            <pc:sldMk cId="3309504270" sldId="2145707131"/>
            <ac:spMk id="31" creationId="{D3E62CF0-CB0F-6393-EA9B-C283FFD8EED6}"/>
          </ac:spMkLst>
        </pc:spChg>
        <pc:spChg chg="mod">
          <ac:chgData name="Kanika Maheshwari" userId="594c5f91-4e07-41ca-8fec-8d5e529a8640" providerId="ADAL" clId="{BA71AA44-F8F6-4A53-908B-187483859789}" dt="2026-06-03T21:22:38.034" v="1670"/>
          <ac:spMkLst>
            <pc:docMk/>
            <pc:sldMk cId="3309504270" sldId="2145707131"/>
            <ac:spMk id="32" creationId="{616B1EB0-B5EA-B3E5-16E4-EDAF59A3DA0A}"/>
          </ac:spMkLst>
        </pc:spChg>
        <pc:spChg chg="mod">
          <ac:chgData name="Kanika Maheshwari" userId="594c5f91-4e07-41ca-8fec-8d5e529a8640" providerId="ADAL" clId="{BA71AA44-F8F6-4A53-908B-187483859789}" dt="2026-06-03T21:22:38.034" v="1670"/>
          <ac:spMkLst>
            <pc:docMk/>
            <pc:sldMk cId="3309504270" sldId="2145707131"/>
            <ac:spMk id="33" creationId="{0E20D19E-4B6A-A725-336A-1FC6AD457396}"/>
          </ac:spMkLst>
        </pc:spChg>
        <pc:spChg chg="add mod">
          <ac:chgData name="Kanika Maheshwari" userId="594c5f91-4e07-41ca-8fec-8d5e529a8640" providerId="ADAL" clId="{BA71AA44-F8F6-4A53-908B-187483859789}" dt="2026-06-03T21:25:18.868" v="1706" actId="113"/>
          <ac:spMkLst>
            <pc:docMk/>
            <pc:sldMk cId="3309504270" sldId="2145707131"/>
            <ac:spMk id="34" creationId="{628ED597-78F2-3CBB-BAB4-C4EE0E5A80E1}"/>
          </ac:spMkLst>
        </pc:spChg>
        <pc:spChg chg="add mod">
          <ac:chgData name="Kanika Maheshwari" userId="594c5f91-4e07-41ca-8fec-8d5e529a8640" providerId="ADAL" clId="{BA71AA44-F8F6-4A53-908B-187483859789}" dt="2026-06-03T21:25:16.802" v="1705" actId="207"/>
          <ac:spMkLst>
            <pc:docMk/>
            <pc:sldMk cId="3309504270" sldId="2145707131"/>
            <ac:spMk id="35" creationId="{891B87C8-947E-9E94-00F5-047F4A031D49}"/>
          </ac:spMkLst>
        </pc:spChg>
        <pc:spChg chg="add mod">
          <ac:chgData name="Kanika Maheshwari" userId="594c5f91-4e07-41ca-8fec-8d5e529a8640" providerId="ADAL" clId="{BA71AA44-F8F6-4A53-908B-187483859789}" dt="2026-06-03T21:25:16.802" v="1705" actId="207"/>
          <ac:spMkLst>
            <pc:docMk/>
            <pc:sldMk cId="3309504270" sldId="2145707131"/>
            <ac:spMk id="36" creationId="{08BA8212-A0E4-581E-EC56-0E5E23747E08}"/>
          </ac:spMkLst>
        </pc:spChg>
        <pc:spChg chg="add mod">
          <ac:chgData name="Kanika Maheshwari" userId="594c5f91-4e07-41ca-8fec-8d5e529a8640" providerId="ADAL" clId="{BA71AA44-F8F6-4A53-908B-187483859789}" dt="2026-06-03T21:25:16.802" v="1705" actId="207"/>
          <ac:spMkLst>
            <pc:docMk/>
            <pc:sldMk cId="3309504270" sldId="2145707131"/>
            <ac:spMk id="37" creationId="{4DAB47B0-35D8-92DF-56F5-6D7AAED12776}"/>
          </ac:spMkLst>
        </pc:spChg>
        <pc:spChg chg="add mod">
          <ac:chgData name="Kanika Maheshwari" userId="594c5f91-4e07-41ca-8fec-8d5e529a8640" providerId="ADAL" clId="{BA71AA44-F8F6-4A53-908B-187483859789}" dt="2026-06-03T21:25:16.802" v="1705" actId="207"/>
          <ac:spMkLst>
            <pc:docMk/>
            <pc:sldMk cId="3309504270" sldId="2145707131"/>
            <ac:spMk id="38" creationId="{7F5EDFA7-111C-F41B-DB2F-D7FD747E3956}"/>
          </ac:spMkLst>
        </pc:spChg>
        <pc:spChg chg="mod">
          <ac:chgData name="Kanika Maheshwari" userId="594c5f91-4e07-41ca-8fec-8d5e529a8640" providerId="ADAL" clId="{BA71AA44-F8F6-4A53-908B-187483859789}" dt="2026-06-03T21:03:31.250" v="1624" actId="108"/>
          <ac:spMkLst>
            <pc:docMk/>
            <pc:sldMk cId="3309504270" sldId="2145707131"/>
            <ac:spMk id="42" creationId="{2BA0B745-12C2-47BA-A18A-F2B709C345A1}"/>
          </ac:spMkLst>
        </pc:spChg>
        <pc:spChg chg="mod">
          <ac:chgData name="Kanika Maheshwari" userId="594c5f91-4e07-41ca-8fec-8d5e529a8640" providerId="ADAL" clId="{BA71AA44-F8F6-4A53-908B-187483859789}" dt="2026-06-03T21:03:27.245" v="1623" actId="108"/>
          <ac:spMkLst>
            <pc:docMk/>
            <pc:sldMk cId="3309504270" sldId="2145707131"/>
            <ac:spMk id="43" creationId="{D902EBBF-4AEB-015B-961F-3DB2A687E731}"/>
          </ac:spMkLst>
        </pc:spChg>
        <pc:spChg chg="add mod">
          <ac:chgData name="Kanika Maheshwari" userId="594c5f91-4e07-41ca-8fec-8d5e529a8640" providerId="ADAL" clId="{BA71AA44-F8F6-4A53-908B-187483859789}" dt="2026-06-03T21:37:06.225" v="2100" actId="115"/>
          <ac:spMkLst>
            <pc:docMk/>
            <pc:sldMk cId="3309504270" sldId="2145707131"/>
            <ac:spMk id="47" creationId="{F1D30F3A-7F10-80C0-1C94-4A397CCC56B1}"/>
          </ac:spMkLst>
        </pc:spChg>
        <pc:spChg chg="add mod">
          <ac:chgData name="Kanika Maheshwari" userId="594c5f91-4e07-41ca-8fec-8d5e529a8640" providerId="ADAL" clId="{BA71AA44-F8F6-4A53-908B-187483859789}" dt="2026-06-03T21:38:25.327" v="2140" actId="115"/>
          <ac:spMkLst>
            <pc:docMk/>
            <pc:sldMk cId="3309504270" sldId="2145707131"/>
            <ac:spMk id="48" creationId="{16526E6C-EAF3-9F63-4E57-48231FB1BFC1}"/>
          </ac:spMkLst>
        </pc:spChg>
        <pc:spChg chg="add mod">
          <ac:chgData name="Kanika Maheshwari" userId="594c5f91-4e07-41ca-8fec-8d5e529a8640" providerId="ADAL" clId="{BA71AA44-F8F6-4A53-908B-187483859789}" dt="2026-06-03T21:37:59.862" v="2137" actId="115"/>
          <ac:spMkLst>
            <pc:docMk/>
            <pc:sldMk cId="3309504270" sldId="2145707131"/>
            <ac:spMk id="49" creationId="{989AE073-BCFF-C46B-905C-EFCC70348075}"/>
          </ac:spMkLst>
        </pc:spChg>
        <pc:spChg chg="add mod">
          <ac:chgData name="Kanika Maheshwari" userId="594c5f91-4e07-41ca-8fec-8d5e529a8640" providerId="ADAL" clId="{BA71AA44-F8F6-4A53-908B-187483859789}" dt="2026-06-03T21:37:51.772" v="2136" actId="115"/>
          <ac:spMkLst>
            <pc:docMk/>
            <pc:sldMk cId="3309504270" sldId="2145707131"/>
            <ac:spMk id="50" creationId="{20E3A90B-5FEA-77BA-FF75-3D1BD81ECA7F}"/>
          </ac:spMkLst>
        </pc:spChg>
        <pc:spChg chg="add mod">
          <ac:chgData name="Kanika Maheshwari" userId="594c5f91-4e07-41ca-8fec-8d5e529a8640" providerId="ADAL" clId="{BA71AA44-F8F6-4A53-908B-187483859789}" dt="2026-06-03T21:37:43.490" v="2135" actId="115"/>
          <ac:spMkLst>
            <pc:docMk/>
            <pc:sldMk cId="3309504270" sldId="2145707131"/>
            <ac:spMk id="51" creationId="{CC8015B4-C3E1-2DDD-DFA4-7C84E8E942E8}"/>
          </ac:spMkLst>
        </pc:spChg>
        <pc:grpChg chg="add del mod">
          <ac:chgData name="Kanika Maheshwari" userId="594c5f91-4e07-41ca-8fec-8d5e529a8640" providerId="ADAL" clId="{BA71AA44-F8F6-4A53-908B-187483859789}" dt="2026-06-03T21:22:35.946" v="1668" actId="21"/>
          <ac:grpSpMkLst>
            <pc:docMk/>
            <pc:sldMk cId="3309504270" sldId="2145707131"/>
            <ac:grpSpMk id="2" creationId="{7E350771-4AB7-468C-A349-C7B63A43F355}"/>
          </ac:grpSpMkLst>
        </pc:grpChg>
        <pc:grpChg chg="add mod">
          <ac:chgData name="Kanika Maheshwari" userId="594c5f91-4e07-41ca-8fec-8d5e529a8640" providerId="ADAL" clId="{BA71AA44-F8F6-4A53-908B-187483859789}" dt="2026-06-03T21:22:40.716" v="1676" actId="1036"/>
          <ac:grpSpMkLst>
            <pc:docMk/>
            <pc:sldMk cId="3309504270" sldId="2145707131"/>
            <ac:grpSpMk id="29" creationId="{7E350771-4AB7-468C-A349-C7B63A43F355}"/>
          </ac:grpSpMkLst>
        </pc:grpChg>
        <pc:grpChg chg="add mod">
          <ac:chgData name="Kanika Maheshwari" userId="594c5f91-4e07-41ca-8fec-8d5e529a8640" providerId="ADAL" clId="{BA71AA44-F8F6-4A53-908B-187483859789}" dt="2026-06-03T21:24:52.527" v="1697" actId="164"/>
          <ac:grpSpMkLst>
            <pc:docMk/>
            <pc:sldMk cId="3309504270" sldId="2145707131"/>
            <ac:grpSpMk id="46" creationId="{FD25B4CA-8234-169E-65B1-C078C33835C3}"/>
          </ac:grpSpMkLst>
        </pc:grpChg>
        <pc:cxnChg chg="add mod ord">
          <ac:chgData name="Kanika Maheshwari" userId="594c5f91-4e07-41ca-8fec-8d5e529a8640" providerId="ADAL" clId="{BA71AA44-F8F6-4A53-908B-187483859789}" dt="2026-06-03T21:24:52.527" v="1697" actId="164"/>
          <ac:cxnSpMkLst>
            <pc:docMk/>
            <pc:sldMk cId="3309504270" sldId="2145707131"/>
            <ac:cxnSpMk id="40" creationId="{010233BE-388C-009A-80EE-FC1549248178}"/>
          </ac:cxnSpMkLst>
        </pc:cxnChg>
      </pc:sldChg>
    </pc:docChg>
  </pc:docChgLst>
  <pc:docChgLst>
    <pc:chgData name="Kartik Wadhwa" userId="d98a2df7-91bf-4bfc-bb68-d4fa23ab8013" providerId="ADAL" clId="{9F1BD018-0F09-4734-9EFC-E87F84162C26}"/>
    <pc:docChg chg="undo custSel addSld delSld modSld sldOrd modSection">
      <pc:chgData name="Kartik Wadhwa" userId="d98a2df7-91bf-4bfc-bb68-d4fa23ab8013" providerId="ADAL" clId="{9F1BD018-0F09-4734-9EFC-E87F84162C26}" dt="2026-06-03T14:24:45.189" v="548" actId="6549"/>
      <pc:docMkLst>
        <pc:docMk/>
      </pc:docMkLst>
      <pc:sldChg chg="mod modShow">
        <pc:chgData name="Kartik Wadhwa" userId="d98a2df7-91bf-4bfc-bb68-d4fa23ab8013" providerId="ADAL" clId="{9F1BD018-0F09-4734-9EFC-E87F84162C26}" dt="2026-06-03T11:27:58.952" v="14" actId="729"/>
        <pc:sldMkLst>
          <pc:docMk/>
          <pc:sldMk cId="4180996295" sldId="2145707100"/>
        </pc:sldMkLst>
      </pc:sldChg>
      <pc:sldChg chg="mod modShow">
        <pc:chgData name="Kartik Wadhwa" userId="d98a2df7-91bf-4bfc-bb68-d4fa23ab8013" providerId="ADAL" clId="{9F1BD018-0F09-4734-9EFC-E87F84162C26}" dt="2026-06-03T11:27:58.952" v="14" actId="729"/>
        <pc:sldMkLst>
          <pc:docMk/>
          <pc:sldMk cId="3836254766" sldId="2145707103"/>
        </pc:sldMkLst>
      </pc:sldChg>
      <pc:sldChg chg="mod modShow">
        <pc:chgData name="Kartik Wadhwa" userId="d98a2df7-91bf-4bfc-bb68-d4fa23ab8013" providerId="ADAL" clId="{9F1BD018-0F09-4734-9EFC-E87F84162C26}" dt="2026-06-03T11:27:57.645" v="13" actId="729"/>
        <pc:sldMkLst>
          <pc:docMk/>
          <pc:sldMk cId="3945679849" sldId="2145707107"/>
        </pc:sldMkLst>
      </pc:sldChg>
      <pc:sldChg chg="mod modShow">
        <pc:chgData name="Kartik Wadhwa" userId="d98a2df7-91bf-4bfc-bb68-d4fa23ab8013" providerId="ADAL" clId="{9F1BD018-0F09-4734-9EFC-E87F84162C26}" dt="2026-06-03T11:27:58.952" v="14" actId="729"/>
        <pc:sldMkLst>
          <pc:docMk/>
          <pc:sldMk cId="2223118654" sldId="2145707108"/>
        </pc:sldMkLst>
      </pc:sldChg>
      <pc:sldChg chg="delSp mod modShow">
        <pc:chgData name="Kartik Wadhwa" userId="d98a2df7-91bf-4bfc-bb68-d4fa23ab8013" providerId="ADAL" clId="{9F1BD018-0F09-4734-9EFC-E87F84162C26}" dt="2026-06-03T14:21:26.815" v="526" actId="478"/>
        <pc:sldMkLst>
          <pc:docMk/>
          <pc:sldMk cId="3275556720" sldId="2145707124"/>
        </pc:sldMkLst>
        <pc:spChg chg="del">
          <ac:chgData name="Kartik Wadhwa" userId="d98a2df7-91bf-4bfc-bb68-d4fa23ab8013" providerId="ADAL" clId="{9F1BD018-0F09-4734-9EFC-E87F84162C26}" dt="2026-06-03T14:21:26.815" v="526" actId="478"/>
          <ac:spMkLst>
            <pc:docMk/>
            <pc:sldMk cId="3275556720" sldId="2145707124"/>
            <ac:spMk id="18" creationId="{F7C4309E-D087-6B5C-38DB-2F2D83B03A19}"/>
          </ac:spMkLst>
        </pc:spChg>
      </pc:sldChg>
      <pc:sldChg chg="del">
        <pc:chgData name="Kartik Wadhwa" userId="d98a2df7-91bf-4bfc-bb68-d4fa23ab8013" providerId="ADAL" clId="{9F1BD018-0F09-4734-9EFC-E87F84162C26}" dt="2026-06-03T14:21:23.069" v="524" actId="47"/>
        <pc:sldMkLst>
          <pc:docMk/>
          <pc:sldMk cId="4220952197" sldId="2145707125"/>
        </pc:sldMkLst>
      </pc:sldChg>
      <pc:sldChg chg="delSp mod modShow">
        <pc:chgData name="Kartik Wadhwa" userId="d98a2df7-91bf-4bfc-bb68-d4fa23ab8013" providerId="ADAL" clId="{9F1BD018-0F09-4734-9EFC-E87F84162C26}" dt="2026-06-03T14:21:28.295" v="527" actId="478"/>
        <pc:sldMkLst>
          <pc:docMk/>
          <pc:sldMk cId="1990211103" sldId="2145707126"/>
        </pc:sldMkLst>
        <pc:spChg chg="del">
          <ac:chgData name="Kartik Wadhwa" userId="d98a2df7-91bf-4bfc-bb68-d4fa23ab8013" providerId="ADAL" clId="{9F1BD018-0F09-4734-9EFC-E87F84162C26}" dt="2026-06-03T14:21:28.295" v="527" actId="478"/>
          <ac:spMkLst>
            <pc:docMk/>
            <pc:sldMk cId="1990211103" sldId="2145707126"/>
            <ac:spMk id="48" creationId="{0E2C74EA-D27E-0ACE-C1F9-68BCA7ADD45D}"/>
          </ac:spMkLst>
        </pc:spChg>
      </pc:sldChg>
      <pc:sldChg chg="addSp delSp modSp add del mod">
        <pc:chgData name="Kartik Wadhwa" userId="d98a2df7-91bf-4bfc-bb68-d4fa23ab8013" providerId="ADAL" clId="{9F1BD018-0F09-4734-9EFC-E87F84162C26}" dt="2026-06-03T11:49:13.579" v="461" actId="47"/>
        <pc:sldMkLst>
          <pc:docMk/>
          <pc:sldMk cId="1525265877" sldId="2145707127"/>
        </pc:sldMkLst>
        <pc:spChg chg="mod">
          <ac:chgData name="Kartik Wadhwa" userId="d98a2df7-91bf-4bfc-bb68-d4fa23ab8013" providerId="ADAL" clId="{9F1BD018-0F09-4734-9EFC-E87F84162C26}" dt="2026-06-03T11:41:30.514" v="379" actId="2711"/>
          <ac:spMkLst>
            <pc:docMk/>
            <pc:sldMk cId="1525265877" sldId="2145707127"/>
            <ac:spMk id="2" creationId="{C6441F32-C30D-324F-B5FB-27079A5727F7}"/>
          </ac:spMkLst>
        </pc:spChg>
        <pc:spChg chg="mod">
          <ac:chgData name="Kartik Wadhwa" userId="d98a2df7-91bf-4bfc-bb68-d4fa23ab8013" providerId="ADAL" clId="{9F1BD018-0F09-4734-9EFC-E87F84162C26}" dt="2026-06-03T11:31:45.050" v="179" actId="1076"/>
          <ac:spMkLst>
            <pc:docMk/>
            <pc:sldMk cId="1525265877" sldId="2145707127"/>
            <ac:spMk id="3" creationId="{59CEE254-EB4D-18CC-712F-AF74C31E0F09}"/>
          </ac:spMkLst>
        </pc:spChg>
        <pc:spChg chg="mod">
          <ac:chgData name="Kartik Wadhwa" userId="d98a2df7-91bf-4bfc-bb68-d4fa23ab8013" providerId="ADAL" clId="{9F1BD018-0F09-4734-9EFC-E87F84162C26}" dt="2026-06-03T11:31:17.081" v="176" actId="20577"/>
          <ac:spMkLst>
            <pc:docMk/>
            <pc:sldMk cId="1525265877" sldId="2145707127"/>
            <ac:spMk id="18" creationId="{3A8FABFC-B654-81DF-999F-A29D0693DBFB}"/>
          </ac:spMkLst>
        </pc:spChg>
        <pc:spChg chg="mod topLvl">
          <ac:chgData name="Kartik Wadhwa" userId="d98a2df7-91bf-4bfc-bb68-d4fa23ab8013" providerId="ADAL" clId="{9F1BD018-0F09-4734-9EFC-E87F84162C26}" dt="2026-06-03T11:35:36.963" v="288" actId="165"/>
          <ac:spMkLst>
            <pc:docMk/>
            <pc:sldMk cId="1525265877" sldId="2145707127"/>
            <ac:spMk id="19" creationId="{043842B5-E545-0177-C891-02BA9FAB926B}"/>
          </ac:spMkLst>
        </pc:spChg>
        <pc:spChg chg="add del mod topLvl">
          <ac:chgData name="Kartik Wadhwa" userId="d98a2df7-91bf-4bfc-bb68-d4fa23ab8013" providerId="ADAL" clId="{9F1BD018-0F09-4734-9EFC-E87F84162C26}" dt="2026-06-03T11:41:54.397" v="382" actId="20577"/>
          <ac:spMkLst>
            <pc:docMk/>
            <pc:sldMk cId="1525265877" sldId="2145707127"/>
            <ac:spMk id="20" creationId="{94C8922F-3ADF-BA0D-31F8-D8964C1D36FC}"/>
          </ac:spMkLst>
        </pc:spChg>
        <pc:spChg chg="mod topLvl">
          <ac:chgData name="Kartik Wadhwa" userId="d98a2df7-91bf-4bfc-bb68-d4fa23ab8013" providerId="ADAL" clId="{9F1BD018-0F09-4734-9EFC-E87F84162C26}" dt="2026-06-03T11:41:30.514" v="379" actId="2711"/>
          <ac:spMkLst>
            <pc:docMk/>
            <pc:sldMk cId="1525265877" sldId="2145707127"/>
            <ac:spMk id="21" creationId="{C93EE8DF-D2ED-445F-A4BE-B832A333BD69}"/>
          </ac:spMkLst>
        </pc:spChg>
        <pc:spChg chg="mod topLvl">
          <ac:chgData name="Kartik Wadhwa" userId="d98a2df7-91bf-4bfc-bb68-d4fa23ab8013" providerId="ADAL" clId="{9F1BD018-0F09-4734-9EFC-E87F84162C26}" dt="2026-06-03T11:40:53.335" v="369" actId="207"/>
          <ac:spMkLst>
            <pc:docMk/>
            <pc:sldMk cId="1525265877" sldId="2145707127"/>
            <ac:spMk id="22" creationId="{E3A32C06-7D65-5043-C33A-DF0AB8FDD87E}"/>
          </ac:spMkLst>
        </pc:spChg>
        <pc:spChg chg="mod topLvl">
          <ac:chgData name="Kartik Wadhwa" userId="d98a2df7-91bf-4bfc-bb68-d4fa23ab8013" providerId="ADAL" clId="{9F1BD018-0F09-4734-9EFC-E87F84162C26}" dt="2026-06-03T11:41:30.514" v="379" actId="2711"/>
          <ac:spMkLst>
            <pc:docMk/>
            <pc:sldMk cId="1525265877" sldId="2145707127"/>
            <ac:spMk id="23" creationId="{A5D262B0-FD14-6506-10AD-C115D03F4CA6}"/>
          </ac:spMkLst>
        </pc:spChg>
        <pc:spChg chg="mod topLvl">
          <ac:chgData name="Kartik Wadhwa" userId="d98a2df7-91bf-4bfc-bb68-d4fa23ab8013" providerId="ADAL" clId="{9F1BD018-0F09-4734-9EFC-E87F84162C26}" dt="2026-06-03T11:41:36.013" v="381" actId="403"/>
          <ac:spMkLst>
            <pc:docMk/>
            <pc:sldMk cId="1525265877" sldId="2145707127"/>
            <ac:spMk id="24" creationId="{FEE64A6F-58BE-5E4E-61A0-4B273FAF4014}"/>
          </ac:spMkLst>
        </pc:spChg>
        <pc:spChg chg="mod topLvl">
          <ac:chgData name="Kartik Wadhwa" userId="d98a2df7-91bf-4bfc-bb68-d4fa23ab8013" providerId="ADAL" clId="{9F1BD018-0F09-4734-9EFC-E87F84162C26}" dt="2026-06-03T11:41:30.514" v="379" actId="2711"/>
          <ac:spMkLst>
            <pc:docMk/>
            <pc:sldMk cId="1525265877" sldId="2145707127"/>
            <ac:spMk id="25" creationId="{9357AAD7-4076-6506-62B6-EB96A8E692F5}"/>
          </ac:spMkLst>
        </pc:spChg>
        <pc:spChg chg="mod topLvl">
          <ac:chgData name="Kartik Wadhwa" userId="d98a2df7-91bf-4bfc-bb68-d4fa23ab8013" providerId="ADAL" clId="{9F1BD018-0F09-4734-9EFC-E87F84162C26}" dt="2026-06-03T11:41:30.514" v="379" actId="2711"/>
          <ac:spMkLst>
            <pc:docMk/>
            <pc:sldMk cId="1525265877" sldId="2145707127"/>
            <ac:spMk id="26" creationId="{E07E9558-DAE5-58FB-68FC-D864C218107D}"/>
          </ac:spMkLst>
        </pc:spChg>
        <pc:spChg chg="mod topLvl">
          <ac:chgData name="Kartik Wadhwa" userId="d98a2df7-91bf-4bfc-bb68-d4fa23ab8013" providerId="ADAL" clId="{9F1BD018-0F09-4734-9EFC-E87F84162C26}" dt="2026-06-03T11:35:36.963" v="288" actId="165"/>
          <ac:spMkLst>
            <pc:docMk/>
            <pc:sldMk cId="1525265877" sldId="2145707127"/>
            <ac:spMk id="27" creationId="{E269B8FF-A240-A5B7-17F3-8DFCB1472E97}"/>
          </ac:spMkLst>
        </pc:spChg>
        <pc:spChg chg="mod topLvl">
          <ac:chgData name="Kartik Wadhwa" userId="d98a2df7-91bf-4bfc-bb68-d4fa23ab8013" providerId="ADAL" clId="{9F1BD018-0F09-4734-9EFC-E87F84162C26}" dt="2026-06-03T11:45:12.317" v="421" actId="21"/>
          <ac:spMkLst>
            <pc:docMk/>
            <pc:sldMk cId="1525265877" sldId="2145707127"/>
            <ac:spMk id="28" creationId="{5A2022C1-E9EE-DA03-3BCC-87C9625E34BC}"/>
          </ac:spMkLst>
        </pc:spChg>
        <pc:spChg chg="mod topLvl">
          <ac:chgData name="Kartik Wadhwa" userId="d98a2df7-91bf-4bfc-bb68-d4fa23ab8013" providerId="ADAL" clId="{9F1BD018-0F09-4734-9EFC-E87F84162C26}" dt="2026-06-03T11:31:50.008" v="217" actId="1037"/>
          <ac:spMkLst>
            <pc:docMk/>
            <pc:sldMk cId="1525265877" sldId="2145707127"/>
            <ac:spMk id="29" creationId="{12A9D9F5-435A-A014-F89A-BF78909DE594}"/>
          </ac:spMkLst>
        </pc:spChg>
        <pc:spChg chg="mod topLvl">
          <ac:chgData name="Kartik Wadhwa" userId="d98a2df7-91bf-4bfc-bb68-d4fa23ab8013" providerId="ADAL" clId="{9F1BD018-0F09-4734-9EFC-E87F84162C26}" dt="2026-06-03T11:41:30.514" v="379" actId="2711"/>
          <ac:spMkLst>
            <pc:docMk/>
            <pc:sldMk cId="1525265877" sldId="2145707127"/>
            <ac:spMk id="30" creationId="{37752E62-AD5D-97D0-FC53-5D94344B98B6}"/>
          </ac:spMkLst>
        </pc:spChg>
        <pc:spChg chg="mod topLvl">
          <ac:chgData name="Kartik Wadhwa" userId="d98a2df7-91bf-4bfc-bb68-d4fa23ab8013" providerId="ADAL" clId="{9F1BD018-0F09-4734-9EFC-E87F84162C26}" dt="2026-06-03T11:35:36.963" v="288" actId="165"/>
          <ac:spMkLst>
            <pc:docMk/>
            <pc:sldMk cId="1525265877" sldId="2145707127"/>
            <ac:spMk id="31" creationId="{7CA466E9-C063-B911-39E1-775F7C72776F}"/>
          </ac:spMkLst>
        </pc:spChg>
        <pc:spChg chg="mod topLvl">
          <ac:chgData name="Kartik Wadhwa" userId="d98a2df7-91bf-4bfc-bb68-d4fa23ab8013" providerId="ADAL" clId="{9F1BD018-0F09-4734-9EFC-E87F84162C26}" dt="2026-06-03T11:45:20.592" v="424" actId="21"/>
          <ac:spMkLst>
            <pc:docMk/>
            <pc:sldMk cId="1525265877" sldId="2145707127"/>
            <ac:spMk id="32" creationId="{D1569508-B54E-49D6-4AFE-7B88179A9CE2}"/>
          </ac:spMkLst>
        </pc:spChg>
        <pc:spChg chg="mod topLvl">
          <ac:chgData name="Kartik Wadhwa" userId="d98a2df7-91bf-4bfc-bb68-d4fa23ab8013" providerId="ADAL" clId="{9F1BD018-0F09-4734-9EFC-E87F84162C26}" dt="2026-06-03T11:41:30.514" v="379" actId="2711"/>
          <ac:spMkLst>
            <pc:docMk/>
            <pc:sldMk cId="1525265877" sldId="2145707127"/>
            <ac:spMk id="33" creationId="{2152FD08-B6F2-2685-EBC9-02C58BC776D6}"/>
          </ac:spMkLst>
        </pc:spChg>
        <pc:spChg chg="mod topLvl">
          <ac:chgData name="Kartik Wadhwa" userId="d98a2df7-91bf-4bfc-bb68-d4fa23ab8013" providerId="ADAL" clId="{9F1BD018-0F09-4734-9EFC-E87F84162C26}" dt="2026-06-03T11:41:30.514" v="379" actId="2711"/>
          <ac:spMkLst>
            <pc:docMk/>
            <pc:sldMk cId="1525265877" sldId="2145707127"/>
            <ac:spMk id="34" creationId="{021E00B6-DFFC-21B6-092E-E384E7AC89FA}"/>
          </ac:spMkLst>
        </pc:spChg>
        <pc:grpChg chg="add del mod">
          <ac:chgData name="Kartik Wadhwa" userId="d98a2df7-91bf-4bfc-bb68-d4fa23ab8013" providerId="ADAL" clId="{9F1BD018-0F09-4734-9EFC-E87F84162C26}" dt="2026-06-03T11:35:36.963" v="288" actId="165"/>
          <ac:grpSpMkLst>
            <pc:docMk/>
            <pc:sldMk cId="1525265877" sldId="2145707127"/>
            <ac:grpSpMk id="5" creationId="{A47B7DB6-5EEA-9E52-4123-53D5EE679397}"/>
          </ac:grpSpMkLst>
        </pc:grpChg>
        <pc:grpChg chg="add del mod">
          <ac:chgData name="Kartik Wadhwa" userId="d98a2df7-91bf-4bfc-bb68-d4fa23ab8013" providerId="ADAL" clId="{9F1BD018-0F09-4734-9EFC-E87F84162C26}" dt="2026-06-03T11:31:22.245" v="177" actId="165"/>
          <ac:grpSpMkLst>
            <pc:docMk/>
            <pc:sldMk cId="1525265877" sldId="2145707127"/>
            <ac:grpSpMk id="6" creationId="{D451C9EF-034C-FB48-0F08-97526E1E805C}"/>
          </ac:grpSpMkLst>
        </pc:grpChg>
      </pc:sldChg>
      <pc:sldChg chg="addSp delSp modSp add mod ord">
        <pc:chgData name="Kartik Wadhwa" userId="d98a2df7-91bf-4bfc-bb68-d4fa23ab8013" providerId="ADAL" clId="{9F1BD018-0F09-4734-9EFC-E87F84162C26}" dt="2026-06-03T14:24:45.189" v="548" actId="6549"/>
        <pc:sldMkLst>
          <pc:docMk/>
          <pc:sldMk cId="2180791596" sldId="2145707128"/>
        </pc:sldMkLst>
        <pc:spChg chg="mod">
          <ac:chgData name="Kartik Wadhwa" userId="d98a2df7-91bf-4bfc-bb68-d4fa23ab8013" providerId="ADAL" clId="{9F1BD018-0F09-4734-9EFC-E87F84162C26}" dt="2026-06-03T11:34:44.762" v="269" actId="14100"/>
          <ac:spMkLst>
            <pc:docMk/>
            <pc:sldMk cId="2180791596" sldId="2145707128"/>
            <ac:spMk id="2" creationId="{35F0353B-78FC-1E26-AB00-3B84D7F74D96}"/>
          </ac:spMkLst>
        </pc:spChg>
        <pc:spChg chg="mod">
          <ac:chgData name="Kartik Wadhwa" userId="d98a2df7-91bf-4bfc-bb68-d4fa23ab8013" providerId="ADAL" clId="{9F1BD018-0F09-4734-9EFC-E87F84162C26}" dt="2026-06-03T14:24:45.189" v="548" actId="6549"/>
          <ac:spMkLst>
            <pc:docMk/>
            <pc:sldMk cId="2180791596" sldId="2145707128"/>
            <ac:spMk id="16" creationId="{3D9502B6-3357-AECE-CCD4-9461C52C0093}"/>
          </ac:spMkLst>
        </pc:spChg>
        <pc:spChg chg="mod topLvl">
          <ac:chgData name="Kartik Wadhwa" userId="d98a2df7-91bf-4bfc-bb68-d4fa23ab8013" providerId="ADAL" clId="{9F1BD018-0F09-4734-9EFC-E87F84162C26}" dt="2026-06-03T11:34:19.179" v="264" actId="165"/>
          <ac:spMkLst>
            <pc:docMk/>
            <pc:sldMk cId="2180791596" sldId="2145707128"/>
            <ac:spMk id="18" creationId="{A85186F7-CD17-ADBF-55AF-1797598066AE}"/>
          </ac:spMkLst>
        </pc:spChg>
        <pc:spChg chg="mod topLvl">
          <ac:chgData name="Kartik Wadhwa" userId="d98a2df7-91bf-4bfc-bb68-d4fa23ab8013" providerId="ADAL" clId="{9F1BD018-0F09-4734-9EFC-E87F84162C26}" dt="2026-06-03T11:35:05.518" v="285" actId="1035"/>
          <ac:spMkLst>
            <pc:docMk/>
            <pc:sldMk cId="2180791596" sldId="2145707128"/>
            <ac:spMk id="19" creationId="{57BCB77B-E625-DDF9-906E-B3FA5C106E30}"/>
          </ac:spMkLst>
        </pc:spChg>
        <pc:spChg chg="mod topLvl">
          <ac:chgData name="Kartik Wadhwa" userId="d98a2df7-91bf-4bfc-bb68-d4fa23ab8013" providerId="ADAL" clId="{9F1BD018-0F09-4734-9EFC-E87F84162C26}" dt="2026-06-03T11:56:35.812" v="523" actId="20577"/>
          <ac:spMkLst>
            <pc:docMk/>
            <pc:sldMk cId="2180791596" sldId="2145707128"/>
            <ac:spMk id="20" creationId="{C0EE1DB5-A9A5-6646-F04A-CCFCDDE7B2A8}"/>
          </ac:spMkLst>
        </pc:spChg>
        <pc:spChg chg="mod">
          <ac:chgData name="Kartik Wadhwa" userId="d98a2df7-91bf-4bfc-bb68-d4fa23ab8013" providerId="ADAL" clId="{9F1BD018-0F09-4734-9EFC-E87F84162C26}" dt="2026-06-03T11:35:05.518" v="285" actId="1035"/>
          <ac:spMkLst>
            <pc:docMk/>
            <pc:sldMk cId="2180791596" sldId="2145707128"/>
            <ac:spMk id="21" creationId="{4E5AB343-F29F-288B-8651-A69AF71095CA}"/>
          </ac:spMkLst>
        </pc:spChg>
        <pc:spChg chg="mod topLvl">
          <ac:chgData name="Kartik Wadhwa" userId="d98a2df7-91bf-4bfc-bb68-d4fa23ab8013" providerId="ADAL" clId="{9F1BD018-0F09-4734-9EFC-E87F84162C26}" dt="2026-06-03T14:23:35.956" v="544" actId="114"/>
          <ac:spMkLst>
            <pc:docMk/>
            <pc:sldMk cId="2180791596" sldId="2145707128"/>
            <ac:spMk id="22" creationId="{2D64C025-70F9-E965-A391-799A6849C08F}"/>
          </ac:spMkLst>
        </pc:spChg>
        <pc:spChg chg="mod topLvl">
          <ac:chgData name="Kartik Wadhwa" userId="d98a2df7-91bf-4bfc-bb68-d4fa23ab8013" providerId="ADAL" clId="{9F1BD018-0F09-4734-9EFC-E87F84162C26}" dt="2026-06-03T11:34:48.267" v="270" actId="165"/>
          <ac:spMkLst>
            <pc:docMk/>
            <pc:sldMk cId="2180791596" sldId="2145707128"/>
            <ac:spMk id="23" creationId="{7A0546C5-BE29-2C4A-AF1B-85F111541284}"/>
          </ac:spMkLst>
        </pc:spChg>
        <pc:spChg chg="mod topLvl">
          <ac:chgData name="Kartik Wadhwa" userId="d98a2df7-91bf-4bfc-bb68-d4fa23ab8013" providerId="ADAL" clId="{9F1BD018-0F09-4734-9EFC-E87F84162C26}" dt="2026-06-03T11:56:21.811" v="519" actId="20577"/>
          <ac:spMkLst>
            <pc:docMk/>
            <pc:sldMk cId="2180791596" sldId="2145707128"/>
            <ac:spMk id="24" creationId="{9ED45864-780C-2CEB-BC71-F85A221A41D0}"/>
          </ac:spMkLst>
        </pc:spChg>
        <pc:spChg chg="mod">
          <ac:chgData name="Kartik Wadhwa" userId="d98a2df7-91bf-4bfc-bb68-d4fa23ab8013" providerId="ADAL" clId="{9F1BD018-0F09-4734-9EFC-E87F84162C26}" dt="2026-06-03T11:35:05.518" v="285" actId="1035"/>
          <ac:spMkLst>
            <pc:docMk/>
            <pc:sldMk cId="2180791596" sldId="2145707128"/>
            <ac:spMk id="25" creationId="{04F9FFDD-06AF-6BAC-FAB2-0FF38F54D210}"/>
          </ac:spMkLst>
        </pc:spChg>
        <pc:spChg chg="mod ord topLvl">
          <ac:chgData name="Kartik Wadhwa" userId="d98a2df7-91bf-4bfc-bb68-d4fa23ab8013" providerId="ADAL" clId="{9F1BD018-0F09-4734-9EFC-E87F84162C26}" dt="2026-06-03T14:22:13.539" v="537" actId="12"/>
          <ac:spMkLst>
            <pc:docMk/>
            <pc:sldMk cId="2180791596" sldId="2145707128"/>
            <ac:spMk id="26" creationId="{D78FE69B-BCE8-0843-9B73-4B34F8253C16}"/>
          </ac:spMkLst>
        </pc:spChg>
        <pc:spChg chg="mod topLvl">
          <ac:chgData name="Kartik Wadhwa" userId="d98a2df7-91bf-4bfc-bb68-d4fa23ab8013" providerId="ADAL" clId="{9F1BD018-0F09-4734-9EFC-E87F84162C26}" dt="2026-06-03T11:35:05.518" v="285" actId="1035"/>
          <ac:spMkLst>
            <pc:docMk/>
            <pc:sldMk cId="2180791596" sldId="2145707128"/>
            <ac:spMk id="27" creationId="{3F4813DD-2971-2692-7FEE-600D874474BE}"/>
          </ac:spMkLst>
        </pc:spChg>
        <pc:spChg chg="mod topLvl">
          <ac:chgData name="Kartik Wadhwa" userId="d98a2df7-91bf-4bfc-bb68-d4fa23ab8013" providerId="ADAL" clId="{9F1BD018-0F09-4734-9EFC-E87F84162C26}" dt="2026-06-03T11:56:11.531" v="516" actId="6549"/>
          <ac:spMkLst>
            <pc:docMk/>
            <pc:sldMk cId="2180791596" sldId="2145707128"/>
            <ac:spMk id="28" creationId="{8EE8C317-7332-1795-673F-5DD587DF583A}"/>
          </ac:spMkLst>
        </pc:spChg>
        <pc:spChg chg="mod">
          <ac:chgData name="Kartik Wadhwa" userId="d98a2df7-91bf-4bfc-bb68-d4fa23ab8013" providerId="ADAL" clId="{9F1BD018-0F09-4734-9EFC-E87F84162C26}" dt="2026-06-03T11:34:17.328" v="263" actId="1037"/>
          <ac:spMkLst>
            <pc:docMk/>
            <pc:sldMk cId="2180791596" sldId="2145707128"/>
            <ac:spMk id="29" creationId="{1653E279-91D0-1B7E-D55D-8E38713E5385}"/>
          </ac:spMkLst>
        </pc:spChg>
        <pc:spChg chg="mod topLvl">
          <ac:chgData name="Kartik Wadhwa" userId="d98a2df7-91bf-4bfc-bb68-d4fa23ab8013" providerId="ADAL" clId="{9F1BD018-0F09-4734-9EFC-E87F84162C26}" dt="2026-06-03T14:23:11.384" v="541" actId="6549"/>
          <ac:spMkLst>
            <pc:docMk/>
            <pc:sldMk cId="2180791596" sldId="2145707128"/>
            <ac:spMk id="30" creationId="{30ED8DEC-1D63-4CA8-693E-7E05D5532AB1}"/>
          </ac:spMkLst>
        </pc:spChg>
        <pc:spChg chg="mod topLvl">
          <ac:chgData name="Kartik Wadhwa" userId="d98a2df7-91bf-4bfc-bb68-d4fa23ab8013" providerId="ADAL" clId="{9F1BD018-0F09-4734-9EFC-E87F84162C26}" dt="2026-06-03T11:34:48.267" v="270" actId="165"/>
          <ac:spMkLst>
            <pc:docMk/>
            <pc:sldMk cId="2180791596" sldId="2145707128"/>
            <ac:spMk id="31" creationId="{FFED8A63-339C-70DE-8AF9-53882A6E2BFB}"/>
          </ac:spMkLst>
        </pc:spChg>
        <pc:spChg chg="mod topLvl">
          <ac:chgData name="Kartik Wadhwa" userId="d98a2df7-91bf-4bfc-bb68-d4fa23ab8013" providerId="ADAL" clId="{9F1BD018-0F09-4734-9EFC-E87F84162C26}" dt="2026-06-03T14:24:23.625" v="547" actId="20577"/>
          <ac:spMkLst>
            <pc:docMk/>
            <pc:sldMk cId="2180791596" sldId="2145707128"/>
            <ac:spMk id="32" creationId="{A3B2203F-5900-72E9-3424-43D10D026F30}"/>
          </ac:spMkLst>
        </pc:spChg>
        <pc:spChg chg="mod">
          <ac:chgData name="Kartik Wadhwa" userId="d98a2df7-91bf-4bfc-bb68-d4fa23ab8013" providerId="ADAL" clId="{9F1BD018-0F09-4734-9EFC-E87F84162C26}" dt="2026-06-03T11:34:17.328" v="263" actId="1037"/>
          <ac:spMkLst>
            <pc:docMk/>
            <pc:sldMk cId="2180791596" sldId="2145707128"/>
            <ac:spMk id="33" creationId="{8D27A394-8E74-542B-5324-ED847DC4336E}"/>
          </ac:spMkLst>
        </pc:spChg>
        <pc:spChg chg="mod topLvl">
          <ac:chgData name="Kartik Wadhwa" userId="d98a2df7-91bf-4bfc-bb68-d4fa23ab8013" providerId="ADAL" clId="{9F1BD018-0F09-4734-9EFC-E87F84162C26}" dt="2026-06-03T14:23:17.919" v="543" actId="207"/>
          <ac:spMkLst>
            <pc:docMk/>
            <pc:sldMk cId="2180791596" sldId="2145707128"/>
            <ac:spMk id="34" creationId="{BF78A013-B006-C87B-E3D3-23C310AB08C3}"/>
          </ac:spMkLst>
        </pc:spChg>
        <pc:spChg chg="del">
          <ac:chgData name="Kartik Wadhwa" userId="d98a2df7-91bf-4bfc-bb68-d4fa23ab8013" providerId="ADAL" clId="{9F1BD018-0F09-4734-9EFC-E87F84162C26}" dt="2026-06-03T14:21:25.771" v="525" actId="478"/>
          <ac:spMkLst>
            <pc:docMk/>
            <pc:sldMk cId="2180791596" sldId="2145707128"/>
            <ac:spMk id="35" creationId="{F3B7638C-1AAE-0978-7F3A-2E39E230753A}"/>
          </ac:spMkLst>
        </pc:spChg>
        <pc:grpChg chg="del">
          <ac:chgData name="Kartik Wadhwa" userId="d98a2df7-91bf-4bfc-bb68-d4fa23ab8013" providerId="ADAL" clId="{9F1BD018-0F09-4734-9EFC-E87F84162C26}" dt="2026-06-03T11:34:48.267" v="270" actId="165"/>
          <ac:grpSpMkLst>
            <pc:docMk/>
            <pc:sldMk cId="2180791596" sldId="2145707128"/>
            <ac:grpSpMk id="5" creationId="{906A47DB-EAC5-AA09-7A19-259184FC6ADD}"/>
          </ac:grpSpMkLst>
        </pc:grpChg>
        <pc:grpChg chg="add del mod">
          <ac:chgData name="Kartik Wadhwa" userId="d98a2df7-91bf-4bfc-bb68-d4fa23ab8013" providerId="ADAL" clId="{9F1BD018-0F09-4734-9EFC-E87F84162C26}" dt="2026-06-03T11:34:19.179" v="264" actId="165"/>
          <ac:grpSpMkLst>
            <pc:docMk/>
            <pc:sldMk cId="2180791596" sldId="2145707128"/>
            <ac:grpSpMk id="6" creationId="{049A1C53-D890-DCE0-DE5A-2121961C1C57}"/>
          </ac:grpSpMkLst>
        </pc:grpChg>
      </pc:sldChg>
    </pc:docChg>
  </pc:docChgLst>
  <pc:docChgLst>
    <pc:chgData name="Aasheesh Bansal" userId="a5f9c14d-7401-4c56-a728-843e7fb392f1" providerId="ADAL" clId="{3E38CEF9-1001-4E9E-BAB5-F119030ACDA0}"/>
    <pc:docChg chg="undo custSel addSld delSld modSld modSection">
      <pc:chgData name="Aasheesh Bansal" userId="a5f9c14d-7401-4c56-a728-843e7fb392f1" providerId="ADAL" clId="{3E38CEF9-1001-4E9E-BAB5-F119030ACDA0}" dt="2026-06-03T11:45:48.368" v="484" actId="20577"/>
      <pc:docMkLst>
        <pc:docMk/>
      </pc:docMkLst>
      <pc:sldChg chg="addSp delSp modSp new del mod">
        <pc:chgData name="Aasheesh Bansal" userId="a5f9c14d-7401-4c56-a728-843e7fb392f1" providerId="ADAL" clId="{3E38CEF9-1001-4E9E-BAB5-F119030ACDA0}" dt="2026-06-03T09:27:05.151" v="213" actId="2696"/>
        <pc:sldMkLst>
          <pc:docMk/>
          <pc:sldMk cId="70568755" sldId="2145707124"/>
        </pc:sldMkLst>
        <pc:spChg chg="del">
          <ac:chgData name="Aasheesh Bansal" userId="a5f9c14d-7401-4c56-a728-843e7fb392f1" providerId="ADAL" clId="{3E38CEF9-1001-4E9E-BAB5-F119030ACDA0}" dt="2026-06-03T09:20:55.289" v="1" actId="478"/>
          <ac:spMkLst>
            <pc:docMk/>
            <pc:sldMk cId="70568755" sldId="2145707124"/>
            <ac:spMk id="2" creationId="{D289219D-00E2-D9D3-733B-42BE88A98E4F}"/>
          </ac:spMkLst>
        </pc:spChg>
        <pc:spChg chg="del">
          <ac:chgData name="Aasheesh Bansal" userId="a5f9c14d-7401-4c56-a728-843e7fb392f1" providerId="ADAL" clId="{3E38CEF9-1001-4E9E-BAB5-F119030ACDA0}" dt="2026-06-03T09:23:47.247" v="82" actId="478"/>
          <ac:spMkLst>
            <pc:docMk/>
            <pc:sldMk cId="70568755" sldId="2145707124"/>
            <ac:spMk id="3" creationId="{9FC8DDAA-FF42-C730-D89D-019F1BF8C901}"/>
          </ac:spMkLst>
        </pc:spChg>
        <pc:spChg chg="add mod">
          <ac:chgData name="Aasheesh Bansal" userId="a5f9c14d-7401-4c56-a728-843e7fb392f1" providerId="ADAL" clId="{3E38CEF9-1001-4E9E-BAB5-F119030ACDA0}" dt="2026-06-03T09:21:08.093" v="21" actId="20577"/>
          <ac:spMkLst>
            <pc:docMk/>
            <pc:sldMk cId="70568755" sldId="2145707124"/>
            <ac:spMk id="5" creationId="{BEA3DF19-343A-FDC1-BFEC-6CA3C1360D7A}"/>
          </ac:spMkLst>
        </pc:spChg>
        <pc:spChg chg="add mod">
          <ac:chgData name="Aasheesh Bansal" userId="a5f9c14d-7401-4c56-a728-843e7fb392f1" providerId="ADAL" clId="{3E38CEF9-1001-4E9E-BAB5-F119030ACDA0}" dt="2026-06-03T09:20:55.978" v="2"/>
          <ac:spMkLst>
            <pc:docMk/>
            <pc:sldMk cId="70568755" sldId="2145707124"/>
            <ac:spMk id="6" creationId="{25BD83CB-2689-C2AD-9D55-7C5F916A7B27}"/>
          </ac:spMkLst>
        </pc:spChg>
        <pc:spChg chg="del">
          <ac:chgData name="Aasheesh Bansal" userId="a5f9c14d-7401-4c56-a728-843e7fb392f1" providerId="ADAL" clId="{3E38CEF9-1001-4E9E-BAB5-F119030ACDA0}" dt="2026-06-03T09:21:34.427" v="23" actId="478"/>
          <ac:spMkLst>
            <pc:docMk/>
            <pc:sldMk cId="70568755" sldId="2145707124"/>
            <ac:spMk id="7" creationId="{2A158793-0CC7-8E76-B747-6C59F04BC147}"/>
          </ac:spMkLst>
        </pc:spChg>
        <pc:spChg chg="mod">
          <ac:chgData name="Aasheesh Bansal" userId="a5f9c14d-7401-4c56-a728-843e7fb392f1" providerId="ADAL" clId="{3E38CEF9-1001-4E9E-BAB5-F119030ACDA0}" dt="2026-06-03T09:23:21.297" v="34" actId="403"/>
          <ac:spMkLst>
            <pc:docMk/>
            <pc:sldMk cId="70568755" sldId="2145707124"/>
            <ac:spMk id="8" creationId="{161535ED-BAE1-BAE3-3ADC-573544D3E00C}"/>
          </ac:spMkLst>
        </pc:spChg>
        <pc:spChg chg="mod">
          <ac:chgData name="Aasheesh Bansal" userId="a5f9c14d-7401-4c56-a728-843e7fb392f1" providerId="ADAL" clId="{3E38CEF9-1001-4E9E-BAB5-F119030ACDA0}" dt="2026-06-03T09:23:21.297" v="34" actId="403"/>
          <ac:spMkLst>
            <pc:docMk/>
            <pc:sldMk cId="70568755" sldId="2145707124"/>
            <ac:spMk id="9" creationId="{F58FAFF2-D751-6670-0400-36016A0178E6}"/>
          </ac:spMkLst>
        </pc:spChg>
        <pc:spChg chg="add mod">
          <ac:chgData name="Aasheesh Bansal" userId="a5f9c14d-7401-4c56-a728-843e7fb392f1" providerId="ADAL" clId="{3E38CEF9-1001-4E9E-BAB5-F119030ACDA0}" dt="2026-06-03T09:26:27.151" v="211" actId="14100"/>
          <ac:spMkLst>
            <pc:docMk/>
            <pc:sldMk cId="70568755" sldId="2145707124"/>
            <ac:spMk id="10" creationId="{CFBB6AE2-2FB6-A842-2E12-F6138833B26E}"/>
          </ac:spMkLst>
        </pc:spChg>
        <pc:spChg chg="mod">
          <ac:chgData name="Aasheesh Bansal" userId="a5f9c14d-7401-4c56-a728-843e7fb392f1" providerId="ADAL" clId="{3E38CEF9-1001-4E9E-BAB5-F119030ACDA0}" dt="2026-06-03T09:26:44.758" v="212" actId="404"/>
          <ac:spMkLst>
            <pc:docMk/>
            <pc:sldMk cId="70568755" sldId="2145707124"/>
            <ac:spMk id="11" creationId="{0060C6CF-3874-E1E5-4666-27FBBAD126FF}"/>
          </ac:spMkLst>
        </pc:spChg>
        <pc:spChg chg="mod">
          <ac:chgData name="Aasheesh Bansal" userId="a5f9c14d-7401-4c56-a728-843e7fb392f1" providerId="ADAL" clId="{3E38CEF9-1001-4E9E-BAB5-F119030ACDA0}" dt="2026-06-03T09:26:22.835" v="200" actId="14100"/>
          <ac:spMkLst>
            <pc:docMk/>
            <pc:sldMk cId="70568755" sldId="2145707124"/>
            <ac:spMk id="12" creationId="{5CEEC329-64D1-484C-0C51-979A5123E82F}"/>
          </ac:spMkLst>
        </pc:spChg>
        <pc:spChg chg="add mod">
          <ac:chgData name="Aasheesh Bansal" userId="a5f9c14d-7401-4c56-a728-843e7fb392f1" providerId="ADAL" clId="{3E38CEF9-1001-4E9E-BAB5-F119030ACDA0}" dt="2026-06-03T09:26:44.758" v="212" actId="404"/>
          <ac:spMkLst>
            <pc:docMk/>
            <pc:sldMk cId="70568755" sldId="2145707124"/>
            <ac:spMk id="13" creationId="{B1E6C11B-B0A5-CA1C-7542-563FCD56E237}"/>
          </ac:spMkLst>
        </pc:spChg>
        <pc:spChg chg="add mod">
          <ac:chgData name="Aasheesh Bansal" userId="a5f9c14d-7401-4c56-a728-843e7fb392f1" providerId="ADAL" clId="{3E38CEF9-1001-4E9E-BAB5-F119030ACDA0}" dt="2026-06-03T09:26:44.758" v="212" actId="404"/>
          <ac:spMkLst>
            <pc:docMk/>
            <pc:sldMk cId="70568755" sldId="2145707124"/>
            <ac:spMk id="14" creationId="{97B04BC3-D45A-B8FB-0FA0-20C0B1F7600B}"/>
          </ac:spMkLst>
        </pc:spChg>
        <pc:spChg chg="mod">
          <ac:chgData name="Aasheesh Bansal" userId="a5f9c14d-7401-4c56-a728-843e7fb392f1" providerId="ADAL" clId="{3E38CEF9-1001-4E9E-BAB5-F119030ACDA0}" dt="2026-06-03T09:26:19.522" v="192" actId="14100"/>
          <ac:spMkLst>
            <pc:docMk/>
            <pc:sldMk cId="70568755" sldId="2145707124"/>
            <ac:spMk id="15" creationId="{95D0109B-2ADF-0A20-039A-48F1172061FA}"/>
          </ac:spMkLst>
        </pc:spChg>
        <pc:spChg chg="add mod">
          <ac:chgData name="Aasheesh Bansal" userId="a5f9c14d-7401-4c56-a728-843e7fb392f1" providerId="ADAL" clId="{3E38CEF9-1001-4E9E-BAB5-F119030ACDA0}" dt="2026-06-03T09:26:27.151" v="211" actId="14100"/>
          <ac:spMkLst>
            <pc:docMk/>
            <pc:sldMk cId="70568755" sldId="2145707124"/>
            <ac:spMk id="16" creationId="{FA485367-31D7-B11D-1E6B-FF42E4C057F5}"/>
          </ac:spMkLst>
        </pc:spChg>
        <pc:spChg chg="add mod">
          <ac:chgData name="Aasheesh Bansal" userId="a5f9c14d-7401-4c56-a728-843e7fb392f1" providerId="ADAL" clId="{3E38CEF9-1001-4E9E-BAB5-F119030ACDA0}" dt="2026-06-03T09:26:44.758" v="212" actId="404"/>
          <ac:spMkLst>
            <pc:docMk/>
            <pc:sldMk cId="70568755" sldId="2145707124"/>
            <ac:spMk id="17" creationId="{44D51ABA-89B8-4592-B0D7-B972ED21626F}"/>
          </ac:spMkLst>
        </pc:spChg>
        <pc:spChg chg="add mod">
          <ac:chgData name="Aasheesh Bansal" userId="a5f9c14d-7401-4c56-a728-843e7fb392f1" providerId="ADAL" clId="{3E38CEF9-1001-4E9E-BAB5-F119030ACDA0}" dt="2026-06-03T09:26:44.758" v="212" actId="404"/>
          <ac:spMkLst>
            <pc:docMk/>
            <pc:sldMk cId="70568755" sldId="2145707124"/>
            <ac:spMk id="18" creationId="{57F2A2F5-5950-AE44-968E-EB0F0161C3B4}"/>
          </ac:spMkLst>
        </pc:spChg>
        <pc:spChg chg="mod">
          <ac:chgData name="Aasheesh Bansal" userId="a5f9c14d-7401-4c56-a728-843e7fb392f1" providerId="ADAL" clId="{3E38CEF9-1001-4E9E-BAB5-F119030ACDA0}" dt="2026-06-03T09:26:44.758" v="212" actId="404"/>
          <ac:spMkLst>
            <pc:docMk/>
            <pc:sldMk cId="70568755" sldId="2145707124"/>
            <ac:spMk id="19" creationId="{D0210500-E522-A416-390E-E69A14710684}"/>
          </ac:spMkLst>
        </pc:spChg>
        <pc:spChg chg="add mod">
          <ac:chgData name="Aasheesh Bansal" userId="a5f9c14d-7401-4c56-a728-843e7fb392f1" providerId="ADAL" clId="{3E38CEF9-1001-4E9E-BAB5-F119030ACDA0}" dt="2026-06-03T09:26:44.758" v="212" actId="404"/>
          <ac:spMkLst>
            <pc:docMk/>
            <pc:sldMk cId="70568755" sldId="2145707124"/>
            <ac:spMk id="20" creationId="{07EECFBE-5FA5-163E-4364-D720FCB2B8E5}"/>
          </ac:spMkLst>
        </pc:spChg>
        <pc:spChg chg="add mod">
          <ac:chgData name="Aasheesh Bansal" userId="a5f9c14d-7401-4c56-a728-843e7fb392f1" providerId="ADAL" clId="{3E38CEF9-1001-4E9E-BAB5-F119030ACDA0}" dt="2026-06-03T09:26:27.151" v="211" actId="14100"/>
          <ac:spMkLst>
            <pc:docMk/>
            <pc:sldMk cId="70568755" sldId="2145707124"/>
            <ac:spMk id="21" creationId="{9ED83D01-E34E-98CE-62E7-8DE44919B7E0}"/>
          </ac:spMkLst>
        </pc:spChg>
        <pc:spChg chg="mod">
          <ac:chgData name="Aasheesh Bansal" userId="a5f9c14d-7401-4c56-a728-843e7fb392f1" providerId="ADAL" clId="{3E38CEF9-1001-4E9E-BAB5-F119030ACDA0}" dt="2026-06-03T09:26:44.758" v="212" actId="404"/>
          <ac:spMkLst>
            <pc:docMk/>
            <pc:sldMk cId="70568755" sldId="2145707124"/>
            <ac:spMk id="22" creationId="{5E98289A-0C9D-2C47-E7B9-1542D44DE63A}"/>
          </ac:spMkLst>
        </pc:spChg>
        <pc:spChg chg="add mod">
          <ac:chgData name="Aasheesh Bansal" userId="a5f9c14d-7401-4c56-a728-843e7fb392f1" providerId="ADAL" clId="{3E38CEF9-1001-4E9E-BAB5-F119030ACDA0}" dt="2026-06-03T09:26:27.151" v="211" actId="14100"/>
          <ac:spMkLst>
            <pc:docMk/>
            <pc:sldMk cId="70568755" sldId="2145707124"/>
            <ac:spMk id="23" creationId="{624F96CE-F13A-B44D-327D-E58E171F73CB}"/>
          </ac:spMkLst>
        </pc:spChg>
        <pc:spChg chg="mod">
          <ac:chgData name="Aasheesh Bansal" userId="a5f9c14d-7401-4c56-a728-843e7fb392f1" providerId="ADAL" clId="{3E38CEF9-1001-4E9E-BAB5-F119030ACDA0}" dt="2026-06-03T09:26:44.758" v="212" actId="404"/>
          <ac:spMkLst>
            <pc:docMk/>
            <pc:sldMk cId="70568755" sldId="2145707124"/>
            <ac:spMk id="24" creationId="{F136B3E4-B946-FA50-8D70-63F2013FDEE7}"/>
          </ac:spMkLst>
        </pc:spChg>
        <pc:spChg chg="add mod">
          <ac:chgData name="Aasheesh Bansal" userId="a5f9c14d-7401-4c56-a728-843e7fb392f1" providerId="ADAL" clId="{3E38CEF9-1001-4E9E-BAB5-F119030ACDA0}" dt="2026-06-03T09:26:44.758" v="212" actId="404"/>
          <ac:spMkLst>
            <pc:docMk/>
            <pc:sldMk cId="70568755" sldId="2145707124"/>
            <ac:spMk id="25" creationId="{752AAC68-B050-E59E-1749-A3E985D504CB}"/>
          </ac:spMkLst>
        </pc:spChg>
        <pc:spChg chg="del">
          <ac:chgData name="Aasheesh Bansal" userId="a5f9c14d-7401-4c56-a728-843e7fb392f1" providerId="ADAL" clId="{3E38CEF9-1001-4E9E-BAB5-F119030ACDA0}" dt="2026-06-03T09:21:39.347" v="25" actId="478"/>
          <ac:spMkLst>
            <pc:docMk/>
            <pc:sldMk cId="70568755" sldId="2145707124"/>
            <ac:spMk id="26" creationId="{C0F3CB65-999A-3E6A-3955-36D4561BD61C}"/>
          </ac:spMkLst>
        </pc:spChg>
        <pc:spChg chg="del">
          <ac:chgData name="Aasheesh Bansal" userId="a5f9c14d-7401-4c56-a728-843e7fb392f1" providerId="ADAL" clId="{3E38CEF9-1001-4E9E-BAB5-F119030ACDA0}" dt="2026-06-03T09:21:37.291" v="24" actId="478"/>
          <ac:spMkLst>
            <pc:docMk/>
            <pc:sldMk cId="70568755" sldId="2145707124"/>
            <ac:spMk id="27" creationId="{20775C0E-E129-BBB1-9A20-8DD76673F981}"/>
          </ac:spMkLst>
        </pc:spChg>
        <pc:spChg chg="add mod">
          <ac:chgData name="Aasheesh Bansal" userId="a5f9c14d-7401-4c56-a728-843e7fb392f1" providerId="ADAL" clId="{3E38CEF9-1001-4E9E-BAB5-F119030ACDA0}" dt="2026-06-03T09:26:20.832" v="195" actId="1076"/>
          <ac:spMkLst>
            <pc:docMk/>
            <pc:sldMk cId="70568755" sldId="2145707124"/>
            <ac:spMk id="28" creationId="{97F57FB7-B287-F362-E1D7-13EB9E0EFE66}"/>
          </ac:spMkLst>
        </pc:spChg>
        <pc:spChg chg="add mod">
          <ac:chgData name="Aasheesh Bansal" userId="a5f9c14d-7401-4c56-a728-843e7fb392f1" providerId="ADAL" clId="{3E38CEF9-1001-4E9E-BAB5-F119030ACDA0}" dt="2026-06-03T09:24:05.299" v="84" actId="571"/>
          <ac:spMkLst>
            <pc:docMk/>
            <pc:sldMk cId="70568755" sldId="2145707124"/>
            <ac:spMk id="29" creationId="{9DB5C827-822C-4F78-3994-B6071CE57EFE}"/>
          </ac:spMkLst>
        </pc:spChg>
        <pc:spChg chg="add mod">
          <ac:chgData name="Aasheesh Bansal" userId="a5f9c14d-7401-4c56-a728-843e7fb392f1" providerId="ADAL" clId="{3E38CEF9-1001-4E9E-BAB5-F119030ACDA0}" dt="2026-06-03T09:24:05.299" v="84" actId="571"/>
          <ac:spMkLst>
            <pc:docMk/>
            <pc:sldMk cId="70568755" sldId="2145707124"/>
            <ac:spMk id="30" creationId="{65D5C560-EE34-F1EA-F4F2-2CDF8D4AAE9E}"/>
          </ac:spMkLst>
        </pc:spChg>
        <pc:spChg chg="add mod">
          <ac:chgData name="Aasheesh Bansal" userId="a5f9c14d-7401-4c56-a728-843e7fb392f1" providerId="ADAL" clId="{3E38CEF9-1001-4E9E-BAB5-F119030ACDA0}" dt="2026-06-03T09:24:05.299" v="84" actId="571"/>
          <ac:spMkLst>
            <pc:docMk/>
            <pc:sldMk cId="70568755" sldId="2145707124"/>
            <ac:spMk id="31" creationId="{A537D3AD-C96D-B9CA-BFA7-4C63905B48B5}"/>
          </ac:spMkLst>
        </pc:spChg>
        <pc:spChg chg="add mod">
          <ac:chgData name="Aasheesh Bansal" userId="a5f9c14d-7401-4c56-a728-843e7fb392f1" providerId="ADAL" clId="{3E38CEF9-1001-4E9E-BAB5-F119030ACDA0}" dt="2026-06-03T09:24:05.299" v="84" actId="571"/>
          <ac:spMkLst>
            <pc:docMk/>
            <pc:sldMk cId="70568755" sldId="2145707124"/>
            <ac:spMk id="32" creationId="{09A5F08A-75C8-6CE4-576C-F2B33B806044}"/>
          </ac:spMkLst>
        </pc:spChg>
        <pc:spChg chg="add mod">
          <ac:chgData name="Aasheesh Bansal" userId="a5f9c14d-7401-4c56-a728-843e7fb392f1" providerId="ADAL" clId="{3E38CEF9-1001-4E9E-BAB5-F119030ACDA0}" dt="2026-06-03T09:24:05.299" v="84" actId="571"/>
          <ac:spMkLst>
            <pc:docMk/>
            <pc:sldMk cId="70568755" sldId="2145707124"/>
            <ac:spMk id="33" creationId="{331D5CD0-0982-C1AC-133E-64370F954D7F}"/>
          </ac:spMkLst>
        </pc:spChg>
        <pc:spChg chg="add mod">
          <ac:chgData name="Aasheesh Bansal" userId="a5f9c14d-7401-4c56-a728-843e7fb392f1" providerId="ADAL" clId="{3E38CEF9-1001-4E9E-BAB5-F119030ACDA0}" dt="2026-06-03T09:24:05.299" v="84" actId="571"/>
          <ac:spMkLst>
            <pc:docMk/>
            <pc:sldMk cId="70568755" sldId="2145707124"/>
            <ac:spMk id="34" creationId="{BB0F333B-813F-B467-C58F-273E01836C77}"/>
          </ac:spMkLst>
        </pc:spChg>
        <pc:spChg chg="add mod">
          <ac:chgData name="Aasheesh Bansal" userId="a5f9c14d-7401-4c56-a728-843e7fb392f1" providerId="ADAL" clId="{3E38CEF9-1001-4E9E-BAB5-F119030ACDA0}" dt="2026-06-03T09:24:05.299" v="84" actId="571"/>
          <ac:spMkLst>
            <pc:docMk/>
            <pc:sldMk cId="70568755" sldId="2145707124"/>
            <ac:spMk id="35" creationId="{BBB8FE0B-A014-EBD6-E36F-B32689585415}"/>
          </ac:spMkLst>
        </pc:spChg>
        <pc:spChg chg="add mod">
          <ac:chgData name="Aasheesh Bansal" userId="a5f9c14d-7401-4c56-a728-843e7fb392f1" providerId="ADAL" clId="{3E38CEF9-1001-4E9E-BAB5-F119030ACDA0}" dt="2026-06-03T09:24:05.299" v="84" actId="571"/>
          <ac:spMkLst>
            <pc:docMk/>
            <pc:sldMk cId="70568755" sldId="2145707124"/>
            <ac:spMk id="36" creationId="{E41874DD-F120-223E-7C01-FCE39449F096}"/>
          </ac:spMkLst>
        </pc:spChg>
        <pc:spChg chg="add mod">
          <ac:chgData name="Aasheesh Bansal" userId="a5f9c14d-7401-4c56-a728-843e7fb392f1" providerId="ADAL" clId="{3E38CEF9-1001-4E9E-BAB5-F119030ACDA0}" dt="2026-06-03T09:24:05.299" v="84" actId="571"/>
          <ac:spMkLst>
            <pc:docMk/>
            <pc:sldMk cId="70568755" sldId="2145707124"/>
            <ac:spMk id="37" creationId="{204BB67A-DEC6-B1A0-D8F2-B3F98B2945A7}"/>
          </ac:spMkLst>
        </pc:spChg>
        <pc:spChg chg="add mod">
          <ac:chgData name="Aasheesh Bansal" userId="a5f9c14d-7401-4c56-a728-843e7fb392f1" providerId="ADAL" clId="{3E38CEF9-1001-4E9E-BAB5-F119030ACDA0}" dt="2026-06-03T09:24:05.299" v="84" actId="571"/>
          <ac:spMkLst>
            <pc:docMk/>
            <pc:sldMk cId="70568755" sldId="2145707124"/>
            <ac:spMk id="38" creationId="{B539395F-F4FF-C380-89C9-D9DC7CBB6303}"/>
          </ac:spMkLst>
        </pc:spChg>
        <pc:spChg chg="add mod">
          <ac:chgData name="Aasheesh Bansal" userId="a5f9c14d-7401-4c56-a728-843e7fb392f1" providerId="ADAL" clId="{3E38CEF9-1001-4E9E-BAB5-F119030ACDA0}" dt="2026-06-03T09:24:09.277" v="86" actId="571"/>
          <ac:spMkLst>
            <pc:docMk/>
            <pc:sldMk cId="70568755" sldId="2145707124"/>
            <ac:spMk id="39" creationId="{C6051B91-7933-35CD-B0F4-76CFD59C2663}"/>
          </ac:spMkLst>
        </pc:spChg>
        <pc:spChg chg="add mod">
          <ac:chgData name="Aasheesh Bansal" userId="a5f9c14d-7401-4c56-a728-843e7fb392f1" providerId="ADAL" clId="{3E38CEF9-1001-4E9E-BAB5-F119030ACDA0}" dt="2026-06-03T09:24:09.277" v="86" actId="571"/>
          <ac:spMkLst>
            <pc:docMk/>
            <pc:sldMk cId="70568755" sldId="2145707124"/>
            <ac:spMk id="40" creationId="{AE290E0D-93DC-F5A0-8537-C8A9C4778837}"/>
          </ac:spMkLst>
        </pc:spChg>
        <pc:spChg chg="add mod">
          <ac:chgData name="Aasheesh Bansal" userId="a5f9c14d-7401-4c56-a728-843e7fb392f1" providerId="ADAL" clId="{3E38CEF9-1001-4E9E-BAB5-F119030ACDA0}" dt="2026-06-03T09:24:09.277" v="86" actId="571"/>
          <ac:spMkLst>
            <pc:docMk/>
            <pc:sldMk cId="70568755" sldId="2145707124"/>
            <ac:spMk id="41" creationId="{FCD95605-9DBC-FCF4-B399-F823EB6D2BF8}"/>
          </ac:spMkLst>
        </pc:spChg>
        <pc:spChg chg="add mod">
          <ac:chgData name="Aasheesh Bansal" userId="a5f9c14d-7401-4c56-a728-843e7fb392f1" providerId="ADAL" clId="{3E38CEF9-1001-4E9E-BAB5-F119030ACDA0}" dt="2026-06-03T09:24:09.277" v="86" actId="571"/>
          <ac:spMkLst>
            <pc:docMk/>
            <pc:sldMk cId="70568755" sldId="2145707124"/>
            <ac:spMk id="42" creationId="{F3E3D8BC-DDD3-7AF4-7483-2452CD643F0E}"/>
          </ac:spMkLst>
        </pc:spChg>
        <pc:spChg chg="add mod">
          <ac:chgData name="Aasheesh Bansal" userId="a5f9c14d-7401-4c56-a728-843e7fb392f1" providerId="ADAL" clId="{3E38CEF9-1001-4E9E-BAB5-F119030ACDA0}" dt="2026-06-03T09:24:09.277" v="86" actId="571"/>
          <ac:spMkLst>
            <pc:docMk/>
            <pc:sldMk cId="70568755" sldId="2145707124"/>
            <ac:spMk id="44" creationId="{7296526D-417C-33FD-E0F8-ADF476176102}"/>
          </ac:spMkLst>
        </pc:spChg>
        <pc:spChg chg="add mod">
          <ac:chgData name="Aasheesh Bansal" userId="a5f9c14d-7401-4c56-a728-843e7fb392f1" providerId="ADAL" clId="{3E38CEF9-1001-4E9E-BAB5-F119030ACDA0}" dt="2026-06-03T09:24:09.277" v="86" actId="571"/>
          <ac:spMkLst>
            <pc:docMk/>
            <pc:sldMk cId="70568755" sldId="2145707124"/>
            <ac:spMk id="45" creationId="{AC8923EE-D9B5-7A2D-0F8A-A43482F0E705}"/>
          </ac:spMkLst>
        </pc:spChg>
        <pc:spChg chg="add mod">
          <ac:chgData name="Aasheesh Bansal" userId="a5f9c14d-7401-4c56-a728-843e7fb392f1" providerId="ADAL" clId="{3E38CEF9-1001-4E9E-BAB5-F119030ACDA0}" dt="2026-06-03T09:24:09.277" v="86" actId="571"/>
          <ac:spMkLst>
            <pc:docMk/>
            <pc:sldMk cId="70568755" sldId="2145707124"/>
            <ac:spMk id="46" creationId="{514B40CE-7DBC-F2C9-E66D-CA1927CBBF87}"/>
          </ac:spMkLst>
        </pc:spChg>
        <pc:spChg chg="add mod">
          <ac:chgData name="Aasheesh Bansal" userId="a5f9c14d-7401-4c56-a728-843e7fb392f1" providerId="ADAL" clId="{3E38CEF9-1001-4E9E-BAB5-F119030ACDA0}" dt="2026-06-03T09:24:09.277" v="86" actId="571"/>
          <ac:spMkLst>
            <pc:docMk/>
            <pc:sldMk cId="70568755" sldId="2145707124"/>
            <ac:spMk id="47" creationId="{22927E0A-4F9F-11A1-246F-D27726CA9326}"/>
          </ac:spMkLst>
        </pc:spChg>
        <pc:spChg chg="add mod">
          <ac:chgData name="Aasheesh Bansal" userId="a5f9c14d-7401-4c56-a728-843e7fb392f1" providerId="ADAL" clId="{3E38CEF9-1001-4E9E-BAB5-F119030ACDA0}" dt="2026-06-03T09:24:09.277" v="86" actId="571"/>
          <ac:spMkLst>
            <pc:docMk/>
            <pc:sldMk cId="70568755" sldId="2145707124"/>
            <ac:spMk id="50" creationId="{513A40FF-4AD2-6F81-19F2-8C8A80A625CE}"/>
          </ac:spMkLst>
        </pc:spChg>
        <pc:spChg chg="add mod">
          <ac:chgData name="Aasheesh Bansal" userId="a5f9c14d-7401-4c56-a728-843e7fb392f1" providerId="ADAL" clId="{3E38CEF9-1001-4E9E-BAB5-F119030ACDA0}" dt="2026-06-03T09:24:09.277" v="86" actId="571"/>
          <ac:spMkLst>
            <pc:docMk/>
            <pc:sldMk cId="70568755" sldId="2145707124"/>
            <ac:spMk id="51" creationId="{C2D9E142-65C9-DB49-6ED4-05BBAD7CA1E3}"/>
          </ac:spMkLst>
        </pc:spChg>
      </pc:sldChg>
      <pc:sldChg chg="addSp delSp modSp new mod">
        <pc:chgData name="Aasheesh Bansal" userId="a5f9c14d-7401-4c56-a728-843e7fb392f1" providerId="ADAL" clId="{3E38CEF9-1001-4E9E-BAB5-F119030ACDA0}" dt="2026-06-03T10:16:50.313" v="373" actId="5793"/>
        <pc:sldMkLst>
          <pc:docMk/>
          <pc:sldMk cId="3275556720" sldId="2145707124"/>
        </pc:sldMkLst>
        <pc:spChg chg="del">
          <ac:chgData name="Aasheesh Bansal" userId="a5f9c14d-7401-4c56-a728-843e7fb392f1" providerId="ADAL" clId="{3E38CEF9-1001-4E9E-BAB5-F119030ACDA0}" dt="2026-06-03T10:02:35.918" v="307" actId="478"/>
          <ac:spMkLst>
            <pc:docMk/>
            <pc:sldMk cId="3275556720" sldId="2145707124"/>
            <ac:spMk id="2" creationId="{CE68F87A-48D0-1D8A-8DED-4C6A8BEA3491}"/>
          </ac:spMkLst>
        </pc:spChg>
        <pc:spChg chg="mod">
          <ac:chgData name="Aasheesh Bansal" userId="a5f9c14d-7401-4c56-a728-843e7fb392f1" providerId="ADAL" clId="{3E38CEF9-1001-4E9E-BAB5-F119030ACDA0}" dt="2026-06-03T10:07:50.127" v="336" actId="20577"/>
          <ac:spMkLst>
            <pc:docMk/>
            <pc:sldMk cId="3275556720" sldId="2145707124"/>
            <ac:spMk id="3" creationId="{D35AD1EC-ED86-5260-5932-15959BF6E767}"/>
          </ac:spMkLst>
        </pc:spChg>
        <pc:spChg chg="add mod">
          <ac:chgData name="Aasheesh Bansal" userId="a5f9c14d-7401-4c56-a728-843e7fb392f1" providerId="ADAL" clId="{3E38CEF9-1001-4E9E-BAB5-F119030ACDA0}" dt="2026-06-03T10:01:59.124" v="305" actId="20577"/>
          <ac:spMkLst>
            <pc:docMk/>
            <pc:sldMk cId="3275556720" sldId="2145707124"/>
            <ac:spMk id="5" creationId="{4CCFD04B-9E5D-09DD-15AB-FEF6B35F314B}"/>
          </ac:spMkLst>
        </pc:spChg>
        <pc:spChg chg="add mod">
          <ac:chgData name="Aasheesh Bansal" userId="a5f9c14d-7401-4c56-a728-843e7fb392f1" providerId="ADAL" clId="{3E38CEF9-1001-4E9E-BAB5-F119030ACDA0}" dt="2026-06-03T10:01:21.564" v="292" actId="1076"/>
          <ac:spMkLst>
            <pc:docMk/>
            <pc:sldMk cId="3275556720" sldId="2145707124"/>
            <ac:spMk id="6" creationId="{666324EC-C731-C4E6-1D78-2953BF05012F}"/>
          </ac:spMkLst>
        </pc:spChg>
        <pc:spChg chg="add mod">
          <ac:chgData name="Aasheesh Bansal" userId="a5f9c14d-7401-4c56-a728-843e7fb392f1" providerId="ADAL" clId="{3E38CEF9-1001-4E9E-BAB5-F119030ACDA0}" dt="2026-06-03T10:01:25.756" v="293" actId="1076"/>
          <ac:spMkLst>
            <pc:docMk/>
            <pc:sldMk cId="3275556720" sldId="2145707124"/>
            <ac:spMk id="7" creationId="{FE00B839-2A9C-7A2E-87EF-E89030984AA6}"/>
          </ac:spMkLst>
        </pc:spChg>
        <pc:spChg chg="add mod">
          <ac:chgData name="Aasheesh Bansal" userId="a5f9c14d-7401-4c56-a728-843e7fb392f1" providerId="ADAL" clId="{3E38CEF9-1001-4E9E-BAB5-F119030ACDA0}" dt="2026-06-03T10:01:10.621" v="289" actId="1035"/>
          <ac:spMkLst>
            <pc:docMk/>
            <pc:sldMk cId="3275556720" sldId="2145707124"/>
            <ac:spMk id="8" creationId="{90D72A19-374B-4E3E-0CC4-7907F93E6B56}"/>
          </ac:spMkLst>
        </pc:spChg>
        <pc:spChg chg="add mod">
          <ac:chgData name="Aasheesh Bansal" userId="a5f9c14d-7401-4c56-a728-843e7fb392f1" providerId="ADAL" clId="{3E38CEF9-1001-4E9E-BAB5-F119030ACDA0}" dt="2026-06-03T10:16:42.081" v="370" actId="113"/>
          <ac:spMkLst>
            <pc:docMk/>
            <pc:sldMk cId="3275556720" sldId="2145707124"/>
            <ac:spMk id="9" creationId="{4E3097E9-49A2-02E2-F7A6-29E3FAAAAA66}"/>
          </ac:spMkLst>
        </pc:spChg>
        <pc:spChg chg="add mod">
          <ac:chgData name="Aasheesh Bansal" userId="a5f9c14d-7401-4c56-a728-843e7fb392f1" providerId="ADAL" clId="{3E38CEF9-1001-4E9E-BAB5-F119030ACDA0}" dt="2026-06-03T10:01:10.621" v="289" actId="1035"/>
          <ac:spMkLst>
            <pc:docMk/>
            <pc:sldMk cId="3275556720" sldId="2145707124"/>
            <ac:spMk id="10" creationId="{B99CFD26-4F68-0B3F-305B-D5E77311A86F}"/>
          </ac:spMkLst>
        </pc:spChg>
        <pc:spChg chg="mod">
          <ac:chgData name="Aasheesh Bansal" userId="a5f9c14d-7401-4c56-a728-843e7fb392f1" providerId="ADAL" clId="{3E38CEF9-1001-4E9E-BAB5-F119030ACDA0}" dt="2026-06-03T10:16:50.313" v="373" actId="5793"/>
          <ac:spMkLst>
            <pc:docMk/>
            <pc:sldMk cId="3275556720" sldId="2145707124"/>
            <ac:spMk id="11" creationId="{301094FC-9874-51FB-7233-F28E25971F12}"/>
          </ac:spMkLst>
        </pc:spChg>
        <pc:spChg chg="add mod">
          <ac:chgData name="Aasheesh Bansal" userId="a5f9c14d-7401-4c56-a728-843e7fb392f1" providerId="ADAL" clId="{3E38CEF9-1001-4E9E-BAB5-F119030ACDA0}" dt="2026-06-03T10:00:33.338" v="237" actId="1036"/>
          <ac:spMkLst>
            <pc:docMk/>
            <pc:sldMk cId="3275556720" sldId="2145707124"/>
            <ac:spMk id="12" creationId="{B7645276-DD82-2D7B-C6D7-D10CF9669A37}"/>
          </ac:spMkLst>
        </pc:spChg>
        <pc:spChg chg="add mod">
          <ac:chgData name="Aasheesh Bansal" userId="a5f9c14d-7401-4c56-a728-843e7fb392f1" providerId="ADAL" clId="{3E38CEF9-1001-4E9E-BAB5-F119030ACDA0}" dt="2026-06-03T10:00:26.294" v="226" actId="14100"/>
          <ac:spMkLst>
            <pc:docMk/>
            <pc:sldMk cId="3275556720" sldId="2145707124"/>
            <ac:spMk id="13" creationId="{E2FB485A-F41E-902A-CDF3-9FAC6DB60608}"/>
          </ac:spMkLst>
        </pc:spChg>
        <pc:spChg chg="add mod">
          <ac:chgData name="Aasheesh Bansal" userId="a5f9c14d-7401-4c56-a728-843e7fb392f1" providerId="ADAL" clId="{3E38CEF9-1001-4E9E-BAB5-F119030ACDA0}" dt="2026-06-03T10:00:39.023" v="254" actId="1035"/>
          <ac:spMkLst>
            <pc:docMk/>
            <pc:sldMk cId="3275556720" sldId="2145707124"/>
            <ac:spMk id="14" creationId="{7E2BB97D-901C-5DD9-490B-94740EC84581}"/>
          </ac:spMkLst>
        </pc:spChg>
        <pc:spChg chg="add mod">
          <ac:chgData name="Aasheesh Bansal" userId="a5f9c14d-7401-4c56-a728-843e7fb392f1" providerId="ADAL" clId="{3E38CEF9-1001-4E9E-BAB5-F119030ACDA0}" dt="2026-06-03T10:00:26.294" v="226" actId="14100"/>
          <ac:spMkLst>
            <pc:docMk/>
            <pc:sldMk cId="3275556720" sldId="2145707124"/>
            <ac:spMk id="15" creationId="{E718B6AF-53D5-E107-817D-4696DD2899CF}"/>
          </ac:spMkLst>
        </pc:spChg>
        <pc:spChg chg="add mod">
          <ac:chgData name="Aasheesh Bansal" userId="a5f9c14d-7401-4c56-a728-843e7fb392f1" providerId="ADAL" clId="{3E38CEF9-1001-4E9E-BAB5-F119030ACDA0}" dt="2026-06-03T10:02:33.304" v="306"/>
          <ac:spMkLst>
            <pc:docMk/>
            <pc:sldMk cId="3275556720" sldId="2145707124"/>
            <ac:spMk id="16" creationId="{0E31F822-0916-A0BF-4B91-478B3D3077A0}"/>
          </ac:spMkLst>
        </pc:spChg>
        <pc:spChg chg="add mod">
          <ac:chgData name="Aasheesh Bansal" userId="a5f9c14d-7401-4c56-a728-843e7fb392f1" providerId="ADAL" clId="{3E38CEF9-1001-4E9E-BAB5-F119030ACDA0}" dt="2026-06-03T10:02:33.304" v="306"/>
          <ac:spMkLst>
            <pc:docMk/>
            <pc:sldMk cId="3275556720" sldId="2145707124"/>
            <ac:spMk id="17" creationId="{E3BEC51F-D0AF-8B35-FBDA-C3C433A3947C}"/>
          </ac:spMkLst>
        </pc:spChg>
        <pc:spChg chg="add mod">
          <ac:chgData name="Aasheesh Bansal" userId="a5f9c14d-7401-4c56-a728-843e7fb392f1" providerId="ADAL" clId="{3E38CEF9-1001-4E9E-BAB5-F119030ACDA0}" dt="2026-06-03T10:06:59.999" v="327" actId="207"/>
          <ac:spMkLst>
            <pc:docMk/>
            <pc:sldMk cId="3275556720" sldId="2145707124"/>
            <ac:spMk id="18" creationId="{F7C4309E-D087-6B5C-38DB-2F2D83B03A19}"/>
          </ac:spMkLst>
        </pc:spChg>
      </pc:sldChg>
      <pc:sldChg chg="addSp delSp modSp add mod">
        <pc:chgData name="Aasheesh Bansal" userId="a5f9c14d-7401-4c56-a728-843e7fb392f1" providerId="ADAL" clId="{3E38CEF9-1001-4E9E-BAB5-F119030ACDA0}" dt="2026-06-03T11:45:48.368" v="484" actId="20577"/>
        <pc:sldMkLst>
          <pc:docMk/>
          <pc:sldMk cId="4220952197" sldId="2145707125"/>
        </pc:sldMkLst>
        <pc:spChg chg="add mod">
          <ac:chgData name="Aasheesh Bansal" userId="a5f9c14d-7401-4c56-a728-843e7fb392f1" providerId="ADAL" clId="{3E38CEF9-1001-4E9E-BAB5-F119030ACDA0}" dt="2026-06-03T10:05:38.506" v="312"/>
          <ac:spMkLst>
            <pc:docMk/>
            <pc:sldMk cId="4220952197" sldId="2145707125"/>
            <ac:spMk id="2" creationId="{ACF4C706-FD1A-0167-3C60-33DF1004323C}"/>
          </ac:spMkLst>
        </pc:spChg>
        <pc:spChg chg="mod">
          <ac:chgData name="Aasheesh Bansal" userId="a5f9c14d-7401-4c56-a728-843e7fb392f1" providerId="ADAL" clId="{3E38CEF9-1001-4E9E-BAB5-F119030ACDA0}" dt="2026-06-03T10:07:56.918" v="339" actId="20577"/>
          <ac:spMkLst>
            <pc:docMk/>
            <pc:sldMk cId="4220952197" sldId="2145707125"/>
            <ac:spMk id="3" creationId="{AF0114E6-2E02-D200-71DF-9CB42B1634E9}"/>
          </ac:spMkLst>
        </pc:spChg>
        <pc:spChg chg="del">
          <ac:chgData name="Aasheesh Bansal" userId="a5f9c14d-7401-4c56-a728-843e7fb392f1" providerId="ADAL" clId="{3E38CEF9-1001-4E9E-BAB5-F119030ACDA0}" dt="2026-06-03T10:04:55.621" v="311" actId="478"/>
          <ac:spMkLst>
            <pc:docMk/>
            <pc:sldMk cId="4220952197" sldId="2145707125"/>
            <ac:spMk id="5" creationId="{154ADEFB-7CDD-8A17-A1B4-D6D32D7DD331}"/>
          </ac:spMkLst>
        </pc:spChg>
        <pc:spChg chg="del">
          <ac:chgData name="Aasheesh Bansal" userId="a5f9c14d-7401-4c56-a728-843e7fb392f1" providerId="ADAL" clId="{3E38CEF9-1001-4E9E-BAB5-F119030ACDA0}" dt="2026-06-03T10:04:55.621" v="311" actId="478"/>
          <ac:spMkLst>
            <pc:docMk/>
            <pc:sldMk cId="4220952197" sldId="2145707125"/>
            <ac:spMk id="7" creationId="{4DE31C20-04DE-B011-A87A-CAE8678892C4}"/>
          </ac:spMkLst>
        </pc:spChg>
        <pc:spChg chg="del">
          <ac:chgData name="Aasheesh Bansal" userId="a5f9c14d-7401-4c56-a728-843e7fb392f1" providerId="ADAL" clId="{3E38CEF9-1001-4E9E-BAB5-F119030ACDA0}" dt="2026-06-03T10:04:55.621" v="311" actId="478"/>
          <ac:spMkLst>
            <pc:docMk/>
            <pc:sldMk cId="4220952197" sldId="2145707125"/>
            <ac:spMk id="8" creationId="{680D3208-44EC-A232-3E74-BB0F3CB3B4F5}"/>
          </ac:spMkLst>
        </pc:spChg>
        <pc:spChg chg="del">
          <ac:chgData name="Aasheesh Bansal" userId="a5f9c14d-7401-4c56-a728-843e7fb392f1" providerId="ADAL" clId="{3E38CEF9-1001-4E9E-BAB5-F119030ACDA0}" dt="2026-06-03T10:04:55.621" v="311" actId="478"/>
          <ac:spMkLst>
            <pc:docMk/>
            <pc:sldMk cId="4220952197" sldId="2145707125"/>
            <ac:spMk id="9" creationId="{218AAD7E-A333-B0C0-C200-40E4CAEC39B4}"/>
          </ac:spMkLst>
        </pc:spChg>
        <pc:spChg chg="del">
          <ac:chgData name="Aasheesh Bansal" userId="a5f9c14d-7401-4c56-a728-843e7fb392f1" providerId="ADAL" clId="{3E38CEF9-1001-4E9E-BAB5-F119030ACDA0}" dt="2026-06-03T10:04:55.621" v="311" actId="478"/>
          <ac:spMkLst>
            <pc:docMk/>
            <pc:sldMk cId="4220952197" sldId="2145707125"/>
            <ac:spMk id="10" creationId="{15F9055E-9CD0-F446-F22D-B8EF6F447AFD}"/>
          </ac:spMkLst>
        </pc:spChg>
        <pc:spChg chg="del">
          <ac:chgData name="Aasheesh Bansal" userId="a5f9c14d-7401-4c56-a728-843e7fb392f1" providerId="ADAL" clId="{3E38CEF9-1001-4E9E-BAB5-F119030ACDA0}" dt="2026-06-03T10:04:55.621" v="311" actId="478"/>
          <ac:spMkLst>
            <pc:docMk/>
            <pc:sldMk cId="4220952197" sldId="2145707125"/>
            <ac:spMk id="11" creationId="{49D23CAD-CE04-80AC-BC12-CB57172DABEE}"/>
          </ac:spMkLst>
        </pc:spChg>
        <pc:spChg chg="del">
          <ac:chgData name="Aasheesh Bansal" userId="a5f9c14d-7401-4c56-a728-843e7fb392f1" providerId="ADAL" clId="{3E38CEF9-1001-4E9E-BAB5-F119030ACDA0}" dt="2026-06-03T10:04:55.621" v="311" actId="478"/>
          <ac:spMkLst>
            <pc:docMk/>
            <pc:sldMk cId="4220952197" sldId="2145707125"/>
            <ac:spMk id="12" creationId="{93510FBF-84EE-A573-1356-3CE51BB11050}"/>
          </ac:spMkLst>
        </pc:spChg>
        <pc:spChg chg="del">
          <ac:chgData name="Aasheesh Bansal" userId="a5f9c14d-7401-4c56-a728-843e7fb392f1" providerId="ADAL" clId="{3E38CEF9-1001-4E9E-BAB5-F119030ACDA0}" dt="2026-06-03T10:04:55.621" v="311" actId="478"/>
          <ac:spMkLst>
            <pc:docMk/>
            <pc:sldMk cId="4220952197" sldId="2145707125"/>
            <ac:spMk id="13" creationId="{1DB8E37A-762B-5912-445D-0DA924C53BE3}"/>
          </ac:spMkLst>
        </pc:spChg>
        <pc:spChg chg="del">
          <ac:chgData name="Aasheesh Bansal" userId="a5f9c14d-7401-4c56-a728-843e7fb392f1" providerId="ADAL" clId="{3E38CEF9-1001-4E9E-BAB5-F119030ACDA0}" dt="2026-06-03T10:04:55.621" v="311" actId="478"/>
          <ac:spMkLst>
            <pc:docMk/>
            <pc:sldMk cId="4220952197" sldId="2145707125"/>
            <ac:spMk id="14" creationId="{8A713E11-C0C7-5D39-EF41-B0B200734892}"/>
          </ac:spMkLst>
        </pc:spChg>
        <pc:spChg chg="del">
          <ac:chgData name="Aasheesh Bansal" userId="a5f9c14d-7401-4c56-a728-843e7fb392f1" providerId="ADAL" clId="{3E38CEF9-1001-4E9E-BAB5-F119030ACDA0}" dt="2026-06-03T10:04:55.621" v="311" actId="478"/>
          <ac:spMkLst>
            <pc:docMk/>
            <pc:sldMk cId="4220952197" sldId="2145707125"/>
            <ac:spMk id="15" creationId="{24E487EF-9358-CEBB-3E1D-7199A0DBE02A}"/>
          </ac:spMkLst>
        </pc:spChg>
        <pc:spChg chg="add mod">
          <ac:chgData name="Aasheesh Bansal" userId="a5f9c14d-7401-4c56-a728-843e7fb392f1" providerId="ADAL" clId="{3E38CEF9-1001-4E9E-BAB5-F119030ACDA0}" dt="2026-06-03T10:05:38.506" v="312"/>
          <ac:spMkLst>
            <pc:docMk/>
            <pc:sldMk cId="4220952197" sldId="2145707125"/>
            <ac:spMk id="19" creationId="{13ABED66-9600-B54C-073B-E7839A3F1547}"/>
          </ac:spMkLst>
        </pc:spChg>
        <pc:spChg chg="mod">
          <ac:chgData name="Aasheesh Bansal" userId="a5f9c14d-7401-4c56-a728-843e7fb392f1" providerId="ADAL" clId="{3E38CEF9-1001-4E9E-BAB5-F119030ACDA0}" dt="2026-06-03T11:35:48.789" v="432" actId="113"/>
          <ac:spMkLst>
            <pc:docMk/>
            <pc:sldMk cId="4220952197" sldId="2145707125"/>
            <ac:spMk id="20" creationId="{A5CE3C9A-F1A2-6399-E44E-9445FA8A176F}"/>
          </ac:spMkLst>
        </pc:spChg>
        <pc:spChg chg="add mod">
          <ac:chgData name="Aasheesh Bansal" userId="a5f9c14d-7401-4c56-a728-843e7fb392f1" providerId="ADAL" clId="{3E38CEF9-1001-4E9E-BAB5-F119030ACDA0}" dt="2026-06-03T10:05:38.506" v="312"/>
          <ac:spMkLst>
            <pc:docMk/>
            <pc:sldMk cId="4220952197" sldId="2145707125"/>
            <ac:spMk id="21" creationId="{78791C13-E095-4D27-377D-7FE11E925830}"/>
          </ac:spMkLst>
        </pc:spChg>
        <pc:spChg chg="add mod">
          <ac:chgData name="Aasheesh Bansal" userId="a5f9c14d-7401-4c56-a728-843e7fb392f1" providerId="ADAL" clId="{3E38CEF9-1001-4E9E-BAB5-F119030ACDA0}" dt="2026-06-03T11:39:05.660" v="471" actId="20577"/>
          <ac:spMkLst>
            <pc:docMk/>
            <pc:sldMk cId="4220952197" sldId="2145707125"/>
            <ac:spMk id="22" creationId="{30832B90-DECE-3C42-8D19-63FD6CAF089F}"/>
          </ac:spMkLst>
        </pc:spChg>
        <pc:spChg chg="add mod">
          <ac:chgData name="Aasheesh Bansal" userId="a5f9c14d-7401-4c56-a728-843e7fb392f1" providerId="ADAL" clId="{3E38CEF9-1001-4E9E-BAB5-F119030ACDA0}" dt="2026-06-03T10:05:38.506" v="312"/>
          <ac:spMkLst>
            <pc:docMk/>
            <pc:sldMk cId="4220952197" sldId="2145707125"/>
            <ac:spMk id="23" creationId="{B47E85F4-2319-FEBF-7B07-E2CD1B64E72B}"/>
          </ac:spMkLst>
        </pc:spChg>
        <pc:spChg chg="mod">
          <ac:chgData name="Aasheesh Bansal" userId="a5f9c14d-7401-4c56-a728-843e7fb392f1" providerId="ADAL" clId="{3E38CEF9-1001-4E9E-BAB5-F119030ACDA0}" dt="2026-06-03T11:41:00.143" v="477" actId="6549"/>
          <ac:spMkLst>
            <pc:docMk/>
            <pc:sldMk cId="4220952197" sldId="2145707125"/>
            <ac:spMk id="26" creationId="{0158853B-5373-2AAD-C9A5-40748DD72D6A}"/>
          </ac:spMkLst>
        </pc:spChg>
        <pc:spChg chg="add mod">
          <ac:chgData name="Aasheesh Bansal" userId="a5f9c14d-7401-4c56-a728-843e7fb392f1" providerId="ADAL" clId="{3E38CEF9-1001-4E9E-BAB5-F119030ACDA0}" dt="2026-06-03T10:05:38.506" v="312"/>
          <ac:spMkLst>
            <pc:docMk/>
            <pc:sldMk cId="4220952197" sldId="2145707125"/>
            <ac:spMk id="29" creationId="{19DA8599-5768-BB47-F614-D037A6F051F9}"/>
          </ac:spMkLst>
        </pc:spChg>
        <pc:spChg chg="mod">
          <ac:chgData name="Aasheesh Bansal" userId="a5f9c14d-7401-4c56-a728-843e7fb392f1" providerId="ADAL" clId="{3E38CEF9-1001-4E9E-BAB5-F119030ACDA0}" dt="2026-06-03T11:44:36.269" v="479"/>
          <ac:spMkLst>
            <pc:docMk/>
            <pc:sldMk cId="4220952197" sldId="2145707125"/>
            <ac:spMk id="30" creationId="{51F3A98C-F975-46F0-7BB2-C29CFD478522}"/>
          </ac:spMkLst>
        </pc:spChg>
        <pc:spChg chg="add mod">
          <ac:chgData name="Aasheesh Bansal" userId="a5f9c14d-7401-4c56-a728-843e7fb392f1" providerId="ADAL" clId="{3E38CEF9-1001-4E9E-BAB5-F119030ACDA0}" dt="2026-06-03T10:05:38.506" v="312"/>
          <ac:spMkLst>
            <pc:docMk/>
            <pc:sldMk cId="4220952197" sldId="2145707125"/>
            <ac:spMk id="31" creationId="{7A56674C-251C-0EFA-82EC-2795466A59D0}"/>
          </ac:spMkLst>
        </pc:spChg>
        <pc:spChg chg="add mod">
          <ac:chgData name="Aasheesh Bansal" userId="a5f9c14d-7401-4c56-a728-843e7fb392f1" providerId="ADAL" clId="{3E38CEF9-1001-4E9E-BAB5-F119030ACDA0}" dt="2026-06-03T10:05:38.506" v="312"/>
          <ac:spMkLst>
            <pc:docMk/>
            <pc:sldMk cId="4220952197" sldId="2145707125"/>
            <ac:spMk id="32" creationId="{8CA2755A-0809-1F9C-9CE2-A91861E7AA2D}"/>
          </ac:spMkLst>
        </pc:spChg>
        <pc:spChg chg="add mod">
          <ac:chgData name="Aasheesh Bansal" userId="a5f9c14d-7401-4c56-a728-843e7fb392f1" providerId="ADAL" clId="{3E38CEF9-1001-4E9E-BAB5-F119030ACDA0}" dt="2026-06-03T10:05:38.506" v="312"/>
          <ac:spMkLst>
            <pc:docMk/>
            <pc:sldMk cId="4220952197" sldId="2145707125"/>
            <ac:spMk id="33" creationId="{1DE2D0DF-6BE2-7D88-09FA-BCA91C11B010}"/>
          </ac:spMkLst>
        </pc:spChg>
        <pc:spChg chg="add mod">
          <ac:chgData name="Aasheesh Bansal" userId="a5f9c14d-7401-4c56-a728-843e7fb392f1" providerId="ADAL" clId="{3E38CEF9-1001-4E9E-BAB5-F119030ACDA0}" dt="2026-06-03T11:45:48.368" v="484" actId="20577"/>
          <ac:spMkLst>
            <pc:docMk/>
            <pc:sldMk cId="4220952197" sldId="2145707125"/>
            <ac:spMk id="34" creationId="{FBBF68ED-958A-500C-1F9B-E1A2C157C306}"/>
          </ac:spMkLst>
        </pc:spChg>
        <pc:spChg chg="add mod">
          <ac:chgData name="Aasheesh Bansal" userId="a5f9c14d-7401-4c56-a728-843e7fb392f1" providerId="ADAL" clId="{3E38CEF9-1001-4E9E-BAB5-F119030ACDA0}" dt="2026-06-03T10:07:07.105" v="330" actId="20577"/>
          <ac:spMkLst>
            <pc:docMk/>
            <pc:sldMk cId="4220952197" sldId="2145707125"/>
            <ac:spMk id="35" creationId="{24D63808-6B76-497B-AC0B-FAA7844A61B4}"/>
          </ac:spMkLst>
        </pc:spChg>
      </pc:sldChg>
      <pc:sldChg chg="addSp delSp modSp add mod">
        <pc:chgData name="Aasheesh Bansal" userId="a5f9c14d-7401-4c56-a728-843e7fb392f1" providerId="ADAL" clId="{3E38CEF9-1001-4E9E-BAB5-F119030ACDA0}" dt="2026-06-03T10:08:01.916" v="342" actId="20577"/>
        <pc:sldMkLst>
          <pc:docMk/>
          <pc:sldMk cId="1990211103" sldId="2145707126"/>
        </pc:sldMkLst>
        <pc:spChg chg="del">
          <ac:chgData name="Aasheesh Bansal" userId="a5f9c14d-7401-4c56-a728-843e7fb392f1" providerId="ADAL" clId="{3E38CEF9-1001-4E9E-BAB5-F119030ACDA0}" dt="2026-06-03T10:05:55.628" v="314" actId="478"/>
          <ac:spMkLst>
            <pc:docMk/>
            <pc:sldMk cId="1990211103" sldId="2145707126"/>
            <ac:spMk id="2" creationId="{2EE9D6F6-A49B-3226-E9A4-E967B72A301C}"/>
          </ac:spMkLst>
        </pc:spChg>
        <pc:spChg chg="mod">
          <ac:chgData name="Aasheesh Bansal" userId="a5f9c14d-7401-4c56-a728-843e7fb392f1" providerId="ADAL" clId="{3E38CEF9-1001-4E9E-BAB5-F119030ACDA0}" dt="2026-06-03T10:08:01.916" v="342" actId="20577"/>
          <ac:spMkLst>
            <pc:docMk/>
            <pc:sldMk cId="1990211103" sldId="2145707126"/>
            <ac:spMk id="3" creationId="{DFD3E779-2244-E539-FCD5-0CEE73AFFC75}"/>
          </ac:spMkLst>
        </pc:spChg>
        <pc:spChg chg="add mod">
          <ac:chgData name="Aasheesh Bansal" userId="a5f9c14d-7401-4c56-a728-843e7fb392f1" providerId="ADAL" clId="{3E38CEF9-1001-4E9E-BAB5-F119030ACDA0}" dt="2026-06-03T10:06:30.161" v="315"/>
          <ac:spMkLst>
            <pc:docMk/>
            <pc:sldMk cId="1990211103" sldId="2145707126"/>
            <ac:spMk id="8" creationId="{B551C1B0-DCEB-C104-901A-16CF54AF62CD}"/>
          </ac:spMkLst>
        </pc:spChg>
        <pc:spChg chg="add mod">
          <ac:chgData name="Aasheesh Bansal" userId="a5f9c14d-7401-4c56-a728-843e7fb392f1" providerId="ADAL" clId="{3E38CEF9-1001-4E9E-BAB5-F119030ACDA0}" dt="2026-06-03T10:06:30.161" v="315"/>
          <ac:spMkLst>
            <pc:docMk/>
            <pc:sldMk cId="1990211103" sldId="2145707126"/>
            <ac:spMk id="9" creationId="{47D9E13D-F9D2-8B36-E5F0-7A67F895CFF5}"/>
          </ac:spMkLst>
        </pc:spChg>
        <pc:spChg chg="add mod">
          <ac:chgData name="Aasheesh Bansal" userId="a5f9c14d-7401-4c56-a728-843e7fb392f1" providerId="ADAL" clId="{3E38CEF9-1001-4E9E-BAB5-F119030ACDA0}" dt="2026-06-03T10:06:30.161" v="315"/>
          <ac:spMkLst>
            <pc:docMk/>
            <pc:sldMk cId="1990211103" sldId="2145707126"/>
            <ac:spMk id="12" creationId="{9484F27B-4060-E535-3545-C209A8606C40}"/>
          </ac:spMkLst>
        </pc:spChg>
        <pc:spChg chg="add mod">
          <ac:chgData name="Aasheesh Bansal" userId="a5f9c14d-7401-4c56-a728-843e7fb392f1" providerId="ADAL" clId="{3E38CEF9-1001-4E9E-BAB5-F119030ACDA0}" dt="2026-06-03T10:06:30.161" v="315"/>
          <ac:spMkLst>
            <pc:docMk/>
            <pc:sldMk cId="1990211103" sldId="2145707126"/>
            <ac:spMk id="14" creationId="{82FEE0A7-95E7-4E8A-9A16-430CFB3B66A9}"/>
          </ac:spMkLst>
        </pc:spChg>
        <pc:spChg chg="del">
          <ac:chgData name="Aasheesh Bansal" userId="a5f9c14d-7401-4c56-a728-843e7fb392f1" providerId="ADAL" clId="{3E38CEF9-1001-4E9E-BAB5-F119030ACDA0}" dt="2026-06-03T10:05:55.628" v="314" actId="478"/>
          <ac:spMkLst>
            <pc:docMk/>
            <pc:sldMk cId="1990211103" sldId="2145707126"/>
            <ac:spMk id="19" creationId="{EE81A3ED-E9C2-AC2C-D958-6C55B54D1005}"/>
          </ac:spMkLst>
        </pc:spChg>
        <pc:spChg chg="del">
          <ac:chgData name="Aasheesh Bansal" userId="a5f9c14d-7401-4c56-a728-843e7fb392f1" providerId="ADAL" clId="{3E38CEF9-1001-4E9E-BAB5-F119030ACDA0}" dt="2026-06-03T10:05:55.628" v="314" actId="478"/>
          <ac:spMkLst>
            <pc:docMk/>
            <pc:sldMk cId="1990211103" sldId="2145707126"/>
            <ac:spMk id="20" creationId="{E5E770FB-A9A3-1F7B-8EAD-428BFCA15DF3}"/>
          </ac:spMkLst>
        </pc:spChg>
        <pc:spChg chg="del">
          <ac:chgData name="Aasheesh Bansal" userId="a5f9c14d-7401-4c56-a728-843e7fb392f1" providerId="ADAL" clId="{3E38CEF9-1001-4E9E-BAB5-F119030ACDA0}" dt="2026-06-03T10:05:55.628" v="314" actId="478"/>
          <ac:spMkLst>
            <pc:docMk/>
            <pc:sldMk cId="1990211103" sldId="2145707126"/>
            <ac:spMk id="21" creationId="{7D6E713A-26BA-0BF9-5F7D-92D58264354F}"/>
          </ac:spMkLst>
        </pc:spChg>
        <pc:spChg chg="del">
          <ac:chgData name="Aasheesh Bansal" userId="a5f9c14d-7401-4c56-a728-843e7fb392f1" providerId="ADAL" clId="{3E38CEF9-1001-4E9E-BAB5-F119030ACDA0}" dt="2026-06-03T10:05:55.628" v="314" actId="478"/>
          <ac:spMkLst>
            <pc:docMk/>
            <pc:sldMk cId="1990211103" sldId="2145707126"/>
            <ac:spMk id="27" creationId="{00014F87-747C-7E76-D183-FC8363F6569D}"/>
          </ac:spMkLst>
        </pc:spChg>
        <pc:spChg chg="del">
          <ac:chgData name="Aasheesh Bansal" userId="a5f9c14d-7401-4c56-a728-843e7fb392f1" providerId="ADAL" clId="{3E38CEF9-1001-4E9E-BAB5-F119030ACDA0}" dt="2026-06-03T10:05:55.628" v="314" actId="478"/>
          <ac:spMkLst>
            <pc:docMk/>
            <pc:sldMk cId="1990211103" sldId="2145707126"/>
            <ac:spMk id="28" creationId="{17C34001-0A3F-622D-19B2-9E01ADC0CAD5}"/>
          </ac:spMkLst>
        </pc:spChg>
        <pc:spChg chg="del">
          <ac:chgData name="Aasheesh Bansal" userId="a5f9c14d-7401-4c56-a728-843e7fb392f1" providerId="ADAL" clId="{3E38CEF9-1001-4E9E-BAB5-F119030ACDA0}" dt="2026-06-03T10:05:55.628" v="314" actId="478"/>
          <ac:spMkLst>
            <pc:docMk/>
            <pc:sldMk cId="1990211103" sldId="2145707126"/>
            <ac:spMk id="30" creationId="{78609AB5-CAE7-B6E8-6343-871E48F2E088}"/>
          </ac:spMkLst>
        </pc:spChg>
        <pc:spChg chg="del">
          <ac:chgData name="Aasheesh Bansal" userId="a5f9c14d-7401-4c56-a728-843e7fb392f1" providerId="ADAL" clId="{3E38CEF9-1001-4E9E-BAB5-F119030ACDA0}" dt="2026-06-03T10:05:55.628" v="314" actId="478"/>
          <ac:spMkLst>
            <pc:docMk/>
            <pc:sldMk cId="1990211103" sldId="2145707126"/>
            <ac:spMk id="31" creationId="{4B732753-E4FF-6216-F491-970828038477}"/>
          </ac:spMkLst>
        </pc:spChg>
        <pc:spChg chg="del">
          <ac:chgData name="Aasheesh Bansal" userId="a5f9c14d-7401-4c56-a728-843e7fb392f1" providerId="ADAL" clId="{3E38CEF9-1001-4E9E-BAB5-F119030ACDA0}" dt="2026-06-03T10:05:55.628" v="314" actId="478"/>
          <ac:spMkLst>
            <pc:docMk/>
            <pc:sldMk cId="1990211103" sldId="2145707126"/>
            <ac:spMk id="32" creationId="{7FCAA150-74FC-1E38-18E1-D373D13C4331}"/>
          </ac:spMkLst>
        </pc:spChg>
        <pc:spChg chg="del">
          <ac:chgData name="Aasheesh Bansal" userId="a5f9c14d-7401-4c56-a728-843e7fb392f1" providerId="ADAL" clId="{3E38CEF9-1001-4E9E-BAB5-F119030ACDA0}" dt="2026-06-03T10:05:55.628" v="314" actId="478"/>
          <ac:spMkLst>
            <pc:docMk/>
            <pc:sldMk cId="1990211103" sldId="2145707126"/>
            <ac:spMk id="34" creationId="{6CD30388-B929-3874-33F7-B135B9A9F8FF}"/>
          </ac:spMkLst>
        </pc:spChg>
        <pc:spChg chg="add mod">
          <ac:chgData name="Aasheesh Bansal" userId="a5f9c14d-7401-4c56-a728-843e7fb392f1" providerId="ADAL" clId="{3E38CEF9-1001-4E9E-BAB5-F119030ACDA0}" dt="2026-06-03T10:06:30.161" v="315"/>
          <ac:spMkLst>
            <pc:docMk/>
            <pc:sldMk cId="1990211103" sldId="2145707126"/>
            <ac:spMk id="35" creationId="{D4D97323-D570-699B-EEFC-5DA9843BDF2B}"/>
          </ac:spMkLst>
        </pc:spChg>
        <pc:spChg chg="add mod">
          <ac:chgData name="Aasheesh Bansal" userId="a5f9c14d-7401-4c56-a728-843e7fb392f1" providerId="ADAL" clId="{3E38CEF9-1001-4E9E-BAB5-F119030ACDA0}" dt="2026-06-03T10:06:30.161" v="315"/>
          <ac:spMkLst>
            <pc:docMk/>
            <pc:sldMk cId="1990211103" sldId="2145707126"/>
            <ac:spMk id="37" creationId="{E60AB78F-B8DD-E05A-5365-2E88E5C8A779}"/>
          </ac:spMkLst>
        </pc:spChg>
        <pc:spChg chg="add mod">
          <ac:chgData name="Aasheesh Bansal" userId="a5f9c14d-7401-4c56-a728-843e7fb392f1" providerId="ADAL" clId="{3E38CEF9-1001-4E9E-BAB5-F119030ACDA0}" dt="2026-06-03T10:06:30.161" v="315"/>
          <ac:spMkLst>
            <pc:docMk/>
            <pc:sldMk cId="1990211103" sldId="2145707126"/>
            <ac:spMk id="40" creationId="{3D977F38-5594-624A-DA4F-7C2435883876}"/>
          </ac:spMkLst>
        </pc:spChg>
        <pc:spChg chg="add mod">
          <ac:chgData name="Aasheesh Bansal" userId="a5f9c14d-7401-4c56-a728-843e7fb392f1" providerId="ADAL" clId="{3E38CEF9-1001-4E9E-BAB5-F119030ACDA0}" dt="2026-06-03T10:06:30.161" v="315"/>
          <ac:spMkLst>
            <pc:docMk/>
            <pc:sldMk cId="1990211103" sldId="2145707126"/>
            <ac:spMk id="41" creationId="{665252D9-A6D5-16C3-FD60-207534F33A22}"/>
          </ac:spMkLst>
        </pc:spChg>
        <pc:spChg chg="add mod">
          <ac:chgData name="Aasheesh Bansal" userId="a5f9c14d-7401-4c56-a728-843e7fb392f1" providerId="ADAL" clId="{3E38CEF9-1001-4E9E-BAB5-F119030ACDA0}" dt="2026-06-03T10:06:30.161" v="315"/>
          <ac:spMkLst>
            <pc:docMk/>
            <pc:sldMk cId="1990211103" sldId="2145707126"/>
            <ac:spMk id="42" creationId="{377CA843-2E00-2FB2-31BB-ED3CD1539980}"/>
          </ac:spMkLst>
        </pc:spChg>
        <pc:spChg chg="add mod">
          <ac:chgData name="Aasheesh Bansal" userId="a5f9c14d-7401-4c56-a728-843e7fb392f1" providerId="ADAL" clId="{3E38CEF9-1001-4E9E-BAB5-F119030ACDA0}" dt="2026-06-03T10:06:30.161" v="315"/>
          <ac:spMkLst>
            <pc:docMk/>
            <pc:sldMk cId="1990211103" sldId="2145707126"/>
            <ac:spMk id="47" creationId="{B05407FE-1040-1752-1935-C0A58C89B0B7}"/>
          </ac:spMkLst>
        </pc:spChg>
        <pc:spChg chg="add mod">
          <ac:chgData name="Aasheesh Bansal" userId="a5f9c14d-7401-4c56-a728-843e7fb392f1" providerId="ADAL" clId="{3E38CEF9-1001-4E9E-BAB5-F119030ACDA0}" dt="2026-06-03T10:07:14.597" v="333" actId="20577"/>
          <ac:spMkLst>
            <pc:docMk/>
            <pc:sldMk cId="1990211103" sldId="2145707126"/>
            <ac:spMk id="48" creationId="{0E2C74EA-D27E-0ACE-C1F9-68BCA7ADD45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procdna-my.sharepoint.com/personal/tushar_verma_procdna_com/Documents/Cluster_Profiling_Sumarie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procdna-my.sharepoint.com/personal/tushar_verma_procdna_com/Documents/Cluster_Profiling_Sumaries.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_7FE4E443_9A1D7D7E.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254079254079249E-2"/>
          <c:y val="2.5531911782767112E-2"/>
          <c:w val="0.85547785547785549"/>
          <c:h val="0.89785606669700346"/>
        </c:manualLayout>
      </c:layout>
      <c:barChart>
        <c:barDir val="col"/>
        <c:grouping val="stacked"/>
        <c:varyColors val="0"/>
        <c:ser>
          <c:idx val="0"/>
          <c:order val="0"/>
          <c:tx>
            <c:strRef>
              <c:f>Sheet1!$B$1</c:f>
              <c:strCache>
                <c:ptCount val="1"/>
                <c:pt idx="0">
                  <c:v>NPPA w referral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Sheet1!$B$2:$B$3</c:f>
              <c:numCache>
                <c:formatCode>0%</c:formatCode>
                <c:ptCount val="2"/>
                <c:pt idx="0">
                  <c:v>0.06</c:v>
                </c:pt>
                <c:pt idx="1">
                  <c:v>0.05</c:v>
                </c:pt>
              </c:numCache>
            </c:numRef>
          </c:val>
          <c:extLst>
            <c:ext xmlns:c16="http://schemas.microsoft.com/office/drawing/2014/chart" uri="{C3380CC4-5D6E-409C-BE32-E72D297353CC}">
              <c16:uniqueId val="{00000000-4A5F-4ACA-A81D-60D2EB95EA02}"/>
            </c:ext>
          </c:extLst>
        </c:ser>
        <c:ser>
          <c:idx val="1"/>
          <c:order val="1"/>
          <c:tx>
            <c:strRef>
              <c:f>Sheet1!$C$1</c:f>
              <c:strCache>
                <c:ptCount val="1"/>
                <c:pt idx="0">
                  <c:v>NPPA w/o referral</c:v>
                </c:pt>
              </c:strCache>
            </c:strRef>
          </c:tx>
          <c:spPr>
            <a:pattFill prst="pct20">
              <a:fgClr>
                <a:schemeClr val="accent2"/>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Sheet1!$C$2:$C$3</c:f>
              <c:numCache>
                <c:formatCode>0%</c:formatCode>
                <c:ptCount val="2"/>
                <c:pt idx="0">
                  <c:v>0.02</c:v>
                </c:pt>
                <c:pt idx="1">
                  <c:v>0.03</c:v>
                </c:pt>
              </c:numCache>
            </c:numRef>
          </c:val>
          <c:extLst>
            <c:ext xmlns:c16="http://schemas.microsoft.com/office/drawing/2014/chart" uri="{C3380CC4-5D6E-409C-BE32-E72D297353CC}">
              <c16:uniqueId val="{00000001-4A5F-4ACA-A81D-60D2EB95EA02}"/>
            </c:ext>
          </c:extLst>
        </c:ser>
        <c:ser>
          <c:idx val="2"/>
          <c:order val="2"/>
          <c:tx>
            <c:strRef>
              <c:f>Sheet1!$D$1</c:f>
              <c:strCache>
                <c:ptCount val="1"/>
                <c:pt idx="0">
                  <c:v>X0</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Sheet1!$D$2:$D$3</c:f>
              <c:numCache>
                <c:formatCode>0%</c:formatCode>
                <c:ptCount val="2"/>
                <c:pt idx="0">
                  <c:v>0.05</c:v>
                </c:pt>
                <c:pt idx="1">
                  <c:v>0.05</c:v>
                </c:pt>
              </c:numCache>
            </c:numRef>
          </c:val>
          <c:extLst>
            <c:ext xmlns:c16="http://schemas.microsoft.com/office/drawing/2014/chart" uri="{C3380CC4-5D6E-409C-BE32-E72D297353CC}">
              <c16:uniqueId val="{00000002-4A5F-4ACA-A81D-60D2EB95EA02}"/>
            </c:ext>
          </c:extLst>
        </c:ser>
        <c:ser>
          <c:idx val="3"/>
          <c:order val="3"/>
          <c:tx>
            <c:strRef>
              <c:f>Sheet1!$E$1</c:f>
              <c:strCache>
                <c:ptCount val="1"/>
                <c:pt idx="0">
                  <c:v>Other w referral2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Sheet1!$E$2:$E$3</c:f>
              <c:numCache>
                <c:formatCode>0%</c:formatCode>
                <c:ptCount val="2"/>
                <c:pt idx="0">
                  <c:v>7.0000000000000007E-2</c:v>
                </c:pt>
                <c:pt idx="1">
                  <c:v>0.06</c:v>
                </c:pt>
              </c:numCache>
            </c:numRef>
          </c:val>
          <c:extLst>
            <c:ext xmlns:c16="http://schemas.microsoft.com/office/drawing/2014/chart" uri="{C3380CC4-5D6E-409C-BE32-E72D297353CC}">
              <c16:uniqueId val="{00000003-4A5F-4ACA-A81D-60D2EB95EA02}"/>
            </c:ext>
          </c:extLst>
        </c:ser>
        <c:ser>
          <c:idx val="4"/>
          <c:order val="4"/>
          <c:tx>
            <c:strRef>
              <c:f>Sheet1!$F$1</c:f>
              <c:strCache>
                <c:ptCount val="1"/>
                <c:pt idx="0">
                  <c:v>Other w/o referral2</c:v>
                </c:pt>
              </c:strCache>
            </c:strRef>
          </c:tx>
          <c:spPr>
            <a:pattFill prst="pct20">
              <a:fgClr>
                <a:schemeClr val="accent3"/>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Sheet1!$F$2:$F$3</c:f>
              <c:numCache>
                <c:formatCode>0%</c:formatCode>
                <c:ptCount val="2"/>
                <c:pt idx="0">
                  <c:v>0.03</c:v>
                </c:pt>
                <c:pt idx="1">
                  <c:v>0.03</c:v>
                </c:pt>
              </c:numCache>
            </c:numRef>
          </c:val>
          <c:extLst>
            <c:ext xmlns:c16="http://schemas.microsoft.com/office/drawing/2014/chart" uri="{C3380CC4-5D6E-409C-BE32-E72D297353CC}">
              <c16:uniqueId val="{00000004-4A5F-4ACA-A81D-60D2EB95EA02}"/>
            </c:ext>
          </c:extLst>
        </c:ser>
        <c:ser>
          <c:idx val="5"/>
          <c:order val="5"/>
          <c:tx>
            <c:strRef>
              <c:f>Sheet1!$G$1</c:f>
              <c:strCache>
                <c:ptCount val="1"/>
                <c:pt idx="0">
                  <c:v>X1</c:v>
                </c:pt>
              </c:strCache>
            </c:strRef>
          </c:tx>
          <c:spPr>
            <a:solidFill>
              <a:schemeClr val="accent6"/>
            </a:solidFill>
            <a:ln>
              <a:noFill/>
            </a:ln>
            <a:effectLst/>
          </c:spPr>
          <c:invertIfNegative val="0"/>
          <c:dLbls>
            <c:delete val="1"/>
          </c:dLbls>
          <c:cat>
            <c:strRef>
              <c:f>Sheet1!$A$2:$A$3</c:f>
              <c:strCache>
                <c:ptCount val="2"/>
                <c:pt idx="0">
                  <c:v>Pre- Diagnosis</c:v>
                </c:pt>
                <c:pt idx="1">
                  <c:v>Post Diagnosis</c:v>
                </c:pt>
              </c:strCache>
            </c:strRef>
          </c:cat>
          <c:val>
            <c:numRef>
              <c:f>Sheet1!$G$2:$G$3</c:f>
              <c:numCache>
                <c:formatCode>0%</c:formatCode>
                <c:ptCount val="2"/>
                <c:pt idx="0">
                  <c:v>0.05</c:v>
                </c:pt>
                <c:pt idx="1">
                  <c:v>0.05</c:v>
                </c:pt>
              </c:numCache>
            </c:numRef>
          </c:val>
          <c:extLst>
            <c:ext xmlns:c16="http://schemas.microsoft.com/office/drawing/2014/chart" uri="{C3380CC4-5D6E-409C-BE32-E72D297353CC}">
              <c16:uniqueId val="{00000005-4A5F-4ACA-A81D-60D2EB95EA02}"/>
            </c:ext>
          </c:extLst>
        </c:ser>
        <c:ser>
          <c:idx val="6"/>
          <c:order val="6"/>
          <c:tx>
            <c:strRef>
              <c:f>Sheet1!$H$1</c:f>
              <c:strCache>
                <c:ptCount val="1"/>
                <c:pt idx="0">
                  <c:v>Pulmonologist w referral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Sheet1!$H$2:$H$3</c:f>
              <c:numCache>
                <c:formatCode>0%</c:formatCode>
                <c:ptCount val="2"/>
                <c:pt idx="0">
                  <c:v>0.1</c:v>
                </c:pt>
                <c:pt idx="1">
                  <c:v>0.06</c:v>
                </c:pt>
              </c:numCache>
            </c:numRef>
          </c:val>
          <c:extLst>
            <c:ext xmlns:c16="http://schemas.microsoft.com/office/drawing/2014/chart" uri="{C3380CC4-5D6E-409C-BE32-E72D297353CC}">
              <c16:uniqueId val="{00000006-4A5F-4ACA-A81D-60D2EB95EA02}"/>
            </c:ext>
          </c:extLst>
        </c:ser>
        <c:ser>
          <c:idx val="7"/>
          <c:order val="7"/>
          <c:tx>
            <c:strRef>
              <c:f>Sheet1!$I$1</c:f>
              <c:strCache>
                <c:ptCount val="1"/>
                <c:pt idx="0">
                  <c:v>Pulmonologist w/o referral</c:v>
                </c:pt>
              </c:strCache>
            </c:strRef>
          </c:tx>
          <c:spPr>
            <a:pattFill prst="pct20">
              <a:fgClr>
                <a:schemeClr val="accent5">
                  <a:lumMod val="50000"/>
                </a:schemeClr>
              </a:fgClr>
              <a:bgClr>
                <a:schemeClr val="bg1"/>
              </a:bgClr>
            </a:pattFill>
            <a:ln>
              <a:noFill/>
            </a:ln>
            <a:effectLst/>
          </c:spPr>
          <c:invertIfNegative val="0"/>
          <c:dLbls>
            <c:dLbl>
              <c:idx val="0"/>
              <c:layout>
                <c:manualLayout>
                  <c:x val="-0.10100969931719035"/>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D4-4C88-848E-583BCD76902D}"/>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Sheet1!$I$2:$I$3</c:f>
              <c:numCache>
                <c:formatCode>0%</c:formatCode>
                <c:ptCount val="2"/>
                <c:pt idx="0">
                  <c:v>0.01</c:v>
                </c:pt>
                <c:pt idx="1">
                  <c:v>0.05</c:v>
                </c:pt>
              </c:numCache>
            </c:numRef>
          </c:val>
          <c:extLst>
            <c:ext xmlns:c16="http://schemas.microsoft.com/office/drawing/2014/chart" uri="{C3380CC4-5D6E-409C-BE32-E72D297353CC}">
              <c16:uniqueId val="{00000007-4A5F-4ACA-A81D-60D2EB95EA02}"/>
            </c:ext>
          </c:extLst>
        </c:ser>
        <c:ser>
          <c:idx val="8"/>
          <c:order val="8"/>
          <c:tx>
            <c:strRef>
              <c:f>Sheet1!$J$1</c:f>
              <c:strCache>
                <c:ptCount val="1"/>
                <c:pt idx="0">
                  <c:v>X2</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Sheet1!$J$2:$J$3</c:f>
              <c:numCache>
                <c:formatCode>0%</c:formatCode>
                <c:ptCount val="2"/>
                <c:pt idx="0">
                  <c:v>0.05</c:v>
                </c:pt>
                <c:pt idx="1">
                  <c:v>0.05</c:v>
                </c:pt>
              </c:numCache>
            </c:numRef>
          </c:val>
          <c:extLst>
            <c:ext xmlns:c16="http://schemas.microsoft.com/office/drawing/2014/chart" uri="{C3380CC4-5D6E-409C-BE32-E72D297353CC}">
              <c16:uniqueId val="{00000008-4A5F-4ACA-A81D-60D2EB95EA02}"/>
            </c:ext>
          </c:extLst>
        </c:ser>
        <c:ser>
          <c:idx val="9"/>
          <c:order val="9"/>
          <c:tx>
            <c:strRef>
              <c:f>Sheet1!$K$1</c:f>
              <c:strCache>
                <c:ptCount val="1"/>
                <c:pt idx="0">
                  <c:v>Neuro/Psych w referral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Sheet1!$K$2:$K$3</c:f>
              <c:numCache>
                <c:formatCode>0%</c:formatCode>
                <c:ptCount val="2"/>
                <c:pt idx="0">
                  <c:v>0.11</c:v>
                </c:pt>
                <c:pt idx="1">
                  <c:v>7.0000000000000007E-2</c:v>
                </c:pt>
              </c:numCache>
            </c:numRef>
          </c:val>
          <c:extLst>
            <c:ext xmlns:c16="http://schemas.microsoft.com/office/drawing/2014/chart" uri="{C3380CC4-5D6E-409C-BE32-E72D297353CC}">
              <c16:uniqueId val="{00000009-4A5F-4ACA-A81D-60D2EB95EA02}"/>
            </c:ext>
          </c:extLst>
        </c:ser>
        <c:ser>
          <c:idx val="10"/>
          <c:order val="10"/>
          <c:tx>
            <c:strRef>
              <c:f>Sheet1!$L$1</c:f>
              <c:strCache>
                <c:ptCount val="1"/>
                <c:pt idx="0">
                  <c:v>Neuro/Psych w/o referral</c:v>
                </c:pt>
              </c:strCache>
            </c:strRef>
          </c:tx>
          <c:spPr>
            <a:pattFill prst="pct20">
              <a:fgClr>
                <a:schemeClr val="tx1">
                  <a:lumMod val="5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Sheet1!$L$2:$L$3</c:f>
              <c:numCache>
                <c:formatCode>0%</c:formatCode>
                <c:ptCount val="2"/>
                <c:pt idx="0">
                  <c:v>0.02</c:v>
                </c:pt>
                <c:pt idx="1">
                  <c:v>0.06</c:v>
                </c:pt>
              </c:numCache>
            </c:numRef>
          </c:val>
          <c:extLst>
            <c:ext xmlns:c16="http://schemas.microsoft.com/office/drawing/2014/chart" uri="{C3380CC4-5D6E-409C-BE32-E72D297353CC}">
              <c16:uniqueId val="{0000000A-4A5F-4ACA-A81D-60D2EB95EA02}"/>
            </c:ext>
          </c:extLst>
        </c:ser>
        <c:ser>
          <c:idx val="11"/>
          <c:order val="11"/>
          <c:tx>
            <c:strRef>
              <c:f>Sheet1!$M$1</c:f>
              <c:strCache>
                <c:ptCount val="1"/>
                <c:pt idx="0">
                  <c:v>X3</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Sheet1!$M$2:$M$3</c:f>
              <c:numCache>
                <c:formatCode>0%</c:formatCode>
                <c:ptCount val="2"/>
                <c:pt idx="0">
                  <c:v>0.1</c:v>
                </c:pt>
                <c:pt idx="1">
                  <c:v>0.1</c:v>
                </c:pt>
              </c:numCache>
            </c:numRef>
          </c:val>
          <c:extLst>
            <c:ext xmlns:c16="http://schemas.microsoft.com/office/drawing/2014/chart" uri="{C3380CC4-5D6E-409C-BE32-E72D297353CC}">
              <c16:uniqueId val="{0000000B-4A5F-4ACA-A81D-60D2EB95EA02}"/>
            </c:ext>
          </c:extLst>
        </c:ser>
        <c:ser>
          <c:idx val="12"/>
          <c:order val="12"/>
          <c:tx>
            <c:strRef>
              <c:f>Sheet1!$N$1</c:f>
              <c:strCache>
                <c:ptCount val="1"/>
                <c:pt idx="0">
                  <c:v>Sleep Specilaists w referral</c:v>
                </c:pt>
              </c:strCache>
            </c:strRef>
          </c:tx>
          <c:spPr>
            <a:solidFill>
              <a:schemeClr val="accent1">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Sheet1!$N$2:$N$3</c:f>
              <c:numCache>
                <c:formatCode>0%</c:formatCode>
                <c:ptCount val="2"/>
                <c:pt idx="0">
                  <c:v>0.18</c:v>
                </c:pt>
                <c:pt idx="1">
                  <c:v>0.1</c:v>
                </c:pt>
              </c:numCache>
            </c:numRef>
          </c:val>
          <c:extLst>
            <c:ext xmlns:c16="http://schemas.microsoft.com/office/drawing/2014/chart" uri="{C3380CC4-5D6E-409C-BE32-E72D297353CC}">
              <c16:uniqueId val="{0000000C-4A5F-4ACA-A81D-60D2EB95EA02}"/>
            </c:ext>
          </c:extLst>
        </c:ser>
        <c:ser>
          <c:idx val="13"/>
          <c:order val="13"/>
          <c:tx>
            <c:strRef>
              <c:f>Sheet1!$O$1</c:f>
              <c:strCache>
                <c:ptCount val="1"/>
                <c:pt idx="0">
                  <c:v>Sleep Specilaists w/o referral</c:v>
                </c:pt>
              </c:strCache>
            </c:strRef>
          </c:tx>
          <c:spPr>
            <a:pattFill prst="pct20">
              <a:fgClr>
                <a:schemeClr val="accent2">
                  <a:lumMod val="40000"/>
                  <a:lumOff val="6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Sheet1!$O$2:$O$3</c:f>
              <c:numCache>
                <c:formatCode>0%</c:formatCode>
                <c:ptCount val="2"/>
                <c:pt idx="0">
                  <c:v>0.02</c:v>
                </c:pt>
                <c:pt idx="1">
                  <c:v>0.1</c:v>
                </c:pt>
              </c:numCache>
            </c:numRef>
          </c:val>
          <c:extLst>
            <c:ext xmlns:c16="http://schemas.microsoft.com/office/drawing/2014/chart" uri="{C3380CC4-5D6E-409C-BE32-E72D297353CC}">
              <c16:uniqueId val="{0000000D-4A5F-4ACA-A81D-60D2EB95EA02}"/>
            </c:ext>
          </c:extLst>
        </c:ser>
        <c:ser>
          <c:idx val="14"/>
          <c:order val="14"/>
          <c:tx>
            <c:strRef>
              <c:f>Sheet1!$P$1</c:f>
              <c:strCache>
                <c:ptCount val="1"/>
                <c:pt idx="0">
                  <c:v>X4</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Sheet1!$P$2:$P$3</c:f>
              <c:numCache>
                <c:formatCode>0%</c:formatCode>
                <c:ptCount val="2"/>
                <c:pt idx="0">
                  <c:v>0.1</c:v>
                </c:pt>
                <c:pt idx="1">
                  <c:v>0.1</c:v>
                </c:pt>
              </c:numCache>
            </c:numRef>
          </c:val>
          <c:extLst>
            <c:ext xmlns:c16="http://schemas.microsoft.com/office/drawing/2014/chart" uri="{C3380CC4-5D6E-409C-BE32-E72D297353CC}">
              <c16:uniqueId val="{0000000E-4A5F-4ACA-A81D-60D2EB95EA02}"/>
            </c:ext>
          </c:extLst>
        </c:ser>
        <c:ser>
          <c:idx val="15"/>
          <c:order val="15"/>
          <c:tx>
            <c:strRef>
              <c:f>Sheet1!$Q$1</c:f>
              <c:strCache>
                <c:ptCount val="1"/>
                <c:pt idx="0">
                  <c:v>PCP w referral</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Sheet1!$Q$2:$Q$3</c:f>
              <c:numCache>
                <c:formatCode>0%</c:formatCode>
                <c:ptCount val="2"/>
                <c:pt idx="0">
                  <c:v>0.28000000000000003</c:v>
                </c:pt>
                <c:pt idx="1">
                  <c:v>0.24</c:v>
                </c:pt>
              </c:numCache>
            </c:numRef>
          </c:val>
          <c:extLst>
            <c:ext xmlns:c16="http://schemas.microsoft.com/office/drawing/2014/chart" uri="{C3380CC4-5D6E-409C-BE32-E72D297353CC}">
              <c16:uniqueId val="{0000000F-4A5F-4ACA-A81D-60D2EB95EA02}"/>
            </c:ext>
          </c:extLst>
        </c:ser>
        <c:ser>
          <c:idx val="16"/>
          <c:order val="16"/>
          <c:tx>
            <c:strRef>
              <c:f>Sheet1!$R$1</c:f>
              <c:strCache>
                <c:ptCount val="1"/>
                <c:pt idx="0">
                  <c:v>PCP w/o referral</c:v>
                </c:pt>
              </c:strCache>
            </c:strRef>
          </c:tx>
          <c:spPr>
            <a:pattFill prst="pct20">
              <a:fgClr>
                <a:srgbClr val="7030A0"/>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Sheet1!$R$2:$R$3</c:f>
              <c:numCache>
                <c:formatCode>0%</c:formatCode>
                <c:ptCount val="2"/>
                <c:pt idx="0">
                  <c:v>0.09</c:v>
                </c:pt>
                <c:pt idx="1">
                  <c:v>0.13</c:v>
                </c:pt>
              </c:numCache>
            </c:numRef>
          </c:val>
          <c:extLst>
            <c:ext xmlns:c16="http://schemas.microsoft.com/office/drawing/2014/chart" uri="{C3380CC4-5D6E-409C-BE32-E72D297353CC}">
              <c16:uniqueId val="{00000010-4A5F-4ACA-A81D-60D2EB95EA02}"/>
            </c:ext>
          </c:extLst>
        </c:ser>
        <c:dLbls>
          <c:dLblPos val="ctr"/>
          <c:showLegendKey val="0"/>
          <c:showVal val="1"/>
          <c:showCatName val="0"/>
          <c:showSerName val="0"/>
          <c:showPercent val="0"/>
          <c:showBubbleSize val="0"/>
        </c:dLbls>
        <c:gapWidth val="30"/>
        <c:overlap val="100"/>
        <c:axId val="1330499455"/>
        <c:axId val="1330496095"/>
      </c:barChart>
      <c:catAx>
        <c:axId val="133049945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50000"/>
                  </a:schemeClr>
                </a:solidFill>
                <a:latin typeface="+mn-lt"/>
                <a:ea typeface="+mn-ea"/>
                <a:cs typeface="+mn-cs"/>
              </a:defRPr>
            </a:pPr>
            <a:endParaRPr lang="en-US"/>
          </a:p>
        </c:txPr>
        <c:crossAx val="1330496095"/>
        <c:crosses val="autoZero"/>
        <c:auto val="1"/>
        <c:lblAlgn val="ctr"/>
        <c:lblOffset val="100"/>
        <c:noMultiLvlLbl val="0"/>
      </c:catAx>
      <c:valAx>
        <c:axId val="1330496095"/>
        <c:scaling>
          <c:orientation val="minMax"/>
          <c:max val="1.4"/>
        </c:scaling>
        <c:delete val="1"/>
        <c:axPos val="l"/>
        <c:numFmt formatCode="0%" sourceLinked="1"/>
        <c:majorTickMark val="out"/>
        <c:minorTickMark val="none"/>
        <c:tickLblPos val="nextTo"/>
        <c:crossAx val="13304994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254079254079249E-2"/>
          <c:y val="2.5531911782767112E-2"/>
          <c:w val="0.85547785547785549"/>
          <c:h val="0.89785606669700346"/>
        </c:manualLayout>
      </c:layout>
      <c:barChart>
        <c:barDir val="col"/>
        <c:grouping val="stacked"/>
        <c:varyColors val="0"/>
        <c:ser>
          <c:idx val="0"/>
          <c:order val="0"/>
          <c:tx>
            <c:strRef>
              <c:f>Sheet1!$B$1</c:f>
              <c:strCache>
                <c:ptCount val="1"/>
                <c:pt idx="0">
                  <c:v>NPPA w referral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Sheet1!$B$2:$B$3</c:f>
              <c:numCache>
                <c:formatCode>0%</c:formatCode>
                <c:ptCount val="2"/>
                <c:pt idx="0">
                  <c:v>0.06</c:v>
                </c:pt>
                <c:pt idx="1">
                  <c:v>0.05</c:v>
                </c:pt>
              </c:numCache>
            </c:numRef>
          </c:val>
          <c:extLst>
            <c:ext xmlns:c16="http://schemas.microsoft.com/office/drawing/2014/chart" uri="{C3380CC4-5D6E-409C-BE32-E72D297353CC}">
              <c16:uniqueId val="{00000000-4A5F-4ACA-A81D-60D2EB95EA02}"/>
            </c:ext>
          </c:extLst>
        </c:ser>
        <c:ser>
          <c:idx val="1"/>
          <c:order val="1"/>
          <c:tx>
            <c:strRef>
              <c:f>Sheet1!$C$1</c:f>
              <c:strCache>
                <c:ptCount val="1"/>
                <c:pt idx="0">
                  <c:v>NPPA w/o referral</c:v>
                </c:pt>
              </c:strCache>
            </c:strRef>
          </c:tx>
          <c:spPr>
            <a:pattFill prst="pct20">
              <a:fgClr>
                <a:schemeClr val="accent2"/>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Sheet1!$C$2:$C$3</c:f>
              <c:numCache>
                <c:formatCode>0%</c:formatCode>
                <c:ptCount val="2"/>
                <c:pt idx="0">
                  <c:v>0.02</c:v>
                </c:pt>
                <c:pt idx="1">
                  <c:v>0.03</c:v>
                </c:pt>
              </c:numCache>
            </c:numRef>
          </c:val>
          <c:extLst>
            <c:ext xmlns:c16="http://schemas.microsoft.com/office/drawing/2014/chart" uri="{C3380CC4-5D6E-409C-BE32-E72D297353CC}">
              <c16:uniqueId val="{00000001-4A5F-4ACA-A81D-60D2EB95EA02}"/>
            </c:ext>
          </c:extLst>
        </c:ser>
        <c:ser>
          <c:idx val="2"/>
          <c:order val="2"/>
          <c:tx>
            <c:strRef>
              <c:f>Sheet1!$D$1</c:f>
              <c:strCache>
                <c:ptCount val="1"/>
                <c:pt idx="0">
                  <c:v>X0</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Sheet1!$D$2:$D$3</c:f>
              <c:numCache>
                <c:formatCode>0%</c:formatCode>
                <c:ptCount val="2"/>
                <c:pt idx="0">
                  <c:v>0.05</c:v>
                </c:pt>
                <c:pt idx="1">
                  <c:v>0.05</c:v>
                </c:pt>
              </c:numCache>
            </c:numRef>
          </c:val>
          <c:extLst>
            <c:ext xmlns:c16="http://schemas.microsoft.com/office/drawing/2014/chart" uri="{C3380CC4-5D6E-409C-BE32-E72D297353CC}">
              <c16:uniqueId val="{00000002-4A5F-4ACA-A81D-60D2EB95EA02}"/>
            </c:ext>
          </c:extLst>
        </c:ser>
        <c:ser>
          <c:idx val="3"/>
          <c:order val="3"/>
          <c:tx>
            <c:strRef>
              <c:f>Sheet1!$E$1</c:f>
              <c:strCache>
                <c:ptCount val="1"/>
                <c:pt idx="0">
                  <c:v>Other w referral2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Sheet1!$E$2:$E$3</c:f>
              <c:numCache>
                <c:formatCode>0%</c:formatCode>
                <c:ptCount val="2"/>
                <c:pt idx="0">
                  <c:v>7.0000000000000007E-2</c:v>
                </c:pt>
                <c:pt idx="1">
                  <c:v>0.06</c:v>
                </c:pt>
              </c:numCache>
            </c:numRef>
          </c:val>
          <c:extLst>
            <c:ext xmlns:c16="http://schemas.microsoft.com/office/drawing/2014/chart" uri="{C3380CC4-5D6E-409C-BE32-E72D297353CC}">
              <c16:uniqueId val="{00000003-4A5F-4ACA-A81D-60D2EB95EA02}"/>
            </c:ext>
          </c:extLst>
        </c:ser>
        <c:ser>
          <c:idx val="4"/>
          <c:order val="4"/>
          <c:tx>
            <c:strRef>
              <c:f>Sheet1!$F$1</c:f>
              <c:strCache>
                <c:ptCount val="1"/>
                <c:pt idx="0">
                  <c:v>Other w/o referral2</c:v>
                </c:pt>
              </c:strCache>
            </c:strRef>
          </c:tx>
          <c:spPr>
            <a:pattFill prst="pct20">
              <a:fgClr>
                <a:schemeClr val="accent3"/>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Sheet1!$F$2:$F$3</c:f>
              <c:numCache>
                <c:formatCode>0%</c:formatCode>
                <c:ptCount val="2"/>
                <c:pt idx="0">
                  <c:v>0.03</c:v>
                </c:pt>
                <c:pt idx="1">
                  <c:v>0.03</c:v>
                </c:pt>
              </c:numCache>
            </c:numRef>
          </c:val>
          <c:extLst>
            <c:ext xmlns:c16="http://schemas.microsoft.com/office/drawing/2014/chart" uri="{C3380CC4-5D6E-409C-BE32-E72D297353CC}">
              <c16:uniqueId val="{00000004-4A5F-4ACA-A81D-60D2EB95EA02}"/>
            </c:ext>
          </c:extLst>
        </c:ser>
        <c:ser>
          <c:idx val="5"/>
          <c:order val="5"/>
          <c:tx>
            <c:strRef>
              <c:f>Sheet1!$G$1</c:f>
              <c:strCache>
                <c:ptCount val="1"/>
                <c:pt idx="0">
                  <c:v>X1</c:v>
                </c:pt>
              </c:strCache>
            </c:strRef>
          </c:tx>
          <c:spPr>
            <a:solidFill>
              <a:schemeClr val="accent6"/>
            </a:solidFill>
            <a:ln>
              <a:noFill/>
            </a:ln>
            <a:effectLst/>
          </c:spPr>
          <c:invertIfNegative val="0"/>
          <c:dLbls>
            <c:delete val="1"/>
          </c:dLbls>
          <c:cat>
            <c:strRef>
              <c:f>Sheet1!$A$2:$A$3</c:f>
              <c:strCache>
                <c:ptCount val="2"/>
                <c:pt idx="0">
                  <c:v>Pre- Diagnosis</c:v>
                </c:pt>
                <c:pt idx="1">
                  <c:v>Post Diagnosis</c:v>
                </c:pt>
              </c:strCache>
            </c:strRef>
          </c:cat>
          <c:val>
            <c:numRef>
              <c:f>Sheet1!$G$2:$G$3</c:f>
              <c:numCache>
                <c:formatCode>0%</c:formatCode>
                <c:ptCount val="2"/>
                <c:pt idx="0">
                  <c:v>0.05</c:v>
                </c:pt>
                <c:pt idx="1">
                  <c:v>0.05</c:v>
                </c:pt>
              </c:numCache>
            </c:numRef>
          </c:val>
          <c:extLst>
            <c:ext xmlns:c16="http://schemas.microsoft.com/office/drawing/2014/chart" uri="{C3380CC4-5D6E-409C-BE32-E72D297353CC}">
              <c16:uniqueId val="{00000005-4A5F-4ACA-A81D-60D2EB95EA02}"/>
            </c:ext>
          </c:extLst>
        </c:ser>
        <c:ser>
          <c:idx val="6"/>
          <c:order val="6"/>
          <c:tx>
            <c:strRef>
              <c:f>Sheet1!$H$1</c:f>
              <c:strCache>
                <c:ptCount val="1"/>
                <c:pt idx="0">
                  <c:v>Pulmonologist w referral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Sheet1!$H$2:$H$3</c:f>
              <c:numCache>
                <c:formatCode>0%</c:formatCode>
                <c:ptCount val="2"/>
                <c:pt idx="0">
                  <c:v>0.1</c:v>
                </c:pt>
                <c:pt idx="1">
                  <c:v>0.06</c:v>
                </c:pt>
              </c:numCache>
            </c:numRef>
          </c:val>
          <c:extLst>
            <c:ext xmlns:c16="http://schemas.microsoft.com/office/drawing/2014/chart" uri="{C3380CC4-5D6E-409C-BE32-E72D297353CC}">
              <c16:uniqueId val="{00000006-4A5F-4ACA-A81D-60D2EB95EA02}"/>
            </c:ext>
          </c:extLst>
        </c:ser>
        <c:ser>
          <c:idx val="7"/>
          <c:order val="7"/>
          <c:tx>
            <c:strRef>
              <c:f>Sheet1!$I$1</c:f>
              <c:strCache>
                <c:ptCount val="1"/>
                <c:pt idx="0">
                  <c:v>Pulmonologist w/o referral</c:v>
                </c:pt>
              </c:strCache>
            </c:strRef>
          </c:tx>
          <c:spPr>
            <a:pattFill prst="pct20">
              <a:fgClr>
                <a:schemeClr val="accent5">
                  <a:lumMod val="50000"/>
                </a:schemeClr>
              </a:fgClr>
              <a:bgClr>
                <a:schemeClr val="bg1"/>
              </a:bgClr>
            </a:pattFill>
            <a:ln>
              <a:noFill/>
            </a:ln>
            <a:effectLst/>
          </c:spPr>
          <c:invertIfNegative val="0"/>
          <c:dLbls>
            <c:dLbl>
              <c:idx val="0"/>
              <c:layout>
                <c:manualLayout>
                  <c:x val="-0.10100969931719035"/>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D4-4C88-848E-583BCD76902D}"/>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Sheet1!$I$2:$I$3</c:f>
              <c:numCache>
                <c:formatCode>0%</c:formatCode>
                <c:ptCount val="2"/>
                <c:pt idx="0">
                  <c:v>0.01</c:v>
                </c:pt>
                <c:pt idx="1">
                  <c:v>0.05</c:v>
                </c:pt>
              </c:numCache>
            </c:numRef>
          </c:val>
          <c:extLst>
            <c:ext xmlns:c16="http://schemas.microsoft.com/office/drawing/2014/chart" uri="{C3380CC4-5D6E-409C-BE32-E72D297353CC}">
              <c16:uniqueId val="{00000007-4A5F-4ACA-A81D-60D2EB95EA02}"/>
            </c:ext>
          </c:extLst>
        </c:ser>
        <c:ser>
          <c:idx val="8"/>
          <c:order val="8"/>
          <c:tx>
            <c:strRef>
              <c:f>Sheet1!$J$1</c:f>
              <c:strCache>
                <c:ptCount val="1"/>
                <c:pt idx="0">
                  <c:v>X2</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Sheet1!$J$2:$J$3</c:f>
              <c:numCache>
                <c:formatCode>0%</c:formatCode>
                <c:ptCount val="2"/>
                <c:pt idx="0">
                  <c:v>0.05</c:v>
                </c:pt>
                <c:pt idx="1">
                  <c:v>0.05</c:v>
                </c:pt>
              </c:numCache>
            </c:numRef>
          </c:val>
          <c:extLst>
            <c:ext xmlns:c16="http://schemas.microsoft.com/office/drawing/2014/chart" uri="{C3380CC4-5D6E-409C-BE32-E72D297353CC}">
              <c16:uniqueId val="{00000008-4A5F-4ACA-A81D-60D2EB95EA02}"/>
            </c:ext>
          </c:extLst>
        </c:ser>
        <c:ser>
          <c:idx val="9"/>
          <c:order val="9"/>
          <c:tx>
            <c:strRef>
              <c:f>Sheet1!$K$1</c:f>
              <c:strCache>
                <c:ptCount val="1"/>
                <c:pt idx="0">
                  <c:v>Neuro/Psych w referral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Sheet1!$K$2:$K$3</c:f>
              <c:numCache>
                <c:formatCode>0%</c:formatCode>
                <c:ptCount val="2"/>
                <c:pt idx="0">
                  <c:v>0.11</c:v>
                </c:pt>
                <c:pt idx="1">
                  <c:v>7.0000000000000007E-2</c:v>
                </c:pt>
              </c:numCache>
            </c:numRef>
          </c:val>
          <c:extLst>
            <c:ext xmlns:c16="http://schemas.microsoft.com/office/drawing/2014/chart" uri="{C3380CC4-5D6E-409C-BE32-E72D297353CC}">
              <c16:uniqueId val="{00000009-4A5F-4ACA-A81D-60D2EB95EA02}"/>
            </c:ext>
          </c:extLst>
        </c:ser>
        <c:ser>
          <c:idx val="10"/>
          <c:order val="10"/>
          <c:tx>
            <c:strRef>
              <c:f>Sheet1!$L$1</c:f>
              <c:strCache>
                <c:ptCount val="1"/>
                <c:pt idx="0">
                  <c:v>Neuro/Psych w/o referral</c:v>
                </c:pt>
              </c:strCache>
            </c:strRef>
          </c:tx>
          <c:spPr>
            <a:pattFill prst="pct20">
              <a:fgClr>
                <a:schemeClr val="tx1">
                  <a:lumMod val="5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Sheet1!$L$2:$L$3</c:f>
              <c:numCache>
                <c:formatCode>0%</c:formatCode>
                <c:ptCount val="2"/>
                <c:pt idx="0">
                  <c:v>0.02</c:v>
                </c:pt>
                <c:pt idx="1">
                  <c:v>0.06</c:v>
                </c:pt>
              </c:numCache>
            </c:numRef>
          </c:val>
          <c:extLst>
            <c:ext xmlns:c16="http://schemas.microsoft.com/office/drawing/2014/chart" uri="{C3380CC4-5D6E-409C-BE32-E72D297353CC}">
              <c16:uniqueId val="{0000000A-4A5F-4ACA-A81D-60D2EB95EA02}"/>
            </c:ext>
          </c:extLst>
        </c:ser>
        <c:ser>
          <c:idx val="11"/>
          <c:order val="11"/>
          <c:tx>
            <c:strRef>
              <c:f>Sheet1!$M$1</c:f>
              <c:strCache>
                <c:ptCount val="1"/>
                <c:pt idx="0">
                  <c:v>X3</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Sheet1!$M$2:$M$3</c:f>
              <c:numCache>
                <c:formatCode>0%</c:formatCode>
                <c:ptCount val="2"/>
                <c:pt idx="0">
                  <c:v>0.1</c:v>
                </c:pt>
                <c:pt idx="1">
                  <c:v>0.1</c:v>
                </c:pt>
              </c:numCache>
            </c:numRef>
          </c:val>
          <c:extLst>
            <c:ext xmlns:c16="http://schemas.microsoft.com/office/drawing/2014/chart" uri="{C3380CC4-5D6E-409C-BE32-E72D297353CC}">
              <c16:uniqueId val="{0000000B-4A5F-4ACA-A81D-60D2EB95EA02}"/>
            </c:ext>
          </c:extLst>
        </c:ser>
        <c:ser>
          <c:idx val="12"/>
          <c:order val="12"/>
          <c:tx>
            <c:strRef>
              <c:f>Sheet1!$N$1</c:f>
              <c:strCache>
                <c:ptCount val="1"/>
                <c:pt idx="0">
                  <c:v>Sleep Specilaists w referral</c:v>
                </c:pt>
              </c:strCache>
            </c:strRef>
          </c:tx>
          <c:spPr>
            <a:solidFill>
              <a:schemeClr val="accent1">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Sheet1!$N$2:$N$3</c:f>
              <c:numCache>
                <c:formatCode>0%</c:formatCode>
                <c:ptCount val="2"/>
                <c:pt idx="0">
                  <c:v>0.18</c:v>
                </c:pt>
                <c:pt idx="1">
                  <c:v>0.1</c:v>
                </c:pt>
              </c:numCache>
            </c:numRef>
          </c:val>
          <c:extLst>
            <c:ext xmlns:c16="http://schemas.microsoft.com/office/drawing/2014/chart" uri="{C3380CC4-5D6E-409C-BE32-E72D297353CC}">
              <c16:uniqueId val="{0000000C-4A5F-4ACA-A81D-60D2EB95EA02}"/>
            </c:ext>
          </c:extLst>
        </c:ser>
        <c:ser>
          <c:idx val="13"/>
          <c:order val="13"/>
          <c:tx>
            <c:strRef>
              <c:f>Sheet1!$O$1</c:f>
              <c:strCache>
                <c:ptCount val="1"/>
                <c:pt idx="0">
                  <c:v>Sleep Specilaists w/o referral</c:v>
                </c:pt>
              </c:strCache>
            </c:strRef>
          </c:tx>
          <c:spPr>
            <a:pattFill prst="pct20">
              <a:fgClr>
                <a:schemeClr val="accent2">
                  <a:lumMod val="40000"/>
                  <a:lumOff val="6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Sheet1!$O$2:$O$3</c:f>
              <c:numCache>
                <c:formatCode>0%</c:formatCode>
                <c:ptCount val="2"/>
                <c:pt idx="0">
                  <c:v>0.02</c:v>
                </c:pt>
                <c:pt idx="1">
                  <c:v>0.1</c:v>
                </c:pt>
              </c:numCache>
            </c:numRef>
          </c:val>
          <c:extLst>
            <c:ext xmlns:c16="http://schemas.microsoft.com/office/drawing/2014/chart" uri="{C3380CC4-5D6E-409C-BE32-E72D297353CC}">
              <c16:uniqueId val="{0000000D-4A5F-4ACA-A81D-60D2EB95EA02}"/>
            </c:ext>
          </c:extLst>
        </c:ser>
        <c:ser>
          <c:idx val="14"/>
          <c:order val="14"/>
          <c:tx>
            <c:strRef>
              <c:f>Sheet1!$P$1</c:f>
              <c:strCache>
                <c:ptCount val="1"/>
                <c:pt idx="0">
                  <c:v>X4</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Sheet1!$P$2:$P$3</c:f>
              <c:numCache>
                <c:formatCode>0%</c:formatCode>
                <c:ptCount val="2"/>
                <c:pt idx="0">
                  <c:v>0.1</c:v>
                </c:pt>
                <c:pt idx="1">
                  <c:v>0.1</c:v>
                </c:pt>
              </c:numCache>
            </c:numRef>
          </c:val>
          <c:extLst>
            <c:ext xmlns:c16="http://schemas.microsoft.com/office/drawing/2014/chart" uri="{C3380CC4-5D6E-409C-BE32-E72D297353CC}">
              <c16:uniqueId val="{0000000E-4A5F-4ACA-A81D-60D2EB95EA02}"/>
            </c:ext>
          </c:extLst>
        </c:ser>
        <c:ser>
          <c:idx val="15"/>
          <c:order val="15"/>
          <c:tx>
            <c:strRef>
              <c:f>Sheet1!$Q$1</c:f>
              <c:strCache>
                <c:ptCount val="1"/>
                <c:pt idx="0">
                  <c:v>PCP w referral</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Sheet1!$Q$2:$Q$3</c:f>
              <c:numCache>
                <c:formatCode>0%</c:formatCode>
                <c:ptCount val="2"/>
                <c:pt idx="0">
                  <c:v>0.28000000000000003</c:v>
                </c:pt>
                <c:pt idx="1">
                  <c:v>0.24</c:v>
                </c:pt>
              </c:numCache>
            </c:numRef>
          </c:val>
          <c:extLst>
            <c:ext xmlns:c16="http://schemas.microsoft.com/office/drawing/2014/chart" uri="{C3380CC4-5D6E-409C-BE32-E72D297353CC}">
              <c16:uniqueId val="{0000000F-4A5F-4ACA-A81D-60D2EB95EA02}"/>
            </c:ext>
          </c:extLst>
        </c:ser>
        <c:ser>
          <c:idx val="16"/>
          <c:order val="16"/>
          <c:tx>
            <c:strRef>
              <c:f>Sheet1!$R$1</c:f>
              <c:strCache>
                <c:ptCount val="1"/>
                <c:pt idx="0">
                  <c:v>PCP w/o referral</c:v>
                </c:pt>
              </c:strCache>
            </c:strRef>
          </c:tx>
          <c:spPr>
            <a:pattFill prst="pct20">
              <a:fgClr>
                <a:srgbClr val="7030A0"/>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Sheet1!$R$2:$R$3</c:f>
              <c:numCache>
                <c:formatCode>0%</c:formatCode>
                <c:ptCount val="2"/>
                <c:pt idx="0">
                  <c:v>0.09</c:v>
                </c:pt>
                <c:pt idx="1">
                  <c:v>0.13</c:v>
                </c:pt>
              </c:numCache>
            </c:numRef>
          </c:val>
          <c:extLst>
            <c:ext xmlns:c16="http://schemas.microsoft.com/office/drawing/2014/chart" uri="{C3380CC4-5D6E-409C-BE32-E72D297353CC}">
              <c16:uniqueId val="{00000010-4A5F-4ACA-A81D-60D2EB95EA02}"/>
            </c:ext>
          </c:extLst>
        </c:ser>
        <c:dLbls>
          <c:dLblPos val="ctr"/>
          <c:showLegendKey val="0"/>
          <c:showVal val="1"/>
          <c:showCatName val="0"/>
          <c:showSerName val="0"/>
          <c:showPercent val="0"/>
          <c:showBubbleSize val="0"/>
        </c:dLbls>
        <c:gapWidth val="30"/>
        <c:overlap val="100"/>
        <c:axId val="1330499455"/>
        <c:axId val="1330496095"/>
      </c:barChart>
      <c:catAx>
        <c:axId val="133049945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50000"/>
                  </a:schemeClr>
                </a:solidFill>
                <a:latin typeface="+mn-lt"/>
                <a:ea typeface="+mn-ea"/>
                <a:cs typeface="+mn-cs"/>
              </a:defRPr>
            </a:pPr>
            <a:endParaRPr lang="en-US"/>
          </a:p>
        </c:txPr>
        <c:crossAx val="1330496095"/>
        <c:crosses val="autoZero"/>
        <c:auto val="1"/>
        <c:lblAlgn val="ctr"/>
        <c:lblOffset val="100"/>
        <c:noMultiLvlLbl val="0"/>
      </c:catAx>
      <c:valAx>
        <c:axId val="1330496095"/>
        <c:scaling>
          <c:orientation val="minMax"/>
          <c:max val="1.4"/>
        </c:scaling>
        <c:delete val="1"/>
        <c:axPos val="l"/>
        <c:numFmt formatCode="0%" sourceLinked="1"/>
        <c:majorTickMark val="out"/>
        <c:minorTickMark val="none"/>
        <c:tickLblPos val="nextTo"/>
        <c:crossAx val="13304994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254079254079249E-2"/>
          <c:y val="2.5531911782767112E-2"/>
          <c:w val="0.85547785547785549"/>
          <c:h val="0.89785606669700346"/>
        </c:manualLayout>
      </c:layout>
      <c:barChart>
        <c:barDir val="col"/>
        <c:grouping val="stacked"/>
        <c:varyColors val="0"/>
        <c:ser>
          <c:idx val="0"/>
          <c:order val="0"/>
          <c:tx>
            <c:strRef>
              <c:f>Sheet1!$B$1</c:f>
              <c:strCache>
                <c:ptCount val="1"/>
                <c:pt idx="0">
                  <c:v>NPPA w referral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Sheet1!$B$2:$B$3</c:f>
              <c:numCache>
                <c:formatCode>0%</c:formatCode>
                <c:ptCount val="2"/>
                <c:pt idx="0">
                  <c:v>0.06</c:v>
                </c:pt>
                <c:pt idx="1">
                  <c:v>0.05</c:v>
                </c:pt>
              </c:numCache>
            </c:numRef>
          </c:val>
          <c:extLst>
            <c:ext xmlns:c16="http://schemas.microsoft.com/office/drawing/2014/chart" uri="{C3380CC4-5D6E-409C-BE32-E72D297353CC}">
              <c16:uniqueId val="{00000000-4A5F-4ACA-A81D-60D2EB95EA02}"/>
            </c:ext>
          </c:extLst>
        </c:ser>
        <c:ser>
          <c:idx val="1"/>
          <c:order val="1"/>
          <c:tx>
            <c:strRef>
              <c:f>Sheet1!$C$1</c:f>
              <c:strCache>
                <c:ptCount val="1"/>
                <c:pt idx="0">
                  <c:v>NPPA w/o referral</c:v>
                </c:pt>
              </c:strCache>
            </c:strRef>
          </c:tx>
          <c:spPr>
            <a:pattFill prst="pct20">
              <a:fgClr>
                <a:schemeClr val="accent2"/>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Sheet1!$C$2:$C$3</c:f>
              <c:numCache>
                <c:formatCode>0%</c:formatCode>
                <c:ptCount val="2"/>
                <c:pt idx="0">
                  <c:v>0.02</c:v>
                </c:pt>
                <c:pt idx="1">
                  <c:v>0.03</c:v>
                </c:pt>
              </c:numCache>
            </c:numRef>
          </c:val>
          <c:extLst>
            <c:ext xmlns:c16="http://schemas.microsoft.com/office/drawing/2014/chart" uri="{C3380CC4-5D6E-409C-BE32-E72D297353CC}">
              <c16:uniqueId val="{00000001-4A5F-4ACA-A81D-60D2EB95EA02}"/>
            </c:ext>
          </c:extLst>
        </c:ser>
        <c:ser>
          <c:idx val="2"/>
          <c:order val="2"/>
          <c:tx>
            <c:strRef>
              <c:f>Sheet1!$D$1</c:f>
              <c:strCache>
                <c:ptCount val="1"/>
                <c:pt idx="0">
                  <c:v>X0</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Sheet1!$D$2:$D$3</c:f>
              <c:numCache>
                <c:formatCode>0%</c:formatCode>
                <c:ptCount val="2"/>
                <c:pt idx="0">
                  <c:v>0.05</c:v>
                </c:pt>
                <c:pt idx="1">
                  <c:v>0.05</c:v>
                </c:pt>
              </c:numCache>
            </c:numRef>
          </c:val>
          <c:extLst>
            <c:ext xmlns:c16="http://schemas.microsoft.com/office/drawing/2014/chart" uri="{C3380CC4-5D6E-409C-BE32-E72D297353CC}">
              <c16:uniqueId val="{00000002-4A5F-4ACA-A81D-60D2EB95EA02}"/>
            </c:ext>
          </c:extLst>
        </c:ser>
        <c:ser>
          <c:idx val="3"/>
          <c:order val="3"/>
          <c:tx>
            <c:strRef>
              <c:f>Sheet1!$E$1</c:f>
              <c:strCache>
                <c:ptCount val="1"/>
                <c:pt idx="0">
                  <c:v>Other w referral2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Sheet1!$E$2:$E$3</c:f>
              <c:numCache>
                <c:formatCode>0%</c:formatCode>
                <c:ptCount val="2"/>
                <c:pt idx="0">
                  <c:v>7.0000000000000007E-2</c:v>
                </c:pt>
                <c:pt idx="1">
                  <c:v>0.06</c:v>
                </c:pt>
              </c:numCache>
            </c:numRef>
          </c:val>
          <c:extLst>
            <c:ext xmlns:c16="http://schemas.microsoft.com/office/drawing/2014/chart" uri="{C3380CC4-5D6E-409C-BE32-E72D297353CC}">
              <c16:uniqueId val="{00000003-4A5F-4ACA-A81D-60D2EB95EA02}"/>
            </c:ext>
          </c:extLst>
        </c:ser>
        <c:ser>
          <c:idx val="4"/>
          <c:order val="4"/>
          <c:tx>
            <c:strRef>
              <c:f>Sheet1!$F$1</c:f>
              <c:strCache>
                <c:ptCount val="1"/>
                <c:pt idx="0">
                  <c:v>Other w/o referral2</c:v>
                </c:pt>
              </c:strCache>
            </c:strRef>
          </c:tx>
          <c:spPr>
            <a:pattFill prst="pct20">
              <a:fgClr>
                <a:schemeClr val="accent3"/>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Sheet1!$F$2:$F$3</c:f>
              <c:numCache>
                <c:formatCode>0%</c:formatCode>
                <c:ptCount val="2"/>
                <c:pt idx="0">
                  <c:v>0.03</c:v>
                </c:pt>
                <c:pt idx="1">
                  <c:v>0.03</c:v>
                </c:pt>
              </c:numCache>
            </c:numRef>
          </c:val>
          <c:extLst>
            <c:ext xmlns:c16="http://schemas.microsoft.com/office/drawing/2014/chart" uri="{C3380CC4-5D6E-409C-BE32-E72D297353CC}">
              <c16:uniqueId val="{00000004-4A5F-4ACA-A81D-60D2EB95EA02}"/>
            </c:ext>
          </c:extLst>
        </c:ser>
        <c:ser>
          <c:idx val="5"/>
          <c:order val="5"/>
          <c:tx>
            <c:strRef>
              <c:f>Sheet1!$G$1</c:f>
              <c:strCache>
                <c:ptCount val="1"/>
                <c:pt idx="0">
                  <c:v>X1</c:v>
                </c:pt>
              </c:strCache>
            </c:strRef>
          </c:tx>
          <c:spPr>
            <a:solidFill>
              <a:schemeClr val="accent6"/>
            </a:solidFill>
            <a:ln>
              <a:noFill/>
            </a:ln>
            <a:effectLst/>
          </c:spPr>
          <c:invertIfNegative val="0"/>
          <c:dLbls>
            <c:delete val="1"/>
          </c:dLbls>
          <c:cat>
            <c:strRef>
              <c:f>Sheet1!$A$2:$A$3</c:f>
              <c:strCache>
                <c:ptCount val="2"/>
                <c:pt idx="0">
                  <c:v>Pre- Diagnosis</c:v>
                </c:pt>
                <c:pt idx="1">
                  <c:v>Post Diagnosis</c:v>
                </c:pt>
              </c:strCache>
            </c:strRef>
          </c:cat>
          <c:val>
            <c:numRef>
              <c:f>Sheet1!$G$2:$G$3</c:f>
              <c:numCache>
                <c:formatCode>0%</c:formatCode>
                <c:ptCount val="2"/>
                <c:pt idx="0">
                  <c:v>0.05</c:v>
                </c:pt>
                <c:pt idx="1">
                  <c:v>0.05</c:v>
                </c:pt>
              </c:numCache>
            </c:numRef>
          </c:val>
          <c:extLst>
            <c:ext xmlns:c16="http://schemas.microsoft.com/office/drawing/2014/chart" uri="{C3380CC4-5D6E-409C-BE32-E72D297353CC}">
              <c16:uniqueId val="{00000005-4A5F-4ACA-A81D-60D2EB95EA02}"/>
            </c:ext>
          </c:extLst>
        </c:ser>
        <c:ser>
          <c:idx val="6"/>
          <c:order val="6"/>
          <c:tx>
            <c:strRef>
              <c:f>Sheet1!$H$1</c:f>
              <c:strCache>
                <c:ptCount val="1"/>
                <c:pt idx="0">
                  <c:v>Pulmonologist w referral</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Sheet1!$H$2:$H$3</c:f>
              <c:numCache>
                <c:formatCode>0%</c:formatCode>
                <c:ptCount val="2"/>
                <c:pt idx="0">
                  <c:v>0.1</c:v>
                </c:pt>
                <c:pt idx="1">
                  <c:v>0.06</c:v>
                </c:pt>
              </c:numCache>
            </c:numRef>
          </c:val>
          <c:extLst>
            <c:ext xmlns:c16="http://schemas.microsoft.com/office/drawing/2014/chart" uri="{C3380CC4-5D6E-409C-BE32-E72D297353CC}">
              <c16:uniqueId val="{00000006-4A5F-4ACA-A81D-60D2EB95EA02}"/>
            </c:ext>
          </c:extLst>
        </c:ser>
        <c:ser>
          <c:idx val="7"/>
          <c:order val="7"/>
          <c:tx>
            <c:strRef>
              <c:f>Sheet1!$I$1</c:f>
              <c:strCache>
                <c:ptCount val="1"/>
                <c:pt idx="0">
                  <c:v>Pulmonologist w/o referral</c:v>
                </c:pt>
              </c:strCache>
            </c:strRef>
          </c:tx>
          <c:spPr>
            <a:pattFill prst="pct20">
              <a:fgClr>
                <a:schemeClr val="accent5">
                  <a:lumMod val="50000"/>
                </a:schemeClr>
              </a:fgClr>
              <a:bgClr>
                <a:schemeClr val="bg1"/>
              </a:bgClr>
            </a:pattFill>
            <a:ln>
              <a:noFill/>
            </a:ln>
            <a:effectLst/>
          </c:spPr>
          <c:invertIfNegative val="0"/>
          <c:dLbls>
            <c:dLbl>
              <c:idx val="0"/>
              <c:layout>
                <c:manualLayout>
                  <c:x val="-0.10100969931719035"/>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D4-4C88-848E-583BCD76902D}"/>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Sheet1!$I$2:$I$3</c:f>
              <c:numCache>
                <c:formatCode>0%</c:formatCode>
                <c:ptCount val="2"/>
                <c:pt idx="0">
                  <c:v>0.01</c:v>
                </c:pt>
                <c:pt idx="1">
                  <c:v>0.05</c:v>
                </c:pt>
              </c:numCache>
            </c:numRef>
          </c:val>
          <c:extLst>
            <c:ext xmlns:c16="http://schemas.microsoft.com/office/drawing/2014/chart" uri="{C3380CC4-5D6E-409C-BE32-E72D297353CC}">
              <c16:uniqueId val="{00000007-4A5F-4ACA-A81D-60D2EB95EA02}"/>
            </c:ext>
          </c:extLst>
        </c:ser>
        <c:ser>
          <c:idx val="8"/>
          <c:order val="8"/>
          <c:tx>
            <c:strRef>
              <c:f>Sheet1!$J$1</c:f>
              <c:strCache>
                <c:ptCount val="1"/>
                <c:pt idx="0">
                  <c:v>X2</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Sheet1!$J$2:$J$3</c:f>
              <c:numCache>
                <c:formatCode>0%</c:formatCode>
                <c:ptCount val="2"/>
                <c:pt idx="0">
                  <c:v>0.05</c:v>
                </c:pt>
                <c:pt idx="1">
                  <c:v>0.05</c:v>
                </c:pt>
              </c:numCache>
            </c:numRef>
          </c:val>
          <c:extLst>
            <c:ext xmlns:c16="http://schemas.microsoft.com/office/drawing/2014/chart" uri="{C3380CC4-5D6E-409C-BE32-E72D297353CC}">
              <c16:uniqueId val="{00000008-4A5F-4ACA-A81D-60D2EB95EA02}"/>
            </c:ext>
          </c:extLst>
        </c:ser>
        <c:ser>
          <c:idx val="9"/>
          <c:order val="9"/>
          <c:tx>
            <c:strRef>
              <c:f>Sheet1!$K$1</c:f>
              <c:strCache>
                <c:ptCount val="1"/>
                <c:pt idx="0">
                  <c:v>Neuro/Psych w referral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Sheet1!$K$2:$K$3</c:f>
              <c:numCache>
                <c:formatCode>0%</c:formatCode>
                <c:ptCount val="2"/>
                <c:pt idx="0">
                  <c:v>0.11</c:v>
                </c:pt>
                <c:pt idx="1">
                  <c:v>7.0000000000000007E-2</c:v>
                </c:pt>
              </c:numCache>
            </c:numRef>
          </c:val>
          <c:extLst>
            <c:ext xmlns:c16="http://schemas.microsoft.com/office/drawing/2014/chart" uri="{C3380CC4-5D6E-409C-BE32-E72D297353CC}">
              <c16:uniqueId val="{00000009-4A5F-4ACA-A81D-60D2EB95EA02}"/>
            </c:ext>
          </c:extLst>
        </c:ser>
        <c:ser>
          <c:idx val="10"/>
          <c:order val="10"/>
          <c:tx>
            <c:strRef>
              <c:f>Sheet1!$L$1</c:f>
              <c:strCache>
                <c:ptCount val="1"/>
                <c:pt idx="0">
                  <c:v>Neuro/Psych w/o referral</c:v>
                </c:pt>
              </c:strCache>
            </c:strRef>
          </c:tx>
          <c:spPr>
            <a:pattFill prst="pct20">
              <a:fgClr>
                <a:schemeClr val="tx1">
                  <a:lumMod val="5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Sheet1!$L$2:$L$3</c:f>
              <c:numCache>
                <c:formatCode>0%</c:formatCode>
                <c:ptCount val="2"/>
                <c:pt idx="0">
                  <c:v>0.02</c:v>
                </c:pt>
                <c:pt idx="1">
                  <c:v>0.06</c:v>
                </c:pt>
              </c:numCache>
            </c:numRef>
          </c:val>
          <c:extLst>
            <c:ext xmlns:c16="http://schemas.microsoft.com/office/drawing/2014/chart" uri="{C3380CC4-5D6E-409C-BE32-E72D297353CC}">
              <c16:uniqueId val="{0000000A-4A5F-4ACA-A81D-60D2EB95EA02}"/>
            </c:ext>
          </c:extLst>
        </c:ser>
        <c:ser>
          <c:idx val="11"/>
          <c:order val="11"/>
          <c:tx>
            <c:strRef>
              <c:f>Sheet1!$M$1</c:f>
              <c:strCache>
                <c:ptCount val="1"/>
                <c:pt idx="0">
                  <c:v>X3</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Sheet1!$M$2:$M$3</c:f>
              <c:numCache>
                <c:formatCode>0%</c:formatCode>
                <c:ptCount val="2"/>
                <c:pt idx="0">
                  <c:v>0.1</c:v>
                </c:pt>
                <c:pt idx="1">
                  <c:v>0.1</c:v>
                </c:pt>
              </c:numCache>
            </c:numRef>
          </c:val>
          <c:extLst>
            <c:ext xmlns:c16="http://schemas.microsoft.com/office/drawing/2014/chart" uri="{C3380CC4-5D6E-409C-BE32-E72D297353CC}">
              <c16:uniqueId val="{0000000B-4A5F-4ACA-A81D-60D2EB95EA02}"/>
            </c:ext>
          </c:extLst>
        </c:ser>
        <c:ser>
          <c:idx val="12"/>
          <c:order val="12"/>
          <c:tx>
            <c:strRef>
              <c:f>Sheet1!$N$1</c:f>
              <c:strCache>
                <c:ptCount val="1"/>
                <c:pt idx="0">
                  <c:v>Sleep Specilaists w referral</c:v>
                </c:pt>
              </c:strCache>
            </c:strRef>
          </c:tx>
          <c:spPr>
            <a:solidFill>
              <a:schemeClr val="accent1">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Sheet1!$N$2:$N$3</c:f>
              <c:numCache>
                <c:formatCode>0%</c:formatCode>
                <c:ptCount val="2"/>
                <c:pt idx="0">
                  <c:v>0.18</c:v>
                </c:pt>
                <c:pt idx="1">
                  <c:v>0.1</c:v>
                </c:pt>
              </c:numCache>
            </c:numRef>
          </c:val>
          <c:extLst>
            <c:ext xmlns:c16="http://schemas.microsoft.com/office/drawing/2014/chart" uri="{C3380CC4-5D6E-409C-BE32-E72D297353CC}">
              <c16:uniqueId val="{0000000C-4A5F-4ACA-A81D-60D2EB95EA02}"/>
            </c:ext>
          </c:extLst>
        </c:ser>
        <c:ser>
          <c:idx val="13"/>
          <c:order val="13"/>
          <c:tx>
            <c:strRef>
              <c:f>Sheet1!$O$1</c:f>
              <c:strCache>
                <c:ptCount val="1"/>
                <c:pt idx="0">
                  <c:v>Sleep Specilaists w/o referral</c:v>
                </c:pt>
              </c:strCache>
            </c:strRef>
          </c:tx>
          <c:spPr>
            <a:pattFill prst="pct20">
              <a:fgClr>
                <a:schemeClr val="accent2">
                  <a:lumMod val="40000"/>
                  <a:lumOff val="60000"/>
                </a:schemeClr>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Sheet1!$O$2:$O$3</c:f>
              <c:numCache>
                <c:formatCode>0%</c:formatCode>
                <c:ptCount val="2"/>
                <c:pt idx="0">
                  <c:v>0.02</c:v>
                </c:pt>
                <c:pt idx="1">
                  <c:v>0.1</c:v>
                </c:pt>
              </c:numCache>
            </c:numRef>
          </c:val>
          <c:extLst>
            <c:ext xmlns:c16="http://schemas.microsoft.com/office/drawing/2014/chart" uri="{C3380CC4-5D6E-409C-BE32-E72D297353CC}">
              <c16:uniqueId val="{0000000D-4A5F-4ACA-A81D-60D2EB95EA02}"/>
            </c:ext>
          </c:extLst>
        </c:ser>
        <c:ser>
          <c:idx val="14"/>
          <c:order val="14"/>
          <c:tx>
            <c:strRef>
              <c:f>Sheet1!$P$1</c:f>
              <c:strCache>
                <c:ptCount val="1"/>
                <c:pt idx="0">
                  <c:v>X4</c:v>
                </c:pt>
              </c:strCache>
            </c:strRef>
          </c:tx>
          <c:spPr>
            <a:noFill/>
            <a:ln>
              <a:noFill/>
            </a:ln>
            <a:effectLst/>
          </c:spPr>
          <c:invertIfNegative val="0"/>
          <c:dLbls>
            <c:delete val="1"/>
          </c:dLbls>
          <c:cat>
            <c:strRef>
              <c:f>Sheet1!$A$2:$A$3</c:f>
              <c:strCache>
                <c:ptCount val="2"/>
                <c:pt idx="0">
                  <c:v>Pre- Diagnosis</c:v>
                </c:pt>
                <c:pt idx="1">
                  <c:v>Post Diagnosis</c:v>
                </c:pt>
              </c:strCache>
            </c:strRef>
          </c:cat>
          <c:val>
            <c:numRef>
              <c:f>Sheet1!$P$2:$P$3</c:f>
              <c:numCache>
                <c:formatCode>0%</c:formatCode>
                <c:ptCount val="2"/>
                <c:pt idx="0">
                  <c:v>0.1</c:v>
                </c:pt>
                <c:pt idx="1">
                  <c:v>0.1</c:v>
                </c:pt>
              </c:numCache>
            </c:numRef>
          </c:val>
          <c:extLst>
            <c:ext xmlns:c16="http://schemas.microsoft.com/office/drawing/2014/chart" uri="{C3380CC4-5D6E-409C-BE32-E72D297353CC}">
              <c16:uniqueId val="{0000000E-4A5F-4ACA-A81D-60D2EB95EA02}"/>
            </c:ext>
          </c:extLst>
        </c:ser>
        <c:ser>
          <c:idx val="15"/>
          <c:order val="15"/>
          <c:tx>
            <c:strRef>
              <c:f>Sheet1!$Q$1</c:f>
              <c:strCache>
                <c:ptCount val="1"/>
                <c:pt idx="0">
                  <c:v>PCP w referral</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Sheet1!$Q$2:$Q$3</c:f>
              <c:numCache>
                <c:formatCode>0%</c:formatCode>
                <c:ptCount val="2"/>
                <c:pt idx="0">
                  <c:v>0.28000000000000003</c:v>
                </c:pt>
                <c:pt idx="1">
                  <c:v>0.24</c:v>
                </c:pt>
              </c:numCache>
            </c:numRef>
          </c:val>
          <c:extLst>
            <c:ext xmlns:c16="http://schemas.microsoft.com/office/drawing/2014/chart" uri="{C3380CC4-5D6E-409C-BE32-E72D297353CC}">
              <c16:uniqueId val="{0000000F-4A5F-4ACA-A81D-60D2EB95EA02}"/>
            </c:ext>
          </c:extLst>
        </c:ser>
        <c:ser>
          <c:idx val="16"/>
          <c:order val="16"/>
          <c:tx>
            <c:strRef>
              <c:f>Sheet1!$R$1</c:f>
              <c:strCache>
                <c:ptCount val="1"/>
                <c:pt idx="0">
                  <c:v>PCP w/o referral</c:v>
                </c:pt>
              </c:strCache>
            </c:strRef>
          </c:tx>
          <c:spPr>
            <a:pattFill prst="pct20">
              <a:fgClr>
                <a:srgbClr val="7030A0"/>
              </a:fgClr>
              <a:bgClr>
                <a:schemeClr val="bg1"/>
              </a:bgClr>
            </a:patt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Pre- Diagnosis</c:v>
                </c:pt>
                <c:pt idx="1">
                  <c:v>Post Diagnosis</c:v>
                </c:pt>
              </c:strCache>
            </c:strRef>
          </c:cat>
          <c:val>
            <c:numRef>
              <c:f>Sheet1!$R$2:$R$3</c:f>
              <c:numCache>
                <c:formatCode>0%</c:formatCode>
                <c:ptCount val="2"/>
                <c:pt idx="0">
                  <c:v>0.09</c:v>
                </c:pt>
                <c:pt idx="1">
                  <c:v>0.13</c:v>
                </c:pt>
              </c:numCache>
            </c:numRef>
          </c:val>
          <c:extLst>
            <c:ext xmlns:c16="http://schemas.microsoft.com/office/drawing/2014/chart" uri="{C3380CC4-5D6E-409C-BE32-E72D297353CC}">
              <c16:uniqueId val="{00000010-4A5F-4ACA-A81D-60D2EB95EA02}"/>
            </c:ext>
          </c:extLst>
        </c:ser>
        <c:dLbls>
          <c:dLblPos val="ctr"/>
          <c:showLegendKey val="0"/>
          <c:showVal val="1"/>
          <c:showCatName val="0"/>
          <c:showSerName val="0"/>
          <c:showPercent val="0"/>
          <c:showBubbleSize val="0"/>
        </c:dLbls>
        <c:gapWidth val="30"/>
        <c:overlap val="100"/>
        <c:axId val="1330499455"/>
        <c:axId val="1330496095"/>
      </c:barChart>
      <c:catAx>
        <c:axId val="133049945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50000"/>
                  </a:schemeClr>
                </a:solidFill>
                <a:latin typeface="+mn-lt"/>
                <a:ea typeface="+mn-ea"/>
                <a:cs typeface="+mn-cs"/>
              </a:defRPr>
            </a:pPr>
            <a:endParaRPr lang="en-US"/>
          </a:p>
        </c:txPr>
        <c:crossAx val="1330496095"/>
        <c:crosses val="autoZero"/>
        <c:auto val="1"/>
        <c:lblAlgn val="ctr"/>
        <c:lblOffset val="100"/>
        <c:noMultiLvlLbl val="0"/>
      </c:catAx>
      <c:valAx>
        <c:axId val="1330496095"/>
        <c:scaling>
          <c:orientation val="minMax"/>
          <c:max val="1.4"/>
        </c:scaling>
        <c:delete val="1"/>
        <c:axPos val="l"/>
        <c:numFmt formatCode="0%" sourceLinked="1"/>
        <c:majorTickMark val="out"/>
        <c:minorTickMark val="none"/>
        <c:tickLblPos val="nextTo"/>
        <c:crossAx val="13304994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Count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78C-431F-8728-784914E735C6}"/>
              </c:ext>
            </c:extLst>
          </c:dPt>
          <c:dPt>
            <c:idx val="1"/>
            <c:bubble3D val="0"/>
            <c:spPr>
              <a:solidFill>
                <a:schemeClr val="tx1"/>
              </a:solidFill>
              <a:ln w="19050">
                <a:solidFill>
                  <a:schemeClr val="lt1"/>
                </a:solidFill>
              </a:ln>
              <a:effectLst/>
            </c:spPr>
            <c:extLst>
              <c:ext xmlns:c16="http://schemas.microsoft.com/office/drawing/2014/chart" uri="{C3380CC4-5D6E-409C-BE32-E72D297353CC}">
                <c16:uniqueId val="{00000003-778C-431F-8728-784914E735C6}"/>
              </c:ext>
            </c:extLst>
          </c:dPt>
          <c:dPt>
            <c:idx val="2"/>
            <c:bubble3D val="0"/>
            <c:spPr>
              <a:solidFill>
                <a:schemeClr val="bg1">
                  <a:lumMod val="65000"/>
                </a:schemeClr>
              </a:solidFill>
              <a:ln w="19050">
                <a:solidFill>
                  <a:schemeClr val="lt1"/>
                </a:solidFill>
              </a:ln>
              <a:effectLst/>
            </c:spPr>
            <c:extLst>
              <c:ext xmlns:c16="http://schemas.microsoft.com/office/drawing/2014/chart" uri="{C3380CC4-5D6E-409C-BE32-E72D297353CC}">
                <c16:uniqueId val="{00000005-778C-431F-8728-784914E735C6}"/>
              </c:ext>
            </c:extLst>
          </c:dPt>
          <c:dPt>
            <c:idx val="3"/>
            <c:bubble3D val="0"/>
            <c:spPr>
              <a:solidFill>
                <a:srgbClr val="F4CCCD"/>
              </a:solidFill>
              <a:ln w="19050">
                <a:solidFill>
                  <a:schemeClr val="lt1"/>
                </a:solidFill>
              </a:ln>
              <a:effectLst/>
            </c:spPr>
            <c:extLst>
              <c:ext xmlns:c16="http://schemas.microsoft.com/office/drawing/2014/chart" uri="{C3380CC4-5D6E-409C-BE32-E72D297353CC}">
                <c16:uniqueId val="{00000007-204B-4977-AC4C-68A14415E09D}"/>
              </c:ext>
            </c:extLst>
          </c:dPt>
          <c:dLbls>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7-204B-4977-AC4C-68A14415E09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Sheet1!$A$2:$A$5</c:f>
              <c:strCache>
                <c:ptCount val="4"/>
                <c:pt idx="0">
                  <c:v>Key Personas (n=3132)</c:v>
                </c:pt>
                <c:pt idx="1">
                  <c:v>Auxiliary Personas (n=46097)</c:v>
                </c:pt>
                <c:pt idx="2">
                  <c:v>Leakage HCPs (n=5080)</c:v>
                </c:pt>
                <c:pt idx="3">
                  <c:v>Undifferentiated HCPs (n=13313)</c:v>
                </c:pt>
              </c:strCache>
            </c:strRef>
          </c:cat>
          <c:val>
            <c:numRef>
              <c:f>Sheet1!$B$2:$B$5</c:f>
              <c:numCache>
                <c:formatCode>_(* #,##0_);_(* \(#,##0\);_(* "-"??_);_(@_)</c:formatCode>
                <c:ptCount val="4"/>
                <c:pt idx="0">
                  <c:v>3132</c:v>
                </c:pt>
                <c:pt idx="1">
                  <c:v>46097</c:v>
                </c:pt>
                <c:pt idx="2">
                  <c:v>5080</c:v>
                </c:pt>
                <c:pt idx="3">
                  <c:v>13313</c:v>
                </c:pt>
              </c:numCache>
            </c:numRef>
          </c:val>
          <c:extLst>
            <c:ext xmlns:c16="http://schemas.microsoft.com/office/drawing/2014/chart" uri="{C3380CC4-5D6E-409C-BE32-E72D297353CC}">
              <c16:uniqueId val="{00000000-C1E0-4BA4-BCC7-022E6044AF5F}"/>
            </c:ext>
          </c:extLst>
        </c:ser>
        <c:dLbls>
          <c:showLegendKey val="0"/>
          <c:showVal val="1"/>
          <c:showCatName val="0"/>
          <c:showSerName val="0"/>
          <c:showPercent val="0"/>
          <c:showBubbleSize val="0"/>
          <c:showLeaderLines val="0"/>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Sheet1!$G$14</c:f>
              <c:strCache>
                <c:ptCount val="1"/>
                <c:pt idx="0">
                  <c:v>Referrers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419-479F-9B9B-AB7B7545129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419-479F-9B9B-AB7B7545129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419-479F-9B9B-AB7B7545129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419-479F-9B9B-AB7B75451294}"/>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419-479F-9B9B-AB7B75451294}"/>
              </c:ext>
            </c:extLst>
          </c:dPt>
          <c:dPt>
            <c:idx val="5"/>
            <c:bubble3D val="0"/>
            <c:spPr>
              <a:solidFill>
                <a:schemeClr val="accent5">
                  <a:lumMod val="75000"/>
                </a:schemeClr>
              </a:solidFill>
              <a:ln w="19050">
                <a:solidFill>
                  <a:schemeClr val="lt1"/>
                </a:solidFill>
              </a:ln>
              <a:effectLst/>
            </c:spPr>
            <c:extLst>
              <c:ext xmlns:c16="http://schemas.microsoft.com/office/drawing/2014/chart" uri="{C3380CC4-5D6E-409C-BE32-E72D297353CC}">
                <c16:uniqueId val="{0000000B-B419-479F-9B9B-AB7B75451294}"/>
              </c:ext>
            </c:extLst>
          </c:dPt>
          <c:dLbls>
            <c:dLbl>
              <c:idx val="0"/>
              <c:delete val="1"/>
              <c:extLst>
                <c:ext xmlns:c15="http://schemas.microsoft.com/office/drawing/2012/chart" uri="{CE6537A1-D6FC-4f65-9D91-7224C49458BB}"/>
                <c:ext xmlns:c16="http://schemas.microsoft.com/office/drawing/2014/chart" uri="{C3380CC4-5D6E-409C-BE32-E72D297353CC}">
                  <c16:uniqueId val="{00000001-B419-479F-9B9B-AB7B75451294}"/>
                </c:ext>
              </c:extLst>
            </c:dLbl>
            <c:dLbl>
              <c:idx val="1"/>
              <c:delete val="1"/>
              <c:extLst>
                <c:ext xmlns:c15="http://schemas.microsoft.com/office/drawing/2012/chart" uri="{CE6537A1-D6FC-4f65-9D91-7224C49458BB}"/>
                <c:ext xmlns:c16="http://schemas.microsoft.com/office/drawing/2014/chart" uri="{C3380CC4-5D6E-409C-BE32-E72D297353CC}">
                  <c16:uniqueId val="{00000003-B419-479F-9B9B-AB7B75451294}"/>
                </c:ext>
              </c:extLst>
            </c:dLbl>
            <c:dLbl>
              <c:idx val="2"/>
              <c:delete val="1"/>
              <c:extLst>
                <c:ext xmlns:c15="http://schemas.microsoft.com/office/drawing/2012/chart" uri="{CE6537A1-D6FC-4f65-9D91-7224C49458BB}"/>
                <c:ext xmlns:c16="http://schemas.microsoft.com/office/drawing/2014/chart" uri="{C3380CC4-5D6E-409C-BE32-E72D297353CC}">
                  <c16:uniqueId val="{00000005-B419-479F-9B9B-AB7B7545129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Sheet1!$B$15:$B$20</c:f>
              <c:strCache>
                <c:ptCount val="6"/>
                <c:pt idx="0">
                  <c:v>Sleep Specialists</c:v>
                </c:pt>
                <c:pt idx="1">
                  <c:v>Neurologist</c:v>
                </c:pt>
                <c:pt idx="2">
                  <c:v>Pulmonologist</c:v>
                </c:pt>
                <c:pt idx="3">
                  <c:v>Psychiatrist/Psychologist</c:v>
                </c:pt>
                <c:pt idx="4">
                  <c:v>PCP/NP/PA</c:v>
                </c:pt>
                <c:pt idx="5">
                  <c:v>Others</c:v>
                </c:pt>
              </c:strCache>
            </c:strRef>
          </c:cat>
          <c:val>
            <c:numRef>
              <c:f>Sheet1!$G$15:$G$20</c:f>
              <c:numCache>
                <c:formatCode>0%</c:formatCode>
                <c:ptCount val="6"/>
                <c:pt idx="0">
                  <c:v>7.2859744990892532E-3</c:v>
                </c:pt>
                <c:pt idx="1">
                  <c:v>2.9143897996357013E-2</c:v>
                </c:pt>
                <c:pt idx="2">
                  <c:v>3.4608378870673952E-2</c:v>
                </c:pt>
                <c:pt idx="3">
                  <c:v>7.8324225865209471E-2</c:v>
                </c:pt>
                <c:pt idx="4">
                  <c:v>0.70673952641165749</c:v>
                </c:pt>
                <c:pt idx="5">
                  <c:v>0.14389799635701275</c:v>
                </c:pt>
              </c:numCache>
            </c:numRef>
          </c:val>
          <c:extLst>
            <c:ext xmlns:c16="http://schemas.microsoft.com/office/drawing/2014/chart" uri="{C3380CC4-5D6E-409C-BE32-E72D297353CC}">
              <c16:uniqueId val="{0000000C-B419-479F-9B9B-AB7B75451294}"/>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Referrals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9749-460A-969B-11C2DD9FCFF7}"/>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9749-460A-969B-11C2DD9FCFF7}"/>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749-460A-969B-11C2DD9FCFF7}"/>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Internal referrals</c:v>
                </c:pt>
                <c:pt idx="1">
                  <c:v>External referrals</c:v>
                </c:pt>
              </c:strCache>
            </c:strRef>
          </c:cat>
          <c:val>
            <c:numRef>
              <c:f>Sheet1!$B$2:$B$3</c:f>
              <c:numCache>
                <c:formatCode>0%</c:formatCode>
                <c:ptCount val="2"/>
                <c:pt idx="0">
                  <c:v>0.26358536108030528</c:v>
                </c:pt>
                <c:pt idx="1">
                  <c:v>0.73641463891969472</c:v>
                </c:pt>
              </c:numCache>
            </c:numRef>
          </c:val>
          <c:extLst>
            <c:ext xmlns:c16="http://schemas.microsoft.com/office/drawing/2014/chart" uri="{C3380CC4-5D6E-409C-BE32-E72D297353CC}">
              <c16:uniqueId val="{00000000-9749-460A-969B-11C2DD9FCFF7}"/>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'Clusters Bucketing'!$C$8</c:f>
              <c:strCache>
                <c:ptCount val="1"/>
                <c:pt idx="0">
                  <c:v># Clusters</c:v>
                </c:pt>
              </c:strCache>
            </c:strRef>
          </c:tx>
          <c:spPr>
            <a:solidFill>
              <a:srgbClr val="C00000"/>
            </a:solidFill>
            <a:ln>
              <a:noFill/>
            </a:ln>
            <a:effectLst/>
          </c:spPr>
          <c:invertIfNegative val="0"/>
          <c:cat>
            <c:strRef>
              <c:f>'Clusters Bucketing'!$B$9:$B$18</c:f>
              <c:strCache>
                <c:ptCount val="10"/>
                <c:pt idx="0">
                  <c:v>3</c:v>
                </c:pt>
                <c:pt idx="1">
                  <c:v>4</c:v>
                </c:pt>
                <c:pt idx="2">
                  <c:v>5</c:v>
                </c:pt>
                <c:pt idx="3">
                  <c:v>6-10</c:v>
                </c:pt>
                <c:pt idx="4">
                  <c:v>11-20</c:v>
                </c:pt>
                <c:pt idx="5">
                  <c:v>21-30</c:v>
                </c:pt>
                <c:pt idx="6">
                  <c:v>31-50</c:v>
                </c:pt>
                <c:pt idx="7">
                  <c:v>51-100</c:v>
                </c:pt>
                <c:pt idx="8">
                  <c:v>101-150</c:v>
                </c:pt>
                <c:pt idx="9">
                  <c:v>151-200</c:v>
                </c:pt>
              </c:strCache>
            </c:strRef>
          </c:cat>
          <c:val>
            <c:numRef>
              <c:f>'Clusters Bucketing'!$C$9:$C$18</c:f>
              <c:numCache>
                <c:formatCode>General</c:formatCode>
                <c:ptCount val="10"/>
                <c:pt idx="0">
                  <c:v>1985</c:v>
                </c:pt>
                <c:pt idx="1">
                  <c:v>918</c:v>
                </c:pt>
                <c:pt idx="2">
                  <c:v>546</c:v>
                </c:pt>
                <c:pt idx="3">
                  <c:v>1090</c:v>
                </c:pt>
                <c:pt idx="4">
                  <c:v>942</c:v>
                </c:pt>
                <c:pt idx="5">
                  <c:v>433</c:v>
                </c:pt>
                <c:pt idx="6">
                  <c:v>187</c:v>
                </c:pt>
                <c:pt idx="7">
                  <c:v>63</c:v>
                </c:pt>
                <c:pt idx="8">
                  <c:v>9</c:v>
                </c:pt>
                <c:pt idx="9">
                  <c:v>1</c:v>
                </c:pt>
              </c:numCache>
            </c:numRef>
          </c:val>
          <c:extLst>
            <c:ext xmlns:c16="http://schemas.microsoft.com/office/drawing/2014/chart" uri="{C3380CC4-5D6E-409C-BE32-E72D297353CC}">
              <c16:uniqueId val="{00000000-001E-4F10-9727-920C956910A2}"/>
            </c:ext>
          </c:extLst>
        </c:ser>
        <c:dLbls>
          <c:showLegendKey val="0"/>
          <c:showVal val="0"/>
          <c:showCatName val="0"/>
          <c:showSerName val="0"/>
          <c:showPercent val="0"/>
          <c:showBubbleSize val="0"/>
        </c:dLbls>
        <c:gapWidth val="50"/>
        <c:overlap val="-27"/>
        <c:axId val="611800768"/>
        <c:axId val="611809888"/>
      </c:barChart>
      <c:catAx>
        <c:axId val="611800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HCPs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09888"/>
        <c:crosses val="autoZero"/>
        <c:auto val="1"/>
        <c:lblAlgn val="ctr"/>
        <c:lblOffset val="100"/>
        <c:noMultiLvlLbl val="0"/>
      </c:catAx>
      <c:valAx>
        <c:axId val="6118098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clusters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00768"/>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'Clusters Bucketing'!$C$8</c:f>
              <c:strCache>
                <c:ptCount val="1"/>
                <c:pt idx="0">
                  <c:v># Clusters</c:v>
                </c:pt>
              </c:strCache>
            </c:strRef>
          </c:tx>
          <c:spPr>
            <a:solidFill>
              <a:srgbClr val="C00000"/>
            </a:solidFill>
            <a:ln>
              <a:noFill/>
            </a:ln>
            <a:effectLst/>
          </c:spPr>
          <c:invertIfNegative val="0"/>
          <c:cat>
            <c:strRef>
              <c:f>'Clusters Bucketing'!$B$105:$B$111</c:f>
              <c:strCache>
                <c:ptCount val="7"/>
                <c:pt idx="0">
                  <c:v>0</c:v>
                </c:pt>
                <c:pt idx="1">
                  <c:v>1-10%</c:v>
                </c:pt>
                <c:pt idx="2">
                  <c:v>10-20%</c:v>
                </c:pt>
                <c:pt idx="3">
                  <c:v>20-35%</c:v>
                </c:pt>
                <c:pt idx="4">
                  <c:v>35-50%</c:v>
                </c:pt>
                <c:pt idx="5">
                  <c:v>50-70%</c:v>
                </c:pt>
                <c:pt idx="6">
                  <c:v>70%+</c:v>
                </c:pt>
              </c:strCache>
            </c:strRef>
          </c:cat>
          <c:val>
            <c:numRef>
              <c:f>'Clusters Bucketing'!$C$105:$C$111</c:f>
              <c:numCache>
                <c:formatCode>General</c:formatCode>
                <c:ptCount val="7"/>
                <c:pt idx="0">
                  <c:v>5114</c:v>
                </c:pt>
                <c:pt idx="1">
                  <c:v>23</c:v>
                </c:pt>
                <c:pt idx="2">
                  <c:v>312</c:v>
                </c:pt>
                <c:pt idx="3">
                  <c:v>433</c:v>
                </c:pt>
                <c:pt idx="4">
                  <c:v>211</c:v>
                </c:pt>
                <c:pt idx="5">
                  <c:v>79</c:v>
                </c:pt>
                <c:pt idx="6">
                  <c:v>2</c:v>
                </c:pt>
              </c:numCache>
            </c:numRef>
          </c:val>
          <c:extLst>
            <c:ext xmlns:c16="http://schemas.microsoft.com/office/drawing/2014/chart" uri="{C3380CC4-5D6E-409C-BE32-E72D297353CC}">
              <c16:uniqueId val="{00000000-3CA7-4F52-943B-532FFFE39E4A}"/>
            </c:ext>
          </c:extLst>
        </c:ser>
        <c:dLbls>
          <c:showLegendKey val="0"/>
          <c:showVal val="0"/>
          <c:showCatName val="0"/>
          <c:showSerName val="0"/>
          <c:showPercent val="0"/>
          <c:showBubbleSize val="0"/>
        </c:dLbls>
        <c:gapWidth val="50"/>
        <c:overlap val="-27"/>
        <c:axId val="611800768"/>
        <c:axId val="611809888"/>
      </c:barChart>
      <c:catAx>
        <c:axId val="611800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 of Decile 6-10 Representation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09888"/>
        <c:crosses val="autoZero"/>
        <c:auto val="1"/>
        <c:lblAlgn val="ctr"/>
        <c:lblOffset val="100"/>
        <c:noMultiLvlLbl val="0"/>
      </c:catAx>
      <c:valAx>
        <c:axId val="6118098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clusters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800768"/>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Count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78C-431F-8728-784914E735C6}"/>
              </c:ext>
            </c:extLst>
          </c:dPt>
          <c:dPt>
            <c:idx val="1"/>
            <c:bubble3D val="0"/>
            <c:spPr>
              <a:solidFill>
                <a:schemeClr val="tx1"/>
              </a:solidFill>
              <a:ln w="19050">
                <a:solidFill>
                  <a:schemeClr val="lt1"/>
                </a:solidFill>
              </a:ln>
              <a:effectLst/>
            </c:spPr>
            <c:extLst>
              <c:ext xmlns:c16="http://schemas.microsoft.com/office/drawing/2014/chart" uri="{C3380CC4-5D6E-409C-BE32-E72D297353CC}">
                <c16:uniqueId val="{00000003-778C-431F-8728-784914E735C6}"/>
              </c:ext>
            </c:extLst>
          </c:dPt>
          <c:dPt>
            <c:idx val="2"/>
            <c:bubble3D val="0"/>
            <c:spPr>
              <a:solidFill>
                <a:schemeClr val="bg1">
                  <a:lumMod val="65000"/>
                </a:schemeClr>
              </a:solidFill>
              <a:ln w="19050">
                <a:solidFill>
                  <a:schemeClr val="lt1"/>
                </a:solidFill>
              </a:ln>
              <a:effectLst/>
            </c:spPr>
            <c:extLst>
              <c:ext xmlns:c16="http://schemas.microsoft.com/office/drawing/2014/chart" uri="{C3380CC4-5D6E-409C-BE32-E72D297353CC}">
                <c16:uniqueId val="{00000005-778C-431F-8728-784914E735C6}"/>
              </c:ext>
            </c:extLst>
          </c:dPt>
          <c:dPt>
            <c:idx val="3"/>
            <c:bubble3D val="0"/>
            <c:spPr>
              <a:solidFill>
                <a:srgbClr val="F4CCCD"/>
              </a:solidFill>
              <a:ln w="19050">
                <a:solidFill>
                  <a:schemeClr val="lt1"/>
                </a:solidFill>
              </a:ln>
              <a:effectLst/>
            </c:spPr>
            <c:extLst>
              <c:ext xmlns:c16="http://schemas.microsoft.com/office/drawing/2014/chart" uri="{C3380CC4-5D6E-409C-BE32-E72D297353CC}">
                <c16:uniqueId val="{00000007-204B-4977-AC4C-68A14415E09D}"/>
              </c:ext>
            </c:extLst>
          </c:dPt>
          <c:dLbls>
            <c:dLbl>
              <c:idx val="3"/>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7-204B-4977-AC4C-68A14415E09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Sheet1!$A$2:$A$5</c:f>
              <c:strCache>
                <c:ptCount val="4"/>
                <c:pt idx="0">
                  <c:v>Key Personas (n=3132)</c:v>
                </c:pt>
                <c:pt idx="1">
                  <c:v>Auxiliary Personas (n=46097)</c:v>
                </c:pt>
                <c:pt idx="2">
                  <c:v>Leakage HCPs (n=5080)</c:v>
                </c:pt>
                <c:pt idx="3">
                  <c:v>Undifferentiated HCPs (n=13313)</c:v>
                </c:pt>
              </c:strCache>
            </c:strRef>
          </c:cat>
          <c:val>
            <c:numRef>
              <c:f>Sheet1!$B$2:$B$5</c:f>
              <c:numCache>
                <c:formatCode>_(* #,##0_);_(* \(#,##0\);_(* "-"??_);_(@_)</c:formatCode>
                <c:ptCount val="4"/>
                <c:pt idx="0">
                  <c:v>3132</c:v>
                </c:pt>
                <c:pt idx="1">
                  <c:v>46097</c:v>
                </c:pt>
                <c:pt idx="2">
                  <c:v>5080</c:v>
                </c:pt>
                <c:pt idx="3">
                  <c:v>13313</c:v>
                </c:pt>
              </c:numCache>
            </c:numRef>
          </c:val>
          <c:extLst>
            <c:ext xmlns:c16="http://schemas.microsoft.com/office/drawing/2014/chart" uri="{C3380CC4-5D6E-409C-BE32-E72D297353CC}">
              <c16:uniqueId val="{00000000-C1E0-4BA4-BCC7-022E6044AF5F}"/>
            </c:ext>
          </c:extLst>
        </c:ser>
        <c:dLbls>
          <c:showLegendKey val="0"/>
          <c:showVal val="1"/>
          <c:showCatName val="0"/>
          <c:showSerName val="0"/>
          <c:showPercent val="0"/>
          <c:showBubbleSize val="0"/>
          <c:showLeaderLines val="0"/>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289064-E8E0-45CF-9741-60BFB8626636}" type="datetimeFigureOut">
              <a:rPr lang="en-IN" smtClean="0"/>
              <a:t>02-06-2026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77EC6-ED85-4EBD-963F-AB6DBFAF84C4}" type="slidenum">
              <a:rPr lang="en-IN" smtClean="0"/>
              <a:t>‹#›</a:t>
            </a:fld>
            <a:endParaRPr lang="en-IN"/>
          </a:p>
        </p:txBody>
      </p:sp>
    </p:spTree>
    <p:extLst>
      <p:ext uri="{BB962C8B-B14F-4D97-AF65-F5344CB8AC3E}">
        <p14:creationId xmlns:p14="http://schemas.microsoft.com/office/powerpoint/2010/main" val="2318219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JP"/>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E0EA7B-6822-4EC8-8C65-EACC542A139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5287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10E9-B6A2-33A4-7294-7ECA61B81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67A6B-863E-1B42-CACB-E8020E7358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DDAB5C-CD2C-8EBB-4FE7-440A0C7D2C6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9D16E86-97AF-5CBB-B9DE-6F040BC2AE5C}"/>
              </a:ext>
            </a:extLst>
          </p:cNvPr>
          <p:cNvSpPr>
            <a:spLocks noGrp="1"/>
          </p:cNvSpPr>
          <p:nvPr>
            <p:ph type="sldNum" sz="quarter" idx="5"/>
          </p:nvPr>
        </p:nvSpPr>
        <p:spPr/>
        <p:txBody>
          <a:bodyPr/>
          <a:lstStyle/>
          <a:p>
            <a:fld id="{D426BDD4-DB53-4D14-B06E-B3E0115AAC20}" type="slidenum">
              <a:rPr lang="en-US" smtClean="0"/>
              <a:t>9</a:t>
            </a:fld>
            <a:endParaRPr lang="en-US"/>
          </a:p>
        </p:txBody>
      </p:sp>
    </p:spTree>
    <p:extLst>
      <p:ext uri="{BB962C8B-B14F-4D97-AF65-F5344CB8AC3E}">
        <p14:creationId xmlns:p14="http://schemas.microsoft.com/office/powerpoint/2010/main" val="3327752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E7CAA-D9D5-513E-F7B3-F798C992E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FC17E-25D0-3FA9-8992-75782D7FB0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EC6A322-420D-7F44-1594-2E4EBF19420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DA995EF-D819-741B-AD6B-E7B4DB7EF141}"/>
              </a:ext>
            </a:extLst>
          </p:cNvPr>
          <p:cNvSpPr>
            <a:spLocks noGrp="1"/>
          </p:cNvSpPr>
          <p:nvPr>
            <p:ph type="sldNum" sz="quarter" idx="5"/>
          </p:nvPr>
        </p:nvSpPr>
        <p:spPr/>
        <p:txBody>
          <a:bodyPr/>
          <a:lstStyle/>
          <a:p>
            <a:fld id="{D426BDD4-DB53-4D14-B06E-B3E0115AAC20}" type="slidenum">
              <a:rPr lang="en-US" smtClean="0"/>
              <a:t>10</a:t>
            </a:fld>
            <a:endParaRPr lang="en-US"/>
          </a:p>
        </p:txBody>
      </p:sp>
    </p:spTree>
    <p:extLst>
      <p:ext uri="{BB962C8B-B14F-4D97-AF65-F5344CB8AC3E}">
        <p14:creationId xmlns:p14="http://schemas.microsoft.com/office/powerpoint/2010/main" val="722403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FD0A7-2D21-3080-29D5-0558F97A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36501-1DE7-9CB1-E445-E664DA4E95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2A851B-1DA2-1192-9870-603F08E0CF7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FCED956-A554-BAA7-A8F8-91F585F58B24}"/>
              </a:ext>
            </a:extLst>
          </p:cNvPr>
          <p:cNvSpPr>
            <a:spLocks noGrp="1"/>
          </p:cNvSpPr>
          <p:nvPr>
            <p:ph type="sldNum" sz="quarter" idx="5"/>
          </p:nvPr>
        </p:nvSpPr>
        <p:spPr/>
        <p:txBody>
          <a:bodyPr/>
          <a:lstStyle/>
          <a:p>
            <a:fld id="{D426BDD4-DB53-4D14-B06E-B3E0115AAC20}" type="slidenum">
              <a:rPr lang="en-US" smtClean="0"/>
              <a:t>13</a:t>
            </a:fld>
            <a:endParaRPr lang="en-US"/>
          </a:p>
        </p:txBody>
      </p:sp>
    </p:spTree>
    <p:extLst>
      <p:ext uri="{BB962C8B-B14F-4D97-AF65-F5344CB8AC3E}">
        <p14:creationId xmlns:p14="http://schemas.microsoft.com/office/powerpoint/2010/main" val="600219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48FAA-416B-2EA0-CD70-51C578DC2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0F91D-6CB1-4B66-57E9-E819CB6442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1C86FC-678B-6DFC-7AA0-548704A25E8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B4DA771-EB53-0979-1E37-C96B60C82AD8}"/>
              </a:ext>
            </a:extLst>
          </p:cNvPr>
          <p:cNvSpPr>
            <a:spLocks noGrp="1"/>
          </p:cNvSpPr>
          <p:nvPr>
            <p:ph type="sldNum" sz="quarter" idx="5"/>
          </p:nvPr>
        </p:nvSpPr>
        <p:spPr/>
        <p:txBody>
          <a:bodyPr/>
          <a:lstStyle/>
          <a:p>
            <a:fld id="{D426BDD4-DB53-4D14-B06E-B3E0115AAC20}" type="slidenum">
              <a:rPr lang="en-US" smtClean="0"/>
              <a:t>14</a:t>
            </a:fld>
            <a:endParaRPr lang="en-US"/>
          </a:p>
        </p:txBody>
      </p:sp>
    </p:spTree>
    <p:extLst>
      <p:ext uri="{BB962C8B-B14F-4D97-AF65-F5344CB8AC3E}">
        <p14:creationId xmlns:p14="http://schemas.microsoft.com/office/powerpoint/2010/main" val="809917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4948E-F295-7660-079C-7D3516F1F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B5B56-9DFA-1609-A31A-F8976CF7F8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89EA56-E631-2C8F-8AC5-AA66CF4649D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6652306-E709-ED8C-E312-828899FBBA2F}"/>
              </a:ext>
            </a:extLst>
          </p:cNvPr>
          <p:cNvSpPr>
            <a:spLocks noGrp="1"/>
          </p:cNvSpPr>
          <p:nvPr>
            <p:ph type="sldNum" sz="quarter" idx="5"/>
          </p:nvPr>
        </p:nvSpPr>
        <p:spPr/>
        <p:txBody>
          <a:bodyPr/>
          <a:lstStyle/>
          <a:p>
            <a:fld id="{D426BDD4-DB53-4D14-B06E-B3E0115AAC20}" type="slidenum">
              <a:rPr lang="en-US" smtClean="0"/>
              <a:t>15</a:t>
            </a:fld>
            <a:endParaRPr lang="en-US"/>
          </a:p>
        </p:txBody>
      </p:sp>
    </p:spTree>
    <p:extLst>
      <p:ext uri="{BB962C8B-B14F-4D97-AF65-F5344CB8AC3E}">
        <p14:creationId xmlns:p14="http://schemas.microsoft.com/office/powerpoint/2010/main" val="2647283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Here we are bringing together the </a:t>
            </a:r>
            <a:r>
              <a:rPr lang="en-US" sz="1200" b="1" i="0" kern="1200">
                <a:solidFill>
                  <a:schemeClr val="tx1"/>
                </a:solidFill>
                <a:effectLst/>
                <a:latin typeface="+mn-lt"/>
                <a:ea typeface="+mn-ea"/>
                <a:cs typeface="+mn-cs"/>
              </a:rPr>
              <a:t>full value of the engagement</a:t>
            </a:r>
            <a:r>
              <a:rPr lang="en-US" sz="1200" b="0" i="0" kern="1200">
                <a:solidFill>
                  <a:schemeClr val="tx1"/>
                </a:solidFill>
                <a:effectLst/>
                <a:latin typeface="+mn-lt"/>
                <a:ea typeface="+mn-ea"/>
                <a:cs typeface="+mn-cs"/>
              </a:rPr>
              <a:t> how we translate claims and referral data into a practical understanding of the narcolepsy ecosystem that Takeda can act on for launch.</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We start with </a:t>
            </a:r>
            <a:r>
              <a:rPr lang="en-US" sz="1200" b="1" i="0" kern="1200">
                <a:solidFill>
                  <a:schemeClr val="tx1"/>
                </a:solidFill>
                <a:effectLst/>
                <a:latin typeface="+mn-lt"/>
                <a:ea typeface="+mn-ea"/>
                <a:cs typeface="+mn-cs"/>
              </a:rPr>
              <a:t>referral network structure</a:t>
            </a:r>
            <a:r>
              <a:rPr lang="en-US" sz="1200" b="0" i="0" kern="1200">
                <a:solidFill>
                  <a:schemeClr val="tx1"/>
                </a:solidFill>
                <a:effectLst/>
                <a:latin typeface="+mn-lt"/>
                <a:ea typeface="+mn-ea"/>
                <a:cs typeface="+mn-cs"/>
              </a:rPr>
              <a:t>, because in narcolepsy the way patients move is rarely linear. Instead of viewing care as a sequence of visits, we reconstruct the ecosystem as a network of providers and institutions connected by real patient flows.</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 This makes visible the structure that governs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where patients go,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who sits upstream,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who receives referrals,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and how tightly or loosely connected different parts of the system are.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structural view becomes the foundation for everything else on the slide.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From there, we identify </a:t>
            </a:r>
            <a:r>
              <a:rPr lang="en-US" sz="1200" b="1" i="0" kern="1200">
                <a:solidFill>
                  <a:schemeClr val="tx1"/>
                </a:solidFill>
                <a:effectLst/>
                <a:latin typeface="+mn-lt"/>
                <a:ea typeface="+mn-ea"/>
                <a:cs typeface="+mn-cs"/>
              </a:rPr>
              <a:t>key referral hubs and bridge HCPs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These are the providers and institutions that disproportionately influence patient movement either by anchoring referral pathways or by connecting specialties, care settings, or systems that would otherwise remain siloed.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Importantly, these control points don’t always align with the highest‑volume prescribers.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For launch, this helps Takeda focus attention on the HCPs and HCOs that shape access and downstream treatment behavior, not just those who see the most patients today.</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The next layer translates the national network into </a:t>
            </a:r>
            <a:r>
              <a:rPr lang="en-US" sz="1200" b="1" i="0" kern="1200">
                <a:solidFill>
                  <a:schemeClr val="tx1"/>
                </a:solidFill>
                <a:effectLst/>
                <a:latin typeface="+mn-lt"/>
                <a:ea typeface="+mn-ea"/>
                <a:cs typeface="+mn-cs"/>
              </a:rPr>
              <a:t>regional distribution and clusters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Referral behavior varies significantly by geography, driven by local systems, access constraints, and practice patterns.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By segmenting the ecosystem into regional clusters, we can characterize where networks are dense and coordinated versus fragmented and dependent on a small number of connectors.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allows Takeda to move from a single national view to region‑specific insights that align with </a:t>
            </a:r>
            <a:r>
              <a:rPr lang="en-US" sz="1200" b="1" i="0" kern="1200">
                <a:solidFill>
                  <a:schemeClr val="tx1"/>
                </a:solidFill>
                <a:effectLst/>
                <a:latin typeface="+mn-lt"/>
                <a:ea typeface="+mn-ea"/>
                <a:cs typeface="+mn-cs"/>
              </a:rPr>
              <a:t>how the field actually operates.</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Building on that, we identify </a:t>
            </a:r>
            <a:r>
              <a:rPr lang="en-US" sz="1200" b="1" i="0" kern="1200">
                <a:solidFill>
                  <a:schemeClr val="tx1"/>
                </a:solidFill>
                <a:effectLst/>
                <a:latin typeface="+mn-lt"/>
                <a:ea typeface="+mn-ea"/>
                <a:cs typeface="+mn-cs"/>
              </a:rPr>
              <a:t>regional opportunity areas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These are geographies where fragmentation, under‑connected networks, or reliance on a limited set of hubs create opportunities for targeted education and engagement.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Rather than treating all regions equally, this output helps prioritize where focused intervention is most likely to accelerate diagnosis and treatment initiation ahead of launch.</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We then shift from structure to </a:t>
            </a:r>
            <a:r>
              <a:rPr lang="en-US" sz="1200" b="1" i="0" kern="1200">
                <a:solidFill>
                  <a:schemeClr val="tx1"/>
                </a:solidFill>
                <a:effectLst/>
                <a:latin typeface="+mn-lt"/>
                <a:ea typeface="+mn-ea"/>
                <a:cs typeface="+mn-cs"/>
              </a:rPr>
              <a:t>patient flow and leakage</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output identifies where patients stall, divert, or drop out across the care journey from suspicion to diagnosis to treatment.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Instead of viewing leakage as a generic problem, we quantify where it occurs and how frequently, providing a clear view of the specific points in the journey that delay care.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Crucially, we connect those leakage points back to the ecosystem through </a:t>
            </a:r>
            <a:r>
              <a:rPr lang="en-US" sz="1200" b="1" i="0" kern="1200">
                <a:solidFill>
                  <a:schemeClr val="tx1"/>
                </a:solidFill>
                <a:effectLst/>
                <a:latin typeface="+mn-lt"/>
                <a:ea typeface="+mn-ea"/>
                <a:cs typeface="+mn-cs"/>
              </a:rPr>
              <a:t>root‑cause analysis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helps distinguish whether delays are driven by missing referral bridges, access limitations, specialty handoffs, or network fragmentation.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For Takeda, this reframes leakage from a broad awareness challenge into a set of targeted, addressable issues tied to specific providers, regions, or structures.</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Finally, we assess </a:t>
            </a:r>
            <a:r>
              <a:rPr lang="en-US" sz="1200" b="1" i="0" kern="1200">
                <a:solidFill>
                  <a:schemeClr val="tx1"/>
                </a:solidFill>
                <a:effectLst/>
                <a:latin typeface="+mn-lt"/>
                <a:ea typeface="+mn-ea"/>
                <a:cs typeface="+mn-cs"/>
              </a:rPr>
              <a:t>peer influence and adoption dynamics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Adoption in specialty ecosystems rarely happens in isolation it propagates through professional relationships and referral networks.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By quantifying influence and connectivity, we identify where adoption is likely to spread quickly and where it may be slower due to network constraints.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helps Takeda anticipate diffusion dynamics ahead of launch and prioritize stakeholders who can accelerate uptake beyond their own prescribing behavior.</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Taken together, these outputs provide a </a:t>
            </a:r>
            <a:r>
              <a:rPr lang="en-US" sz="1200" b="1" i="0" kern="1200">
                <a:solidFill>
                  <a:schemeClr val="tx1"/>
                </a:solidFill>
                <a:effectLst/>
                <a:latin typeface="+mn-lt"/>
                <a:ea typeface="+mn-ea"/>
                <a:cs typeface="+mn-cs"/>
              </a:rPr>
              <a:t>unified ecosystem view</a:t>
            </a:r>
            <a:r>
              <a:rPr lang="en-US" sz="1200" b="0" i="0" kern="1200">
                <a:solidFill>
                  <a:schemeClr val="tx1"/>
                </a:solidFill>
                <a:effectLst/>
                <a:latin typeface="+mn-lt"/>
                <a:ea typeface="+mn-ea"/>
                <a:cs typeface="+mn-cs"/>
              </a:rPr>
              <a:t> showing who controls patient movement, how that varies by region, where patients leak, and how influence shapes adoption. </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The goal is not just insight, but </a:t>
            </a:r>
            <a:r>
              <a:rPr lang="en-US" sz="1200" b="1" i="0" kern="1200">
                <a:solidFill>
                  <a:schemeClr val="tx1"/>
                </a:solidFill>
                <a:effectLst/>
                <a:latin typeface="+mn-lt"/>
                <a:ea typeface="+mn-ea"/>
                <a:cs typeface="+mn-cs"/>
              </a:rPr>
              <a:t>clear, actionable guidance</a:t>
            </a:r>
            <a:r>
              <a:rPr lang="en-US" sz="1200" b="0" i="0" kern="1200">
                <a:solidFill>
                  <a:schemeClr val="tx1"/>
                </a:solidFill>
                <a:effectLst/>
                <a:latin typeface="+mn-lt"/>
                <a:ea typeface="+mn-ea"/>
                <a:cs typeface="+mn-cs"/>
              </a:rPr>
              <a:t> that informs commercial, medical, and field execution as Takeda prepares for launch.</a:t>
            </a:r>
          </a:p>
          <a:p>
            <a:endParaRPr lang="en-US"/>
          </a:p>
        </p:txBody>
      </p:sp>
      <p:sp>
        <p:nvSpPr>
          <p:cNvPr id="4" name="Slide Number Placeholder 3"/>
          <p:cNvSpPr>
            <a:spLocks noGrp="1"/>
          </p:cNvSpPr>
          <p:nvPr>
            <p:ph type="sldNum" sz="quarter" idx="5"/>
          </p:nvPr>
        </p:nvSpPr>
        <p:spPr/>
        <p:txBody>
          <a:bodyPr/>
          <a:lstStyle/>
          <a:p>
            <a:fld id="{49E0EA7B-6822-4EC8-8C65-EACC542A1394}" type="slidenum">
              <a:rPr lang="en-US" smtClean="0"/>
              <a:t>18</a:t>
            </a:fld>
            <a:endParaRPr lang="en-US"/>
          </a:p>
        </p:txBody>
      </p:sp>
    </p:spTree>
    <p:extLst>
      <p:ext uri="{BB962C8B-B14F-4D97-AF65-F5344CB8AC3E}">
        <p14:creationId xmlns:p14="http://schemas.microsoft.com/office/powerpoint/2010/main" val="573989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Total HCPs : 67,197</a:t>
            </a:r>
            <a:br>
              <a:rPr lang="en-US"/>
            </a:br>
            <a:r>
              <a:rPr lang="en-US"/>
              <a:t>Targeted Cohort: 5,207</a:t>
            </a:r>
            <a:br>
              <a:rPr lang="en-US"/>
            </a:br>
            <a:r>
              <a:rPr lang="en-US"/>
              <a:t>Treaters: 265</a:t>
            </a:r>
            <a:br>
              <a:rPr lang="en-US"/>
            </a:br>
            <a:r>
              <a:rPr lang="en-US"/>
              <a:t>Diagnosers: 296</a:t>
            </a:r>
            <a:br>
              <a:rPr lang="en-US"/>
            </a:br>
            <a:r>
              <a:rPr lang="en-US"/>
              <a:t>Bridgers: 96</a:t>
            </a:r>
            <a:br>
              <a:rPr lang="en-US"/>
            </a:br>
            <a:r>
              <a:rPr lang="en-US"/>
              <a:t>Influencers: 621</a:t>
            </a:r>
            <a:br>
              <a:rPr lang="en-US"/>
            </a:br>
            <a:r>
              <a:rPr lang="en-US"/>
              <a:t>Referrers: 3929</a:t>
            </a:r>
          </a:p>
        </p:txBody>
      </p:sp>
      <p:sp>
        <p:nvSpPr>
          <p:cNvPr id="4" name="Slide Number Placeholder 3"/>
          <p:cNvSpPr>
            <a:spLocks noGrp="1"/>
          </p:cNvSpPr>
          <p:nvPr>
            <p:ph type="sldNum" sz="quarter" idx="5"/>
          </p:nvPr>
        </p:nvSpPr>
        <p:spPr/>
        <p:txBody>
          <a:bodyPr/>
          <a:lstStyle/>
          <a:p>
            <a:fld id="{86E1BF8E-A7EF-4A76-BF6C-D76442A66E18}" type="slidenum">
              <a:rPr lang="en-US" smtClean="0"/>
              <a:t>20</a:t>
            </a:fld>
            <a:endParaRPr lang="en-US"/>
          </a:p>
        </p:txBody>
      </p:sp>
    </p:spTree>
    <p:extLst>
      <p:ext uri="{BB962C8B-B14F-4D97-AF65-F5344CB8AC3E}">
        <p14:creationId xmlns:p14="http://schemas.microsoft.com/office/powerpoint/2010/main" val="194586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FAA29-6634-47B9-DD64-360CF9FFB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C9F4B-566A-8AB7-8772-209D351B141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10DD44F-DC83-4EE8-B35C-E84E29C9A00B}"/>
              </a:ext>
            </a:extLst>
          </p:cNvPr>
          <p:cNvSpPr>
            <a:spLocks noGrp="1"/>
          </p:cNvSpPr>
          <p:nvPr>
            <p:ph type="body" idx="1"/>
          </p:nvPr>
        </p:nvSpPr>
        <p:spPr/>
        <p:txBody>
          <a:bodyPr/>
          <a:lstStyle/>
          <a:p>
            <a:r>
              <a:rPr lang="en-US" dirty="0"/>
              <a:t>Total HCPs : 67,197</a:t>
            </a:r>
            <a:br>
              <a:rPr lang="en-US" dirty="0"/>
            </a:br>
            <a:r>
              <a:rPr lang="en-US" dirty="0"/>
              <a:t>Targeted Cohort: 5,207</a:t>
            </a:r>
            <a:br>
              <a:rPr lang="en-US" dirty="0"/>
            </a:br>
            <a:r>
              <a:rPr lang="en-US" dirty="0"/>
              <a:t>Treaters: 265</a:t>
            </a:r>
            <a:br>
              <a:rPr lang="en-US" dirty="0"/>
            </a:br>
            <a:r>
              <a:rPr lang="en-US"/>
              <a:t>Diagnosers</a:t>
            </a:r>
            <a:r>
              <a:rPr lang="en-US" dirty="0"/>
              <a:t>: 296</a:t>
            </a:r>
            <a:br>
              <a:rPr lang="en-US" dirty="0"/>
            </a:br>
            <a:r>
              <a:rPr lang="en-US" dirty="0"/>
              <a:t>Bridgers: 96</a:t>
            </a:r>
            <a:br>
              <a:rPr lang="en-US" dirty="0"/>
            </a:br>
            <a:r>
              <a:rPr lang="en-US" dirty="0"/>
              <a:t>Influencers: 621</a:t>
            </a:r>
            <a:br>
              <a:rPr lang="en-US" dirty="0"/>
            </a:br>
            <a:r>
              <a:rPr lang="en-US" dirty="0"/>
              <a:t>Referrers: 3929</a:t>
            </a:r>
          </a:p>
        </p:txBody>
      </p:sp>
      <p:sp>
        <p:nvSpPr>
          <p:cNvPr id="4" name="Slide Number Placeholder 3">
            <a:extLst>
              <a:ext uri="{FF2B5EF4-FFF2-40B4-BE49-F238E27FC236}">
                <a16:creationId xmlns:a16="http://schemas.microsoft.com/office/drawing/2014/main" id="{C0C3ADCB-3A04-1F84-095C-1D96BED8DD78}"/>
              </a:ext>
            </a:extLst>
          </p:cNvPr>
          <p:cNvSpPr>
            <a:spLocks noGrp="1"/>
          </p:cNvSpPr>
          <p:nvPr>
            <p:ph type="sldNum" sz="quarter" idx="5"/>
          </p:nvPr>
        </p:nvSpPr>
        <p:spPr/>
        <p:txBody>
          <a:bodyPr/>
          <a:lstStyle/>
          <a:p>
            <a:fld id="{86E1BF8E-A7EF-4A76-BF6C-D76442A66E18}" type="slidenum">
              <a:rPr lang="en-US" smtClean="0"/>
              <a:t>22</a:t>
            </a:fld>
            <a:endParaRPr lang="en-US"/>
          </a:p>
        </p:txBody>
      </p:sp>
    </p:spTree>
    <p:extLst>
      <p:ext uri="{BB962C8B-B14F-4D97-AF65-F5344CB8AC3E}">
        <p14:creationId xmlns:p14="http://schemas.microsoft.com/office/powerpoint/2010/main" val="4154132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DD861-FE3C-99F1-83B1-E42611CF2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5A3C9-1DBB-8B6C-6E1D-0DB99C01C6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F414DA-763A-4474-F65B-612600D74A52}"/>
              </a:ext>
            </a:extLst>
          </p:cNvPr>
          <p:cNvSpPr>
            <a:spLocks noGrp="1"/>
          </p:cNvSpPr>
          <p:nvPr>
            <p:ph type="body" idx="1"/>
          </p:nvPr>
        </p:nvSpPr>
        <p:spPr/>
        <p:txBody>
          <a:bodyPr/>
          <a:lstStyle/>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Here we are bringing together the </a:t>
            </a:r>
            <a:r>
              <a:rPr lang="en-US" sz="1200" b="1" i="0" kern="1200">
                <a:solidFill>
                  <a:schemeClr val="tx1"/>
                </a:solidFill>
                <a:effectLst/>
                <a:latin typeface="+mn-lt"/>
                <a:ea typeface="+mn-ea"/>
                <a:cs typeface="+mn-cs"/>
              </a:rPr>
              <a:t>full value of the engagement</a:t>
            </a:r>
            <a:r>
              <a:rPr lang="en-US" sz="1200" b="0" i="0" kern="1200">
                <a:solidFill>
                  <a:schemeClr val="tx1"/>
                </a:solidFill>
                <a:effectLst/>
                <a:latin typeface="+mn-lt"/>
                <a:ea typeface="+mn-ea"/>
                <a:cs typeface="+mn-cs"/>
              </a:rPr>
              <a:t> how we translate claims and referral data into a practical understanding of the narcolepsy ecosystem that Takeda can act on for launch.</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We start with </a:t>
            </a:r>
            <a:r>
              <a:rPr lang="en-US" sz="1200" b="1" i="0" kern="1200">
                <a:solidFill>
                  <a:schemeClr val="tx1"/>
                </a:solidFill>
                <a:effectLst/>
                <a:latin typeface="+mn-lt"/>
                <a:ea typeface="+mn-ea"/>
                <a:cs typeface="+mn-cs"/>
              </a:rPr>
              <a:t>referral network structure</a:t>
            </a:r>
            <a:r>
              <a:rPr lang="en-US" sz="1200" b="0" i="0" kern="1200">
                <a:solidFill>
                  <a:schemeClr val="tx1"/>
                </a:solidFill>
                <a:effectLst/>
                <a:latin typeface="+mn-lt"/>
                <a:ea typeface="+mn-ea"/>
                <a:cs typeface="+mn-cs"/>
              </a:rPr>
              <a:t>, because in narcolepsy the way patients move is rarely linear. Instead of viewing care as a sequence of visits, we reconstruct the ecosystem as a network of providers and institutions connected by real patient flows.</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 This makes visible the structure that governs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where patients go,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who sits upstream,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who receives referrals, </a:t>
            </a:r>
          </a:p>
          <a:p>
            <a:pPr marL="1085850" lvl="2" indent="-171450" fontAlgn="t">
              <a:buFont typeface="Arial" panose="020B0604020202020204" pitchFamily="34" charset="0"/>
              <a:buChar char="•"/>
            </a:pPr>
            <a:r>
              <a:rPr lang="en-US" sz="1200" b="0" i="0" kern="1200">
                <a:solidFill>
                  <a:schemeClr val="tx1"/>
                </a:solidFill>
                <a:effectLst/>
                <a:latin typeface="+mn-lt"/>
                <a:ea typeface="+mn-ea"/>
                <a:cs typeface="+mn-cs"/>
              </a:rPr>
              <a:t>and how tightly or loosely connected different parts of the system are.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structural view becomes the foundation for everything else on the slide.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From there, we identify </a:t>
            </a:r>
            <a:r>
              <a:rPr lang="en-US" sz="1200" b="1" i="0" kern="1200">
                <a:solidFill>
                  <a:schemeClr val="tx1"/>
                </a:solidFill>
                <a:effectLst/>
                <a:latin typeface="+mn-lt"/>
                <a:ea typeface="+mn-ea"/>
                <a:cs typeface="+mn-cs"/>
              </a:rPr>
              <a:t>key referral hubs and bridge HCPs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These are the providers and institutions that disproportionately influence patient movement either by anchoring referral pathways or by connecting specialties, care settings, or systems that would otherwise remain siloed.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Importantly, these control points don’t always align with the highest‑volume prescribers.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For launch, this helps Takeda focus attention on the HCPs and HCOs that shape access and downstream treatment behavior, not just those who see the most patients today.</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The next layer translates the national network into </a:t>
            </a:r>
            <a:r>
              <a:rPr lang="en-US" sz="1200" b="1" i="0" kern="1200">
                <a:solidFill>
                  <a:schemeClr val="tx1"/>
                </a:solidFill>
                <a:effectLst/>
                <a:latin typeface="+mn-lt"/>
                <a:ea typeface="+mn-ea"/>
                <a:cs typeface="+mn-cs"/>
              </a:rPr>
              <a:t>regional distribution and clusters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Referral behavior varies significantly by geography, driven by local systems, access constraints, and practice patterns.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By segmenting the ecosystem into regional clusters, we can characterize where networks are dense and coordinated versus fragmented and dependent on a small number of connectors.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allows Takeda to move from a single national view to region‑specific insights that align with </a:t>
            </a:r>
            <a:r>
              <a:rPr lang="en-US" sz="1200" b="1" i="0" kern="1200">
                <a:solidFill>
                  <a:schemeClr val="tx1"/>
                </a:solidFill>
                <a:effectLst/>
                <a:latin typeface="+mn-lt"/>
                <a:ea typeface="+mn-ea"/>
                <a:cs typeface="+mn-cs"/>
              </a:rPr>
              <a:t>how the field actually operates.</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Building on that, we identify </a:t>
            </a:r>
            <a:r>
              <a:rPr lang="en-US" sz="1200" b="1" i="0" kern="1200">
                <a:solidFill>
                  <a:schemeClr val="tx1"/>
                </a:solidFill>
                <a:effectLst/>
                <a:latin typeface="+mn-lt"/>
                <a:ea typeface="+mn-ea"/>
                <a:cs typeface="+mn-cs"/>
              </a:rPr>
              <a:t>regional opportunity areas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These are geographies where fragmentation, under‑connected networks, or reliance on a limited set of hubs create opportunities for targeted education and engagement.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Rather than treating all regions equally, this output helps prioritize where focused intervention is most likely to accelerate diagnosis and treatment initiation ahead of launch.</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We then shift from structure to </a:t>
            </a:r>
            <a:r>
              <a:rPr lang="en-US" sz="1200" b="1" i="0" kern="1200">
                <a:solidFill>
                  <a:schemeClr val="tx1"/>
                </a:solidFill>
                <a:effectLst/>
                <a:latin typeface="+mn-lt"/>
                <a:ea typeface="+mn-ea"/>
                <a:cs typeface="+mn-cs"/>
              </a:rPr>
              <a:t>patient flow and leakage</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output identifies where patients stall, divert, or drop out across the care journey from suspicion to diagnosis to treatment.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Instead of viewing leakage as a generic problem, we quantify where it occurs and how frequently, providing a clear view of the specific points in the journey that delay care.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Crucially, we connect those leakage points back to the ecosystem through </a:t>
            </a:r>
            <a:r>
              <a:rPr lang="en-US" sz="1200" b="1" i="0" kern="1200">
                <a:solidFill>
                  <a:schemeClr val="tx1"/>
                </a:solidFill>
                <a:effectLst/>
                <a:latin typeface="+mn-lt"/>
                <a:ea typeface="+mn-ea"/>
                <a:cs typeface="+mn-cs"/>
              </a:rPr>
              <a:t>root‑cause analysis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helps distinguish whether delays are driven by missing referral bridges, access limitations, specialty handoffs, or network fragmentation.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For Takeda, this reframes leakage from a broad awareness challenge into a set of targeted, addressable issues tied to specific providers, regions, or structures.</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Finally, we assess </a:t>
            </a:r>
            <a:r>
              <a:rPr lang="en-US" sz="1200" b="1" i="0" kern="1200">
                <a:solidFill>
                  <a:schemeClr val="tx1"/>
                </a:solidFill>
                <a:effectLst/>
                <a:latin typeface="+mn-lt"/>
                <a:ea typeface="+mn-ea"/>
                <a:cs typeface="+mn-cs"/>
              </a:rPr>
              <a:t>peer influence and adoption dynamics</a:t>
            </a:r>
            <a:r>
              <a:rPr lang="en-US" sz="1200" b="0" i="0" kern="1200">
                <a:solidFill>
                  <a:schemeClr val="tx1"/>
                </a:solidFill>
                <a:effectLst/>
                <a:latin typeface="+mn-lt"/>
                <a:ea typeface="+mn-ea"/>
                <a:cs typeface="+mn-cs"/>
              </a:rPr>
              <a:t>.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Adoption in specialty ecosystems rarely happens in isolation it propagates through professional relationships and referral networks.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By quantifying influence and connectivity, we identify where adoption is likely to spread quickly and where it may be slower due to network constraints. </a:t>
            </a:r>
          </a:p>
          <a:p>
            <a:pPr marL="628650" lvl="1" indent="-171450" fontAlgn="t">
              <a:buFont typeface="Arial" panose="020B0604020202020204" pitchFamily="34" charset="0"/>
              <a:buChar char="•"/>
            </a:pPr>
            <a:r>
              <a:rPr lang="en-US" sz="1200" b="0" i="0" kern="1200">
                <a:solidFill>
                  <a:schemeClr val="tx1"/>
                </a:solidFill>
                <a:effectLst/>
                <a:latin typeface="+mn-lt"/>
                <a:ea typeface="+mn-ea"/>
                <a:cs typeface="+mn-cs"/>
              </a:rPr>
              <a:t>This helps Takeda anticipate diffusion dynamics ahead of launch and prioritize stakeholders who can accelerate uptake beyond their own prescribing behavior.</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Taken together, these outputs provide a </a:t>
            </a:r>
            <a:r>
              <a:rPr lang="en-US" sz="1200" b="1" i="0" kern="1200">
                <a:solidFill>
                  <a:schemeClr val="tx1"/>
                </a:solidFill>
                <a:effectLst/>
                <a:latin typeface="+mn-lt"/>
                <a:ea typeface="+mn-ea"/>
                <a:cs typeface="+mn-cs"/>
              </a:rPr>
              <a:t>unified ecosystem view</a:t>
            </a:r>
            <a:r>
              <a:rPr lang="en-US" sz="1200" b="0" i="0" kern="1200">
                <a:solidFill>
                  <a:schemeClr val="tx1"/>
                </a:solidFill>
                <a:effectLst/>
                <a:latin typeface="+mn-lt"/>
                <a:ea typeface="+mn-ea"/>
                <a:cs typeface="+mn-cs"/>
              </a:rPr>
              <a:t> showing who controls patient movement, how that varies by region, where patients leak, and how influence shapes adoption. </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The goal is not just insight, but </a:t>
            </a:r>
            <a:r>
              <a:rPr lang="en-US" sz="1200" b="1" i="0" kern="1200">
                <a:solidFill>
                  <a:schemeClr val="tx1"/>
                </a:solidFill>
                <a:effectLst/>
                <a:latin typeface="+mn-lt"/>
                <a:ea typeface="+mn-ea"/>
                <a:cs typeface="+mn-cs"/>
              </a:rPr>
              <a:t>clear, actionable guidance</a:t>
            </a:r>
            <a:r>
              <a:rPr lang="en-US" sz="1200" b="0" i="0" kern="1200">
                <a:solidFill>
                  <a:schemeClr val="tx1"/>
                </a:solidFill>
                <a:effectLst/>
                <a:latin typeface="+mn-lt"/>
                <a:ea typeface="+mn-ea"/>
                <a:cs typeface="+mn-cs"/>
              </a:rPr>
              <a:t> that informs commercial, medical, and field execution as Takeda prepares for launch.</a:t>
            </a:r>
          </a:p>
          <a:p>
            <a:endParaRPr lang="en-US"/>
          </a:p>
        </p:txBody>
      </p:sp>
      <p:sp>
        <p:nvSpPr>
          <p:cNvPr id="4" name="Slide Number Placeholder 3">
            <a:extLst>
              <a:ext uri="{FF2B5EF4-FFF2-40B4-BE49-F238E27FC236}">
                <a16:creationId xmlns:a16="http://schemas.microsoft.com/office/drawing/2014/main" id="{EB6B186D-ABD2-CEC8-9FCC-B896D622D9F6}"/>
              </a:ext>
            </a:extLst>
          </p:cNvPr>
          <p:cNvSpPr>
            <a:spLocks noGrp="1"/>
          </p:cNvSpPr>
          <p:nvPr>
            <p:ph type="sldNum" sz="quarter" idx="5"/>
          </p:nvPr>
        </p:nvSpPr>
        <p:spPr/>
        <p:txBody>
          <a:bodyPr/>
          <a:lstStyle/>
          <a:p>
            <a:fld id="{49E0EA7B-6822-4EC8-8C65-EACC542A1394}" type="slidenum">
              <a:rPr lang="en-US" smtClean="0"/>
              <a:t>24</a:t>
            </a:fld>
            <a:endParaRPr lang="en-US"/>
          </a:p>
        </p:txBody>
      </p:sp>
    </p:spTree>
    <p:extLst>
      <p:ext uri="{BB962C8B-B14F-4D97-AF65-F5344CB8AC3E}">
        <p14:creationId xmlns:p14="http://schemas.microsoft.com/office/powerpoint/2010/main" val="1919549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3C506-DC43-7607-B9A4-9E05CF351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2168B-6D93-7F01-A599-E2D18C5FDB3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72AF355-F14A-1C7D-9E78-42BDA1A401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90247E-20CB-54EB-3B55-8CD4F21F72AE}"/>
              </a:ext>
            </a:extLst>
          </p:cNvPr>
          <p:cNvSpPr>
            <a:spLocks noGrp="1"/>
          </p:cNvSpPr>
          <p:nvPr>
            <p:ph type="sldNum" sz="quarter" idx="5"/>
          </p:nvPr>
        </p:nvSpPr>
        <p:spPr/>
        <p:txBody>
          <a:bodyPr/>
          <a:lstStyle/>
          <a:p>
            <a:fld id="{86E1BF8E-A7EF-4A76-BF6C-D76442A66E18}" type="slidenum">
              <a:rPr lang="en-US" smtClean="0"/>
              <a:t>35</a:t>
            </a:fld>
            <a:endParaRPr lang="en-US"/>
          </a:p>
        </p:txBody>
      </p:sp>
    </p:spTree>
    <p:extLst>
      <p:ext uri="{BB962C8B-B14F-4D97-AF65-F5344CB8AC3E}">
        <p14:creationId xmlns:p14="http://schemas.microsoft.com/office/powerpoint/2010/main" val="2789397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7.png"/><Relationship Id="rId4" Type="http://schemas.openxmlformats.org/officeDocument/2006/relationships/image" Target="../media/image6.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8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0.xml"/><Relationship Id="rId1" Type="http://schemas.openxmlformats.org/officeDocument/2006/relationships/tags" Target="../tags/tag30.xml"/><Relationship Id="rId5" Type="http://schemas.openxmlformats.org/officeDocument/2006/relationships/image" Target="../media/image5.png"/><Relationship Id="rId4" Type="http://schemas.openxmlformats.org/officeDocument/2006/relationships/image" Target="../media/image6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1">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82B9CECE-7D8F-8C4A-AFC6-A963B1F05594}"/>
              </a:ext>
            </a:extLst>
          </p:cNvPr>
          <p:cNvSpPr/>
          <p:nvPr userDrawn="1"/>
        </p:nvSpPr>
        <p:spPr>
          <a:xfrm>
            <a:off x="0" y="61263"/>
            <a:ext cx="255181" cy="849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chemeClr val="accent1"/>
              </a:solidFill>
            </a:endParaRPr>
          </a:p>
        </p:txBody>
      </p:sp>
      <p:sp>
        <p:nvSpPr>
          <p:cNvPr id="10" name="Picture Placeholder 9">
            <a:extLst>
              <a:ext uri="{FF2B5EF4-FFF2-40B4-BE49-F238E27FC236}">
                <a16:creationId xmlns:a16="http://schemas.microsoft.com/office/drawing/2014/main" id="{91E79114-5B74-9547-8292-DAB8965D43FD}"/>
              </a:ext>
            </a:extLst>
          </p:cNvPr>
          <p:cNvSpPr>
            <a:spLocks noGrp="1"/>
          </p:cNvSpPr>
          <p:nvPr>
            <p:ph type="pic" sz="quarter" idx="10"/>
          </p:nvPr>
        </p:nvSpPr>
        <p:spPr>
          <a:xfrm>
            <a:off x="749005" y="506"/>
            <a:ext cx="11459359" cy="3428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2246">
                <a:moveTo>
                  <a:pt x="0" y="1652"/>
                </a:moveTo>
                <a:lnTo>
                  <a:pt x="11459359" y="0"/>
                </a:lnTo>
                <a:cubicBezTo>
                  <a:pt x="11456406" y="1115201"/>
                  <a:pt x="11441877" y="2245391"/>
                  <a:pt x="11438924" y="3360592"/>
                </a:cubicBezTo>
                <a:lnTo>
                  <a:pt x="579722" y="3362246"/>
                </a:lnTo>
                <a:cubicBezTo>
                  <a:pt x="259550" y="3362246"/>
                  <a:pt x="0" y="3102696"/>
                  <a:pt x="0" y="2782524"/>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pic>
        <p:nvPicPr>
          <p:cNvPr id="18" name="Picture 17" descr="Takeda">
            <a:extLst>
              <a:ext uri="{FF2B5EF4-FFF2-40B4-BE49-F238E27FC236}">
                <a16:creationId xmlns:a16="http://schemas.microsoft.com/office/drawing/2014/main" id="{5F9376FC-2A9F-C644-AD88-C6E1B65B4D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90516" y="3362752"/>
            <a:ext cx="2251710" cy="1248865"/>
          </a:xfrm>
          <a:prstGeom prst="rect">
            <a:avLst/>
          </a:prstGeom>
        </p:spPr>
      </p:pic>
      <p:sp>
        <p:nvSpPr>
          <p:cNvPr id="15" name="Title 1">
            <a:extLst>
              <a:ext uri="{FF2B5EF4-FFF2-40B4-BE49-F238E27FC236}">
                <a16:creationId xmlns:a16="http://schemas.microsoft.com/office/drawing/2014/main" id="{9F5E8E0A-41D4-8346-9248-0B9AAC71238D}"/>
              </a:ext>
            </a:extLst>
          </p:cNvPr>
          <p:cNvSpPr>
            <a:spLocks noGrp="1"/>
          </p:cNvSpPr>
          <p:nvPr>
            <p:ph type="ctrTitle" hasCustomPrompt="1"/>
          </p:nvPr>
        </p:nvSpPr>
        <p:spPr>
          <a:xfrm>
            <a:off x="1194730" y="3956816"/>
            <a:ext cx="7699670" cy="1015681"/>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a:t>
            </a:r>
            <a:br>
              <a:rPr lang="en-GB"/>
            </a:br>
            <a:r>
              <a:rPr lang="en-GB"/>
              <a:t>Title</a:t>
            </a:r>
          </a:p>
        </p:txBody>
      </p:sp>
      <p:sp>
        <p:nvSpPr>
          <p:cNvPr id="17" name="Rectangle 16">
            <a:extLst>
              <a:ext uri="{FF2B5EF4-FFF2-40B4-BE49-F238E27FC236}">
                <a16:creationId xmlns:a16="http://schemas.microsoft.com/office/drawing/2014/main" id="{F5A63B8E-5554-A04E-B4C5-97ECEE58B6CC}"/>
              </a:ext>
            </a:extLst>
          </p:cNvPr>
          <p:cNvSpPr/>
          <p:nvPr userDrawn="1"/>
        </p:nvSpPr>
        <p:spPr>
          <a:xfrm>
            <a:off x="749005" y="3764031"/>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pic>
        <p:nvPicPr>
          <p:cNvPr id="21" name="Picture 20">
            <a:extLst>
              <a:ext uri="{FF2B5EF4-FFF2-40B4-BE49-F238E27FC236}">
                <a16:creationId xmlns:a16="http://schemas.microsoft.com/office/drawing/2014/main" id="{C2637423-F180-3943-B758-C8CCFA816E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sp>
        <p:nvSpPr>
          <p:cNvPr id="23" name="Text Placeholder 2">
            <a:extLst>
              <a:ext uri="{FF2B5EF4-FFF2-40B4-BE49-F238E27FC236}">
                <a16:creationId xmlns:a16="http://schemas.microsoft.com/office/drawing/2014/main" id="{F7327E43-4F43-914D-BE65-DB0ADB5A5E11}"/>
              </a:ext>
            </a:extLst>
          </p:cNvPr>
          <p:cNvSpPr>
            <a:spLocks noGrp="1"/>
          </p:cNvSpPr>
          <p:nvPr>
            <p:ph type="body" sz="quarter" idx="23" hasCustomPrompt="1"/>
          </p:nvPr>
        </p:nvSpPr>
        <p:spPr>
          <a:xfrm>
            <a:off x="1194728" y="5256031"/>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24" name="Text Placeholder 2">
            <a:extLst>
              <a:ext uri="{FF2B5EF4-FFF2-40B4-BE49-F238E27FC236}">
                <a16:creationId xmlns:a16="http://schemas.microsoft.com/office/drawing/2014/main" id="{4A23AA60-6137-8841-B2ED-51B2F2E5C1BB}"/>
              </a:ext>
            </a:extLst>
          </p:cNvPr>
          <p:cNvSpPr>
            <a:spLocks noGrp="1"/>
          </p:cNvSpPr>
          <p:nvPr>
            <p:ph type="body" sz="quarter" idx="24" hasCustomPrompt="1"/>
          </p:nvPr>
        </p:nvSpPr>
        <p:spPr>
          <a:xfrm>
            <a:off x="1194728" y="5515045"/>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25" name="Text Placeholder 2">
            <a:extLst>
              <a:ext uri="{FF2B5EF4-FFF2-40B4-BE49-F238E27FC236}">
                <a16:creationId xmlns:a16="http://schemas.microsoft.com/office/drawing/2014/main" id="{BB4FEAB2-22C6-3446-B4D2-5B610A729BCC}"/>
              </a:ext>
            </a:extLst>
          </p:cNvPr>
          <p:cNvSpPr>
            <a:spLocks noGrp="1"/>
          </p:cNvSpPr>
          <p:nvPr>
            <p:ph type="body" sz="quarter" idx="25" hasCustomPrompt="1"/>
          </p:nvPr>
        </p:nvSpPr>
        <p:spPr>
          <a:xfrm>
            <a:off x="1194728" y="5769532"/>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28" name="Text Placeholder 2">
            <a:extLst>
              <a:ext uri="{FF2B5EF4-FFF2-40B4-BE49-F238E27FC236}">
                <a16:creationId xmlns:a16="http://schemas.microsoft.com/office/drawing/2014/main" id="{4085F378-E668-A648-B7B1-8C76C309ED6D}"/>
              </a:ext>
            </a:extLst>
          </p:cNvPr>
          <p:cNvSpPr>
            <a:spLocks noGrp="1"/>
          </p:cNvSpPr>
          <p:nvPr>
            <p:ph type="body" sz="quarter" idx="26" hasCustomPrompt="1"/>
          </p:nvPr>
        </p:nvSpPr>
        <p:spPr>
          <a:xfrm>
            <a:off x="1194728" y="4997510"/>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
        <p:nvSpPr>
          <p:cNvPr id="13" name="Text Placeholder 2">
            <a:extLst>
              <a:ext uri="{FF2B5EF4-FFF2-40B4-BE49-F238E27FC236}">
                <a16:creationId xmlns:a16="http://schemas.microsoft.com/office/drawing/2014/main" id="{C1E31EF6-BED5-C14F-94AD-4E5C55B85515}"/>
              </a:ext>
            </a:extLst>
          </p:cNvPr>
          <p:cNvSpPr>
            <a:spLocks noGrp="1"/>
          </p:cNvSpPr>
          <p:nvPr>
            <p:ph type="body" sz="quarter" idx="16" hasCustomPrompt="1"/>
          </p:nvPr>
        </p:nvSpPr>
        <p:spPr>
          <a:xfrm>
            <a:off x="1194728" y="6027352"/>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910842567"/>
      </p:ext>
    </p:extLst>
  </p:cSld>
  <p:clrMapOvr>
    <a:masterClrMapping/>
  </p:clrMapOvr>
  <p:extLst>
    <p:ext uri="{DCECCB84-F9BA-43D5-87BE-67443E8EF086}">
      <p15:sldGuideLst xmlns:p15="http://schemas.microsoft.com/office/powerpoint/2012/main">
        <p15:guide id="1" orient="horz" pos="4065">
          <p15:clr>
            <a:srgbClr val="FBAE40"/>
          </p15:clr>
        </p15:guide>
        <p15:guide id="2" orient="horz" pos="2364">
          <p15:clr>
            <a:srgbClr val="FBAE40"/>
          </p15:clr>
        </p15:guide>
        <p15:guide id="3"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0" name="Picture Placeholder 3">
            <a:extLst>
              <a:ext uri="{FF2B5EF4-FFF2-40B4-BE49-F238E27FC236}">
                <a16:creationId xmlns:a16="http://schemas.microsoft.com/office/drawing/2014/main" id="{902F3095-EA6E-F94A-AF04-18ED691DEB75}"/>
              </a:ext>
            </a:extLst>
          </p:cNvPr>
          <p:cNvSpPr>
            <a:spLocks noGrp="1"/>
          </p:cNvSpPr>
          <p:nvPr>
            <p:ph type="pic" sz="quarter" idx="17"/>
          </p:nvPr>
        </p:nvSpPr>
        <p:spPr>
          <a:xfrm>
            <a:off x="5866513" y="376180"/>
            <a:ext cx="6326533" cy="6108535"/>
          </a:xfrm>
          <a:custGeom>
            <a:avLst/>
            <a:gdLst>
              <a:gd name="connsiteX0" fmla="*/ 0 w 6462532"/>
              <a:gd name="connsiteY0" fmla="*/ 3052818 h 6105636"/>
              <a:gd name="connsiteX1" fmla="*/ 3052818 w 6462532"/>
              <a:gd name="connsiteY1" fmla="*/ 0 h 6105636"/>
              <a:gd name="connsiteX2" fmla="*/ 3409714 w 6462532"/>
              <a:gd name="connsiteY2" fmla="*/ 0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309764"/>
              <a:gd name="connsiteY0" fmla="*/ 3060215 h 6113033"/>
              <a:gd name="connsiteX1" fmla="*/ 3052818 w 7309764"/>
              <a:gd name="connsiteY1" fmla="*/ 7397 h 6113033"/>
              <a:gd name="connsiteX2" fmla="*/ 6592752 w 7309764"/>
              <a:gd name="connsiteY2" fmla="*/ 53695 h 6113033"/>
              <a:gd name="connsiteX3" fmla="*/ 6462532 w 7309764"/>
              <a:gd name="connsiteY3" fmla="*/ 3060215 h 6113033"/>
              <a:gd name="connsiteX4" fmla="*/ 6462532 w 7309764"/>
              <a:gd name="connsiteY4" fmla="*/ 3060215 h 6113033"/>
              <a:gd name="connsiteX5" fmla="*/ 3409714 w 7309764"/>
              <a:gd name="connsiteY5" fmla="*/ 6113033 h 6113033"/>
              <a:gd name="connsiteX6" fmla="*/ 3052818 w 7309764"/>
              <a:gd name="connsiteY6" fmla="*/ 6113033 h 6113033"/>
              <a:gd name="connsiteX7" fmla="*/ 0 w 7309764"/>
              <a:gd name="connsiteY7" fmla="*/ 3060215 h 6113033"/>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6750471"/>
              <a:gd name="connsiteY0" fmla="*/ 3052818 h 6105636"/>
              <a:gd name="connsiteX1" fmla="*/ 3052818 w 6750471"/>
              <a:gd name="connsiteY1" fmla="*/ 0 h 6105636"/>
              <a:gd name="connsiteX2" fmla="*/ 6395982 w 6750471"/>
              <a:gd name="connsiteY2" fmla="*/ 11574 h 6105636"/>
              <a:gd name="connsiteX3" fmla="*/ 6462532 w 6750471"/>
              <a:gd name="connsiteY3" fmla="*/ 3052818 h 6105636"/>
              <a:gd name="connsiteX4" fmla="*/ 6462532 w 6750471"/>
              <a:gd name="connsiteY4" fmla="*/ 3052818 h 6105636"/>
              <a:gd name="connsiteX5" fmla="*/ 3409714 w 6750471"/>
              <a:gd name="connsiteY5" fmla="*/ 6105636 h 6105636"/>
              <a:gd name="connsiteX6" fmla="*/ 3052818 w 6750471"/>
              <a:gd name="connsiteY6" fmla="*/ 6105636 h 6105636"/>
              <a:gd name="connsiteX7" fmla="*/ 0 w 6750471"/>
              <a:gd name="connsiteY7" fmla="*/ 3052818 h 6105636"/>
              <a:gd name="connsiteX0" fmla="*/ 0 w 6462532"/>
              <a:gd name="connsiteY0" fmla="*/ 3052818 h 6105636"/>
              <a:gd name="connsiteX1" fmla="*/ 3052818 w 6462532"/>
              <a:gd name="connsiteY1" fmla="*/ 0 h 6105636"/>
              <a:gd name="connsiteX2" fmla="*/ 6395982 w 6462532"/>
              <a:gd name="connsiteY2" fmla="*/ 11574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6462532 w 6477004"/>
              <a:gd name="connsiteY4" fmla="*/ 3052819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5756477 w 6477004"/>
              <a:gd name="connsiteY4" fmla="*/ 3018095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3409714 w 6477004"/>
              <a:gd name="connsiteY4" fmla="*/ 6105637 h 6105637"/>
              <a:gd name="connsiteX5" fmla="*/ 3052818 w 6477004"/>
              <a:gd name="connsiteY5" fmla="*/ 6105637 h 6105637"/>
              <a:gd name="connsiteX6" fmla="*/ 0 w 6477004"/>
              <a:gd name="connsiteY6" fmla="*/ 3052819 h 6105637"/>
              <a:gd name="connsiteX0" fmla="*/ 0 w 6477004"/>
              <a:gd name="connsiteY0" fmla="*/ 3052819 h 6108535"/>
              <a:gd name="connsiteX1" fmla="*/ 3052818 w 6477004"/>
              <a:gd name="connsiteY1" fmla="*/ 1 h 6108535"/>
              <a:gd name="connsiteX2" fmla="*/ 6477004 w 6477004"/>
              <a:gd name="connsiteY2" fmla="*/ 0 h 6108535"/>
              <a:gd name="connsiteX3" fmla="*/ 6462532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477004"/>
              <a:gd name="connsiteY0" fmla="*/ 3052819 h 6108535"/>
              <a:gd name="connsiteX1" fmla="*/ 3052818 w 6477004"/>
              <a:gd name="connsiteY1" fmla="*/ 1 h 6108535"/>
              <a:gd name="connsiteX2" fmla="*/ 6477004 w 6477004"/>
              <a:gd name="connsiteY2" fmla="*/ 0 h 6108535"/>
              <a:gd name="connsiteX3" fmla="*/ 6323635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326533"/>
              <a:gd name="connsiteY0" fmla="*/ 3052819 h 6108535"/>
              <a:gd name="connsiteX1" fmla="*/ 3052818 w 6326533"/>
              <a:gd name="connsiteY1" fmla="*/ 1 h 6108535"/>
              <a:gd name="connsiteX2" fmla="*/ 6326533 w 6326533"/>
              <a:gd name="connsiteY2" fmla="*/ 0 h 6108535"/>
              <a:gd name="connsiteX3" fmla="*/ 6323635 w 6326533"/>
              <a:gd name="connsiteY3" fmla="*/ 6108535 h 6108535"/>
              <a:gd name="connsiteX4" fmla="*/ 3409714 w 6326533"/>
              <a:gd name="connsiteY4" fmla="*/ 6105637 h 6108535"/>
              <a:gd name="connsiteX5" fmla="*/ 3052818 w 6326533"/>
              <a:gd name="connsiteY5" fmla="*/ 6105637 h 6108535"/>
              <a:gd name="connsiteX6" fmla="*/ 0 w 6326533"/>
              <a:gd name="connsiteY6" fmla="*/ 3052819 h 610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6533" h="6108535">
                <a:moveTo>
                  <a:pt x="0" y="3052819"/>
                </a:moveTo>
                <a:cubicBezTo>
                  <a:pt x="0" y="1366794"/>
                  <a:pt x="1366793" y="1"/>
                  <a:pt x="3052818" y="1"/>
                </a:cubicBezTo>
                <a:lnTo>
                  <a:pt x="6326533" y="0"/>
                </a:lnTo>
                <a:lnTo>
                  <a:pt x="6323635" y="6108535"/>
                </a:lnTo>
                <a:lnTo>
                  <a:pt x="3409714" y="6105637"/>
                </a:lnTo>
                <a:lnTo>
                  <a:pt x="3052818" y="6105637"/>
                </a:lnTo>
                <a:cubicBezTo>
                  <a:pt x="1366793" y="6105637"/>
                  <a:pt x="0" y="4738844"/>
                  <a:pt x="0" y="3052819"/>
                </a:cubicBezTo>
                <a:close/>
              </a:path>
            </a:pathLst>
          </a:custGeom>
          <a:noFill/>
        </p:spPr>
        <p:txBody>
          <a:bodyPr>
            <a:normAutofit/>
          </a:bodyPr>
          <a:lstStyle>
            <a:lvl1pPr marL="0" indent="0">
              <a:buNone/>
              <a:defRPr sz="2400">
                <a:solidFill>
                  <a:schemeClr val="bg1"/>
                </a:solidFill>
              </a:defRPr>
            </a:lvl1pPr>
          </a:lstStyle>
          <a:p>
            <a:r>
              <a:rPr lang="en-US"/>
              <a:t>Click icon to add picture</a:t>
            </a:r>
          </a:p>
        </p:txBody>
      </p:sp>
      <p:pic>
        <p:nvPicPr>
          <p:cNvPr id="9" name="Picture 8" descr="Takeda">
            <a:extLst>
              <a:ext uri="{FF2B5EF4-FFF2-40B4-BE49-F238E27FC236}">
                <a16:creationId xmlns:a16="http://schemas.microsoft.com/office/drawing/2014/main" id="{F83AE827-0C93-0344-8F1E-82C9D7F8CD5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4417" y="-10972"/>
            <a:ext cx="2251710" cy="1248865"/>
          </a:xfrm>
          <a:prstGeom prst="rect">
            <a:avLst/>
          </a:prstGeom>
        </p:spPr>
      </p:pic>
      <p:pic>
        <p:nvPicPr>
          <p:cNvPr id="19" name="Picture 18">
            <a:extLst>
              <a:ext uri="{FF2B5EF4-FFF2-40B4-BE49-F238E27FC236}">
                <a16:creationId xmlns:a16="http://schemas.microsoft.com/office/drawing/2014/main" id="{C219044E-3CA3-8043-AF11-ED42DE4ECF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94730" y="6367253"/>
            <a:ext cx="1958578" cy="117462"/>
          </a:xfrm>
          <a:prstGeom prst="rect">
            <a:avLst/>
          </a:prstGeom>
        </p:spPr>
      </p:pic>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Tree>
    <p:extLst>
      <p:ext uri="{BB962C8B-B14F-4D97-AF65-F5344CB8AC3E}">
        <p14:creationId xmlns:p14="http://schemas.microsoft.com/office/powerpoint/2010/main" val="4139132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6862150"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pic>
        <p:nvPicPr>
          <p:cNvPr id="12" name="Picture 11">
            <a:extLst>
              <a:ext uri="{FF2B5EF4-FFF2-40B4-BE49-F238E27FC236}">
                <a16:creationId xmlns:a16="http://schemas.microsoft.com/office/drawing/2014/main" id="{16819C41-2A79-B54D-9C44-C619DA694E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pic>
        <p:nvPicPr>
          <p:cNvPr id="13" name="Picture 12">
            <a:extLst>
              <a:ext uri="{FF2B5EF4-FFF2-40B4-BE49-F238E27FC236}">
                <a16:creationId xmlns:a16="http://schemas.microsoft.com/office/drawing/2014/main" id="{3D2794BD-1A0D-7D48-855D-469111926BF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90516" y="-8600"/>
            <a:ext cx="2251710" cy="1248865"/>
          </a:xfrm>
          <a:prstGeom prst="rect">
            <a:avLst/>
          </a:prstGeom>
        </p:spPr>
      </p:pic>
      <p:sp>
        <p:nvSpPr>
          <p:cNvPr id="14" name="Text Placeholder 2">
            <a:extLst>
              <a:ext uri="{FF2B5EF4-FFF2-40B4-BE49-F238E27FC236}">
                <a16:creationId xmlns:a16="http://schemas.microsoft.com/office/drawing/2014/main" id="{B9909778-A51F-784D-ACA4-EC5DBA48BE16}"/>
              </a:ext>
            </a:extLst>
          </p:cNvPr>
          <p:cNvSpPr>
            <a:spLocks noGrp="1"/>
          </p:cNvSpPr>
          <p:nvPr>
            <p:ph type="body" sz="quarter" idx="16" hasCustomPrompt="1"/>
          </p:nvPr>
        </p:nvSpPr>
        <p:spPr>
          <a:xfrm>
            <a:off x="1194729" y="6319955"/>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300672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1-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1">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one-column layout. Click to add content</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スライド番号プレースホルダ 5">
            <a:extLst>
              <a:ext uri="{FF2B5EF4-FFF2-40B4-BE49-F238E27FC236}">
                <a16:creationId xmlns:a16="http://schemas.microsoft.com/office/drawing/2014/main" id="{51A4825E-63A1-564F-BC3A-FBC167ECE5EB}"/>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Rectangle 20">
            <a:extLst>
              <a:ext uri="{FF2B5EF4-FFF2-40B4-BE49-F238E27FC236}">
                <a16:creationId xmlns:a16="http://schemas.microsoft.com/office/drawing/2014/main" id="{FCF9CDB0-5730-E246-B31F-F5963CF8EFD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Text Placeholder 6">
            <a:extLst>
              <a:ext uri="{FF2B5EF4-FFF2-40B4-BE49-F238E27FC236}">
                <a16:creationId xmlns:a16="http://schemas.microsoft.com/office/drawing/2014/main" id="{44EB3013-FCB4-1B4E-A9F2-FD57CF727CC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224033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2-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2" spcCol="540000">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two-column layout. Click to add content. </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Two-column layout. Click to add title</a:t>
            </a:r>
            <a:endParaRPr kumimoji="1" lang="ja-JP" altLang="en-US"/>
          </a:p>
        </p:txBody>
      </p:sp>
      <p:sp>
        <p:nvSpPr>
          <p:cNvPr id="13" name="Rectangle 12">
            <a:extLst>
              <a:ext uri="{FF2B5EF4-FFF2-40B4-BE49-F238E27FC236}">
                <a16:creationId xmlns:a16="http://schemas.microsoft.com/office/drawing/2014/main" id="{F49634AC-7DDA-D44D-88DB-5850289DD64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0" name="スライド番号プレースホルダ 5">
            <a:extLst>
              <a:ext uri="{FF2B5EF4-FFF2-40B4-BE49-F238E27FC236}">
                <a16:creationId xmlns:a16="http://schemas.microsoft.com/office/drawing/2014/main" id="{E22A984C-7436-8C4C-83C8-F2AD6759204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Text Placeholder 6">
            <a:extLst>
              <a:ext uri="{FF2B5EF4-FFF2-40B4-BE49-F238E27FC236}">
                <a16:creationId xmlns:a16="http://schemas.microsoft.com/office/drawing/2014/main" id="{0A6720AD-4FA4-A146-AEEB-A4E558BAA3E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441178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age">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2279130"/>
          </a:xfrm>
          <a:prstGeom prst="rect">
            <a:avLst/>
          </a:prstGeom>
        </p:spPr>
        <p:txBody>
          <a:bodyPr wrap="square" lIns="0" tIns="0" rIns="0" bIns="0" anchor="ctr"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section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13" name="Picture Placeholder 9">
            <a:extLst>
              <a:ext uri="{FF2B5EF4-FFF2-40B4-BE49-F238E27FC236}">
                <a16:creationId xmlns:a16="http://schemas.microsoft.com/office/drawing/2014/main" id="{46656F8F-0621-5F47-BF80-4A4E365A2D91}"/>
              </a:ext>
            </a:extLst>
          </p:cNvPr>
          <p:cNvSpPr>
            <a:spLocks noGrp="1"/>
          </p:cNvSpPr>
          <p:nvPr>
            <p:ph type="pic" sz="quarter" idx="10"/>
          </p:nvPr>
        </p:nvSpPr>
        <p:spPr>
          <a:xfrm>
            <a:off x="6642541" y="-1"/>
            <a:ext cx="5565823" cy="6416675"/>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158474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782524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0592">
                <a:moveTo>
                  <a:pt x="0" y="1652"/>
                </a:moveTo>
                <a:lnTo>
                  <a:pt x="11459359" y="0"/>
                </a:lnTo>
                <a:cubicBezTo>
                  <a:pt x="11456406" y="1115201"/>
                  <a:pt x="11441877" y="2245391"/>
                  <a:pt x="11438924" y="3360592"/>
                </a:cubicBezTo>
                <a:lnTo>
                  <a:pt x="1188396" y="3358591"/>
                </a:lnTo>
                <a:cubicBezTo>
                  <a:pt x="848612" y="3356903"/>
                  <a:pt x="0" y="3267167"/>
                  <a:pt x="0" y="2946995"/>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spTree>
    <p:extLst>
      <p:ext uri="{BB962C8B-B14F-4D97-AF65-F5344CB8AC3E}">
        <p14:creationId xmlns:p14="http://schemas.microsoft.com/office/powerpoint/2010/main" val="976989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A5DA52-BBAF-EA48-AEC6-EA08F428CF57}"/>
              </a:ext>
            </a:extLst>
          </p:cNvPr>
          <p:cNvSpPr>
            <a:spLocks noGrp="1"/>
          </p:cNvSpPr>
          <p:nvPr>
            <p:ph type="body" sz="quarter" idx="10" hasCustomPrompt="1"/>
          </p:nvPr>
        </p:nvSpPr>
        <p:spPr>
          <a:xfrm>
            <a:off x="300038" y="371959"/>
            <a:ext cx="11591925" cy="6044716"/>
          </a:xfrm>
          <a:prstGeom prst="rect">
            <a:avLst/>
          </a:prstGeom>
        </p:spPr>
        <p:txBody>
          <a:bodyPr anchor="ctr" anchorCtr="0"/>
          <a:lstStyle>
            <a:lvl1pPr marL="0" indent="0" algn="ctr">
              <a:lnSpc>
                <a:spcPct val="100000"/>
              </a:lnSpc>
              <a:buNone/>
              <a:defRPr sz="3000"/>
            </a:lvl1pPr>
          </a:lstStyle>
          <a:p>
            <a:pPr lvl="0"/>
            <a:r>
              <a:rPr lang="en-US"/>
              <a:t>Blank slide</a:t>
            </a:r>
            <a:endParaRPr lang="en-JP"/>
          </a:p>
        </p:txBody>
      </p:sp>
      <p:sp>
        <p:nvSpPr>
          <p:cNvPr id="2" name="Rectangle 1">
            <a:extLst>
              <a:ext uri="{FF2B5EF4-FFF2-40B4-BE49-F238E27FC236}">
                <a16:creationId xmlns:a16="http://schemas.microsoft.com/office/drawing/2014/main" id="{21EFB23A-4F82-7CFB-40DF-92A2A9183DDF}"/>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Tree>
    <p:extLst>
      <p:ext uri="{BB962C8B-B14F-4D97-AF65-F5344CB8AC3E}">
        <p14:creationId xmlns:p14="http://schemas.microsoft.com/office/powerpoint/2010/main" val="2028385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dvanced 3-Column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Text Placeholder 6">
            <a:extLst>
              <a:ext uri="{FF2B5EF4-FFF2-40B4-BE49-F238E27FC236}">
                <a16:creationId xmlns:a16="http://schemas.microsoft.com/office/drawing/2014/main" id="{3BB454FD-9C16-FC47-B46E-6675394572BB}"/>
              </a:ext>
            </a:extLst>
          </p:cNvPr>
          <p:cNvSpPr>
            <a:spLocks noGrp="1"/>
          </p:cNvSpPr>
          <p:nvPr>
            <p:ph type="body" sz="quarter" idx="18" hasCustomPrompt="1"/>
          </p:nvPr>
        </p:nvSpPr>
        <p:spPr>
          <a:xfrm>
            <a:off x="4213726"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8" name="Text Placeholder 6">
            <a:extLst>
              <a:ext uri="{FF2B5EF4-FFF2-40B4-BE49-F238E27FC236}">
                <a16:creationId xmlns:a16="http://schemas.microsoft.com/office/drawing/2014/main" id="{568F3A49-7287-1C4D-93C8-50E3C0B4F15A}"/>
              </a:ext>
            </a:extLst>
          </p:cNvPr>
          <p:cNvSpPr>
            <a:spLocks noGrp="1"/>
          </p:cNvSpPr>
          <p:nvPr>
            <p:ph type="body" sz="quarter" idx="19" hasCustomPrompt="1"/>
          </p:nvPr>
        </p:nvSpPr>
        <p:spPr>
          <a:xfrm>
            <a:off x="8099967"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1" name="Footer Placeholder 8">
            <a:extLst>
              <a:ext uri="{FF2B5EF4-FFF2-40B4-BE49-F238E27FC236}">
                <a16:creationId xmlns:a16="http://schemas.microsoft.com/office/drawing/2014/main" id="{519BC59F-4516-0043-8BAC-F9FE45B6A9F4}"/>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0E2D4ABB-BC5B-754B-B0DE-676246A385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4" name="タイトル プレースホルダ 1">
            <a:extLst>
              <a:ext uri="{FF2B5EF4-FFF2-40B4-BE49-F238E27FC236}">
                <a16:creationId xmlns:a16="http://schemas.microsoft.com/office/drawing/2014/main" id="{CC986DF6-9894-F144-B9DA-A9DBE0000AB8}"/>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3" name="Rectangle 22">
            <a:extLst>
              <a:ext uri="{FF2B5EF4-FFF2-40B4-BE49-F238E27FC236}">
                <a16:creationId xmlns:a16="http://schemas.microsoft.com/office/drawing/2014/main" id="{886528CE-2840-6C44-965A-04D8835743E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スライド番号プレースホルダ 5">
            <a:extLst>
              <a:ext uri="{FF2B5EF4-FFF2-40B4-BE49-F238E27FC236}">
                <a16:creationId xmlns:a16="http://schemas.microsoft.com/office/drawing/2014/main" id="{854E474F-30B0-604E-9699-287AC57CAAFA}"/>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8" name="Text Placeholder 6">
            <a:extLst>
              <a:ext uri="{FF2B5EF4-FFF2-40B4-BE49-F238E27FC236}">
                <a16:creationId xmlns:a16="http://schemas.microsoft.com/office/drawing/2014/main" id="{C9681050-C142-4F4F-B3C6-6F52F3C55C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22" name="Text Placeholder 2">
            <a:extLst>
              <a:ext uri="{FF2B5EF4-FFF2-40B4-BE49-F238E27FC236}">
                <a16:creationId xmlns:a16="http://schemas.microsoft.com/office/drawing/2014/main" id="{110504E2-40F0-054E-8424-D247EF2CA216}"/>
              </a:ext>
            </a:extLst>
          </p:cNvPr>
          <p:cNvSpPr>
            <a:spLocks noGrp="1"/>
          </p:cNvSpPr>
          <p:nvPr>
            <p:ph type="body" sz="quarter" idx="20" hasCustomPrompt="1"/>
          </p:nvPr>
        </p:nvSpPr>
        <p:spPr>
          <a:xfrm>
            <a:off x="311151" y="1491373"/>
            <a:ext cx="11569700"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5" name="Text Placeholder 6">
            <a:extLst>
              <a:ext uri="{FF2B5EF4-FFF2-40B4-BE49-F238E27FC236}">
                <a16:creationId xmlns:a16="http://schemas.microsoft.com/office/drawing/2014/main" id="{073E75F2-7FFB-DC4C-8964-799372FCF583}"/>
              </a:ext>
            </a:extLst>
          </p:cNvPr>
          <p:cNvSpPr>
            <a:spLocks noGrp="1"/>
          </p:cNvSpPr>
          <p:nvPr>
            <p:ph type="body" sz="quarter" idx="21" hasCustomPrompt="1"/>
          </p:nvPr>
        </p:nvSpPr>
        <p:spPr>
          <a:xfrm>
            <a:off x="311150" y="1093767"/>
            <a:ext cx="11569700"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421474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dvanced 2/3 Image">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B3311DE3-EC35-4C49-805E-57AB2D90E99E}"/>
              </a:ext>
            </a:extLst>
          </p:cNvPr>
          <p:cNvSpPr>
            <a:spLocks noGrp="1"/>
          </p:cNvSpPr>
          <p:nvPr>
            <p:ph type="pic" sz="quarter" idx="10" hasCustomPrompt="1"/>
          </p:nvPr>
        </p:nvSpPr>
        <p:spPr>
          <a:xfrm>
            <a:off x="4210743" y="1093767"/>
            <a:ext cx="7988356" cy="5322908"/>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8356" h="5135028">
                <a:moveTo>
                  <a:pt x="0" y="0"/>
                </a:moveTo>
                <a:lnTo>
                  <a:pt x="7988281" y="7569"/>
                </a:lnTo>
                <a:cubicBezTo>
                  <a:pt x="7989186" y="2154376"/>
                  <a:pt x="7981645" y="2988221"/>
                  <a:pt x="7982550" y="5135028"/>
                </a:cubicBezTo>
                <a:lnTo>
                  <a:pt x="596656" y="5124807"/>
                </a:lnTo>
                <a:cubicBezTo>
                  <a:pt x="276484" y="5124807"/>
                  <a:pt x="16934" y="4865257"/>
                  <a:pt x="16934" y="4545085"/>
                </a:cubicBezTo>
                <a:cubicBezTo>
                  <a:pt x="11289" y="3022648"/>
                  <a:pt x="5645" y="1522437"/>
                  <a:pt x="0" y="0"/>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0" name="Footer Placeholder 8">
            <a:extLst>
              <a:ext uri="{FF2B5EF4-FFF2-40B4-BE49-F238E27FC236}">
                <a16:creationId xmlns:a16="http://schemas.microsoft.com/office/drawing/2014/main" id="{E4ACE247-6DA5-F044-A880-12BDFE14907B}"/>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1397373C-4723-444D-99E3-0FBCAFDAD4F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1545CFCD-ABA6-1349-9917-1DDD2762CB5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1" name="Rectangle 20">
            <a:extLst>
              <a:ext uri="{FF2B5EF4-FFF2-40B4-BE49-F238E27FC236}">
                <a16:creationId xmlns:a16="http://schemas.microsoft.com/office/drawing/2014/main" id="{97730F84-B57E-C441-B81C-A0677388FA64}"/>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78815F79-70B9-A343-88C1-1B41F15106A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6ACFB15D-3880-FB46-8B5A-E057FE4C9B5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EF3CD883-F623-E54C-A27A-38B7EB957052}"/>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B2D601E3-CC68-7845-AAF4-3AD141198B4E}"/>
              </a:ext>
            </a:extLst>
          </p:cNvPr>
          <p:cNvSpPr>
            <a:spLocks noGrp="1"/>
          </p:cNvSpPr>
          <p:nvPr>
            <p:ph type="body" sz="quarter" idx="21"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682892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dvanced 1/2 Image (Full Bleed)">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DA0F537B-2380-C640-8119-936AD7786464}"/>
              </a:ext>
            </a:extLst>
          </p:cNvPr>
          <p:cNvSpPr>
            <a:spLocks noGrp="1"/>
          </p:cNvSpPr>
          <p:nvPr>
            <p:ph type="pic" sz="quarter" idx="18" hasCustomPrompt="1"/>
          </p:nvPr>
        </p:nvSpPr>
        <p:spPr>
          <a:xfrm>
            <a:off x="6185454" y="-5494"/>
            <a:ext cx="6024384" cy="6863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4384"/>
              <a:gd name="connsiteY0" fmla="*/ 0 h 6857810"/>
              <a:gd name="connsiteX1" fmla="*/ 6015601 w 6024384"/>
              <a:gd name="connsiteY1" fmla="*/ 1730351 h 6857810"/>
              <a:gd name="connsiteX2" fmla="*/ 6024384 w 6024384"/>
              <a:gd name="connsiteY2" fmla="*/ 6857810 h 6857810"/>
              <a:gd name="connsiteX3" fmla="*/ 583404 w 6024384"/>
              <a:gd name="connsiteY3" fmla="*/ 6847589 h 6857810"/>
              <a:gd name="connsiteX4" fmla="*/ 3682 w 6024384"/>
              <a:gd name="connsiteY4" fmla="*/ 6267867 h 6857810"/>
              <a:gd name="connsiteX5" fmla="*/ 0 w 6024384"/>
              <a:gd name="connsiteY5" fmla="*/ 0 h 6857810"/>
              <a:gd name="connsiteX0" fmla="*/ 0 w 6024384"/>
              <a:gd name="connsiteY0" fmla="*/ 5684 h 6863494"/>
              <a:gd name="connsiteX1" fmla="*/ 6002349 w 6024384"/>
              <a:gd name="connsiteY1" fmla="*/ 0 h 6863494"/>
              <a:gd name="connsiteX2" fmla="*/ 6024384 w 6024384"/>
              <a:gd name="connsiteY2" fmla="*/ 6863494 h 6863494"/>
              <a:gd name="connsiteX3" fmla="*/ 583404 w 6024384"/>
              <a:gd name="connsiteY3" fmla="*/ 6853273 h 6863494"/>
              <a:gd name="connsiteX4" fmla="*/ 3682 w 6024384"/>
              <a:gd name="connsiteY4" fmla="*/ 6273551 h 6863494"/>
              <a:gd name="connsiteX5" fmla="*/ 0 w 6024384"/>
              <a:gd name="connsiteY5" fmla="*/ 5684 h 68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4384" h="6863494">
                <a:moveTo>
                  <a:pt x="0" y="5684"/>
                </a:moveTo>
                <a:lnTo>
                  <a:pt x="6002349" y="0"/>
                </a:lnTo>
                <a:cubicBezTo>
                  <a:pt x="6003254" y="2146807"/>
                  <a:pt x="6023479" y="4716687"/>
                  <a:pt x="6024384" y="6863494"/>
                </a:cubicBezTo>
                <a:lnTo>
                  <a:pt x="583404" y="6853273"/>
                </a:lnTo>
                <a:cubicBezTo>
                  <a:pt x="263232" y="6853273"/>
                  <a:pt x="3682" y="6593723"/>
                  <a:pt x="3682" y="6273551"/>
                </a:cubicBezTo>
                <a:cubicBezTo>
                  <a:pt x="-1963" y="4751114"/>
                  <a:pt x="5645" y="1528121"/>
                  <a:pt x="0" y="5684"/>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5708650" cy="2859620"/>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タイトル プレースホルダ 1">
            <a:extLst>
              <a:ext uri="{FF2B5EF4-FFF2-40B4-BE49-F238E27FC236}">
                <a16:creationId xmlns:a16="http://schemas.microsoft.com/office/drawing/2014/main" id="{86D6FEA8-06E4-474A-8491-CD1DDAE7D0D7}"/>
              </a:ext>
            </a:extLst>
          </p:cNvPr>
          <p:cNvSpPr>
            <a:spLocks noGrp="1"/>
          </p:cNvSpPr>
          <p:nvPr>
            <p:ph type="title" hasCustomPrompt="1"/>
          </p:nvPr>
        </p:nvSpPr>
        <p:spPr>
          <a:xfrm>
            <a:off x="606079" y="161605"/>
            <a:ext cx="5413722"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8" name="Rectangle 17">
            <a:extLst>
              <a:ext uri="{FF2B5EF4-FFF2-40B4-BE49-F238E27FC236}">
                <a16:creationId xmlns:a16="http://schemas.microsoft.com/office/drawing/2014/main" id="{CEDBCF76-3461-2245-8BB1-FA50AE27F6CA}"/>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FB98B4FE-9AC1-D142-89B5-4D3791685BC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7D5A74AA-F0D3-9243-967D-FEA6F7A20BC7}"/>
              </a:ext>
            </a:extLst>
          </p:cNvPr>
          <p:cNvSpPr>
            <a:spLocks noGrp="1"/>
          </p:cNvSpPr>
          <p:nvPr>
            <p:ph type="body" sz="quarter" idx="16" hasCustomPrompt="1"/>
          </p:nvPr>
        </p:nvSpPr>
        <p:spPr>
          <a:xfrm>
            <a:off x="606078" y="6523001"/>
            <a:ext cx="5413722"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D16C870C-B0F9-5A43-81FD-66BD75CC33C7}"/>
              </a:ext>
            </a:extLst>
          </p:cNvPr>
          <p:cNvSpPr>
            <a:spLocks noGrp="1"/>
          </p:cNvSpPr>
          <p:nvPr>
            <p:ph type="body" sz="quarter" idx="20" hasCustomPrompt="1"/>
          </p:nvPr>
        </p:nvSpPr>
        <p:spPr>
          <a:xfrm>
            <a:off x="311151" y="1491373"/>
            <a:ext cx="5704886"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C64E591A-1A88-9244-AC81-5B42BFE347C0}"/>
              </a:ext>
            </a:extLst>
          </p:cNvPr>
          <p:cNvSpPr>
            <a:spLocks noGrp="1"/>
          </p:cNvSpPr>
          <p:nvPr>
            <p:ph type="body" sz="quarter" idx="21" hasCustomPrompt="1"/>
          </p:nvPr>
        </p:nvSpPr>
        <p:spPr>
          <a:xfrm>
            <a:off x="311150" y="1093767"/>
            <a:ext cx="5704886"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741803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dvanced 1/3 Imag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7660042"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36961" y="1093767"/>
            <a:ext cx="4069500" cy="5331536"/>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500" h="5131753">
                <a:moveTo>
                  <a:pt x="0" y="6946"/>
                </a:moveTo>
                <a:lnTo>
                  <a:pt x="4069425" y="0"/>
                </a:lnTo>
                <a:cubicBezTo>
                  <a:pt x="4070330" y="2146807"/>
                  <a:pt x="4062788" y="2966138"/>
                  <a:pt x="4063693" y="5112945"/>
                </a:cubicBezTo>
                <a:lnTo>
                  <a:pt x="596656" y="5131753"/>
                </a:lnTo>
                <a:cubicBezTo>
                  <a:pt x="276484" y="5131753"/>
                  <a:pt x="16934" y="4872203"/>
                  <a:pt x="16934" y="4552031"/>
                </a:cubicBezTo>
                <a:cubicBezTo>
                  <a:pt x="11289" y="3029594"/>
                  <a:pt x="5645" y="1529383"/>
                  <a:pt x="0" y="6946"/>
                </a:cubicBezTo>
                <a:close/>
              </a:path>
            </a:pathLst>
          </a:custGeom>
          <a:noFill/>
        </p:spPr>
        <p:txBody>
          <a:bodyPr>
            <a:normAutofit/>
          </a:bodyPr>
          <a:lstStyle>
            <a:lvl1pPr marL="0" indent="0">
              <a:buNone/>
              <a:defRPr sz="1400">
                <a:solidFill>
                  <a:schemeClr val="tx1"/>
                </a:solidFill>
              </a:defRPr>
            </a:lvl1pPr>
          </a:lstStyle>
          <a:p>
            <a:r>
              <a:rPr lang="en-JP"/>
              <a:t>Insert Photo</a:t>
            </a:r>
          </a:p>
        </p:txBody>
      </p:sp>
      <p:pic>
        <p:nvPicPr>
          <p:cNvPr id="14" name="Picture 13" descr="Takeda">
            <a:extLst>
              <a:ext uri="{FF2B5EF4-FFF2-40B4-BE49-F238E27FC236}">
                <a16:creationId xmlns:a16="http://schemas.microsoft.com/office/drawing/2014/main" id="{334C6D4B-D00D-0346-BC97-8DCE371C280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CCEDFD04-9A53-9241-851E-1D01DC555ACC}"/>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Footer Placeholder 8">
            <a:extLst>
              <a:ext uri="{FF2B5EF4-FFF2-40B4-BE49-F238E27FC236}">
                <a16:creationId xmlns:a16="http://schemas.microsoft.com/office/drawing/2014/main" id="{1E1D8887-7EAE-1A40-9285-7C632FEAA8BF}"/>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3" name="Rectangle 22">
            <a:extLst>
              <a:ext uri="{FF2B5EF4-FFF2-40B4-BE49-F238E27FC236}">
                <a16:creationId xmlns:a16="http://schemas.microsoft.com/office/drawing/2014/main" id="{365B3EBD-E4F5-8E40-B07A-C04F3B1E7F2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6" name="スライド番号プレースホルダ 5">
            <a:extLst>
              <a:ext uri="{FF2B5EF4-FFF2-40B4-BE49-F238E27FC236}">
                <a16:creationId xmlns:a16="http://schemas.microsoft.com/office/drawing/2014/main" id="{3D5D14EF-A351-224D-8142-E1BEE44BBC9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7" name="Text Placeholder 6">
            <a:extLst>
              <a:ext uri="{FF2B5EF4-FFF2-40B4-BE49-F238E27FC236}">
                <a16:creationId xmlns:a16="http://schemas.microsoft.com/office/drawing/2014/main" id="{4D0A49B6-0BCC-C545-BF97-504B63062FE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D82FCE78-36AB-904B-98A8-CE3FFB1555E3}"/>
              </a:ext>
            </a:extLst>
          </p:cNvPr>
          <p:cNvSpPr>
            <a:spLocks noGrp="1"/>
          </p:cNvSpPr>
          <p:nvPr>
            <p:ph type="body" sz="quarter" idx="20" hasCustomPrompt="1"/>
          </p:nvPr>
        </p:nvSpPr>
        <p:spPr>
          <a:xfrm>
            <a:off x="311150" y="1491373"/>
            <a:ext cx="7660041"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72ECF95F-F25E-8248-A0F3-BB1749A1B406}"/>
              </a:ext>
            </a:extLst>
          </p:cNvPr>
          <p:cNvSpPr>
            <a:spLocks noGrp="1"/>
          </p:cNvSpPr>
          <p:nvPr>
            <p:ph type="body" sz="quarter" idx="21" hasCustomPrompt="1"/>
          </p:nvPr>
        </p:nvSpPr>
        <p:spPr>
          <a:xfrm>
            <a:off x="311149" y="1093767"/>
            <a:ext cx="7660041"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225327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dvanced 1/3 Image (Full Blee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23708" y="-1378"/>
            <a:ext cx="4076946" cy="6860842"/>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 name="connsiteX0" fmla="*/ 0 w 4082753"/>
              <a:gd name="connsiteY0" fmla="*/ 2 h 6874096"/>
              <a:gd name="connsiteX1" fmla="*/ 4082678 w 4082753"/>
              <a:gd name="connsiteY1" fmla="*/ 1742343 h 6874096"/>
              <a:gd name="connsiteX2" fmla="*/ 4076946 w 4082753"/>
              <a:gd name="connsiteY2" fmla="*/ 6855288 h 6874096"/>
              <a:gd name="connsiteX3" fmla="*/ 609909 w 4082753"/>
              <a:gd name="connsiteY3" fmla="*/ 6874096 h 6874096"/>
              <a:gd name="connsiteX4" fmla="*/ 30187 w 4082753"/>
              <a:gd name="connsiteY4" fmla="*/ 6294374 h 6874096"/>
              <a:gd name="connsiteX5" fmla="*/ 0 w 4082753"/>
              <a:gd name="connsiteY5" fmla="*/ 2 h 6874096"/>
              <a:gd name="connsiteX0" fmla="*/ 0 w 4095958"/>
              <a:gd name="connsiteY0" fmla="*/ 6946 h 6881040"/>
              <a:gd name="connsiteX1" fmla="*/ 4095930 w 4095958"/>
              <a:gd name="connsiteY1" fmla="*/ 0 h 6881040"/>
              <a:gd name="connsiteX2" fmla="*/ 4076946 w 4095958"/>
              <a:gd name="connsiteY2" fmla="*/ 6862232 h 6881040"/>
              <a:gd name="connsiteX3" fmla="*/ 609909 w 4095958"/>
              <a:gd name="connsiteY3" fmla="*/ 6881040 h 6881040"/>
              <a:gd name="connsiteX4" fmla="*/ 30187 w 4095958"/>
              <a:gd name="connsiteY4" fmla="*/ 6301318 h 6881040"/>
              <a:gd name="connsiteX5" fmla="*/ 0 w 4095958"/>
              <a:gd name="connsiteY5" fmla="*/ 6946 h 6881040"/>
              <a:gd name="connsiteX0" fmla="*/ 0 w 4076946"/>
              <a:gd name="connsiteY0" fmla="*/ 0 h 6874094"/>
              <a:gd name="connsiteX1" fmla="*/ 3870643 w 4076946"/>
              <a:gd name="connsiteY1" fmla="*/ 191837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0 h 6874094"/>
              <a:gd name="connsiteX1" fmla="*/ 4069426 w 4076946"/>
              <a:gd name="connsiteY1" fmla="*/ 19559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99710 h 6854535"/>
              <a:gd name="connsiteX1" fmla="*/ 4069426 w 4076946"/>
              <a:gd name="connsiteY1" fmla="*/ 0 h 6854535"/>
              <a:gd name="connsiteX2" fmla="*/ 4076946 w 4076946"/>
              <a:gd name="connsiteY2" fmla="*/ 6835727 h 6854535"/>
              <a:gd name="connsiteX3" fmla="*/ 609909 w 4076946"/>
              <a:gd name="connsiteY3" fmla="*/ 6854535 h 6854535"/>
              <a:gd name="connsiteX4" fmla="*/ 30187 w 4076946"/>
              <a:gd name="connsiteY4" fmla="*/ 6274813 h 6854535"/>
              <a:gd name="connsiteX5" fmla="*/ 0 w 4076946"/>
              <a:gd name="connsiteY5" fmla="*/ 99710 h 6854535"/>
              <a:gd name="connsiteX0" fmla="*/ 0 w 4076946"/>
              <a:gd name="connsiteY0" fmla="*/ 0 h 6860842"/>
              <a:gd name="connsiteX1" fmla="*/ 4069426 w 4076946"/>
              <a:gd name="connsiteY1" fmla="*/ 6307 h 6860842"/>
              <a:gd name="connsiteX2" fmla="*/ 4076946 w 4076946"/>
              <a:gd name="connsiteY2" fmla="*/ 6842034 h 6860842"/>
              <a:gd name="connsiteX3" fmla="*/ 609909 w 4076946"/>
              <a:gd name="connsiteY3" fmla="*/ 6860842 h 6860842"/>
              <a:gd name="connsiteX4" fmla="*/ 30187 w 4076946"/>
              <a:gd name="connsiteY4" fmla="*/ 6281120 h 6860842"/>
              <a:gd name="connsiteX5" fmla="*/ 0 w 4076946"/>
              <a:gd name="connsiteY5" fmla="*/ 0 h 686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946" h="6860842">
                <a:moveTo>
                  <a:pt x="0" y="0"/>
                </a:moveTo>
                <a:lnTo>
                  <a:pt x="4069426" y="6307"/>
                </a:lnTo>
                <a:cubicBezTo>
                  <a:pt x="4070331" y="2153114"/>
                  <a:pt x="4076041" y="4695227"/>
                  <a:pt x="4076946" y="6842034"/>
                </a:cubicBezTo>
                <a:lnTo>
                  <a:pt x="609909" y="6860842"/>
                </a:lnTo>
                <a:cubicBezTo>
                  <a:pt x="289737" y="6860842"/>
                  <a:pt x="30187" y="6601292"/>
                  <a:pt x="30187" y="6281120"/>
                </a:cubicBezTo>
                <a:cubicBezTo>
                  <a:pt x="24542" y="4758683"/>
                  <a:pt x="5645" y="1522437"/>
                  <a:pt x="0" y="0"/>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17" name="タイトル プレースホルダ 1">
            <a:extLst>
              <a:ext uri="{FF2B5EF4-FFF2-40B4-BE49-F238E27FC236}">
                <a16:creationId xmlns:a16="http://schemas.microsoft.com/office/drawing/2014/main" id="{6FB24DD6-99CB-CE43-A787-C9F60DC95F8F}"/>
              </a:ext>
            </a:extLst>
          </p:cNvPr>
          <p:cNvSpPr>
            <a:spLocks noGrp="1"/>
          </p:cNvSpPr>
          <p:nvPr>
            <p:ph type="title" hasCustomPrompt="1"/>
          </p:nvPr>
        </p:nvSpPr>
        <p:spPr>
          <a:xfrm>
            <a:off x="606079" y="161605"/>
            <a:ext cx="7368878"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8" name="Rectangle 17">
            <a:extLst>
              <a:ext uri="{FF2B5EF4-FFF2-40B4-BE49-F238E27FC236}">
                <a16:creationId xmlns:a16="http://schemas.microsoft.com/office/drawing/2014/main" id="{77130E5B-E573-584B-8C83-F8409492B14B}"/>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1" name="スライド番号プレースホルダ 5">
            <a:extLst>
              <a:ext uri="{FF2B5EF4-FFF2-40B4-BE49-F238E27FC236}">
                <a16:creationId xmlns:a16="http://schemas.microsoft.com/office/drawing/2014/main" id="{C55CC856-2ADD-F44F-96B6-03734457CCF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2" name="Text Placeholder 6">
            <a:extLst>
              <a:ext uri="{FF2B5EF4-FFF2-40B4-BE49-F238E27FC236}">
                <a16:creationId xmlns:a16="http://schemas.microsoft.com/office/drawing/2014/main" id="{DB94AACD-56D4-F146-AFC0-5CBE6630C5A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73A8AA34-7C7D-A24F-AF24-5158DD2AB0ED}"/>
              </a:ext>
            </a:extLst>
          </p:cNvPr>
          <p:cNvSpPr>
            <a:spLocks noGrp="1"/>
          </p:cNvSpPr>
          <p:nvPr>
            <p:ph type="body" sz="quarter" idx="20" hasCustomPrompt="1"/>
          </p:nvPr>
        </p:nvSpPr>
        <p:spPr>
          <a:xfrm>
            <a:off x="311151" y="1491373"/>
            <a:ext cx="7660042"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8F4B55CE-CF3E-7E44-A66A-599621CA5C5F}"/>
              </a:ext>
            </a:extLst>
          </p:cNvPr>
          <p:cNvSpPr>
            <a:spLocks noGrp="1"/>
          </p:cNvSpPr>
          <p:nvPr>
            <p:ph type="body" sz="quarter" idx="21" hasCustomPrompt="1"/>
          </p:nvPr>
        </p:nvSpPr>
        <p:spPr>
          <a:xfrm>
            <a:off x="311150" y="1093767"/>
            <a:ext cx="7660042"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848658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dvanced Image 4-Column">
    <p:spTree>
      <p:nvGrpSpPr>
        <p:cNvPr id="1" name=""/>
        <p:cNvGrpSpPr/>
        <p:nvPr/>
      </p:nvGrpSpPr>
      <p:grpSpPr>
        <a:xfrm>
          <a:off x="0" y="0"/>
          <a:ext cx="0" cy="0"/>
          <a:chOff x="0" y="0"/>
          <a:chExt cx="0" cy="0"/>
        </a:xfrm>
      </p:grpSpPr>
      <p:sp>
        <p:nvSpPr>
          <p:cNvPr id="22" name="Picture Placeholder 9">
            <a:extLst>
              <a:ext uri="{FF2B5EF4-FFF2-40B4-BE49-F238E27FC236}">
                <a16:creationId xmlns:a16="http://schemas.microsoft.com/office/drawing/2014/main" id="{21DF8897-54F9-C24F-8261-0C5418827A6D}"/>
              </a:ext>
            </a:extLst>
          </p:cNvPr>
          <p:cNvSpPr>
            <a:spLocks noGrp="1"/>
          </p:cNvSpPr>
          <p:nvPr>
            <p:ph type="pic" sz="quarter" idx="10" hasCustomPrompt="1"/>
          </p:nvPr>
        </p:nvSpPr>
        <p:spPr>
          <a:xfrm>
            <a:off x="9110737"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1400">
                <a:solidFill>
                  <a:schemeClr val="tx1"/>
                </a:solidFill>
              </a:defRPr>
            </a:lvl1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JP"/>
              <a:t>Insert Picture/Text Block</a:t>
            </a:r>
          </a:p>
          <a:p>
            <a:endParaRPr lang="en-JP"/>
          </a:p>
        </p:txBody>
      </p:sp>
      <p:sp>
        <p:nvSpPr>
          <p:cNvPr id="23" name="Picture Placeholder 9">
            <a:extLst>
              <a:ext uri="{FF2B5EF4-FFF2-40B4-BE49-F238E27FC236}">
                <a16:creationId xmlns:a16="http://schemas.microsoft.com/office/drawing/2014/main" id="{8D6B3691-FCAC-8A46-AA30-DEB2A719C7B2}"/>
              </a:ext>
            </a:extLst>
          </p:cNvPr>
          <p:cNvSpPr>
            <a:spLocks noGrp="1"/>
          </p:cNvSpPr>
          <p:nvPr>
            <p:ph type="pic" sz="quarter" idx="18" hasCustomPrompt="1"/>
          </p:nvPr>
        </p:nvSpPr>
        <p:spPr>
          <a:xfrm>
            <a:off x="311373"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a:t>Insert Picture/Text Block</a:t>
            </a:r>
          </a:p>
        </p:txBody>
      </p:sp>
      <p:sp>
        <p:nvSpPr>
          <p:cNvPr id="24" name="Picture Placeholder 9">
            <a:extLst>
              <a:ext uri="{FF2B5EF4-FFF2-40B4-BE49-F238E27FC236}">
                <a16:creationId xmlns:a16="http://schemas.microsoft.com/office/drawing/2014/main" id="{AA8F528A-C9DE-0B46-881A-43E0F9B6F677}"/>
              </a:ext>
            </a:extLst>
          </p:cNvPr>
          <p:cNvSpPr>
            <a:spLocks noGrp="1"/>
          </p:cNvSpPr>
          <p:nvPr>
            <p:ph type="pic" sz="quarter" idx="19" hasCustomPrompt="1"/>
          </p:nvPr>
        </p:nvSpPr>
        <p:spPr>
          <a:xfrm>
            <a:off x="3244494"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a:t>Insert Picture/Text Block</a:t>
            </a:r>
          </a:p>
        </p:txBody>
      </p:sp>
      <p:sp>
        <p:nvSpPr>
          <p:cNvPr id="25" name="Picture Placeholder 9">
            <a:extLst>
              <a:ext uri="{FF2B5EF4-FFF2-40B4-BE49-F238E27FC236}">
                <a16:creationId xmlns:a16="http://schemas.microsoft.com/office/drawing/2014/main" id="{E01CF285-75D7-154A-ACF2-9393FB0B38D0}"/>
              </a:ext>
            </a:extLst>
          </p:cNvPr>
          <p:cNvSpPr>
            <a:spLocks noGrp="1"/>
          </p:cNvSpPr>
          <p:nvPr>
            <p:ph type="pic" sz="quarter" idx="20" hasCustomPrompt="1"/>
          </p:nvPr>
        </p:nvSpPr>
        <p:spPr>
          <a:xfrm>
            <a:off x="6177615"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US"/>
              <a:t>Insert Picture/Text Block</a:t>
            </a:r>
          </a:p>
          <a:p>
            <a:endParaRPr lang="en-US"/>
          </a:p>
          <a:p>
            <a:endParaRPr lang="en-JP"/>
          </a:p>
        </p:txBody>
      </p:sp>
      <p:pic>
        <p:nvPicPr>
          <p:cNvPr id="14" name="Picture 13" descr="Takeda">
            <a:extLst>
              <a:ext uri="{FF2B5EF4-FFF2-40B4-BE49-F238E27FC236}">
                <a16:creationId xmlns:a16="http://schemas.microsoft.com/office/drawing/2014/main" id="{47FD433F-488A-9D46-BDF0-87D0F082AE4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8" name="タイトル プレースホルダ 1">
            <a:extLst>
              <a:ext uri="{FF2B5EF4-FFF2-40B4-BE49-F238E27FC236}">
                <a16:creationId xmlns:a16="http://schemas.microsoft.com/office/drawing/2014/main" id="{4FBB8310-69E6-7C4E-A4B1-C022B6FEE2C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4EF39473-C435-3C4E-9C7B-048D52C3CC92}"/>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US"/>
              <a:t> </a:t>
            </a:r>
            <a:endParaRPr lang="en-JP"/>
          </a:p>
        </p:txBody>
      </p:sp>
      <p:sp>
        <p:nvSpPr>
          <p:cNvPr id="21" name="Rectangle 20">
            <a:extLst>
              <a:ext uri="{FF2B5EF4-FFF2-40B4-BE49-F238E27FC236}">
                <a16:creationId xmlns:a16="http://schemas.microsoft.com/office/drawing/2014/main" id="{0FEF9AE6-D84E-9F43-9506-6676EC51B210}"/>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8" name="スライド番号プレースホルダ 5">
            <a:extLst>
              <a:ext uri="{FF2B5EF4-FFF2-40B4-BE49-F238E27FC236}">
                <a16:creationId xmlns:a16="http://schemas.microsoft.com/office/drawing/2014/main" id="{F964ADE6-9B0D-EC45-959C-FEEA5CDDFBA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9" name="Text Placeholder 6">
            <a:extLst>
              <a:ext uri="{FF2B5EF4-FFF2-40B4-BE49-F238E27FC236}">
                <a16:creationId xmlns:a16="http://schemas.microsoft.com/office/drawing/2014/main" id="{870D8562-3CE7-7044-9BB0-2068A81BF5CB}"/>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099C450B-0755-7D4A-9672-E700D6F2E50A}"/>
              </a:ext>
            </a:extLst>
          </p:cNvPr>
          <p:cNvSpPr>
            <a:spLocks noGrp="1"/>
          </p:cNvSpPr>
          <p:nvPr>
            <p:ph type="body" sz="quarter" idx="21"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705B1BEB-AC9F-9643-A446-ABE1DDB96144}"/>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686802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dvanced Chart Full Width">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11571628" cy="3340389"/>
          </a:xfrm>
          <a:prstGeom prst="rect">
            <a:avLst/>
          </a:prstGeom>
        </p:spPr>
        <p:txBody>
          <a:bodyPr>
            <a:normAutofit/>
          </a:bodyPr>
          <a:lstStyle>
            <a:lvl1pPr marL="0" indent="0">
              <a:buNone/>
              <a:defRPr sz="1400"/>
            </a:lvl1pPr>
          </a:lstStyle>
          <a:p>
            <a:r>
              <a:rPr lang="en-JP"/>
              <a:t>Insert Chart</a:t>
            </a:r>
          </a:p>
        </p:txBody>
      </p:sp>
      <p:pic>
        <p:nvPicPr>
          <p:cNvPr id="11" name="Picture 10" descr="Takeda">
            <a:extLst>
              <a:ext uri="{FF2B5EF4-FFF2-40B4-BE49-F238E27FC236}">
                <a16:creationId xmlns:a16="http://schemas.microsoft.com/office/drawing/2014/main" id="{7EBA21A8-EE4B-6E4B-A794-3FEA5B1599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75E45CD2-2EBD-AE47-837E-9F752C565F73}"/>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2DC26CE8-1DEF-EE42-861C-B0406E8DC23D}"/>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0" name="Rectangle 19">
            <a:extLst>
              <a:ext uri="{FF2B5EF4-FFF2-40B4-BE49-F238E27FC236}">
                <a16:creationId xmlns:a16="http://schemas.microsoft.com/office/drawing/2014/main" id="{4436966D-3DF0-4D41-9D26-4860D147F80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3" name="スライド番号プレースホルダ 5">
            <a:extLst>
              <a:ext uri="{FF2B5EF4-FFF2-40B4-BE49-F238E27FC236}">
                <a16:creationId xmlns:a16="http://schemas.microsoft.com/office/drawing/2014/main" id="{600920FB-2D44-F645-865D-89FFECB09573}"/>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4" name="Text Placeholder 6">
            <a:extLst>
              <a:ext uri="{FF2B5EF4-FFF2-40B4-BE49-F238E27FC236}">
                <a16:creationId xmlns:a16="http://schemas.microsoft.com/office/drawing/2014/main" id="{07DE8F7E-1418-1C4C-A62B-2385714992F7}"/>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4" name="Text Placeholder 2">
            <a:extLst>
              <a:ext uri="{FF2B5EF4-FFF2-40B4-BE49-F238E27FC236}">
                <a16:creationId xmlns:a16="http://schemas.microsoft.com/office/drawing/2014/main" id="{628A960D-6A45-6744-9BDB-7070B443CC64}"/>
              </a:ext>
            </a:extLst>
          </p:cNvPr>
          <p:cNvSpPr>
            <a:spLocks noGrp="1"/>
          </p:cNvSpPr>
          <p:nvPr>
            <p:ph type="body" sz="quarter" idx="20"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5" name="Text Placeholder 6">
            <a:extLst>
              <a:ext uri="{FF2B5EF4-FFF2-40B4-BE49-F238E27FC236}">
                <a16:creationId xmlns:a16="http://schemas.microsoft.com/office/drawing/2014/main" id="{21493179-5EA4-604B-A9DF-BDA818F0166A}"/>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27598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dvanced Chart 2/3">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4227225" y="1093767"/>
            <a:ext cx="7653625" cy="5322908"/>
          </a:xfrm>
          <a:prstGeom prst="rect">
            <a:avLst/>
          </a:prstGeom>
        </p:spPr>
        <p:txBody>
          <a:bodyPr>
            <a:normAutofit/>
          </a:bodyPr>
          <a:lstStyle>
            <a:lvl1pPr marL="0" indent="0">
              <a:buNone/>
              <a:defRPr sz="1400"/>
            </a:lvl1pPr>
          </a:lstStyle>
          <a:p>
            <a:r>
              <a:rPr lang="en-JP"/>
              <a:t>Insert Chart</a:t>
            </a:r>
          </a:p>
        </p:txBody>
      </p:sp>
      <p:sp>
        <p:nvSpPr>
          <p:cNvPr id="9" name="Text Placeholder 6">
            <a:extLst>
              <a:ext uri="{FF2B5EF4-FFF2-40B4-BE49-F238E27FC236}">
                <a16:creationId xmlns:a16="http://schemas.microsoft.com/office/drawing/2014/main" id="{EF65D74B-37DA-0D46-8B56-9B362C84E6B9}"/>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0" name="Text Placeholder 6">
            <a:extLst>
              <a:ext uri="{FF2B5EF4-FFF2-40B4-BE49-F238E27FC236}">
                <a16:creationId xmlns:a16="http://schemas.microsoft.com/office/drawing/2014/main" id="{BF5F6A26-5AAA-884F-A319-DE9881530AA7}"/>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pic>
        <p:nvPicPr>
          <p:cNvPr id="12" name="Picture 11" descr="Takeda">
            <a:extLst>
              <a:ext uri="{FF2B5EF4-FFF2-40B4-BE49-F238E27FC236}">
                <a16:creationId xmlns:a16="http://schemas.microsoft.com/office/drawing/2014/main" id="{5D7AA9CA-E651-9E48-B0F3-BDDA45B353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3" name="タイトル プレースホルダ 1">
            <a:extLst>
              <a:ext uri="{FF2B5EF4-FFF2-40B4-BE49-F238E27FC236}">
                <a16:creationId xmlns:a16="http://schemas.microsoft.com/office/drawing/2014/main" id="{2256F400-EDA8-7F44-BF13-278518497C9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5" name="Footer Placeholder 8">
            <a:extLst>
              <a:ext uri="{FF2B5EF4-FFF2-40B4-BE49-F238E27FC236}">
                <a16:creationId xmlns:a16="http://schemas.microsoft.com/office/drawing/2014/main" id="{7136781B-A49B-0A42-B748-01C379A12FF6}"/>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1" name="Rectangle 20">
            <a:extLst>
              <a:ext uri="{FF2B5EF4-FFF2-40B4-BE49-F238E27FC236}">
                <a16:creationId xmlns:a16="http://schemas.microsoft.com/office/drawing/2014/main" id="{EAC2B0AC-7801-6C42-BA03-0669DC118159}"/>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スライド番号プレースホルダ 5">
            <a:extLst>
              <a:ext uri="{FF2B5EF4-FFF2-40B4-BE49-F238E27FC236}">
                <a16:creationId xmlns:a16="http://schemas.microsoft.com/office/drawing/2014/main" id="{71FCF96E-3BB8-0745-B029-6B6BE4291274}"/>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5" name="Text Placeholder 6">
            <a:extLst>
              <a:ext uri="{FF2B5EF4-FFF2-40B4-BE49-F238E27FC236}">
                <a16:creationId xmlns:a16="http://schemas.microsoft.com/office/drawing/2014/main" id="{875659DC-941F-AA40-8336-C3B1BF32BA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45375A5A-6A84-7145-B49C-982F84619406}"/>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5F7E9041-544E-3547-AC30-65F55E91E1ED}"/>
              </a:ext>
            </a:extLst>
          </p:cNvPr>
          <p:cNvSpPr>
            <a:spLocks noGrp="1"/>
          </p:cNvSpPr>
          <p:nvPr>
            <p:ph type="body" sz="quarter" idx="22"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015618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dvanced Chart 2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5708650" cy="3340389"/>
          </a:xfrm>
          <a:prstGeom prst="rect">
            <a:avLst/>
          </a:prstGeom>
        </p:spPr>
        <p:txBody>
          <a:bodyPr>
            <a:normAutofit/>
          </a:bodyPr>
          <a:lstStyle>
            <a:lvl1pPr marL="0" indent="0">
              <a:buNone/>
              <a:defRPr sz="1400"/>
            </a:lvl1pPr>
          </a:lstStyle>
          <a:p>
            <a:r>
              <a:rPr lang="en-JP"/>
              <a:t>Insert Chart</a:t>
            </a:r>
          </a:p>
        </p:txBody>
      </p:sp>
      <p:sp>
        <p:nvSpPr>
          <p:cNvPr id="9" name="Chart Placeholder 7">
            <a:extLst>
              <a:ext uri="{FF2B5EF4-FFF2-40B4-BE49-F238E27FC236}">
                <a16:creationId xmlns:a16="http://schemas.microsoft.com/office/drawing/2014/main" id="{F1FC7466-185A-8B44-ABF0-5410C1127700}"/>
              </a:ext>
            </a:extLst>
          </p:cNvPr>
          <p:cNvSpPr>
            <a:spLocks noGrp="1"/>
          </p:cNvSpPr>
          <p:nvPr>
            <p:ph type="chart" sz="quarter" idx="22" hasCustomPrompt="1"/>
          </p:nvPr>
        </p:nvSpPr>
        <p:spPr>
          <a:xfrm>
            <a:off x="6206170" y="3076286"/>
            <a:ext cx="5708650" cy="3340389"/>
          </a:xfrm>
          <a:prstGeom prst="rect">
            <a:avLst/>
          </a:prstGeom>
        </p:spPr>
        <p:txBody>
          <a:bodyPr>
            <a:normAutofit/>
          </a:bodyPr>
          <a:lstStyle>
            <a:lvl1pPr marL="0" indent="0">
              <a:buNone/>
              <a:defRPr sz="1400"/>
            </a:lvl1pPr>
          </a:lstStyle>
          <a:p>
            <a:r>
              <a:rPr lang="en-JP"/>
              <a:t>Insert Chart</a:t>
            </a:r>
          </a:p>
        </p:txBody>
      </p:sp>
      <p:pic>
        <p:nvPicPr>
          <p:cNvPr id="10" name="Picture 9" descr="Takeda">
            <a:extLst>
              <a:ext uri="{FF2B5EF4-FFF2-40B4-BE49-F238E27FC236}">
                <a16:creationId xmlns:a16="http://schemas.microsoft.com/office/drawing/2014/main" id="{F183604A-2112-D443-8B35-2DFEE7121A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906CE02B-33D8-B048-A73D-781A3402C2B1}"/>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4" name="Footer Placeholder 8">
            <a:extLst>
              <a:ext uri="{FF2B5EF4-FFF2-40B4-BE49-F238E27FC236}">
                <a16:creationId xmlns:a16="http://schemas.microsoft.com/office/drawing/2014/main" id="{C2587943-8F51-3542-B7BE-5781719445F9}"/>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17" name="Rectangle 16">
            <a:extLst>
              <a:ext uri="{FF2B5EF4-FFF2-40B4-BE49-F238E27FC236}">
                <a16:creationId xmlns:a16="http://schemas.microsoft.com/office/drawing/2014/main" id="{B679FB0B-7616-F04F-9B4C-586869A82E96}"/>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8AFBB1AB-19B7-1347-93F8-D14235DD2317}"/>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1C168495-CA79-E440-A93B-B87B36748352}"/>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F6F06E4B-A978-4E46-AE6C-67B54F7E34D5}"/>
              </a:ext>
            </a:extLst>
          </p:cNvPr>
          <p:cNvSpPr>
            <a:spLocks noGrp="1"/>
          </p:cNvSpPr>
          <p:nvPr>
            <p:ph type="body" sz="quarter" idx="20" hasCustomPrompt="1"/>
          </p:nvPr>
        </p:nvSpPr>
        <p:spPr>
          <a:xfrm>
            <a:off x="311150" y="1491373"/>
            <a:ext cx="1160366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3FF373A1-4E48-6C48-A075-153436CF76DC}"/>
              </a:ext>
            </a:extLst>
          </p:cNvPr>
          <p:cNvSpPr>
            <a:spLocks noGrp="1"/>
          </p:cNvSpPr>
          <p:nvPr>
            <p:ph type="body" sz="quarter" idx="23" hasCustomPrompt="1"/>
          </p:nvPr>
        </p:nvSpPr>
        <p:spPr>
          <a:xfrm>
            <a:off x="311149" y="1093767"/>
            <a:ext cx="1160366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5156897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dvanced Chart 3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4" y="3076286"/>
            <a:ext cx="3757810" cy="3340389"/>
          </a:xfrm>
          <a:prstGeom prst="rect">
            <a:avLst/>
          </a:prstGeom>
        </p:spPr>
        <p:txBody>
          <a:bodyPr>
            <a:normAutofit/>
          </a:bodyPr>
          <a:lstStyle>
            <a:lvl1pPr marL="0" indent="0">
              <a:buNone/>
              <a:defRPr sz="1400"/>
            </a:lvl1pPr>
          </a:lstStyle>
          <a:p>
            <a:r>
              <a:rPr lang="en-JP"/>
              <a:t>Insert Chart</a:t>
            </a:r>
          </a:p>
        </p:txBody>
      </p:sp>
      <p:sp>
        <p:nvSpPr>
          <p:cNvPr id="10" name="Chart Placeholder 7">
            <a:extLst>
              <a:ext uri="{FF2B5EF4-FFF2-40B4-BE49-F238E27FC236}">
                <a16:creationId xmlns:a16="http://schemas.microsoft.com/office/drawing/2014/main" id="{8D9BD23C-1777-C442-B4B0-BADF450483EA}"/>
              </a:ext>
            </a:extLst>
          </p:cNvPr>
          <p:cNvSpPr>
            <a:spLocks noGrp="1"/>
          </p:cNvSpPr>
          <p:nvPr>
            <p:ph type="chart" sz="quarter" idx="22" hasCustomPrompt="1"/>
          </p:nvPr>
        </p:nvSpPr>
        <p:spPr>
          <a:xfrm>
            <a:off x="4217095" y="3076286"/>
            <a:ext cx="3757810" cy="3340389"/>
          </a:xfrm>
          <a:prstGeom prst="rect">
            <a:avLst/>
          </a:prstGeom>
        </p:spPr>
        <p:txBody>
          <a:bodyPr>
            <a:normAutofit/>
          </a:bodyPr>
          <a:lstStyle>
            <a:lvl1pPr marL="0" indent="0">
              <a:buNone/>
              <a:defRPr sz="1400"/>
            </a:lvl1pPr>
          </a:lstStyle>
          <a:p>
            <a:r>
              <a:rPr lang="en-JP"/>
              <a:t>Insert Chart</a:t>
            </a:r>
          </a:p>
        </p:txBody>
      </p:sp>
      <p:sp>
        <p:nvSpPr>
          <p:cNvPr id="11" name="Chart Placeholder 7">
            <a:extLst>
              <a:ext uri="{FF2B5EF4-FFF2-40B4-BE49-F238E27FC236}">
                <a16:creationId xmlns:a16="http://schemas.microsoft.com/office/drawing/2014/main" id="{2D7D413C-2FF1-204A-83C6-B7426603B7C2}"/>
              </a:ext>
            </a:extLst>
          </p:cNvPr>
          <p:cNvSpPr>
            <a:spLocks noGrp="1"/>
          </p:cNvSpPr>
          <p:nvPr>
            <p:ph type="chart" sz="quarter" idx="23" hasCustomPrompt="1"/>
          </p:nvPr>
        </p:nvSpPr>
        <p:spPr>
          <a:xfrm>
            <a:off x="8123041" y="3076286"/>
            <a:ext cx="3757810" cy="3340389"/>
          </a:xfrm>
          <a:prstGeom prst="rect">
            <a:avLst/>
          </a:prstGeom>
        </p:spPr>
        <p:txBody>
          <a:bodyPr>
            <a:normAutofit/>
          </a:bodyPr>
          <a:lstStyle>
            <a:lvl1pPr marL="0" indent="0">
              <a:buNone/>
              <a:defRPr sz="1400"/>
            </a:lvl1pPr>
          </a:lstStyle>
          <a:p>
            <a:r>
              <a:rPr lang="en-JP"/>
              <a:t>Insert Chart</a:t>
            </a:r>
          </a:p>
        </p:txBody>
      </p:sp>
      <p:pic>
        <p:nvPicPr>
          <p:cNvPr id="13" name="Picture 12" descr="Takeda">
            <a:extLst>
              <a:ext uri="{FF2B5EF4-FFF2-40B4-BE49-F238E27FC236}">
                <a16:creationId xmlns:a16="http://schemas.microsoft.com/office/drawing/2014/main" id="{0C4979BF-EBB2-214C-8087-7AC4B2163D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2FFB1535-D35E-D242-B225-DDF1C53BB8D4}"/>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9" name="Footer Placeholder 8">
            <a:extLst>
              <a:ext uri="{FF2B5EF4-FFF2-40B4-BE49-F238E27FC236}">
                <a16:creationId xmlns:a16="http://schemas.microsoft.com/office/drawing/2014/main" id="{47DB5E3C-7053-3645-A234-760F5ED1236A}"/>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2" name="Rectangle 21">
            <a:extLst>
              <a:ext uri="{FF2B5EF4-FFF2-40B4-BE49-F238E27FC236}">
                <a16:creationId xmlns:a16="http://schemas.microsoft.com/office/drawing/2014/main" id="{DEFC8CB7-67E9-8A46-B53F-F34ACE18BE8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5EB1023E-4E73-AD49-83B0-D7B458250C6F}"/>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4942DB0C-137A-4E4C-B926-77CEECC512A8}"/>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AD1171B1-AEC6-164D-8FE0-E0B9353A55BF}"/>
              </a:ext>
            </a:extLst>
          </p:cNvPr>
          <p:cNvSpPr>
            <a:spLocks noGrp="1"/>
          </p:cNvSpPr>
          <p:nvPr>
            <p:ph type="body" sz="quarter" idx="20" hasCustomPrompt="1"/>
          </p:nvPr>
        </p:nvSpPr>
        <p:spPr>
          <a:xfrm>
            <a:off x="311150" y="1491373"/>
            <a:ext cx="1156969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66C4AA1F-8B09-5544-9C70-388A6E2940C9}"/>
              </a:ext>
            </a:extLst>
          </p:cNvPr>
          <p:cNvSpPr>
            <a:spLocks noGrp="1"/>
          </p:cNvSpPr>
          <p:nvPr>
            <p:ph type="body" sz="quarter" idx="24"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023117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CFE7C62-0B99-6ECF-2839-32063BAB7F2F}"/>
              </a:ext>
            </a:extLst>
          </p:cNvPr>
          <p:cNvGraphicFramePr>
            <a:graphicFrameLocks noChangeAspect="1"/>
          </p:cNvGraphicFramePr>
          <p:nvPr userDrawn="1">
            <p:custDataLst>
              <p:tags r:id="rId1"/>
            </p:custDataLst>
            <p:extLst>
              <p:ext uri="{D42A27DB-BD31-4B8C-83A1-F6EECF244321}">
                <p14:modId xmlns:p14="http://schemas.microsoft.com/office/powerpoint/2010/main" val="172192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think-cell data - do not delete" hidden="1">
                        <a:extLst>
                          <a:ext uri="{FF2B5EF4-FFF2-40B4-BE49-F238E27FC236}">
                            <a16:creationId xmlns:a16="http://schemas.microsoft.com/office/drawing/2014/main" id="{BCFE7C62-0B99-6ECF-2839-32063BAB7F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Takeda">
            <a:extLst>
              <a:ext uri="{FF2B5EF4-FFF2-40B4-BE49-F238E27FC236}">
                <a16:creationId xmlns:a16="http://schemas.microsoft.com/office/drawing/2014/main" id="{A75F5BF7-D49E-8A49-AE81-CB31E57D5A7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lvl1pPr>
              <a:defRPr sz="2200"/>
            </a:lvl1pPr>
          </a:lstStyle>
          <a:p>
            <a:r>
              <a:rPr kumimoji="1" lang="en-US" altLang="ja-JP"/>
              <a:t>Click to add title</a:t>
            </a:r>
            <a:endParaRPr kumimoji="1" lang="ja-JP" altLang="en-US"/>
          </a:p>
        </p:txBody>
      </p:sp>
      <p:sp>
        <p:nvSpPr>
          <p:cNvPr id="21" name="Rectangle 20">
            <a:extLst>
              <a:ext uri="{FF2B5EF4-FFF2-40B4-BE49-F238E27FC236}">
                <a16:creationId xmlns:a16="http://schemas.microsoft.com/office/drawing/2014/main" id="{FCF9CDB0-5730-E246-B31F-F5963CF8EFDC}"/>
              </a:ext>
            </a:extLst>
          </p:cNvPr>
          <p:cNvSpPr/>
          <p:nvPr/>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Content Placeholder 26">
            <a:extLst>
              <a:ext uri="{FF2B5EF4-FFF2-40B4-BE49-F238E27FC236}">
                <a16:creationId xmlns:a16="http://schemas.microsoft.com/office/drawing/2014/main" id="{BDCF20AC-A921-50A8-167F-157AF93CCB96}"/>
              </a:ext>
            </a:extLst>
          </p:cNvPr>
          <p:cNvSpPr>
            <a:spLocks noGrp="1"/>
          </p:cNvSpPr>
          <p:nvPr>
            <p:ph sz="quarter" idx="10" hasCustomPrompt="1"/>
          </p:nvPr>
        </p:nvSpPr>
        <p:spPr>
          <a:xfrm>
            <a:off x="669925" y="6489701"/>
            <a:ext cx="10348595" cy="230187"/>
          </a:xfrm>
        </p:spPr>
        <p:txBody>
          <a:bodyPr anchor="ctr">
            <a:noAutofit/>
          </a:bodyPr>
          <a:lstStyle>
            <a:lvl1pPr marL="0" indent="0">
              <a:buNone/>
              <a:defRPr sz="800" b="1"/>
            </a:lvl1pPr>
          </a:lstStyle>
          <a:p>
            <a:pPr lvl="0"/>
            <a:r>
              <a:rPr lang="en-US" b="1"/>
              <a:t>Footer</a:t>
            </a:r>
            <a:endParaRPr lang="en-US"/>
          </a:p>
        </p:txBody>
      </p:sp>
      <p:sp>
        <p:nvSpPr>
          <p:cNvPr id="30" name="スライド番号プレースホルダ 5">
            <a:extLst>
              <a:ext uri="{FF2B5EF4-FFF2-40B4-BE49-F238E27FC236}">
                <a16:creationId xmlns:a16="http://schemas.microsoft.com/office/drawing/2014/main" id="{D5046471-3133-44C5-48F9-7EDCAF3A5876}"/>
              </a:ext>
            </a:extLst>
          </p:cNvPr>
          <p:cNvSpPr>
            <a:spLocks noGrp="1"/>
          </p:cNvSpPr>
          <p:nvPr>
            <p:ph type="sldNum" sz="quarter" idx="4"/>
          </p:nvPr>
        </p:nvSpPr>
        <p:spPr>
          <a:xfrm>
            <a:off x="311150" y="6490456"/>
            <a:ext cx="294928"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fld id="{4B88BF55-9D8F-47B8-9CAA-91D4F95E55A3}" type="slidenum">
              <a:rPr lang="en-US" smtClean="0"/>
              <a:t>‹#›</a:t>
            </a:fld>
            <a:endParaRPr lang="en-US"/>
          </a:p>
        </p:txBody>
      </p:sp>
    </p:spTree>
    <p:extLst>
      <p:ext uri="{BB962C8B-B14F-4D97-AF65-F5344CB8AC3E}">
        <p14:creationId xmlns:p14="http://schemas.microsoft.com/office/powerpoint/2010/main" val="3823999345"/>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age 1">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82B9CECE-7D8F-8C4A-AFC6-A963B1F05594}"/>
              </a:ext>
            </a:extLst>
          </p:cNvPr>
          <p:cNvSpPr/>
          <p:nvPr userDrawn="1"/>
        </p:nvSpPr>
        <p:spPr>
          <a:xfrm>
            <a:off x="0" y="61263"/>
            <a:ext cx="255181" cy="849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chemeClr val="accent1"/>
              </a:solidFill>
            </a:endParaRPr>
          </a:p>
        </p:txBody>
      </p:sp>
      <p:sp>
        <p:nvSpPr>
          <p:cNvPr id="10" name="Picture Placeholder 9">
            <a:extLst>
              <a:ext uri="{FF2B5EF4-FFF2-40B4-BE49-F238E27FC236}">
                <a16:creationId xmlns:a16="http://schemas.microsoft.com/office/drawing/2014/main" id="{91E79114-5B74-9547-8292-DAB8965D43FD}"/>
              </a:ext>
            </a:extLst>
          </p:cNvPr>
          <p:cNvSpPr>
            <a:spLocks noGrp="1"/>
          </p:cNvSpPr>
          <p:nvPr>
            <p:ph type="pic" sz="quarter" idx="10"/>
          </p:nvPr>
        </p:nvSpPr>
        <p:spPr>
          <a:xfrm>
            <a:off x="749005" y="506"/>
            <a:ext cx="11459359" cy="3428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2246">
                <a:moveTo>
                  <a:pt x="0" y="1652"/>
                </a:moveTo>
                <a:lnTo>
                  <a:pt x="11459359" y="0"/>
                </a:lnTo>
                <a:cubicBezTo>
                  <a:pt x="11456406" y="1115201"/>
                  <a:pt x="11441877" y="2245391"/>
                  <a:pt x="11438924" y="3360592"/>
                </a:cubicBezTo>
                <a:lnTo>
                  <a:pt x="579722" y="3362246"/>
                </a:lnTo>
                <a:cubicBezTo>
                  <a:pt x="259550" y="3362246"/>
                  <a:pt x="0" y="3102696"/>
                  <a:pt x="0" y="2782524"/>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pic>
        <p:nvPicPr>
          <p:cNvPr id="18" name="Picture 17" descr="Takeda">
            <a:extLst>
              <a:ext uri="{FF2B5EF4-FFF2-40B4-BE49-F238E27FC236}">
                <a16:creationId xmlns:a16="http://schemas.microsoft.com/office/drawing/2014/main" id="{5F9376FC-2A9F-C644-AD88-C6E1B65B4D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90516" y="3362752"/>
            <a:ext cx="2251710" cy="1248865"/>
          </a:xfrm>
          <a:prstGeom prst="rect">
            <a:avLst/>
          </a:prstGeom>
        </p:spPr>
      </p:pic>
      <p:sp>
        <p:nvSpPr>
          <p:cNvPr id="15" name="Title 1">
            <a:extLst>
              <a:ext uri="{FF2B5EF4-FFF2-40B4-BE49-F238E27FC236}">
                <a16:creationId xmlns:a16="http://schemas.microsoft.com/office/drawing/2014/main" id="{9F5E8E0A-41D4-8346-9248-0B9AAC71238D}"/>
              </a:ext>
            </a:extLst>
          </p:cNvPr>
          <p:cNvSpPr>
            <a:spLocks noGrp="1"/>
          </p:cNvSpPr>
          <p:nvPr>
            <p:ph type="ctrTitle" hasCustomPrompt="1"/>
          </p:nvPr>
        </p:nvSpPr>
        <p:spPr>
          <a:xfrm>
            <a:off x="1194730" y="3956816"/>
            <a:ext cx="7699670" cy="1015681"/>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a:t>
            </a:r>
            <a:br>
              <a:rPr lang="en-GB"/>
            </a:br>
            <a:r>
              <a:rPr lang="en-GB"/>
              <a:t>Title</a:t>
            </a:r>
          </a:p>
        </p:txBody>
      </p:sp>
      <p:sp>
        <p:nvSpPr>
          <p:cNvPr id="17" name="Rectangle 16">
            <a:extLst>
              <a:ext uri="{FF2B5EF4-FFF2-40B4-BE49-F238E27FC236}">
                <a16:creationId xmlns:a16="http://schemas.microsoft.com/office/drawing/2014/main" id="{F5A63B8E-5554-A04E-B4C5-97ECEE58B6CC}"/>
              </a:ext>
            </a:extLst>
          </p:cNvPr>
          <p:cNvSpPr/>
          <p:nvPr userDrawn="1"/>
        </p:nvSpPr>
        <p:spPr>
          <a:xfrm>
            <a:off x="749005" y="3764031"/>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pic>
        <p:nvPicPr>
          <p:cNvPr id="21" name="Picture 20">
            <a:extLst>
              <a:ext uri="{FF2B5EF4-FFF2-40B4-BE49-F238E27FC236}">
                <a16:creationId xmlns:a16="http://schemas.microsoft.com/office/drawing/2014/main" id="{C2637423-F180-3943-B758-C8CCFA816E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sp>
        <p:nvSpPr>
          <p:cNvPr id="23" name="Text Placeholder 2">
            <a:extLst>
              <a:ext uri="{FF2B5EF4-FFF2-40B4-BE49-F238E27FC236}">
                <a16:creationId xmlns:a16="http://schemas.microsoft.com/office/drawing/2014/main" id="{F7327E43-4F43-914D-BE65-DB0ADB5A5E11}"/>
              </a:ext>
            </a:extLst>
          </p:cNvPr>
          <p:cNvSpPr>
            <a:spLocks noGrp="1"/>
          </p:cNvSpPr>
          <p:nvPr>
            <p:ph type="body" sz="quarter" idx="23" hasCustomPrompt="1"/>
          </p:nvPr>
        </p:nvSpPr>
        <p:spPr>
          <a:xfrm>
            <a:off x="1194728" y="5256031"/>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24" name="Text Placeholder 2">
            <a:extLst>
              <a:ext uri="{FF2B5EF4-FFF2-40B4-BE49-F238E27FC236}">
                <a16:creationId xmlns:a16="http://schemas.microsoft.com/office/drawing/2014/main" id="{4A23AA60-6137-8841-B2ED-51B2F2E5C1BB}"/>
              </a:ext>
            </a:extLst>
          </p:cNvPr>
          <p:cNvSpPr>
            <a:spLocks noGrp="1"/>
          </p:cNvSpPr>
          <p:nvPr>
            <p:ph type="body" sz="quarter" idx="24" hasCustomPrompt="1"/>
          </p:nvPr>
        </p:nvSpPr>
        <p:spPr>
          <a:xfrm>
            <a:off x="1194728" y="5515045"/>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25" name="Text Placeholder 2">
            <a:extLst>
              <a:ext uri="{FF2B5EF4-FFF2-40B4-BE49-F238E27FC236}">
                <a16:creationId xmlns:a16="http://schemas.microsoft.com/office/drawing/2014/main" id="{BB4FEAB2-22C6-3446-B4D2-5B610A729BCC}"/>
              </a:ext>
            </a:extLst>
          </p:cNvPr>
          <p:cNvSpPr>
            <a:spLocks noGrp="1"/>
          </p:cNvSpPr>
          <p:nvPr>
            <p:ph type="body" sz="quarter" idx="25" hasCustomPrompt="1"/>
          </p:nvPr>
        </p:nvSpPr>
        <p:spPr>
          <a:xfrm>
            <a:off x="1194728" y="5769532"/>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28" name="Text Placeholder 2">
            <a:extLst>
              <a:ext uri="{FF2B5EF4-FFF2-40B4-BE49-F238E27FC236}">
                <a16:creationId xmlns:a16="http://schemas.microsoft.com/office/drawing/2014/main" id="{4085F378-E668-A648-B7B1-8C76C309ED6D}"/>
              </a:ext>
            </a:extLst>
          </p:cNvPr>
          <p:cNvSpPr>
            <a:spLocks noGrp="1"/>
          </p:cNvSpPr>
          <p:nvPr>
            <p:ph type="body" sz="quarter" idx="26" hasCustomPrompt="1"/>
          </p:nvPr>
        </p:nvSpPr>
        <p:spPr>
          <a:xfrm>
            <a:off x="1194728" y="4997510"/>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
        <p:nvSpPr>
          <p:cNvPr id="13" name="Text Placeholder 2">
            <a:extLst>
              <a:ext uri="{FF2B5EF4-FFF2-40B4-BE49-F238E27FC236}">
                <a16:creationId xmlns:a16="http://schemas.microsoft.com/office/drawing/2014/main" id="{C1E31EF6-BED5-C14F-94AD-4E5C55B85515}"/>
              </a:ext>
            </a:extLst>
          </p:cNvPr>
          <p:cNvSpPr>
            <a:spLocks noGrp="1"/>
          </p:cNvSpPr>
          <p:nvPr>
            <p:ph type="body" sz="quarter" idx="16" hasCustomPrompt="1"/>
          </p:nvPr>
        </p:nvSpPr>
        <p:spPr>
          <a:xfrm>
            <a:off x="1194728" y="6027352"/>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910842567"/>
      </p:ext>
    </p:extLst>
  </p:cSld>
  <p:clrMapOvr>
    <a:masterClrMapping/>
  </p:clrMapOvr>
  <p:extLst>
    <p:ext uri="{DCECCB84-F9BA-43D5-87BE-67443E8EF086}">
      <p15:sldGuideLst xmlns:p15="http://schemas.microsoft.com/office/powerpoint/2012/main">
        <p15:guide id="1" orient="horz" pos="4065">
          <p15:clr>
            <a:srgbClr val="FBAE40"/>
          </p15:clr>
        </p15:guide>
        <p15:guide id="2" orient="horz" pos="2364">
          <p15:clr>
            <a:srgbClr val="FBAE40"/>
          </p15:clr>
        </p15:guide>
        <p15:guide id="3"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0" name="Picture Placeholder 3">
            <a:extLst>
              <a:ext uri="{FF2B5EF4-FFF2-40B4-BE49-F238E27FC236}">
                <a16:creationId xmlns:a16="http://schemas.microsoft.com/office/drawing/2014/main" id="{902F3095-EA6E-F94A-AF04-18ED691DEB75}"/>
              </a:ext>
            </a:extLst>
          </p:cNvPr>
          <p:cNvSpPr>
            <a:spLocks noGrp="1"/>
          </p:cNvSpPr>
          <p:nvPr>
            <p:ph type="pic" sz="quarter" idx="17"/>
          </p:nvPr>
        </p:nvSpPr>
        <p:spPr>
          <a:xfrm>
            <a:off x="5866513" y="376180"/>
            <a:ext cx="6326533" cy="6108535"/>
          </a:xfrm>
          <a:custGeom>
            <a:avLst/>
            <a:gdLst>
              <a:gd name="connsiteX0" fmla="*/ 0 w 6462532"/>
              <a:gd name="connsiteY0" fmla="*/ 3052818 h 6105636"/>
              <a:gd name="connsiteX1" fmla="*/ 3052818 w 6462532"/>
              <a:gd name="connsiteY1" fmla="*/ 0 h 6105636"/>
              <a:gd name="connsiteX2" fmla="*/ 3409714 w 6462532"/>
              <a:gd name="connsiteY2" fmla="*/ 0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309764"/>
              <a:gd name="connsiteY0" fmla="*/ 3060215 h 6113033"/>
              <a:gd name="connsiteX1" fmla="*/ 3052818 w 7309764"/>
              <a:gd name="connsiteY1" fmla="*/ 7397 h 6113033"/>
              <a:gd name="connsiteX2" fmla="*/ 6592752 w 7309764"/>
              <a:gd name="connsiteY2" fmla="*/ 53695 h 6113033"/>
              <a:gd name="connsiteX3" fmla="*/ 6462532 w 7309764"/>
              <a:gd name="connsiteY3" fmla="*/ 3060215 h 6113033"/>
              <a:gd name="connsiteX4" fmla="*/ 6462532 w 7309764"/>
              <a:gd name="connsiteY4" fmla="*/ 3060215 h 6113033"/>
              <a:gd name="connsiteX5" fmla="*/ 3409714 w 7309764"/>
              <a:gd name="connsiteY5" fmla="*/ 6113033 h 6113033"/>
              <a:gd name="connsiteX6" fmla="*/ 3052818 w 7309764"/>
              <a:gd name="connsiteY6" fmla="*/ 6113033 h 6113033"/>
              <a:gd name="connsiteX7" fmla="*/ 0 w 7309764"/>
              <a:gd name="connsiteY7" fmla="*/ 3060215 h 6113033"/>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6750471"/>
              <a:gd name="connsiteY0" fmla="*/ 3052818 h 6105636"/>
              <a:gd name="connsiteX1" fmla="*/ 3052818 w 6750471"/>
              <a:gd name="connsiteY1" fmla="*/ 0 h 6105636"/>
              <a:gd name="connsiteX2" fmla="*/ 6395982 w 6750471"/>
              <a:gd name="connsiteY2" fmla="*/ 11574 h 6105636"/>
              <a:gd name="connsiteX3" fmla="*/ 6462532 w 6750471"/>
              <a:gd name="connsiteY3" fmla="*/ 3052818 h 6105636"/>
              <a:gd name="connsiteX4" fmla="*/ 6462532 w 6750471"/>
              <a:gd name="connsiteY4" fmla="*/ 3052818 h 6105636"/>
              <a:gd name="connsiteX5" fmla="*/ 3409714 w 6750471"/>
              <a:gd name="connsiteY5" fmla="*/ 6105636 h 6105636"/>
              <a:gd name="connsiteX6" fmla="*/ 3052818 w 6750471"/>
              <a:gd name="connsiteY6" fmla="*/ 6105636 h 6105636"/>
              <a:gd name="connsiteX7" fmla="*/ 0 w 6750471"/>
              <a:gd name="connsiteY7" fmla="*/ 3052818 h 6105636"/>
              <a:gd name="connsiteX0" fmla="*/ 0 w 6462532"/>
              <a:gd name="connsiteY0" fmla="*/ 3052818 h 6105636"/>
              <a:gd name="connsiteX1" fmla="*/ 3052818 w 6462532"/>
              <a:gd name="connsiteY1" fmla="*/ 0 h 6105636"/>
              <a:gd name="connsiteX2" fmla="*/ 6395982 w 6462532"/>
              <a:gd name="connsiteY2" fmla="*/ 11574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6462532 w 6477004"/>
              <a:gd name="connsiteY4" fmla="*/ 3052819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5756477 w 6477004"/>
              <a:gd name="connsiteY4" fmla="*/ 3018095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3409714 w 6477004"/>
              <a:gd name="connsiteY4" fmla="*/ 6105637 h 6105637"/>
              <a:gd name="connsiteX5" fmla="*/ 3052818 w 6477004"/>
              <a:gd name="connsiteY5" fmla="*/ 6105637 h 6105637"/>
              <a:gd name="connsiteX6" fmla="*/ 0 w 6477004"/>
              <a:gd name="connsiteY6" fmla="*/ 3052819 h 6105637"/>
              <a:gd name="connsiteX0" fmla="*/ 0 w 6477004"/>
              <a:gd name="connsiteY0" fmla="*/ 3052819 h 6108535"/>
              <a:gd name="connsiteX1" fmla="*/ 3052818 w 6477004"/>
              <a:gd name="connsiteY1" fmla="*/ 1 h 6108535"/>
              <a:gd name="connsiteX2" fmla="*/ 6477004 w 6477004"/>
              <a:gd name="connsiteY2" fmla="*/ 0 h 6108535"/>
              <a:gd name="connsiteX3" fmla="*/ 6462532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477004"/>
              <a:gd name="connsiteY0" fmla="*/ 3052819 h 6108535"/>
              <a:gd name="connsiteX1" fmla="*/ 3052818 w 6477004"/>
              <a:gd name="connsiteY1" fmla="*/ 1 h 6108535"/>
              <a:gd name="connsiteX2" fmla="*/ 6477004 w 6477004"/>
              <a:gd name="connsiteY2" fmla="*/ 0 h 6108535"/>
              <a:gd name="connsiteX3" fmla="*/ 6323635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326533"/>
              <a:gd name="connsiteY0" fmla="*/ 3052819 h 6108535"/>
              <a:gd name="connsiteX1" fmla="*/ 3052818 w 6326533"/>
              <a:gd name="connsiteY1" fmla="*/ 1 h 6108535"/>
              <a:gd name="connsiteX2" fmla="*/ 6326533 w 6326533"/>
              <a:gd name="connsiteY2" fmla="*/ 0 h 6108535"/>
              <a:gd name="connsiteX3" fmla="*/ 6323635 w 6326533"/>
              <a:gd name="connsiteY3" fmla="*/ 6108535 h 6108535"/>
              <a:gd name="connsiteX4" fmla="*/ 3409714 w 6326533"/>
              <a:gd name="connsiteY4" fmla="*/ 6105637 h 6108535"/>
              <a:gd name="connsiteX5" fmla="*/ 3052818 w 6326533"/>
              <a:gd name="connsiteY5" fmla="*/ 6105637 h 6108535"/>
              <a:gd name="connsiteX6" fmla="*/ 0 w 6326533"/>
              <a:gd name="connsiteY6" fmla="*/ 3052819 h 610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6533" h="6108535">
                <a:moveTo>
                  <a:pt x="0" y="3052819"/>
                </a:moveTo>
                <a:cubicBezTo>
                  <a:pt x="0" y="1366794"/>
                  <a:pt x="1366793" y="1"/>
                  <a:pt x="3052818" y="1"/>
                </a:cubicBezTo>
                <a:lnTo>
                  <a:pt x="6326533" y="0"/>
                </a:lnTo>
                <a:lnTo>
                  <a:pt x="6323635" y="6108535"/>
                </a:lnTo>
                <a:lnTo>
                  <a:pt x="3409714" y="6105637"/>
                </a:lnTo>
                <a:lnTo>
                  <a:pt x="3052818" y="6105637"/>
                </a:lnTo>
                <a:cubicBezTo>
                  <a:pt x="1366793" y="6105637"/>
                  <a:pt x="0" y="4738844"/>
                  <a:pt x="0" y="3052819"/>
                </a:cubicBezTo>
                <a:close/>
              </a:path>
            </a:pathLst>
          </a:custGeom>
          <a:noFill/>
        </p:spPr>
        <p:txBody>
          <a:bodyPr>
            <a:normAutofit/>
          </a:bodyPr>
          <a:lstStyle>
            <a:lvl1pPr marL="0" indent="0">
              <a:buNone/>
              <a:defRPr sz="2400">
                <a:solidFill>
                  <a:schemeClr val="bg1"/>
                </a:solidFill>
              </a:defRPr>
            </a:lvl1pPr>
          </a:lstStyle>
          <a:p>
            <a:r>
              <a:rPr lang="en-US"/>
              <a:t>Click icon to add picture</a:t>
            </a:r>
          </a:p>
        </p:txBody>
      </p:sp>
      <p:pic>
        <p:nvPicPr>
          <p:cNvPr id="9" name="Picture 8" descr="Takeda">
            <a:extLst>
              <a:ext uri="{FF2B5EF4-FFF2-40B4-BE49-F238E27FC236}">
                <a16:creationId xmlns:a16="http://schemas.microsoft.com/office/drawing/2014/main" id="{F83AE827-0C93-0344-8F1E-82C9D7F8CD5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4417" y="-10972"/>
            <a:ext cx="2251710" cy="1248865"/>
          </a:xfrm>
          <a:prstGeom prst="rect">
            <a:avLst/>
          </a:prstGeom>
        </p:spPr>
      </p:pic>
      <p:pic>
        <p:nvPicPr>
          <p:cNvPr id="19" name="Picture 18">
            <a:extLst>
              <a:ext uri="{FF2B5EF4-FFF2-40B4-BE49-F238E27FC236}">
                <a16:creationId xmlns:a16="http://schemas.microsoft.com/office/drawing/2014/main" id="{C219044E-3CA3-8043-AF11-ED42DE4ECF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94730" y="6367253"/>
            <a:ext cx="1958578" cy="117462"/>
          </a:xfrm>
          <a:prstGeom prst="rect">
            <a:avLst/>
          </a:prstGeom>
        </p:spPr>
      </p:pic>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Tree>
    <p:extLst>
      <p:ext uri="{BB962C8B-B14F-4D97-AF65-F5344CB8AC3E}">
        <p14:creationId xmlns:p14="http://schemas.microsoft.com/office/powerpoint/2010/main" val="41391328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6862150"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pic>
        <p:nvPicPr>
          <p:cNvPr id="12" name="Picture 11">
            <a:extLst>
              <a:ext uri="{FF2B5EF4-FFF2-40B4-BE49-F238E27FC236}">
                <a16:creationId xmlns:a16="http://schemas.microsoft.com/office/drawing/2014/main" id="{16819C41-2A79-B54D-9C44-C619DA694E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pic>
        <p:nvPicPr>
          <p:cNvPr id="13" name="Picture 12">
            <a:extLst>
              <a:ext uri="{FF2B5EF4-FFF2-40B4-BE49-F238E27FC236}">
                <a16:creationId xmlns:a16="http://schemas.microsoft.com/office/drawing/2014/main" id="{3D2794BD-1A0D-7D48-855D-469111926BF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90516" y="-8600"/>
            <a:ext cx="2251710" cy="1248865"/>
          </a:xfrm>
          <a:prstGeom prst="rect">
            <a:avLst/>
          </a:prstGeom>
        </p:spPr>
      </p:pic>
      <p:sp>
        <p:nvSpPr>
          <p:cNvPr id="14" name="Text Placeholder 2">
            <a:extLst>
              <a:ext uri="{FF2B5EF4-FFF2-40B4-BE49-F238E27FC236}">
                <a16:creationId xmlns:a16="http://schemas.microsoft.com/office/drawing/2014/main" id="{B9909778-A51F-784D-ACA4-EC5DBA48BE16}"/>
              </a:ext>
            </a:extLst>
          </p:cNvPr>
          <p:cNvSpPr>
            <a:spLocks noGrp="1"/>
          </p:cNvSpPr>
          <p:nvPr>
            <p:ph type="body" sz="quarter" idx="16" hasCustomPrompt="1"/>
          </p:nvPr>
        </p:nvSpPr>
        <p:spPr>
          <a:xfrm>
            <a:off x="1194729" y="6319955"/>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30067226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ndard 1-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1">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one-column layout. Click to add content</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スライド番号プレースホルダ 5">
            <a:extLst>
              <a:ext uri="{FF2B5EF4-FFF2-40B4-BE49-F238E27FC236}">
                <a16:creationId xmlns:a16="http://schemas.microsoft.com/office/drawing/2014/main" id="{51A4825E-63A1-564F-BC3A-FBC167ECE5EB}"/>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Rectangle 20">
            <a:extLst>
              <a:ext uri="{FF2B5EF4-FFF2-40B4-BE49-F238E27FC236}">
                <a16:creationId xmlns:a16="http://schemas.microsoft.com/office/drawing/2014/main" id="{FCF9CDB0-5730-E246-B31F-F5963CF8EFD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Text Placeholder 6">
            <a:extLst>
              <a:ext uri="{FF2B5EF4-FFF2-40B4-BE49-F238E27FC236}">
                <a16:creationId xmlns:a16="http://schemas.microsoft.com/office/drawing/2014/main" id="{44EB3013-FCB4-1B4E-A9F2-FD57CF727CC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22403379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ndard 2-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2" spcCol="540000">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two-column layout. Click to add content. </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Two-column layout. Click to add title</a:t>
            </a:r>
            <a:endParaRPr kumimoji="1" lang="ja-JP" altLang="en-US"/>
          </a:p>
        </p:txBody>
      </p:sp>
      <p:sp>
        <p:nvSpPr>
          <p:cNvPr id="13" name="Rectangle 12">
            <a:extLst>
              <a:ext uri="{FF2B5EF4-FFF2-40B4-BE49-F238E27FC236}">
                <a16:creationId xmlns:a16="http://schemas.microsoft.com/office/drawing/2014/main" id="{F49634AC-7DDA-D44D-88DB-5850289DD64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0" name="スライド番号プレースホルダ 5">
            <a:extLst>
              <a:ext uri="{FF2B5EF4-FFF2-40B4-BE49-F238E27FC236}">
                <a16:creationId xmlns:a16="http://schemas.microsoft.com/office/drawing/2014/main" id="{E22A984C-7436-8C4C-83C8-F2AD6759204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Text Placeholder 6">
            <a:extLst>
              <a:ext uri="{FF2B5EF4-FFF2-40B4-BE49-F238E27FC236}">
                <a16:creationId xmlns:a16="http://schemas.microsoft.com/office/drawing/2014/main" id="{0A6720AD-4FA4-A146-AEEB-A4E558BAA3E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4411782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Title Page">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2279130"/>
          </a:xfrm>
          <a:prstGeom prst="rect">
            <a:avLst/>
          </a:prstGeom>
        </p:spPr>
        <p:txBody>
          <a:bodyPr wrap="square" lIns="0" tIns="0" rIns="0" bIns="0" anchor="ctr"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section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13" name="Picture Placeholder 9">
            <a:extLst>
              <a:ext uri="{FF2B5EF4-FFF2-40B4-BE49-F238E27FC236}">
                <a16:creationId xmlns:a16="http://schemas.microsoft.com/office/drawing/2014/main" id="{46656F8F-0621-5F47-BF80-4A4E365A2D91}"/>
              </a:ext>
            </a:extLst>
          </p:cNvPr>
          <p:cNvSpPr>
            <a:spLocks noGrp="1"/>
          </p:cNvSpPr>
          <p:nvPr>
            <p:ph type="pic" sz="quarter" idx="10"/>
          </p:nvPr>
        </p:nvSpPr>
        <p:spPr>
          <a:xfrm>
            <a:off x="6642541" y="-1"/>
            <a:ext cx="5565823" cy="6416675"/>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158474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782524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0592">
                <a:moveTo>
                  <a:pt x="0" y="1652"/>
                </a:moveTo>
                <a:lnTo>
                  <a:pt x="11459359" y="0"/>
                </a:lnTo>
                <a:cubicBezTo>
                  <a:pt x="11456406" y="1115201"/>
                  <a:pt x="11441877" y="2245391"/>
                  <a:pt x="11438924" y="3360592"/>
                </a:cubicBezTo>
                <a:lnTo>
                  <a:pt x="1188396" y="3358591"/>
                </a:lnTo>
                <a:cubicBezTo>
                  <a:pt x="848612" y="3356903"/>
                  <a:pt x="0" y="3267167"/>
                  <a:pt x="0" y="2946995"/>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spTree>
    <p:extLst>
      <p:ext uri="{BB962C8B-B14F-4D97-AF65-F5344CB8AC3E}">
        <p14:creationId xmlns:p14="http://schemas.microsoft.com/office/powerpoint/2010/main" val="97698907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A5DA52-BBAF-EA48-AEC6-EA08F428CF57}"/>
              </a:ext>
            </a:extLst>
          </p:cNvPr>
          <p:cNvSpPr>
            <a:spLocks noGrp="1"/>
          </p:cNvSpPr>
          <p:nvPr>
            <p:ph type="body" sz="quarter" idx="10" hasCustomPrompt="1"/>
          </p:nvPr>
        </p:nvSpPr>
        <p:spPr>
          <a:xfrm>
            <a:off x="300038" y="371959"/>
            <a:ext cx="11591925" cy="6044716"/>
          </a:xfrm>
          <a:prstGeom prst="rect">
            <a:avLst/>
          </a:prstGeom>
        </p:spPr>
        <p:txBody>
          <a:bodyPr anchor="ctr" anchorCtr="0"/>
          <a:lstStyle>
            <a:lvl1pPr marL="0" indent="0" algn="ctr">
              <a:lnSpc>
                <a:spcPct val="100000"/>
              </a:lnSpc>
              <a:buNone/>
              <a:defRPr sz="3000"/>
            </a:lvl1pPr>
          </a:lstStyle>
          <a:p>
            <a:pPr lvl="0"/>
            <a:r>
              <a:rPr lang="en-US"/>
              <a:t>Blank slide</a:t>
            </a:r>
            <a:endParaRPr lang="en-JP"/>
          </a:p>
        </p:txBody>
      </p:sp>
      <p:sp>
        <p:nvSpPr>
          <p:cNvPr id="2" name="Rectangle 1">
            <a:extLst>
              <a:ext uri="{FF2B5EF4-FFF2-40B4-BE49-F238E27FC236}">
                <a16:creationId xmlns:a16="http://schemas.microsoft.com/office/drawing/2014/main" id="{21EFB23A-4F82-7CFB-40DF-92A2A9183DDF}"/>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Tree>
    <p:extLst>
      <p:ext uri="{BB962C8B-B14F-4D97-AF65-F5344CB8AC3E}">
        <p14:creationId xmlns:p14="http://schemas.microsoft.com/office/powerpoint/2010/main" val="202838579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dvanced 3-Column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Text Placeholder 6">
            <a:extLst>
              <a:ext uri="{FF2B5EF4-FFF2-40B4-BE49-F238E27FC236}">
                <a16:creationId xmlns:a16="http://schemas.microsoft.com/office/drawing/2014/main" id="{3BB454FD-9C16-FC47-B46E-6675394572BB}"/>
              </a:ext>
            </a:extLst>
          </p:cNvPr>
          <p:cNvSpPr>
            <a:spLocks noGrp="1"/>
          </p:cNvSpPr>
          <p:nvPr>
            <p:ph type="body" sz="quarter" idx="18" hasCustomPrompt="1"/>
          </p:nvPr>
        </p:nvSpPr>
        <p:spPr>
          <a:xfrm>
            <a:off x="4213726"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8" name="Text Placeholder 6">
            <a:extLst>
              <a:ext uri="{FF2B5EF4-FFF2-40B4-BE49-F238E27FC236}">
                <a16:creationId xmlns:a16="http://schemas.microsoft.com/office/drawing/2014/main" id="{568F3A49-7287-1C4D-93C8-50E3C0B4F15A}"/>
              </a:ext>
            </a:extLst>
          </p:cNvPr>
          <p:cNvSpPr>
            <a:spLocks noGrp="1"/>
          </p:cNvSpPr>
          <p:nvPr>
            <p:ph type="body" sz="quarter" idx="19" hasCustomPrompt="1"/>
          </p:nvPr>
        </p:nvSpPr>
        <p:spPr>
          <a:xfrm>
            <a:off x="8099967"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1" name="Footer Placeholder 8">
            <a:extLst>
              <a:ext uri="{FF2B5EF4-FFF2-40B4-BE49-F238E27FC236}">
                <a16:creationId xmlns:a16="http://schemas.microsoft.com/office/drawing/2014/main" id="{519BC59F-4516-0043-8BAC-F9FE45B6A9F4}"/>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0E2D4ABB-BC5B-754B-B0DE-676246A385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4" name="タイトル プレースホルダ 1">
            <a:extLst>
              <a:ext uri="{FF2B5EF4-FFF2-40B4-BE49-F238E27FC236}">
                <a16:creationId xmlns:a16="http://schemas.microsoft.com/office/drawing/2014/main" id="{CC986DF6-9894-F144-B9DA-A9DBE0000AB8}"/>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3" name="Rectangle 22">
            <a:extLst>
              <a:ext uri="{FF2B5EF4-FFF2-40B4-BE49-F238E27FC236}">
                <a16:creationId xmlns:a16="http://schemas.microsoft.com/office/drawing/2014/main" id="{886528CE-2840-6C44-965A-04D8835743E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スライド番号プレースホルダ 5">
            <a:extLst>
              <a:ext uri="{FF2B5EF4-FFF2-40B4-BE49-F238E27FC236}">
                <a16:creationId xmlns:a16="http://schemas.microsoft.com/office/drawing/2014/main" id="{854E474F-30B0-604E-9699-287AC57CAAFA}"/>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8" name="Text Placeholder 6">
            <a:extLst>
              <a:ext uri="{FF2B5EF4-FFF2-40B4-BE49-F238E27FC236}">
                <a16:creationId xmlns:a16="http://schemas.microsoft.com/office/drawing/2014/main" id="{C9681050-C142-4F4F-B3C6-6F52F3C55C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22" name="Text Placeholder 2">
            <a:extLst>
              <a:ext uri="{FF2B5EF4-FFF2-40B4-BE49-F238E27FC236}">
                <a16:creationId xmlns:a16="http://schemas.microsoft.com/office/drawing/2014/main" id="{110504E2-40F0-054E-8424-D247EF2CA216}"/>
              </a:ext>
            </a:extLst>
          </p:cNvPr>
          <p:cNvSpPr>
            <a:spLocks noGrp="1"/>
          </p:cNvSpPr>
          <p:nvPr>
            <p:ph type="body" sz="quarter" idx="20" hasCustomPrompt="1"/>
          </p:nvPr>
        </p:nvSpPr>
        <p:spPr>
          <a:xfrm>
            <a:off x="311151" y="1491373"/>
            <a:ext cx="11569700"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5" name="Text Placeholder 6">
            <a:extLst>
              <a:ext uri="{FF2B5EF4-FFF2-40B4-BE49-F238E27FC236}">
                <a16:creationId xmlns:a16="http://schemas.microsoft.com/office/drawing/2014/main" id="{073E75F2-7FFB-DC4C-8964-799372FCF583}"/>
              </a:ext>
            </a:extLst>
          </p:cNvPr>
          <p:cNvSpPr>
            <a:spLocks noGrp="1"/>
          </p:cNvSpPr>
          <p:nvPr>
            <p:ph type="body" sz="quarter" idx="21" hasCustomPrompt="1"/>
          </p:nvPr>
        </p:nvSpPr>
        <p:spPr>
          <a:xfrm>
            <a:off x="311150" y="1093767"/>
            <a:ext cx="11569700"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42147498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Advanced 2/3 Image">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B3311DE3-EC35-4C49-805E-57AB2D90E99E}"/>
              </a:ext>
            </a:extLst>
          </p:cNvPr>
          <p:cNvSpPr>
            <a:spLocks noGrp="1"/>
          </p:cNvSpPr>
          <p:nvPr>
            <p:ph type="pic" sz="quarter" idx="10" hasCustomPrompt="1"/>
          </p:nvPr>
        </p:nvSpPr>
        <p:spPr>
          <a:xfrm>
            <a:off x="4210743" y="1093767"/>
            <a:ext cx="7988356" cy="5322908"/>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8356" h="5135028">
                <a:moveTo>
                  <a:pt x="0" y="0"/>
                </a:moveTo>
                <a:lnTo>
                  <a:pt x="7988281" y="7569"/>
                </a:lnTo>
                <a:cubicBezTo>
                  <a:pt x="7989186" y="2154376"/>
                  <a:pt x="7981645" y="2988221"/>
                  <a:pt x="7982550" y="5135028"/>
                </a:cubicBezTo>
                <a:lnTo>
                  <a:pt x="596656" y="5124807"/>
                </a:lnTo>
                <a:cubicBezTo>
                  <a:pt x="276484" y="5124807"/>
                  <a:pt x="16934" y="4865257"/>
                  <a:pt x="16934" y="4545085"/>
                </a:cubicBezTo>
                <a:cubicBezTo>
                  <a:pt x="11289" y="3022648"/>
                  <a:pt x="5645" y="1522437"/>
                  <a:pt x="0" y="0"/>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0" name="Footer Placeholder 8">
            <a:extLst>
              <a:ext uri="{FF2B5EF4-FFF2-40B4-BE49-F238E27FC236}">
                <a16:creationId xmlns:a16="http://schemas.microsoft.com/office/drawing/2014/main" id="{E4ACE247-6DA5-F044-A880-12BDFE14907B}"/>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pic>
        <p:nvPicPr>
          <p:cNvPr id="14" name="Picture 13" descr="Takeda">
            <a:extLst>
              <a:ext uri="{FF2B5EF4-FFF2-40B4-BE49-F238E27FC236}">
                <a16:creationId xmlns:a16="http://schemas.microsoft.com/office/drawing/2014/main" id="{1397373C-4723-444D-99E3-0FBCAFDAD4F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1545CFCD-ABA6-1349-9917-1DDD2762CB5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1" name="Rectangle 20">
            <a:extLst>
              <a:ext uri="{FF2B5EF4-FFF2-40B4-BE49-F238E27FC236}">
                <a16:creationId xmlns:a16="http://schemas.microsoft.com/office/drawing/2014/main" id="{97730F84-B57E-C441-B81C-A0677388FA64}"/>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78815F79-70B9-A343-88C1-1B41F15106A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6ACFB15D-3880-FB46-8B5A-E057FE4C9B5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EF3CD883-F623-E54C-A27A-38B7EB957052}"/>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B2D601E3-CC68-7845-AAF4-3AD141198B4E}"/>
              </a:ext>
            </a:extLst>
          </p:cNvPr>
          <p:cNvSpPr>
            <a:spLocks noGrp="1"/>
          </p:cNvSpPr>
          <p:nvPr>
            <p:ph type="body" sz="quarter" idx="21"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68289224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Advanced 1/2 Image (Full Bleed)">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DA0F537B-2380-C640-8119-936AD7786464}"/>
              </a:ext>
            </a:extLst>
          </p:cNvPr>
          <p:cNvSpPr>
            <a:spLocks noGrp="1"/>
          </p:cNvSpPr>
          <p:nvPr>
            <p:ph type="pic" sz="quarter" idx="18" hasCustomPrompt="1"/>
          </p:nvPr>
        </p:nvSpPr>
        <p:spPr>
          <a:xfrm>
            <a:off x="6185454" y="-5494"/>
            <a:ext cx="6024384" cy="6863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4384"/>
              <a:gd name="connsiteY0" fmla="*/ 0 h 6857810"/>
              <a:gd name="connsiteX1" fmla="*/ 6015601 w 6024384"/>
              <a:gd name="connsiteY1" fmla="*/ 1730351 h 6857810"/>
              <a:gd name="connsiteX2" fmla="*/ 6024384 w 6024384"/>
              <a:gd name="connsiteY2" fmla="*/ 6857810 h 6857810"/>
              <a:gd name="connsiteX3" fmla="*/ 583404 w 6024384"/>
              <a:gd name="connsiteY3" fmla="*/ 6847589 h 6857810"/>
              <a:gd name="connsiteX4" fmla="*/ 3682 w 6024384"/>
              <a:gd name="connsiteY4" fmla="*/ 6267867 h 6857810"/>
              <a:gd name="connsiteX5" fmla="*/ 0 w 6024384"/>
              <a:gd name="connsiteY5" fmla="*/ 0 h 6857810"/>
              <a:gd name="connsiteX0" fmla="*/ 0 w 6024384"/>
              <a:gd name="connsiteY0" fmla="*/ 5684 h 6863494"/>
              <a:gd name="connsiteX1" fmla="*/ 6002349 w 6024384"/>
              <a:gd name="connsiteY1" fmla="*/ 0 h 6863494"/>
              <a:gd name="connsiteX2" fmla="*/ 6024384 w 6024384"/>
              <a:gd name="connsiteY2" fmla="*/ 6863494 h 6863494"/>
              <a:gd name="connsiteX3" fmla="*/ 583404 w 6024384"/>
              <a:gd name="connsiteY3" fmla="*/ 6853273 h 6863494"/>
              <a:gd name="connsiteX4" fmla="*/ 3682 w 6024384"/>
              <a:gd name="connsiteY4" fmla="*/ 6273551 h 6863494"/>
              <a:gd name="connsiteX5" fmla="*/ 0 w 6024384"/>
              <a:gd name="connsiteY5" fmla="*/ 5684 h 68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4384" h="6863494">
                <a:moveTo>
                  <a:pt x="0" y="5684"/>
                </a:moveTo>
                <a:lnTo>
                  <a:pt x="6002349" y="0"/>
                </a:lnTo>
                <a:cubicBezTo>
                  <a:pt x="6003254" y="2146807"/>
                  <a:pt x="6023479" y="4716687"/>
                  <a:pt x="6024384" y="6863494"/>
                </a:cubicBezTo>
                <a:lnTo>
                  <a:pt x="583404" y="6853273"/>
                </a:lnTo>
                <a:cubicBezTo>
                  <a:pt x="263232" y="6853273"/>
                  <a:pt x="3682" y="6593723"/>
                  <a:pt x="3682" y="6273551"/>
                </a:cubicBezTo>
                <a:cubicBezTo>
                  <a:pt x="-1963" y="4751114"/>
                  <a:pt x="5645" y="1528121"/>
                  <a:pt x="0" y="5684"/>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5708650" cy="2859620"/>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タイトル プレースホルダ 1">
            <a:extLst>
              <a:ext uri="{FF2B5EF4-FFF2-40B4-BE49-F238E27FC236}">
                <a16:creationId xmlns:a16="http://schemas.microsoft.com/office/drawing/2014/main" id="{86D6FEA8-06E4-474A-8491-CD1DDAE7D0D7}"/>
              </a:ext>
            </a:extLst>
          </p:cNvPr>
          <p:cNvSpPr>
            <a:spLocks noGrp="1"/>
          </p:cNvSpPr>
          <p:nvPr>
            <p:ph type="title" hasCustomPrompt="1"/>
          </p:nvPr>
        </p:nvSpPr>
        <p:spPr>
          <a:xfrm>
            <a:off x="606079" y="161605"/>
            <a:ext cx="5413722"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8" name="Rectangle 17">
            <a:extLst>
              <a:ext uri="{FF2B5EF4-FFF2-40B4-BE49-F238E27FC236}">
                <a16:creationId xmlns:a16="http://schemas.microsoft.com/office/drawing/2014/main" id="{CEDBCF76-3461-2245-8BB1-FA50AE27F6CA}"/>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FB98B4FE-9AC1-D142-89B5-4D3791685BC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7D5A74AA-F0D3-9243-967D-FEA6F7A20BC7}"/>
              </a:ext>
            </a:extLst>
          </p:cNvPr>
          <p:cNvSpPr>
            <a:spLocks noGrp="1"/>
          </p:cNvSpPr>
          <p:nvPr>
            <p:ph type="body" sz="quarter" idx="16" hasCustomPrompt="1"/>
          </p:nvPr>
        </p:nvSpPr>
        <p:spPr>
          <a:xfrm>
            <a:off x="606078" y="6523001"/>
            <a:ext cx="5413722"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D16C870C-B0F9-5A43-81FD-66BD75CC33C7}"/>
              </a:ext>
            </a:extLst>
          </p:cNvPr>
          <p:cNvSpPr>
            <a:spLocks noGrp="1"/>
          </p:cNvSpPr>
          <p:nvPr>
            <p:ph type="body" sz="quarter" idx="20" hasCustomPrompt="1"/>
          </p:nvPr>
        </p:nvSpPr>
        <p:spPr>
          <a:xfrm>
            <a:off x="311151" y="1491373"/>
            <a:ext cx="5704886"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C64E591A-1A88-9244-AC81-5B42BFE347C0}"/>
              </a:ext>
            </a:extLst>
          </p:cNvPr>
          <p:cNvSpPr>
            <a:spLocks noGrp="1"/>
          </p:cNvSpPr>
          <p:nvPr>
            <p:ph type="body" sz="quarter" idx="21" hasCustomPrompt="1"/>
          </p:nvPr>
        </p:nvSpPr>
        <p:spPr>
          <a:xfrm>
            <a:off x="311150" y="1093767"/>
            <a:ext cx="5704886"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74180394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Advanced 1/3 Imag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7660042"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36961" y="1093767"/>
            <a:ext cx="4069500" cy="5331536"/>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500" h="5131753">
                <a:moveTo>
                  <a:pt x="0" y="6946"/>
                </a:moveTo>
                <a:lnTo>
                  <a:pt x="4069425" y="0"/>
                </a:lnTo>
                <a:cubicBezTo>
                  <a:pt x="4070330" y="2146807"/>
                  <a:pt x="4062788" y="2966138"/>
                  <a:pt x="4063693" y="5112945"/>
                </a:cubicBezTo>
                <a:lnTo>
                  <a:pt x="596656" y="5131753"/>
                </a:lnTo>
                <a:cubicBezTo>
                  <a:pt x="276484" y="5131753"/>
                  <a:pt x="16934" y="4872203"/>
                  <a:pt x="16934" y="4552031"/>
                </a:cubicBezTo>
                <a:cubicBezTo>
                  <a:pt x="11289" y="3029594"/>
                  <a:pt x="5645" y="1529383"/>
                  <a:pt x="0" y="6946"/>
                </a:cubicBezTo>
                <a:close/>
              </a:path>
            </a:pathLst>
          </a:custGeom>
          <a:noFill/>
        </p:spPr>
        <p:txBody>
          <a:bodyPr>
            <a:normAutofit/>
          </a:bodyPr>
          <a:lstStyle>
            <a:lvl1pPr marL="0" indent="0">
              <a:buNone/>
              <a:defRPr sz="1400">
                <a:solidFill>
                  <a:schemeClr val="tx1"/>
                </a:solidFill>
              </a:defRPr>
            </a:lvl1pPr>
          </a:lstStyle>
          <a:p>
            <a:r>
              <a:rPr lang="en-JP"/>
              <a:t>Insert Photo</a:t>
            </a:r>
          </a:p>
        </p:txBody>
      </p:sp>
      <p:pic>
        <p:nvPicPr>
          <p:cNvPr id="14" name="Picture 13" descr="Takeda">
            <a:extLst>
              <a:ext uri="{FF2B5EF4-FFF2-40B4-BE49-F238E27FC236}">
                <a16:creationId xmlns:a16="http://schemas.microsoft.com/office/drawing/2014/main" id="{334C6D4B-D00D-0346-BC97-8DCE371C280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CCEDFD04-9A53-9241-851E-1D01DC555ACC}"/>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Footer Placeholder 8">
            <a:extLst>
              <a:ext uri="{FF2B5EF4-FFF2-40B4-BE49-F238E27FC236}">
                <a16:creationId xmlns:a16="http://schemas.microsoft.com/office/drawing/2014/main" id="{1E1D8887-7EAE-1A40-9285-7C632FEAA8BF}"/>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3" name="Rectangle 22">
            <a:extLst>
              <a:ext uri="{FF2B5EF4-FFF2-40B4-BE49-F238E27FC236}">
                <a16:creationId xmlns:a16="http://schemas.microsoft.com/office/drawing/2014/main" id="{365B3EBD-E4F5-8E40-B07A-C04F3B1E7F2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6" name="スライド番号プレースホルダ 5">
            <a:extLst>
              <a:ext uri="{FF2B5EF4-FFF2-40B4-BE49-F238E27FC236}">
                <a16:creationId xmlns:a16="http://schemas.microsoft.com/office/drawing/2014/main" id="{3D5D14EF-A351-224D-8142-E1BEE44BBC9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7" name="Text Placeholder 6">
            <a:extLst>
              <a:ext uri="{FF2B5EF4-FFF2-40B4-BE49-F238E27FC236}">
                <a16:creationId xmlns:a16="http://schemas.microsoft.com/office/drawing/2014/main" id="{4D0A49B6-0BCC-C545-BF97-504B63062FE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D82FCE78-36AB-904B-98A8-CE3FFB1555E3}"/>
              </a:ext>
            </a:extLst>
          </p:cNvPr>
          <p:cNvSpPr>
            <a:spLocks noGrp="1"/>
          </p:cNvSpPr>
          <p:nvPr>
            <p:ph type="body" sz="quarter" idx="20" hasCustomPrompt="1"/>
          </p:nvPr>
        </p:nvSpPr>
        <p:spPr>
          <a:xfrm>
            <a:off x="311150" y="1491373"/>
            <a:ext cx="7660041"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72ECF95F-F25E-8248-A0F3-BB1749A1B406}"/>
              </a:ext>
            </a:extLst>
          </p:cNvPr>
          <p:cNvSpPr>
            <a:spLocks noGrp="1"/>
          </p:cNvSpPr>
          <p:nvPr>
            <p:ph type="body" sz="quarter" idx="21" hasCustomPrompt="1"/>
          </p:nvPr>
        </p:nvSpPr>
        <p:spPr>
          <a:xfrm>
            <a:off x="311149" y="1093767"/>
            <a:ext cx="7660041"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22532711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dvanced 1/3 Image (Full Blee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23708" y="-1378"/>
            <a:ext cx="4076946" cy="6860842"/>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 name="connsiteX0" fmla="*/ 0 w 4082753"/>
              <a:gd name="connsiteY0" fmla="*/ 2 h 6874096"/>
              <a:gd name="connsiteX1" fmla="*/ 4082678 w 4082753"/>
              <a:gd name="connsiteY1" fmla="*/ 1742343 h 6874096"/>
              <a:gd name="connsiteX2" fmla="*/ 4076946 w 4082753"/>
              <a:gd name="connsiteY2" fmla="*/ 6855288 h 6874096"/>
              <a:gd name="connsiteX3" fmla="*/ 609909 w 4082753"/>
              <a:gd name="connsiteY3" fmla="*/ 6874096 h 6874096"/>
              <a:gd name="connsiteX4" fmla="*/ 30187 w 4082753"/>
              <a:gd name="connsiteY4" fmla="*/ 6294374 h 6874096"/>
              <a:gd name="connsiteX5" fmla="*/ 0 w 4082753"/>
              <a:gd name="connsiteY5" fmla="*/ 2 h 6874096"/>
              <a:gd name="connsiteX0" fmla="*/ 0 w 4095958"/>
              <a:gd name="connsiteY0" fmla="*/ 6946 h 6881040"/>
              <a:gd name="connsiteX1" fmla="*/ 4095930 w 4095958"/>
              <a:gd name="connsiteY1" fmla="*/ 0 h 6881040"/>
              <a:gd name="connsiteX2" fmla="*/ 4076946 w 4095958"/>
              <a:gd name="connsiteY2" fmla="*/ 6862232 h 6881040"/>
              <a:gd name="connsiteX3" fmla="*/ 609909 w 4095958"/>
              <a:gd name="connsiteY3" fmla="*/ 6881040 h 6881040"/>
              <a:gd name="connsiteX4" fmla="*/ 30187 w 4095958"/>
              <a:gd name="connsiteY4" fmla="*/ 6301318 h 6881040"/>
              <a:gd name="connsiteX5" fmla="*/ 0 w 4095958"/>
              <a:gd name="connsiteY5" fmla="*/ 6946 h 6881040"/>
              <a:gd name="connsiteX0" fmla="*/ 0 w 4076946"/>
              <a:gd name="connsiteY0" fmla="*/ 0 h 6874094"/>
              <a:gd name="connsiteX1" fmla="*/ 3870643 w 4076946"/>
              <a:gd name="connsiteY1" fmla="*/ 191837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0 h 6874094"/>
              <a:gd name="connsiteX1" fmla="*/ 4069426 w 4076946"/>
              <a:gd name="connsiteY1" fmla="*/ 19559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99710 h 6854535"/>
              <a:gd name="connsiteX1" fmla="*/ 4069426 w 4076946"/>
              <a:gd name="connsiteY1" fmla="*/ 0 h 6854535"/>
              <a:gd name="connsiteX2" fmla="*/ 4076946 w 4076946"/>
              <a:gd name="connsiteY2" fmla="*/ 6835727 h 6854535"/>
              <a:gd name="connsiteX3" fmla="*/ 609909 w 4076946"/>
              <a:gd name="connsiteY3" fmla="*/ 6854535 h 6854535"/>
              <a:gd name="connsiteX4" fmla="*/ 30187 w 4076946"/>
              <a:gd name="connsiteY4" fmla="*/ 6274813 h 6854535"/>
              <a:gd name="connsiteX5" fmla="*/ 0 w 4076946"/>
              <a:gd name="connsiteY5" fmla="*/ 99710 h 6854535"/>
              <a:gd name="connsiteX0" fmla="*/ 0 w 4076946"/>
              <a:gd name="connsiteY0" fmla="*/ 0 h 6860842"/>
              <a:gd name="connsiteX1" fmla="*/ 4069426 w 4076946"/>
              <a:gd name="connsiteY1" fmla="*/ 6307 h 6860842"/>
              <a:gd name="connsiteX2" fmla="*/ 4076946 w 4076946"/>
              <a:gd name="connsiteY2" fmla="*/ 6842034 h 6860842"/>
              <a:gd name="connsiteX3" fmla="*/ 609909 w 4076946"/>
              <a:gd name="connsiteY3" fmla="*/ 6860842 h 6860842"/>
              <a:gd name="connsiteX4" fmla="*/ 30187 w 4076946"/>
              <a:gd name="connsiteY4" fmla="*/ 6281120 h 6860842"/>
              <a:gd name="connsiteX5" fmla="*/ 0 w 4076946"/>
              <a:gd name="connsiteY5" fmla="*/ 0 h 686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946" h="6860842">
                <a:moveTo>
                  <a:pt x="0" y="0"/>
                </a:moveTo>
                <a:lnTo>
                  <a:pt x="4069426" y="6307"/>
                </a:lnTo>
                <a:cubicBezTo>
                  <a:pt x="4070331" y="2153114"/>
                  <a:pt x="4076041" y="4695227"/>
                  <a:pt x="4076946" y="6842034"/>
                </a:cubicBezTo>
                <a:lnTo>
                  <a:pt x="609909" y="6860842"/>
                </a:lnTo>
                <a:cubicBezTo>
                  <a:pt x="289737" y="6860842"/>
                  <a:pt x="30187" y="6601292"/>
                  <a:pt x="30187" y="6281120"/>
                </a:cubicBezTo>
                <a:cubicBezTo>
                  <a:pt x="24542" y="4758683"/>
                  <a:pt x="5645" y="1522437"/>
                  <a:pt x="0" y="0"/>
                </a:cubicBezTo>
                <a:close/>
              </a:path>
            </a:pathLst>
          </a:custGeom>
          <a:noFill/>
        </p:spPr>
        <p:txBody>
          <a:bodyPr>
            <a:normAutofit/>
          </a:bodyPr>
          <a:lstStyle>
            <a:lvl1pPr marL="0" indent="0">
              <a:buNone/>
              <a:defRPr sz="1400">
                <a:solidFill>
                  <a:schemeClr val="tx1"/>
                </a:solidFill>
              </a:defRPr>
            </a:lvl1pPr>
          </a:lstStyle>
          <a:p>
            <a:r>
              <a:rPr lang="en-JP"/>
              <a:t>Insert Photo</a:t>
            </a:r>
          </a:p>
        </p:txBody>
      </p:sp>
      <p:sp>
        <p:nvSpPr>
          <p:cNvPr id="17" name="タイトル プレースホルダ 1">
            <a:extLst>
              <a:ext uri="{FF2B5EF4-FFF2-40B4-BE49-F238E27FC236}">
                <a16:creationId xmlns:a16="http://schemas.microsoft.com/office/drawing/2014/main" id="{6FB24DD6-99CB-CE43-A787-C9F60DC95F8F}"/>
              </a:ext>
            </a:extLst>
          </p:cNvPr>
          <p:cNvSpPr>
            <a:spLocks noGrp="1"/>
          </p:cNvSpPr>
          <p:nvPr>
            <p:ph type="title" hasCustomPrompt="1"/>
          </p:nvPr>
        </p:nvSpPr>
        <p:spPr>
          <a:xfrm>
            <a:off x="606079" y="161605"/>
            <a:ext cx="7368878"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8" name="Rectangle 17">
            <a:extLst>
              <a:ext uri="{FF2B5EF4-FFF2-40B4-BE49-F238E27FC236}">
                <a16:creationId xmlns:a16="http://schemas.microsoft.com/office/drawing/2014/main" id="{77130E5B-E573-584B-8C83-F8409492B14B}"/>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1" name="スライド番号プレースホルダ 5">
            <a:extLst>
              <a:ext uri="{FF2B5EF4-FFF2-40B4-BE49-F238E27FC236}">
                <a16:creationId xmlns:a16="http://schemas.microsoft.com/office/drawing/2014/main" id="{C55CC856-2ADD-F44F-96B6-03734457CCF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2" name="Text Placeholder 6">
            <a:extLst>
              <a:ext uri="{FF2B5EF4-FFF2-40B4-BE49-F238E27FC236}">
                <a16:creationId xmlns:a16="http://schemas.microsoft.com/office/drawing/2014/main" id="{DB94AACD-56D4-F146-AFC0-5CBE6630C5A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73A8AA34-7C7D-A24F-AF24-5158DD2AB0ED}"/>
              </a:ext>
            </a:extLst>
          </p:cNvPr>
          <p:cNvSpPr>
            <a:spLocks noGrp="1"/>
          </p:cNvSpPr>
          <p:nvPr>
            <p:ph type="body" sz="quarter" idx="20" hasCustomPrompt="1"/>
          </p:nvPr>
        </p:nvSpPr>
        <p:spPr>
          <a:xfrm>
            <a:off x="311151" y="1491373"/>
            <a:ext cx="7660042"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8F4B55CE-CF3E-7E44-A66A-599621CA5C5F}"/>
              </a:ext>
            </a:extLst>
          </p:cNvPr>
          <p:cNvSpPr>
            <a:spLocks noGrp="1"/>
          </p:cNvSpPr>
          <p:nvPr>
            <p:ph type="body" sz="quarter" idx="21" hasCustomPrompt="1"/>
          </p:nvPr>
        </p:nvSpPr>
        <p:spPr>
          <a:xfrm>
            <a:off x="311150" y="1093767"/>
            <a:ext cx="7660042"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8486580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Advanced Image 4-Column">
    <p:spTree>
      <p:nvGrpSpPr>
        <p:cNvPr id="1" name=""/>
        <p:cNvGrpSpPr/>
        <p:nvPr/>
      </p:nvGrpSpPr>
      <p:grpSpPr>
        <a:xfrm>
          <a:off x="0" y="0"/>
          <a:ext cx="0" cy="0"/>
          <a:chOff x="0" y="0"/>
          <a:chExt cx="0" cy="0"/>
        </a:xfrm>
      </p:grpSpPr>
      <p:sp>
        <p:nvSpPr>
          <p:cNvPr id="22" name="Picture Placeholder 9">
            <a:extLst>
              <a:ext uri="{FF2B5EF4-FFF2-40B4-BE49-F238E27FC236}">
                <a16:creationId xmlns:a16="http://schemas.microsoft.com/office/drawing/2014/main" id="{21DF8897-54F9-C24F-8261-0C5418827A6D}"/>
              </a:ext>
            </a:extLst>
          </p:cNvPr>
          <p:cNvSpPr>
            <a:spLocks noGrp="1"/>
          </p:cNvSpPr>
          <p:nvPr>
            <p:ph type="pic" sz="quarter" idx="10" hasCustomPrompt="1"/>
          </p:nvPr>
        </p:nvSpPr>
        <p:spPr>
          <a:xfrm>
            <a:off x="9110737"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1400">
                <a:solidFill>
                  <a:schemeClr val="tx1"/>
                </a:solidFill>
              </a:defRPr>
            </a:lvl1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JP"/>
              <a:t>Insert Picture/Text Block</a:t>
            </a:r>
          </a:p>
          <a:p>
            <a:endParaRPr lang="en-JP"/>
          </a:p>
        </p:txBody>
      </p:sp>
      <p:sp>
        <p:nvSpPr>
          <p:cNvPr id="23" name="Picture Placeholder 9">
            <a:extLst>
              <a:ext uri="{FF2B5EF4-FFF2-40B4-BE49-F238E27FC236}">
                <a16:creationId xmlns:a16="http://schemas.microsoft.com/office/drawing/2014/main" id="{8D6B3691-FCAC-8A46-AA30-DEB2A719C7B2}"/>
              </a:ext>
            </a:extLst>
          </p:cNvPr>
          <p:cNvSpPr>
            <a:spLocks noGrp="1"/>
          </p:cNvSpPr>
          <p:nvPr>
            <p:ph type="pic" sz="quarter" idx="18" hasCustomPrompt="1"/>
          </p:nvPr>
        </p:nvSpPr>
        <p:spPr>
          <a:xfrm>
            <a:off x="311373"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a:t>Insert Picture/Text Block</a:t>
            </a:r>
          </a:p>
        </p:txBody>
      </p:sp>
      <p:sp>
        <p:nvSpPr>
          <p:cNvPr id="24" name="Picture Placeholder 9">
            <a:extLst>
              <a:ext uri="{FF2B5EF4-FFF2-40B4-BE49-F238E27FC236}">
                <a16:creationId xmlns:a16="http://schemas.microsoft.com/office/drawing/2014/main" id="{AA8F528A-C9DE-0B46-881A-43E0F9B6F677}"/>
              </a:ext>
            </a:extLst>
          </p:cNvPr>
          <p:cNvSpPr>
            <a:spLocks noGrp="1"/>
          </p:cNvSpPr>
          <p:nvPr>
            <p:ph type="pic" sz="quarter" idx="19" hasCustomPrompt="1"/>
          </p:nvPr>
        </p:nvSpPr>
        <p:spPr>
          <a:xfrm>
            <a:off x="3244494"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a:t>Insert Picture/Text Block</a:t>
            </a:r>
          </a:p>
        </p:txBody>
      </p:sp>
      <p:sp>
        <p:nvSpPr>
          <p:cNvPr id="25" name="Picture Placeholder 9">
            <a:extLst>
              <a:ext uri="{FF2B5EF4-FFF2-40B4-BE49-F238E27FC236}">
                <a16:creationId xmlns:a16="http://schemas.microsoft.com/office/drawing/2014/main" id="{E01CF285-75D7-154A-ACF2-9393FB0B38D0}"/>
              </a:ext>
            </a:extLst>
          </p:cNvPr>
          <p:cNvSpPr>
            <a:spLocks noGrp="1"/>
          </p:cNvSpPr>
          <p:nvPr>
            <p:ph type="pic" sz="quarter" idx="20" hasCustomPrompt="1"/>
          </p:nvPr>
        </p:nvSpPr>
        <p:spPr>
          <a:xfrm>
            <a:off x="6177615"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US"/>
              <a:t>Insert Picture/Text Block</a:t>
            </a:r>
          </a:p>
          <a:p>
            <a:endParaRPr lang="en-US"/>
          </a:p>
          <a:p>
            <a:endParaRPr lang="en-JP"/>
          </a:p>
        </p:txBody>
      </p:sp>
      <p:pic>
        <p:nvPicPr>
          <p:cNvPr id="14" name="Picture 13" descr="Takeda">
            <a:extLst>
              <a:ext uri="{FF2B5EF4-FFF2-40B4-BE49-F238E27FC236}">
                <a16:creationId xmlns:a16="http://schemas.microsoft.com/office/drawing/2014/main" id="{47FD433F-488A-9D46-BDF0-87D0F082AE4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8" name="タイトル プレースホルダ 1">
            <a:extLst>
              <a:ext uri="{FF2B5EF4-FFF2-40B4-BE49-F238E27FC236}">
                <a16:creationId xmlns:a16="http://schemas.microsoft.com/office/drawing/2014/main" id="{4FBB8310-69E6-7C4E-A4B1-C022B6FEE2C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4EF39473-C435-3C4E-9C7B-048D52C3CC92}"/>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US"/>
              <a:t> </a:t>
            </a:r>
            <a:endParaRPr lang="en-JP"/>
          </a:p>
        </p:txBody>
      </p:sp>
      <p:sp>
        <p:nvSpPr>
          <p:cNvPr id="21" name="Rectangle 20">
            <a:extLst>
              <a:ext uri="{FF2B5EF4-FFF2-40B4-BE49-F238E27FC236}">
                <a16:creationId xmlns:a16="http://schemas.microsoft.com/office/drawing/2014/main" id="{0FEF9AE6-D84E-9F43-9506-6676EC51B210}"/>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8" name="スライド番号プレースホルダ 5">
            <a:extLst>
              <a:ext uri="{FF2B5EF4-FFF2-40B4-BE49-F238E27FC236}">
                <a16:creationId xmlns:a16="http://schemas.microsoft.com/office/drawing/2014/main" id="{F964ADE6-9B0D-EC45-959C-FEEA5CDDFBA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9" name="Text Placeholder 6">
            <a:extLst>
              <a:ext uri="{FF2B5EF4-FFF2-40B4-BE49-F238E27FC236}">
                <a16:creationId xmlns:a16="http://schemas.microsoft.com/office/drawing/2014/main" id="{870D8562-3CE7-7044-9BB0-2068A81BF5CB}"/>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9" name="Text Placeholder 2">
            <a:extLst>
              <a:ext uri="{FF2B5EF4-FFF2-40B4-BE49-F238E27FC236}">
                <a16:creationId xmlns:a16="http://schemas.microsoft.com/office/drawing/2014/main" id="{099C450B-0755-7D4A-9672-E700D6F2E50A}"/>
              </a:ext>
            </a:extLst>
          </p:cNvPr>
          <p:cNvSpPr>
            <a:spLocks noGrp="1"/>
          </p:cNvSpPr>
          <p:nvPr>
            <p:ph type="body" sz="quarter" idx="21"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0" name="Text Placeholder 6">
            <a:extLst>
              <a:ext uri="{FF2B5EF4-FFF2-40B4-BE49-F238E27FC236}">
                <a16:creationId xmlns:a16="http://schemas.microsoft.com/office/drawing/2014/main" id="{705B1BEB-AC9F-9643-A446-ABE1DDB96144}"/>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68680216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Advanced Chart Full Width">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11571628" cy="3340389"/>
          </a:xfrm>
          <a:prstGeom prst="rect">
            <a:avLst/>
          </a:prstGeom>
        </p:spPr>
        <p:txBody>
          <a:bodyPr>
            <a:normAutofit/>
          </a:bodyPr>
          <a:lstStyle>
            <a:lvl1pPr marL="0" indent="0">
              <a:buNone/>
              <a:defRPr sz="1400"/>
            </a:lvl1pPr>
          </a:lstStyle>
          <a:p>
            <a:r>
              <a:rPr lang="en-JP"/>
              <a:t>Insert Chart</a:t>
            </a:r>
          </a:p>
        </p:txBody>
      </p:sp>
      <p:pic>
        <p:nvPicPr>
          <p:cNvPr id="11" name="Picture 10" descr="Takeda">
            <a:extLst>
              <a:ext uri="{FF2B5EF4-FFF2-40B4-BE49-F238E27FC236}">
                <a16:creationId xmlns:a16="http://schemas.microsoft.com/office/drawing/2014/main" id="{7EBA21A8-EE4B-6E4B-A794-3FEA5B1599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75E45CD2-2EBD-AE47-837E-9F752C565F73}"/>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2DC26CE8-1DEF-EE42-861C-B0406E8DC23D}"/>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0" name="Rectangle 19">
            <a:extLst>
              <a:ext uri="{FF2B5EF4-FFF2-40B4-BE49-F238E27FC236}">
                <a16:creationId xmlns:a16="http://schemas.microsoft.com/office/drawing/2014/main" id="{4436966D-3DF0-4D41-9D26-4860D147F80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3" name="スライド番号プレースホルダ 5">
            <a:extLst>
              <a:ext uri="{FF2B5EF4-FFF2-40B4-BE49-F238E27FC236}">
                <a16:creationId xmlns:a16="http://schemas.microsoft.com/office/drawing/2014/main" id="{600920FB-2D44-F645-865D-89FFECB09573}"/>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4" name="Text Placeholder 6">
            <a:extLst>
              <a:ext uri="{FF2B5EF4-FFF2-40B4-BE49-F238E27FC236}">
                <a16:creationId xmlns:a16="http://schemas.microsoft.com/office/drawing/2014/main" id="{07DE8F7E-1418-1C4C-A62B-2385714992F7}"/>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4" name="Text Placeholder 2">
            <a:extLst>
              <a:ext uri="{FF2B5EF4-FFF2-40B4-BE49-F238E27FC236}">
                <a16:creationId xmlns:a16="http://schemas.microsoft.com/office/drawing/2014/main" id="{628A960D-6A45-6744-9BDB-7070B443CC64}"/>
              </a:ext>
            </a:extLst>
          </p:cNvPr>
          <p:cNvSpPr>
            <a:spLocks noGrp="1"/>
          </p:cNvSpPr>
          <p:nvPr>
            <p:ph type="body" sz="quarter" idx="20"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5" name="Text Placeholder 6">
            <a:extLst>
              <a:ext uri="{FF2B5EF4-FFF2-40B4-BE49-F238E27FC236}">
                <a16:creationId xmlns:a16="http://schemas.microsoft.com/office/drawing/2014/main" id="{21493179-5EA4-604B-A9DF-BDA818F0166A}"/>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27598189"/>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Advanced Chart 2/3">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4227225" y="1093767"/>
            <a:ext cx="7653625" cy="5322908"/>
          </a:xfrm>
          <a:prstGeom prst="rect">
            <a:avLst/>
          </a:prstGeom>
        </p:spPr>
        <p:txBody>
          <a:bodyPr>
            <a:normAutofit/>
          </a:bodyPr>
          <a:lstStyle>
            <a:lvl1pPr marL="0" indent="0">
              <a:buNone/>
              <a:defRPr sz="1400"/>
            </a:lvl1pPr>
          </a:lstStyle>
          <a:p>
            <a:r>
              <a:rPr lang="en-JP"/>
              <a:t>Insert Chart</a:t>
            </a:r>
          </a:p>
        </p:txBody>
      </p:sp>
      <p:sp>
        <p:nvSpPr>
          <p:cNvPr id="9" name="Text Placeholder 6">
            <a:extLst>
              <a:ext uri="{FF2B5EF4-FFF2-40B4-BE49-F238E27FC236}">
                <a16:creationId xmlns:a16="http://schemas.microsoft.com/office/drawing/2014/main" id="{EF65D74B-37DA-0D46-8B56-9B362C84E6B9}"/>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0" name="Text Placeholder 6">
            <a:extLst>
              <a:ext uri="{FF2B5EF4-FFF2-40B4-BE49-F238E27FC236}">
                <a16:creationId xmlns:a16="http://schemas.microsoft.com/office/drawing/2014/main" id="{BF5F6A26-5AAA-884F-A319-DE9881530AA7}"/>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pic>
        <p:nvPicPr>
          <p:cNvPr id="12" name="Picture 11" descr="Takeda">
            <a:extLst>
              <a:ext uri="{FF2B5EF4-FFF2-40B4-BE49-F238E27FC236}">
                <a16:creationId xmlns:a16="http://schemas.microsoft.com/office/drawing/2014/main" id="{5D7AA9CA-E651-9E48-B0F3-BDDA45B353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3" name="タイトル プレースホルダ 1">
            <a:extLst>
              <a:ext uri="{FF2B5EF4-FFF2-40B4-BE49-F238E27FC236}">
                <a16:creationId xmlns:a16="http://schemas.microsoft.com/office/drawing/2014/main" id="{2256F400-EDA8-7F44-BF13-278518497C9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5" name="Footer Placeholder 8">
            <a:extLst>
              <a:ext uri="{FF2B5EF4-FFF2-40B4-BE49-F238E27FC236}">
                <a16:creationId xmlns:a16="http://schemas.microsoft.com/office/drawing/2014/main" id="{7136781B-A49B-0A42-B748-01C379A12FF6}"/>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1" name="Rectangle 20">
            <a:extLst>
              <a:ext uri="{FF2B5EF4-FFF2-40B4-BE49-F238E27FC236}">
                <a16:creationId xmlns:a16="http://schemas.microsoft.com/office/drawing/2014/main" id="{EAC2B0AC-7801-6C42-BA03-0669DC118159}"/>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スライド番号プレースホルダ 5">
            <a:extLst>
              <a:ext uri="{FF2B5EF4-FFF2-40B4-BE49-F238E27FC236}">
                <a16:creationId xmlns:a16="http://schemas.microsoft.com/office/drawing/2014/main" id="{71FCF96E-3BB8-0745-B029-6B6BE4291274}"/>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5" name="Text Placeholder 6">
            <a:extLst>
              <a:ext uri="{FF2B5EF4-FFF2-40B4-BE49-F238E27FC236}">
                <a16:creationId xmlns:a16="http://schemas.microsoft.com/office/drawing/2014/main" id="{875659DC-941F-AA40-8336-C3B1BF32BA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45375A5A-6A84-7145-B49C-982F84619406}"/>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5F7E9041-544E-3547-AC30-65F55E91E1ED}"/>
              </a:ext>
            </a:extLst>
          </p:cNvPr>
          <p:cNvSpPr>
            <a:spLocks noGrp="1"/>
          </p:cNvSpPr>
          <p:nvPr>
            <p:ph type="body" sz="quarter" idx="22"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01561882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Advanced Chart 2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5708650" cy="3340389"/>
          </a:xfrm>
          <a:prstGeom prst="rect">
            <a:avLst/>
          </a:prstGeom>
        </p:spPr>
        <p:txBody>
          <a:bodyPr>
            <a:normAutofit/>
          </a:bodyPr>
          <a:lstStyle>
            <a:lvl1pPr marL="0" indent="0">
              <a:buNone/>
              <a:defRPr sz="1400"/>
            </a:lvl1pPr>
          </a:lstStyle>
          <a:p>
            <a:r>
              <a:rPr lang="en-JP"/>
              <a:t>Insert Chart</a:t>
            </a:r>
          </a:p>
        </p:txBody>
      </p:sp>
      <p:sp>
        <p:nvSpPr>
          <p:cNvPr id="9" name="Chart Placeholder 7">
            <a:extLst>
              <a:ext uri="{FF2B5EF4-FFF2-40B4-BE49-F238E27FC236}">
                <a16:creationId xmlns:a16="http://schemas.microsoft.com/office/drawing/2014/main" id="{F1FC7466-185A-8B44-ABF0-5410C1127700}"/>
              </a:ext>
            </a:extLst>
          </p:cNvPr>
          <p:cNvSpPr>
            <a:spLocks noGrp="1"/>
          </p:cNvSpPr>
          <p:nvPr>
            <p:ph type="chart" sz="quarter" idx="22" hasCustomPrompt="1"/>
          </p:nvPr>
        </p:nvSpPr>
        <p:spPr>
          <a:xfrm>
            <a:off x="6206170" y="3076286"/>
            <a:ext cx="5708650" cy="3340389"/>
          </a:xfrm>
          <a:prstGeom prst="rect">
            <a:avLst/>
          </a:prstGeom>
        </p:spPr>
        <p:txBody>
          <a:bodyPr>
            <a:normAutofit/>
          </a:bodyPr>
          <a:lstStyle>
            <a:lvl1pPr marL="0" indent="0">
              <a:buNone/>
              <a:defRPr sz="1400"/>
            </a:lvl1pPr>
          </a:lstStyle>
          <a:p>
            <a:r>
              <a:rPr lang="en-JP"/>
              <a:t>Insert Chart</a:t>
            </a:r>
          </a:p>
        </p:txBody>
      </p:sp>
      <p:pic>
        <p:nvPicPr>
          <p:cNvPr id="10" name="Picture 9" descr="Takeda">
            <a:extLst>
              <a:ext uri="{FF2B5EF4-FFF2-40B4-BE49-F238E27FC236}">
                <a16:creationId xmlns:a16="http://schemas.microsoft.com/office/drawing/2014/main" id="{F183604A-2112-D443-8B35-2DFEE7121A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906CE02B-33D8-B048-A73D-781A3402C2B1}"/>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4" name="Footer Placeholder 8">
            <a:extLst>
              <a:ext uri="{FF2B5EF4-FFF2-40B4-BE49-F238E27FC236}">
                <a16:creationId xmlns:a16="http://schemas.microsoft.com/office/drawing/2014/main" id="{C2587943-8F51-3542-B7BE-5781719445F9}"/>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17" name="Rectangle 16">
            <a:extLst>
              <a:ext uri="{FF2B5EF4-FFF2-40B4-BE49-F238E27FC236}">
                <a16:creationId xmlns:a16="http://schemas.microsoft.com/office/drawing/2014/main" id="{B679FB0B-7616-F04F-9B4C-586869A82E96}"/>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8AFBB1AB-19B7-1347-93F8-D14235DD2317}"/>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1C168495-CA79-E440-A93B-B87B36748352}"/>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F6F06E4B-A978-4E46-AE6C-67B54F7E34D5}"/>
              </a:ext>
            </a:extLst>
          </p:cNvPr>
          <p:cNvSpPr>
            <a:spLocks noGrp="1"/>
          </p:cNvSpPr>
          <p:nvPr>
            <p:ph type="body" sz="quarter" idx="20" hasCustomPrompt="1"/>
          </p:nvPr>
        </p:nvSpPr>
        <p:spPr>
          <a:xfrm>
            <a:off x="311150" y="1491373"/>
            <a:ext cx="1160366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3FF373A1-4E48-6C48-A075-153436CF76DC}"/>
              </a:ext>
            </a:extLst>
          </p:cNvPr>
          <p:cNvSpPr>
            <a:spLocks noGrp="1"/>
          </p:cNvSpPr>
          <p:nvPr>
            <p:ph type="body" sz="quarter" idx="23" hasCustomPrompt="1"/>
          </p:nvPr>
        </p:nvSpPr>
        <p:spPr>
          <a:xfrm>
            <a:off x="311149" y="1093767"/>
            <a:ext cx="1160366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51568975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Advanced Chart 3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4" y="3076286"/>
            <a:ext cx="3757810" cy="3340389"/>
          </a:xfrm>
          <a:prstGeom prst="rect">
            <a:avLst/>
          </a:prstGeom>
        </p:spPr>
        <p:txBody>
          <a:bodyPr>
            <a:normAutofit/>
          </a:bodyPr>
          <a:lstStyle>
            <a:lvl1pPr marL="0" indent="0">
              <a:buNone/>
              <a:defRPr sz="1400"/>
            </a:lvl1pPr>
          </a:lstStyle>
          <a:p>
            <a:r>
              <a:rPr lang="en-JP"/>
              <a:t>Insert Chart</a:t>
            </a:r>
          </a:p>
        </p:txBody>
      </p:sp>
      <p:sp>
        <p:nvSpPr>
          <p:cNvPr id="10" name="Chart Placeholder 7">
            <a:extLst>
              <a:ext uri="{FF2B5EF4-FFF2-40B4-BE49-F238E27FC236}">
                <a16:creationId xmlns:a16="http://schemas.microsoft.com/office/drawing/2014/main" id="{8D9BD23C-1777-C442-B4B0-BADF450483EA}"/>
              </a:ext>
            </a:extLst>
          </p:cNvPr>
          <p:cNvSpPr>
            <a:spLocks noGrp="1"/>
          </p:cNvSpPr>
          <p:nvPr>
            <p:ph type="chart" sz="quarter" idx="22" hasCustomPrompt="1"/>
          </p:nvPr>
        </p:nvSpPr>
        <p:spPr>
          <a:xfrm>
            <a:off x="4217095" y="3076286"/>
            <a:ext cx="3757810" cy="3340389"/>
          </a:xfrm>
          <a:prstGeom prst="rect">
            <a:avLst/>
          </a:prstGeom>
        </p:spPr>
        <p:txBody>
          <a:bodyPr>
            <a:normAutofit/>
          </a:bodyPr>
          <a:lstStyle>
            <a:lvl1pPr marL="0" indent="0">
              <a:buNone/>
              <a:defRPr sz="1400"/>
            </a:lvl1pPr>
          </a:lstStyle>
          <a:p>
            <a:r>
              <a:rPr lang="en-JP"/>
              <a:t>Insert Chart</a:t>
            </a:r>
          </a:p>
        </p:txBody>
      </p:sp>
      <p:sp>
        <p:nvSpPr>
          <p:cNvPr id="11" name="Chart Placeholder 7">
            <a:extLst>
              <a:ext uri="{FF2B5EF4-FFF2-40B4-BE49-F238E27FC236}">
                <a16:creationId xmlns:a16="http://schemas.microsoft.com/office/drawing/2014/main" id="{2D7D413C-2FF1-204A-83C6-B7426603B7C2}"/>
              </a:ext>
            </a:extLst>
          </p:cNvPr>
          <p:cNvSpPr>
            <a:spLocks noGrp="1"/>
          </p:cNvSpPr>
          <p:nvPr>
            <p:ph type="chart" sz="quarter" idx="23" hasCustomPrompt="1"/>
          </p:nvPr>
        </p:nvSpPr>
        <p:spPr>
          <a:xfrm>
            <a:off x="8123041" y="3076286"/>
            <a:ext cx="3757810" cy="3340389"/>
          </a:xfrm>
          <a:prstGeom prst="rect">
            <a:avLst/>
          </a:prstGeom>
        </p:spPr>
        <p:txBody>
          <a:bodyPr>
            <a:normAutofit/>
          </a:bodyPr>
          <a:lstStyle>
            <a:lvl1pPr marL="0" indent="0">
              <a:buNone/>
              <a:defRPr sz="1400"/>
            </a:lvl1pPr>
          </a:lstStyle>
          <a:p>
            <a:r>
              <a:rPr lang="en-JP"/>
              <a:t>Insert Chart</a:t>
            </a:r>
          </a:p>
        </p:txBody>
      </p:sp>
      <p:pic>
        <p:nvPicPr>
          <p:cNvPr id="13" name="Picture 12" descr="Takeda">
            <a:extLst>
              <a:ext uri="{FF2B5EF4-FFF2-40B4-BE49-F238E27FC236}">
                <a16:creationId xmlns:a16="http://schemas.microsoft.com/office/drawing/2014/main" id="{0C4979BF-EBB2-214C-8087-7AC4B2163D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2FFB1535-D35E-D242-B225-DDF1C53BB8D4}"/>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9" name="Footer Placeholder 8">
            <a:extLst>
              <a:ext uri="{FF2B5EF4-FFF2-40B4-BE49-F238E27FC236}">
                <a16:creationId xmlns:a16="http://schemas.microsoft.com/office/drawing/2014/main" id="{47DB5E3C-7053-3645-A234-760F5ED1236A}"/>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a:t> </a:t>
            </a:r>
          </a:p>
        </p:txBody>
      </p:sp>
      <p:sp>
        <p:nvSpPr>
          <p:cNvPr id="22" name="Rectangle 21">
            <a:extLst>
              <a:ext uri="{FF2B5EF4-FFF2-40B4-BE49-F238E27FC236}">
                <a16:creationId xmlns:a16="http://schemas.microsoft.com/office/drawing/2014/main" id="{DEFC8CB7-67E9-8A46-B53F-F34ACE18BE8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5EB1023E-4E73-AD49-83B0-D7B458250C6F}"/>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4942DB0C-137A-4E4C-B926-77CEECC512A8}"/>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AD1171B1-AEC6-164D-8FE0-E0B9353A55BF}"/>
              </a:ext>
            </a:extLst>
          </p:cNvPr>
          <p:cNvSpPr>
            <a:spLocks noGrp="1"/>
          </p:cNvSpPr>
          <p:nvPr>
            <p:ph type="body" sz="quarter" idx="20" hasCustomPrompt="1"/>
          </p:nvPr>
        </p:nvSpPr>
        <p:spPr>
          <a:xfrm>
            <a:off x="311150" y="1491373"/>
            <a:ext cx="1156969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66C4AA1F-8B09-5544-9C70-388A6E2940C9}"/>
              </a:ext>
            </a:extLst>
          </p:cNvPr>
          <p:cNvSpPr>
            <a:spLocks noGrp="1"/>
          </p:cNvSpPr>
          <p:nvPr>
            <p:ph type="body" sz="quarter" idx="24"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02311799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CFE7C62-0B99-6ECF-2839-32063BAB7F2F}"/>
              </a:ext>
            </a:extLst>
          </p:cNvPr>
          <p:cNvGraphicFramePr>
            <a:graphicFrameLocks noChangeAspect="1"/>
          </p:cNvGraphicFramePr>
          <p:nvPr userDrawn="1">
            <p:custDataLst>
              <p:tags r:id="rId1"/>
            </p:custDataLst>
            <p:extLst>
              <p:ext uri="{D42A27DB-BD31-4B8C-83A1-F6EECF244321}">
                <p14:modId xmlns:p14="http://schemas.microsoft.com/office/powerpoint/2010/main" val="172192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think-cell data - do not delete" hidden="1">
                        <a:extLst>
                          <a:ext uri="{FF2B5EF4-FFF2-40B4-BE49-F238E27FC236}">
                            <a16:creationId xmlns:a16="http://schemas.microsoft.com/office/drawing/2014/main" id="{BCFE7C62-0B99-6ECF-2839-32063BAB7F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Takeda">
            <a:extLst>
              <a:ext uri="{FF2B5EF4-FFF2-40B4-BE49-F238E27FC236}">
                <a16:creationId xmlns:a16="http://schemas.microsoft.com/office/drawing/2014/main" id="{A75F5BF7-D49E-8A49-AE81-CB31E57D5A7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lvl1pPr>
              <a:defRPr sz="2200"/>
            </a:lvl1pPr>
          </a:lstStyle>
          <a:p>
            <a:r>
              <a:rPr kumimoji="1" lang="en-US" altLang="ja-JP"/>
              <a:t>Click to add title</a:t>
            </a:r>
            <a:endParaRPr kumimoji="1" lang="ja-JP" altLang="en-US"/>
          </a:p>
        </p:txBody>
      </p:sp>
      <p:sp>
        <p:nvSpPr>
          <p:cNvPr id="21" name="Rectangle 20">
            <a:extLst>
              <a:ext uri="{FF2B5EF4-FFF2-40B4-BE49-F238E27FC236}">
                <a16:creationId xmlns:a16="http://schemas.microsoft.com/office/drawing/2014/main" id="{FCF9CDB0-5730-E246-B31F-F5963CF8EFDC}"/>
              </a:ext>
            </a:extLst>
          </p:cNvPr>
          <p:cNvSpPr/>
          <p:nvPr/>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Content Placeholder 26">
            <a:extLst>
              <a:ext uri="{FF2B5EF4-FFF2-40B4-BE49-F238E27FC236}">
                <a16:creationId xmlns:a16="http://schemas.microsoft.com/office/drawing/2014/main" id="{BDCF20AC-A921-50A8-167F-157AF93CCB96}"/>
              </a:ext>
            </a:extLst>
          </p:cNvPr>
          <p:cNvSpPr>
            <a:spLocks noGrp="1"/>
          </p:cNvSpPr>
          <p:nvPr>
            <p:ph sz="quarter" idx="10" hasCustomPrompt="1"/>
          </p:nvPr>
        </p:nvSpPr>
        <p:spPr>
          <a:xfrm>
            <a:off x="669925" y="6489701"/>
            <a:ext cx="10348595" cy="230187"/>
          </a:xfrm>
        </p:spPr>
        <p:txBody>
          <a:bodyPr anchor="ctr">
            <a:noAutofit/>
          </a:bodyPr>
          <a:lstStyle>
            <a:lvl1pPr marL="0" indent="0">
              <a:buNone/>
              <a:defRPr sz="800" b="1"/>
            </a:lvl1pPr>
          </a:lstStyle>
          <a:p>
            <a:pPr lvl="0"/>
            <a:r>
              <a:rPr lang="en-US" b="1"/>
              <a:t>Footer</a:t>
            </a:r>
            <a:endParaRPr lang="en-US"/>
          </a:p>
        </p:txBody>
      </p:sp>
      <p:sp>
        <p:nvSpPr>
          <p:cNvPr id="30" name="スライド番号プレースホルダ 5">
            <a:extLst>
              <a:ext uri="{FF2B5EF4-FFF2-40B4-BE49-F238E27FC236}">
                <a16:creationId xmlns:a16="http://schemas.microsoft.com/office/drawing/2014/main" id="{D5046471-3133-44C5-48F9-7EDCAF3A5876}"/>
              </a:ext>
            </a:extLst>
          </p:cNvPr>
          <p:cNvSpPr>
            <a:spLocks noGrp="1"/>
          </p:cNvSpPr>
          <p:nvPr>
            <p:ph type="sldNum" sz="quarter" idx="4"/>
          </p:nvPr>
        </p:nvSpPr>
        <p:spPr>
          <a:xfrm>
            <a:off x="311150" y="6490456"/>
            <a:ext cx="294928"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fld id="{4B88BF55-9D8F-47B8-9CAA-91D4F95E55A3}" type="slidenum">
              <a:rPr lang="en-US" smtClean="0"/>
              <a:t>‹#›</a:t>
            </a:fld>
            <a:endParaRPr lang="en-US"/>
          </a:p>
        </p:txBody>
      </p:sp>
    </p:spTree>
    <p:extLst>
      <p:ext uri="{BB962C8B-B14F-4D97-AF65-F5344CB8AC3E}">
        <p14:creationId xmlns:p14="http://schemas.microsoft.com/office/powerpoint/2010/main" val="3823999345"/>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130.xml"/><Relationship Id="rId18" Type="http://schemas.openxmlformats.org/officeDocument/2006/relationships/slideLayout" Target="../slideLayouts/slideLayout180.xml"/><Relationship Id="rId3" Type="http://schemas.openxmlformats.org/officeDocument/2006/relationships/slideLayout" Target="../slideLayouts/slideLayout30.xml"/><Relationship Id="rId21" Type="http://schemas.openxmlformats.org/officeDocument/2006/relationships/tags" Target="../tags/tag20.xml"/><Relationship Id="rId7" Type="http://schemas.openxmlformats.org/officeDocument/2006/relationships/slideLayout" Target="../slideLayouts/slideLayout70.xml"/><Relationship Id="rId12" Type="http://schemas.openxmlformats.org/officeDocument/2006/relationships/slideLayout" Target="../slideLayouts/slideLayout120.xml"/><Relationship Id="rId17" Type="http://schemas.openxmlformats.org/officeDocument/2006/relationships/slideLayout" Target="../slideLayouts/slideLayout170.xml"/><Relationship Id="rId2" Type="http://schemas.openxmlformats.org/officeDocument/2006/relationships/slideLayout" Target="../slideLayouts/slideLayout20.xml"/><Relationship Id="rId16" Type="http://schemas.openxmlformats.org/officeDocument/2006/relationships/slideLayout" Target="../slideLayouts/slideLayout160.xml"/><Relationship Id="rId20" Type="http://schemas.openxmlformats.org/officeDocument/2006/relationships/tags" Target="../tags/tag10.xml"/><Relationship Id="rId1" Type="http://schemas.openxmlformats.org/officeDocument/2006/relationships/slideLayout" Target="../slideLayouts/slideLayout19.xml"/><Relationship Id="rId6" Type="http://schemas.openxmlformats.org/officeDocument/2006/relationships/slideLayout" Target="../slideLayouts/slideLayout60.xml"/><Relationship Id="rId11" Type="http://schemas.openxmlformats.org/officeDocument/2006/relationships/slideLayout" Target="../slideLayouts/slideLayout110.xml"/><Relationship Id="rId5" Type="http://schemas.openxmlformats.org/officeDocument/2006/relationships/slideLayout" Target="../slideLayouts/slideLayout50.xml"/><Relationship Id="rId15" Type="http://schemas.openxmlformats.org/officeDocument/2006/relationships/slideLayout" Target="../slideLayouts/slideLayout150.xml"/><Relationship Id="rId23" Type="http://schemas.openxmlformats.org/officeDocument/2006/relationships/image" Target="../media/image1.emf"/><Relationship Id="rId10" Type="http://schemas.openxmlformats.org/officeDocument/2006/relationships/slideLayout" Target="../slideLayouts/slideLayout100.xml"/><Relationship Id="rId19" Type="http://schemas.openxmlformats.org/officeDocument/2006/relationships/theme" Target="../theme/theme10.xml"/><Relationship Id="rId4" Type="http://schemas.openxmlformats.org/officeDocument/2006/relationships/slideLayout" Target="../slideLayouts/slideLayout40.xml"/><Relationship Id="rId9" Type="http://schemas.openxmlformats.org/officeDocument/2006/relationships/slideLayout" Target="../slideLayouts/slideLayout90.xml"/><Relationship Id="rId14" Type="http://schemas.openxmlformats.org/officeDocument/2006/relationships/slideLayout" Target="../slideLayouts/slideLayout140.xml"/><Relationship Id="rId22" Type="http://schemas.openxmlformats.org/officeDocument/2006/relationships/oleObject" Target="../embeddings/oleObject10.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83D300-2124-42DF-B73B-3D3D4C546EC6}"/>
              </a:ext>
            </a:extLst>
          </p:cNvPr>
          <p:cNvGraphicFramePr>
            <a:graphicFrameLocks noChangeAspect="1"/>
          </p:cNvGraphicFramePr>
          <p:nvPr userDrawn="1">
            <p:custDataLst>
              <p:tags r:id="rId20"/>
            </p:custDataLst>
            <p:extLst>
              <p:ext uri="{D42A27DB-BD31-4B8C-83A1-F6EECF244321}">
                <p14:modId xmlns:p14="http://schemas.microsoft.com/office/powerpoint/2010/main" val="358526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95" imgH="394" progId="TCLayout.ActiveDocument.1">
                  <p:embed/>
                </p:oleObj>
              </mc:Choice>
              <mc:Fallback>
                <p:oleObj name="think-cell Slide" r:id="rId22" imgW="395" imgH="394" progId="TCLayout.ActiveDocument.1">
                  <p:embed/>
                  <p:pic>
                    <p:nvPicPr>
                      <p:cNvPr id="4" name="Object 3" hidden="1">
                        <a:extLst>
                          <a:ext uri="{FF2B5EF4-FFF2-40B4-BE49-F238E27FC236}">
                            <a16:creationId xmlns:a16="http://schemas.microsoft.com/office/drawing/2014/main" id="{D283D300-2124-42DF-B73B-3D3D4C546EC6}"/>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B895B28-7064-4AD0-A15D-88F99BCA9BAD}"/>
              </a:ext>
            </a:extLst>
          </p:cNvPr>
          <p:cNvSpPr/>
          <p:nvPr userDrawn="1">
            <p:custDataLst>
              <p:tags r:id="rId2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2800" b="0" i="0" baseline="0">
              <a:latin typeface="Calibri" panose="020F0502020204030204" pitchFamily="34" charset="0"/>
              <a:ea typeface="メイリオ" panose="020B0604030504040204" pitchFamily="50" charset="-128"/>
              <a:cs typeface="Calibri" panose="020F0502020204030204" pitchFamily="34" charset="0"/>
              <a:sym typeface="Calibri" panose="020F0502020204030204" pitchFamily="34" charset="0"/>
            </a:endParaRPr>
          </a:p>
        </p:txBody>
      </p:sp>
      <p:sp>
        <p:nvSpPr>
          <p:cNvPr id="3" name="テキスト プレースホルダ 2"/>
          <p:cNvSpPr>
            <a:spLocks noGrp="1"/>
          </p:cNvSpPr>
          <p:nvPr>
            <p:ph type="body" idx="1"/>
          </p:nvPr>
        </p:nvSpPr>
        <p:spPr>
          <a:xfrm>
            <a:off x="311150" y="1233487"/>
            <a:ext cx="11569700" cy="5183187"/>
          </a:xfrm>
          <a:prstGeom prst="rect">
            <a:avLst/>
          </a:prstGeom>
        </p:spPr>
        <p:txBody>
          <a:bodyPr vert="horz" lIns="0" tIns="45710" rIns="91420" bIns="45710" rtlCol="0">
            <a:normAutofit/>
          </a:bodyPr>
          <a:lstStyle/>
          <a:p>
            <a:pPr lvl="0"/>
            <a:r>
              <a:rPr kumimoji="1" lang="en-US" altLang="ja-JP"/>
              <a:t>Master text</a:t>
            </a:r>
            <a:endParaRPr kumimoji="1" lang="ja-JP" altLang="en-US"/>
          </a:p>
        </p:txBody>
      </p:sp>
      <p:sp>
        <p:nvSpPr>
          <p:cNvPr id="11" name="Footer Placeholder 8">
            <a:extLst>
              <a:ext uri="{FF2B5EF4-FFF2-40B4-BE49-F238E27FC236}">
                <a16:creationId xmlns:a16="http://schemas.microsoft.com/office/drawing/2014/main" id="{44E43001-C216-284A-9EBD-E54B5DD295CE}"/>
              </a:ext>
            </a:extLst>
          </p:cNvPr>
          <p:cNvSpPr>
            <a:spLocks noGrp="1"/>
          </p:cNvSpPr>
          <p:nvPr>
            <p:ph type="ftr" sz="quarter" idx="3"/>
          </p:nvPr>
        </p:nvSpPr>
        <p:spPr>
          <a:xfrm>
            <a:off x="7766050" y="6489701"/>
            <a:ext cx="4114800" cy="229432"/>
          </a:xfrm>
          <a:prstGeom prst="rect">
            <a:avLst/>
          </a:prstGeom>
        </p:spPr>
        <p:txBody>
          <a:bodyPr vert="horz" lIns="91440" tIns="45720" rIns="91440" bIns="45720" rtlCol="0" anchor="ctr"/>
          <a:lstStyle>
            <a:lvl1pPr algn="r">
              <a:defRPr sz="800" b="1" spc="100" baseline="0">
                <a:solidFill>
                  <a:schemeClr val="tx1"/>
                </a:solidFill>
              </a:defRPr>
            </a:lvl1pPr>
          </a:lstStyle>
          <a:p>
            <a:r>
              <a:rPr lang="en-JP"/>
              <a:t> </a:t>
            </a:r>
          </a:p>
        </p:txBody>
      </p:sp>
      <p:sp>
        <p:nvSpPr>
          <p:cNvPr id="9" name="タイトル プレースホルダ 1">
            <a:extLst>
              <a:ext uri="{FF2B5EF4-FFF2-40B4-BE49-F238E27FC236}">
                <a16:creationId xmlns:a16="http://schemas.microsoft.com/office/drawing/2014/main" id="{D7981A12-E00B-604C-B863-7CBF31AA6408}"/>
              </a:ext>
            </a:extLst>
          </p:cNvPr>
          <p:cNvSpPr>
            <a:spLocks noGrp="1"/>
          </p:cNvSpPr>
          <p:nvPr>
            <p:ph type="title"/>
          </p:nvPr>
        </p:nvSpPr>
        <p:spPr>
          <a:xfrm>
            <a:off x="606078" y="161605"/>
            <a:ext cx="9895084" cy="685801"/>
          </a:xfrm>
          <a:prstGeom prst="rect">
            <a:avLst/>
          </a:prstGeom>
        </p:spPr>
        <p:txBody>
          <a:bodyPr vert="horz" lIns="0" tIns="0" rIns="0" bIns="0" rtlCol="0" anchor="ctr">
            <a:normAutofit/>
          </a:bodyPr>
          <a:lstStyle/>
          <a:p>
            <a:r>
              <a:rPr kumimoji="1" lang="en-US" altLang="ja-JP"/>
              <a:t>Master title</a:t>
            </a:r>
            <a:endParaRPr kumimoji="1" lang="ja-JP" altLang="en-US"/>
          </a:p>
        </p:txBody>
      </p:sp>
      <p:sp>
        <p:nvSpPr>
          <p:cNvPr id="13" name="スライド番号プレースホルダ 5">
            <a:extLst>
              <a:ext uri="{FF2B5EF4-FFF2-40B4-BE49-F238E27FC236}">
                <a16:creationId xmlns:a16="http://schemas.microsoft.com/office/drawing/2014/main" id="{C7AA5A17-3F2F-B94B-9342-A137057B898D}"/>
              </a:ext>
            </a:extLst>
          </p:cNvPr>
          <p:cNvSpPr>
            <a:spLocks noGrp="1"/>
          </p:cNvSpPr>
          <p:nvPr>
            <p:ph type="sldNum" sz="quarter" idx="4"/>
          </p:nvPr>
        </p:nvSpPr>
        <p:spPr>
          <a:xfrm>
            <a:off x="311150" y="6489701"/>
            <a:ext cx="589856"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Tree>
    <p:extLst>
      <p:ext uri="{BB962C8B-B14F-4D97-AF65-F5344CB8AC3E}">
        <p14:creationId xmlns:p14="http://schemas.microsoft.com/office/powerpoint/2010/main" val="3763338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dt="0"/>
  <p:txStyles>
    <p:titleStyle>
      <a:lvl1pPr algn="l" defTabSz="914150" rtl="0" eaLnBrk="1" latinLnBrk="0" hangingPunct="1">
        <a:lnSpc>
          <a:spcPts val="2800"/>
        </a:lnSpc>
        <a:spcBef>
          <a:spcPct val="0"/>
        </a:spcBef>
        <a:buNone/>
        <a:defRPr kumimoji="1" sz="2800" b="1" i="0" kern="1200" baseline="0">
          <a:solidFill>
            <a:schemeClr val="tx1"/>
          </a:solidFill>
          <a:latin typeface="Calibri" panose="020F0502020204030204" pitchFamily="34" charset="0"/>
          <a:ea typeface="メイリオ" pitchFamily="50" charset="-128"/>
          <a:cs typeface="Calibri" pitchFamily="34" charset="0"/>
        </a:defRPr>
      </a:lvl1pPr>
    </p:titleStyle>
    <p:bodyStyle>
      <a:lvl1pPr marL="457071" indent="-457071" algn="l" defTabSz="914150" rtl="0" eaLnBrk="1" latinLnBrk="0" hangingPunct="1">
        <a:spcBef>
          <a:spcPct val="20000"/>
        </a:spcBef>
        <a:buClr>
          <a:srgbClr val="4C4948"/>
        </a:buClr>
        <a:buFont typeface="Arial" panose="020B0604020202020204"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1pPr>
      <a:lvl2pPr marL="742745" indent="-285677" algn="l" defTabSz="914150" rtl="0" eaLnBrk="1" latinLnBrk="0" hangingPunct="1">
        <a:spcBef>
          <a:spcPct val="20000"/>
        </a:spcBef>
        <a:buClr>
          <a:srgbClr val="4C4948"/>
        </a:buClr>
        <a:buFont typeface="Arial" pitchFamily="34" charset="0"/>
        <a:buChar char="–"/>
        <a:defRPr kumimoji="1" sz="2000" b="0" i="0" kern="1200">
          <a:solidFill>
            <a:schemeClr val="tx1"/>
          </a:solidFill>
          <a:latin typeface="Calibri" panose="020F0502020204030204" pitchFamily="34" charset="0"/>
          <a:ea typeface="メイリオ" pitchFamily="50" charset="-128"/>
          <a:cs typeface="Calibri" pitchFamily="34" charset="0"/>
        </a:defRPr>
      </a:lvl2pPr>
      <a:lvl3pPr marL="114269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3pPr>
      <a:lvl4pPr marL="159976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4pPr>
      <a:lvl5pPr marL="2056831"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150" rtl="0" eaLnBrk="1" latinLnBrk="0" hangingPunct="1">
        <a:defRPr kumimoji="1" sz="1867" kern="1200">
          <a:solidFill>
            <a:schemeClr val="tx1"/>
          </a:solidFill>
          <a:latin typeface="+mn-lt"/>
          <a:ea typeface="+mn-ea"/>
          <a:cs typeface="+mn-cs"/>
        </a:defRPr>
      </a:lvl1pPr>
      <a:lvl2pPr marL="457071" algn="l" defTabSz="914150" rtl="0" eaLnBrk="1" latinLnBrk="0" hangingPunct="1">
        <a:defRPr kumimoji="1" sz="1867" kern="1200">
          <a:solidFill>
            <a:schemeClr val="tx1"/>
          </a:solidFill>
          <a:latin typeface="+mn-lt"/>
          <a:ea typeface="+mn-ea"/>
          <a:cs typeface="+mn-cs"/>
        </a:defRPr>
      </a:lvl2pPr>
      <a:lvl3pPr marL="914150" algn="l" defTabSz="914150" rtl="0" eaLnBrk="1" latinLnBrk="0" hangingPunct="1">
        <a:defRPr kumimoji="1" sz="1867" kern="1200">
          <a:solidFill>
            <a:schemeClr val="tx1"/>
          </a:solidFill>
          <a:latin typeface="+mn-lt"/>
          <a:ea typeface="+mn-ea"/>
          <a:cs typeface="+mn-cs"/>
        </a:defRPr>
      </a:lvl3pPr>
      <a:lvl4pPr marL="1371226" algn="l" defTabSz="914150" rtl="0" eaLnBrk="1" latinLnBrk="0" hangingPunct="1">
        <a:defRPr kumimoji="1" sz="1867" kern="1200">
          <a:solidFill>
            <a:schemeClr val="tx1"/>
          </a:solidFill>
          <a:latin typeface="+mn-lt"/>
          <a:ea typeface="+mn-ea"/>
          <a:cs typeface="+mn-cs"/>
        </a:defRPr>
      </a:lvl4pPr>
      <a:lvl5pPr marL="1828301" algn="l" defTabSz="914150" rtl="0" eaLnBrk="1" latinLnBrk="0" hangingPunct="1">
        <a:defRPr kumimoji="1" sz="1867" kern="1200">
          <a:solidFill>
            <a:schemeClr val="tx1"/>
          </a:solidFill>
          <a:latin typeface="+mn-lt"/>
          <a:ea typeface="+mn-ea"/>
          <a:cs typeface="+mn-cs"/>
        </a:defRPr>
      </a:lvl5pPr>
      <a:lvl6pPr marL="2285382" algn="l" defTabSz="914150" rtl="0" eaLnBrk="1" latinLnBrk="0" hangingPunct="1">
        <a:defRPr kumimoji="1" sz="1867" kern="1200">
          <a:solidFill>
            <a:schemeClr val="tx1"/>
          </a:solidFill>
          <a:latin typeface="+mn-lt"/>
          <a:ea typeface="+mn-ea"/>
          <a:cs typeface="+mn-cs"/>
        </a:defRPr>
      </a:lvl6pPr>
      <a:lvl7pPr marL="2742450" algn="l" defTabSz="914150" rtl="0" eaLnBrk="1" latinLnBrk="0" hangingPunct="1">
        <a:defRPr kumimoji="1" sz="1867" kern="1200">
          <a:solidFill>
            <a:schemeClr val="tx1"/>
          </a:solidFill>
          <a:latin typeface="+mn-lt"/>
          <a:ea typeface="+mn-ea"/>
          <a:cs typeface="+mn-cs"/>
        </a:defRPr>
      </a:lvl7pPr>
      <a:lvl8pPr marL="3199520" algn="l" defTabSz="914150" rtl="0" eaLnBrk="1" latinLnBrk="0" hangingPunct="1">
        <a:defRPr kumimoji="1" sz="1867" kern="1200">
          <a:solidFill>
            <a:schemeClr val="tx1"/>
          </a:solidFill>
          <a:latin typeface="+mn-lt"/>
          <a:ea typeface="+mn-ea"/>
          <a:cs typeface="+mn-cs"/>
        </a:defRPr>
      </a:lvl8pPr>
      <a:lvl9pPr marL="3656591" algn="l" defTabSz="914150" rtl="0" eaLnBrk="1" latinLnBrk="0" hangingPunct="1">
        <a:defRPr kumimoji="1"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77">
          <p15:clr>
            <a:srgbClr val="F26B43"/>
          </p15:clr>
        </p15:guide>
        <p15:guide id="2" pos="189">
          <p15:clr>
            <a:srgbClr val="F26B43"/>
          </p15:clr>
        </p15:guide>
        <p15:guide id="3" pos="7491">
          <p15:clr>
            <a:srgbClr val="F26B43"/>
          </p15:clr>
        </p15:guide>
        <p15:guide id="4" orient="horz" pos="4042">
          <p15:clr>
            <a:srgbClr val="F26B43"/>
          </p15:clr>
        </p15:guide>
        <p15:guide id="5" pos="370">
          <p15:clr>
            <a:srgbClr val="F26B43"/>
          </p15:clr>
        </p15:guide>
        <p15:guide id="6" orient="horz" pos="4088">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83D300-2124-42DF-B73B-3D3D4C546EC6}"/>
              </a:ext>
            </a:extLst>
          </p:cNvPr>
          <p:cNvGraphicFramePr>
            <a:graphicFrameLocks noChangeAspect="1"/>
          </p:cNvGraphicFramePr>
          <p:nvPr userDrawn="1">
            <p:custDataLst>
              <p:tags r:id="rId20"/>
            </p:custDataLst>
            <p:extLst>
              <p:ext uri="{D42A27DB-BD31-4B8C-83A1-F6EECF244321}">
                <p14:modId xmlns:p14="http://schemas.microsoft.com/office/powerpoint/2010/main" val="358526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95" imgH="394" progId="TCLayout.ActiveDocument.1">
                  <p:embed/>
                </p:oleObj>
              </mc:Choice>
              <mc:Fallback>
                <p:oleObj name="think-cell Slide" r:id="rId22" imgW="395" imgH="394" progId="TCLayout.ActiveDocument.1">
                  <p:embed/>
                  <p:pic>
                    <p:nvPicPr>
                      <p:cNvPr id="4" name="Object 3" hidden="1">
                        <a:extLst>
                          <a:ext uri="{FF2B5EF4-FFF2-40B4-BE49-F238E27FC236}">
                            <a16:creationId xmlns:a16="http://schemas.microsoft.com/office/drawing/2014/main" id="{D283D300-2124-42DF-B73B-3D3D4C546EC6}"/>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B895B28-7064-4AD0-A15D-88F99BCA9BAD}"/>
              </a:ext>
            </a:extLst>
          </p:cNvPr>
          <p:cNvSpPr/>
          <p:nvPr userDrawn="1">
            <p:custDataLst>
              <p:tags r:id="rId2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2800" b="0" i="0" baseline="0">
              <a:latin typeface="Calibri" panose="020F0502020204030204" pitchFamily="34" charset="0"/>
              <a:ea typeface="メイリオ" panose="020B0604030504040204" pitchFamily="50" charset="-128"/>
              <a:cs typeface="Calibri" panose="020F0502020204030204" pitchFamily="34" charset="0"/>
              <a:sym typeface="Calibri" panose="020F0502020204030204" pitchFamily="34" charset="0"/>
            </a:endParaRPr>
          </a:p>
        </p:txBody>
      </p:sp>
      <p:sp>
        <p:nvSpPr>
          <p:cNvPr id="3" name="テキスト プレースホルダ 2"/>
          <p:cNvSpPr>
            <a:spLocks noGrp="1"/>
          </p:cNvSpPr>
          <p:nvPr>
            <p:ph type="body" idx="1"/>
          </p:nvPr>
        </p:nvSpPr>
        <p:spPr>
          <a:xfrm>
            <a:off x="311150" y="1233487"/>
            <a:ext cx="11569700" cy="5183187"/>
          </a:xfrm>
          <a:prstGeom prst="rect">
            <a:avLst/>
          </a:prstGeom>
        </p:spPr>
        <p:txBody>
          <a:bodyPr vert="horz" lIns="0" tIns="45710" rIns="91420" bIns="45710" rtlCol="0">
            <a:normAutofit/>
          </a:bodyPr>
          <a:lstStyle/>
          <a:p>
            <a:pPr lvl="0"/>
            <a:r>
              <a:rPr kumimoji="1" lang="en-US" altLang="ja-JP"/>
              <a:t>Master text</a:t>
            </a:r>
            <a:endParaRPr kumimoji="1" lang="ja-JP" altLang="en-US"/>
          </a:p>
        </p:txBody>
      </p:sp>
      <p:sp>
        <p:nvSpPr>
          <p:cNvPr id="11" name="Footer Placeholder 8">
            <a:extLst>
              <a:ext uri="{FF2B5EF4-FFF2-40B4-BE49-F238E27FC236}">
                <a16:creationId xmlns:a16="http://schemas.microsoft.com/office/drawing/2014/main" id="{44E43001-C216-284A-9EBD-E54B5DD295CE}"/>
              </a:ext>
            </a:extLst>
          </p:cNvPr>
          <p:cNvSpPr>
            <a:spLocks noGrp="1"/>
          </p:cNvSpPr>
          <p:nvPr>
            <p:ph type="ftr" sz="quarter" idx="3"/>
          </p:nvPr>
        </p:nvSpPr>
        <p:spPr>
          <a:xfrm>
            <a:off x="7766050" y="6489701"/>
            <a:ext cx="4114800" cy="229432"/>
          </a:xfrm>
          <a:prstGeom prst="rect">
            <a:avLst/>
          </a:prstGeom>
        </p:spPr>
        <p:txBody>
          <a:bodyPr vert="horz" lIns="91440" tIns="45720" rIns="91440" bIns="45720" rtlCol="0" anchor="ctr"/>
          <a:lstStyle>
            <a:lvl1pPr algn="r">
              <a:defRPr sz="800" b="1" spc="100" baseline="0">
                <a:solidFill>
                  <a:schemeClr val="tx1"/>
                </a:solidFill>
              </a:defRPr>
            </a:lvl1pPr>
          </a:lstStyle>
          <a:p>
            <a:r>
              <a:rPr lang="en-JP"/>
              <a:t> </a:t>
            </a:r>
          </a:p>
        </p:txBody>
      </p:sp>
      <p:sp>
        <p:nvSpPr>
          <p:cNvPr id="9" name="タイトル プレースホルダ 1">
            <a:extLst>
              <a:ext uri="{FF2B5EF4-FFF2-40B4-BE49-F238E27FC236}">
                <a16:creationId xmlns:a16="http://schemas.microsoft.com/office/drawing/2014/main" id="{D7981A12-E00B-604C-B863-7CBF31AA6408}"/>
              </a:ext>
            </a:extLst>
          </p:cNvPr>
          <p:cNvSpPr>
            <a:spLocks noGrp="1"/>
          </p:cNvSpPr>
          <p:nvPr>
            <p:ph type="title"/>
          </p:nvPr>
        </p:nvSpPr>
        <p:spPr>
          <a:xfrm>
            <a:off x="606078" y="161605"/>
            <a:ext cx="9895084" cy="685801"/>
          </a:xfrm>
          <a:prstGeom prst="rect">
            <a:avLst/>
          </a:prstGeom>
        </p:spPr>
        <p:txBody>
          <a:bodyPr vert="horz" lIns="0" tIns="0" rIns="0" bIns="0" rtlCol="0" anchor="ctr">
            <a:normAutofit/>
          </a:bodyPr>
          <a:lstStyle/>
          <a:p>
            <a:r>
              <a:rPr kumimoji="1" lang="en-US" altLang="ja-JP"/>
              <a:t>Master title</a:t>
            </a:r>
            <a:endParaRPr kumimoji="1" lang="ja-JP" altLang="en-US"/>
          </a:p>
        </p:txBody>
      </p:sp>
      <p:sp>
        <p:nvSpPr>
          <p:cNvPr id="13" name="スライド番号プレースホルダ 5">
            <a:extLst>
              <a:ext uri="{FF2B5EF4-FFF2-40B4-BE49-F238E27FC236}">
                <a16:creationId xmlns:a16="http://schemas.microsoft.com/office/drawing/2014/main" id="{C7AA5A17-3F2F-B94B-9342-A137057B898D}"/>
              </a:ext>
            </a:extLst>
          </p:cNvPr>
          <p:cNvSpPr>
            <a:spLocks noGrp="1"/>
          </p:cNvSpPr>
          <p:nvPr>
            <p:ph type="sldNum" sz="quarter" idx="4"/>
          </p:nvPr>
        </p:nvSpPr>
        <p:spPr>
          <a:xfrm>
            <a:off x="311150" y="6489701"/>
            <a:ext cx="589856"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Tree>
    <p:extLst>
      <p:ext uri="{BB962C8B-B14F-4D97-AF65-F5344CB8AC3E}">
        <p14:creationId xmlns:p14="http://schemas.microsoft.com/office/powerpoint/2010/main" val="3763338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dt="0"/>
  <p:txStyles>
    <p:titleStyle>
      <a:lvl1pPr algn="l" defTabSz="914150" rtl="0" eaLnBrk="1" latinLnBrk="0" hangingPunct="1">
        <a:lnSpc>
          <a:spcPts val="2800"/>
        </a:lnSpc>
        <a:spcBef>
          <a:spcPct val="0"/>
        </a:spcBef>
        <a:buNone/>
        <a:defRPr kumimoji="1" sz="2800" b="1" i="0" kern="1200" baseline="0">
          <a:solidFill>
            <a:schemeClr val="tx1"/>
          </a:solidFill>
          <a:latin typeface="Calibri" panose="020F0502020204030204" pitchFamily="34" charset="0"/>
          <a:ea typeface="メイリオ" pitchFamily="50" charset="-128"/>
          <a:cs typeface="Calibri" pitchFamily="34" charset="0"/>
        </a:defRPr>
      </a:lvl1pPr>
    </p:titleStyle>
    <p:bodyStyle>
      <a:lvl1pPr marL="457071" indent="-457071" algn="l" defTabSz="914150" rtl="0" eaLnBrk="1" latinLnBrk="0" hangingPunct="1">
        <a:spcBef>
          <a:spcPct val="20000"/>
        </a:spcBef>
        <a:buClr>
          <a:srgbClr val="4C4948"/>
        </a:buClr>
        <a:buFont typeface="Arial" panose="020B0604020202020204"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1pPr>
      <a:lvl2pPr marL="742745" indent="-285677" algn="l" defTabSz="914150" rtl="0" eaLnBrk="1" latinLnBrk="0" hangingPunct="1">
        <a:spcBef>
          <a:spcPct val="20000"/>
        </a:spcBef>
        <a:buClr>
          <a:srgbClr val="4C4948"/>
        </a:buClr>
        <a:buFont typeface="Arial" pitchFamily="34" charset="0"/>
        <a:buChar char="–"/>
        <a:defRPr kumimoji="1" sz="2000" b="0" i="0" kern="1200">
          <a:solidFill>
            <a:schemeClr val="tx1"/>
          </a:solidFill>
          <a:latin typeface="Calibri" panose="020F0502020204030204" pitchFamily="34" charset="0"/>
          <a:ea typeface="メイリオ" pitchFamily="50" charset="-128"/>
          <a:cs typeface="Calibri" pitchFamily="34" charset="0"/>
        </a:defRPr>
      </a:lvl2pPr>
      <a:lvl3pPr marL="114269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3pPr>
      <a:lvl4pPr marL="159976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4pPr>
      <a:lvl5pPr marL="2056831"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150" rtl="0" eaLnBrk="1" latinLnBrk="0" hangingPunct="1">
        <a:defRPr kumimoji="1" sz="1867" kern="1200">
          <a:solidFill>
            <a:schemeClr val="tx1"/>
          </a:solidFill>
          <a:latin typeface="+mn-lt"/>
          <a:ea typeface="+mn-ea"/>
          <a:cs typeface="+mn-cs"/>
        </a:defRPr>
      </a:lvl1pPr>
      <a:lvl2pPr marL="457071" algn="l" defTabSz="914150" rtl="0" eaLnBrk="1" latinLnBrk="0" hangingPunct="1">
        <a:defRPr kumimoji="1" sz="1867" kern="1200">
          <a:solidFill>
            <a:schemeClr val="tx1"/>
          </a:solidFill>
          <a:latin typeface="+mn-lt"/>
          <a:ea typeface="+mn-ea"/>
          <a:cs typeface="+mn-cs"/>
        </a:defRPr>
      </a:lvl2pPr>
      <a:lvl3pPr marL="914150" algn="l" defTabSz="914150" rtl="0" eaLnBrk="1" latinLnBrk="0" hangingPunct="1">
        <a:defRPr kumimoji="1" sz="1867" kern="1200">
          <a:solidFill>
            <a:schemeClr val="tx1"/>
          </a:solidFill>
          <a:latin typeface="+mn-lt"/>
          <a:ea typeface="+mn-ea"/>
          <a:cs typeface="+mn-cs"/>
        </a:defRPr>
      </a:lvl3pPr>
      <a:lvl4pPr marL="1371226" algn="l" defTabSz="914150" rtl="0" eaLnBrk="1" latinLnBrk="0" hangingPunct="1">
        <a:defRPr kumimoji="1" sz="1867" kern="1200">
          <a:solidFill>
            <a:schemeClr val="tx1"/>
          </a:solidFill>
          <a:latin typeface="+mn-lt"/>
          <a:ea typeface="+mn-ea"/>
          <a:cs typeface="+mn-cs"/>
        </a:defRPr>
      </a:lvl4pPr>
      <a:lvl5pPr marL="1828301" algn="l" defTabSz="914150" rtl="0" eaLnBrk="1" latinLnBrk="0" hangingPunct="1">
        <a:defRPr kumimoji="1" sz="1867" kern="1200">
          <a:solidFill>
            <a:schemeClr val="tx1"/>
          </a:solidFill>
          <a:latin typeface="+mn-lt"/>
          <a:ea typeface="+mn-ea"/>
          <a:cs typeface="+mn-cs"/>
        </a:defRPr>
      </a:lvl5pPr>
      <a:lvl6pPr marL="2285382" algn="l" defTabSz="914150" rtl="0" eaLnBrk="1" latinLnBrk="0" hangingPunct="1">
        <a:defRPr kumimoji="1" sz="1867" kern="1200">
          <a:solidFill>
            <a:schemeClr val="tx1"/>
          </a:solidFill>
          <a:latin typeface="+mn-lt"/>
          <a:ea typeface="+mn-ea"/>
          <a:cs typeface="+mn-cs"/>
        </a:defRPr>
      </a:lvl6pPr>
      <a:lvl7pPr marL="2742450" algn="l" defTabSz="914150" rtl="0" eaLnBrk="1" latinLnBrk="0" hangingPunct="1">
        <a:defRPr kumimoji="1" sz="1867" kern="1200">
          <a:solidFill>
            <a:schemeClr val="tx1"/>
          </a:solidFill>
          <a:latin typeface="+mn-lt"/>
          <a:ea typeface="+mn-ea"/>
          <a:cs typeface="+mn-cs"/>
        </a:defRPr>
      </a:lvl7pPr>
      <a:lvl8pPr marL="3199520" algn="l" defTabSz="914150" rtl="0" eaLnBrk="1" latinLnBrk="0" hangingPunct="1">
        <a:defRPr kumimoji="1" sz="1867" kern="1200">
          <a:solidFill>
            <a:schemeClr val="tx1"/>
          </a:solidFill>
          <a:latin typeface="+mn-lt"/>
          <a:ea typeface="+mn-ea"/>
          <a:cs typeface="+mn-cs"/>
        </a:defRPr>
      </a:lvl8pPr>
      <a:lvl9pPr marL="3656591" algn="l" defTabSz="914150" rtl="0" eaLnBrk="1" latinLnBrk="0" hangingPunct="1">
        <a:defRPr kumimoji="1"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77">
          <p15:clr>
            <a:srgbClr val="F26B43"/>
          </p15:clr>
        </p15:guide>
        <p15:guide id="2" pos="189">
          <p15:clr>
            <a:srgbClr val="F26B43"/>
          </p15:clr>
        </p15:guide>
        <p15:guide id="3" pos="7491">
          <p15:clr>
            <a:srgbClr val="F26B43"/>
          </p15:clr>
        </p15:guide>
        <p15:guide id="4" orient="horz" pos="4042">
          <p15:clr>
            <a:srgbClr val="F26B43"/>
          </p15:clr>
        </p15:guide>
        <p15:guide id="5" pos="370">
          <p15:clr>
            <a:srgbClr val="F26B43"/>
          </p15:clr>
        </p15:guide>
        <p15:guide id="6" orient="horz" pos="40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hyperlink" Target="https://us-east-1.online.tableau.com/t/usbutakeda/views/NT1ReferralNetworkDashboard/HCPNetwork" TargetMode="Externa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hyperlink" Target="https://us-east-1.online.tableau.com/t/usbutakeda/views/NT1ReferralNetworkDashboard/HCPNetwork" TargetMode="Externa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png"/><Relationship Id="rId7" Type="http://schemas.openxmlformats.org/officeDocument/2006/relationships/slide" Target="slide330.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0.png"/><Relationship Id="rId4" Type="http://schemas.openxmlformats.org/officeDocument/2006/relationships/slide" Target="slide170.xml"/></Relationships>
</file>

<file path=ppt/slides/_rels/slide1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chart" Target="../charts/chart5.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70.png"/><Relationship Id="rId4" Type="http://schemas.openxmlformats.org/officeDocument/2006/relationships/slide" Target="slide3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5" Type="http://schemas.openxmlformats.org/officeDocument/2006/relationships/chart" Target="../charts/chart8.xml"/><Relationship Id="rId4" Type="http://schemas.openxmlformats.org/officeDocument/2006/relationships/chart" Target="../charts/char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40.xml"/></Relationships>
</file>

<file path=ppt/slides/_rels/slide3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35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picture containing spectacles&#10;&#10;Description automatically generated">
            <a:extLst>
              <a:ext uri="{FF2B5EF4-FFF2-40B4-BE49-F238E27FC236}">
                <a16:creationId xmlns:a16="http://schemas.microsoft.com/office/drawing/2014/main" id="{E23C27B3-162F-1A42-9548-CF89F7305356}"/>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303" r="303"/>
          <a:stretch/>
        </p:blipFill>
        <p:spPr/>
      </p:pic>
      <p:sp>
        <p:nvSpPr>
          <p:cNvPr id="4" name="Title 3">
            <a:extLst>
              <a:ext uri="{FF2B5EF4-FFF2-40B4-BE49-F238E27FC236}">
                <a16:creationId xmlns:a16="http://schemas.microsoft.com/office/drawing/2014/main" id="{55C2CD95-083B-1C42-8DFF-C7D865713F9F}"/>
              </a:ext>
            </a:extLst>
          </p:cNvPr>
          <p:cNvSpPr>
            <a:spLocks noGrp="1"/>
          </p:cNvSpPr>
          <p:nvPr>
            <p:ph type="ctrTitle"/>
          </p:nvPr>
        </p:nvSpPr>
        <p:spPr/>
        <p:txBody>
          <a:bodyPr/>
          <a:lstStyle/>
          <a:p>
            <a:r>
              <a:rPr lang="en-US" dirty="0"/>
              <a:t>TAK-861 HCP Referral Analysis</a:t>
            </a:r>
            <a:br>
              <a:rPr lang="en-US" b="0" i="1" dirty="0"/>
            </a:br>
            <a:r>
              <a:rPr lang="en-US" sz="1600" b="0" dirty="0"/>
              <a:t>Insight Summary</a:t>
            </a:r>
            <a:endParaRPr lang="en-JP" sz="1600" b="0" dirty="0"/>
          </a:p>
        </p:txBody>
      </p:sp>
      <p:sp>
        <p:nvSpPr>
          <p:cNvPr id="19" name="Text Placeholder 18">
            <a:extLst>
              <a:ext uri="{FF2B5EF4-FFF2-40B4-BE49-F238E27FC236}">
                <a16:creationId xmlns:a16="http://schemas.microsoft.com/office/drawing/2014/main" id="{24D3D46D-4931-874B-8D76-08BA17742DDD}"/>
              </a:ext>
            </a:extLst>
          </p:cNvPr>
          <p:cNvSpPr>
            <a:spLocks noGrp="1"/>
          </p:cNvSpPr>
          <p:nvPr>
            <p:ph type="body" sz="quarter" idx="25"/>
          </p:nvPr>
        </p:nvSpPr>
        <p:spPr>
          <a:xfrm>
            <a:off x="1194728" y="5097672"/>
            <a:ext cx="7699670" cy="234001"/>
          </a:xfrm>
        </p:spPr>
        <p:txBody>
          <a:bodyPr vert="horz" lIns="0" tIns="0" rIns="0" bIns="0" rtlCol="0" anchor="t">
            <a:noAutofit/>
          </a:bodyPr>
          <a:lstStyle/>
          <a:p>
            <a:r>
              <a:rPr lang="en-US" sz="1600" dirty="0">
                <a:latin typeface="Calibri"/>
                <a:ea typeface="メイリオ"/>
                <a:cs typeface="Calibri"/>
              </a:rPr>
              <a:t>June, 2026</a:t>
            </a:r>
            <a:endParaRPr lang="en-JP" sz="1600" dirty="0">
              <a:latin typeface="Calibri"/>
              <a:ea typeface="メイリオ"/>
              <a:cs typeface="Calibri"/>
            </a:endParaRPr>
          </a:p>
        </p:txBody>
      </p:sp>
      <p:pic>
        <p:nvPicPr>
          <p:cNvPr id="10" name="Picture 9">
            <a:extLst>
              <a:ext uri="{FF2B5EF4-FFF2-40B4-BE49-F238E27FC236}">
                <a16:creationId xmlns:a16="http://schemas.microsoft.com/office/drawing/2014/main" id="{8FCDFEE1-B310-00BD-1115-BAA81EF5AA6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94728" y="5814525"/>
            <a:ext cx="1048460" cy="601442"/>
          </a:xfrm>
          <a:prstGeom prst="rect">
            <a:avLst/>
          </a:prstGeom>
        </p:spPr>
      </p:pic>
    </p:spTree>
    <p:extLst>
      <p:ext uri="{BB962C8B-B14F-4D97-AF65-F5344CB8AC3E}">
        <p14:creationId xmlns:p14="http://schemas.microsoft.com/office/powerpoint/2010/main" val="247747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2B5E2-B7B8-340F-A438-0869A8F91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B301A-2278-69FA-D548-290AA8986452}"/>
              </a:ext>
            </a:extLst>
          </p:cNvPr>
          <p:cNvSpPr>
            <a:spLocks noGrp="1"/>
          </p:cNvSpPr>
          <p:nvPr>
            <p:ph type="ctrTitle"/>
          </p:nvPr>
        </p:nvSpPr>
        <p:spPr/>
        <p:txBody>
          <a:bodyPr/>
          <a:lstStyle/>
          <a:p>
            <a:r>
              <a:rPr lang="en-IN" dirty="0"/>
              <a:t>Content</a:t>
            </a:r>
          </a:p>
        </p:txBody>
      </p:sp>
      <p:graphicFrame>
        <p:nvGraphicFramePr>
          <p:cNvPr id="4" name="Table 3">
            <a:extLst>
              <a:ext uri="{FF2B5EF4-FFF2-40B4-BE49-F238E27FC236}">
                <a16:creationId xmlns:a16="http://schemas.microsoft.com/office/drawing/2014/main" id="{1C1DEFB2-2124-0E5B-1113-48470709C291}"/>
              </a:ext>
            </a:extLst>
          </p:cNvPr>
          <p:cNvGraphicFramePr>
            <a:graphicFrameLocks noGrp="1"/>
          </p:cNvGraphicFramePr>
          <p:nvPr>
            <p:extLst>
              <p:ext uri="{D42A27DB-BD31-4B8C-83A1-F6EECF244321}">
                <p14:modId xmlns:p14="http://schemas.microsoft.com/office/powerpoint/2010/main" val="387881826"/>
              </p:ext>
            </p:extLst>
          </p:nvPr>
        </p:nvGraphicFramePr>
        <p:xfrm>
          <a:off x="4740965" y="1901952"/>
          <a:ext cx="6454369" cy="3054096"/>
        </p:xfrm>
        <a:graphic>
          <a:graphicData uri="http://schemas.openxmlformats.org/drawingml/2006/table">
            <a:tbl>
              <a:tblPr>
                <a:tableStyleId>{5C22544A-7EE6-4342-B048-85BDC9FD1C3A}</a:tableStyleId>
              </a:tblPr>
              <a:tblGrid>
                <a:gridCol w="6454369">
                  <a:extLst>
                    <a:ext uri="{9D8B030D-6E8A-4147-A177-3AD203B41FA5}">
                      <a16:colId xmlns:a16="http://schemas.microsoft.com/office/drawing/2014/main" val="3582590987"/>
                    </a:ext>
                  </a:extLst>
                </a:gridCol>
              </a:tblGrid>
              <a:tr h="937717">
                <a:tc>
                  <a:txBody>
                    <a:bodyPr/>
                    <a:lstStyle/>
                    <a:p>
                      <a:pPr marL="342900" indent="-342900">
                        <a:lnSpc>
                          <a:spcPct val="200000"/>
                        </a:lnSpc>
                        <a:buClr>
                          <a:schemeClr val="accent1"/>
                        </a:buClr>
                        <a:buFont typeface="Wingdings" panose="05000000000000000000" pitchFamily="2" charset="2"/>
                        <a:buChar char="v"/>
                      </a:pPr>
                      <a:r>
                        <a:rPr lang="en-IN" sz="2000" b="1" dirty="0"/>
                        <a:t>Background &amp; Objective </a:t>
                      </a:r>
                    </a:p>
                    <a:p>
                      <a:pPr marL="342900" marR="0" lvl="0" indent="-342900" algn="l" defTabSz="914150" rtl="0" eaLnBrk="1" fontAlgn="auto" latinLnBrk="0" hangingPunct="1">
                        <a:lnSpc>
                          <a:spcPct val="200000"/>
                        </a:lnSpc>
                        <a:spcBef>
                          <a:spcPts val="0"/>
                        </a:spcBef>
                        <a:spcAft>
                          <a:spcPts val="0"/>
                        </a:spcAft>
                        <a:buClr>
                          <a:schemeClr val="accent1"/>
                        </a:buClr>
                        <a:buSzTx/>
                        <a:buFont typeface="Wingdings" panose="05000000000000000000" pitchFamily="2" charset="2"/>
                        <a:buChar char="v"/>
                        <a:tabLst/>
                        <a:defRPr/>
                      </a:pPr>
                      <a:r>
                        <a:rPr lang="en-IN" sz="2000" b="1" dirty="0"/>
                        <a:t>Analysis Foundation</a:t>
                      </a:r>
                    </a:p>
                    <a:p>
                      <a:pPr marL="342900" indent="-342900">
                        <a:lnSpc>
                          <a:spcPct val="200000"/>
                        </a:lnSpc>
                        <a:buClr>
                          <a:schemeClr val="accent1"/>
                        </a:buClr>
                        <a:buFont typeface="Wingdings" panose="05000000000000000000" pitchFamily="2" charset="2"/>
                        <a:buChar char="v"/>
                      </a:pPr>
                      <a:r>
                        <a:rPr lang="en-IN" sz="2000" b="1" dirty="0"/>
                        <a:t>Methodology</a:t>
                      </a:r>
                    </a:p>
                    <a:p>
                      <a:pPr marL="342900" indent="-342900">
                        <a:lnSpc>
                          <a:spcPct val="200000"/>
                        </a:lnSpc>
                        <a:buClr>
                          <a:schemeClr val="accent1"/>
                        </a:buClr>
                        <a:buFont typeface="Wingdings" panose="05000000000000000000" pitchFamily="2" charset="2"/>
                        <a:buChar char="v"/>
                      </a:pPr>
                      <a:r>
                        <a:rPr lang="en-IN" sz="2000" b="1" dirty="0"/>
                        <a:t>Executive Summary</a:t>
                      </a:r>
                    </a:p>
                    <a:p>
                      <a:pPr marL="342900" marR="0" lvl="0" indent="-342900" algn="l" defTabSz="914150" rtl="0" eaLnBrk="1" fontAlgn="auto" latinLnBrk="0" hangingPunct="1">
                        <a:lnSpc>
                          <a:spcPct val="200000"/>
                        </a:lnSpc>
                        <a:spcBef>
                          <a:spcPts val="0"/>
                        </a:spcBef>
                        <a:spcAft>
                          <a:spcPts val="0"/>
                        </a:spcAft>
                        <a:buClr>
                          <a:schemeClr val="accent1"/>
                        </a:buClr>
                        <a:buSzTx/>
                        <a:buFont typeface="Wingdings" panose="05000000000000000000" pitchFamily="2" charset="2"/>
                        <a:buChar char="v"/>
                        <a:tabLst/>
                        <a:defRPr/>
                      </a:pPr>
                      <a:r>
                        <a:rPr lang="en-IN" sz="2000" b="1" dirty="0"/>
                        <a:t>Insights Deep-dive</a:t>
                      </a:r>
                    </a:p>
                  </a:txBody>
                  <a:tcPr anchor="ctr">
                    <a:noFill/>
                  </a:tcPr>
                </a:tc>
                <a:extLst>
                  <a:ext uri="{0D108BD9-81ED-4DB2-BD59-A6C34878D82A}">
                    <a16:rowId xmlns:a16="http://schemas.microsoft.com/office/drawing/2014/main" val="1734955719"/>
                  </a:ext>
                </a:extLst>
              </a:tr>
            </a:tbl>
          </a:graphicData>
        </a:graphic>
      </p:graphicFrame>
    </p:spTree>
    <p:extLst>
      <p:ext uri="{BB962C8B-B14F-4D97-AF65-F5344CB8AC3E}">
        <p14:creationId xmlns:p14="http://schemas.microsoft.com/office/powerpoint/2010/main" val="314136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7E026-02C6-9D80-0696-EE79AD336F8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EE047C-7879-1ECA-17E1-09FCF3DA932F}"/>
              </a:ext>
            </a:extLst>
          </p:cNvPr>
          <p:cNvSpPr>
            <a:spLocks noGrp="1"/>
          </p:cNvSpPr>
          <p:nvPr>
            <p:ph type="sldNum" sz="quarter" idx="4"/>
          </p:nvPr>
        </p:nvSpPr>
        <p:spPr/>
        <p:txBody>
          <a:bodyPr/>
          <a:lstStyle/>
          <a:p>
            <a:fld id="{4B88BF55-9D8F-47B8-9CAA-91D4F95E55A3}" type="slidenum">
              <a:rPr lang="en-US" smtClean="0"/>
              <a:t>3</a:t>
            </a:fld>
            <a:endParaRPr lang="en-US"/>
          </a:p>
        </p:txBody>
      </p:sp>
      <p:sp>
        <p:nvSpPr>
          <p:cNvPr id="16" name="Rectangle 15">
            <a:extLst>
              <a:ext uri="{FF2B5EF4-FFF2-40B4-BE49-F238E27FC236}">
                <a16:creationId xmlns:a16="http://schemas.microsoft.com/office/drawing/2014/main" id="{3D9502B6-3357-AECE-CCD4-9461C52C0093}"/>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dirty="0"/>
              <a:t>Background &amp; Objective</a:t>
            </a:r>
            <a:endParaRPr kumimoji="1" lang="en-US" sz="2000" i="1" dirty="0"/>
          </a:p>
        </p:txBody>
      </p:sp>
      <p:sp>
        <p:nvSpPr>
          <p:cNvPr id="6" name="Freeform 949">
            <a:extLst>
              <a:ext uri="{FF2B5EF4-FFF2-40B4-BE49-F238E27FC236}">
                <a16:creationId xmlns:a16="http://schemas.microsoft.com/office/drawing/2014/main" id="{7B7DA553-EB4E-9817-268B-0D07C0C4ADA9}"/>
              </a:ext>
            </a:extLst>
          </p:cNvPr>
          <p:cNvSpPr>
            <a:spLocks noChangeAspect="1" noChangeArrowheads="1"/>
          </p:cNvSpPr>
          <p:nvPr/>
        </p:nvSpPr>
        <p:spPr bwMode="auto">
          <a:xfrm>
            <a:off x="511004" y="246723"/>
            <a:ext cx="487475" cy="497225"/>
          </a:xfrm>
          <a:custGeom>
            <a:avLst/>
            <a:gdLst>
              <a:gd name="T0" fmla="*/ 873075 w 291288"/>
              <a:gd name="T1" fmla="*/ 2795955 h 291739"/>
              <a:gd name="T2" fmla="*/ 825138 w 291288"/>
              <a:gd name="T3" fmla="*/ 3109255 h 291739"/>
              <a:gd name="T4" fmla="*/ 1567832 w 291288"/>
              <a:gd name="T5" fmla="*/ 3109255 h 291739"/>
              <a:gd name="T6" fmla="*/ 1567832 w 291288"/>
              <a:gd name="T7" fmla="*/ 2795955 h 291739"/>
              <a:gd name="T8" fmla="*/ 932966 w 291288"/>
              <a:gd name="T9" fmla="*/ 2427114 h 291739"/>
              <a:gd name="T10" fmla="*/ 889032 w 291288"/>
              <a:gd name="T11" fmla="*/ 2696803 h 291739"/>
              <a:gd name="T12" fmla="*/ 1615749 w 291288"/>
              <a:gd name="T13" fmla="*/ 2696803 h 291739"/>
              <a:gd name="T14" fmla="*/ 1663649 w 291288"/>
              <a:gd name="T15" fmla="*/ 2748367 h 291739"/>
              <a:gd name="T16" fmla="*/ 1663649 w 291288"/>
              <a:gd name="T17" fmla="*/ 3109255 h 291739"/>
              <a:gd name="T18" fmla="*/ 2973334 w 291288"/>
              <a:gd name="T19" fmla="*/ 3109255 h 291739"/>
              <a:gd name="T20" fmla="*/ 1603782 w 291288"/>
              <a:gd name="T21" fmla="*/ 2427114 h 291739"/>
              <a:gd name="T22" fmla="*/ 322044 w 291288"/>
              <a:gd name="T23" fmla="*/ 2427114 h 291739"/>
              <a:gd name="T24" fmla="*/ 114416 w 291288"/>
              <a:gd name="T25" fmla="*/ 3109255 h 291739"/>
              <a:gd name="T26" fmla="*/ 725308 w 291288"/>
              <a:gd name="T27" fmla="*/ 3109255 h 291739"/>
              <a:gd name="T28" fmla="*/ 837119 w 291288"/>
              <a:gd name="T29" fmla="*/ 2427114 h 291739"/>
              <a:gd name="T30" fmla="*/ 2861559 w 291288"/>
              <a:gd name="T31" fmla="*/ 2268491 h 291739"/>
              <a:gd name="T32" fmla="*/ 2178738 w 291288"/>
              <a:gd name="T33" fmla="*/ 2609551 h 291739"/>
              <a:gd name="T34" fmla="*/ 3101105 w 291288"/>
              <a:gd name="T35" fmla="*/ 3065636 h 291739"/>
              <a:gd name="T36" fmla="*/ 2090912 w 291288"/>
              <a:gd name="T37" fmla="*/ 1911559 h 291739"/>
              <a:gd name="T38" fmla="*/ 1695617 w 291288"/>
              <a:gd name="T39" fmla="*/ 2367632 h 291739"/>
              <a:gd name="T40" fmla="*/ 2070956 w 291288"/>
              <a:gd name="T41" fmla="*/ 2550070 h 291739"/>
              <a:gd name="T42" fmla="*/ 2833573 w 291288"/>
              <a:gd name="T43" fmla="*/ 2173303 h 291739"/>
              <a:gd name="T44" fmla="*/ 2753701 w 291288"/>
              <a:gd name="T45" fmla="*/ 1911559 h 291739"/>
              <a:gd name="T46" fmla="*/ 1020803 w 291288"/>
              <a:gd name="T47" fmla="*/ 1911559 h 291739"/>
              <a:gd name="T48" fmla="*/ 952932 w 291288"/>
              <a:gd name="T49" fmla="*/ 2331935 h 291739"/>
              <a:gd name="T50" fmla="*/ 1495937 w 291288"/>
              <a:gd name="T51" fmla="*/ 2331935 h 291739"/>
              <a:gd name="T52" fmla="*/ 1140594 w 291288"/>
              <a:gd name="T53" fmla="*/ 1911559 h 291739"/>
              <a:gd name="T54" fmla="*/ 477753 w 291288"/>
              <a:gd name="T55" fmla="*/ 1911559 h 291739"/>
              <a:gd name="T56" fmla="*/ 349984 w 291288"/>
              <a:gd name="T57" fmla="*/ 2331935 h 291739"/>
              <a:gd name="T58" fmla="*/ 853117 w 291288"/>
              <a:gd name="T59" fmla="*/ 2331935 h 291739"/>
              <a:gd name="T60" fmla="*/ 920988 w 291288"/>
              <a:gd name="T61" fmla="*/ 1911559 h 291739"/>
              <a:gd name="T62" fmla="*/ 1615749 w 291288"/>
              <a:gd name="T63" fmla="*/ 566600 h 291739"/>
              <a:gd name="T64" fmla="*/ 1277311 w 291288"/>
              <a:gd name="T65" fmla="*/ 907845 h 291739"/>
              <a:gd name="T66" fmla="*/ 1615749 w 291288"/>
              <a:gd name="T67" fmla="*/ 1245099 h 291739"/>
              <a:gd name="T68" fmla="*/ 1954201 w 291288"/>
              <a:gd name="T69" fmla="*/ 907845 h 291739"/>
              <a:gd name="T70" fmla="*/ 1615749 w 291288"/>
              <a:gd name="T71" fmla="*/ 566600 h 291739"/>
              <a:gd name="T72" fmla="*/ 1615749 w 291288"/>
              <a:gd name="T73" fmla="*/ 471356 h 291739"/>
              <a:gd name="T74" fmla="*/ 2053733 w 291288"/>
              <a:gd name="T75" fmla="*/ 907845 h 291739"/>
              <a:gd name="T76" fmla="*/ 1615749 w 291288"/>
              <a:gd name="T77" fmla="*/ 1340336 h 291739"/>
              <a:gd name="T78" fmla="*/ 1177757 w 291288"/>
              <a:gd name="T79" fmla="*/ 907845 h 291739"/>
              <a:gd name="T80" fmla="*/ 1615749 w 291288"/>
              <a:gd name="T81" fmla="*/ 471356 h 291739"/>
              <a:gd name="T82" fmla="*/ 1615749 w 291288"/>
              <a:gd name="T83" fmla="*/ 95201 h 291739"/>
              <a:gd name="T84" fmla="*/ 809176 w 291288"/>
              <a:gd name="T85" fmla="*/ 896289 h 291739"/>
              <a:gd name="T86" fmla="*/ 1615749 w 291288"/>
              <a:gd name="T87" fmla="*/ 2312106 h 291739"/>
              <a:gd name="T88" fmla="*/ 2418321 w 291288"/>
              <a:gd name="T89" fmla="*/ 896289 h 291739"/>
              <a:gd name="T90" fmla="*/ 1615749 w 291288"/>
              <a:gd name="T91" fmla="*/ 95201 h 291739"/>
              <a:gd name="T92" fmla="*/ 1615749 w 291288"/>
              <a:gd name="T93" fmla="*/ 0 h 291739"/>
              <a:gd name="T94" fmla="*/ 2514142 w 291288"/>
              <a:gd name="T95" fmla="*/ 896289 h 291739"/>
              <a:gd name="T96" fmla="*/ 2154774 w 291288"/>
              <a:gd name="T97" fmla="*/ 1812402 h 291739"/>
              <a:gd name="T98" fmla="*/ 2789634 w 291288"/>
              <a:gd name="T99" fmla="*/ 1812402 h 291739"/>
              <a:gd name="T100" fmla="*/ 2833573 w 291288"/>
              <a:gd name="T101" fmla="*/ 1848099 h 291739"/>
              <a:gd name="T102" fmla="*/ 3224882 w 291288"/>
              <a:gd name="T103" fmla="*/ 3140984 h 291739"/>
              <a:gd name="T104" fmla="*/ 3220897 w 291288"/>
              <a:gd name="T105" fmla="*/ 3188573 h 291739"/>
              <a:gd name="T106" fmla="*/ 3180961 w 291288"/>
              <a:gd name="T107" fmla="*/ 3208396 h 291739"/>
              <a:gd name="T108" fmla="*/ 46558 w 291288"/>
              <a:gd name="T109" fmla="*/ 3208396 h 291739"/>
              <a:gd name="T110" fmla="*/ 6633 w 291288"/>
              <a:gd name="T111" fmla="*/ 3188573 h 291739"/>
              <a:gd name="T112" fmla="*/ 2641 w 291288"/>
              <a:gd name="T113" fmla="*/ 3140984 h 291739"/>
              <a:gd name="T114" fmla="*/ 393917 w 291288"/>
              <a:gd name="T115" fmla="*/ 1848099 h 291739"/>
              <a:gd name="T116" fmla="*/ 441828 w 291288"/>
              <a:gd name="T117" fmla="*/ 1812402 h 291739"/>
              <a:gd name="T118" fmla="*/ 1068706 w 291288"/>
              <a:gd name="T119" fmla="*/ 1812402 h 291739"/>
              <a:gd name="T120" fmla="*/ 713343 w 291288"/>
              <a:gd name="T121" fmla="*/ 896289 h 291739"/>
              <a:gd name="T122" fmla="*/ 1615749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chemeClr val="tx1"/>
          </a:solidFill>
          <a:ln>
            <a:noFill/>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0" name="ContentNet">
            <a:extLst>
              <a:ext uri="{FF2B5EF4-FFF2-40B4-BE49-F238E27FC236}">
                <a16:creationId xmlns:a16="http://schemas.microsoft.com/office/drawing/2014/main" id="{C0EE1DB5-A9A5-6646-F04A-CCFCDDE7B2A8}"/>
              </a:ext>
            </a:extLst>
          </p:cNvPr>
          <p:cNvSpPr txBox="1"/>
          <p:nvPr/>
        </p:nvSpPr>
        <p:spPr>
          <a:xfrm>
            <a:off x="310670" y="1677031"/>
            <a:ext cx="3372807" cy="2571348"/>
          </a:xfrm>
          <a:prstGeom prst="rect">
            <a:avLst/>
          </a:prstGeom>
          <a:solidFill>
            <a:schemeClr val="bg1">
              <a:lumMod val="95000"/>
            </a:schemeClr>
          </a:solidFill>
          <a:ln>
            <a:noFill/>
          </a:ln>
        </p:spPr>
        <p:txBody>
          <a:bodyPr wrap="square" lIns="90000" tIns="274320" rIns="72000" bIns="54000" rtlCol="0" anchor="t"/>
          <a:lstStyle/>
          <a:p>
            <a:pPr>
              <a:lnSpc>
                <a:spcPct val="110000"/>
              </a:lnSpc>
              <a:spcAft>
                <a:spcPts val="200"/>
              </a:spcAft>
              <a:defRPr/>
            </a:pPr>
            <a:r>
              <a:rPr lang="en-US" sz="1200" b="1" dirty="0"/>
              <a:t>NT1 patients navigate a long, fragmented care journey before reaching the right specialist</a:t>
            </a:r>
          </a:p>
          <a:p>
            <a:pPr lvl="0">
              <a:lnSpc>
                <a:spcPct val="110000"/>
              </a:lnSpc>
              <a:spcAft>
                <a:spcPts val="200"/>
              </a:spcAft>
              <a:defRPr/>
            </a:pPr>
            <a:endParaRPr lang="en-US" sz="1200" dirty="0"/>
          </a:p>
          <a:p>
            <a:pPr lvl="0">
              <a:lnSpc>
                <a:spcPct val="110000"/>
              </a:lnSpc>
              <a:spcAft>
                <a:spcPts val="200"/>
              </a:spcAft>
              <a:defRPr/>
            </a:pPr>
            <a:br>
              <a:rPr lang="en-US" sz="1100" dirty="0"/>
            </a:br>
            <a:r>
              <a:rPr lang="en-US" sz="1100" dirty="0"/>
              <a:t>The path to NT1 diagnosis and treatment is long and non-linear. Patients encounter providers across primary care, psychiatry, and pulmonology well before a sleep specialist is involved. Each physician plays a distinct role in shaping whether and how quickly a patient reaches appropriate care.</a:t>
            </a:r>
            <a:endParaRPr lang="en-US" sz="600" dirty="0">
              <a:solidFill>
                <a:srgbClr val="34373F"/>
              </a:solidFill>
            </a:endParaRPr>
          </a:p>
        </p:txBody>
      </p:sp>
      <p:sp>
        <p:nvSpPr>
          <p:cNvPr id="13" name="ContentNet">
            <a:extLst>
              <a:ext uri="{FF2B5EF4-FFF2-40B4-BE49-F238E27FC236}">
                <a16:creationId xmlns:a16="http://schemas.microsoft.com/office/drawing/2014/main" id="{A02A3722-C602-859D-2A7F-5B05CD2F1C5E}"/>
              </a:ext>
            </a:extLst>
          </p:cNvPr>
          <p:cNvSpPr txBox="1"/>
          <p:nvPr/>
        </p:nvSpPr>
        <p:spPr>
          <a:xfrm>
            <a:off x="4158051" y="1677031"/>
            <a:ext cx="3372807" cy="2571348"/>
          </a:xfrm>
          <a:prstGeom prst="rect">
            <a:avLst/>
          </a:prstGeom>
          <a:solidFill>
            <a:schemeClr val="bg1">
              <a:lumMod val="95000"/>
            </a:schemeClr>
          </a:solidFill>
          <a:ln>
            <a:noFill/>
          </a:ln>
        </p:spPr>
        <p:txBody>
          <a:bodyPr wrap="square" lIns="90000" tIns="274320" rIns="72000" bIns="54000" rtlCol="0" anchor="t"/>
          <a:lstStyle/>
          <a:p>
            <a:pPr>
              <a:lnSpc>
                <a:spcPct val="110000"/>
              </a:lnSpc>
              <a:spcAft>
                <a:spcPts val="200"/>
              </a:spcAft>
              <a:defRPr/>
            </a:pPr>
            <a:r>
              <a:rPr lang="en-US" sz="1200" b="1" dirty="0"/>
              <a:t>Identify and prioritize HCPs who drive the journey meaningfully from those with incidental involvement</a:t>
            </a:r>
          </a:p>
          <a:p>
            <a:pPr lvl="0">
              <a:lnSpc>
                <a:spcPct val="110000"/>
              </a:lnSpc>
              <a:spcAft>
                <a:spcPts val="200"/>
              </a:spcAft>
              <a:defRPr/>
            </a:pPr>
            <a:endParaRPr lang="en-US" sz="1200" dirty="0"/>
          </a:p>
          <a:p>
            <a:pPr lvl="0">
              <a:lnSpc>
                <a:spcPct val="110000"/>
              </a:lnSpc>
              <a:spcAft>
                <a:spcPts val="200"/>
              </a:spcAft>
              <a:defRPr/>
            </a:pPr>
            <a:r>
              <a:rPr lang="en-US" sz="1100" dirty="0"/>
              <a:t>The path to NT1 diagnosis and treatment is long and non-linear. Patients encounter providers across primary care, psychiatry, and pulmonology well before a sleep specialist is involved. Each physician plays a distinct role in shaping whether and how quickly a patient reaches appropriate care.</a:t>
            </a:r>
            <a:endParaRPr lang="en-US" sz="600" dirty="0">
              <a:solidFill>
                <a:srgbClr val="34373F"/>
              </a:solidFill>
            </a:endParaRPr>
          </a:p>
        </p:txBody>
      </p:sp>
      <p:sp>
        <p:nvSpPr>
          <p:cNvPr id="37" name="ContentNet">
            <a:extLst>
              <a:ext uri="{FF2B5EF4-FFF2-40B4-BE49-F238E27FC236}">
                <a16:creationId xmlns:a16="http://schemas.microsoft.com/office/drawing/2014/main" id="{84AA105D-E465-7887-55CF-53F2B7A9B0CA}"/>
              </a:ext>
            </a:extLst>
          </p:cNvPr>
          <p:cNvSpPr txBox="1"/>
          <p:nvPr/>
        </p:nvSpPr>
        <p:spPr>
          <a:xfrm>
            <a:off x="8005432" y="1677031"/>
            <a:ext cx="3372807" cy="2571348"/>
          </a:xfrm>
          <a:prstGeom prst="rect">
            <a:avLst/>
          </a:prstGeom>
          <a:solidFill>
            <a:schemeClr val="bg1">
              <a:lumMod val="95000"/>
            </a:schemeClr>
          </a:solidFill>
          <a:ln>
            <a:noFill/>
          </a:ln>
        </p:spPr>
        <p:txBody>
          <a:bodyPr wrap="square" lIns="90000" tIns="274320" rIns="72000" bIns="54000" rtlCol="0" anchor="t"/>
          <a:lstStyle/>
          <a:p>
            <a:pPr>
              <a:lnSpc>
                <a:spcPct val="110000"/>
              </a:lnSpc>
              <a:spcAft>
                <a:spcPts val="200"/>
              </a:spcAft>
              <a:defRPr/>
            </a:pPr>
            <a:r>
              <a:rPr lang="en-US" sz="1200" b="1" dirty="0"/>
              <a:t>A clear, evidence-based view of whom to engage first and how based on the role they play in the NT1 network</a:t>
            </a:r>
          </a:p>
          <a:p>
            <a:pPr lvl="0">
              <a:lnSpc>
                <a:spcPct val="110000"/>
              </a:lnSpc>
              <a:spcAft>
                <a:spcPts val="200"/>
              </a:spcAft>
              <a:defRPr/>
            </a:pPr>
            <a:endParaRPr lang="en-US" sz="1200" dirty="0"/>
          </a:p>
          <a:p>
            <a:pPr lvl="0">
              <a:lnSpc>
                <a:spcPct val="110000"/>
              </a:lnSpc>
              <a:spcAft>
                <a:spcPts val="200"/>
              </a:spcAft>
              <a:defRPr/>
            </a:pPr>
            <a:r>
              <a:rPr lang="en-US" sz="1100" dirty="0"/>
              <a:t>It can enable the commercial team to prioritize engagement driving more meaningful activation across the existing target universe. We hence focused on surface the central HCPs/HCOs/Cohorts to activate first, which referral pathways represent the greatest access opportunity, and where patients are being lost before they reach treatment.</a:t>
            </a:r>
            <a:endParaRPr lang="en-US" sz="600" dirty="0">
              <a:solidFill>
                <a:srgbClr val="34373F"/>
              </a:solidFill>
            </a:endParaRPr>
          </a:p>
        </p:txBody>
      </p:sp>
      <p:sp>
        <p:nvSpPr>
          <p:cNvPr id="2" name="InsightsHeader">
            <a:extLst>
              <a:ext uri="{FF2B5EF4-FFF2-40B4-BE49-F238E27FC236}">
                <a16:creationId xmlns:a16="http://schemas.microsoft.com/office/drawing/2014/main" id="{35F0353B-78FC-1E26-AB00-3B84D7F74D96}"/>
              </a:ext>
            </a:extLst>
          </p:cNvPr>
          <p:cNvSpPr txBox="1"/>
          <p:nvPr/>
        </p:nvSpPr>
        <p:spPr>
          <a:xfrm>
            <a:off x="310671" y="1308488"/>
            <a:ext cx="3372808" cy="368542"/>
          </a:xfrm>
          <a:prstGeom prst="rect">
            <a:avLst/>
          </a:prstGeom>
          <a:gradFill>
            <a:gsLst>
              <a:gs pos="0">
                <a:srgbClr val="E1242A"/>
              </a:gs>
              <a:gs pos="100000">
                <a:srgbClr val="891515"/>
              </a:gs>
            </a:gsLst>
            <a:lin ang="0" scaled="0"/>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r>
              <a:rPr lang="en-US" dirty="0"/>
              <a:t>The NT1 landscape</a:t>
            </a:r>
          </a:p>
        </p:txBody>
      </p:sp>
      <p:sp>
        <p:nvSpPr>
          <p:cNvPr id="12" name="InsightsHeader">
            <a:extLst>
              <a:ext uri="{FF2B5EF4-FFF2-40B4-BE49-F238E27FC236}">
                <a16:creationId xmlns:a16="http://schemas.microsoft.com/office/drawing/2014/main" id="{E8D08117-CCEA-9BD1-BA48-A8E1E70058F3}"/>
              </a:ext>
            </a:extLst>
          </p:cNvPr>
          <p:cNvSpPr txBox="1"/>
          <p:nvPr/>
        </p:nvSpPr>
        <p:spPr>
          <a:xfrm>
            <a:off x="4158052" y="1308488"/>
            <a:ext cx="3372808" cy="368542"/>
          </a:xfrm>
          <a:prstGeom prst="rect">
            <a:avLst/>
          </a:prstGeom>
          <a:gradFill>
            <a:gsLst>
              <a:gs pos="0">
                <a:srgbClr val="E1242A"/>
              </a:gs>
              <a:gs pos="100000">
                <a:srgbClr val="891515"/>
              </a:gs>
            </a:gsLst>
            <a:lin ang="0" scaled="0"/>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r>
              <a:rPr lang="en-US" dirty="0"/>
              <a:t>Intent</a:t>
            </a:r>
          </a:p>
        </p:txBody>
      </p:sp>
      <p:sp>
        <p:nvSpPr>
          <p:cNvPr id="36" name="InsightsHeader">
            <a:extLst>
              <a:ext uri="{FF2B5EF4-FFF2-40B4-BE49-F238E27FC236}">
                <a16:creationId xmlns:a16="http://schemas.microsoft.com/office/drawing/2014/main" id="{5FE89FDF-0DE2-BEAA-BB7D-0A90BEF62DA5}"/>
              </a:ext>
            </a:extLst>
          </p:cNvPr>
          <p:cNvSpPr txBox="1"/>
          <p:nvPr/>
        </p:nvSpPr>
        <p:spPr>
          <a:xfrm>
            <a:off x="8005433" y="1308488"/>
            <a:ext cx="3372808" cy="368542"/>
          </a:xfrm>
          <a:prstGeom prst="rect">
            <a:avLst/>
          </a:prstGeom>
          <a:gradFill>
            <a:gsLst>
              <a:gs pos="0">
                <a:srgbClr val="E1242A"/>
              </a:gs>
              <a:gs pos="100000">
                <a:srgbClr val="891515"/>
              </a:gs>
            </a:gsLst>
            <a:lin ang="0" scaled="0"/>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r>
              <a:rPr lang="en-US" dirty="0"/>
              <a:t>Commercial Relevance</a:t>
            </a:r>
          </a:p>
        </p:txBody>
      </p:sp>
      <p:sp>
        <p:nvSpPr>
          <p:cNvPr id="39" name="ContentNet">
            <a:extLst>
              <a:ext uri="{FF2B5EF4-FFF2-40B4-BE49-F238E27FC236}">
                <a16:creationId xmlns:a16="http://schemas.microsoft.com/office/drawing/2014/main" id="{BFA817B8-7BD1-D92A-4314-D6F0FF4B42AB}"/>
              </a:ext>
            </a:extLst>
          </p:cNvPr>
          <p:cNvSpPr txBox="1"/>
          <p:nvPr/>
        </p:nvSpPr>
        <p:spPr>
          <a:xfrm>
            <a:off x="310670" y="4839622"/>
            <a:ext cx="11067569" cy="1201733"/>
          </a:xfrm>
          <a:prstGeom prst="rect">
            <a:avLst/>
          </a:prstGeom>
          <a:solidFill>
            <a:schemeClr val="accent1">
              <a:lumMod val="20000"/>
              <a:lumOff val="80000"/>
              <a:alpha val="30000"/>
            </a:schemeClr>
          </a:solidFill>
          <a:ln>
            <a:noFill/>
          </a:ln>
        </p:spPr>
        <p:txBody>
          <a:bodyPr wrap="square" lIns="457200" tIns="182880" rIns="72000" bIns="54000" rtlCol="0" anchor="t"/>
          <a:lstStyle/>
          <a:p>
            <a:pPr>
              <a:lnSpc>
                <a:spcPct val="110000"/>
              </a:lnSpc>
              <a:spcAft>
                <a:spcPts val="200"/>
              </a:spcAft>
              <a:defRPr/>
            </a:pPr>
            <a:r>
              <a:rPr lang="en-US" sz="1400" b="1" dirty="0">
                <a:solidFill>
                  <a:srgbClr val="34373F"/>
                </a:solidFill>
              </a:rPr>
              <a:t>What is the aim of this analysis?</a:t>
            </a:r>
          </a:p>
          <a:p>
            <a:pPr>
              <a:lnSpc>
                <a:spcPct val="110000"/>
              </a:lnSpc>
              <a:spcAft>
                <a:spcPts val="200"/>
              </a:spcAft>
              <a:defRPr/>
            </a:pPr>
            <a:endParaRPr lang="en-US" sz="1000" b="1" dirty="0">
              <a:solidFill>
                <a:srgbClr val="34373F"/>
              </a:solidFill>
            </a:endParaRPr>
          </a:p>
          <a:p>
            <a:pPr>
              <a:lnSpc>
                <a:spcPct val="110000"/>
              </a:lnSpc>
              <a:spcAft>
                <a:spcPts val="200"/>
              </a:spcAft>
              <a:defRPr/>
            </a:pPr>
            <a:r>
              <a:rPr lang="en-US" sz="1100" dirty="0">
                <a:solidFill>
                  <a:srgbClr val="34373F"/>
                </a:solidFill>
              </a:rPr>
              <a:t>A comprehensive understanding of how HCPs interact within the NT1 ecosystem and the distinct roles individual HCPs, HCOs, cohorts, and regions play in driving the patient journey. This structural view forms the basis for customizing activation strategies that reflect how the market actually behaves.</a:t>
            </a:r>
            <a:endParaRPr lang="en-US" sz="1200" dirty="0">
              <a:solidFill>
                <a:srgbClr val="34373F"/>
              </a:solidFill>
            </a:endParaRPr>
          </a:p>
        </p:txBody>
      </p:sp>
      <p:sp>
        <p:nvSpPr>
          <p:cNvPr id="40" name="InsightsHeader">
            <a:extLst>
              <a:ext uri="{FF2B5EF4-FFF2-40B4-BE49-F238E27FC236}">
                <a16:creationId xmlns:a16="http://schemas.microsoft.com/office/drawing/2014/main" id="{5D7F8555-C08D-F9DC-112B-A06912DF0E09}"/>
              </a:ext>
            </a:extLst>
          </p:cNvPr>
          <p:cNvSpPr txBox="1"/>
          <p:nvPr/>
        </p:nvSpPr>
        <p:spPr>
          <a:xfrm>
            <a:off x="310670" y="4838660"/>
            <a:ext cx="200334" cy="1192576"/>
          </a:xfrm>
          <a:prstGeom prst="rect">
            <a:avLst/>
          </a:prstGeom>
          <a:gradFill flip="none" rotWithShape="1">
            <a:gsLst>
              <a:gs pos="0">
                <a:schemeClr val="tx1">
                  <a:lumMod val="60000"/>
                  <a:lumOff val="40000"/>
                </a:schemeClr>
              </a:gs>
              <a:gs pos="100000">
                <a:schemeClr val="tx1"/>
              </a:gs>
            </a:gsLst>
            <a:lin ang="5400000" scaled="1"/>
            <a:tileRect/>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endParaRPr lang="en-US" dirty="0"/>
          </a:p>
        </p:txBody>
      </p:sp>
      <p:sp>
        <p:nvSpPr>
          <p:cNvPr id="41" name="Arrow: Pentagon 40">
            <a:extLst>
              <a:ext uri="{FF2B5EF4-FFF2-40B4-BE49-F238E27FC236}">
                <a16:creationId xmlns:a16="http://schemas.microsoft.com/office/drawing/2014/main" id="{25A17209-0D92-F9A7-F4B8-9ED2F4B1CF56}"/>
              </a:ext>
            </a:extLst>
          </p:cNvPr>
          <p:cNvSpPr/>
          <p:nvPr/>
        </p:nvSpPr>
        <p:spPr>
          <a:xfrm>
            <a:off x="0" y="-1112"/>
            <a:ext cx="759229" cy="139224"/>
          </a:xfrm>
          <a:prstGeom prst="homePlat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solidFill>
              </a:rPr>
              <a:t>Background &amp; Objective</a:t>
            </a:r>
            <a:endParaRPr kumimoji="1" lang="en-IN" sz="600" dirty="0">
              <a:solidFill>
                <a:schemeClr val="bg1"/>
              </a:solidFill>
            </a:endParaRPr>
          </a:p>
        </p:txBody>
      </p:sp>
      <p:sp>
        <p:nvSpPr>
          <p:cNvPr id="42" name="Arrow: Chevron 41">
            <a:extLst>
              <a:ext uri="{FF2B5EF4-FFF2-40B4-BE49-F238E27FC236}">
                <a16:creationId xmlns:a16="http://schemas.microsoft.com/office/drawing/2014/main" id="{B275A5A6-D023-79A7-A5FA-61107C476230}"/>
              </a:ext>
            </a:extLst>
          </p:cNvPr>
          <p:cNvSpPr/>
          <p:nvPr/>
        </p:nvSpPr>
        <p:spPr>
          <a:xfrm>
            <a:off x="709347"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lumMod val="50000"/>
                  </a:schemeClr>
                </a:solidFill>
              </a:rPr>
              <a:t>Analysis Foundation</a:t>
            </a:r>
            <a:endParaRPr kumimoji="1" lang="en-IN" sz="600" dirty="0">
              <a:solidFill>
                <a:schemeClr val="bg1">
                  <a:lumMod val="50000"/>
                </a:schemeClr>
              </a:solidFill>
            </a:endParaRPr>
          </a:p>
        </p:txBody>
      </p:sp>
      <p:sp>
        <p:nvSpPr>
          <p:cNvPr id="43" name="Arrow: Chevron 42">
            <a:extLst>
              <a:ext uri="{FF2B5EF4-FFF2-40B4-BE49-F238E27FC236}">
                <a16:creationId xmlns:a16="http://schemas.microsoft.com/office/drawing/2014/main" id="{B42118EC-452D-0F68-F581-95D210D0BD00}"/>
              </a:ext>
            </a:extLst>
          </p:cNvPr>
          <p:cNvSpPr/>
          <p:nvPr/>
        </p:nvSpPr>
        <p:spPr>
          <a:xfrm>
            <a:off x="1418694"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Methodology</a:t>
            </a:r>
            <a:endParaRPr kumimoji="1" lang="en-IN" sz="600" dirty="0">
              <a:solidFill>
                <a:schemeClr val="bg1">
                  <a:lumMod val="50000"/>
                </a:schemeClr>
              </a:solidFill>
            </a:endParaRPr>
          </a:p>
        </p:txBody>
      </p:sp>
      <p:sp>
        <p:nvSpPr>
          <p:cNvPr id="44" name="Arrow: Chevron 43">
            <a:extLst>
              <a:ext uri="{FF2B5EF4-FFF2-40B4-BE49-F238E27FC236}">
                <a16:creationId xmlns:a16="http://schemas.microsoft.com/office/drawing/2014/main" id="{512165F5-9C69-CC57-4169-BE1FBEFF3F74}"/>
              </a:ext>
            </a:extLst>
          </p:cNvPr>
          <p:cNvSpPr/>
          <p:nvPr/>
        </p:nvSpPr>
        <p:spPr>
          <a:xfrm>
            <a:off x="2128041"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lumMod val="50000"/>
                  </a:schemeClr>
                </a:solidFill>
              </a:rPr>
              <a:t>Executive Summary</a:t>
            </a:r>
            <a:endParaRPr kumimoji="1" lang="en-IN" sz="600" dirty="0">
              <a:solidFill>
                <a:schemeClr val="bg1">
                  <a:lumMod val="50000"/>
                </a:schemeClr>
              </a:solidFill>
            </a:endParaRPr>
          </a:p>
        </p:txBody>
      </p:sp>
    </p:spTree>
    <p:extLst>
      <p:ext uri="{BB962C8B-B14F-4D97-AF65-F5344CB8AC3E}">
        <p14:creationId xmlns:p14="http://schemas.microsoft.com/office/powerpoint/2010/main" val="218079159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5CAC8-623B-1CC5-E06A-6A1F0D956FA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408E42-E86D-EFA7-8F0A-C3DC3828C540}"/>
              </a:ext>
            </a:extLst>
          </p:cNvPr>
          <p:cNvSpPr>
            <a:spLocks noGrp="1"/>
          </p:cNvSpPr>
          <p:nvPr>
            <p:ph type="sldNum" sz="quarter" idx="4"/>
          </p:nvPr>
        </p:nvSpPr>
        <p:spPr/>
        <p:txBody>
          <a:bodyPr/>
          <a:lstStyle/>
          <a:p>
            <a:fld id="{4B88BF55-9D8F-47B8-9CAA-91D4F95E55A3}" type="slidenum">
              <a:rPr lang="en-US" smtClean="0"/>
              <a:t>4</a:t>
            </a:fld>
            <a:endParaRPr lang="en-US"/>
          </a:p>
        </p:txBody>
      </p:sp>
      <p:sp>
        <p:nvSpPr>
          <p:cNvPr id="16" name="Rectangle 15">
            <a:extLst>
              <a:ext uri="{FF2B5EF4-FFF2-40B4-BE49-F238E27FC236}">
                <a16:creationId xmlns:a16="http://schemas.microsoft.com/office/drawing/2014/main" id="{C8EC332A-F61B-B535-763D-173EA86DDE9B}"/>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dirty="0"/>
              <a:t>Data foundation and Business Rules</a:t>
            </a:r>
            <a:endParaRPr kumimoji="1" lang="en-US" sz="2000" i="1" dirty="0"/>
          </a:p>
        </p:txBody>
      </p:sp>
      <p:sp>
        <p:nvSpPr>
          <p:cNvPr id="41" name="Arrow: Pentagon 40">
            <a:extLst>
              <a:ext uri="{FF2B5EF4-FFF2-40B4-BE49-F238E27FC236}">
                <a16:creationId xmlns:a16="http://schemas.microsoft.com/office/drawing/2014/main" id="{0B300956-5306-660F-CAA0-D2D8180A9938}"/>
              </a:ext>
            </a:extLst>
          </p:cNvPr>
          <p:cNvSpPr/>
          <p:nvPr/>
        </p:nvSpPr>
        <p:spPr>
          <a:xfrm>
            <a:off x="0" y="-1112"/>
            <a:ext cx="759229" cy="139224"/>
          </a:xfrm>
          <a:prstGeom prst="homePlate">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Background </a:t>
            </a:r>
            <a:r>
              <a:rPr kumimoji="1" lang="en-US" sz="600">
                <a:solidFill>
                  <a:schemeClr val="bg1">
                    <a:lumMod val="50000"/>
                  </a:schemeClr>
                </a:solidFill>
              </a:rPr>
              <a:t>&amp; Objective</a:t>
            </a:r>
            <a:endParaRPr kumimoji="1" lang="en-IN" sz="600" dirty="0">
              <a:solidFill>
                <a:schemeClr val="bg1">
                  <a:lumMod val="50000"/>
                </a:schemeClr>
              </a:solidFill>
            </a:endParaRPr>
          </a:p>
        </p:txBody>
      </p:sp>
      <p:sp>
        <p:nvSpPr>
          <p:cNvPr id="42" name="Arrow: Chevron 41">
            <a:extLst>
              <a:ext uri="{FF2B5EF4-FFF2-40B4-BE49-F238E27FC236}">
                <a16:creationId xmlns:a16="http://schemas.microsoft.com/office/drawing/2014/main" id="{BF6FF4A9-1F44-0F44-B72D-D52B94F632AB}"/>
              </a:ext>
            </a:extLst>
          </p:cNvPr>
          <p:cNvSpPr/>
          <p:nvPr/>
        </p:nvSpPr>
        <p:spPr>
          <a:xfrm>
            <a:off x="709347" y="-1112"/>
            <a:ext cx="759229" cy="139224"/>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a:solidFill>
                  <a:schemeClr val="bg1"/>
                </a:solidFill>
              </a:rPr>
              <a:t>Analysis Foundation</a:t>
            </a:r>
            <a:endParaRPr kumimoji="1" lang="en-IN" sz="600" dirty="0">
              <a:solidFill>
                <a:schemeClr val="bg1"/>
              </a:solidFill>
            </a:endParaRPr>
          </a:p>
        </p:txBody>
      </p:sp>
      <p:sp>
        <p:nvSpPr>
          <p:cNvPr id="43" name="Arrow: Chevron 42">
            <a:extLst>
              <a:ext uri="{FF2B5EF4-FFF2-40B4-BE49-F238E27FC236}">
                <a16:creationId xmlns:a16="http://schemas.microsoft.com/office/drawing/2014/main" id="{B14CCFB5-351E-B1D1-333B-E874B5BD3150}"/>
              </a:ext>
            </a:extLst>
          </p:cNvPr>
          <p:cNvSpPr/>
          <p:nvPr/>
        </p:nvSpPr>
        <p:spPr>
          <a:xfrm>
            <a:off x="1418694"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Methodology</a:t>
            </a:r>
            <a:endParaRPr kumimoji="1" lang="en-IN" sz="600" dirty="0">
              <a:solidFill>
                <a:schemeClr val="bg1">
                  <a:lumMod val="50000"/>
                </a:schemeClr>
              </a:solidFill>
            </a:endParaRPr>
          </a:p>
        </p:txBody>
      </p:sp>
      <p:sp>
        <p:nvSpPr>
          <p:cNvPr id="44" name="Arrow: Chevron 43">
            <a:extLst>
              <a:ext uri="{FF2B5EF4-FFF2-40B4-BE49-F238E27FC236}">
                <a16:creationId xmlns:a16="http://schemas.microsoft.com/office/drawing/2014/main" id="{71BFA236-1360-ED9F-EB1D-73FA21F40E64}"/>
              </a:ext>
            </a:extLst>
          </p:cNvPr>
          <p:cNvSpPr/>
          <p:nvPr/>
        </p:nvSpPr>
        <p:spPr>
          <a:xfrm>
            <a:off x="2128041"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a:solidFill>
                  <a:schemeClr val="bg1">
                    <a:lumMod val="50000"/>
                  </a:schemeClr>
                </a:solidFill>
              </a:rPr>
              <a:t>Executive Summary</a:t>
            </a:r>
            <a:endParaRPr kumimoji="1" lang="en-IN" sz="600" dirty="0">
              <a:solidFill>
                <a:schemeClr val="bg1">
                  <a:lumMod val="50000"/>
                </a:schemeClr>
              </a:solidFill>
            </a:endParaRPr>
          </a:p>
        </p:txBody>
      </p:sp>
      <p:sp>
        <p:nvSpPr>
          <p:cNvPr id="5" name="Freeform: Shape 4">
            <a:extLst>
              <a:ext uri="{FF2B5EF4-FFF2-40B4-BE49-F238E27FC236}">
                <a16:creationId xmlns:a16="http://schemas.microsoft.com/office/drawing/2014/main" id="{88067DB3-CEDC-55BE-173E-5C7AC5DDDE88}"/>
              </a:ext>
            </a:extLst>
          </p:cNvPr>
          <p:cNvSpPr>
            <a:spLocks noChangeAspect="1"/>
          </p:cNvSpPr>
          <p:nvPr/>
        </p:nvSpPr>
        <p:spPr>
          <a:xfrm>
            <a:off x="508792" y="226011"/>
            <a:ext cx="476188" cy="495347"/>
          </a:xfrm>
          <a:custGeom>
            <a:avLst/>
            <a:gdLst>
              <a:gd name="connsiteX0" fmla="*/ 1121729 w 1131212"/>
              <a:gd name="connsiteY0" fmla="*/ 949352 h 1176720"/>
              <a:gd name="connsiteX1" fmla="*/ 1024188 w 1131212"/>
              <a:gd name="connsiteY1" fmla="*/ 893029 h 1176720"/>
              <a:gd name="connsiteX2" fmla="*/ 1024188 w 1131212"/>
              <a:gd name="connsiteY2" fmla="*/ 396154 h 1176720"/>
              <a:gd name="connsiteX3" fmla="*/ 1014704 w 1131212"/>
              <a:gd name="connsiteY3" fmla="*/ 379736 h 1176720"/>
              <a:gd name="connsiteX4" fmla="*/ 584556 w 1131212"/>
              <a:gd name="connsiteY4" fmla="*/ 131561 h 1176720"/>
              <a:gd name="connsiteX5" fmla="*/ 584556 w 1131212"/>
              <a:gd name="connsiteY5" fmla="*/ 18941 h 1176720"/>
              <a:gd name="connsiteX6" fmla="*/ 565615 w 1131212"/>
              <a:gd name="connsiteY6" fmla="*/ 0 h 1176720"/>
              <a:gd name="connsiteX7" fmla="*/ 546674 w 1131212"/>
              <a:gd name="connsiteY7" fmla="*/ 18941 h 1176720"/>
              <a:gd name="connsiteX8" fmla="*/ 546674 w 1131212"/>
              <a:gd name="connsiteY8" fmla="*/ 131561 h 1176720"/>
              <a:gd name="connsiteX9" fmla="*/ 116500 w 1131212"/>
              <a:gd name="connsiteY9" fmla="*/ 379736 h 1176720"/>
              <a:gd name="connsiteX10" fmla="*/ 107016 w 1131212"/>
              <a:gd name="connsiteY10" fmla="*/ 396154 h 1176720"/>
              <a:gd name="connsiteX11" fmla="*/ 107016 w 1131212"/>
              <a:gd name="connsiteY11" fmla="*/ 893055 h 1176720"/>
              <a:gd name="connsiteX12" fmla="*/ 9475 w 1131212"/>
              <a:gd name="connsiteY12" fmla="*/ 949378 h 1176720"/>
              <a:gd name="connsiteX13" fmla="*/ 2540 w 1131212"/>
              <a:gd name="connsiteY13" fmla="*/ 975254 h 1176720"/>
              <a:gd name="connsiteX14" fmla="*/ 18959 w 1131212"/>
              <a:gd name="connsiteY14" fmla="*/ 984738 h 1176720"/>
              <a:gd name="connsiteX15" fmla="*/ 28416 w 1131212"/>
              <a:gd name="connsiteY15" fmla="*/ 982216 h 1176720"/>
              <a:gd name="connsiteX16" fmla="*/ 126115 w 1131212"/>
              <a:gd name="connsiteY16" fmla="*/ 925814 h 1176720"/>
              <a:gd name="connsiteX17" fmla="*/ 556132 w 1131212"/>
              <a:gd name="connsiteY17" fmla="*/ 1174199 h 1176720"/>
              <a:gd name="connsiteX18" fmla="*/ 565615 w 1131212"/>
              <a:gd name="connsiteY18" fmla="*/ 1176721 h 1176720"/>
              <a:gd name="connsiteX19" fmla="*/ 575099 w 1131212"/>
              <a:gd name="connsiteY19" fmla="*/ 1174199 h 1176720"/>
              <a:gd name="connsiteX20" fmla="*/ 1005116 w 1131212"/>
              <a:gd name="connsiteY20" fmla="*/ 925761 h 1176720"/>
              <a:gd name="connsiteX21" fmla="*/ 1102814 w 1131212"/>
              <a:gd name="connsiteY21" fmla="*/ 982164 h 1176720"/>
              <a:gd name="connsiteX22" fmla="*/ 1112272 w 1131212"/>
              <a:gd name="connsiteY22" fmla="*/ 984685 h 1176720"/>
              <a:gd name="connsiteX23" fmla="*/ 1128691 w 1131212"/>
              <a:gd name="connsiteY23" fmla="*/ 975202 h 1176720"/>
              <a:gd name="connsiteX24" fmla="*/ 1121729 w 1131212"/>
              <a:gd name="connsiteY24" fmla="*/ 949352 h 1176720"/>
              <a:gd name="connsiteX25" fmla="*/ 310243 w 1131212"/>
              <a:gd name="connsiteY25" fmla="*/ 797484 h 1176720"/>
              <a:gd name="connsiteX26" fmla="*/ 310243 w 1131212"/>
              <a:gd name="connsiteY26" fmla="*/ 524484 h 1176720"/>
              <a:gd name="connsiteX27" fmla="*/ 546648 w 1131212"/>
              <a:gd name="connsiteY27" fmla="*/ 661089 h 1176720"/>
              <a:gd name="connsiteX28" fmla="*/ 546648 w 1131212"/>
              <a:gd name="connsiteY28" fmla="*/ 934089 h 1176720"/>
              <a:gd name="connsiteX29" fmla="*/ 310243 w 1131212"/>
              <a:gd name="connsiteY29" fmla="*/ 797484 h 1176720"/>
              <a:gd name="connsiteX30" fmla="*/ 565615 w 1131212"/>
              <a:gd name="connsiteY30" fmla="*/ 164373 h 1176720"/>
              <a:gd name="connsiteX31" fmla="*/ 967365 w 1131212"/>
              <a:gd name="connsiteY31" fmla="*/ 396154 h 1176720"/>
              <a:gd name="connsiteX32" fmla="*/ 839929 w 1131212"/>
              <a:gd name="connsiteY32" fmla="*/ 469790 h 1176720"/>
              <a:gd name="connsiteX33" fmla="*/ 575073 w 1131212"/>
              <a:gd name="connsiteY33" fmla="*/ 317002 h 1176720"/>
              <a:gd name="connsiteX34" fmla="*/ 556132 w 1131212"/>
              <a:gd name="connsiteY34" fmla="*/ 317002 h 1176720"/>
              <a:gd name="connsiteX35" fmla="*/ 291302 w 1131212"/>
              <a:gd name="connsiteY35" fmla="*/ 469790 h 1176720"/>
              <a:gd name="connsiteX36" fmla="*/ 163865 w 1131212"/>
              <a:gd name="connsiteY36" fmla="*/ 396154 h 1176720"/>
              <a:gd name="connsiteX37" fmla="*/ 565615 w 1131212"/>
              <a:gd name="connsiteY37" fmla="*/ 164373 h 1176720"/>
              <a:gd name="connsiteX38" fmla="*/ 666046 w 1131212"/>
              <a:gd name="connsiteY38" fmla="*/ 570247 h 1176720"/>
              <a:gd name="connsiteX39" fmla="*/ 565615 w 1131212"/>
              <a:gd name="connsiteY39" fmla="*/ 628278 h 1176720"/>
              <a:gd name="connsiteX40" fmla="*/ 492453 w 1131212"/>
              <a:gd name="connsiteY40" fmla="*/ 586009 h 1176720"/>
              <a:gd name="connsiteX41" fmla="*/ 329210 w 1131212"/>
              <a:gd name="connsiteY41" fmla="*/ 491699 h 1176720"/>
              <a:gd name="connsiteX42" fmla="*/ 565615 w 1131212"/>
              <a:gd name="connsiteY42" fmla="*/ 355278 h 1176720"/>
              <a:gd name="connsiteX43" fmla="*/ 802047 w 1131212"/>
              <a:gd name="connsiteY43" fmla="*/ 491699 h 1176720"/>
              <a:gd name="connsiteX44" fmla="*/ 666046 w 1131212"/>
              <a:gd name="connsiteY44" fmla="*/ 570247 h 1176720"/>
              <a:gd name="connsiteX45" fmla="*/ 584556 w 1131212"/>
              <a:gd name="connsiteY45" fmla="*/ 661089 h 1176720"/>
              <a:gd name="connsiteX46" fmla="*/ 820988 w 1131212"/>
              <a:gd name="connsiteY46" fmla="*/ 524484 h 1176720"/>
              <a:gd name="connsiteX47" fmla="*/ 820988 w 1131212"/>
              <a:gd name="connsiteY47" fmla="*/ 797484 h 1176720"/>
              <a:gd name="connsiteX48" fmla="*/ 584556 w 1131212"/>
              <a:gd name="connsiteY48" fmla="*/ 934089 h 1176720"/>
              <a:gd name="connsiteX49" fmla="*/ 584556 w 1131212"/>
              <a:gd name="connsiteY49" fmla="*/ 661089 h 1176720"/>
              <a:gd name="connsiteX50" fmla="*/ 144924 w 1131212"/>
              <a:gd name="connsiteY50" fmla="*/ 428966 h 1176720"/>
              <a:gd name="connsiteX51" fmla="*/ 272361 w 1131212"/>
              <a:gd name="connsiteY51" fmla="*/ 502601 h 1176720"/>
              <a:gd name="connsiteX52" fmla="*/ 272361 w 1131212"/>
              <a:gd name="connsiteY52" fmla="*/ 808413 h 1176720"/>
              <a:gd name="connsiteX53" fmla="*/ 281845 w 1131212"/>
              <a:gd name="connsiteY53" fmla="*/ 824831 h 1176720"/>
              <a:gd name="connsiteX54" fmla="*/ 546674 w 1131212"/>
              <a:gd name="connsiteY54" fmla="*/ 977855 h 1176720"/>
              <a:gd name="connsiteX55" fmla="*/ 546674 w 1131212"/>
              <a:gd name="connsiteY55" fmla="*/ 1124995 h 1176720"/>
              <a:gd name="connsiteX56" fmla="*/ 144924 w 1131212"/>
              <a:gd name="connsiteY56" fmla="*/ 892871 h 1176720"/>
              <a:gd name="connsiteX57" fmla="*/ 144924 w 1131212"/>
              <a:gd name="connsiteY57" fmla="*/ 428966 h 1176720"/>
              <a:gd name="connsiteX58" fmla="*/ 584556 w 1131212"/>
              <a:gd name="connsiteY58" fmla="*/ 1124995 h 1176720"/>
              <a:gd name="connsiteX59" fmla="*/ 584556 w 1131212"/>
              <a:gd name="connsiteY59" fmla="*/ 977855 h 1176720"/>
              <a:gd name="connsiteX60" fmla="*/ 849412 w 1131212"/>
              <a:gd name="connsiteY60" fmla="*/ 824831 h 1176720"/>
              <a:gd name="connsiteX61" fmla="*/ 858896 w 1131212"/>
              <a:gd name="connsiteY61" fmla="*/ 808413 h 1176720"/>
              <a:gd name="connsiteX62" fmla="*/ 858896 w 1131212"/>
              <a:gd name="connsiteY62" fmla="*/ 502601 h 1176720"/>
              <a:gd name="connsiteX63" fmla="*/ 986332 w 1131212"/>
              <a:gd name="connsiteY63" fmla="*/ 428966 h 1176720"/>
              <a:gd name="connsiteX64" fmla="*/ 986332 w 1131212"/>
              <a:gd name="connsiteY64" fmla="*/ 892845 h 1176720"/>
              <a:gd name="connsiteX65" fmla="*/ 584556 w 1131212"/>
              <a:gd name="connsiteY65" fmla="*/ 1124995 h 117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131212" h="1176720">
                <a:moveTo>
                  <a:pt x="1121729" y="949352"/>
                </a:moveTo>
                <a:lnTo>
                  <a:pt x="1024188" y="893029"/>
                </a:lnTo>
                <a:lnTo>
                  <a:pt x="1024188" y="396154"/>
                </a:lnTo>
                <a:cubicBezTo>
                  <a:pt x="1024188" y="389377"/>
                  <a:pt x="1020589" y="383124"/>
                  <a:pt x="1014704" y="379736"/>
                </a:cubicBezTo>
                <a:lnTo>
                  <a:pt x="584556" y="131561"/>
                </a:lnTo>
                <a:lnTo>
                  <a:pt x="584556" y="18941"/>
                </a:lnTo>
                <a:cubicBezTo>
                  <a:pt x="584556" y="8459"/>
                  <a:pt x="576097" y="0"/>
                  <a:pt x="565615" y="0"/>
                </a:cubicBezTo>
                <a:cubicBezTo>
                  <a:pt x="555133" y="0"/>
                  <a:pt x="546674" y="8459"/>
                  <a:pt x="546674" y="18941"/>
                </a:cubicBezTo>
                <a:lnTo>
                  <a:pt x="546674" y="131561"/>
                </a:lnTo>
                <a:lnTo>
                  <a:pt x="116500" y="379736"/>
                </a:lnTo>
                <a:cubicBezTo>
                  <a:pt x="110642" y="383124"/>
                  <a:pt x="107016" y="389377"/>
                  <a:pt x="107016" y="396154"/>
                </a:cubicBezTo>
                <a:lnTo>
                  <a:pt x="107016" y="893055"/>
                </a:lnTo>
                <a:lnTo>
                  <a:pt x="9475" y="949378"/>
                </a:lnTo>
                <a:cubicBezTo>
                  <a:pt x="412" y="954606"/>
                  <a:pt x="-2688" y="966191"/>
                  <a:pt x="2540" y="975254"/>
                </a:cubicBezTo>
                <a:cubicBezTo>
                  <a:pt x="6060" y="981349"/>
                  <a:pt x="12417" y="984738"/>
                  <a:pt x="18959" y="984738"/>
                </a:cubicBezTo>
                <a:cubicBezTo>
                  <a:pt x="22190" y="984738"/>
                  <a:pt x="25421" y="983924"/>
                  <a:pt x="28416" y="982216"/>
                </a:cubicBezTo>
                <a:lnTo>
                  <a:pt x="126115" y="925814"/>
                </a:lnTo>
                <a:lnTo>
                  <a:pt x="556132" y="1174199"/>
                </a:lnTo>
                <a:cubicBezTo>
                  <a:pt x="559074" y="1175880"/>
                  <a:pt x="562331" y="1176721"/>
                  <a:pt x="565615" y="1176721"/>
                </a:cubicBezTo>
                <a:cubicBezTo>
                  <a:pt x="568899" y="1176721"/>
                  <a:pt x="572156" y="1175880"/>
                  <a:pt x="575099" y="1174199"/>
                </a:cubicBezTo>
                <a:lnTo>
                  <a:pt x="1005116" y="925761"/>
                </a:lnTo>
                <a:lnTo>
                  <a:pt x="1102814" y="982164"/>
                </a:lnTo>
                <a:cubicBezTo>
                  <a:pt x="1105783" y="983871"/>
                  <a:pt x="1109040" y="984685"/>
                  <a:pt x="1112272" y="984685"/>
                </a:cubicBezTo>
                <a:cubicBezTo>
                  <a:pt x="1118813" y="984685"/>
                  <a:pt x="1125170" y="981297"/>
                  <a:pt x="1128691" y="975202"/>
                </a:cubicBezTo>
                <a:cubicBezTo>
                  <a:pt x="1133892" y="966165"/>
                  <a:pt x="1130792" y="954580"/>
                  <a:pt x="1121729" y="949352"/>
                </a:cubicBezTo>
                <a:close/>
                <a:moveTo>
                  <a:pt x="310243" y="797484"/>
                </a:moveTo>
                <a:lnTo>
                  <a:pt x="310243" y="524484"/>
                </a:lnTo>
                <a:lnTo>
                  <a:pt x="546648" y="661089"/>
                </a:lnTo>
                <a:lnTo>
                  <a:pt x="546648" y="934089"/>
                </a:lnTo>
                <a:lnTo>
                  <a:pt x="310243" y="797484"/>
                </a:lnTo>
                <a:close/>
                <a:moveTo>
                  <a:pt x="565615" y="164373"/>
                </a:moveTo>
                <a:lnTo>
                  <a:pt x="967365" y="396154"/>
                </a:lnTo>
                <a:lnTo>
                  <a:pt x="839929" y="469790"/>
                </a:lnTo>
                <a:lnTo>
                  <a:pt x="575073" y="317002"/>
                </a:lnTo>
                <a:cubicBezTo>
                  <a:pt x="569188" y="313640"/>
                  <a:pt x="562016" y="313640"/>
                  <a:pt x="556132" y="317002"/>
                </a:cubicBezTo>
                <a:lnTo>
                  <a:pt x="291302" y="469790"/>
                </a:lnTo>
                <a:lnTo>
                  <a:pt x="163865" y="396154"/>
                </a:lnTo>
                <a:lnTo>
                  <a:pt x="565615" y="164373"/>
                </a:lnTo>
                <a:close/>
                <a:moveTo>
                  <a:pt x="666046" y="570247"/>
                </a:moveTo>
                <a:lnTo>
                  <a:pt x="565615" y="628278"/>
                </a:lnTo>
                <a:lnTo>
                  <a:pt x="492453" y="586009"/>
                </a:lnTo>
                <a:lnTo>
                  <a:pt x="329210" y="491699"/>
                </a:lnTo>
                <a:lnTo>
                  <a:pt x="565615" y="355278"/>
                </a:lnTo>
                <a:lnTo>
                  <a:pt x="802047" y="491699"/>
                </a:lnTo>
                <a:lnTo>
                  <a:pt x="666046" y="570247"/>
                </a:lnTo>
                <a:close/>
                <a:moveTo>
                  <a:pt x="584556" y="661089"/>
                </a:moveTo>
                <a:lnTo>
                  <a:pt x="820988" y="524484"/>
                </a:lnTo>
                <a:lnTo>
                  <a:pt x="820988" y="797484"/>
                </a:lnTo>
                <a:lnTo>
                  <a:pt x="584556" y="934089"/>
                </a:lnTo>
                <a:lnTo>
                  <a:pt x="584556" y="661089"/>
                </a:lnTo>
                <a:close/>
                <a:moveTo>
                  <a:pt x="144924" y="428966"/>
                </a:moveTo>
                <a:lnTo>
                  <a:pt x="272361" y="502601"/>
                </a:lnTo>
                <a:lnTo>
                  <a:pt x="272361" y="808413"/>
                </a:lnTo>
                <a:cubicBezTo>
                  <a:pt x="272361" y="815190"/>
                  <a:pt x="275960" y="821443"/>
                  <a:pt x="281845" y="824831"/>
                </a:cubicBezTo>
                <a:lnTo>
                  <a:pt x="546674" y="977855"/>
                </a:lnTo>
                <a:lnTo>
                  <a:pt x="546674" y="1124995"/>
                </a:lnTo>
                <a:lnTo>
                  <a:pt x="144924" y="892871"/>
                </a:lnTo>
                <a:lnTo>
                  <a:pt x="144924" y="428966"/>
                </a:lnTo>
                <a:close/>
                <a:moveTo>
                  <a:pt x="584556" y="1124995"/>
                </a:moveTo>
                <a:lnTo>
                  <a:pt x="584556" y="977855"/>
                </a:lnTo>
                <a:lnTo>
                  <a:pt x="849412" y="824831"/>
                </a:lnTo>
                <a:cubicBezTo>
                  <a:pt x="855270" y="821443"/>
                  <a:pt x="858896" y="815190"/>
                  <a:pt x="858896" y="808413"/>
                </a:cubicBezTo>
                <a:lnTo>
                  <a:pt x="858896" y="502601"/>
                </a:lnTo>
                <a:lnTo>
                  <a:pt x="986332" y="428966"/>
                </a:lnTo>
                <a:lnTo>
                  <a:pt x="986332" y="892845"/>
                </a:lnTo>
                <a:lnTo>
                  <a:pt x="584556" y="1124995"/>
                </a:ln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sp>
        <p:nvSpPr>
          <p:cNvPr id="7" name="Rectangle 6">
            <a:extLst>
              <a:ext uri="{FF2B5EF4-FFF2-40B4-BE49-F238E27FC236}">
                <a16:creationId xmlns:a16="http://schemas.microsoft.com/office/drawing/2014/main" id="{23A63CF2-C4FA-BD9F-6A31-4BACB4558600}"/>
              </a:ext>
            </a:extLst>
          </p:cNvPr>
          <p:cNvSpPr/>
          <p:nvPr/>
        </p:nvSpPr>
        <p:spPr>
          <a:xfrm>
            <a:off x="0" y="1274685"/>
            <a:ext cx="5566320" cy="4090946"/>
          </a:xfrm>
          <a:prstGeom prst="rect">
            <a:avLst/>
          </a:prstGeom>
          <a:solidFill>
            <a:schemeClr val="accent1">
              <a:lumMod val="20000"/>
              <a:lumOff val="80000"/>
              <a:alpha val="30000"/>
            </a:schemeClr>
          </a:solidFill>
          <a:ln>
            <a:noFill/>
          </a:ln>
        </p:spPr>
        <p:txBody>
          <a:bodyPr wrap="square" lIns="457200" tIns="182880" rIns="72000" bIns="54000" rtlCol="0" anchor="t"/>
          <a:lstStyle/>
          <a:p>
            <a:pPr>
              <a:lnSpc>
                <a:spcPct val="110000"/>
              </a:lnSpc>
              <a:spcAft>
                <a:spcPts val="200"/>
              </a:spcAft>
            </a:pPr>
            <a:endParaRPr lang="en-US" sz="1400" b="1">
              <a:solidFill>
                <a:srgbClr val="34373F"/>
              </a:solidFill>
            </a:endParaRPr>
          </a:p>
        </p:txBody>
      </p:sp>
      <p:grpSp>
        <p:nvGrpSpPr>
          <p:cNvPr id="8" name="Group 7">
            <a:extLst>
              <a:ext uri="{FF2B5EF4-FFF2-40B4-BE49-F238E27FC236}">
                <a16:creationId xmlns:a16="http://schemas.microsoft.com/office/drawing/2014/main" id="{9D1F99E5-EA2E-F391-BB4A-3F20FCF03E26}"/>
              </a:ext>
            </a:extLst>
          </p:cNvPr>
          <p:cNvGrpSpPr/>
          <p:nvPr/>
        </p:nvGrpSpPr>
        <p:grpSpPr>
          <a:xfrm>
            <a:off x="-3" y="1045876"/>
            <a:ext cx="4373248" cy="449809"/>
            <a:chOff x="0" y="2140992"/>
            <a:chExt cx="2880042" cy="347181"/>
          </a:xfrm>
        </p:grpSpPr>
        <p:sp>
          <p:nvSpPr>
            <p:cNvPr id="9" name="TextBox 8">
              <a:extLst>
                <a:ext uri="{FF2B5EF4-FFF2-40B4-BE49-F238E27FC236}">
                  <a16:creationId xmlns:a16="http://schemas.microsoft.com/office/drawing/2014/main" id="{003884C2-0BB4-8326-4FE9-22C2B763AE1B}"/>
                </a:ext>
              </a:extLst>
            </p:cNvPr>
            <p:cNvSpPr txBox="1"/>
            <p:nvPr/>
          </p:nvSpPr>
          <p:spPr>
            <a:xfrm>
              <a:off x="1760219" y="2140992"/>
              <a:ext cx="1119823" cy="347180"/>
            </a:xfrm>
            <a:prstGeom prst="parallelogram">
              <a:avLst/>
            </a:prstGeom>
            <a:gradFill>
              <a:gsLst>
                <a:gs pos="0">
                  <a:schemeClr val="bg2"/>
                </a:gs>
                <a:gs pos="33000">
                  <a:schemeClr val="accent1">
                    <a:lumMod val="7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720000"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endParaRPr lang="en-IN"/>
            </a:p>
          </p:txBody>
        </p:sp>
        <p:sp>
          <p:nvSpPr>
            <p:cNvPr id="10" name="TextBox 9">
              <a:extLst>
                <a:ext uri="{FF2B5EF4-FFF2-40B4-BE49-F238E27FC236}">
                  <a16:creationId xmlns:a16="http://schemas.microsoft.com/office/drawing/2014/main" id="{4E75C0D9-0646-6523-68C4-BDAB2D4EA96C}"/>
                </a:ext>
              </a:extLst>
            </p:cNvPr>
            <p:cNvSpPr txBox="1"/>
            <p:nvPr/>
          </p:nvSpPr>
          <p:spPr>
            <a:xfrm>
              <a:off x="0" y="2140993"/>
              <a:ext cx="2545080" cy="347180"/>
            </a:xfrm>
            <a:prstGeom prst="rect">
              <a:avLst/>
            </a:prstGeom>
            <a:gradFill>
              <a:gsLst>
                <a:gs pos="0">
                  <a:schemeClr val="accent1"/>
                </a:gs>
                <a:gs pos="100000">
                  <a:schemeClr val="accent1">
                    <a:lumMod val="7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IN" dirty="0"/>
                <a:t>Data Sources</a:t>
              </a:r>
            </a:p>
          </p:txBody>
        </p:sp>
      </p:grpSp>
      <p:sp>
        <p:nvSpPr>
          <p:cNvPr id="11" name="Rectangle: Rounded Corners 10">
            <a:extLst>
              <a:ext uri="{FF2B5EF4-FFF2-40B4-BE49-F238E27FC236}">
                <a16:creationId xmlns:a16="http://schemas.microsoft.com/office/drawing/2014/main" id="{D4717E6C-959D-3294-7BA7-119A4DFB7FAF}"/>
              </a:ext>
            </a:extLst>
          </p:cNvPr>
          <p:cNvSpPr/>
          <p:nvPr/>
        </p:nvSpPr>
        <p:spPr>
          <a:xfrm>
            <a:off x="174351" y="1770848"/>
            <a:ext cx="5156774" cy="1042209"/>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Claims Data: </a:t>
            </a:r>
            <a:r>
              <a:rPr lang="en-US" sz="1200" b="1" dirty="0">
                <a:solidFill>
                  <a:schemeClr val="tx1"/>
                </a:solidFill>
                <a:latin typeface="+mj-lt"/>
                <a:cs typeface="Arial" panose="020B0604020202020204" pitchFamily="34" charset="0"/>
              </a:rPr>
              <a:t>Komodo PLAID </a:t>
            </a:r>
            <a:r>
              <a:rPr lang="en-US" sz="1100" i="1" dirty="0">
                <a:solidFill>
                  <a:schemeClr val="tx1"/>
                </a:solidFill>
                <a:latin typeface="+mj-lt"/>
                <a:cs typeface="Arial" panose="020B0604020202020204" pitchFamily="34" charset="0"/>
              </a:rPr>
              <a:t>(Jan’16 to Jan’26)</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Primary source capturing patient-level medical and pharmacy claims across the full NT1 journey. Covers all HCP interactions, diagnoses, treatments, and tests for the identified patient cohort.</a:t>
            </a:r>
          </a:p>
        </p:txBody>
      </p:sp>
      <p:sp>
        <p:nvSpPr>
          <p:cNvPr id="14" name="Rectangle: Rounded Corners 13">
            <a:extLst>
              <a:ext uri="{FF2B5EF4-FFF2-40B4-BE49-F238E27FC236}">
                <a16:creationId xmlns:a16="http://schemas.microsoft.com/office/drawing/2014/main" id="{F85F8570-3075-77A0-31AB-8DD7FE47CA53}"/>
              </a:ext>
            </a:extLst>
          </p:cNvPr>
          <p:cNvSpPr/>
          <p:nvPr/>
        </p:nvSpPr>
        <p:spPr>
          <a:xfrm>
            <a:off x="174351" y="2996648"/>
            <a:ext cx="5156774" cy="1042209"/>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HCP Reference Data: Latest Takeda HCP profiles, IQVIA Affiliations, and Komodo NPPES </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Provider-level demographic and affiliation data used to enrich the HCP universe with practice location, organizational affiliations, specialty, and territory context.</a:t>
            </a:r>
          </a:p>
        </p:txBody>
      </p:sp>
      <p:sp>
        <p:nvSpPr>
          <p:cNvPr id="15" name="Rectangle: Rounded Corners 14">
            <a:extLst>
              <a:ext uri="{FF2B5EF4-FFF2-40B4-BE49-F238E27FC236}">
                <a16:creationId xmlns:a16="http://schemas.microsoft.com/office/drawing/2014/main" id="{0335FE83-DE16-6346-61E7-B5BB04FF7177}"/>
              </a:ext>
            </a:extLst>
          </p:cNvPr>
          <p:cNvSpPr/>
          <p:nvPr/>
        </p:nvSpPr>
        <p:spPr>
          <a:xfrm>
            <a:off x="174351" y="4222448"/>
            <a:ext cx="5156774" cy="1042209"/>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Digital Engagement Data: AUXO HCP 360</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HCP activity and interactions across</a:t>
            </a:r>
            <a:r>
              <a:rPr lang="en-US" sz="1200" b="1" dirty="0">
                <a:solidFill>
                  <a:schemeClr val="tx1"/>
                </a:solidFill>
                <a:latin typeface="+mj-lt"/>
                <a:cs typeface="Arial" panose="020B0604020202020204" pitchFamily="34" charset="0"/>
              </a:rPr>
              <a:t> </a:t>
            </a:r>
            <a:r>
              <a:rPr lang="en-US" sz="1100" dirty="0">
                <a:solidFill>
                  <a:schemeClr val="tx1"/>
                </a:solidFill>
                <a:latin typeface="+mj-lt"/>
                <a:cs typeface="Arial" panose="020B0604020202020204" pitchFamily="34" charset="0"/>
              </a:rPr>
              <a:t>publications, conferences, clinical trials, payments, YouTube and, Twitter/social media to capture social influence, peer engagement and, KOL reach within the NT ecosystem.</a:t>
            </a:r>
          </a:p>
        </p:txBody>
      </p:sp>
      <p:sp>
        <p:nvSpPr>
          <p:cNvPr id="3" name="Rectangle 2">
            <a:extLst>
              <a:ext uri="{FF2B5EF4-FFF2-40B4-BE49-F238E27FC236}">
                <a16:creationId xmlns:a16="http://schemas.microsoft.com/office/drawing/2014/main" id="{ED2A5E42-FDBA-62C8-13DF-02DB976518C3}"/>
              </a:ext>
            </a:extLst>
          </p:cNvPr>
          <p:cNvSpPr/>
          <p:nvPr/>
        </p:nvSpPr>
        <p:spPr>
          <a:xfrm>
            <a:off x="6625680" y="1274684"/>
            <a:ext cx="5566320" cy="5291709"/>
          </a:xfrm>
          <a:prstGeom prst="rect">
            <a:avLst/>
          </a:prstGeom>
          <a:solidFill>
            <a:schemeClr val="accent1">
              <a:lumMod val="20000"/>
              <a:lumOff val="80000"/>
              <a:alpha val="30000"/>
            </a:schemeClr>
          </a:solidFill>
          <a:ln>
            <a:noFill/>
          </a:ln>
        </p:spPr>
        <p:txBody>
          <a:bodyPr wrap="square" lIns="457200" tIns="182880" rIns="72000" bIns="54000" rtlCol="0" anchor="t"/>
          <a:lstStyle/>
          <a:p>
            <a:pPr>
              <a:lnSpc>
                <a:spcPct val="110000"/>
              </a:lnSpc>
              <a:spcAft>
                <a:spcPts val="200"/>
              </a:spcAft>
            </a:pPr>
            <a:endParaRPr lang="en-US" sz="1400" b="1">
              <a:solidFill>
                <a:srgbClr val="34373F"/>
              </a:solidFill>
            </a:endParaRPr>
          </a:p>
        </p:txBody>
      </p:sp>
      <p:grpSp>
        <p:nvGrpSpPr>
          <p:cNvPr id="6" name="Group 5">
            <a:extLst>
              <a:ext uri="{FF2B5EF4-FFF2-40B4-BE49-F238E27FC236}">
                <a16:creationId xmlns:a16="http://schemas.microsoft.com/office/drawing/2014/main" id="{297D4326-56F4-2B90-CF75-C26622E2B85A}"/>
              </a:ext>
            </a:extLst>
          </p:cNvPr>
          <p:cNvGrpSpPr/>
          <p:nvPr/>
        </p:nvGrpSpPr>
        <p:grpSpPr>
          <a:xfrm>
            <a:off x="6625678" y="1045876"/>
            <a:ext cx="4896337" cy="449809"/>
            <a:chOff x="0" y="2140992"/>
            <a:chExt cx="2880042" cy="347181"/>
          </a:xfrm>
        </p:grpSpPr>
        <p:sp>
          <p:nvSpPr>
            <p:cNvPr id="12" name="TextBox 11">
              <a:extLst>
                <a:ext uri="{FF2B5EF4-FFF2-40B4-BE49-F238E27FC236}">
                  <a16:creationId xmlns:a16="http://schemas.microsoft.com/office/drawing/2014/main" id="{A5C5ECF0-4357-E74C-33BB-9D8FFF2DF275}"/>
                </a:ext>
              </a:extLst>
            </p:cNvPr>
            <p:cNvSpPr txBox="1"/>
            <p:nvPr/>
          </p:nvSpPr>
          <p:spPr>
            <a:xfrm>
              <a:off x="1760219" y="2140992"/>
              <a:ext cx="1119823" cy="347180"/>
            </a:xfrm>
            <a:prstGeom prst="parallelogram">
              <a:avLst/>
            </a:prstGeom>
            <a:gradFill>
              <a:gsLst>
                <a:gs pos="0">
                  <a:schemeClr val="bg2"/>
                </a:gs>
                <a:gs pos="33000">
                  <a:schemeClr val="accent1">
                    <a:lumMod val="7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720000"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endParaRPr lang="en-IN"/>
            </a:p>
          </p:txBody>
        </p:sp>
        <p:sp>
          <p:nvSpPr>
            <p:cNvPr id="13" name="TextBox 12">
              <a:extLst>
                <a:ext uri="{FF2B5EF4-FFF2-40B4-BE49-F238E27FC236}">
                  <a16:creationId xmlns:a16="http://schemas.microsoft.com/office/drawing/2014/main" id="{5790EE00-706D-A50C-0054-16A9FE527D09}"/>
                </a:ext>
              </a:extLst>
            </p:cNvPr>
            <p:cNvSpPr txBox="1"/>
            <p:nvPr/>
          </p:nvSpPr>
          <p:spPr>
            <a:xfrm>
              <a:off x="0" y="2140993"/>
              <a:ext cx="2545080" cy="347180"/>
            </a:xfrm>
            <a:prstGeom prst="rect">
              <a:avLst/>
            </a:prstGeom>
            <a:gradFill>
              <a:gsLst>
                <a:gs pos="0">
                  <a:schemeClr val="accent1"/>
                </a:gs>
                <a:gs pos="100000">
                  <a:schemeClr val="accent1">
                    <a:lumMod val="7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dirty="0"/>
                <a:t>Analytical Boundaries</a:t>
              </a:r>
              <a:endParaRPr lang="en-IN" dirty="0"/>
            </a:p>
          </p:txBody>
        </p:sp>
      </p:grpSp>
      <p:sp>
        <p:nvSpPr>
          <p:cNvPr id="17" name="Rectangle: Rounded Corners 16">
            <a:extLst>
              <a:ext uri="{FF2B5EF4-FFF2-40B4-BE49-F238E27FC236}">
                <a16:creationId xmlns:a16="http://schemas.microsoft.com/office/drawing/2014/main" id="{512F6888-ECDC-740C-EC2A-9948BBE37F9A}"/>
              </a:ext>
            </a:extLst>
          </p:cNvPr>
          <p:cNvSpPr/>
          <p:nvPr/>
        </p:nvSpPr>
        <p:spPr>
          <a:xfrm>
            <a:off x="6800031" y="1770848"/>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Only confirmed NT1/NT2 patients are included</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Patients must have at least two NT diagnoses recorded at least 90 days apart. This filters out incidental or erroneous coding and ensures the cohort reflects true narcolepsy cases.</a:t>
            </a:r>
          </a:p>
        </p:txBody>
      </p:sp>
      <p:sp>
        <p:nvSpPr>
          <p:cNvPr id="18" name="Rectangle: Rounded Corners 17">
            <a:extLst>
              <a:ext uri="{FF2B5EF4-FFF2-40B4-BE49-F238E27FC236}">
                <a16:creationId xmlns:a16="http://schemas.microsoft.com/office/drawing/2014/main" id="{1C4D7AB1-22FD-9149-2097-1FD0073371F0}"/>
              </a:ext>
            </a:extLst>
          </p:cNvPr>
          <p:cNvSpPr/>
          <p:nvPr/>
        </p:nvSpPr>
        <p:spPr>
          <a:xfrm>
            <a:off x="6800031" y="3717838"/>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Patients with consistent prior medical activity are retained </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Patients must show regular medical activity, irrespective of NT1 relevance, in the two years before diagnosis. This ensures data completeness and reduces the risk of incomplete claims records distorting the analysis.</a:t>
            </a:r>
          </a:p>
        </p:txBody>
      </p:sp>
      <p:sp>
        <p:nvSpPr>
          <p:cNvPr id="19" name="Rectangle: Rounded Corners 18">
            <a:extLst>
              <a:ext uri="{FF2B5EF4-FFF2-40B4-BE49-F238E27FC236}">
                <a16:creationId xmlns:a16="http://schemas.microsoft.com/office/drawing/2014/main" id="{1101D4BF-4F30-218F-A1DB-E00BAFA58502}"/>
              </a:ext>
            </a:extLst>
          </p:cNvPr>
          <p:cNvSpPr/>
          <p:nvPr/>
        </p:nvSpPr>
        <p:spPr>
          <a:xfrm>
            <a:off x="6800031" y="5664830"/>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Provider relationships are validated before entering the network</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A referral link between two HCPs is only included if they share more than one patient or if a clinically meaningful first event is recorded. This keeps the network grounded in sustained, intentional referral behavior.</a:t>
            </a:r>
          </a:p>
        </p:txBody>
      </p:sp>
      <p:sp>
        <p:nvSpPr>
          <p:cNvPr id="20" name="Rectangle: Rounded Corners 19">
            <a:extLst>
              <a:ext uri="{FF2B5EF4-FFF2-40B4-BE49-F238E27FC236}">
                <a16:creationId xmlns:a16="http://schemas.microsoft.com/office/drawing/2014/main" id="{CD595E1F-E9A1-0FDE-9727-B3125EBF492C}"/>
              </a:ext>
            </a:extLst>
          </p:cNvPr>
          <p:cNvSpPr/>
          <p:nvPr/>
        </p:nvSpPr>
        <p:spPr>
          <a:xfrm>
            <a:off x="6800031" y="2744343"/>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Focus is on adult, commercially relevant patients</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Only patients aged 18 and above are included, aligning with the anticipated </a:t>
            </a:r>
            <a:r>
              <a:rPr lang="en-US" sz="1100" dirty="0" err="1">
                <a:solidFill>
                  <a:schemeClr val="tx1"/>
                </a:solidFill>
                <a:latin typeface="+mj-lt"/>
                <a:cs typeface="Arial" panose="020B0604020202020204" pitchFamily="34" charset="0"/>
              </a:rPr>
              <a:t>oveporexton</a:t>
            </a:r>
            <a:r>
              <a:rPr lang="en-US" sz="1100" dirty="0">
                <a:solidFill>
                  <a:schemeClr val="tx1"/>
                </a:solidFill>
                <a:latin typeface="+mj-lt"/>
                <a:cs typeface="Arial" panose="020B0604020202020204" pitchFamily="34" charset="0"/>
              </a:rPr>
              <a:t> labeled population and ensuring commercial applicability.</a:t>
            </a:r>
          </a:p>
        </p:txBody>
      </p:sp>
      <p:sp>
        <p:nvSpPr>
          <p:cNvPr id="21" name="Rectangle: Rounded Corners 20">
            <a:extLst>
              <a:ext uri="{FF2B5EF4-FFF2-40B4-BE49-F238E27FC236}">
                <a16:creationId xmlns:a16="http://schemas.microsoft.com/office/drawing/2014/main" id="{0E399C7B-F964-A5BA-9FB1-B7EF44DB71F4}"/>
              </a:ext>
            </a:extLst>
          </p:cNvPr>
          <p:cNvSpPr/>
          <p:nvPr/>
        </p:nvSpPr>
        <p:spPr>
          <a:xfrm>
            <a:off x="6800031" y="4691333"/>
            <a:ext cx="5156774" cy="778001"/>
          </a:xfrm>
          <a:prstGeom prst="roundRect">
            <a:avLst>
              <a:gd name="adj" fmla="val 88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Only true care transitions count as referrals</a:t>
            </a:r>
            <a:br>
              <a:rPr lang="en-US" sz="1200" b="1" dirty="0">
                <a:solidFill>
                  <a:schemeClr val="tx1"/>
                </a:solidFill>
                <a:latin typeface="+mj-lt"/>
                <a:cs typeface="Arial" panose="020B0604020202020204" pitchFamily="34" charset="0"/>
              </a:rPr>
            </a:br>
            <a:r>
              <a:rPr lang="en-US" sz="1100" dirty="0" err="1">
                <a:solidFill>
                  <a:schemeClr val="tx1"/>
                </a:solidFill>
                <a:latin typeface="+mj-lt"/>
                <a:cs typeface="Arial" panose="020B0604020202020204" pitchFamily="34" charset="0"/>
              </a:rPr>
              <a:t>Referrals</a:t>
            </a:r>
            <a:r>
              <a:rPr lang="en-US" sz="1100" dirty="0">
                <a:solidFill>
                  <a:schemeClr val="tx1"/>
                </a:solidFill>
                <a:latin typeface="+mj-lt"/>
                <a:cs typeface="Arial" panose="020B0604020202020204" pitchFamily="34" charset="0"/>
              </a:rPr>
              <a:t> are defined as meaningful clinical handoffs like a specialty escalation, a first diagnosis, or a treatment initiation. Routine follow-ups and repeat encounters are excluded to avoid inflating referral volumes with noise.</a:t>
            </a:r>
          </a:p>
        </p:txBody>
      </p:sp>
      <p:grpSp>
        <p:nvGrpSpPr>
          <p:cNvPr id="24" name="Group 23">
            <a:extLst>
              <a:ext uri="{FF2B5EF4-FFF2-40B4-BE49-F238E27FC236}">
                <a16:creationId xmlns:a16="http://schemas.microsoft.com/office/drawing/2014/main" id="{703FFD88-91D2-A9D9-C0BE-750CBD0F1E3D}"/>
              </a:ext>
            </a:extLst>
          </p:cNvPr>
          <p:cNvGrpSpPr/>
          <p:nvPr/>
        </p:nvGrpSpPr>
        <p:grpSpPr>
          <a:xfrm>
            <a:off x="174350" y="5528896"/>
            <a:ext cx="5391969" cy="1042209"/>
            <a:chOff x="174350" y="5528896"/>
            <a:chExt cx="5391969" cy="1042209"/>
          </a:xfrm>
        </p:grpSpPr>
        <p:sp>
          <p:nvSpPr>
            <p:cNvPr id="22" name="Rectangle: Rounded Corners 21">
              <a:extLst>
                <a:ext uri="{FF2B5EF4-FFF2-40B4-BE49-F238E27FC236}">
                  <a16:creationId xmlns:a16="http://schemas.microsoft.com/office/drawing/2014/main" id="{0BAE03A0-0D49-590A-9E6A-A73E03B9529B}"/>
                </a:ext>
              </a:extLst>
            </p:cNvPr>
            <p:cNvSpPr/>
            <p:nvPr/>
          </p:nvSpPr>
          <p:spPr>
            <a:xfrm>
              <a:off x="174350" y="5528896"/>
              <a:ext cx="5391969" cy="1042209"/>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72000" rIns="72000" bIns="72000" rtlCol="0" anchor="ctr"/>
            <a:lstStyle/>
            <a:p>
              <a:pPr>
                <a:spcBef>
                  <a:spcPts val="200"/>
                </a:spcBef>
                <a:spcAft>
                  <a:spcPts val="200"/>
                </a:spcAft>
              </a:pPr>
              <a:r>
                <a:rPr lang="en-US" sz="1200" b="1" dirty="0">
                  <a:solidFill>
                    <a:schemeClr val="tx1"/>
                  </a:solidFill>
                  <a:latin typeface="+mj-lt"/>
                  <a:cs typeface="Arial" panose="020B0604020202020204" pitchFamily="34" charset="0"/>
                </a:rPr>
                <a:t>Observation window</a:t>
              </a:r>
            </a:p>
            <a:p>
              <a:pPr marL="171450" indent="-171450">
                <a:spcBef>
                  <a:spcPts val="200"/>
                </a:spcBef>
                <a:spcAft>
                  <a:spcPts val="200"/>
                </a:spcAft>
                <a:buFont typeface="Arial" panose="020B0604020202020204" pitchFamily="34" charset="0"/>
                <a:buChar char="•"/>
              </a:pPr>
              <a:r>
                <a:rPr lang="en-US" sz="1100" dirty="0">
                  <a:solidFill>
                    <a:schemeClr val="tx1"/>
                  </a:solidFill>
                  <a:latin typeface="+mj-lt"/>
                  <a:cs typeface="Arial" panose="020B0604020202020204" pitchFamily="34" charset="0"/>
                </a:rPr>
                <a:t>First NT Dx window: 2022–2025</a:t>
              </a:r>
            </a:p>
            <a:p>
              <a:pPr marL="171450" indent="-171450">
                <a:spcBef>
                  <a:spcPts val="200"/>
                </a:spcBef>
                <a:spcAft>
                  <a:spcPts val="200"/>
                </a:spcAft>
                <a:buFont typeface="Arial" panose="020B0604020202020204" pitchFamily="34" charset="0"/>
                <a:buChar char="•"/>
              </a:pPr>
              <a:r>
                <a:rPr lang="en-US" sz="1100" dirty="0">
                  <a:solidFill>
                    <a:schemeClr val="tx1"/>
                  </a:solidFill>
                  <a:latin typeface="+mj-lt"/>
                  <a:cs typeface="Arial" panose="020B0604020202020204" pitchFamily="34" charset="0"/>
                </a:rPr>
                <a:t>6-year pre-diagnosis lookback from each patient's first NT diagnosis, plus complete post-diagnosis journey till Jan’26, ensuring the full care pathway is captured within Komodo.</a:t>
              </a:r>
            </a:p>
          </p:txBody>
        </p:sp>
        <p:sp>
          <p:nvSpPr>
            <p:cNvPr id="23" name="InsightsHeader">
              <a:extLst>
                <a:ext uri="{FF2B5EF4-FFF2-40B4-BE49-F238E27FC236}">
                  <a16:creationId xmlns:a16="http://schemas.microsoft.com/office/drawing/2014/main" id="{777BD928-EB1D-287B-709F-6AF9A3B6694A}"/>
                </a:ext>
              </a:extLst>
            </p:cNvPr>
            <p:cNvSpPr txBox="1"/>
            <p:nvPr/>
          </p:nvSpPr>
          <p:spPr>
            <a:xfrm>
              <a:off x="174351" y="5528896"/>
              <a:ext cx="136799" cy="1037497"/>
            </a:xfrm>
            <a:prstGeom prst="rect">
              <a:avLst/>
            </a:prstGeom>
            <a:gradFill flip="none" rotWithShape="1">
              <a:gsLst>
                <a:gs pos="0">
                  <a:schemeClr val="tx1">
                    <a:lumMod val="60000"/>
                    <a:lumOff val="40000"/>
                  </a:schemeClr>
                </a:gs>
                <a:gs pos="100000">
                  <a:schemeClr val="tx1"/>
                </a:gs>
              </a:gsLst>
              <a:lin ang="5400000" scaled="1"/>
              <a:tileRect/>
            </a:gradFill>
            <a:ln>
              <a:noFill/>
            </a:ln>
          </p:spPr>
          <p:txBody>
            <a:bodyPr lIns="180000" rtlCol="0" anchor="ct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Calibri" panose="020F0502020204030204"/>
                </a:defRPr>
              </a:lvl1pPr>
            </a:lstStyle>
            <a:p>
              <a:endParaRPr lang="en-US" dirty="0"/>
            </a:p>
          </p:txBody>
        </p:sp>
      </p:grpSp>
    </p:spTree>
    <p:extLst>
      <p:ext uri="{BB962C8B-B14F-4D97-AF65-F5344CB8AC3E}">
        <p14:creationId xmlns:p14="http://schemas.microsoft.com/office/powerpoint/2010/main" val="32641375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E3507-9B98-9695-008B-487C4EABE0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A547AE-AB97-782E-E2D5-CB95EE167CD2}"/>
              </a:ext>
            </a:extLst>
          </p:cNvPr>
          <p:cNvSpPr>
            <a:spLocks noGrp="1"/>
          </p:cNvSpPr>
          <p:nvPr>
            <p:ph type="sldNum" sz="quarter" idx="4"/>
          </p:nvPr>
        </p:nvSpPr>
        <p:spPr/>
        <p:txBody>
          <a:bodyPr/>
          <a:lstStyle/>
          <a:p>
            <a:fld id="{4B88BF55-9D8F-47B8-9CAA-91D4F95E55A3}" type="slidenum">
              <a:rPr lang="en-US" smtClean="0"/>
              <a:t>5</a:t>
            </a:fld>
            <a:endParaRPr lang="en-US"/>
          </a:p>
        </p:txBody>
      </p:sp>
      <p:sp>
        <p:nvSpPr>
          <p:cNvPr id="16" name="Rectangle 15">
            <a:extLst>
              <a:ext uri="{FF2B5EF4-FFF2-40B4-BE49-F238E27FC236}">
                <a16:creationId xmlns:a16="http://schemas.microsoft.com/office/drawing/2014/main" id="{B50A013B-231A-0672-27C8-DA0DD03D6532}"/>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dirty="0"/>
              <a:t>Analytical methodology</a:t>
            </a:r>
            <a:endParaRPr kumimoji="1" lang="en-US" sz="2000" i="1" dirty="0"/>
          </a:p>
        </p:txBody>
      </p:sp>
      <p:sp>
        <p:nvSpPr>
          <p:cNvPr id="41" name="Arrow: Pentagon 40">
            <a:extLst>
              <a:ext uri="{FF2B5EF4-FFF2-40B4-BE49-F238E27FC236}">
                <a16:creationId xmlns:a16="http://schemas.microsoft.com/office/drawing/2014/main" id="{604887C3-2DAF-AE7D-1B5E-A5C1C6F2CF7E}"/>
              </a:ext>
            </a:extLst>
          </p:cNvPr>
          <p:cNvSpPr/>
          <p:nvPr/>
        </p:nvSpPr>
        <p:spPr>
          <a:xfrm>
            <a:off x="0" y="-1112"/>
            <a:ext cx="759229" cy="139224"/>
          </a:xfrm>
          <a:prstGeom prst="homePlate">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Background </a:t>
            </a:r>
            <a:r>
              <a:rPr kumimoji="1" lang="en-US" sz="600">
                <a:solidFill>
                  <a:schemeClr val="bg1">
                    <a:lumMod val="50000"/>
                  </a:schemeClr>
                </a:solidFill>
              </a:rPr>
              <a:t>&amp; Objective</a:t>
            </a:r>
            <a:endParaRPr kumimoji="1" lang="en-IN" sz="600" dirty="0">
              <a:solidFill>
                <a:schemeClr val="bg1">
                  <a:lumMod val="50000"/>
                </a:schemeClr>
              </a:solidFill>
            </a:endParaRPr>
          </a:p>
        </p:txBody>
      </p:sp>
      <p:sp>
        <p:nvSpPr>
          <p:cNvPr id="42" name="Arrow: Chevron 41">
            <a:extLst>
              <a:ext uri="{FF2B5EF4-FFF2-40B4-BE49-F238E27FC236}">
                <a16:creationId xmlns:a16="http://schemas.microsoft.com/office/drawing/2014/main" id="{2BA0B745-12C2-47BA-A18A-F2B709C345A1}"/>
              </a:ext>
            </a:extLst>
          </p:cNvPr>
          <p:cNvSpPr/>
          <p:nvPr/>
        </p:nvSpPr>
        <p:spPr>
          <a:xfrm>
            <a:off x="709347"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a:solidFill>
                  <a:schemeClr val="bg1">
                    <a:lumMod val="50000"/>
                  </a:schemeClr>
                </a:solidFill>
              </a:rPr>
              <a:t>Analysis Foundation</a:t>
            </a:r>
            <a:endParaRPr kumimoji="1" lang="en-IN" sz="600" dirty="0">
              <a:solidFill>
                <a:schemeClr val="bg1">
                  <a:lumMod val="50000"/>
                </a:schemeClr>
              </a:solidFill>
            </a:endParaRPr>
          </a:p>
        </p:txBody>
      </p:sp>
      <p:sp>
        <p:nvSpPr>
          <p:cNvPr id="43" name="Arrow: Chevron 42">
            <a:extLst>
              <a:ext uri="{FF2B5EF4-FFF2-40B4-BE49-F238E27FC236}">
                <a16:creationId xmlns:a16="http://schemas.microsoft.com/office/drawing/2014/main" id="{D902EBBF-4AEB-015B-961F-3DB2A687E731}"/>
              </a:ext>
            </a:extLst>
          </p:cNvPr>
          <p:cNvSpPr/>
          <p:nvPr/>
        </p:nvSpPr>
        <p:spPr>
          <a:xfrm>
            <a:off x="1418694" y="-1112"/>
            <a:ext cx="759229" cy="139224"/>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solidFill>
              </a:rPr>
              <a:t>Methodology</a:t>
            </a:r>
            <a:endParaRPr kumimoji="1" lang="en-IN" sz="600" dirty="0">
              <a:solidFill>
                <a:schemeClr val="bg1"/>
              </a:solidFill>
            </a:endParaRPr>
          </a:p>
        </p:txBody>
      </p:sp>
      <p:sp>
        <p:nvSpPr>
          <p:cNvPr id="44" name="Arrow: Chevron 43">
            <a:extLst>
              <a:ext uri="{FF2B5EF4-FFF2-40B4-BE49-F238E27FC236}">
                <a16:creationId xmlns:a16="http://schemas.microsoft.com/office/drawing/2014/main" id="{AE76C062-E633-2CC9-992E-84A514437AE8}"/>
              </a:ext>
            </a:extLst>
          </p:cNvPr>
          <p:cNvSpPr/>
          <p:nvPr/>
        </p:nvSpPr>
        <p:spPr>
          <a:xfrm>
            <a:off x="2128041"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a:solidFill>
                  <a:schemeClr val="bg1">
                    <a:lumMod val="50000"/>
                  </a:schemeClr>
                </a:solidFill>
              </a:rPr>
              <a:t>Executive Summary</a:t>
            </a:r>
            <a:endParaRPr kumimoji="1" lang="en-IN" sz="600" dirty="0">
              <a:solidFill>
                <a:schemeClr val="bg1">
                  <a:lumMod val="50000"/>
                </a:schemeClr>
              </a:solidFill>
            </a:endParaRPr>
          </a:p>
        </p:txBody>
      </p:sp>
      <p:grpSp>
        <p:nvGrpSpPr>
          <p:cNvPr id="29" name="Graphic 570">
            <a:extLst>
              <a:ext uri="{FF2B5EF4-FFF2-40B4-BE49-F238E27FC236}">
                <a16:creationId xmlns:a16="http://schemas.microsoft.com/office/drawing/2014/main" id="{7E350771-4AB7-468C-A349-C7B63A43F355}"/>
              </a:ext>
            </a:extLst>
          </p:cNvPr>
          <p:cNvGrpSpPr>
            <a:grpSpLocks noChangeAspect="1"/>
          </p:cNvGrpSpPr>
          <p:nvPr/>
        </p:nvGrpSpPr>
        <p:grpSpPr>
          <a:xfrm>
            <a:off x="496590" y="191407"/>
            <a:ext cx="512409" cy="544883"/>
            <a:chOff x="5924645" y="3248025"/>
            <a:chExt cx="344995" cy="359949"/>
          </a:xfrm>
          <a:solidFill>
            <a:srgbClr val="2A3588"/>
          </a:solidFill>
        </p:grpSpPr>
        <p:sp>
          <p:nvSpPr>
            <p:cNvPr id="30" name="Freeform: Shape 29">
              <a:extLst>
                <a:ext uri="{FF2B5EF4-FFF2-40B4-BE49-F238E27FC236}">
                  <a16:creationId xmlns:a16="http://schemas.microsoft.com/office/drawing/2014/main" id="{D60D858B-F42A-13B1-0DA5-8D8B7ABCFCEB}"/>
                </a:ext>
              </a:extLst>
            </p:cNvPr>
            <p:cNvSpPr/>
            <p:nvPr/>
          </p:nvSpPr>
          <p:spPr>
            <a:xfrm>
              <a:off x="6148589" y="3248025"/>
              <a:ext cx="121051" cy="136016"/>
            </a:xfrm>
            <a:custGeom>
              <a:avLst/>
              <a:gdLst>
                <a:gd name="connsiteX0" fmla="*/ 69902 w 121051"/>
                <a:gd name="connsiteY0" fmla="*/ 65723 h 136016"/>
                <a:gd name="connsiteX1" fmla="*/ 86380 w 121051"/>
                <a:gd name="connsiteY1" fmla="*/ 70295 h 136016"/>
                <a:gd name="connsiteX2" fmla="*/ 121051 w 121051"/>
                <a:gd name="connsiteY2" fmla="*/ 35433 h 136016"/>
                <a:gd name="connsiteX3" fmla="*/ 86380 w 121051"/>
                <a:gd name="connsiteY3" fmla="*/ 0 h 136016"/>
                <a:gd name="connsiteX4" fmla="*/ 51709 w 121051"/>
                <a:gd name="connsiteY4" fmla="*/ 34862 h 136016"/>
                <a:gd name="connsiteX5" fmla="*/ 59139 w 121051"/>
                <a:gd name="connsiteY5" fmla="*/ 56007 h 136016"/>
                <a:gd name="connsiteX6" fmla="*/ 59710 w 121051"/>
                <a:gd name="connsiteY6" fmla="*/ 56769 h 136016"/>
                <a:gd name="connsiteX7" fmla="*/ 59044 w 121051"/>
                <a:gd name="connsiteY7" fmla="*/ 57531 h 136016"/>
                <a:gd name="connsiteX8" fmla="*/ 1417 w 121051"/>
                <a:gd name="connsiteY8" fmla="*/ 125540 h 136016"/>
                <a:gd name="connsiteX9" fmla="*/ 1894 w 121051"/>
                <a:gd name="connsiteY9" fmla="*/ 134588 h 136016"/>
                <a:gd name="connsiteX10" fmla="*/ 5799 w 121051"/>
                <a:gd name="connsiteY10" fmla="*/ 136017 h 136016"/>
                <a:gd name="connsiteX11" fmla="*/ 10847 w 121051"/>
                <a:gd name="connsiteY11" fmla="*/ 134017 h 136016"/>
                <a:gd name="connsiteX12" fmla="*/ 69045 w 121051"/>
                <a:gd name="connsiteY12" fmla="*/ 65342 h 136016"/>
                <a:gd name="connsiteX13" fmla="*/ 69902 w 121051"/>
                <a:gd name="connsiteY13" fmla="*/ 65818 h 136016"/>
                <a:gd name="connsiteX14" fmla="*/ 86380 w 121051"/>
                <a:gd name="connsiteY14" fmla="*/ 12383 h 136016"/>
                <a:gd name="connsiteX15" fmla="*/ 108764 w 121051"/>
                <a:gd name="connsiteY15" fmla="*/ 34862 h 136016"/>
                <a:gd name="connsiteX16" fmla="*/ 102954 w 121051"/>
                <a:gd name="connsiteY16" fmla="*/ 50292 h 136016"/>
                <a:gd name="connsiteX17" fmla="*/ 86380 w 121051"/>
                <a:gd name="connsiteY17" fmla="*/ 57341 h 136016"/>
                <a:gd name="connsiteX18" fmla="*/ 63997 w 121051"/>
                <a:gd name="connsiteY18" fmla="*/ 34862 h 136016"/>
                <a:gd name="connsiteX19" fmla="*/ 86380 w 121051"/>
                <a:gd name="connsiteY19" fmla="*/ 12383 h 13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051" h="136016">
                  <a:moveTo>
                    <a:pt x="69902" y="65723"/>
                  </a:moveTo>
                  <a:cubicBezTo>
                    <a:pt x="75236" y="68675"/>
                    <a:pt x="80951" y="70295"/>
                    <a:pt x="86380" y="70295"/>
                  </a:cubicBezTo>
                  <a:cubicBezTo>
                    <a:pt x="105526" y="70295"/>
                    <a:pt x="121051" y="54673"/>
                    <a:pt x="121051" y="35433"/>
                  </a:cubicBezTo>
                  <a:cubicBezTo>
                    <a:pt x="121051" y="16193"/>
                    <a:pt x="105145" y="0"/>
                    <a:pt x="86380" y="0"/>
                  </a:cubicBezTo>
                  <a:cubicBezTo>
                    <a:pt x="67616" y="0"/>
                    <a:pt x="51709" y="15621"/>
                    <a:pt x="51709" y="34862"/>
                  </a:cubicBezTo>
                  <a:cubicBezTo>
                    <a:pt x="51709" y="42482"/>
                    <a:pt x="54376" y="50006"/>
                    <a:pt x="59139" y="56007"/>
                  </a:cubicBezTo>
                  <a:lnTo>
                    <a:pt x="59710" y="56769"/>
                  </a:lnTo>
                  <a:lnTo>
                    <a:pt x="59044" y="57531"/>
                  </a:lnTo>
                  <a:lnTo>
                    <a:pt x="1417" y="125540"/>
                  </a:lnTo>
                  <a:cubicBezTo>
                    <a:pt x="-678" y="128111"/>
                    <a:pt x="-392" y="132207"/>
                    <a:pt x="1894" y="134588"/>
                  </a:cubicBezTo>
                  <a:cubicBezTo>
                    <a:pt x="2751" y="135446"/>
                    <a:pt x="4180" y="136017"/>
                    <a:pt x="5799" y="136017"/>
                  </a:cubicBezTo>
                  <a:cubicBezTo>
                    <a:pt x="7990" y="136017"/>
                    <a:pt x="9418" y="135446"/>
                    <a:pt x="10847" y="134017"/>
                  </a:cubicBezTo>
                  <a:lnTo>
                    <a:pt x="69045" y="65342"/>
                  </a:lnTo>
                  <a:lnTo>
                    <a:pt x="69902" y="65818"/>
                  </a:lnTo>
                  <a:close/>
                  <a:moveTo>
                    <a:pt x="86380" y="12383"/>
                  </a:moveTo>
                  <a:cubicBezTo>
                    <a:pt x="98668" y="12383"/>
                    <a:pt x="108764" y="22479"/>
                    <a:pt x="108764" y="34862"/>
                  </a:cubicBezTo>
                  <a:cubicBezTo>
                    <a:pt x="109050" y="40577"/>
                    <a:pt x="106954" y="46006"/>
                    <a:pt x="102954" y="50292"/>
                  </a:cubicBezTo>
                  <a:cubicBezTo>
                    <a:pt x="98668" y="54769"/>
                    <a:pt x="92667" y="57341"/>
                    <a:pt x="86380" y="57341"/>
                  </a:cubicBezTo>
                  <a:cubicBezTo>
                    <a:pt x="74093" y="57341"/>
                    <a:pt x="63997" y="47244"/>
                    <a:pt x="63997" y="34862"/>
                  </a:cubicBezTo>
                  <a:cubicBezTo>
                    <a:pt x="63997" y="22479"/>
                    <a:pt x="73998" y="12383"/>
                    <a:pt x="86380" y="12383"/>
                  </a:cubicBez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sp>
          <p:nvSpPr>
            <p:cNvPr id="31" name="Freeform: Shape 30">
              <a:extLst>
                <a:ext uri="{FF2B5EF4-FFF2-40B4-BE49-F238E27FC236}">
                  <a16:creationId xmlns:a16="http://schemas.microsoft.com/office/drawing/2014/main" id="{D3E62CF0-CB0F-6393-EA9B-C283FFD8EED6}"/>
                </a:ext>
              </a:extLst>
            </p:cNvPr>
            <p:cNvSpPr/>
            <p:nvPr/>
          </p:nvSpPr>
          <p:spPr>
            <a:xfrm>
              <a:off x="5924645" y="3292601"/>
              <a:ext cx="83460" cy="87915"/>
            </a:xfrm>
            <a:custGeom>
              <a:avLst/>
              <a:gdLst>
                <a:gd name="connsiteX0" fmla="*/ 81820 w 83460"/>
                <a:gd name="connsiteY0" fmla="*/ 77343 h 87915"/>
                <a:gd name="connsiteX1" fmla="*/ 63056 w 83460"/>
                <a:gd name="connsiteY1" fmla="*/ 56483 h 87915"/>
                <a:gd name="connsiteX2" fmla="*/ 63627 w 83460"/>
                <a:gd name="connsiteY2" fmla="*/ 55721 h 87915"/>
                <a:gd name="connsiteX3" fmla="*/ 69914 w 83460"/>
                <a:gd name="connsiteY3" fmla="*/ 35052 h 87915"/>
                <a:gd name="connsiteX4" fmla="*/ 35243 w 83460"/>
                <a:gd name="connsiteY4" fmla="*/ 0 h 87915"/>
                <a:gd name="connsiteX5" fmla="*/ 0 w 83460"/>
                <a:gd name="connsiteY5" fmla="*/ 35052 h 87915"/>
                <a:gd name="connsiteX6" fmla="*/ 34671 w 83460"/>
                <a:gd name="connsiteY6" fmla="*/ 70104 h 87915"/>
                <a:gd name="connsiteX7" fmla="*/ 52864 w 83460"/>
                <a:gd name="connsiteY7" fmla="*/ 64961 h 87915"/>
                <a:gd name="connsiteX8" fmla="*/ 53721 w 83460"/>
                <a:gd name="connsiteY8" fmla="*/ 64484 h 87915"/>
                <a:gd name="connsiteX9" fmla="*/ 73343 w 83460"/>
                <a:gd name="connsiteY9" fmla="*/ 86106 h 87915"/>
                <a:gd name="connsiteX10" fmla="*/ 77629 w 83460"/>
                <a:gd name="connsiteY10" fmla="*/ 87916 h 87915"/>
                <a:gd name="connsiteX11" fmla="*/ 81534 w 83460"/>
                <a:gd name="connsiteY11" fmla="*/ 86487 h 87915"/>
                <a:gd name="connsiteX12" fmla="*/ 82010 w 83460"/>
                <a:gd name="connsiteY12" fmla="*/ 77343 h 87915"/>
                <a:gd name="connsiteX13" fmla="*/ 50768 w 83460"/>
                <a:gd name="connsiteY13" fmla="*/ 50673 h 87915"/>
                <a:gd name="connsiteX14" fmla="*/ 50387 w 83460"/>
                <a:gd name="connsiteY14" fmla="*/ 51054 h 87915"/>
                <a:gd name="connsiteX15" fmla="*/ 49816 w 83460"/>
                <a:gd name="connsiteY15" fmla="*/ 51054 h 87915"/>
                <a:gd name="connsiteX16" fmla="*/ 49435 w 83460"/>
                <a:gd name="connsiteY16" fmla="*/ 51340 h 87915"/>
                <a:gd name="connsiteX17" fmla="*/ 48292 w 83460"/>
                <a:gd name="connsiteY17" fmla="*/ 52483 h 87915"/>
                <a:gd name="connsiteX18" fmla="*/ 33909 w 83460"/>
                <a:gd name="connsiteY18" fmla="*/ 57626 h 87915"/>
                <a:gd name="connsiteX19" fmla="*/ 32957 w 83460"/>
                <a:gd name="connsiteY19" fmla="*/ 57626 h 87915"/>
                <a:gd name="connsiteX20" fmla="*/ 19431 w 83460"/>
                <a:gd name="connsiteY20" fmla="*/ 51911 h 87915"/>
                <a:gd name="connsiteX21" fmla="*/ 12097 w 83460"/>
                <a:gd name="connsiteY21" fmla="*/ 35052 h 87915"/>
                <a:gd name="connsiteX22" fmla="*/ 34481 w 83460"/>
                <a:gd name="connsiteY22" fmla="*/ 12478 h 87915"/>
                <a:gd name="connsiteX23" fmla="*/ 56864 w 83460"/>
                <a:gd name="connsiteY23" fmla="*/ 35052 h 87915"/>
                <a:gd name="connsiteX24" fmla="*/ 50673 w 83460"/>
                <a:gd name="connsiteY24" fmla="*/ 50673 h 8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3460" h="87915">
                  <a:moveTo>
                    <a:pt x="81820" y="77343"/>
                  </a:moveTo>
                  <a:lnTo>
                    <a:pt x="63056" y="56483"/>
                  </a:lnTo>
                  <a:lnTo>
                    <a:pt x="63627" y="55721"/>
                  </a:lnTo>
                  <a:cubicBezTo>
                    <a:pt x="67818" y="49720"/>
                    <a:pt x="69914" y="42767"/>
                    <a:pt x="69914" y="35052"/>
                  </a:cubicBezTo>
                  <a:cubicBezTo>
                    <a:pt x="69914" y="15716"/>
                    <a:pt x="54388" y="0"/>
                    <a:pt x="35243" y="0"/>
                  </a:cubicBezTo>
                  <a:cubicBezTo>
                    <a:pt x="16097" y="0"/>
                    <a:pt x="0" y="16383"/>
                    <a:pt x="0" y="35052"/>
                  </a:cubicBezTo>
                  <a:cubicBezTo>
                    <a:pt x="0" y="53721"/>
                    <a:pt x="15907" y="70104"/>
                    <a:pt x="34671" y="70104"/>
                  </a:cubicBezTo>
                  <a:cubicBezTo>
                    <a:pt x="41339" y="70104"/>
                    <a:pt x="46958" y="68485"/>
                    <a:pt x="52864" y="64961"/>
                  </a:cubicBezTo>
                  <a:lnTo>
                    <a:pt x="53721" y="64484"/>
                  </a:lnTo>
                  <a:lnTo>
                    <a:pt x="73343" y="86106"/>
                  </a:lnTo>
                  <a:cubicBezTo>
                    <a:pt x="74200" y="87440"/>
                    <a:pt x="76105" y="87916"/>
                    <a:pt x="77629" y="87916"/>
                  </a:cubicBezTo>
                  <a:cubicBezTo>
                    <a:pt x="79153" y="87916"/>
                    <a:pt x="80582" y="87440"/>
                    <a:pt x="81534" y="86487"/>
                  </a:cubicBezTo>
                  <a:cubicBezTo>
                    <a:pt x="83915" y="84106"/>
                    <a:pt x="84106" y="80010"/>
                    <a:pt x="82010" y="77343"/>
                  </a:cubicBezTo>
                  <a:close/>
                  <a:moveTo>
                    <a:pt x="50768" y="50673"/>
                  </a:moveTo>
                  <a:lnTo>
                    <a:pt x="50387" y="51054"/>
                  </a:lnTo>
                  <a:lnTo>
                    <a:pt x="49816" y="51054"/>
                  </a:lnTo>
                  <a:cubicBezTo>
                    <a:pt x="49816" y="51054"/>
                    <a:pt x="49625" y="51149"/>
                    <a:pt x="49435" y="51340"/>
                  </a:cubicBezTo>
                  <a:lnTo>
                    <a:pt x="48292" y="52483"/>
                  </a:lnTo>
                  <a:cubicBezTo>
                    <a:pt x="44387" y="55817"/>
                    <a:pt x="39243" y="57626"/>
                    <a:pt x="33909" y="57626"/>
                  </a:cubicBezTo>
                  <a:cubicBezTo>
                    <a:pt x="33623" y="57626"/>
                    <a:pt x="33338" y="57626"/>
                    <a:pt x="32957" y="57626"/>
                  </a:cubicBezTo>
                  <a:cubicBezTo>
                    <a:pt x="28194" y="57626"/>
                    <a:pt x="23336" y="55626"/>
                    <a:pt x="19431" y="51911"/>
                  </a:cubicBezTo>
                  <a:cubicBezTo>
                    <a:pt x="14764" y="47530"/>
                    <a:pt x="12097" y="41339"/>
                    <a:pt x="12097" y="35052"/>
                  </a:cubicBezTo>
                  <a:cubicBezTo>
                    <a:pt x="12097" y="22574"/>
                    <a:pt x="22098" y="12478"/>
                    <a:pt x="34481" y="12478"/>
                  </a:cubicBezTo>
                  <a:cubicBezTo>
                    <a:pt x="46863" y="12478"/>
                    <a:pt x="56864" y="22574"/>
                    <a:pt x="56864" y="35052"/>
                  </a:cubicBezTo>
                  <a:cubicBezTo>
                    <a:pt x="56864" y="40672"/>
                    <a:pt x="54864" y="45815"/>
                    <a:pt x="50673" y="50673"/>
                  </a:cubicBez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sp>
          <p:nvSpPr>
            <p:cNvPr id="32" name="Freeform: Shape 31">
              <a:extLst>
                <a:ext uri="{FF2B5EF4-FFF2-40B4-BE49-F238E27FC236}">
                  <a16:creationId xmlns:a16="http://schemas.microsoft.com/office/drawing/2014/main" id="{616B1EB0-B5EA-B3E5-16E4-EDAF59A3DA0A}"/>
                </a:ext>
              </a:extLst>
            </p:cNvPr>
            <p:cNvSpPr/>
            <p:nvPr/>
          </p:nvSpPr>
          <p:spPr>
            <a:xfrm>
              <a:off x="6034342" y="3408997"/>
              <a:ext cx="89030" cy="84391"/>
            </a:xfrm>
            <a:custGeom>
              <a:avLst/>
              <a:gdLst>
                <a:gd name="connsiteX0" fmla="*/ 87089 w 89030"/>
                <a:gd name="connsiteY0" fmla="*/ 6858 h 84391"/>
                <a:gd name="connsiteX1" fmla="*/ 78231 w 89030"/>
                <a:gd name="connsiteY1" fmla="*/ 7430 h 84391"/>
                <a:gd name="connsiteX2" fmla="*/ 65182 w 89030"/>
                <a:gd name="connsiteY2" fmla="*/ 22384 h 84391"/>
                <a:gd name="connsiteX3" fmla="*/ 64325 w 89030"/>
                <a:gd name="connsiteY3" fmla="*/ 21622 h 84391"/>
                <a:gd name="connsiteX4" fmla="*/ 43370 w 89030"/>
                <a:gd name="connsiteY4" fmla="*/ 14764 h 84391"/>
                <a:gd name="connsiteX5" fmla="*/ 27463 w 89030"/>
                <a:gd name="connsiteY5" fmla="*/ 18764 h 84391"/>
                <a:gd name="connsiteX6" fmla="*/ 26701 w 89030"/>
                <a:gd name="connsiteY6" fmla="*/ 19145 h 84391"/>
                <a:gd name="connsiteX7" fmla="*/ 10794 w 89030"/>
                <a:gd name="connsiteY7" fmla="*/ 1905 h 84391"/>
                <a:gd name="connsiteX8" fmla="*/ 6032 w 89030"/>
                <a:gd name="connsiteY8" fmla="*/ 0 h 84391"/>
                <a:gd name="connsiteX9" fmla="*/ 1841 w 89030"/>
                <a:gd name="connsiteY9" fmla="*/ 1429 h 84391"/>
                <a:gd name="connsiteX10" fmla="*/ 1460 w 89030"/>
                <a:gd name="connsiteY10" fmla="*/ 10382 h 84391"/>
                <a:gd name="connsiteX11" fmla="*/ 16795 w 89030"/>
                <a:gd name="connsiteY11" fmla="*/ 27051 h 84391"/>
                <a:gd name="connsiteX12" fmla="*/ 16128 w 89030"/>
                <a:gd name="connsiteY12" fmla="*/ 27813 h 84391"/>
                <a:gd name="connsiteX13" fmla="*/ 8222 w 89030"/>
                <a:gd name="connsiteY13" fmla="*/ 49530 h 84391"/>
                <a:gd name="connsiteX14" fmla="*/ 42798 w 89030"/>
                <a:gd name="connsiteY14" fmla="*/ 84392 h 84391"/>
                <a:gd name="connsiteX15" fmla="*/ 77374 w 89030"/>
                <a:gd name="connsiteY15" fmla="*/ 49530 h 84391"/>
                <a:gd name="connsiteX16" fmla="*/ 72802 w 89030"/>
                <a:gd name="connsiteY16" fmla="*/ 32385 h 84391"/>
                <a:gd name="connsiteX17" fmla="*/ 72421 w 89030"/>
                <a:gd name="connsiteY17" fmla="*/ 31623 h 84391"/>
                <a:gd name="connsiteX18" fmla="*/ 72992 w 89030"/>
                <a:gd name="connsiteY18" fmla="*/ 30956 h 84391"/>
                <a:gd name="connsiteX19" fmla="*/ 87661 w 89030"/>
                <a:gd name="connsiteY19" fmla="*/ 15621 h 84391"/>
                <a:gd name="connsiteX20" fmla="*/ 87089 w 89030"/>
                <a:gd name="connsiteY20" fmla="*/ 6572 h 84391"/>
                <a:gd name="connsiteX21" fmla="*/ 43274 w 89030"/>
                <a:gd name="connsiteY21" fmla="*/ 73438 h 84391"/>
                <a:gd name="connsiteX22" fmla="*/ 20986 w 89030"/>
                <a:gd name="connsiteY22" fmla="*/ 50959 h 84391"/>
                <a:gd name="connsiteX23" fmla="*/ 43274 w 89030"/>
                <a:gd name="connsiteY23" fmla="*/ 28480 h 84391"/>
                <a:gd name="connsiteX24" fmla="*/ 65563 w 89030"/>
                <a:gd name="connsiteY24" fmla="*/ 50959 h 84391"/>
                <a:gd name="connsiteX25" fmla="*/ 43274 w 89030"/>
                <a:gd name="connsiteY25" fmla="*/ 73438 h 8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030" h="84391">
                  <a:moveTo>
                    <a:pt x="87089" y="6858"/>
                  </a:moveTo>
                  <a:cubicBezTo>
                    <a:pt x="84613" y="4858"/>
                    <a:pt x="80517" y="5048"/>
                    <a:pt x="78231" y="7430"/>
                  </a:cubicBezTo>
                  <a:lnTo>
                    <a:pt x="65182" y="22384"/>
                  </a:lnTo>
                  <a:lnTo>
                    <a:pt x="64325" y="21622"/>
                  </a:lnTo>
                  <a:cubicBezTo>
                    <a:pt x="58800" y="17145"/>
                    <a:pt x="51561" y="14764"/>
                    <a:pt x="43370" y="14764"/>
                  </a:cubicBezTo>
                  <a:cubicBezTo>
                    <a:pt x="38226" y="14764"/>
                    <a:pt x="32606" y="16193"/>
                    <a:pt x="27463" y="18764"/>
                  </a:cubicBezTo>
                  <a:lnTo>
                    <a:pt x="26701" y="19145"/>
                  </a:lnTo>
                  <a:lnTo>
                    <a:pt x="10794" y="1905"/>
                  </a:lnTo>
                  <a:cubicBezTo>
                    <a:pt x="9556" y="667"/>
                    <a:pt x="7746" y="0"/>
                    <a:pt x="6032" y="0"/>
                  </a:cubicBezTo>
                  <a:cubicBezTo>
                    <a:pt x="4508" y="0"/>
                    <a:pt x="3079" y="476"/>
                    <a:pt x="1841" y="1429"/>
                  </a:cubicBezTo>
                  <a:cubicBezTo>
                    <a:pt x="-445" y="3715"/>
                    <a:pt x="-636" y="7810"/>
                    <a:pt x="1460" y="10382"/>
                  </a:cubicBezTo>
                  <a:lnTo>
                    <a:pt x="16795" y="27051"/>
                  </a:lnTo>
                  <a:lnTo>
                    <a:pt x="16128" y="27813"/>
                  </a:lnTo>
                  <a:cubicBezTo>
                    <a:pt x="10889" y="34195"/>
                    <a:pt x="8222" y="41720"/>
                    <a:pt x="8222" y="49530"/>
                  </a:cubicBezTo>
                  <a:cubicBezTo>
                    <a:pt x="8222" y="68771"/>
                    <a:pt x="23748" y="84392"/>
                    <a:pt x="42798" y="84392"/>
                  </a:cubicBezTo>
                  <a:cubicBezTo>
                    <a:pt x="61848" y="84392"/>
                    <a:pt x="77374" y="68390"/>
                    <a:pt x="77374" y="49530"/>
                  </a:cubicBezTo>
                  <a:cubicBezTo>
                    <a:pt x="77374" y="43625"/>
                    <a:pt x="75850" y="37814"/>
                    <a:pt x="72802" y="32385"/>
                  </a:cubicBezTo>
                  <a:lnTo>
                    <a:pt x="72421" y="31623"/>
                  </a:lnTo>
                  <a:lnTo>
                    <a:pt x="72992" y="30956"/>
                  </a:lnTo>
                  <a:lnTo>
                    <a:pt x="87661" y="15621"/>
                  </a:lnTo>
                  <a:cubicBezTo>
                    <a:pt x="89661" y="12954"/>
                    <a:pt x="89471" y="8954"/>
                    <a:pt x="87089" y="6572"/>
                  </a:cubicBezTo>
                  <a:close/>
                  <a:moveTo>
                    <a:pt x="43274" y="73438"/>
                  </a:moveTo>
                  <a:cubicBezTo>
                    <a:pt x="30987" y="73438"/>
                    <a:pt x="20986" y="63341"/>
                    <a:pt x="20986" y="50959"/>
                  </a:cubicBezTo>
                  <a:cubicBezTo>
                    <a:pt x="20986" y="38576"/>
                    <a:pt x="30987" y="28480"/>
                    <a:pt x="43274" y="28480"/>
                  </a:cubicBezTo>
                  <a:cubicBezTo>
                    <a:pt x="55562" y="28480"/>
                    <a:pt x="65563" y="38576"/>
                    <a:pt x="65563" y="50959"/>
                  </a:cubicBezTo>
                  <a:cubicBezTo>
                    <a:pt x="65563" y="63341"/>
                    <a:pt x="55371" y="73438"/>
                    <a:pt x="43274" y="73438"/>
                  </a:cubicBez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sp>
          <p:nvSpPr>
            <p:cNvPr id="33" name="Freeform: Shape 32">
              <a:extLst>
                <a:ext uri="{FF2B5EF4-FFF2-40B4-BE49-F238E27FC236}">
                  <a16:creationId xmlns:a16="http://schemas.microsoft.com/office/drawing/2014/main" id="{0E20D19E-4B6A-A725-336A-1FC6AD457396}"/>
                </a:ext>
              </a:extLst>
            </p:cNvPr>
            <p:cNvSpPr/>
            <p:nvPr/>
          </p:nvSpPr>
          <p:spPr>
            <a:xfrm>
              <a:off x="5985209" y="3368001"/>
              <a:ext cx="188466" cy="239973"/>
            </a:xfrm>
            <a:custGeom>
              <a:avLst/>
              <a:gdLst>
                <a:gd name="connsiteX0" fmla="*/ 108123 w 188466"/>
                <a:gd name="connsiteY0" fmla="*/ 1658 h 239973"/>
                <a:gd name="connsiteX1" fmla="*/ 107171 w 188466"/>
                <a:gd name="connsiteY1" fmla="*/ 1658 h 239973"/>
                <a:gd name="connsiteX2" fmla="*/ 39448 w 188466"/>
                <a:gd name="connsiteY2" fmla="*/ 15660 h 239973"/>
                <a:gd name="connsiteX3" fmla="*/ 1634 w 188466"/>
                <a:gd name="connsiteY3" fmla="*/ 73286 h 239973"/>
                <a:gd name="connsiteX4" fmla="*/ 72119 w 188466"/>
                <a:gd name="connsiteY4" fmla="*/ 178632 h 239973"/>
                <a:gd name="connsiteX5" fmla="*/ 73071 w 188466"/>
                <a:gd name="connsiteY5" fmla="*/ 178632 h 239973"/>
                <a:gd name="connsiteX6" fmla="*/ 114600 w 188466"/>
                <a:gd name="connsiteY6" fmla="*/ 176918 h 239973"/>
                <a:gd name="connsiteX7" fmla="*/ 115553 w 188466"/>
                <a:gd name="connsiteY7" fmla="*/ 176632 h 239973"/>
                <a:gd name="connsiteX8" fmla="*/ 116029 w 188466"/>
                <a:gd name="connsiteY8" fmla="*/ 177489 h 239973"/>
                <a:gd name="connsiteX9" fmla="*/ 141937 w 188466"/>
                <a:gd name="connsiteY9" fmla="*/ 228258 h 239973"/>
                <a:gd name="connsiteX10" fmla="*/ 155177 w 188466"/>
                <a:gd name="connsiteY10" fmla="*/ 238830 h 239973"/>
                <a:gd name="connsiteX11" fmla="*/ 156986 w 188466"/>
                <a:gd name="connsiteY11" fmla="*/ 239497 h 239973"/>
                <a:gd name="connsiteX12" fmla="*/ 158129 w 188466"/>
                <a:gd name="connsiteY12" fmla="*/ 239688 h 239973"/>
                <a:gd name="connsiteX13" fmla="*/ 160320 w 188466"/>
                <a:gd name="connsiteY13" fmla="*/ 239973 h 239973"/>
                <a:gd name="connsiteX14" fmla="*/ 170417 w 188466"/>
                <a:gd name="connsiteY14" fmla="*/ 237116 h 239973"/>
                <a:gd name="connsiteX15" fmla="*/ 173846 w 188466"/>
                <a:gd name="connsiteY15" fmla="*/ 235116 h 239973"/>
                <a:gd name="connsiteX16" fmla="*/ 177275 w 188466"/>
                <a:gd name="connsiteY16" fmla="*/ 233115 h 239973"/>
                <a:gd name="connsiteX17" fmla="*/ 177751 w 188466"/>
                <a:gd name="connsiteY17" fmla="*/ 232639 h 239973"/>
                <a:gd name="connsiteX18" fmla="*/ 188038 w 188466"/>
                <a:gd name="connsiteY18" fmla="*/ 219018 h 239973"/>
                <a:gd name="connsiteX19" fmla="*/ 184609 w 188466"/>
                <a:gd name="connsiteY19" fmla="*/ 202921 h 239973"/>
                <a:gd name="connsiteX20" fmla="*/ 168131 w 188466"/>
                <a:gd name="connsiteY20" fmla="*/ 178728 h 239973"/>
                <a:gd name="connsiteX21" fmla="*/ 152224 w 188466"/>
                <a:gd name="connsiteY21" fmla="*/ 155487 h 239973"/>
                <a:gd name="connsiteX22" fmla="*/ 152986 w 188466"/>
                <a:gd name="connsiteY22" fmla="*/ 154820 h 239973"/>
                <a:gd name="connsiteX23" fmla="*/ 178608 w 188466"/>
                <a:gd name="connsiteY23" fmla="*/ 107100 h 239973"/>
                <a:gd name="connsiteX24" fmla="*/ 108123 w 188466"/>
                <a:gd name="connsiteY24" fmla="*/ 1753 h 239973"/>
                <a:gd name="connsiteX25" fmla="*/ 166702 w 188466"/>
                <a:gd name="connsiteY25" fmla="*/ 104528 h 239973"/>
                <a:gd name="connsiteX26" fmla="*/ 143366 w 188466"/>
                <a:gd name="connsiteY26" fmla="*/ 146438 h 239973"/>
                <a:gd name="connsiteX27" fmla="*/ 135841 w 188466"/>
                <a:gd name="connsiteY27" fmla="*/ 153391 h 239973"/>
                <a:gd name="connsiteX28" fmla="*/ 157653 w 188466"/>
                <a:gd name="connsiteY28" fmla="*/ 185586 h 239973"/>
                <a:gd name="connsiteX29" fmla="*/ 165654 w 188466"/>
                <a:gd name="connsiteY29" fmla="*/ 197682 h 239973"/>
                <a:gd name="connsiteX30" fmla="*/ 173655 w 188466"/>
                <a:gd name="connsiteY30" fmla="*/ 209779 h 239973"/>
                <a:gd name="connsiteX31" fmla="*/ 175655 w 188466"/>
                <a:gd name="connsiteY31" fmla="*/ 216351 h 239973"/>
                <a:gd name="connsiteX32" fmla="*/ 175655 w 188466"/>
                <a:gd name="connsiteY32" fmla="*/ 216732 h 239973"/>
                <a:gd name="connsiteX33" fmla="*/ 171560 w 188466"/>
                <a:gd name="connsiteY33" fmla="*/ 222066 h 239973"/>
                <a:gd name="connsiteX34" fmla="*/ 170798 w 188466"/>
                <a:gd name="connsiteY34" fmla="*/ 222733 h 239973"/>
                <a:gd name="connsiteX35" fmla="*/ 167654 w 188466"/>
                <a:gd name="connsiteY35" fmla="*/ 224448 h 239973"/>
                <a:gd name="connsiteX36" fmla="*/ 164321 w 188466"/>
                <a:gd name="connsiteY36" fmla="*/ 226257 h 239973"/>
                <a:gd name="connsiteX37" fmla="*/ 160892 w 188466"/>
                <a:gd name="connsiteY37" fmla="*/ 227210 h 239973"/>
                <a:gd name="connsiteX38" fmla="*/ 158796 w 188466"/>
                <a:gd name="connsiteY38" fmla="*/ 226924 h 239973"/>
                <a:gd name="connsiteX39" fmla="*/ 153176 w 188466"/>
                <a:gd name="connsiteY39" fmla="*/ 221971 h 239973"/>
                <a:gd name="connsiteX40" fmla="*/ 121839 w 188466"/>
                <a:gd name="connsiteY40" fmla="*/ 161773 h 239973"/>
                <a:gd name="connsiteX41" fmla="*/ 112124 w 188466"/>
                <a:gd name="connsiteY41" fmla="*/ 164440 h 239973"/>
                <a:gd name="connsiteX42" fmla="*/ 75548 w 188466"/>
                <a:gd name="connsiteY42" fmla="*/ 166250 h 239973"/>
                <a:gd name="connsiteX43" fmla="*/ 74595 w 188466"/>
                <a:gd name="connsiteY43" fmla="*/ 166250 h 239973"/>
                <a:gd name="connsiteX44" fmla="*/ 13826 w 188466"/>
                <a:gd name="connsiteY44" fmla="*/ 75191 h 239973"/>
                <a:gd name="connsiteX45" fmla="*/ 46782 w 188466"/>
                <a:gd name="connsiteY45" fmla="*/ 25470 h 239973"/>
                <a:gd name="connsiteX46" fmla="*/ 104885 w 188466"/>
                <a:gd name="connsiteY46" fmla="*/ 13469 h 239973"/>
                <a:gd name="connsiteX47" fmla="*/ 105837 w 188466"/>
                <a:gd name="connsiteY47" fmla="*/ 13469 h 239973"/>
                <a:gd name="connsiteX48" fmla="*/ 154986 w 188466"/>
                <a:gd name="connsiteY48" fmla="*/ 46616 h 239973"/>
                <a:gd name="connsiteX49" fmla="*/ 166607 w 188466"/>
                <a:gd name="connsiteY49" fmla="*/ 104528 h 239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8466" h="239973">
                  <a:moveTo>
                    <a:pt x="108123" y="1658"/>
                  </a:moveTo>
                  <a:lnTo>
                    <a:pt x="107171" y="1658"/>
                  </a:lnTo>
                  <a:cubicBezTo>
                    <a:pt x="83453" y="-2914"/>
                    <a:pt x="59546" y="2039"/>
                    <a:pt x="39448" y="15660"/>
                  </a:cubicBezTo>
                  <a:cubicBezTo>
                    <a:pt x="19445" y="29185"/>
                    <a:pt x="5634" y="50140"/>
                    <a:pt x="1634" y="73286"/>
                  </a:cubicBezTo>
                  <a:cubicBezTo>
                    <a:pt x="-7701" y="121578"/>
                    <a:pt x="23922" y="168822"/>
                    <a:pt x="72119" y="178632"/>
                  </a:cubicBezTo>
                  <a:lnTo>
                    <a:pt x="73071" y="178632"/>
                  </a:lnTo>
                  <a:cubicBezTo>
                    <a:pt x="88121" y="181204"/>
                    <a:pt x="102408" y="180633"/>
                    <a:pt x="114600" y="176918"/>
                  </a:cubicBezTo>
                  <a:lnTo>
                    <a:pt x="115553" y="176632"/>
                  </a:lnTo>
                  <a:lnTo>
                    <a:pt x="116029" y="177489"/>
                  </a:lnTo>
                  <a:lnTo>
                    <a:pt x="141937" y="228258"/>
                  </a:lnTo>
                  <a:cubicBezTo>
                    <a:pt x="144604" y="233592"/>
                    <a:pt x="148985" y="237116"/>
                    <a:pt x="155177" y="238830"/>
                  </a:cubicBezTo>
                  <a:cubicBezTo>
                    <a:pt x="156129" y="238830"/>
                    <a:pt x="156701" y="239116"/>
                    <a:pt x="156986" y="239497"/>
                  </a:cubicBezTo>
                  <a:cubicBezTo>
                    <a:pt x="157367" y="239497"/>
                    <a:pt x="157748" y="239592"/>
                    <a:pt x="158129" y="239688"/>
                  </a:cubicBezTo>
                  <a:cubicBezTo>
                    <a:pt x="158796" y="239878"/>
                    <a:pt x="159558" y="239973"/>
                    <a:pt x="160320" y="239973"/>
                  </a:cubicBezTo>
                  <a:cubicBezTo>
                    <a:pt x="163368" y="239973"/>
                    <a:pt x="166511" y="239116"/>
                    <a:pt x="170417" y="237116"/>
                  </a:cubicBezTo>
                  <a:cubicBezTo>
                    <a:pt x="171560" y="236544"/>
                    <a:pt x="172703" y="235782"/>
                    <a:pt x="173846" y="235116"/>
                  </a:cubicBezTo>
                  <a:cubicBezTo>
                    <a:pt x="174989" y="234449"/>
                    <a:pt x="176132" y="233687"/>
                    <a:pt x="177275" y="233115"/>
                  </a:cubicBezTo>
                  <a:lnTo>
                    <a:pt x="177751" y="232639"/>
                  </a:lnTo>
                  <a:cubicBezTo>
                    <a:pt x="182990" y="229115"/>
                    <a:pt x="186419" y="224543"/>
                    <a:pt x="188038" y="219018"/>
                  </a:cubicBezTo>
                  <a:cubicBezTo>
                    <a:pt x="189181" y="213494"/>
                    <a:pt x="188038" y="207874"/>
                    <a:pt x="184609" y="202921"/>
                  </a:cubicBezTo>
                  <a:cubicBezTo>
                    <a:pt x="178703" y="195206"/>
                    <a:pt x="173274" y="186824"/>
                    <a:pt x="168131" y="178728"/>
                  </a:cubicBezTo>
                  <a:lnTo>
                    <a:pt x="152224" y="155487"/>
                  </a:lnTo>
                  <a:lnTo>
                    <a:pt x="152986" y="154820"/>
                  </a:lnTo>
                  <a:cubicBezTo>
                    <a:pt x="166130" y="142247"/>
                    <a:pt x="174989" y="125769"/>
                    <a:pt x="178608" y="107100"/>
                  </a:cubicBezTo>
                  <a:cubicBezTo>
                    <a:pt x="187943" y="58903"/>
                    <a:pt x="156320" y="11564"/>
                    <a:pt x="108123" y="1753"/>
                  </a:cubicBezTo>
                  <a:close/>
                  <a:moveTo>
                    <a:pt x="166702" y="104528"/>
                  </a:moveTo>
                  <a:cubicBezTo>
                    <a:pt x="163749" y="120720"/>
                    <a:pt x="155367" y="135579"/>
                    <a:pt x="143366" y="146438"/>
                  </a:cubicBezTo>
                  <a:lnTo>
                    <a:pt x="135841" y="153391"/>
                  </a:lnTo>
                  <a:lnTo>
                    <a:pt x="157653" y="185586"/>
                  </a:lnTo>
                  <a:cubicBezTo>
                    <a:pt x="160320" y="189777"/>
                    <a:pt x="162987" y="193682"/>
                    <a:pt x="165654" y="197682"/>
                  </a:cubicBezTo>
                  <a:cubicBezTo>
                    <a:pt x="168321" y="201683"/>
                    <a:pt x="170988" y="205683"/>
                    <a:pt x="173655" y="209779"/>
                  </a:cubicBezTo>
                  <a:cubicBezTo>
                    <a:pt x="175655" y="211684"/>
                    <a:pt x="175655" y="214446"/>
                    <a:pt x="175655" y="216351"/>
                  </a:cubicBezTo>
                  <a:lnTo>
                    <a:pt x="175655" y="216732"/>
                  </a:lnTo>
                  <a:cubicBezTo>
                    <a:pt x="174893" y="218923"/>
                    <a:pt x="173465" y="220828"/>
                    <a:pt x="171560" y="222066"/>
                  </a:cubicBezTo>
                  <a:lnTo>
                    <a:pt x="170798" y="222733"/>
                  </a:lnTo>
                  <a:cubicBezTo>
                    <a:pt x="169655" y="223305"/>
                    <a:pt x="168607" y="223876"/>
                    <a:pt x="167654" y="224448"/>
                  </a:cubicBezTo>
                  <a:cubicBezTo>
                    <a:pt x="166607" y="225019"/>
                    <a:pt x="165559" y="225686"/>
                    <a:pt x="164321" y="226257"/>
                  </a:cubicBezTo>
                  <a:cubicBezTo>
                    <a:pt x="163463" y="226734"/>
                    <a:pt x="162416" y="227210"/>
                    <a:pt x="160892" y="227210"/>
                  </a:cubicBezTo>
                  <a:cubicBezTo>
                    <a:pt x="160320" y="227210"/>
                    <a:pt x="159558" y="227210"/>
                    <a:pt x="158796" y="226924"/>
                  </a:cubicBezTo>
                  <a:cubicBezTo>
                    <a:pt x="155748" y="226162"/>
                    <a:pt x="153843" y="224448"/>
                    <a:pt x="153176" y="221971"/>
                  </a:cubicBezTo>
                  <a:lnTo>
                    <a:pt x="121839" y="161773"/>
                  </a:lnTo>
                  <a:lnTo>
                    <a:pt x="112124" y="164440"/>
                  </a:lnTo>
                  <a:cubicBezTo>
                    <a:pt x="100217" y="168060"/>
                    <a:pt x="87549" y="168631"/>
                    <a:pt x="75548" y="166250"/>
                  </a:cubicBezTo>
                  <a:lnTo>
                    <a:pt x="74595" y="166250"/>
                  </a:lnTo>
                  <a:cubicBezTo>
                    <a:pt x="32590" y="157201"/>
                    <a:pt x="5539" y="116339"/>
                    <a:pt x="13826" y="75191"/>
                  </a:cubicBezTo>
                  <a:cubicBezTo>
                    <a:pt x="18112" y="54236"/>
                    <a:pt x="29828" y="36615"/>
                    <a:pt x="46782" y="25470"/>
                  </a:cubicBezTo>
                  <a:cubicBezTo>
                    <a:pt x="63927" y="13659"/>
                    <a:pt x="85073" y="9278"/>
                    <a:pt x="104885" y="13469"/>
                  </a:cubicBezTo>
                  <a:lnTo>
                    <a:pt x="105837" y="13469"/>
                  </a:lnTo>
                  <a:cubicBezTo>
                    <a:pt x="126125" y="17565"/>
                    <a:pt x="143461" y="29280"/>
                    <a:pt x="154986" y="46616"/>
                  </a:cubicBezTo>
                  <a:cubicBezTo>
                    <a:pt x="166511" y="63951"/>
                    <a:pt x="170607" y="84525"/>
                    <a:pt x="166607" y="104528"/>
                  </a:cubicBezTo>
                  <a:close/>
                </a:path>
              </a:pathLst>
            </a:custGeom>
            <a:solidFill>
              <a:schemeClr val="tx1"/>
            </a:solidFill>
            <a:ln>
              <a:noFill/>
            </a:ln>
            <a:effectLst/>
          </p:spPr>
          <p:txBody>
            <a:bodyPr anchor="ctr"/>
            <a:lstStyle/>
            <a:p>
              <a:endParaRPr lang="en-IN" sz="900">
                <a:solidFill>
                  <a:srgbClr val="34373F"/>
                </a:solidFill>
                <a:latin typeface="Calibri" panose="020F0502020204030204"/>
              </a:endParaRPr>
            </a:p>
          </p:txBody>
        </p:sp>
      </p:grpSp>
      <p:grpSp>
        <p:nvGrpSpPr>
          <p:cNvPr id="46" name="Group 45">
            <a:extLst>
              <a:ext uri="{FF2B5EF4-FFF2-40B4-BE49-F238E27FC236}">
                <a16:creationId xmlns:a16="http://schemas.microsoft.com/office/drawing/2014/main" id="{FD25B4CA-8234-169E-65B1-C078C33835C3}"/>
              </a:ext>
            </a:extLst>
          </p:cNvPr>
          <p:cNvGrpSpPr/>
          <p:nvPr/>
        </p:nvGrpSpPr>
        <p:grpSpPr>
          <a:xfrm>
            <a:off x="212436" y="1180889"/>
            <a:ext cx="546793" cy="5176779"/>
            <a:chOff x="212436" y="1180889"/>
            <a:chExt cx="546793" cy="5176779"/>
          </a:xfrm>
        </p:grpSpPr>
        <p:cxnSp>
          <p:nvCxnSpPr>
            <p:cNvPr id="40" name="Straight Connector 39">
              <a:extLst>
                <a:ext uri="{FF2B5EF4-FFF2-40B4-BE49-F238E27FC236}">
                  <a16:creationId xmlns:a16="http://schemas.microsoft.com/office/drawing/2014/main" id="{010233BE-388C-009A-80EE-FC1549248178}"/>
                </a:ext>
              </a:extLst>
            </p:cNvPr>
            <p:cNvCxnSpPr>
              <a:cxnSpLocks/>
            </p:cNvCxnSpPr>
            <p:nvPr/>
          </p:nvCxnSpPr>
          <p:spPr>
            <a:xfrm>
              <a:off x="485832" y="1455209"/>
              <a:ext cx="0" cy="4902459"/>
            </a:xfrm>
            <a:prstGeom prst="line">
              <a:avLst/>
            </a:prstGeom>
            <a:ln w="19050">
              <a:solidFill>
                <a:schemeClr val="tx1"/>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628ED597-78F2-3CBB-BAB4-C4EE0E5A80E1}"/>
                </a:ext>
              </a:extLst>
            </p:cNvPr>
            <p:cNvSpPr/>
            <p:nvPr/>
          </p:nvSpPr>
          <p:spPr>
            <a:xfrm>
              <a:off x="212436" y="1180889"/>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1</a:t>
              </a:r>
              <a:endParaRPr kumimoji="1" lang="en-IN" b="1" dirty="0">
                <a:solidFill>
                  <a:schemeClr val="bg1"/>
                </a:solidFill>
              </a:endParaRPr>
            </a:p>
          </p:txBody>
        </p:sp>
        <p:sp>
          <p:nvSpPr>
            <p:cNvPr id="35" name="Oval 34">
              <a:extLst>
                <a:ext uri="{FF2B5EF4-FFF2-40B4-BE49-F238E27FC236}">
                  <a16:creationId xmlns:a16="http://schemas.microsoft.com/office/drawing/2014/main" id="{891B87C8-947E-9E94-00F5-047F4A031D49}"/>
                </a:ext>
              </a:extLst>
            </p:cNvPr>
            <p:cNvSpPr/>
            <p:nvPr/>
          </p:nvSpPr>
          <p:spPr>
            <a:xfrm>
              <a:off x="212436" y="2247258"/>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2</a:t>
              </a:r>
              <a:endParaRPr kumimoji="1" lang="en-IN" b="1" dirty="0">
                <a:solidFill>
                  <a:schemeClr val="bg1"/>
                </a:solidFill>
              </a:endParaRPr>
            </a:p>
          </p:txBody>
        </p:sp>
        <p:sp>
          <p:nvSpPr>
            <p:cNvPr id="36" name="Oval 35">
              <a:extLst>
                <a:ext uri="{FF2B5EF4-FFF2-40B4-BE49-F238E27FC236}">
                  <a16:creationId xmlns:a16="http://schemas.microsoft.com/office/drawing/2014/main" id="{08BA8212-A0E4-581E-EC56-0E5E23747E08}"/>
                </a:ext>
              </a:extLst>
            </p:cNvPr>
            <p:cNvSpPr/>
            <p:nvPr/>
          </p:nvSpPr>
          <p:spPr>
            <a:xfrm>
              <a:off x="212436" y="3313627"/>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3</a:t>
              </a:r>
              <a:endParaRPr kumimoji="1" lang="en-IN" b="1" dirty="0">
                <a:solidFill>
                  <a:schemeClr val="bg1"/>
                </a:solidFill>
              </a:endParaRPr>
            </a:p>
          </p:txBody>
        </p:sp>
        <p:sp>
          <p:nvSpPr>
            <p:cNvPr id="37" name="Oval 36">
              <a:extLst>
                <a:ext uri="{FF2B5EF4-FFF2-40B4-BE49-F238E27FC236}">
                  <a16:creationId xmlns:a16="http://schemas.microsoft.com/office/drawing/2014/main" id="{4DAB47B0-35D8-92DF-56F5-6D7AAED12776}"/>
                </a:ext>
              </a:extLst>
            </p:cNvPr>
            <p:cNvSpPr/>
            <p:nvPr/>
          </p:nvSpPr>
          <p:spPr>
            <a:xfrm>
              <a:off x="212436" y="4379996"/>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4</a:t>
              </a:r>
              <a:endParaRPr kumimoji="1" lang="en-IN" b="1" dirty="0">
                <a:solidFill>
                  <a:schemeClr val="bg1"/>
                </a:solidFill>
              </a:endParaRPr>
            </a:p>
          </p:txBody>
        </p:sp>
        <p:sp>
          <p:nvSpPr>
            <p:cNvPr id="38" name="Oval 37">
              <a:extLst>
                <a:ext uri="{FF2B5EF4-FFF2-40B4-BE49-F238E27FC236}">
                  <a16:creationId xmlns:a16="http://schemas.microsoft.com/office/drawing/2014/main" id="{7F5EDFA7-111C-F41B-DB2F-D7FD747E3956}"/>
                </a:ext>
              </a:extLst>
            </p:cNvPr>
            <p:cNvSpPr/>
            <p:nvPr/>
          </p:nvSpPr>
          <p:spPr>
            <a:xfrm>
              <a:off x="212436" y="5446366"/>
              <a:ext cx="546793" cy="548640"/>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dirty="0">
                  <a:solidFill>
                    <a:schemeClr val="bg1"/>
                  </a:solidFill>
                </a:rPr>
                <a:t>5</a:t>
              </a:r>
              <a:endParaRPr kumimoji="1" lang="en-IN" b="1" dirty="0">
                <a:solidFill>
                  <a:schemeClr val="bg1"/>
                </a:solidFill>
              </a:endParaRPr>
            </a:p>
          </p:txBody>
        </p:sp>
      </p:grpSp>
      <p:sp>
        <p:nvSpPr>
          <p:cNvPr id="47" name="Rectangle: Rounded Corners 46">
            <a:extLst>
              <a:ext uri="{FF2B5EF4-FFF2-40B4-BE49-F238E27FC236}">
                <a16:creationId xmlns:a16="http://schemas.microsoft.com/office/drawing/2014/main" id="{F1D30F3A-7F10-80C0-1C94-4A397CCC56B1}"/>
              </a:ext>
            </a:extLst>
          </p:cNvPr>
          <p:cNvSpPr/>
          <p:nvPr/>
        </p:nvSpPr>
        <p:spPr>
          <a:xfrm>
            <a:off x="939225" y="1015200"/>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Define the patient and HCP universe</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Using the analytical boundaries, a </a:t>
            </a:r>
            <a:r>
              <a:rPr lang="en-US" sz="1100" u="sng" dirty="0">
                <a:solidFill>
                  <a:schemeClr val="tx1"/>
                </a:solidFill>
                <a:latin typeface="+mj-lt"/>
                <a:cs typeface="Arial" panose="020B0604020202020204" pitchFamily="34" charset="0"/>
              </a:rPr>
              <a:t>validated cohort of confirmed NT1/NT2 patients and all the healthcare providers who interacted with them</a:t>
            </a:r>
            <a:r>
              <a:rPr lang="en-US" sz="1100" dirty="0">
                <a:solidFill>
                  <a:schemeClr val="tx1"/>
                </a:solidFill>
                <a:latin typeface="+mj-lt"/>
                <a:cs typeface="Arial" panose="020B0604020202020204" pitchFamily="34" charset="0"/>
              </a:rPr>
              <a:t> across the care journey was identified. This forms the analytical foundation for everything that follows.</a:t>
            </a:r>
          </a:p>
        </p:txBody>
      </p:sp>
      <p:sp>
        <p:nvSpPr>
          <p:cNvPr id="48" name="Rectangle: Rounded Corners 47">
            <a:extLst>
              <a:ext uri="{FF2B5EF4-FFF2-40B4-BE49-F238E27FC236}">
                <a16:creationId xmlns:a16="http://schemas.microsoft.com/office/drawing/2014/main" id="{16526E6C-EAF3-9F63-4E57-48231FB1BFC1}"/>
              </a:ext>
            </a:extLst>
          </p:cNvPr>
          <p:cNvSpPr/>
          <p:nvPr/>
        </p:nvSpPr>
        <p:spPr>
          <a:xfrm>
            <a:off x="939225" y="5280677"/>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Understand how the ecosystem behaves</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Beyond individual HCPs, appropriate DS algorithms were applied to also surface </a:t>
            </a:r>
            <a:r>
              <a:rPr lang="en-US" sz="1100" u="sng" dirty="0">
                <a:solidFill>
                  <a:schemeClr val="tx1"/>
                </a:solidFill>
                <a:latin typeface="+mj-lt"/>
                <a:cs typeface="Arial" panose="020B0604020202020204" pitchFamily="34" charset="0"/>
              </a:rPr>
              <a:t>how groups of closely connected providers behave</a:t>
            </a:r>
            <a:r>
              <a:rPr lang="en-US" sz="1100" dirty="0">
                <a:solidFill>
                  <a:schemeClr val="tx1"/>
                </a:solidFill>
                <a:latin typeface="+mj-lt"/>
                <a:cs typeface="Arial" panose="020B0604020202020204" pitchFamily="34" charset="0"/>
              </a:rPr>
              <a:t> together, </a:t>
            </a:r>
            <a:r>
              <a:rPr lang="en-US" sz="1100" u="sng" dirty="0">
                <a:solidFill>
                  <a:schemeClr val="tx1"/>
                </a:solidFill>
                <a:latin typeface="+mj-lt"/>
                <a:cs typeface="Arial" panose="020B0604020202020204" pitchFamily="34" charset="0"/>
              </a:rPr>
              <a:t>where patients are being lost</a:t>
            </a:r>
            <a:r>
              <a:rPr lang="en-US" sz="1100" dirty="0">
                <a:solidFill>
                  <a:schemeClr val="tx1"/>
                </a:solidFill>
                <a:latin typeface="+mj-lt"/>
                <a:cs typeface="Arial" panose="020B0604020202020204" pitchFamily="34" charset="0"/>
              </a:rPr>
              <a:t> or delayed before reaching the right care, and </a:t>
            </a:r>
            <a:r>
              <a:rPr lang="en-US" sz="1100" u="sng" dirty="0">
                <a:solidFill>
                  <a:schemeClr val="tx1"/>
                </a:solidFill>
                <a:latin typeface="+mj-lt"/>
                <a:cs typeface="Arial" panose="020B0604020202020204" pitchFamily="34" charset="0"/>
              </a:rPr>
              <a:t>which HCPs carry the broadest influence across the ecosystem </a:t>
            </a:r>
            <a:r>
              <a:rPr lang="en-US" sz="1100" dirty="0">
                <a:solidFill>
                  <a:schemeClr val="tx1"/>
                </a:solidFill>
                <a:latin typeface="+mj-lt"/>
                <a:cs typeface="Arial" panose="020B0604020202020204" pitchFamily="34" charset="0"/>
              </a:rPr>
              <a:t>through their professional and social engagement. Together these lenses reveal the structural dynamics that shape patient access to NT1 care.</a:t>
            </a:r>
          </a:p>
        </p:txBody>
      </p:sp>
      <p:sp>
        <p:nvSpPr>
          <p:cNvPr id="49" name="Rectangle: Rounded Corners 48">
            <a:extLst>
              <a:ext uri="{FF2B5EF4-FFF2-40B4-BE49-F238E27FC236}">
                <a16:creationId xmlns:a16="http://schemas.microsoft.com/office/drawing/2014/main" id="{989AE073-BCFF-C46B-905C-EFCC70348075}"/>
              </a:ext>
            </a:extLst>
          </p:cNvPr>
          <p:cNvSpPr/>
          <p:nvPr/>
        </p:nvSpPr>
        <p:spPr>
          <a:xfrm>
            <a:off x="939225" y="4214307"/>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Identify and rank the most important HCPs</a:t>
            </a:r>
            <a:br>
              <a:rPr lang="en-US" sz="1200" b="1" dirty="0">
                <a:solidFill>
                  <a:schemeClr val="tx1"/>
                </a:solidFill>
                <a:latin typeface="+mj-lt"/>
                <a:cs typeface="Arial" panose="020B0604020202020204" pitchFamily="34" charset="0"/>
              </a:rPr>
            </a:br>
            <a:r>
              <a:rPr lang="en-US" sz="1100" dirty="0">
                <a:solidFill>
                  <a:schemeClr val="tx1"/>
                </a:solidFill>
                <a:latin typeface="+mj-lt"/>
                <a:cs typeface="Arial" panose="020B0604020202020204" pitchFamily="34" charset="0"/>
              </a:rPr>
              <a:t>Leveraging appropriate Data Science algorithms, </a:t>
            </a:r>
            <a:r>
              <a:rPr lang="en-US" sz="1100" u="sng" dirty="0">
                <a:solidFill>
                  <a:schemeClr val="tx1"/>
                </a:solidFill>
                <a:latin typeface="+mj-lt"/>
                <a:cs typeface="Arial" panose="020B0604020202020204" pitchFamily="34" charset="0"/>
              </a:rPr>
              <a:t>each HCP in the network was scored to surface the nuanced functional role they play in the ecosystem</a:t>
            </a:r>
            <a:r>
              <a:rPr lang="en-US" sz="1100" dirty="0">
                <a:solidFill>
                  <a:schemeClr val="tx1"/>
                </a:solidFill>
                <a:latin typeface="+mj-lt"/>
                <a:cs typeface="Arial" panose="020B0604020202020204" pitchFamily="34" charset="0"/>
              </a:rPr>
              <a:t>. For e.g., whether they see the most NT patients, send the most referrals, sit at the center of the network connecting others, or carry outsized influence over patient routing decisions. </a:t>
            </a:r>
          </a:p>
        </p:txBody>
      </p:sp>
      <p:sp>
        <p:nvSpPr>
          <p:cNvPr id="50" name="Rectangle: Rounded Corners 49">
            <a:extLst>
              <a:ext uri="{FF2B5EF4-FFF2-40B4-BE49-F238E27FC236}">
                <a16:creationId xmlns:a16="http://schemas.microsoft.com/office/drawing/2014/main" id="{20E3A90B-5FEA-77BA-FF75-3D1BD81ECA7F}"/>
              </a:ext>
            </a:extLst>
          </p:cNvPr>
          <p:cNvSpPr/>
          <p:nvPr/>
        </p:nvSpPr>
        <p:spPr>
          <a:xfrm>
            <a:off x="939225" y="3147938"/>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Build the referral network</a:t>
            </a:r>
            <a:br>
              <a:rPr lang="en-US" sz="1200" b="1" dirty="0">
                <a:solidFill>
                  <a:schemeClr val="tx1"/>
                </a:solidFill>
                <a:latin typeface="+mj-lt"/>
                <a:cs typeface="Arial" panose="020B0604020202020204" pitchFamily="34" charset="0"/>
              </a:rPr>
            </a:br>
            <a:r>
              <a:rPr lang="en-US" sz="1100" u="sng" dirty="0">
                <a:solidFill>
                  <a:schemeClr val="tx1"/>
                </a:solidFill>
                <a:latin typeface="+mj-lt"/>
                <a:cs typeface="Arial" panose="020B0604020202020204" pitchFamily="34" charset="0"/>
              </a:rPr>
              <a:t>HCPs were connected based on shared patient interactions to construct a referral network</a:t>
            </a:r>
            <a:r>
              <a:rPr lang="en-US" sz="1100" dirty="0">
                <a:solidFill>
                  <a:schemeClr val="tx1"/>
                </a:solidFill>
                <a:latin typeface="+mj-lt"/>
                <a:cs typeface="Arial" panose="020B0604020202020204" pitchFamily="34" charset="0"/>
              </a:rPr>
              <a:t>. It showed who is referring to whom, for what type of clinical event, and across how many patients. Connections with limited or incidental patient overlap were excluded, keeping the network focused on sustained, meaningful referral relationships.</a:t>
            </a:r>
          </a:p>
        </p:txBody>
      </p:sp>
      <p:sp>
        <p:nvSpPr>
          <p:cNvPr id="51" name="Rectangle: Rounded Corners 50">
            <a:extLst>
              <a:ext uri="{FF2B5EF4-FFF2-40B4-BE49-F238E27FC236}">
                <a16:creationId xmlns:a16="http://schemas.microsoft.com/office/drawing/2014/main" id="{CC8015B4-C3E1-2DDD-DFA4-7C84E8E942E8}"/>
              </a:ext>
            </a:extLst>
          </p:cNvPr>
          <p:cNvSpPr/>
          <p:nvPr/>
        </p:nvSpPr>
        <p:spPr>
          <a:xfrm>
            <a:off x="939225" y="2081569"/>
            <a:ext cx="10301413" cy="880018"/>
          </a:xfrm>
          <a:prstGeom prst="roundRect">
            <a:avLst>
              <a:gd name="adj" fmla="val 881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spcBef>
                <a:spcPts val="200"/>
              </a:spcBef>
              <a:spcAft>
                <a:spcPts val="200"/>
              </a:spcAft>
            </a:pPr>
            <a:r>
              <a:rPr lang="en-US" sz="1200" b="1" dirty="0">
                <a:solidFill>
                  <a:schemeClr val="tx1"/>
                </a:solidFill>
                <a:cs typeface="Arial" panose="020B0604020202020204" pitchFamily="34" charset="0"/>
              </a:rPr>
              <a:t>Capture all clinically relevant interactions</a:t>
            </a:r>
            <a:br>
              <a:rPr lang="en-US" sz="1200" b="1" dirty="0">
                <a:solidFill>
                  <a:schemeClr val="tx1"/>
                </a:solidFill>
                <a:latin typeface="+mj-lt"/>
                <a:cs typeface="Arial" panose="020B0604020202020204" pitchFamily="34" charset="0"/>
              </a:rPr>
            </a:br>
            <a:r>
              <a:rPr lang="en-US" sz="1100" u="sng" dirty="0">
                <a:solidFill>
                  <a:schemeClr val="tx1"/>
                </a:solidFill>
                <a:latin typeface="+mj-lt"/>
                <a:cs typeface="Arial" panose="020B0604020202020204" pitchFamily="34" charset="0"/>
              </a:rPr>
              <a:t>Every meaningful and clinically significant HCP interaction across the patient journey</a:t>
            </a:r>
            <a:r>
              <a:rPr lang="en-US" sz="1100" dirty="0">
                <a:solidFill>
                  <a:schemeClr val="tx1"/>
                </a:solidFill>
                <a:latin typeface="+mj-lt"/>
                <a:cs typeface="Arial" panose="020B0604020202020204" pitchFamily="34" charset="0"/>
              </a:rPr>
              <a:t>, including NT1 diagnosis events, treatment initiation and changes, relevant diagnostic tests, and prior misdiagnosis or management of related conditions such as sleep apnea, anxiety, and mood disorders were captured. </a:t>
            </a:r>
          </a:p>
        </p:txBody>
      </p:sp>
    </p:spTree>
    <p:extLst>
      <p:ext uri="{BB962C8B-B14F-4D97-AF65-F5344CB8AC3E}">
        <p14:creationId xmlns:p14="http://schemas.microsoft.com/office/powerpoint/2010/main" val="330950427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AA856-C381-CE4F-5469-37AA31CA03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3E779-2244-E539-FCD5-0CEE73AFFC75}"/>
              </a:ext>
            </a:extLst>
          </p:cNvPr>
          <p:cNvSpPr>
            <a:spLocks noGrp="1"/>
          </p:cNvSpPr>
          <p:nvPr>
            <p:ph sz="quarter" idx="10"/>
          </p:nvPr>
        </p:nvSpPr>
        <p:spPr/>
        <p:txBody>
          <a:bodyPr/>
          <a:lstStyle/>
          <a:p>
            <a:r>
              <a:rPr lang="en-US"/>
              <a:t>Interactive Dashboard:  </a:t>
            </a:r>
            <a:r>
              <a:rPr lang="en-US">
                <a:hlinkClick r:id="rId2"/>
              </a:rPr>
              <a:t>https://us-east-1.online.tableau.com/t/usbutakeda/views/NT1ReferralNetworkDashboard/HCPNetwork</a:t>
            </a:r>
            <a:endParaRPr lang="en-US"/>
          </a:p>
        </p:txBody>
      </p:sp>
      <p:sp>
        <p:nvSpPr>
          <p:cNvPr id="4" name="Slide Number Placeholder 3">
            <a:extLst>
              <a:ext uri="{FF2B5EF4-FFF2-40B4-BE49-F238E27FC236}">
                <a16:creationId xmlns:a16="http://schemas.microsoft.com/office/drawing/2014/main" id="{12648C94-24D5-A05A-CBA5-F6D1B31D7249}"/>
              </a:ext>
            </a:extLst>
          </p:cNvPr>
          <p:cNvSpPr>
            <a:spLocks noGrp="1"/>
          </p:cNvSpPr>
          <p:nvPr>
            <p:ph type="sldNum" sz="quarter" idx="4"/>
          </p:nvPr>
        </p:nvSpPr>
        <p:spPr/>
        <p:txBody>
          <a:bodyPr/>
          <a:lstStyle/>
          <a:p>
            <a:fld id="{4B88BF55-9D8F-47B8-9CAA-91D4F95E55A3}" type="slidenum">
              <a:rPr lang="en-US" smtClean="0"/>
              <a:t>6</a:t>
            </a:fld>
            <a:endParaRPr lang="en-US"/>
          </a:p>
        </p:txBody>
      </p:sp>
      <p:sp>
        <p:nvSpPr>
          <p:cNvPr id="16" name="Rectangle 15">
            <a:extLst>
              <a:ext uri="{FF2B5EF4-FFF2-40B4-BE49-F238E27FC236}">
                <a16:creationId xmlns:a16="http://schemas.microsoft.com/office/drawing/2014/main" id="{1335DAB3-7454-85EA-1EE8-FE306C9DEA94}"/>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dirty="0"/>
              <a:t>Executive Summary</a:t>
            </a:r>
            <a:endParaRPr kumimoji="1" lang="en-US" sz="2000" i="1" dirty="0"/>
          </a:p>
        </p:txBody>
      </p:sp>
      <p:grpSp>
        <p:nvGrpSpPr>
          <p:cNvPr id="22" name="Group 21">
            <a:extLst>
              <a:ext uri="{FF2B5EF4-FFF2-40B4-BE49-F238E27FC236}">
                <a16:creationId xmlns:a16="http://schemas.microsoft.com/office/drawing/2014/main" id="{E470C36E-D1FB-5554-68BE-167F4FB68B4E}"/>
              </a:ext>
            </a:extLst>
          </p:cNvPr>
          <p:cNvGrpSpPr/>
          <p:nvPr/>
        </p:nvGrpSpPr>
        <p:grpSpPr>
          <a:xfrm>
            <a:off x="457200" y="995988"/>
            <a:ext cx="11365344" cy="970163"/>
            <a:chOff x="457200" y="1298448"/>
            <a:chExt cx="11365344" cy="1104138"/>
          </a:xfrm>
        </p:grpSpPr>
        <p:sp>
          <p:nvSpPr>
            <p:cNvPr id="5" name="Shape 7">
              <a:extLst>
                <a:ext uri="{FF2B5EF4-FFF2-40B4-BE49-F238E27FC236}">
                  <a16:creationId xmlns:a16="http://schemas.microsoft.com/office/drawing/2014/main" id="{E586F7A1-AA75-6995-44EC-98AC0B812947}"/>
                </a:ext>
              </a:extLst>
            </p:cNvPr>
            <p:cNvSpPr/>
            <p:nvPr/>
          </p:nvSpPr>
          <p:spPr>
            <a:xfrm>
              <a:off x="457200" y="1298448"/>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8">
              <a:extLst>
                <a:ext uri="{FF2B5EF4-FFF2-40B4-BE49-F238E27FC236}">
                  <a16:creationId xmlns:a16="http://schemas.microsoft.com/office/drawing/2014/main" id="{D743D7FB-F4CD-16F8-FCC8-2E56DE622D19}"/>
                </a:ext>
              </a:extLst>
            </p:cNvPr>
            <p:cNvSpPr/>
            <p:nvPr/>
          </p:nvSpPr>
          <p:spPr>
            <a:xfrm>
              <a:off x="457200" y="1298448"/>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717 + 315</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Super </a:t>
              </a:r>
              <a:r>
                <a:rPr kumimoji="0" lang="en-US" sz="800" b="0" i="0" u="none" strike="noStrike" kern="1200" cap="none" spc="0" normalizeH="0" baseline="0" noProof="0" dirty="0" err="1">
                  <a:ln>
                    <a:noFill/>
                  </a:ln>
                  <a:solidFill>
                    <a:srgbClr val="A1A4AC"/>
                  </a:solidFill>
                  <a:effectLst/>
                  <a:uLnTx/>
                  <a:uFillTx/>
                  <a:latin typeface="Calibri" pitchFamily="34" charset="0"/>
                  <a:ea typeface="Calibri" pitchFamily="34" charset="-122"/>
                  <a:cs typeface="Calibri" pitchFamily="34" charset="-120"/>
                </a:rPr>
                <a:t>Diagnosers</a:t>
              </a: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 &amp; Treaters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9">
              <a:extLst>
                <a:ext uri="{FF2B5EF4-FFF2-40B4-BE49-F238E27FC236}">
                  <a16:creationId xmlns:a16="http://schemas.microsoft.com/office/drawing/2014/main" id="{38A435BB-53EA-692B-1E8B-8ECD3DBC867F}"/>
                </a:ext>
              </a:extLst>
            </p:cNvPr>
            <p:cNvSpPr/>
            <p:nvPr/>
          </p:nvSpPr>
          <p:spPr>
            <a:xfrm>
              <a:off x="1874520" y="1298448"/>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10">
              <a:extLst>
                <a:ext uri="{FF2B5EF4-FFF2-40B4-BE49-F238E27FC236}">
                  <a16:creationId xmlns:a16="http://schemas.microsoft.com/office/drawing/2014/main" id="{B551C1B0-DCEB-C104-901A-16CF54AF62CD}"/>
                </a:ext>
              </a:extLst>
            </p:cNvPr>
            <p:cNvSpPr/>
            <p:nvPr/>
          </p:nvSpPr>
          <p:spPr>
            <a:xfrm>
              <a:off x="1874520" y="1298448"/>
              <a:ext cx="3995928" cy="1104138"/>
            </a:xfrm>
            <a:prstGeom prst="rect">
              <a:avLst/>
            </a:prstGeom>
            <a:noFill/>
            <a:ln/>
          </p:spPr>
          <p:txBody>
            <a:bodyPr wrap="square" lIns="101600" tIns="190500" rIns="190500" bIns="101600" rtlCol="0" anchor="ctr"/>
            <a:lstStyle/>
            <a:p>
              <a:pPr marL="171450" indent="-171450">
                <a:buFont typeface="Arial" panose="020B0604020202020204" pitchFamily="34" charset="0"/>
                <a:buChar char="•"/>
                <a:defRPr/>
              </a:pPr>
              <a:r>
                <a:rPr lang="en-US" sz="1100" dirty="0">
                  <a:solidFill>
                    <a:srgbClr val="34373F"/>
                  </a:solidFill>
                  <a:latin typeface="Calibri" pitchFamily="34" charset="0"/>
                  <a:ea typeface="Calibri" pitchFamily="34" charset="-122"/>
                  <a:cs typeface="Calibri" pitchFamily="34" charset="-120"/>
                </a:rPr>
                <a:t>3.1k Super </a:t>
              </a:r>
              <a:r>
                <a:rPr lang="en-US" sz="1100" dirty="0" err="1">
                  <a:solidFill>
                    <a:srgbClr val="34373F"/>
                  </a:solidFill>
                  <a:latin typeface="Calibri" pitchFamily="34" charset="0"/>
                  <a:ea typeface="Calibri" pitchFamily="34" charset="-122"/>
                  <a:cs typeface="Calibri" pitchFamily="34" charset="-120"/>
                </a:rPr>
                <a:t>Perons</a:t>
              </a:r>
              <a:r>
                <a:rPr lang="en-US" sz="1100" dirty="0">
                  <a:solidFill>
                    <a:srgbClr val="34373F"/>
                  </a:solidFill>
                  <a:latin typeface="Calibri" pitchFamily="34" charset="0"/>
                  <a:ea typeface="Calibri" pitchFamily="34" charset="-122"/>
                  <a:cs typeface="Calibri" pitchFamily="34" charset="-120"/>
                </a:rPr>
                <a:t> HCPs </a:t>
              </a: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Cover 53% of decile 5–10 targets</a:t>
              </a:r>
            </a:p>
            <a:p>
              <a:pPr marL="171450" indent="-171450">
                <a:buFont typeface="Arial" panose="020B0604020202020204" pitchFamily="34" charset="0"/>
                <a:buChar char="•"/>
                <a:defRPr/>
              </a:pPr>
              <a:r>
                <a:rPr lang="en-US" sz="1100" dirty="0">
                  <a:solidFill>
                    <a:srgbClr val="34373F"/>
                  </a:solidFill>
                  <a:latin typeface="Calibri" pitchFamily="34" charset="0"/>
                  <a:ea typeface="Calibri" pitchFamily="34" charset="-122"/>
                  <a:cs typeface="Calibri" pitchFamily="34" charset="-120"/>
                </a:rPr>
                <a:t>Super </a:t>
              </a:r>
              <a:r>
                <a:rPr lang="en-US" sz="1100" dirty="0" err="1">
                  <a:solidFill>
                    <a:srgbClr val="34373F"/>
                  </a:solidFill>
                  <a:latin typeface="Calibri" pitchFamily="34" charset="0"/>
                  <a:ea typeface="Calibri" pitchFamily="34" charset="-122"/>
                  <a:cs typeface="Calibri" pitchFamily="34" charset="-120"/>
                </a:rPr>
                <a:t>Diagnosers</a:t>
              </a:r>
              <a:r>
                <a:rPr lang="en-US" sz="1100" dirty="0">
                  <a:solidFill>
                    <a:srgbClr val="34373F"/>
                  </a:solidFill>
                  <a:latin typeface="Calibri" pitchFamily="34" charset="0"/>
                  <a:ea typeface="Calibri" pitchFamily="34" charset="-122"/>
                  <a:cs typeface="Calibri" pitchFamily="34" charset="-120"/>
                </a:rPr>
                <a:t> and Treaters Manage NT volumes 16x / 7x above average; 73–75% Innovators. 280 Bridgers link the broader HCP network</a:t>
              </a:r>
              <a:endParaRPr lang="en-US" sz="1100" dirty="0">
                <a:solidFill>
                  <a:prstClr val="black"/>
                </a:solidFill>
              </a:endParaRPr>
            </a:p>
          </p:txBody>
        </p:sp>
        <p:sp>
          <p:nvSpPr>
            <p:cNvPr id="40" name="Shape 23">
              <a:extLst>
                <a:ext uri="{FF2B5EF4-FFF2-40B4-BE49-F238E27FC236}">
                  <a16:creationId xmlns:a16="http://schemas.microsoft.com/office/drawing/2014/main" id="{3D977F38-5594-624A-DA4F-7C2435883876}"/>
                </a:ext>
              </a:extLst>
            </p:cNvPr>
            <p:cNvSpPr/>
            <p:nvPr/>
          </p:nvSpPr>
          <p:spPr>
            <a:xfrm>
              <a:off x="6327647" y="1298448"/>
              <a:ext cx="5494897" cy="1104138"/>
            </a:xfrm>
            <a:prstGeom prst="rect">
              <a:avLst/>
            </a:prstGeom>
            <a:solidFill>
              <a:srgbClr val="EDF2F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24">
              <a:extLst>
                <a:ext uri="{FF2B5EF4-FFF2-40B4-BE49-F238E27FC236}">
                  <a16:creationId xmlns:a16="http://schemas.microsoft.com/office/drawing/2014/main" id="{665252D9-A6D5-16C3-FD60-207534F33A22}"/>
                </a:ext>
              </a:extLst>
            </p:cNvPr>
            <p:cNvSpPr/>
            <p:nvPr/>
          </p:nvSpPr>
          <p:spPr>
            <a:xfrm>
              <a:off x="6327648" y="1298448"/>
              <a:ext cx="5413248"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Primary conversion targets at launch</a:t>
              </a:r>
              <a:b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b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Focus engagement on mechanism differentiation, clinical benefits, and appropriate patient identification for </a:t>
              </a:r>
              <a:r>
                <a:rPr kumimoji="0" lang="en-US" sz="1100" b="0" i="0" u="none" strike="noStrike" kern="1200" cap="none" spc="0" normalizeH="0" baseline="0" noProof="0" dirty="0" err="1">
                  <a:ln>
                    <a:noFill/>
                  </a:ln>
                  <a:solidFill>
                    <a:srgbClr val="6B6F78"/>
                  </a:solidFill>
                  <a:effectLst/>
                  <a:uLnTx/>
                  <a:uFillTx/>
                  <a:latin typeface="Calibri" pitchFamily="34" charset="0"/>
                  <a:ea typeface="Calibri" pitchFamily="34" charset="-122"/>
                  <a:cs typeface="Calibri" pitchFamily="34" charset="-120"/>
                </a:rPr>
                <a:t>oveporexton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3" name="Group 22">
            <a:extLst>
              <a:ext uri="{FF2B5EF4-FFF2-40B4-BE49-F238E27FC236}">
                <a16:creationId xmlns:a16="http://schemas.microsoft.com/office/drawing/2014/main" id="{2C7E5145-32DC-B523-3DFC-297BC0224849}"/>
              </a:ext>
            </a:extLst>
          </p:cNvPr>
          <p:cNvGrpSpPr/>
          <p:nvPr/>
        </p:nvGrpSpPr>
        <p:grpSpPr>
          <a:xfrm>
            <a:off x="457200" y="2110129"/>
            <a:ext cx="11365344" cy="970163"/>
            <a:chOff x="457200" y="2494026"/>
            <a:chExt cx="11365344" cy="1104138"/>
          </a:xfrm>
        </p:grpSpPr>
        <p:sp>
          <p:nvSpPr>
            <p:cNvPr id="9" name="Shape 11">
              <a:extLst>
                <a:ext uri="{FF2B5EF4-FFF2-40B4-BE49-F238E27FC236}">
                  <a16:creationId xmlns:a16="http://schemas.microsoft.com/office/drawing/2014/main" id="{47D9E13D-F9D2-8B36-E5F0-7A67F895CFF5}"/>
                </a:ext>
              </a:extLst>
            </p:cNvPr>
            <p:cNvSpPr/>
            <p:nvPr/>
          </p:nvSpPr>
          <p:spPr>
            <a:xfrm>
              <a:off x="457200" y="2494026"/>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12">
              <a:extLst>
                <a:ext uri="{FF2B5EF4-FFF2-40B4-BE49-F238E27FC236}">
                  <a16:creationId xmlns:a16="http://schemas.microsoft.com/office/drawing/2014/main" id="{3767D441-8418-3326-814C-E3D9C30EC9CD}"/>
                </a:ext>
              </a:extLst>
            </p:cNvPr>
            <p:cNvSpPr/>
            <p:nvPr/>
          </p:nvSpPr>
          <p:spPr>
            <a:xfrm>
              <a:off x="457200" y="2494026"/>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280 + 1,271 + 549</a:t>
              </a:r>
              <a:b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b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Bridgers, Key Influencers, Super Referrers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13">
              <a:extLst>
                <a:ext uri="{FF2B5EF4-FFF2-40B4-BE49-F238E27FC236}">
                  <a16:creationId xmlns:a16="http://schemas.microsoft.com/office/drawing/2014/main" id="{9ECB9952-C575-EAB8-794B-B33BBD2E6271}"/>
                </a:ext>
              </a:extLst>
            </p:cNvPr>
            <p:cNvSpPr/>
            <p:nvPr/>
          </p:nvSpPr>
          <p:spPr>
            <a:xfrm>
              <a:off x="1874520" y="2494026"/>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4">
              <a:extLst>
                <a:ext uri="{FF2B5EF4-FFF2-40B4-BE49-F238E27FC236}">
                  <a16:creationId xmlns:a16="http://schemas.microsoft.com/office/drawing/2014/main" id="{9484F27B-4060-E535-3545-C209A8606C40}"/>
                </a:ext>
              </a:extLst>
            </p:cNvPr>
            <p:cNvSpPr/>
            <p:nvPr/>
          </p:nvSpPr>
          <p:spPr>
            <a:xfrm>
              <a:off x="1874520" y="2494026"/>
              <a:ext cx="3995928" cy="1104138"/>
            </a:xfrm>
            <a:prstGeom prst="rect">
              <a:avLst/>
            </a:prstGeom>
            <a:noFill/>
            <a:ln/>
          </p:spPr>
          <p:txBody>
            <a:bodyPr wrap="square" lIns="101600" tIns="190500" rIns="190500" bIns="101600"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Bridgers connect the broader HCP universe to clinical anchors, ensuring patients reach appropriate care.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Key Influencers are the most cross-connected HCPs in the network (Top 90th percentile) while Super Referrers (53% PCP) consistently forward patients toward the NT1 care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25">
              <a:extLst>
                <a:ext uri="{FF2B5EF4-FFF2-40B4-BE49-F238E27FC236}">
                  <a16:creationId xmlns:a16="http://schemas.microsoft.com/office/drawing/2014/main" id="{377CA843-2E00-2FB2-31BB-ED3CD1539980}"/>
                </a:ext>
              </a:extLst>
            </p:cNvPr>
            <p:cNvSpPr/>
            <p:nvPr/>
          </p:nvSpPr>
          <p:spPr>
            <a:xfrm>
              <a:off x="6327648" y="2494026"/>
              <a:ext cx="5494896" cy="1104138"/>
            </a:xfrm>
            <a:prstGeom prst="rect">
              <a:avLst/>
            </a:prstGeom>
            <a:solidFill>
              <a:srgbClr val="EDF2F4"/>
            </a:solidFill>
            <a:ln/>
          </p:spPr>
          <p:txBody>
            <a:bodyPr rIns="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26">
              <a:extLst>
                <a:ext uri="{FF2B5EF4-FFF2-40B4-BE49-F238E27FC236}">
                  <a16:creationId xmlns:a16="http://schemas.microsoft.com/office/drawing/2014/main" id="{82433B72-6B9E-775D-490D-23E223DD91E2}"/>
                </a:ext>
              </a:extLst>
            </p:cNvPr>
            <p:cNvSpPr/>
            <p:nvPr/>
          </p:nvSpPr>
          <p:spPr>
            <a:xfrm>
              <a:off x="6327647" y="2494026"/>
              <a:ext cx="5494897"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Scale referral flow and sustain patient momentum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Engage Bridgers to expand referral reach beyond anchor accounts into community 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Activate Key Influencers closer to launch to accelerate network-wide adoption through peer influence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Maintain Super Referrer engagement post-launch to sustain consistent patient flow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4" name="Group 23">
            <a:extLst>
              <a:ext uri="{FF2B5EF4-FFF2-40B4-BE49-F238E27FC236}">
                <a16:creationId xmlns:a16="http://schemas.microsoft.com/office/drawing/2014/main" id="{5C2DC3EC-76F4-0D63-4EB8-0D04F9A86311}"/>
              </a:ext>
            </a:extLst>
          </p:cNvPr>
          <p:cNvGrpSpPr/>
          <p:nvPr/>
        </p:nvGrpSpPr>
        <p:grpSpPr>
          <a:xfrm>
            <a:off x="457200" y="3224270"/>
            <a:ext cx="11365344" cy="970163"/>
            <a:chOff x="457200" y="3689604"/>
            <a:chExt cx="11365344" cy="1104138"/>
          </a:xfrm>
        </p:grpSpPr>
        <p:sp>
          <p:nvSpPr>
            <p:cNvPr id="13" name="Shape 15">
              <a:extLst>
                <a:ext uri="{FF2B5EF4-FFF2-40B4-BE49-F238E27FC236}">
                  <a16:creationId xmlns:a16="http://schemas.microsoft.com/office/drawing/2014/main" id="{1FAC50E9-7750-F04F-8C20-E02141A3D2C7}"/>
                </a:ext>
              </a:extLst>
            </p:cNvPr>
            <p:cNvSpPr/>
            <p:nvPr/>
          </p:nvSpPr>
          <p:spPr>
            <a:xfrm>
              <a:off x="457200" y="3689604"/>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6">
              <a:extLst>
                <a:ext uri="{FF2B5EF4-FFF2-40B4-BE49-F238E27FC236}">
                  <a16:creationId xmlns:a16="http://schemas.microsoft.com/office/drawing/2014/main" id="{82FEE0A7-95E7-4E8A-9A16-430CFB3B66A9}"/>
                </a:ext>
              </a:extLst>
            </p:cNvPr>
            <p:cNvSpPr/>
            <p:nvPr/>
          </p:nvSpPr>
          <p:spPr>
            <a:xfrm>
              <a:off x="457200" y="3689604"/>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278</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Untapped High-Influence HCPs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7">
              <a:extLst>
                <a:ext uri="{FF2B5EF4-FFF2-40B4-BE49-F238E27FC236}">
                  <a16:creationId xmlns:a16="http://schemas.microsoft.com/office/drawing/2014/main" id="{5CF3CB07-76D4-87E4-645B-E190BCE57CDC}"/>
                </a:ext>
              </a:extLst>
            </p:cNvPr>
            <p:cNvSpPr/>
            <p:nvPr/>
          </p:nvSpPr>
          <p:spPr>
            <a:xfrm>
              <a:off x="1874520" y="3689604"/>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18">
              <a:extLst>
                <a:ext uri="{FF2B5EF4-FFF2-40B4-BE49-F238E27FC236}">
                  <a16:creationId xmlns:a16="http://schemas.microsoft.com/office/drawing/2014/main" id="{D4D97323-D570-699B-EEFC-5DA9843BDF2B}"/>
                </a:ext>
              </a:extLst>
            </p:cNvPr>
            <p:cNvSpPr/>
            <p:nvPr/>
          </p:nvSpPr>
          <p:spPr>
            <a:xfrm>
              <a:off x="1874520" y="3689604"/>
              <a:ext cx="3995928" cy="1104138"/>
            </a:xfrm>
            <a:prstGeom prst="rect">
              <a:avLst/>
            </a:prstGeom>
            <a:noFill/>
            <a:ln/>
          </p:spPr>
          <p:txBody>
            <a:bodyPr wrap="square" lIns="101600" tIns="190500" rIns="190500" bIns="101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Outside Takeda’s engagement but have disproportionately high professional influence through their digital social network activity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27">
              <a:extLst>
                <a:ext uri="{FF2B5EF4-FFF2-40B4-BE49-F238E27FC236}">
                  <a16:creationId xmlns:a16="http://schemas.microsoft.com/office/drawing/2014/main" id="{9BFBCA10-A2D2-AE73-5AC9-F1301E5E33FF}"/>
                </a:ext>
              </a:extLst>
            </p:cNvPr>
            <p:cNvSpPr/>
            <p:nvPr/>
          </p:nvSpPr>
          <p:spPr>
            <a:xfrm>
              <a:off x="6327648" y="3689604"/>
              <a:ext cx="5494896" cy="1104138"/>
            </a:xfrm>
            <a:prstGeom prst="rect">
              <a:avLst/>
            </a:prstGeom>
            <a:solidFill>
              <a:srgbClr val="EDF2F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28">
              <a:extLst>
                <a:ext uri="{FF2B5EF4-FFF2-40B4-BE49-F238E27FC236}">
                  <a16:creationId xmlns:a16="http://schemas.microsoft.com/office/drawing/2014/main" id="{846A73CB-1543-A65D-9386-5E0F85CA64F5}"/>
                </a:ext>
              </a:extLst>
            </p:cNvPr>
            <p:cNvSpPr/>
            <p:nvPr/>
          </p:nvSpPr>
          <p:spPr>
            <a:xfrm>
              <a:off x="6327647" y="3689604"/>
              <a:ext cx="5494897"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Activate for scientific outreach and indirect network influence pre-launch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Engage ahead of launch for </a:t>
              </a:r>
              <a:r>
                <a:rPr kumimoji="0" lang="en-US" sz="1100" b="0" i="0" u="none" strike="noStrike" kern="1200" cap="none" spc="0" normalizeH="0" baseline="0" noProof="0" dirty="0" err="1">
                  <a:ln>
                    <a:noFill/>
                  </a:ln>
                  <a:solidFill>
                    <a:srgbClr val="6B6F78"/>
                  </a:solidFill>
                  <a:effectLst/>
                  <a:uLnTx/>
                  <a:uFillTx/>
                  <a:latin typeface="Calibri" pitchFamily="34" charset="0"/>
                  <a:ea typeface="Calibri" pitchFamily="34" charset="-122"/>
                  <a:cs typeface="Calibri" pitchFamily="34" charset="-120"/>
                </a:rPr>
                <a:t>oveporexton</a:t>
              </a: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 scientific communication.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5" name="Group 24">
            <a:extLst>
              <a:ext uri="{FF2B5EF4-FFF2-40B4-BE49-F238E27FC236}">
                <a16:creationId xmlns:a16="http://schemas.microsoft.com/office/drawing/2014/main" id="{C414F3EF-695F-1B13-25B5-FBDB5F90D20E}"/>
              </a:ext>
            </a:extLst>
          </p:cNvPr>
          <p:cNvGrpSpPr/>
          <p:nvPr/>
        </p:nvGrpSpPr>
        <p:grpSpPr>
          <a:xfrm>
            <a:off x="457200" y="4338411"/>
            <a:ext cx="11365344" cy="970163"/>
            <a:chOff x="457200" y="4885182"/>
            <a:chExt cx="11365344" cy="1104138"/>
          </a:xfrm>
        </p:grpSpPr>
        <p:sp>
          <p:nvSpPr>
            <p:cNvPr id="36" name="Shape 19">
              <a:extLst>
                <a:ext uri="{FF2B5EF4-FFF2-40B4-BE49-F238E27FC236}">
                  <a16:creationId xmlns:a16="http://schemas.microsoft.com/office/drawing/2014/main" id="{DAC15B44-2922-369E-8AE6-83A2A0BC30D2}"/>
                </a:ext>
              </a:extLst>
            </p:cNvPr>
            <p:cNvSpPr/>
            <p:nvPr/>
          </p:nvSpPr>
          <p:spPr>
            <a:xfrm>
              <a:off x="457200" y="4885182"/>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20">
              <a:extLst>
                <a:ext uri="{FF2B5EF4-FFF2-40B4-BE49-F238E27FC236}">
                  <a16:creationId xmlns:a16="http://schemas.microsoft.com/office/drawing/2014/main" id="{E60AB78F-B8DD-E05A-5365-2E88E5C8A779}"/>
                </a:ext>
              </a:extLst>
            </p:cNvPr>
            <p:cNvSpPr/>
            <p:nvPr/>
          </p:nvSpPr>
          <p:spPr>
            <a:xfrm>
              <a:off x="457200" y="4885182"/>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~70%</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Misdiagnosis Rate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21">
              <a:extLst>
                <a:ext uri="{FF2B5EF4-FFF2-40B4-BE49-F238E27FC236}">
                  <a16:creationId xmlns:a16="http://schemas.microsoft.com/office/drawing/2014/main" id="{4FF78835-2DF0-23EF-58EA-42E4D5C2B582}"/>
                </a:ext>
              </a:extLst>
            </p:cNvPr>
            <p:cNvSpPr/>
            <p:nvPr/>
          </p:nvSpPr>
          <p:spPr>
            <a:xfrm>
              <a:off x="1874520" y="4885182"/>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22">
              <a:extLst>
                <a:ext uri="{FF2B5EF4-FFF2-40B4-BE49-F238E27FC236}">
                  <a16:creationId xmlns:a16="http://schemas.microsoft.com/office/drawing/2014/main" id="{9F88F9B3-5220-DD7D-0CA8-D649F26995DB}"/>
                </a:ext>
              </a:extLst>
            </p:cNvPr>
            <p:cNvSpPr/>
            <p:nvPr/>
          </p:nvSpPr>
          <p:spPr>
            <a:xfrm>
              <a:off x="1874520" y="4885182"/>
              <a:ext cx="3995928" cy="1104138"/>
            </a:xfrm>
            <a:prstGeom prst="rect">
              <a:avLst/>
            </a:prstGeom>
            <a:noFill/>
            <a:ln/>
          </p:spPr>
          <p:txBody>
            <a:bodyPr wrap="square" lIns="101600" tIns="190500" rIns="190500" bIns="101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Delays of 344–361 days across top pathways with leakage patterns varying by specialty. 5,023 sink nodes stall patient flow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29">
              <a:extLst>
                <a:ext uri="{FF2B5EF4-FFF2-40B4-BE49-F238E27FC236}">
                  <a16:creationId xmlns:a16="http://schemas.microsoft.com/office/drawing/2014/main" id="{1206B4CD-568D-5EA9-DC85-462C42C488A0}"/>
                </a:ext>
              </a:extLst>
            </p:cNvPr>
            <p:cNvSpPr/>
            <p:nvPr/>
          </p:nvSpPr>
          <p:spPr>
            <a:xfrm>
              <a:off x="6327648" y="4885182"/>
              <a:ext cx="5494896" cy="1104138"/>
            </a:xfrm>
            <a:prstGeom prst="rect">
              <a:avLst/>
            </a:prstGeom>
            <a:solidFill>
              <a:srgbClr val="EDF2F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30">
              <a:extLst>
                <a:ext uri="{FF2B5EF4-FFF2-40B4-BE49-F238E27FC236}">
                  <a16:creationId xmlns:a16="http://schemas.microsoft.com/office/drawing/2014/main" id="{B05407FE-1040-1752-1935-C0A58C89B0B7}"/>
                </a:ext>
              </a:extLst>
            </p:cNvPr>
            <p:cNvSpPr/>
            <p:nvPr/>
          </p:nvSpPr>
          <p:spPr>
            <a:xfrm>
              <a:off x="6327647" y="4885182"/>
              <a:ext cx="5494897"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Reduce patient loss before diagnosis through targeted re-engagement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Identify and activate sink nodes with referral enablement and NT symptom education to convert passive nodes into active referrers with distinct engagement strategies by specialty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 name="Freeform 945">
            <a:extLst>
              <a:ext uri="{FF2B5EF4-FFF2-40B4-BE49-F238E27FC236}">
                <a16:creationId xmlns:a16="http://schemas.microsoft.com/office/drawing/2014/main" id="{0F40CAA6-0BE3-3CF8-A71B-5BC5BD3F98CC}"/>
              </a:ext>
            </a:extLst>
          </p:cNvPr>
          <p:cNvSpPr>
            <a:spLocks noChangeAspect="1" noChangeArrowheads="1"/>
          </p:cNvSpPr>
          <p:nvPr/>
        </p:nvSpPr>
        <p:spPr bwMode="auto">
          <a:xfrm>
            <a:off x="504530" y="221931"/>
            <a:ext cx="454501" cy="537345"/>
          </a:xfrm>
          <a:custGeom>
            <a:avLst/>
            <a:gdLst>
              <a:gd name="T0" fmla="*/ 632245 w 232462"/>
              <a:gd name="T1" fmla="*/ 3076609 h 289974"/>
              <a:gd name="T2" fmla="*/ 1993938 w 232462"/>
              <a:gd name="T3" fmla="*/ 3076609 h 289974"/>
              <a:gd name="T4" fmla="*/ 2091190 w 232462"/>
              <a:gd name="T5" fmla="*/ 2375186 h 289974"/>
              <a:gd name="T6" fmla="*/ 2038519 w 232462"/>
              <a:gd name="T7" fmla="*/ 3199466 h 289974"/>
              <a:gd name="T8" fmla="*/ 603868 w 232462"/>
              <a:gd name="T9" fmla="*/ 3195485 h 289974"/>
              <a:gd name="T10" fmla="*/ 534968 w 232462"/>
              <a:gd name="T11" fmla="*/ 2375186 h 289974"/>
              <a:gd name="T12" fmla="*/ 1193690 w 232462"/>
              <a:gd name="T13" fmla="*/ 1084957 h 289974"/>
              <a:gd name="T14" fmla="*/ 1084413 w 232462"/>
              <a:gd name="T15" fmla="*/ 1332847 h 289974"/>
              <a:gd name="T16" fmla="*/ 1290835 w 232462"/>
              <a:gd name="T17" fmla="*/ 1516759 h 289974"/>
              <a:gd name="T18" fmla="*/ 1529635 w 232462"/>
              <a:gd name="T19" fmla="*/ 1376818 h 289974"/>
              <a:gd name="T20" fmla="*/ 1468921 w 232462"/>
              <a:gd name="T21" fmla="*/ 1108951 h 289974"/>
              <a:gd name="T22" fmla="*/ 1270596 w 232462"/>
              <a:gd name="T23" fmla="*/ 713128 h 289974"/>
              <a:gd name="T24" fmla="*/ 1849413 w 232462"/>
              <a:gd name="T25" fmla="*/ 1064956 h 289974"/>
              <a:gd name="T26" fmla="*/ 1630824 w 232462"/>
              <a:gd name="T27" fmla="*/ 1384830 h 289974"/>
              <a:gd name="T28" fmla="*/ 1618692 w 232462"/>
              <a:gd name="T29" fmla="*/ 1772641 h 289974"/>
              <a:gd name="T30" fmla="*/ 987257 w 232462"/>
              <a:gd name="T31" fmla="*/ 1776636 h 289974"/>
              <a:gd name="T32" fmla="*/ 995349 w 232462"/>
              <a:gd name="T33" fmla="*/ 1384830 h 289974"/>
              <a:gd name="T34" fmla="*/ 776770 w 232462"/>
              <a:gd name="T35" fmla="*/ 1064956 h 289974"/>
              <a:gd name="T36" fmla="*/ 1306159 w 232462"/>
              <a:gd name="T37" fmla="*/ 482625 h 289974"/>
              <a:gd name="T38" fmla="*/ 2119160 w 232462"/>
              <a:gd name="T39" fmla="*/ 1276673 h 289974"/>
              <a:gd name="T40" fmla="*/ 2216743 w 232462"/>
              <a:gd name="T41" fmla="*/ 1276673 h 289974"/>
              <a:gd name="T42" fmla="*/ 1306159 w 232462"/>
              <a:gd name="T43" fmla="*/ 383378 h 289974"/>
              <a:gd name="T44" fmla="*/ 1083222 w 232462"/>
              <a:gd name="T45" fmla="*/ 251380 h 289974"/>
              <a:gd name="T46" fmla="*/ 700781 w 232462"/>
              <a:gd name="T47" fmla="*/ 417639 h 289974"/>
              <a:gd name="T48" fmla="*/ 407860 w 232462"/>
              <a:gd name="T49" fmla="*/ 710574 h 289974"/>
              <a:gd name="T50" fmla="*/ 253257 w 232462"/>
              <a:gd name="T51" fmla="*/ 1090626 h 289974"/>
              <a:gd name="T52" fmla="*/ 261393 w 232462"/>
              <a:gd name="T53" fmla="*/ 1498350 h 289974"/>
              <a:gd name="T54" fmla="*/ 428191 w 232462"/>
              <a:gd name="T55" fmla="*/ 1874447 h 289974"/>
              <a:gd name="T56" fmla="*/ 733337 w 232462"/>
              <a:gd name="T57" fmla="*/ 2159477 h 289974"/>
              <a:gd name="T58" fmla="*/ 1095420 w 232462"/>
              <a:gd name="T59" fmla="*/ 2298020 h 289974"/>
              <a:gd name="T60" fmla="*/ 1506329 w 232462"/>
              <a:gd name="T61" fmla="*/ 2309889 h 289974"/>
              <a:gd name="T62" fmla="*/ 1896907 w 232462"/>
              <a:gd name="T63" fmla="*/ 2159477 h 289974"/>
              <a:gd name="T64" fmla="*/ 2197968 w 232462"/>
              <a:gd name="T65" fmla="*/ 1874447 h 289974"/>
              <a:gd name="T66" fmla="*/ 2368839 w 232462"/>
              <a:gd name="T67" fmla="*/ 1498350 h 289974"/>
              <a:gd name="T68" fmla="*/ 2372910 w 232462"/>
              <a:gd name="T69" fmla="*/ 1090626 h 289974"/>
              <a:gd name="T70" fmla="*/ 2222381 w 232462"/>
              <a:gd name="T71" fmla="*/ 710574 h 289974"/>
              <a:gd name="T72" fmla="*/ 1929440 w 232462"/>
              <a:gd name="T73" fmla="*/ 417639 h 289974"/>
              <a:gd name="T74" fmla="*/ 1546995 w 232462"/>
              <a:gd name="T75" fmla="*/ 251380 h 289974"/>
              <a:gd name="T76" fmla="*/ 1282577 w 232462"/>
              <a:gd name="T77" fmla="*/ 5940 h 289974"/>
              <a:gd name="T78" fmla="*/ 1787059 w 232462"/>
              <a:gd name="T79" fmla="*/ 93038 h 289974"/>
              <a:gd name="T80" fmla="*/ 2214256 w 232462"/>
              <a:gd name="T81" fmla="*/ 358253 h 289974"/>
              <a:gd name="T82" fmla="*/ 2507166 w 232462"/>
              <a:gd name="T83" fmla="*/ 762044 h 289974"/>
              <a:gd name="T84" fmla="*/ 2617013 w 232462"/>
              <a:gd name="T85" fmla="*/ 1245006 h 289974"/>
              <a:gd name="T86" fmla="*/ 2531574 w 232462"/>
              <a:gd name="T87" fmla="*/ 1735895 h 289974"/>
              <a:gd name="T88" fmla="*/ 2258976 w 232462"/>
              <a:gd name="T89" fmla="*/ 2151533 h 289974"/>
              <a:gd name="T90" fmla="*/ 1839944 w 232462"/>
              <a:gd name="T91" fmla="*/ 2436573 h 289974"/>
              <a:gd name="T92" fmla="*/ 1343589 w 232462"/>
              <a:gd name="T93" fmla="*/ 2543461 h 289974"/>
              <a:gd name="T94" fmla="*/ 1083222 w 232462"/>
              <a:gd name="T95" fmla="*/ 2400937 h 289974"/>
              <a:gd name="T96" fmla="*/ 660104 w 232462"/>
              <a:gd name="T97" fmla="*/ 2226766 h 289974"/>
              <a:gd name="T98" fmla="*/ 334636 w 232462"/>
              <a:gd name="T99" fmla="*/ 1910073 h 289974"/>
              <a:gd name="T100" fmla="*/ 159692 w 232462"/>
              <a:gd name="T101" fmla="*/ 1498350 h 289974"/>
              <a:gd name="T102" fmla="*/ 159692 w 232462"/>
              <a:gd name="T103" fmla="*/ 1051026 h 289974"/>
              <a:gd name="T104" fmla="*/ 334636 w 232462"/>
              <a:gd name="T105" fmla="*/ 639327 h 289974"/>
              <a:gd name="T106" fmla="*/ 660104 w 232462"/>
              <a:gd name="T107" fmla="*/ 322629 h 289974"/>
              <a:gd name="T108" fmla="*/ 1083222 w 232462"/>
              <a:gd name="T109" fmla="*/ 152424 h 2899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62" h="289974">
                <a:moveTo>
                  <a:pt x="51660" y="210958"/>
                </a:moveTo>
                <a:cubicBezTo>
                  <a:pt x="54171" y="210958"/>
                  <a:pt x="55965" y="212754"/>
                  <a:pt x="55965" y="215268"/>
                </a:cubicBezTo>
                <a:lnTo>
                  <a:pt x="55965" y="278840"/>
                </a:lnTo>
                <a:lnTo>
                  <a:pt x="114438" y="251903"/>
                </a:lnTo>
                <a:cubicBezTo>
                  <a:pt x="115514" y="251543"/>
                  <a:pt x="116949" y="251543"/>
                  <a:pt x="118025" y="251903"/>
                </a:cubicBezTo>
                <a:lnTo>
                  <a:pt x="176499" y="278840"/>
                </a:lnTo>
                <a:lnTo>
                  <a:pt x="176499" y="215268"/>
                </a:lnTo>
                <a:cubicBezTo>
                  <a:pt x="176499" y="212754"/>
                  <a:pt x="178292" y="210958"/>
                  <a:pt x="180445" y="210958"/>
                </a:cubicBezTo>
                <a:cubicBezTo>
                  <a:pt x="182956" y="210958"/>
                  <a:pt x="185108" y="212754"/>
                  <a:pt x="185108" y="215268"/>
                </a:cubicBezTo>
                <a:lnTo>
                  <a:pt x="185108" y="285305"/>
                </a:lnTo>
                <a:cubicBezTo>
                  <a:pt x="185108" y="287101"/>
                  <a:pt x="184391" y="288537"/>
                  <a:pt x="182956" y="289256"/>
                </a:cubicBezTo>
                <a:cubicBezTo>
                  <a:pt x="182239" y="289615"/>
                  <a:pt x="181521" y="289974"/>
                  <a:pt x="180445" y="289974"/>
                </a:cubicBezTo>
                <a:cubicBezTo>
                  <a:pt x="180086" y="289974"/>
                  <a:pt x="179369" y="289974"/>
                  <a:pt x="178651" y="289615"/>
                </a:cubicBezTo>
                <a:lnTo>
                  <a:pt x="116232" y="260882"/>
                </a:lnTo>
                <a:lnTo>
                  <a:pt x="53453" y="289615"/>
                </a:lnTo>
                <a:cubicBezTo>
                  <a:pt x="52377" y="289974"/>
                  <a:pt x="50584" y="289974"/>
                  <a:pt x="49149" y="289256"/>
                </a:cubicBezTo>
                <a:cubicBezTo>
                  <a:pt x="48072" y="288537"/>
                  <a:pt x="47355" y="287101"/>
                  <a:pt x="47355" y="285305"/>
                </a:cubicBezTo>
                <a:lnTo>
                  <a:pt x="47355" y="215268"/>
                </a:lnTo>
                <a:cubicBezTo>
                  <a:pt x="47355" y="212754"/>
                  <a:pt x="49149" y="210958"/>
                  <a:pt x="51660" y="210958"/>
                </a:cubicBezTo>
                <a:close/>
                <a:moveTo>
                  <a:pt x="116411" y="76590"/>
                </a:moveTo>
                <a:lnTo>
                  <a:pt x="105662" y="98332"/>
                </a:lnTo>
                <a:cubicBezTo>
                  <a:pt x="104946" y="99419"/>
                  <a:pt x="104229" y="100143"/>
                  <a:pt x="102438" y="100506"/>
                </a:cubicBezTo>
                <a:lnTo>
                  <a:pt x="79149" y="103767"/>
                </a:lnTo>
                <a:lnTo>
                  <a:pt x="95989" y="120798"/>
                </a:lnTo>
                <a:cubicBezTo>
                  <a:pt x="97063" y="121885"/>
                  <a:pt x="97422" y="123335"/>
                  <a:pt x="97422" y="124784"/>
                </a:cubicBezTo>
                <a:lnTo>
                  <a:pt x="93480" y="148338"/>
                </a:lnTo>
                <a:lnTo>
                  <a:pt x="114261" y="137467"/>
                </a:lnTo>
                <a:cubicBezTo>
                  <a:pt x="115695" y="136380"/>
                  <a:pt x="117128" y="136380"/>
                  <a:pt x="118203" y="137467"/>
                </a:cubicBezTo>
                <a:lnTo>
                  <a:pt x="139342" y="148338"/>
                </a:lnTo>
                <a:lnTo>
                  <a:pt x="135401" y="124784"/>
                </a:lnTo>
                <a:cubicBezTo>
                  <a:pt x="135042" y="123335"/>
                  <a:pt x="135401" y="121885"/>
                  <a:pt x="136834" y="120798"/>
                </a:cubicBezTo>
                <a:lnTo>
                  <a:pt x="153673" y="103767"/>
                </a:lnTo>
                <a:lnTo>
                  <a:pt x="130026" y="100506"/>
                </a:lnTo>
                <a:cubicBezTo>
                  <a:pt x="128593" y="100143"/>
                  <a:pt x="127518" y="99419"/>
                  <a:pt x="127160" y="98332"/>
                </a:cubicBezTo>
                <a:lnTo>
                  <a:pt x="116411" y="76590"/>
                </a:lnTo>
                <a:close/>
                <a:moveTo>
                  <a:pt x="112470" y="64632"/>
                </a:moveTo>
                <a:cubicBezTo>
                  <a:pt x="113903" y="61733"/>
                  <a:pt x="118919" y="61733"/>
                  <a:pt x="120352" y="64632"/>
                </a:cubicBezTo>
                <a:lnTo>
                  <a:pt x="133609" y="92171"/>
                </a:lnTo>
                <a:lnTo>
                  <a:pt x="163706" y="96520"/>
                </a:lnTo>
                <a:cubicBezTo>
                  <a:pt x="165497" y="96520"/>
                  <a:pt x="166930" y="97969"/>
                  <a:pt x="167289" y="99419"/>
                </a:cubicBezTo>
                <a:cubicBezTo>
                  <a:pt x="167647" y="101231"/>
                  <a:pt x="167289" y="103042"/>
                  <a:pt x="166214" y="104129"/>
                </a:cubicBezTo>
                <a:lnTo>
                  <a:pt x="144358" y="125509"/>
                </a:lnTo>
                <a:lnTo>
                  <a:pt x="149732" y="155947"/>
                </a:lnTo>
                <a:cubicBezTo>
                  <a:pt x="149732" y="157759"/>
                  <a:pt x="149374" y="159208"/>
                  <a:pt x="147941" y="160296"/>
                </a:cubicBezTo>
                <a:cubicBezTo>
                  <a:pt x="146508" y="161383"/>
                  <a:pt x="144716" y="161383"/>
                  <a:pt x="143283" y="160658"/>
                </a:cubicBezTo>
                <a:lnTo>
                  <a:pt x="116411" y="146163"/>
                </a:lnTo>
                <a:lnTo>
                  <a:pt x="89539" y="160658"/>
                </a:lnTo>
                <a:cubicBezTo>
                  <a:pt x="88823" y="160658"/>
                  <a:pt x="88106" y="161020"/>
                  <a:pt x="87390" y="161020"/>
                </a:cubicBezTo>
                <a:cubicBezTo>
                  <a:pt x="86673" y="161020"/>
                  <a:pt x="85598" y="160658"/>
                  <a:pt x="84881" y="160296"/>
                </a:cubicBezTo>
                <a:cubicBezTo>
                  <a:pt x="83448" y="159208"/>
                  <a:pt x="82732" y="157759"/>
                  <a:pt x="83090" y="155947"/>
                </a:cubicBezTo>
                <a:lnTo>
                  <a:pt x="88106" y="125509"/>
                </a:lnTo>
                <a:lnTo>
                  <a:pt x="66250" y="104129"/>
                </a:lnTo>
                <a:cubicBezTo>
                  <a:pt x="65175" y="103042"/>
                  <a:pt x="64817" y="101231"/>
                  <a:pt x="65175" y="99419"/>
                </a:cubicBezTo>
                <a:cubicBezTo>
                  <a:pt x="65892" y="97969"/>
                  <a:pt x="67325" y="96520"/>
                  <a:pt x="68758" y="96520"/>
                </a:cubicBezTo>
                <a:lnTo>
                  <a:pt x="98855" y="92171"/>
                </a:lnTo>
                <a:lnTo>
                  <a:pt x="112470" y="64632"/>
                </a:lnTo>
                <a:close/>
                <a:moveTo>
                  <a:pt x="115618" y="43741"/>
                </a:moveTo>
                <a:cubicBezTo>
                  <a:pt x="76036" y="43741"/>
                  <a:pt x="43651" y="76126"/>
                  <a:pt x="43651" y="115708"/>
                </a:cubicBezTo>
                <a:cubicBezTo>
                  <a:pt x="43651" y="155289"/>
                  <a:pt x="76036" y="187674"/>
                  <a:pt x="115618" y="187674"/>
                </a:cubicBezTo>
                <a:cubicBezTo>
                  <a:pt x="155199" y="187674"/>
                  <a:pt x="187584" y="155289"/>
                  <a:pt x="187584" y="115708"/>
                </a:cubicBezTo>
                <a:cubicBezTo>
                  <a:pt x="187584" y="76126"/>
                  <a:pt x="155199" y="43741"/>
                  <a:pt x="115618" y="43741"/>
                </a:cubicBezTo>
                <a:close/>
                <a:moveTo>
                  <a:pt x="115618" y="34745"/>
                </a:moveTo>
                <a:cubicBezTo>
                  <a:pt x="159877" y="34745"/>
                  <a:pt x="196220" y="71088"/>
                  <a:pt x="196220" y="115708"/>
                </a:cubicBezTo>
                <a:cubicBezTo>
                  <a:pt x="196220" y="159967"/>
                  <a:pt x="159877" y="196310"/>
                  <a:pt x="115618" y="196310"/>
                </a:cubicBezTo>
                <a:cubicBezTo>
                  <a:pt x="70998" y="196310"/>
                  <a:pt x="34655" y="159967"/>
                  <a:pt x="34655" y="115708"/>
                </a:cubicBezTo>
                <a:cubicBezTo>
                  <a:pt x="34655" y="71088"/>
                  <a:pt x="70998" y="34745"/>
                  <a:pt x="115618" y="34745"/>
                </a:cubicBezTo>
                <a:close/>
                <a:moveTo>
                  <a:pt x="116411" y="9866"/>
                </a:moveTo>
                <a:lnTo>
                  <a:pt x="99485" y="22065"/>
                </a:lnTo>
                <a:cubicBezTo>
                  <a:pt x="98405" y="22782"/>
                  <a:pt x="97324" y="23141"/>
                  <a:pt x="95884" y="22782"/>
                </a:cubicBezTo>
                <a:lnTo>
                  <a:pt x="75717" y="17759"/>
                </a:lnTo>
                <a:lnTo>
                  <a:pt x="64913" y="35698"/>
                </a:lnTo>
                <a:cubicBezTo>
                  <a:pt x="64193" y="36775"/>
                  <a:pt x="63112" y="37492"/>
                  <a:pt x="62032" y="37851"/>
                </a:cubicBezTo>
                <a:lnTo>
                  <a:pt x="41144" y="40721"/>
                </a:lnTo>
                <a:lnTo>
                  <a:pt x="37903" y="61531"/>
                </a:lnTo>
                <a:cubicBezTo>
                  <a:pt x="37903" y="62607"/>
                  <a:pt x="37183" y="63684"/>
                  <a:pt x="36103" y="64401"/>
                </a:cubicBezTo>
                <a:lnTo>
                  <a:pt x="18096" y="75165"/>
                </a:lnTo>
                <a:lnTo>
                  <a:pt x="23138" y="95257"/>
                </a:lnTo>
                <a:cubicBezTo>
                  <a:pt x="23498" y="96333"/>
                  <a:pt x="23138" y="97768"/>
                  <a:pt x="22418" y="98845"/>
                </a:cubicBezTo>
                <a:lnTo>
                  <a:pt x="10174" y="115708"/>
                </a:lnTo>
                <a:lnTo>
                  <a:pt x="22418" y="132212"/>
                </a:lnTo>
                <a:cubicBezTo>
                  <a:pt x="23138" y="133288"/>
                  <a:pt x="23498" y="134723"/>
                  <a:pt x="23138" y="135799"/>
                </a:cubicBezTo>
                <a:lnTo>
                  <a:pt x="18096" y="156250"/>
                </a:lnTo>
                <a:lnTo>
                  <a:pt x="36103" y="167014"/>
                </a:lnTo>
                <a:cubicBezTo>
                  <a:pt x="37183" y="167731"/>
                  <a:pt x="37903" y="168449"/>
                  <a:pt x="37903" y="169884"/>
                </a:cubicBezTo>
                <a:lnTo>
                  <a:pt x="41144" y="190335"/>
                </a:lnTo>
                <a:lnTo>
                  <a:pt x="62032" y="193564"/>
                </a:lnTo>
                <a:cubicBezTo>
                  <a:pt x="63112" y="193564"/>
                  <a:pt x="64193" y="194640"/>
                  <a:pt x="64913" y="195717"/>
                </a:cubicBezTo>
                <a:lnTo>
                  <a:pt x="75717" y="213656"/>
                </a:lnTo>
                <a:lnTo>
                  <a:pt x="95884" y="208274"/>
                </a:lnTo>
                <a:cubicBezTo>
                  <a:pt x="96244" y="208274"/>
                  <a:pt x="96604" y="208274"/>
                  <a:pt x="96964" y="208274"/>
                </a:cubicBezTo>
                <a:cubicBezTo>
                  <a:pt x="97685" y="208274"/>
                  <a:pt x="98765" y="208633"/>
                  <a:pt x="99485" y="209350"/>
                </a:cubicBezTo>
                <a:lnTo>
                  <a:pt x="116411" y="221549"/>
                </a:lnTo>
                <a:lnTo>
                  <a:pt x="133337" y="209350"/>
                </a:lnTo>
                <a:cubicBezTo>
                  <a:pt x="134417" y="208274"/>
                  <a:pt x="135498" y="208274"/>
                  <a:pt x="136938" y="208274"/>
                </a:cubicBezTo>
                <a:lnTo>
                  <a:pt x="157105" y="213656"/>
                </a:lnTo>
                <a:lnTo>
                  <a:pt x="167909" y="195717"/>
                </a:lnTo>
                <a:cubicBezTo>
                  <a:pt x="168629" y="194640"/>
                  <a:pt x="169710" y="193564"/>
                  <a:pt x="170790" y="193564"/>
                </a:cubicBezTo>
                <a:lnTo>
                  <a:pt x="191678" y="190335"/>
                </a:lnTo>
                <a:lnTo>
                  <a:pt x="194559" y="169884"/>
                </a:lnTo>
                <a:cubicBezTo>
                  <a:pt x="194559" y="168449"/>
                  <a:pt x="195639" y="167731"/>
                  <a:pt x="196719" y="167014"/>
                </a:cubicBezTo>
                <a:lnTo>
                  <a:pt x="214726" y="156250"/>
                </a:lnTo>
                <a:lnTo>
                  <a:pt x="209684" y="135799"/>
                </a:lnTo>
                <a:cubicBezTo>
                  <a:pt x="209324" y="134723"/>
                  <a:pt x="209684" y="133288"/>
                  <a:pt x="210044" y="132212"/>
                </a:cubicBezTo>
                <a:lnTo>
                  <a:pt x="222648" y="115708"/>
                </a:lnTo>
                <a:lnTo>
                  <a:pt x="210044" y="98845"/>
                </a:lnTo>
                <a:cubicBezTo>
                  <a:pt x="209684" y="97768"/>
                  <a:pt x="209324" y="96333"/>
                  <a:pt x="209684" y="95257"/>
                </a:cubicBezTo>
                <a:lnTo>
                  <a:pt x="214726" y="75165"/>
                </a:lnTo>
                <a:lnTo>
                  <a:pt x="196719" y="64401"/>
                </a:lnTo>
                <a:cubicBezTo>
                  <a:pt x="195639" y="63684"/>
                  <a:pt x="194559" y="62607"/>
                  <a:pt x="194559" y="61531"/>
                </a:cubicBezTo>
                <a:lnTo>
                  <a:pt x="191678" y="40721"/>
                </a:lnTo>
                <a:lnTo>
                  <a:pt x="170790" y="37851"/>
                </a:lnTo>
                <a:cubicBezTo>
                  <a:pt x="169710" y="37492"/>
                  <a:pt x="168629" y="36775"/>
                  <a:pt x="167909" y="35698"/>
                </a:cubicBezTo>
                <a:lnTo>
                  <a:pt x="157105" y="17759"/>
                </a:lnTo>
                <a:lnTo>
                  <a:pt x="136938" y="22782"/>
                </a:lnTo>
                <a:cubicBezTo>
                  <a:pt x="135498" y="23141"/>
                  <a:pt x="134417" y="22782"/>
                  <a:pt x="133337" y="22065"/>
                </a:cubicBezTo>
                <a:lnTo>
                  <a:pt x="116411" y="9866"/>
                </a:lnTo>
                <a:close/>
                <a:moveTo>
                  <a:pt x="113530" y="538"/>
                </a:moveTo>
                <a:cubicBezTo>
                  <a:pt x="115331" y="-180"/>
                  <a:pt x="117492" y="-180"/>
                  <a:pt x="118932" y="538"/>
                </a:cubicBezTo>
                <a:lnTo>
                  <a:pt x="136938" y="13813"/>
                </a:lnTo>
                <a:lnTo>
                  <a:pt x="158186" y="8431"/>
                </a:lnTo>
                <a:cubicBezTo>
                  <a:pt x="159986" y="8072"/>
                  <a:pt x="161787" y="8790"/>
                  <a:pt x="162867" y="10225"/>
                </a:cubicBezTo>
                <a:lnTo>
                  <a:pt x="174392" y="29240"/>
                </a:lnTo>
                <a:lnTo>
                  <a:pt x="195999" y="32469"/>
                </a:lnTo>
                <a:cubicBezTo>
                  <a:pt x="197800" y="32828"/>
                  <a:pt x="199240" y="34263"/>
                  <a:pt x="199960" y="36416"/>
                </a:cubicBezTo>
                <a:lnTo>
                  <a:pt x="202842" y="57943"/>
                </a:lnTo>
                <a:lnTo>
                  <a:pt x="221928" y="69066"/>
                </a:lnTo>
                <a:cubicBezTo>
                  <a:pt x="223369" y="70142"/>
                  <a:pt x="224449" y="72295"/>
                  <a:pt x="224089" y="74088"/>
                </a:cubicBezTo>
                <a:lnTo>
                  <a:pt x="218687" y="95257"/>
                </a:lnTo>
                <a:lnTo>
                  <a:pt x="231652" y="112837"/>
                </a:lnTo>
                <a:cubicBezTo>
                  <a:pt x="232732" y="114631"/>
                  <a:pt x="232732" y="116784"/>
                  <a:pt x="231652" y="118219"/>
                </a:cubicBezTo>
                <a:lnTo>
                  <a:pt x="218687" y="135799"/>
                </a:lnTo>
                <a:lnTo>
                  <a:pt x="224089" y="157327"/>
                </a:lnTo>
                <a:cubicBezTo>
                  <a:pt x="224449" y="159121"/>
                  <a:pt x="223369" y="160914"/>
                  <a:pt x="221928" y="161991"/>
                </a:cubicBezTo>
                <a:lnTo>
                  <a:pt x="202842" y="173113"/>
                </a:lnTo>
                <a:lnTo>
                  <a:pt x="199960" y="194999"/>
                </a:lnTo>
                <a:cubicBezTo>
                  <a:pt x="199240" y="196793"/>
                  <a:pt x="197800" y="198587"/>
                  <a:pt x="195999" y="198587"/>
                </a:cubicBezTo>
                <a:lnTo>
                  <a:pt x="174392" y="201816"/>
                </a:lnTo>
                <a:lnTo>
                  <a:pt x="162867" y="220831"/>
                </a:lnTo>
                <a:cubicBezTo>
                  <a:pt x="161787" y="222267"/>
                  <a:pt x="159986" y="222984"/>
                  <a:pt x="158186" y="222625"/>
                </a:cubicBezTo>
                <a:lnTo>
                  <a:pt x="136938" y="217602"/>
                </a:lnTo>
                <a:lnTo>
                  <a:pt x="118932" y="230519"/>
                </a:lnTo>
                <a:cubicBezTo>
                  <a:pt x="118212" y="231236"/>
                  <a:pt x="117131" y="231236"/>
                  <a:pt x="116411" y="231236"/>
                </a:cubicBezTo>
                <a:cubicBezTo>
                  <a:pt x="115331" y="231236"/>
                  <a:pt x="114610" y="231236"/>
                  <a:pt x="113530" y="230519"/>
                </a:cubicBezTo>
                <a:lnTo>
                  <a:pt x="95884" y="217602"/>
                </a:lnTo>
                <a:lnTo>
                  <a:pt x="74636" y="222625"/>
                </a:lnTo>
                <a:cubicBezTo>
                  <a:pt x="72836" y="222984"/>
                  <a:pt x="70675" y="222267"/>
                  <a:pt x="69595" y="220831"/>
                </a:cubicBezTo>
                <a:lnTo>
                  <a:pt x="58431" y="201816"/>
                </a:lnTo>
                <a:lnTo>
                  <a:pt x="36823" y="198587"/>
                </a:lnTo>
                <a:cubicBezTo>
                  <a:pt x="35022" y="198587"/>
                  <a:pt x="33222" y="196793"/>
                  <a:pt x="32862" y="194999"/>
                </a:cubicBezTo>
                <a:lnTo>
                  <a:pt x="29620" y="173113"/>
                </a:lnTo>
                <a:lnTo>
                  <a:pt x="10534" y="161991"/>
                </a:lnTo>
                <a:cubicBezTo>
                  <a:pt x="9093" y="160914"/>
                  <a:pt x="8373" y="159121"/>
                  <a:pt x="8733" y="157327"/>
                </a:cubicBezTo>
                <a:lnTo>
                  <a:pt x="14135" y="135799"/>
                </a:lnTo>
                <a:lnTo>
                  <a:pt x="810" y="118219"/>
                </a:lnTo>
                <a:cubicBezTo>
                  <a:pt x="-270" y="116784"/>
                  <a:pt x="-270" y="114631"/>
                  <a:pt x="810" y="112837"/>
                </a:cubicBezTo>
                <a:lnTo>
                  <a:pt x="14135" y="95257"/>
                </a:lnTo>
                <a:lnTo>
                  <a:pt x="8733" y="74088"/>
                </a:lnTo>
                <a:cubicBezTo>
                  <a:pt x="8373" y="72295"/>
                  <a:pt x="9093" y="70142"/>
                  <a:pt x="10534" y="69066"/>
                </a:cubicBezTo>
                <a:lnTo>
                  <a:pt x="29620" y="57943"/>
                </a:lnTo>
                <a:lnTo>
                  <a:pt x="32862" y="36416"/>
                </a:lnTo>
                <a:cubicBezTo>
                  <a:pt x="33222" y="34263"/>
                  <a:pt x="35022" y="32828"/>
                  <a:pt x="36823" y="32469"/>
                </a:cubicBezTo>
                <a:lnTo>
                  <a:pt x="58431" y="29240"/>
                </a:lnTo>
                <a:lnTo>
                  <a:pt x="69595" y="10225"/>
                </a:lnTo>
                <a:cubicBezTo>
                  <a:pt x="70675" y="8790"/>
                  <a:pt x="72836" y="8072"/>
                  <a:pt x="74636" y="8431"/>
                </a:cubicBezTo>
                <a:lnTo>
                  <a:pt x="95884" y="13813"/>
                </a:lnTo>
                <a:lnTo>
                  <a:pt x="113530" y="538"/>
                </a:lnTo>
                <a:close/>
              </a:path>
            </a:pathLst>
          </a:custGeom>
          <a:solidFill>
            <a:schemeClr val="tx1"/>
          </a:solidFill>
          <a:ln>
            <a:noFill/>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8" name="Arrow: Pentagon 17">
            <a:extLst>
              <a:ext uri="{FF2B5EF4-FFF2-40B4-BE49-F238E27FC236}">
                <a16:creationId xmlns:a16="http://schemas.microsoft.com/office/drawing/2014/main" id="{80FAE362-12C8-10AE-883E-FCC8EBBC5EFE}"/>
              </a:ext>
            </a:extLst>
          </p:cNvPr>
          <p:cNvSpPr/>
          <p:nvPr/>
        </p:nvSpPr>
        <p:spPr>
          <a:xfrm>
            <a:off x="0" y="-1112"/>
            <a:ext cx="759229" cy="139224"/>
          </a:xfrm>
          <a:prstGeom prst="homePlate">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Background </a:t>
            </a:r>
            <a:r>
              <a:rPr kumimoji="1" lang="en-US" sz="600">
                <a:solidFill>
                  <a:schemeClr val="bg1">
                    <a:lumMod val="50000"/>
                  </a:schemeClr>
                </a:solidFill>
              </a:rPr>
              <a:t>&amp; Objective</a:t>
            </a:r>
            <a:endParaRPr kumimoji="1" lang="en-IN" sz="600" dirty="0">
              <a:solidFill>
                <a:schemeClr val="bg1">
                  <a:lumMod val="50000"/>
                </a:schemeClr>
              </a:solidFill>
            </a:endParaRPr>
          </a:p>
        </p:txBody>
      </p:sp>
      <p:sp>
        <p:nvSpPr>
          <p:cNvPr id="19" name="Arrow: Chevron 18">
            <a:extLst>
              <a:ext uri="{FF2B5EF4-FFF2-40B4-BE49-F238E27FC236}">
                <a16:creationId xmlns:a16="http://schemas.microsoft.com/office/drawing/2014/main" id="{1B04680E-42EB-D504-EE76-FF51B4ADFE18}"/>
              </a:ext>
            </a:extLst>
          </p:cNvPr>
          <p:cNvSpPr/>
          <p:nvPr/>
        </p:nvSpPr>
        <p:spPr>
          <a:xfrm>
            <a:off x="709347"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lumMod val="50000"/>
                  </a:schemeClr>
                </a:solidFill>
              </a:rPr>
              <a:t>Analysis Foundation</a:t>
            </a:r>
            <a:endParaRPr kumimoji="1" lang="en-IN" sz="600" dirty="0">
              <a:solidFill>
                <a:schemeClr val="bg1">
                  <a:lumMod val="50000"/>
                </a:schemeClr>
              </a:solidFill>
            </a:endParaRPr>
          </a:p>
        </p:txBody>
      </p:sp>
      <p:sp>
        <p:nvSpPr>
          <p:cNvPr id="20" name="Arrow: Chevron 19">
            <a:extLst>
              <a:ext uri="{FF2B5EF4-FFF2-40B4-BE49-F238E27FC236}">
                <a16:creationId xmlns:a16="http://schemas.microsoft.com/office/drawing/2014/main" id="{9B632FFA-2B4A-2891-2DC9-287396D05CDE}"/>
              </a:ext>
            </a:extLst>
          </p:cNvPr>
          <p:cNvSpPr/>
          <p:nvPr/>
        </p:nvSpPr>
        <p:spPr>
          <a:xfrm>
            <a:off x="1418694" y="-1112"/>
            <a:ext cx="759229" cy="139224"/>
          </a:xfrm>
          <a:prstGeom prst="chevron">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lIns="0" tIns="18288" rIns="0" bIns="0" rtlCol="0" anchor="ctr"/>
          <a:lstStyle/>
          <a:p>
            <a:pPr algn="ctr">
              <a:lnSpc>
                <a:spcPts val="500"/>
              </a:lnSpc>
            </a:pPr>
            <a:r>
              <a:rPr kumimoji="1" lang="en-US" sz="600" dirty="0">
                <a:solidFill>
                  <a:schemeClr val="bg1">
                    <a:lumMod val="50000"/>
                  </a:schemeClr>
                </a:solidFill>
              </a:rPr>
              <a:t>Methodology</a:t>
            </a:r>
            <a:endParaRPr kumimoji="1" lang="en-IN" sz="600" dirty="0">
              <a:solidFill>
                <a:schemeClr val="bg1">
                  <a:lumMod val="50000"/>
                </a:schemeClr>
              </a:solidFill>
            </a:endParaRPr>
          </a:p>
        </p:txBody>
      </p:sp>
      <p:sp>
        <p:nvSpPr>
          <p:cNvPr id="21" name="Arrow: Chevron 20">
            <a:extLst>
              <a:ext uri="{FF2B5EF4-FFF2-40B4-BE49-F238E27FC236}">
                <a16:creationId xmlns:a16="http://schemas.microsoft.com/office/drawing/2014/main" id="{DFB74457-56DC-9CE0-D81C-C67D6E3BD0B0}"/>
              </a:ext>
            </a:extLst>
          </p:cNvPr>
          <p:cNvSpPr/>
          <p:nvPr/>
        </p:nvSpPr>
        <p:spPr>
          <a:xfrm>
            <a:off x="2128041" y="-1112"/>
            <a:ext cx="759229" cy="139224"/>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tIns="18288" bIns="0" rtlCol="0" anchor="ctr"/>
          <a:lstStyle/>
          <a:p>
            <a:pPr algn="ctr">
              <a:lnSpc>
                <a:spcPts val="500"/>
              </a:lnSpc>
            </a:pPr>
            <a:r>
              <a:rPr kumimoji="1" lang="en-US" sz="600" dirty="0">
                <a:solidFill>
                  <a:schemeClr val="bg1"/>
                </a:solidFill>
              </a:rPr>
              <a:t>Executive Summary</a:t>
            </a:r>
            <a:endParaRPr kumimoji="1" lang="en-IN" sz="600" dirty="0">
              <a:solidFill>
                <a:schemeClr val="bg1"/>
              </a:solidFill>
            </a:endParaRPr>
          </a:p>
        </p:txBody>
      </p:sp>
      <p:grpSp>
        <p:nvGrpSpPr>
          <p:cNvPr id="26" name="Group 25">
            <a:extLst>
              <a:ext uri="{FF2B5EF4-FFF2-40B4-BE49-F238E27FC236}">
                <a16:creationId xmlns:a16="http://schemas.microsoft.com/office/drawing/2014/main" id="{B03A9458-79BE-BBCD-71C8-BD28069ED527}"/>
              </a:ext>
            </a:extLst>
          </p:cNvPr>
          <p:cNvGrpSpPr/>
          <p:nvPr/>
        </p:nvGrpSpPr>
        <p:grpSpPr>
          <a:xfrm>
            <a:off x="457200" y="5452551"/>
            <a:ext cx="11365344" cy="970163"/>
            <a:chOff x="457200" y="4885182"/>
            <a:chExt cx="11365344" cy="1104138"/>
          </a:xfrm>
        </p:grpSpPr>
        <p:sp>
          <p:nvSpPr>
            <p:cNvPr id="27" name="Shape 19">
              <a:extLst>
                <a:ext uri="{FF2B5EF4-FFF2-40B4-BE49-F238E27FC236}">
                  <a16:creationId xmlns:a16="http://schemas.microsoft.com/office/drawing/2014/main" id="{1D6CD8EB-4C6F-F5D5-3954-7C15A951F22D}"/>
                </a:ext>
              </a:extLst>
            </p:cNvPr>
            <p:cNvSpPr/>
            <p:nvPr/>
          </p:nvSpPr>
          <p:spPr>
            <a:xfrm>
              <a:off x="457200" y="4885182"/>
              <a:ext cx="1417320" cy="1104138"/>
            </a:xfrm>
            <a:prstGeom prst="rect">
              <a:avLst/>
            </a:prstGeom>
            <a:solidFill>
              <a:srgbClr val="3437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0">
              <a:extLst>
                <a:ext uri="{FF2B5EF4-FFF2-40B4-BE49-F238E27FC236}">
                  <a16:creationId xmlns:a16="http://schemas.microsoft.com/office/drawing/2014/main" id="{A80248BC-6954-BA3D-98BF-D8FF9CD6354E}"/>
                </a:ext>
              </a:extLst>
            </p:cNvPr>
            <p:cNvSpPr/>
            <p:nvPr/>
          </p:nvSpPr>
          <p:spPr>
            <a:xfrm>
              <a:off x="457200" y="4885182"/>
              <a:ext cx="1417320" cy="1104138"/>
            </a:xfrm>
            <a:prstGeom prst="rect">
              <a:avLst/>
            </a:prstGeom>
            <a:noFill/>
            <a:ln/>
          </p:spPr>
          <p:txBody>
            <a:bodyPr wrap="square" lIns="50800" tIns="76200" rIns="762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548</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1A4AC"/>
                  </a:solidFill>
                  <a:effectLst/>
                  <a:uLnTx/>
                  <a:uFillTx/>
                  <a:latin typeface="Calibri" pitchFamily="34" charset="0"/>
                  <a:ea typeface="Calibri" pitchFamily="34" charset="-122"/>
                  <a:cs typeface="Calibri" pitchFamily="34" charset="-120"/>
                </a:rPr>
                <a:t>Self-sustained Hubs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1">
              <a:extLst>
                <a:ext uri="{FF2B5EF4-FFF2-40B4-BE49-F238E27FC236}">
                  <a16:creationId xmlns:a16="http://schemas.microsoft.com/office/drawing/2014/main" id="{101A0358-EC56-5EC3-9B05-4FDE310425AC}"/>
                </a:ext>
              </a:extLst>
            </p:cNvPr>
            <p:cNvSpPr/>
            <p:nvPr/>
          </p:nvSpPr>
          <p:spPr>
            <a:xfrm>
              <a:off x="1874520" y="4885182"/>
              <a:ext cx="3995928" cy="1104138"/>
            </a:xfrm>
            <a:prstGeom prst="rect">
              <a:avLst/>
            </a:prstGeom>
            <a:solidFill>
              <a:srgbClr val="FDED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2">
              <a:extLst>
                <a:ext uri="{FF2B5EF4-FFF2-40B4-BE49-F238E27FC236}">
                  <a16:creationId xmlns:a16="http://schemas.microsoft.com/office/drawing/2014/main" id="{007B716A-BCD9-3E91-0996-BCDCDCE2F0C6}"/>
                </a:ext>
              </a:extLst>
            </p:cNvPr>
            <p:cNvSpPr/>
            <p:nvPr/>
          </p:nvSpPr>
          <p:spPr>
            <a:xfrm>
              <a:off x="1874520" y="4885182"/>
              <a:ext cx="3995928" cy="1104138"/>
            </a:xfrm>
            <a:prstGeom prst="rect">
              <a:avLst/>
            </a:prstGeom>
            <a:noFill/>
            <a:ln/>
          </p:spPr>
          <p:txBody>
            <a:bodyPr wrap="square" lIns="101600" tIns="190500" rIns="190500" bIns="1016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548 hubs independently manage the full diagnosis-to-treatment pathway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FD145061-70FD-D478-B7BD-5EC4DC245FDB}"/>
                </a:ext>
              </a:extLst>
            </p:cNvPr>
            <p:cNvSpPr/>
            <p:nvPr/>
          </p:nvSpPr>
          <p:spPr>
            <a:xfrm>
              <a:off x="6327648" y="4885182"/>
              <a:ext cx="5494896" cy="1104138"/>
            </a:xfrm>
            <a:prstGeom prst="rect">
              <a:avLst/>
            </a:prstGeom>
            <a:solidFill>
              <a:srgbClr val="EDF2F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a:extLst>
                <a:ext uri="{FF2B5EF4-FFF2-40B4-BE49-F238E27FC236}">
                  <a16:creationId xmlns:a16="http://schemas.microsoft.com/office/drawing/2014/main" id="{5922D85D-75D3-5049-FBB3-5B7DB97C40BC}"/>
                </a:ext>
              </a:extLst>
            </p:cNvPr>
            <p:cNvSpPr/>
            <p:nvPr/>
          </p:nvSpPr>
          <p:spPr>
            <a:xfrm>
              <a:off x="6327647" y="4885182"/>
              <a:ext cx="5494897" cy="1104138"/>
            </a:xfrm>
            <a:prstGeom prst="rect">
              <a:avLst/>
            </a:prstGeom>
            <a:noFill/>
            <a:ln/>
          </p:spPr>
          <p:txBody>
            <a:bodyPr wrap="square" lIns="101600" tIns="228600" rIns="228600" bIns="10160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dirty="0">
                  <a:ln>
                    <a:noFill/>
                  </a:ln>
                  <a:solidFill>
                    <a:srgbClr val="34373F"/>
                  </a:solidFill>
                  <a:effectLst/>
                  <a:uLnTx/>
                  <a:uFillTx/>
                  <a:latin typeface="Calibri" pitchFamily="34" charset="0"/>
                  <a:ea typeface="Calibri" pitchFamily="34" charset="-122"/>
                  <a:cs typeface="Calibri" pitchFamily="34" charset="-120"/>
                </a:rPr>
                <a:t>Quick-switch pre-launch activation cohort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F78"/>
                  </a:solidFill>
                  <a:effectLst/>
                  <a:uLnTx/>
                  <a:uFillTx/>
                  <a:latin typeface="Calibri" pitchFamily="34" charset="0"/>
                  <a:ea typeface="Calibri" pitchFamily="34" charset="-122"/>
                  <a:cs typeface="Calibri" pitchFamily="34" charset="-120"/>
                </a:rPr>
                <a:t>Converting a single hub HCP propagates through the entire cluster, maximizing reach per engagement and accelerating patient volume at launch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99021110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C725-0553-8E25-A7D9-C84AB65508E8}"/>
            </a:ext>
          </a:extLst>
        </p:cNvPr>
        <p:cNvGrpSpPr/>
        <p:nvPr/>
      </p:nvGrpSpPr>
      <p:grpSpPr>
        <a:xfrm>
          <a:off x="0" y="0"/>
          <a:ext cx="0" cy="0"/>
          <a:chOff x="0" y="0"/>
          <a:chExt cx="0" cy="0"/>
        </a:xfrm>
      </p:grpSpPr>
      <p:sp>
        <p:nvSpPr>
          <p:cNvPr id="3" name="Arrow: Pentagon 2">
            <a:extLst>
              <a:ext uri="{FF2B5EF4-FFF2-40B4-BE49-F238E27FC236}">
                <a16:creationId xmlns:a16="http://schemas.microsoft.com/office/drawing/2014/main" id="{6984735A-4213-BE1A-6D25-8134E8B576C3}"/>
              </a:ext>
            </a:extLst>
          </p:cNvPr>
          <p:cNvSpPr/>
          <p:nvPr/>
        </p:nvSpPr>
        <p:spPr>
          <a:xfrm>
            <a:off x="4740965" y="4771826"/>
            <a:ext cx="3488635" cy="581572"/>
          </a:xfrm>
          <a:prstGeom prst="homePlat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dirty="0"/>
          </a:p>
        </p:txBody>
      </p:sp>
      <p:sp>
        <p:nvSpPr>
          <p:cNvPr id="2" name="Title 1">
            <a:extLst>
              <a:ext uri="{FF2B5EF4-FFF2-40B4-BE49-F238E27FC236}">
                <a16:creationId xmlns:a16="http://schemas.microsoft.com/office/drawing/2014/main" id="{67983643-E99C-70F1-1BEF-39C4F8CBE00C}"/>
              </a:ext>
            </a:extLst>
          </p:cNvPr>
          <p:cNvSpPr>
            <a:spLocks noGrp="1"/>
          </p:cNvSpPr>
          <p:nvPr>
            <p:ph type="ctrTitle"/>
          </p:nvPr>
        </p:nvSpPr>
        <p:spPr/>
        <p:txBody>
          <a:bodyPr/>
          <a:lstStyle/>
          <a:p>
            <a:r>
              <a:rPr lang="en-IN" dirty="0"/>
              <a:t>Content</a:t>
            </a:r>
          </a:p>
        </p:txBody>
      </p:sp>
      <p:graphicFrame>
        <p:nvGraphicFramePr>
          <p:cNvPr id="4" name="Table 3">
            <a:extLst>
              <a:ext uri="{FF2B5EF4-FFF2-40B4-BE49-F238E27FC236}">
                <a16:creationId xmlns:a16="http://schemas.microsoft.com/office/drawing/2014/main" id="{A6C1B7A3-1365-5DE1-FDA7-D5C21DFEE2F3}"/>
              </a:ext>
            </a:extLst>
          </p:cNvPr>
          <p:cNvGraphicFramePr>
            <a:graphicFrameLocks noGrp="1"/>
          </p:cNvGraphicFramePr>
          <p:nvPr>
            <p:extLst>
              <p:ext uri="{D42A27DB-BD31-4B8C-83A1-F6EECF244321}">
                <p14:modId xmlns:p14="http://schemas.microsoft.com/office/powerpoint/2010/main" val="871995604"/>
              </p:ext>
            </p:extLst>
          </p:nvPr>
        </p:nvGraphicFramePr>
        <p:xfrm>
          <a:off x="4740965" y="2206752"/>
          <a:ext cx="6454369" cy="3054096"/>
        </p:xfrm>
        <a:graphic>
          <a:graphicData uri="http://schemas.openxmlformats.org/drawingml/2006/table">
            <a:tbl>
              <a:tblPr>
                <a:tableStyleId>{5C22544A-7EE6-4342-B048-85BDC9FD1C3A}</a:tableStyleId>
              </a:tblPr>
              <a:tblGrid>
                <a:gridCol w="6454369">
                  <a:extLst>
                    <a:ext uri="{9D8B030D-6E8A-4147-A177-3AD203B41FA5}">
                      <a16:colId xmlns:a16="http://schemas.microsoft.com/office/drawing/2014/main" val="3582590987"/>
                    </a:ext>
                  </a:extLst>
                </a:gridCol>
              </a:tblGrid>
              <a:tr h="937717">
                <a:tc>
                  <a:txBody>
                    <a:bodyPr/>
                    <a:lstStyle/>
                    <a:p>
                      <a:pPr marL="342900" indent="-342900" algn="l" defTabSz="914150" rtl="0" eaLnBrk="1" latinLnBrk="0" hangingPunct="1">
                        <a:lnSpc>
                          <a:spcPct val="200000"/>
                        </a:lnSpc>
                        <a:buClr>
                          <a:schemeClr val="bg1">
                            <a:lumMod val="65000"/>
                          </a:schemeClr>
                        </a:buClr>
                        <a:buFont typeface="Wingdings" panose="05000000000000000000" pitchFamily="2" charset="2"/>
                        <a:buChar char="v"/>
                      </a:pPr>
                      <a:r>
                        <a:rPr kumimoji="1" lang="en-US" sz="2000" b="1" kern="1200" dirty="0">
                          <a:solidFill>
                            <a:schemeClr val="bg1">
                              <a:lumMod val="75000"/>
                            </a:schemeClr>
                          </a:solidFill>
                          <a:latin typeface="+mn-lt"/>
                          <a:ea typeface="+mn-ea"/>
                          <a:cs typeface="+mn-cs"/>
                        </a:rPr>
                        <a:t>Background &amp; Objective </a:t>
                      </a:r>
                    </a:p>
                    <a:p>
                      <a:pPr marL="342900" indent="-342900" algn="l" defTabSz="914150" rtl="0" eaLnBrk="1" latinLnBrk="0" hangingPunct="1">
                        <a:lnSpc>
                          <a:spcPct val="200000"/>
                        </a:lnSpc>
                        <a:buClr>
                          <a:schemeClr val="bg1">
                            <a:lumMod val="65000"/>
                          </a:schemeClr>
                        </a:buClr>
                        <a:buFont typeface="Wingdings" panose="05000000000000000000" pitchFamily="2" charset="2"/>
                        <a:buChar char="v"/>
                      </a:pPr>
                      <a:r>
                        <a:rPr kumimoji="1" lang="en-US" sz="2000" b="1" kern="1200" dirty="0">
                          <a:solidFill>
                            <a:schemeClr val="bg1">
                              <a:lumMod val="75000"/>
                            </a:schemeClr>
                          </a:solidFill>
                          <a:latin typeface="+mn-lt"/>
                          <a:ea typeface="+mn-ea"/>
                          <a:cs typeface="+mn-cs"/>
                        </a:rPr>
                        <a:t>Analysis Foundation</a:t>
                      </a:r>
                    </a:p>
                    <a:p>
                      <a:pPr marL="342900" indent="-342900" algn="l" defTabSz="914150" rtl="0" eaLnBrk="1" latinLnBrk="0" hangingPunct="1">
                        <a:lnSpc>
                          <a:spcPct val="200000"/>
                        </a:lnSpc>
                        <a:buClr>
                          <a:schemeClr val="bg1">
                            <a:lumMod val="65000"/>
                          </a:schemeClr>
                        </a:buClr>
                        <a:buFont typeface="Wingdings" panose="05000000000000000000" pitchFamily="2" charset="2"/>
                        <a:buChar char="v"/>
                      </a:pPr>
                      <a:r>
                        <a:rPr kumimoji="1" lang="en-US" sz="2000" b="1" kern="1200" dirty="0">
                          <a:solidFill>
                            <a:schemeClr val="bg1">
                              <a:lumMod val="75000"/>
                            </a:schemeClr>
                          </a:solidFill>
                          <a:latin typeface="+mn-lt"/>
                          <a:ea typeface="+mn-ea"/>
                          <a:cs typeface="+mn-cs"/>
                        </a:rPr>
                        <a:t>Methodology</a:t>
                      </a:r>
                    </a:p>
                    <a:p>
                      <a:pPr marL="342900" indent="-342900" algn="l" defTabSz="914150" rtl="0" eaLnBrk="1" latinLnBrk="0" hangingPunct="1">
                        <a:lnSpc>
                          <a:spcPct val="200000"/>
                        </a:lnSpc>
                        <a:buClr>
                          <a:schemeClr val="bg1">
                            <a:lumMod val="65000"/>
                          </a:schemeClr>
                        </a:buClr>
                        <a:buFont typeface="Wingdings" panose="05000000000000000000" pitchFamily="2" charset="2"/>
                        <a:buChar char="v"/>
                      </a:pPr>
                      <a:r>
                        <a:rPr kumimoji="1" lang="en-US" sz="2000" b="1" kern="1200" dirty="0">
                          <a:solidFill>
                            <a:schemeClr val="bg1">
                              <a:lumMod val="75000"/>
                            </a:schemeClr>
                          </a:solidFill>
                          <a:latin typeface="+mn-lt"/>
                          <a:ea typeface="+mn-ea"/>
                          <a:cs typeface="+mn-cs"/>
                        </a:rPr>
                        <a:t>Executive Summary</a:t>
                      </a:r>
                    </a:p>
                    <a:p>
                      <a:pPr marL="342900" indent="-342900" algn="l" defTabSz="914150" rtl="0" eaLnBrk="1" latinLnBrk="0" hangingPunct="1">
                        <a:lnSpc>
                          <a:spcPct val="200000"/>
                        </a:lnSpc>
                        <a:buClr>
                          <a:schemeClr val="bg1"/>
                        </a:buClr>
                        <a:buFont typeface="Wingdings" panose="05000000000000000000" pitchFamily="2" charset="2"/>
                        <a:buChar char="v"/>
                      </a:pPr>
                      <a:r>
                        <a:rPr kumimoji="1" lang="en-US" sz="2000" b="1" kern="1200" dirty="0">
                          <a:solidFill>
                            <a:schemeClr val="bg1"/>
                          </a:solidFill>
                          <a:latin typeface="+mn-lt"/>
                          <a:ea typeface="+mn-ea"/>
                          <a:cs typeface="+mn-cs"/>
                        </a:rPr>
                        <a:t>Insights Deep-dive</a:t>
                      </a:r>
                      <a:endParaRPr kumimoji="1" lang="en-IN" sz="2000" b="1"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noFill/>
                  </a:tcPr>
                </a:tc>
                <a:extLst>
                  <a:ext uri="{0D108BD9-81ED-4DB2-BD59-A6C34878D82A}">
                    <a16:rowId xmlns:a16="http://schemas.microsoft.com/office/drawing/2014/main" val="1734955719"/>
                  </a:ext>
                </a:extLst>
              </a:tr>
            </a:tbl>
          </a:graphicData>
        </a:graphic>
      </p:graphicFrame>
    </p:spTree>
    <p:extLst>
      <p:ext uri="{BB962C8B-B14F-4D97-AF65-F5344CB8AC3E}">
        <p14:creationId xmlns:p14="http://schemas.microsoft.com/office/powerpoint/2010/main" val="1616166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27E58-6C77-EEFC-9CF0-38B3EB7B8D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640B84-9349-2417-9230-1680A5769C51}"/>
              </a:ext>
            </a:extLst>
          </p:cNvPr>
          <p:cNvSpPr>
            <a:spLocks noGrp="1"/>
          </p:cNvSpPr>
          <p:nvPr>
            <p:ph type="ctrTitle"/>
          </p:nvPr>
        </p:nvSpPr>
        <p:spPr>
          <a:xfrm>
            <a:off x="1194730" y="2303030"/>
            <a:ext cx="7172030" cy="2279130"/>
          </a:xfrm>
        </p:spPr>
        <p:txBody>
          <a:bodyPr/>
          <a:lstStyle/>
          <a:p>
            <a:r>
              <a:rPr lang="en-US" dirty="0"/>
              <a:t>Patient – HCP Referral Identification</a:t>
            </a:r>
          </a:p>
        </p:txBody>
      </p:sp>
      <p:sp>
        <p:nvSpPr>
          <p:cNvPr id="4" name="Slide Number Placeholder 3">
            <a:extLst>
              <a:ext uri="{FF2B5EF4-FFF2-40B4-BE49-F238E27FC236}">
                <a16:creationId xmlns:a16="http://schemas.microsoft.com/office/drawing/2014/main" id="{038B8EEF-DC89-65F3-0002-431629C85001}"/>
              </a:ext>
            </a:extLst>
          </p:cNvPr>
          <p:cNvSpPr>
            <a:spLocks noGrp="1"/>
          </p:cNvSpPr>
          <p:nvPr>
            <p:ph type="sldNum" sz="quarter" idx="4294967295"/>
          </p:nvPr>
        </p:nvSpPr>
        <p:spPr>
          <a:xfrm>
            <a:off x="0" y="6489700"/>
            <a:ext cx="295275" cy="230188"/>
          </a:xfrm>
        </p:spPr>
        <p:txBody>
          <a:bodyPr/>
          <a:lstStyle/>
          <a:p>
            <a:fld id="{4B88BF55-9D8F-47B8-9CAA-91D4F95E55A3}" type="slidenum">
              <a:rPr lang="en-US" smtClean="0"/>
              <a:t>8</a:t>
            </a:fld>
            <a:endParaRPr lang="en-US"/>
          </a:p>
        </p:txBody>
      </p:sp>
    </p:spTree>
    <p:extLst>
      <p:ext uri="{BB962C8B-B14F-4D97-AF65-F5344CB8AC3E}">
        <p14:creationId xmlns:p14="http://schemas.microsoft.com/office/powerpoint/2010/main" val="3193420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E7DF3-EF3D-CB7B-ADE1-D65A5E5CCE8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20FF474-D486-0134-DCA3-78D8BD5A421D}"/>
              </a:ext>
            </a:extLst>
          </p:cNvPr>
          <p:cNvSpPr>
            <a:spLocks noGrp="1"/>
          </p:cNvSpPr>
          <p:nvPr>
            <p:ph type="ftr" sz="quarter" idx="3"/>
          </p:nvPr>
        </p:nvSpPr>
        <p:spPr>
          <a:xfrm>
            <a:off x="7766050" y="6533634"/>
            <a:ext cx="4114800" cy="196131"/>
          </a:xfrm>
        </p:spPr>
        <p:txBody>
          <a:bodyPr/>
          <a:lstStyle/>
          <a:p>
            <a:r>
              <a:rPr lang="en-JP"/>
              <a:t> </a:t>
            </a:r>
          </a:p>
        </p:txBody>
      </p:sp>
      <p:sp>
        <p:nvSpPr>
          <p:cNvPr id="4" name="Title 3">
            <a:extLst>
              <a:ext uri="{FF2B5EF4-FFF2-40B4-BE49-F238E27FC236}">
                <a16:creationId xmlns:a16="http://schemas.microsoft.com/office/drawing/2014/main" id="{7726D75C-E203-24FC-7FA2-66802B0247A2}"/>
              </a:ext>
            </a:extLst>
          </p:cNvPr>
          <p:cNvSpPr>
            <a:spLocks noGrp="1"/>
          </p:cNvSpPr>
          <p:nvPr>
            <p:ph type="title"/>
          </p:nvPr>
        </p:nvSpPr>
        <p:spPr>
          <a:xfrm>
            <a:off x="606078" y="161605"/>
            <a:ext cx="10558746" cy="685801"/>
          </a:xfrm>
        </p:spPr>
        <p:txBody>
          <a:bodyPr>
            <a:noAutofit/>
          </a:bodyPr>
          <a:lstStyle/>
          <a:p>
            <a:r>
              <a:rPr lang="en-US" sz="2000"/>
              <a:t>Sequential business rules are applied to maximize diagnostic validity, longitudinal stability, and commercial relevance of the NT1/NT2 cohort</a:t>
            </a:r>
            <a:endParaRPr lang="en-IN" sz="2000"/>
          </a:p>
        </p:txBody>
      </p:sp>
      <p:sp>
        <p:nvSpPr>
          <p:cNvPr id="5" name="Slide Number Placeholder 4">
            <a:extLst>
              <a:ext uri="{FF2B5EF4-FFF2-40B4-BE49-F238E27FC236}">
                <a16:creationId xmlns:a16="http://schemas.microsoft.com/office/drawing/2014/main" id="{590672F7-C6CA-CDC0-58F6-A9EF5E50A702}"/>
              </a:ext>
            </a:extLst>
          </p:cNvPr>
          <p:cNvSpPr>
            <a:spLocks noGrp="1"/>
          </p:cNvSpPr>
          <p:nvPr>
            <p:ph type="sldNum" sz="quarter" idx="4"/>
          </p:nvPr>
        </p:nvSpPr>
        <p:spPr/>
        <p:txBody>
          <a:bodyPr/>
          <a:lstStyle/>
          <a:p>
            <a:pPr defTabSz="1218810"/>
            <a:fld id="{E9B57936-92EF-4126-AE48-1D9D36D15E98}" type="slidenum">
              <a:rPr lang="ja-JP" altLang="en-US" smtClean="0"/>
              <a:pPr defTabSz="1218810"/>
              <a:t>9</a:t>
            </a:fld>
            <a:endParaRPr lang="ja-JP" altLang="en-US"/>
          </a:p>
        </p:txBody>
      </p:sp>
      <p:sp>
        <p:nvSpPr>
          <p:cNvPr id="6" name="Text Placeholder 5">
            <a:extLst>
              <a:ext uri="{FF2B5EF4-FFF2-40B4-BE49-F238E27FC236}">
                <a16:creationId xmlns:a16="http://schemas.microsoft.com/office/drawing/2014/main" id="{4C675D43-D270-E5A0-7BC5-E5EECBF28881}"/>
              </a:ext>
            </a:extLst>
          </p:cNvPr>
          <p:cNvSpPr>
            <a:spLocks noGrp="1"/>
          </p:cNvSpPr>
          <p:nvPr>
            <p:ph type="body" sz="quarter" idx="16"/>
          </p:nvPr>
        </p:nvSpPr>
        <p:spPr>
          <a:xfrm>
            <a:off x="606078" y="6558861"/>
            <a:ext cx="6968348" cy="205613"/>
          </a:xfrm>
        </p:spPr>
        <p:txBody>
          <a:bodyPr/>
          <a:lstStyle/>
          <a:p>
            <a:pPr marL="228600" indent="-228600">
              <a:lnSpc>
                <a:spcPct val="100000"/>
              </a:lnSpc>
              <a:spcAft>
                <a:spcPts val="0"/>
              </a:spcAft>
              <a:buAutoNum type="arabicPeriod"/>
            </a:pPr>
            <a:r>
              <a:rPr lang="en-IN" i="1" dirty="0"/>
              <a:t>Data Source: KOMODO PLAID data from Jan’15 to Jan’26</a:t>
            </a:r>
          </a:p>
          <a:p>
            <a:pPr marL="228600" indent="-228600">
              <a:lnSpc>
                <a:spcPct val="100000"/>
              </a:lnSpc>
              <a:spcAft>
                <a:spcPts val="0"/>
              </a:spcAft>
              <a:buAutoNum type="arabicPeriod"/>
            </a:pPr>
            <a:r>
              <a:rPr lang="en-IN" i="1" dirty="0"/>
              <a:t>Takeda’s expected label for TAK-861 is 16+ years but aligned on 18+ age bucket for this analysis given uncertainty and issues with promotion to paediatrician</a:t>
            </a:r>
          </a:p>
        </p:txBody>
      </p:sp>
      <p:sp>
        <p:nvSpPr>
          <p:cNvPr id="8" name="Rectangle 178">
            <a:extLst>
              <a:ext uri="{FF2B5EF4-FFF2-40B4-BE49-F238E27FC236}">
                <a16:creationId xmlns:a16="http://schemas.microsoft.com/office/drawing/2014/main" id="{BDB68E62-4BBB-3DB8-0BA6-1AB982E4DBD3}"/>
              </a:ext>
            </a:extLst>
          </p:cNvPr>
          <p:cNvSpPr>
            <a:spLocks noChangeArrowheads="1"/>
          </p:cNvSpPr>
          <p:nvPr/>
        </p:nvSpPr>
        <p:spPr bwMode="auto">
          <a:xfrm>
            <a:off x="2543641" y="5218546"/>
            <a:ext cx="4685672" cy="738100"/>
          </a:xfrm>
          <a:prstGeom prst="rect">
            <a:avLst/>
          </a:prstGeom>
          <a:solidFill>
            <a:schemeClr val="accent2"/>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nvGrpSpPr>
          <p:cNvPr id="18" name="Group 17">
            <a:extLst>
              <a:ext uri="{FF2B5EF4-FFF2-40B4-BE49-F238E27FC236}">
                <a16:creationId xmlns:a16="http://schemas.microsoft.com/office/drawing/2014/main" id="{1BC27B76-6D41-417B-0A0F-D0036402B190}"/>
              </a:ext>
            </a:extLst>
          </p:cNvPr>
          <p:cNvGrpSpPr/>
          <p:nvPr/>
        </p:nvGrpSpPr>
        <p:grpSpPr>
          <a:xfrm>
            <a:off x="1949668" y="5087233"/>
            <a:ext cx="1004264" cy="882398"/>
            <a:chOff x="3708815" y="5495657"/>
            <a:chExt cx="1240616" cy="776824"/>
          </a:xfrm>
        </p:grpSpPr>
        <p:sp>
          <p:nvSpPr>
            <p:cNvPr id="61" name="Freeform 143">
              <a:extLst>
                <a:ext uri="{FF2B5EF4-FFF2-40B4-BE49-F238E27FC236}">
                  <a16:creationId xmlns:a16="http://schemas.microsoft.com/office/drawing/2014/main" id="{2E044AEA-6805-BED4-6295-D05DFD31944C}"/>
                </a:ext>
              </a:extLst>
            </p:cNvPr>
            <p:cNvSpPr>
              <a:spLocks/>
            </p:cNvSpPr>
            <p:nvPr/>
          </p:nvSpPr>
          <p:spPr bwMode="auto">
            <a:xfrm>
              <a:off x="3708815" y="5495657"/>
              <a:ext cx="1240616" cy="776824"/>
            </a:xfrm>
            <a:custGeom>
              <a:avLst/>
              <a:gdLst>
                <a:gd name="T0" fmla="*/ 279 w 281"/>
                <a:gd name="T1" fmla="*/ 45 h 345"/>
                <a:gd name="T2" fmla="*/ 276 w 281"/>
                <a:gd name="T3" fmla="*/ 39 h 345"/>
                <a:gd name="T4" fmla="*/ 271 w 281"/>
                <a:gd name="T5" fmla="*/ 34 h 345"/>
                <a:gd name="T6" fmla="*/ 266 w 281"/>
                <a:gd name="T7" fmla="*/ 29 h 345"/>
                <a:gd name="T8" fmla="*/ 252 w 281"/>
                <a:gd name="T9" fmla="*/ 21 h 345"/>
                <a:gd name="T10" fmla="*/ 243 w 281"/>
                <a:gd name="T11" fmla="*/ 17 h 345"/>
                <a:gd name="T12" fmla="*/ 228 w 281"/>
                <a:gd name="T13" fmla="*/ 12 h 345"/>
                <a:gd name="T14" fmla="*/ 216 w 281"/>
                <a:gd name="T15" fmla="*/ 8 h 345"/>
                <a:gd name="T16" fmla="*/ 199 w 281"/>
                <a:gd name="T17" fmla="*/ 5 h 345"/>
                <a:gd name="T18" fmla="*/ 184 w 281"/>
                <a:gd name="T19" fmla="*/ 3 h 345"/>
                <a:gd name="T20" fmla="*/ 175 w 281"/>
                <a:gd name="T21" fmla="*/ 2 h 345"/>
                <a:gd name="T22" fmla="*/ 166 w 281"/>
                <a:gd name="T23" fmla="*/ 1 h 345"/>
                <a:gd name="T24" fmla="*/ 157 w 281"/>
                <a:gd name="T25" fmla="*/ 1 h 345"/>
                <a:gd name="T26" fmla="*/ 146 w 281"/>
                <a:gd name="T27" fmla="*/ 0 h 345"/>
                <a:gd name="T28" fmla="*/ 136 w 281"/>
                <a:gd name="T29" fmla="*/ 0 h 345"/>
                <a:gd name="T30" fmla="*/ 128 w 281"/>
                <a:gd name="T31" fmla="*/ 0 h 345"/>
                <a:gd name="T32" fmla="*/ 114 w 281"/>
                <a:gd name="T33" fmla="*/ 1 h 345"/>
                <a:gd name="T34" fmla="*/ 95 w 281"/>
                <a:gd name="T35" fmla="*/ 3 h 345"/>
                <a:gd name="T36" fmla="*/ 88 w 281"/>
                <a:gd name="T37" fmla="*/ 4 h 345"/>
                <a:gd name="T38" fmla="*/ 81 w 281"/>
                <a:gd name="T39" fmla="*/ 5 h 345"/>
                <a:gd name="T40" fmla="*/ 72 w 281"/>
                <a:gd name="T41" fmla="*/ 7 h 345"/>
                <a:gd name="T42" fmla="*/ 66 w 281"/>
                <a:gd name="T43" fmla="*/ 8 h 345"/>
                <a:gd name="T44" fmla="*/ 56 w 281"/>
                <a:gd name="T45" fmla="*/ 11 h 345"/>
                <a:gd name="T46" fmla="*/ 48 w 281"/>
                <a:gd name="T47" fmla="*/ 13 h 345"/>
                <a:gd name="T48" fmla="*/ 36 w 281"/>
                <a:gd name="T49" fmla="*/ 17 h 345"/>
                <a:gd name="T50" fmla="*/ 28 w 281"/>
                <a:gd name="T51" fmla="*/ 21 h 345"/>
                <a:gd name="T52" fmla="*/ 20 w 281"/>
                <a:gd name="T53" fmla="*/ 26 h 345"/>
                <a:gd name="T54" fmla="*/ 13 w 281"/>
                <a:gd name="T55" fmla="*/ 31 h 345"/>
                <a:gd name="T56" fmla="*/ 6 w 281"/>
                <a:gd name="T57" fmla="*/ 38 h 345"/>
                <a:gd name="T58" fmla="*/ 2 w 281"/>
                <a:gd name="T59" fmla="*/ 45 h 345"/>
                <a:gd name="T60" fmla="*/ 0 w 281"/>
                <a:gd name="T61" fmla="*/ 50 h 345"/>
                <a:gd name="T62" fmla="*/ 0 w 281"/>
                <a:gd name="T63" fmla="*/ 55 h 345"/>
                <a:gd name="T64" fmla="*/ 64 w 281"/>
                <a:gd name="T65" fmla="*/ 305 h 345"/>
                <a:gd name="T66" fmla="*/ 69 w 281"/>
                <a:gd name="T67" fmla="*/ 323 h 345"/>
                <a:gd name="T68" fmla="*/ 72 w 281"/>
                <a:gd name="T69" fmla="*/ 327 h 345"/>
                <a:gd name="T70" fmla="*/ 76 w 281"/>
                <a:gd name="T71" fmla="*/ 330 h 345"/>
                <a:gd name="T72" fmla="*/ 81 w 281"/>
                <a:gd name="T73" fmla="*/ 333 h 345"/>
                <a:gd name="T74" fmla="*/ 86 w 281"/>
                <a:gd name="T75" fmla="*/ 336 h 345"/>
                <a:gd name="T76" fmla="*/ 92 w 281"/>
                <a:gd name="T77" fmla="*/ 338 h 345"/>
                <a:gd name="T78" fmla="*/ 100 w 281"/>
                <a:gd name="T79" fmla="*/ 340 h 345"/>
                <a:gd name="T80" fmla="*/ 106 w 281"/>
                <a:gd name="T81" fmla="*/ 342 h 345"/>
                <a:gd name="T82" fmla="*/ 114 w 281"/>
                <a:gd name="T83" fmla="*/ 343 h 345"/>
                <a:gd name="T84" fmla="*/ 123 w 281"/>
                <a:gd name="T85" fmla="*/ 344 h 345"/>
                <a:gd name="T86" fmla="*/ 131 w 281"/>
                <a:gd name="T87" fmla="*/ 345 h 345"/>
                <a:gd name="T88" fmla="*/ 144 w 281"/>
                <a:gd name="T89" fmla="*/ 345 h 345"/>
                <a:gd name="T90" fmla="*/ 154 w 281"/>
                <a:gd name="T91" fmla="*/ 345 h 345"/>
                <a:gd name="T92" fmla="*/ 160 w 281"/>
                <a:gd name="T93" fmla="*/ 344 h 345"/>
                <a:gd name="T94" fmla="*/ 170 w 281"/>
                <a:gd name="T95" fmla="*/ 343 h 345"/>
                <a:gd name="T96" fmla="*/ 179 w 281"/>
                <a:gd name="T97" fmla="*/ 341 h 345"/>
                <a:gd name="T98" fmla="*/ 186 w 281"/>
                <a:gd name="T99" fmla="*/ 339 h 345"/>
                <a:gd name="T100" fmla="*/ 191 w 281"/>
                <a:gd name="T101" fmla="*/ 337 h 345"/>
                <a:gd name="T102" fmla="*/ 197 w 281"/>
                <a:gd name="T103" fmla="*/ 335 h 345"/>
                <a:gd name="T104" fmla="*/ 202 w 281"/>
                <a:gd name="T105" fmla="*/ 332 h 345"/>
                <a:gd name="T106" fmla="*/ 207 w 281"/>
                <a:gd name="T107" fmla="*/ 329 h 345"/>
                <a:gd name="T108" fmla="*/ 209 w 281"/>
                <a:gd name="T109" fmla="*/ 326 h 345"/>
                <a:gd name="T110" fmla="*/ 211 w 281"/>
                <a:gd name="T111" fmla="*/ 324 h 345"/>
                <a:gd name="T112" fmla="*/ 213 w 281"/>
                <a:gd name="T113" fmla="*/ 321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1" h="345">
                  <a:moveTo>
                    <a:pt x="280" y="51"/>
                  </a:moveTo>
                  <a:cubicBezTo>
                    <a:pt x="280" y="50"/>
                    <a:pt x="280" y="50"/>
                    <a:pt x="280" y="50"/>
                  </a:cubicBezTo>
                  <a:cubicBezTo>
                    <a:pt x="280" y="50"/>
                    <a:pt x="280" y="50"/>
                    <a:pt x="280" y="50"/>
                  </a:cubicBezTo>
                  <a:cubicBezTo>
                    <a:pt x="280" y="49"/>
                    <a:pt x="280" y="49"/>
                    <a:pt x="280" y="49"/>
                  </a:cubicBezTo>
                  <a:cubicBezTo>
                    <a:pt x="280" y="48"/>
                    <a:pt x="280" y="48"/>
                    <a:pt x="280" y="48"/>
                  </a:cubicBezTo>
                  <a:cubicBezTo>
                    <a:pt x="280" y="47"/>
                    <a:pt x="280" y="47"/>
                    <a:pt x="280" y="47"/>
                  </a:cubicBezTo>
                  <a:cubicBezTo>
                    <a:pt x="280" y="47"/>
                    <a:pt x="280" y="47"/>
                    <a:pt x="280" y="47"/>
                  </a:cubicBezTo>
                  <a:cubicBezTo>
                    <a:pt x="280" y="46"/>
                    <a:pt x="279" y="46"/>
                    <a:pt x="279" y="45"/>
                  </a:cubicBezTo>
                  <a:cubicBezTo>
                    <a:pt x="279" y="45"/>
                    <a:pt x="279" y="45"/>
                    <a:pt x="279" y="45"/>
                  </a:cubicBezTo>
                  <a:cubicBezTo>
                    <a:pt x="279" y="45"/>
                    <a:pt x="279" y="44"/>
                    <a:pt x="279" y="44"/>
                  </a:cubicBezTo>
                  <a:cubicBezTo>
                    <a:pt x="278" y="43"/>
                    <a:pt x="278" y="43"/>
                    <a:pt x="278" y="43"/>
                  </a:cubicBezTo>
                  <a:cubicBezTo>
                    <a:pt x="278" y="42"/>
                    <a:pt x="278" y="42"/>
                    <a:pt x="278" y="42"/>
                  </a:cubicBezTo>
                  <a:cubicBezTo>
                    <a:pt x="278" y="42"/>
                    <a:pt x="278" y="42"/>
                    <a:pt x="278" y="42"/>
                  </a:cubicBezTo>
                  <a:cubicBezTo>
                    <a:pt x="277" y="41"/>
                    <a:pt x="277" y="41"/>
                    <a:pt x="277" y="41"/>
                  </a:cubicBezTo>
                  <a:cubicBezTo>
                    <a:pt x="277" y="40"/>
                    <a:pt x="277" y="40"/>
                    <a:pt x="277" y="40"/>
                  </a:cubicBezTo>
                  <a:cubicBezTo>
                    <a:pt x="276" y="39"/>
                    <a:pt x="276" y="39"/>
                    <a:pt x="276" y="39"/>
                  </a:cubicBezTo>
                  <a:cubicBezTo>
                    <a:pt x="276" y="39"/>
                    <a:pt x="276" y="39"/>
                    <a:pt x="276" y="39"/>
                  </a:cubicBezTo>
                  <a:cubicBezTo>
                    <a:pt x="276" y="39"/>
                    <a:pt x="275" y="38"/>
                    <a:pt x="275" y="38"/>
                  </a:cubicBezTo>
                  <a:cubicBezTo>
                    <a:pt x="275" y="37"/>
                    <a:pt x="275" y="37"/>
                    <a:pt x="275" y="37"/>
                  </a:cubicBezTo>
                  <a:cubicBezTo>
                    <a:pt x="274" y="36"/>
                    <a:pt x="274" y="36"/>
                    <a:pt x="274" y="36"/>
                  </a:cubicBezTo>
                  <a:cubicBezTo>
                    <a:pt x="273" y="36"/>
                    <a:pt x="273" y="36"/>
                    <a:pt x="273" y="36"/>
                  </a:cubicBezTo>
                  <a:cubicBezTo>
                    <a:pt x="272" y="35"/>
                    <a:pt x="272" y="35"/>
                    <a:pt x="272" y="35"/>
                  </a:cubicBezTo>
                  <a:cubicBezTo>
                    <a:pt x="272" y="34"/>
                    <a:pt x="272" y="34"/>
                    <a:pt x="272" y="34"/>
                  </a:cubicBezTo>
                  <a:cubicBezTo>
                    <a:pt x="271" y="34"/>
                    <a:pt x="271" y="34"/>
                    <a:pt x="271" y="34"/>
                  </a:cubicBezTo>
                  <a:cubicBezTo>
                    <a:pt x="271" y="33"/>
                    <a:pt x="271" y="33"/>
                    <a:pt x="271" y="33"/>
                  </a:cubicBezTo>
                  <a:cubicBezTo>
                    <a:pt x="270" y="33"/>
                    <a:pt x="270" y="32"/>
                    <a:pt x="269" y="32"/>
                  </a:cubicBezTo>
                  <a:cubicBezTo>
                    <a:pt x="269" y="32"/>
                    <a:pt x="269" y="32"/>
                    <a:pt x="269" y="32"/>
                  </a:cubicBezTo>
                  <a:cubicBezTo>
                    <a:pt x="269" y="31"/>
                    <a:pt x="268" y="31"/>
                    <a:pt x="268" y="31"/>
                  </a:cubicBezTo>
                  <a:cubicBezTo>
                    <a:pt x="267" y="30"/>
                    <a:pt x="267" y="30"/>
                    <a:pt x="267" y="30"/>
                  </a:cubicBezTo>
                  <a:cubicBezTo>
                    <a:pt x="267" y="30"/>
                    <a:pt x="266" y="30"/>
                    <a:pt x="266" y="29"/>
                  </a:cubicBezTo>
                  <a:cubicBezTo>
                    <a:pt x="266" y="29"/>
                    <a:pt x="266" y="29"/>
                    <a:pt x="266" y="29"/>
                  </a:cubicBezTo>
                  <a:cubicBezTo>
                    <a:pt x="266" y="29"/>
                    <a:pt x="266" y="29"/>
                    <a:pt x="266" y="29"/>
                  </a:cubicBezTo>
                  <a:cubicBezTo>
                    <a:pt x="265" y="28"/>
                    <a:pt x="264" y="27"/>
                    <a:pt x="262" y="27"/>
                  </a:cubicBezTo>
                  <a:cubicBezTo>
                    <a:pt x="262" y="27"/>
                    <a:pt x="262" y="27"/>
                    <a:pt x="262" y="27"/>
                  </a:cubicBezTo>
                  <a:cubicBezTo>
                    <a:pt x="261" y="26"/>
                    <a:pt x="260" y="25"/>
                    <a:pt x="259" y="24"/>
                  </a:cubicBezTo>
                  <a:cubicBezTo>
                    <a:pt x="259" y="24"/>
                    <a:pt x="259" y="24"/>
                    <a:pt x="259" y="24"/>
                  </a:cubicBezTo>
                  <a:cubicBezTo>
                    <a:pt x="258" y="24"/>
                    <a:pt x="258" y="24"/>
                    <a:pt x="258" y="24"/>
                  </a:cubicBezTo>
                  <a:cubicBezTo>
                    <a:pt x="257" y="24"/>
                    <a:pt x="256" y="23"/>
                    <a:pt x="256" y="23"/>
                  </a:cubicBezTo>
                  <a:cubicBezTo>
                    <a:pt x="255" y="22"/>
                    <a:pt x="255" y="22"/>
                    <a:pt x="255" y="22"/>
                  </a:cubicBezTo>
                  <a:cubicBezTo>
                    <a:pt x="254" y="22"/>
                    <a:pt x="253" y="21"/>
                    <a:pt x="252" y="21"/>
                  </a:cubicBezTo>
                  <a:cubicBezTo>
                    <a:pt x="252" y="21"/>
                    <a:pt x="252" y="21"/>
                    <a:pt x="252" y="21"/>
                  </a:cubicBezTo>
                  <a:cubicBezTo>
                    <a:pt x="251" y="21"/>
                    <a:pt x="251" y="21"/>
                    <a:pt x="251" y="21"/>
                  </a:cubicBezTo>
                  <a:cubicBezTo>
                    <a:pt x="251" y="20"/>
                    <a:pt x="250" y="20"/>
                    <a:pt x="249" y="20"/>
                  </a:cubicBezTo>
                  <a:cubicBezTo>
                    <a:pt x="248" y="19"/>
                    <a:pt x="248" y="19"/>
                    <a:pt x="248" y="19"/>
                  </a:cubicBezTo>
                  <a:cubicBezTo>
                    <a:pt x="248" y="19"/>
                    <a:pt x="247" y="18"/>
                    <a:pt x="246" y="18"/>
                  </a:cubicBezTo>
                  <a:cubicBezTo>
                    <a:pt x="246" y="18"/>
                    <a:pt x="246" y="18"/>
                    <a:pt x="246" y="18"/>
                  </a:cubicBezTo>
                  <a:cubicBezTo>
                    <a:pt x="245" y="18"/>
                    <a:pt x="245" y="18"/>
                    <a:pt x="245" y="18"/>
                  </a:cubicBezTo>
                  <a:cubicBezTo>
                    <a:pt x="245" y="18"/>
                    <a:pt x="244" y="17"/>
                    <a:pt x="243" y="17"/>
                  </a:cubicBezTo>
                  <a:cubicBezTo>
                    <a:pt x="242" y="16"/>
                    <a:pt x="242" y="16"/>
                    <a:pt x="242" y="16"/>
                  </a:cubicBezTo>
                  <a:cubicBezTo>
                    <a:pt x="241" y="16"/>
                    <a:pt x="241" y="16"/>
                    <a:pt x="240" y="16"/>
                  </a:cubicBezTo>
                  <a:cubicBezTo>
                    <a:pt x="240" y="16"/>
                    <a:pt x="240" y="16"/>
                    <a:pt x="240" y="16"/>
                  </a:cubicBezTo>
                  <a:cubicBezTo>
                    <a:pt x="239" y="15"/>
                    <a:pt x="239" y="15"/>
                    <a:pt x="239" y="15"/>
                  </a:cubicBezTo>
                  <a:cubicBezTo>
                    <a:pt x="238" y="15"/>
                    <a:pt x="236" y="14"/>
                    <a:pt x="234" y="14"/>
                  </a:cubicBezTo>
                  <a:cubicBezTo>
                    <a:pt x="234" y="13"/>
                    <a:pt x="234" y="13"/>
                    <a:pt x="234" y="13"/>
                  </a:cubicBezTo>
                  <a:cubicBezTo>
                    <a:pt x="234" y="13"/>
                    <a:pt x="234" y="13"/>
                    <a:pt x="234" y="13"/>
                  </a:cubicBezTo>
                  <a:cubicBezTo>
                    <a:pt x="232" y="13"/>
                    <a:pt x="230" y="12"/>
                    <a:pt x="228" y="12"/>
                  </a:cubicBezTo>
                  <a:cubicBezTo>
                    <a:pt x="228" y="12"/>
                    <a:pt x="228" y="12"/>
                    <a:pt x="228" y="12"/>
                  </a:cubicBezTo>
                  <a:cubicBezTo>
                    <a:pt x="228" y="12"/>
                    <a:pt x="228" y="12"/>
                    <a:pt x="228" y="12"/>
                  </a:cubicBezTo>
                  <a:cubicBezTo>
                    <a:pt x="226" y="11"/>
                    <a:pt x="224" y="11"/>
                    <a:pt x="223" y="10"/>
                  </a:cubicBezTo>
                  <a:cubicBezTo>
                    <a:pt x="222" y="10"/>
                    <a:pt x="222" y="10"/>
                    <a:pt x="222" y="10"/>
                  </a:cubicBezTo>
                  <a:cubicBezTo>
                    <a:pt x="222" y="10"/>
                    <a:pt x="222" y="10"/>
                    <a:pt x="222" y="10"/>
                  </a:cubicBezTo>
                  <a:cubicBezTo>
                    <a:pt x="220" y="9"/>
                    <a:pt x="218" y="9"/>
                    <a:pt x="217" y="9"/>
                  </a:cubicBezTo>
                  <a:cubicBezTo>
                    <a:pt x="216" y="9"/>
                    <a:pt x="216" y="9"/>
                    <a:pt x="216" y="9"/>
                  </a:cubicBezTo>
                  <a:cubicBezTo>
                    <a:pt x="216" y="8"/>
                    <a:pt x="216" y="8"/>
                    <a:pt x="216" y="8"/>
                  </a:cubicBezTo>
                  <a:cubicBezTo>
                    <a:pt x="214" y="8"/>
                    <a:pt x="213" y="8"/>
                    <a:pt x="211" y="7"/>
                  </a:cubicBezTo>
                  <a:cubicBezTo>
                    <a:pt x="211" y="7"/>
                    <a:pt x="211" y="7"/>
                    <a:pt x="211" y="7"/>
                  </a:cubicBezTo>
                  <a:cubicBezTo>
                    <a:pt x="210" y="7"/>
                    <a:pt x="210" y="7"/>
                    <a:pt x="210" y="7"/>
                  </a:cubicBezTo>
                  <a:cubicBezTo>
                    <a:pt x="209" y="7"/>
                    <a:pt x="207" y="6"/>
                    <a:pt x="206" y="6"/>
                  </a:cubicBezTo>
                  <a:cubicBezTo>
                    <a:pt x="205" y="6"/>
                    <a:pt x="205" y="6"/>
                    <a:pt x="205" y="6"/>
                  </a:cubicBezTo>
                  <a:cubicBezTo>
                    <a:pt x="204" y="6"/>
                    <a:pt x="204" y="6"/>
                    <a:pt x="204" y="6"/>
                  </a:cubicBezTo>
                  <a:cubicBezTo>
                    <a:pt x="203" y="6"/>
                    <a:pt x="201" y="5"/>
                    <a:pt x="200" y="5"/>
                  </a:cubicBezTo>
                  <a:cubicBezTo>
                    <a:pt x="199" y="5"/>
                    <a:pt x="199" y="5"/>
                    <a:pt x="199" y="5"/>
                  </a:cubicBezTo>
                  <a:cubicBezTo>
                    <a:pt x="199" y="5"/>
                    <a:pt x="199" y="5"/>
                    <a:pt x="199" y="5"/>
                  </a:cubicBezTo>
                  <a:cubicBezTo>
                    <a:pt x="197" y="5"/>
                    <a:pt x="196" y="4"/>
                    <a:pt x="194" y="4"/>
                  </a:cubicBezTo>
                  <a:cubicBezTo>
                    <a:pt x="194" y="4"/>
                    <a:pt x="194" y="4"/>
                    <a:pt x="194" y="4"/>
                  </a:cubicBezTo>
                  <a:cubicBezTo>
                    <a:pt x="194" y="4"/>
                    <a:pt x="194" y="4"/>
                    <a:pt x="194" y="4"/>
                  </a:cubicBezTo>
                  <a:cubicBezTo>
                    <a:pt x="192" y="4"/>
                    <a:pt x="191" y="4"/>
                    <a:pt x="189" y="4"/>
                  </a:cubicBezTo>
                  <a:cubicBezTo>
                    <a:pt x="189" y="3"/>
                    <a:pt x="189" y="3"/>
                    <a:pt x="189" y="3"/>
                  </a:cubicBezTo>
                  <a:cubicBezTo>
                    <a:pt x="188" y="3"/>
                    <a:pt x="188" y="3"/>
                    <a:pt x="188" y="3"/>
                  </a:cubicBezTo>
                  <a:cubicBezTo>
                    <a:pt x="187" y="3"/>
                    <a:pt x="186" y="3"/>
                    <a:pt x="184" y="3"/>
                  </a:cubicBezTo>
                  <a:cubicBezTo>
                    <a:pt x="184" y="3"/>
                    <a:pt x="184" y="3"/>
                    <a:pt x="184" y="3"/>
                  </a:cubicBezTo>
                  <a:cubicBezTo>
                    <a:pt x="184" y="3"/>
                    <a:pt x="184" y="3"/>
                    <a:pt x="184" y="3"/>
                  </a:cubicBezTo>
                  <a:cubicBezTo>
                    <a:pt x="183" y="3"/>
                    <a:pt x="181" y="2"/>
                    <a:pt x="180" y="2"/>
                  </a:cubicBezTo>
                  <a:cubicBezTo>
                    <a:pt x="180" y="2"/>
                    <a:pt x="180" y="2"/>
                    <a:pt x="180" y="2"/>
                  </a:cubicBezTo>
                  <a:cubicBezTo>
                    <a:pt x="179" y="2"/>
                    <a:pt x="179" y="2"/>
                    <a:pt x="179" y="2"/>
                  </a:cubicBezTo>
                  <a:cubicBezTo>
                    <a:pt x="178" y="2"/>
                    <a:pt x="177" y="2"/>
                    <a:pt x="177" y="2"/>
                  </a:cubicBezTo>
                  <a:cubicBezTo>
                    <a:pt x="176" y="2"/>
                    <a:pt x="176" y="2"/>
                    <a:pt x="176" y="2"/>
                  </a:cubicBezTo>
                  <a:cubicBezTo>
                    <a:pt x="175" y="2"/>
                    <a:pt x="175" y="2"/>
                    <a:pt x="175" y="2"/>
                  </a:cubicBezTo>
                  <a:cubicBezTo>
                    <a:pt x="174" y="2"/>
                    <a:pt x="174" y="2"/>
                    <a:pt x="174" y="2"/>
                  </a:cubicBezTo>
                  <a:cubicBezTo>
                    <a:pt x="173" y="2"/>
                    <a:pt x="173" y="2"/>
                    <a:pt x="172" y="2"/>
                  </a:cubicBezTo>
                  <a:cubicBezTo>
                    <a:pt x="172" y="2"/>
                    <a:pt x="172" y="2"/>
                    <a:pt x="172" y="2"/>
                  </a:cubicBezTo>
                  <a:cubicBezTo>
                    <a:pt x="171" y="1"/>
                    <a:pt x="171" y="1"/>
                    <a:pt x="170" y="1"/>
                  </a:cubicBezTo>
                  <a:cubicBezTo>
                    <a:pt x="169" y="1"/>
                    <a:pt x="169" y="1"/>
                    <a:pt x="169" y="1"/>
                  </a:cubicBezTo>
                  <a:cubicBezTo>
                    <a:pt x="168" y="1"/>
                    <a:pt x="168" y="1"/>
                    <a:pt x="168" y="1"/>
                  </a:cubicBezTo>
                  <a:cubicBezTo>
                    <a:pt x="168" y="1"/>
                    <a:pt x="167" y="1"/>
                    <a:pt x="167" y="1"/>
                  </a:cubicBezTo>
                  <a:cubicBezTo>
                    <a:pt x="166" y="1"/>
                    <a:pt x="166" y="1"/>
                    <a:pt x="166" y="1"/>
                  </a:cubicBezTo>
                  <a:cubicBezTo>
                    <a:pt x="165" y="1"/>
                    <a:pt x="165" y="1"/>
                    <a:pt x="164" y="1"/>
                  </a:cubicBezTo>
                  <a:cubicBezTo>
                    <a:pt x="164" y="1"/>
                    <a:pt x="164" y="1"/>
                    <a:pt x="164" y="1"/>
                  </a:cubicBezTo>
                  <a:cubicBezTo>
                    <a:pt x="163" y="1"/>
                    <a:pt x="163" y="1"/>
                    <a:pt x="163" y="1"/>
                  </a:cubicBezTo>
                  <a:cubicBezTo>
                    <a:pt x="162" y="1"/>
                    <a:pt x="162" y="1"/>
                    <a:pt x="161" y="1"/>
                  </a:cubicBezTo>
                  <a:cubicBezTo>
                    <a:pt x="161" y="1"/>
                    <a:pt x="161" y="1"/>
                    <a:pt x="161" y="1"/>
                  </a:cubicBezTo>
                  <a:cubicBezTo>
                    <a:pt x="160" y="1"/>
                    <a:pt x="160" y="1"/>
                    <a:pt x="160" y="1"/>
                  </a:cubicBezTo>
                  <a:cubicBezTo>
                    <a:pt x="160" y="1"/>
                    <a:pt x="159" y="1"/>
                    <a:pt x="158" y="1"/>
                  </a:cubicBezTo>
                  <a:cubicBezTo>
                    <a:pt x="158" y="1"/>
                    <a:pt x="158" y="1"/>
                    <a:pt x="157" y="1"/>
                  </a:cubicBezTo>
                  <a:cubicBezTo>
                    <a:pt x="157" y="1"/>
                    <a:pt x="157" y="1"/>
                    <a:pt x="157" y="1"/>
                  </a:cubicBezTo>
                  <a:cubicBezTo>
                    <a:pt x="156" y="1"/>
                    <a:pt x="156" y="1"/>
                    <a:pt x="156" y="1"/>
                  </a:cubicBezTo>
                  <a:cubicBezTo>
                    <a:pt x="155" y="0"/>
                    <a:pt x="155" y="0"/>
                    <a:pt x="154" y="0"/>
                  </a:cubicBezTo>
                  <a:cubicBezTo>
                    <a:pt x="153" y="0"/>
                    <a:pt x="153" y="0"/>
                    <a:pt x="152" y="0"/>
                  </a:cubicBezTo>
                  <a:cubicBezTo>
                    <a:pt x="151" y="0"/>
                    <a:pt x="151" y="0"/>
                    <a:pt x="150" y="0"/>
                  </a:cubicBezTo>
                  <a:cubicBezTo>
                    <a:pt x="149" y="0"/>
                    <a:pt x="149" y="0"/>
                    <a:pt x="148" y="0"/>
                  </a:cubicBezTo>
                  <a:cubicBezTo>
                    <a:pt x="148" y="0"/>
                    <a:pt x="147" y="0"/>
                    <a:pt x="146" y="0"/>
                  </a:cubicBezTo>
                  <a:cubicBezTo>
                    <a:pt x="146" y="0"/>
                    <a:pt x="146" y="0"/>
                    <a:pt x="146" y="0"/>
                  </a:cubicBezTo>
                  <a:cubicBezTo>
                    <a:pt x="146" y="0"/>
                    <a:pt x="146" y="0"/>
                    <a:pt x="146" y="0"/>
                  </a:cubicBezTo>
                  <a:cubicBezTo>
                    <a:pt x="146" y="0"/>
                    <a:pt x="145" y="0"/>
                    <a:pt x="144" y="0"/>
                  </a:cubicBezTo>
                  <a:cubicBezTo>
                    <a:pt x="144" y="0"/>
                    <a:pt x="143" y="0"/>
                    <a:pt x="143" y="0"/>
                  </a:cubicBezTo>
                  <a:cubicBezTo>
                    <a:pt x="143" y="0"/>
                    <a:pt x="143" y="0"/>
                    <a:pt x="143" y="0"/>
                  </a:cubicBezTo>
                  <a:cubicBezTo>
                    <a:pt x="142" y="0"/>
                    <a:pt x="141" y="0"/>
                    <a:pt x="141" y="0"/>
                  </a:cubicBezTo>
                  <a:cubicBezTo>
                    <a:pt x="140" y="0"/>
                    <a:pt x="140" y="0"/>
                    <a:pt x="139" y="0"/>
                  </a:cubicBezTo>
                  <a:cubicBezTo>
                    <a:pt x="139" y="0"/>
                    <a:pt x="138" y="0"/>
                    <a:pt x="137" y="0"/>
                  </a:cubicBezTo>
                  <a:cubicBezTo>
                    <a:pt x="137" y="0"/>
                    <a:pt x="136" y="0"/>
                    <a:pt x="136" y="0"/>
                  </a:cubicBezTo>
                  <a:cubicBezTo>
                    <a:pt x="136" y="0"/>
                    <a:pt x="136" y="0"/>
                    <a:pt x="136" y="0"/>
                  </a:cubicBezTo>
                  <a:cubicBezTo>
                    <a:pt x="135" y="0"/>
                    <a:pt x="135" y="0"/>
                    <a:pt x="135" y="0"/>
                  </a:cubicBezTo>
                  <a:cubicBezTo>
                    <a:pt x="135" y="0"/>
                    <a:pt x="134" y="0"/>
                    <a:pt x="134" y="0"/>
                  </a:cubicBezTo>
                  <a:cubicBezTo>
                    <a:pt x="133" y="0"/>
                    <a:pt x="133" y="0"/>
                    <a:pt x="132" y="0"/>
                  </a:cubicBezTo>
                  <a:cubicBezTo>
                    <a:pt x="132" y="0"/>
                    <a:pt x="131" y="0"/>
                    <a:pt x="131" y="0"/>
                  </a:cubicBezTo>
                  <a:cubicBezTo>
                    <a:pt x="130" y="0"/>
                    <a:pt x="129" y="0"/>
                    <a:pt x="129" y="0"/>
                  </a:cubicBezTo>
                  <a:cubicBezTo>
                    <a:pt x="129" y="0"/>
                    <a:pt x="129" y="0"/>
                    <a:pt x="129" y="0"/>
                  </a:cubicBezTo>
                  <a:cubicBezTo>
                    <a:pt x="128" y="0"/>
                    <a:pt x="128" y="0"/>
                    <a:pt x="128" y="0"/>
                  </a:cubicBezTo>
                  <a:cubicBezTo>
                    <a:pt x="128" y="0"/>
                    <a:pt x="127" y="0"/>
                    <a:pt x="127" y="0"/>
                  </a:cubicBezTo>
                  <a:cubicBezTo>
                    <a:pt x="126" y="0"/>
                    <a:pt x="125" y="0"/>
                    <a:pt x="125" y="1"/>
                  </a:cubicBezTo>
                  <a:cubicBezTo>
                    <a:pt x="124" y="1"/>
                    <a:pt x="123" y="1"/>
                    <a:pt x="123" y="1"/>
                  </a:cubicBezTo>
                  <a:cubicBezTo>
                    <a:pt x="122" y="1"/>
                    <a:pt x="122" y="1"/>
                    <a:pt x="122" y="1"/>
                  </a:cubicBezTo>
                  <a:cubicBezTo>
                    <a:pt x="121" y="1"/>
                    <a:pt x="121" y="1"/>
                    <a:pt x="121" y="1"/>
                  </a:cubicBezTo>
                  <a:cubicBezTo>
                    <a:pt x="121" y="1"/>
                    <a:pt x="121" y="1"/>
                    <a:pt x="121" y="1"/>
                  </a:cubicBezTo>
                  <a:cubicBezTo>
                    <a:pt x="120" y="1"/>
                    <a:pt x="119" y="1"/>
                    <a:pt x="118" y="1"/>
                  </a:cubicBezTo>
                  <a:cubicBezTo>
                    <a:pt x="117" y="1"/>
                    <a:pt x="116" y="1"/>
                    <a:pt x="114" y="1"/>
                  </a:cubicBezTo>
                  <a:cubicBezTo>
                    <a:pt x="114" y="1"/>
                    <a:pt x="114" y="1"/>
                    <a:pt x="114" y="1"/>
                  </a:cubicBezTo>
                  <a:cubicBezTo>
                    <a:pt x="111" y="1"/>
                    <a:pt x="108" y="2"/>
                    <a:pt x="105" y="2"/>
                  </a:cubicBezTo>
                  <a:cubicBezTo>
                    <a:pt x="104" y="2"/>
                    <a:pt x="104" y="2"/>
                    <a:pt x="104" y="2"/>
                  </a:cubicBezTo>
                  <a:cubicBezTo>
                    <a:pt x="103" y="2"/>
                    <a:pt x="101" y="2"/>
                    <a:pt x="99" y="3"/>
                  </a:cubicBezTo>
                  <a:cubicBezTo>
                    <a:pt x="98" y="3"/>
                    <a:pt x="98" y="3"/>
                    <a:pt x="98" y="3"/>
                  </a:cubicBezTo>
                  <a:cubicBezTo>
                    <a:pt x="98" y="3"/>
                    <a:pt x="98" y="3"/>
                    <a:pt x="98" y="3"/>
                  </a:cubicBezTo>
                  <a:cubicBezTo>
                    <a:pt x="97" y="3"/>
                    <a:pt x="97" y="3"/>
                    <a:pt x="97" y="3"/>
                  </a:cubicBezTo>
                  <a:cubicBezTo>
                    <a:pt x="97" y="3"/>
                    <a:pt x="96" y="3"/>
                    <a:pt x="95" y="3"/>
                  </a:cubicBezTo>
                  <a:cubicBezTo>
                    <a:pt x="95" y="3"/>
                    <a:pt x="95" y="3"/>
                    <a:pt x="95" y="3"/>
                  </a:cubicBezTo>
                  <a:cubicBezTo>
                    <a:pt x="94" y="3"/>
                    <a:pt x="94" y="3"/>
                    <a:pt x="93" y="3"/>
                  </a:cubicBezTo>
                  <a:cubicBezTo>
                    <a:pt x="92" y="3"/>
                    <a:pt x="92" y="3"/>
                    <a:pt x="92" y="3"/>
                  </a:cubicBezTo>
                  <a:cubicBezTo>
                    <a:pt x="92" y="3"/>
                    <a:pt x="92" y="3"/>
                    <a:pt x="92" y="3"/>
                  </a:cubicBezTo>
                  <a:cubicBezTo>
                    <a:pt x="91" y="3"/>
                    <a:pt x="91" y="4"/>
                    <a:pt x="90" y="4"/>
                  </a:cubicBezTo>
                  <a:cubicBezTo>
                    <a:pt x="90" y="4"/>
                    <a:pt x="90" y="4"/>
                    <a:pt x="90" y="4"/>
                  </a:cubicBezTo>
                  <a:cubicBezTo>
                    <a:pt x="89" y="4"/>
                    <a:pt x="89" y="4"/>
                    <a:pt x="89" y="4"/>
                  </a:cubicBezTo>
                  <a:cubicBezTo>
                    <a:pt x="88" y="4"/>
                    <a:pt x="88" y="4"/>
                    <a:pt x="88" y="4"/>
                  </a:cubicBezTo>
                  <a:cubicBezTo>
                    <a:pt x="87" y="4"/>
                    <a:pt x="87" y="4"/>
                    <a:pt x="87" y="4"/>
                  </a:cubicBezTo>
                  <a:cubicBezTo>
                    <a:pt x="87" y="4"/>
                    <a:pt x="86" y="4"/>
                    <a:pt x="85" y="4"/>
                  </a:cubicBezTo>
                  <a:cubicBezTo>
                    <a:pt x="85" y="4"/>
                    <a:pt x="85" y="4"/>
                    <a:pt x="85" y="4"/>
                  </a:cubicBezTo>
                  <a:cubicBezTo>
                    <a:pt x="85" y="4"/>
                    <a:pt x="85" y="4"/>
                    <a:pt x="85" y="4"/>
                  </a:cubicBezTo>
                  <a:cubicBezTo>
                    <a:pt x="84" y="5"/>
                    <a:pt x="84" y="5"/>
                    <a:pt x="83" y="5"/>
                  </a:cubicBezTo>
                  <a:cubicBezTo>
                    <a:pt x="83" y="5"/>
                    <a:pt x="82" y="5"/>
                    <a:pt x="82" y="5"/>
                  </a:cubicBezTo>
                  <a:cubicBezTo>
                    <a:pt x="81" y="5"/>
                    <a:pt x="81" y="5"/>
                    <a:pt x="81" y="5"/>
                  </a:cubicBezTo>
                  <a:cubicBezTo>
                    <a:pt x="81" y="5"/>
                    <a:pt x="81" y="5"/>
                    <a:pt x="81" y="5"/>
                  </a:cubicBezTo>
                  <a:cubicBezTo>
                    <a:pt x="81" y="5"/>
                    <a:pt x="80" y="5"/>
                    <a:pt x="79" y="5"/>
                  </a:cubicBezTo>
                  <a:cubicBezTo>
                    <a:pt x="79" y="5"/>
                    <a:pt x="79" y="5"/>
                    <a:pt x="79" y="5"/>
                  </a:cubicBezTo>
                  <a:cubicBezTo>
                    <a:pt x="79" y="6"/>
                    <a:pt x="79" y="6"/>
                    <a:pt x="79" y="6"/>
                  </a:cubicBezTo>
                  <a:cubicBezTo>
                    <a:pt x="77" y="6"/>
                    <a:pt x="77" y="6"/>
                    <a:pt x="77" y="6"/>
                  </a:cubicBezTo>
                  <a:cubicBezTo>
                    <a:pt x="77" y="6"/>
                    <a:pt x="76" y="6"/>
                    <a:pt x="76" y="6"/>
                  </a:cubicBezTo>
                  <a:cubicBezTo>
                    <a:pt x="75" y="6"/>
                    <a:pt x="74" y="6"/>
                    <a:pt x="74" y="6"/>
                  </a:cubicBezTo>
                  <a:cubicBezTo>
                    <a:pt x="73" y="7"/>
                    <a:pt x="73" y="7"/>
                    <a:pt x="73" y="7"/>
                  </a:cubicBezTo>
                  <a:cubicBezTo>
                    <a:pt x="72" y="7"/>
                    <a:pt x="72" y="7"/>
                    <a:pt x="72" y="7"/>
                  </a:cubicBezTo>
                  <a:cubicBezTo>
                    <a:pt x="72" y="7"/>
                    <a:pt x="72" y="7"/>
                    <a:pt x="72" y="7"/>
                  </a:cubicBezTo>
                  <a:cubicBezTo>
                    <a:pt x="71" y="7"/>
                    <a:pt x="71" y="7"/>
                    <a:pt x="70" y="7"/>
                  </a:cubicBezTo>
                  <a:cubicBezTo>
                    <a:pt x="70" y="7"/>
                    <a:pt x="70" y="7"/>
                    <a:pt x="70" y="7"/>
                  </a:cubicBezTo>
                  <a:cubicBezTo>
                    <a:pt x="69" y="7"/>
                    <a:pt x="69" y="7"/>
                    <a:pt x="69" y="7"/>
                  </a:cubicBezTo>
                  <a:cubicBezTo>
                    <a:pt x="69" y="7"/>
                    <a:pt x="68" y="8"/>
                    <a:pt x="68" y="8"/>
                  </a:cubicBezTo>
                  <a:cubicBezTo>
                    <a:pt x="67" y="8"/>
                    <a:pt x="67" y="8"/>
                    <a:pt x="67" y="8"/>
                  </a:cubicBezTo>
                  <a:cubicBezTo>
                    <a:pt x="66" y="8"/>
                    <a:pt x="66" y="8"/>
                    <a:pt x="66" y="8"/>
                  </a:cubicBezTo>
                  <a:cubicBezTo>
                    <a:pt x="66" y="8"/>
                    <a:pt x="66" y="8"/>
                    <a:pt x="66" y="8"/>
                  </a:cubicBezTo>
                  <a:cubicBezTo>
                    <a:pt x="65" y="8"/>
                    <a:pt x="65" y="8"/>
                    <a:pt x="65" y="8"/>
                  </a:cubicBezTo>
                  <a:cubicBezTo>
                    <a:pt x="64" y="9"/>
                    <a:pt x="64" y="9"/>
                    <a:pt x="64" y="9"/>
                  </a:cubicBezTo>
                  <a:cubicBezTo>
                    <a:pt x="63" y="9"/>
                    <a:pt x="63" y="9"/>
                    <a:pt x="63" y="9"/>
                  </a:cubicBezTo>
                  <a:cubicBezTo>
                    <a:pt x="63" y="9"/>
                    <a:pt x="62" y="9"/>
                    <a:pt x="62" y="9"/>
                  </a:cubicBezTo>
                  <a:cubicBezTo>
                    <a:pt x="61" y="9"/>
                    <a:pt x="60" y="9"/>
                    <a:pt x="60" y="10"/>
                  </a:cubicBezTo>
                  <a:cubicBezTo>
                    <a:pt x="59" y="10"/>
                    <a:pt x="59" y="10"/>
                    <a:pt x="59" y="10"/>
                  </a:cubicBezTo>
                  <a:cubicBezTo>
                    <a:pt x="59" y="10"/>
                    <a:pt x="59" y="10"/>
                    <a:pt x="59" y="10"/>
                  </a:cubicBezTo>
                  <a:cubicBezTo>
                    <a:pt x="58" y="10"/>
                    <a:pt x="57" y="11"/>
                    <a:pt x="56" y="11"/>
                  </a:cubicBezTo>
                  <a:cubicBezTo>
                    <a:pt x="55" y="11"/>
                    <a:pt x="55" y="11"/>
                    <a:pt x="55" y="11"/>
                  </a:cubicBezTo>
                  <a:cubicBezTo>
                    <a:pt x="55" y="11"/>
                    <a:pt x="55" y="11"/>
                    <a:pt x="55" y="11"/>
                  </a:cubicBezTo>
                  <a:cubicBezTo>
                    <a:pt x="54" y="11"/>
                    <a:pt x="53" y="11"/>
                    <a:pt x="53" y="12"/>
                  </a:cubicBezTo>
                  <a:cubicBezTo>
                    <a:pt x="52" y="12"/>
                    <a:pt x="52" y="12"/>
                    <a:pt x="52" y="12"/>
                  </a:cubicBezTo>
                  <a:cubicBezTo>
                    <a:pt x="52" y="12"/>
                    <a:pt x="52" y="12"/>
                    <a:pt x="52" y="12"/>
                  </a:cubicBezTo>
                  <a:cubicBezTo>
                    <a:pt x="51" y="12"/>
                    <a:pt x="50" y="12"/>
                    <a:pt x="49" y="13"/>
                  </a:cubicBezTo>
                  <a:cubicBezTo>
                    <a:pt x="49" y="13"/>
                    <a:pt x="49" y="13"/>
                    <a:pt x="49" y="13"/>
                  </a:cubicBezTo>
                  <a:cubicBezTo>
                    <a:pt x="48" y="13"/>
                    <a:pt x="48" y="13"/>
                    <a:pt x="48" y="13"/>
                  </a:cubicBezTo>
                  <a:cubicBezTo>
                    <a:pt x="47" y="13"/>
                    <a:pt x="46" y="14"/>
                    <a:pt x="45" y="14"/>
                  </a:cubicBezTo>
                  <a:cubicBezTo>
                    <a:pt x="44" y="14"/>
                    <a:pt x="44" y="14"/>
                    <a:pt x="44" y="14"/>
                  </a:cubicBezTo>
                  <a:cubicBezTo>
                    <a:pt x="44" y="14"/>
                    <a:pt x="44" y="14"/>
                    <a:pt x="44" y="14"/>
                  </a:cubicBezTo>
                  <a:cubicBezTo>
                    <a:pt x="42" y="15"/>
                    <a:pt x="41" y="16"/>
                    <a:pt x="39" y="16"/>
                  </a:cubicBezTo>
                  <a:cubicBezTo>
                    <a:pt x="39" y="16"/>
                    <a:pt x="39" y="16"/>
                    <a:pt x="39" y="16"/>
                  </a:cubicBezTo>
                  <a:cubicBezTo>
                    <a:pt x="39" y="16"/>
                    <a:pt x="39" y="16"/>
                    <a:pt x="39" y="16"/>
                  </a:cubicBezTo>
                  <a:cubicBezTo>
                    <a:pt x="38" y="17"/>
                    <a:pt x="37" y="17"/>
                    <a:pt x="37" y="17"/>
                  </a:cubicBezTo>
                  <a:cubicBezTo>
                    <a:pt x="36" y="17"/>
                    <a:pt x="36" y="17"/>
                    <a:pt x="36" y="17"/>
                  </a:cubicBezTo>
                  <a:cubicBezTo>
                    <a:pt x="35" y="18"/>
                    <a:pt x="35" y="18"/>
                    <a:pt x="34" y="18"/>
                  </a:cubicBezTo>
                  <a:cubicBezTo>
                    <a:pt x="34" y="18"/>
                    <a:pt x="34" y="18"/>
                    <a:pt x="34" y="18"/>
                  </a:cubicBezTo>
                  <a:cubicBezTo>
                    <a:pt x="34" y="18"/>
                    <a:pt x="34" y="18"/>
                    <a:pt x="34" y="18"/>
                  </a:cubicBezTo>
                  <a:cubicBezTo>
                    <a:pt x="33" y="19"/>
                    <a:pt x="32" y="19"/>
                    <a:pt x="31" y="20"/>
                  </a:cubicBezTo>
                  <a:cubicBezTo>
                    <a:pt x="31" y="20"/>
                    <a:pt x="31" y="20"/>
                    <a:pt x="31" y="20"/>
                  </a:cubicBezTo>
                  <a:cubicBezTo>
                    <a:pt x="30" y="20"/>
                    <a:pt x="29" y="20"/>
                    <a:pt x="29" y="21"/>
                  </a:cubicBezTo>
                  <a:cubicBezTo>
                    <a:pt x="28" y="21"/>
                    <a:pt x="28" y="21"/>
                    <a:pt x="28" y="21"/>
                  </a:cubicBezTo>
                  <a:cubicBezTo>
                    <a:pt x="28" y="21"/>
                    <a:pt x="28" y="21"/>
                    <a:pt x="28" y="21"/>
                  </a:cubicBezTo>
                  <a:cubicBezTo>
                    <a:pt x="27" y="21"/>
                    <a:pt x="27" y="22"/>
                    <a:pt x="26" y="22"/>
                  </a:cubicBezTo>
                  <a:cubicBezTo>
                    <a:pt x="26" y="22"/>
                    <a:pt x="26" y="22"/>
                    <a:pt x="26" y="22"/>
                  </a:cubicBezTo>
                  <a:cubicBezTo>
                    <a:pt x="25" y="23"/>
                    <a:pt x="24" y="23"/>
                    <a:pt x="24" y="23"/>
                  </a:cubicBezTo>
                  <a:cubicBezTo>
                    <a:pt x="24" y="23"/>
                    <a:pt x="24" y="23"/>
                    <a:pt x="24" y="23"/>
                  </a:cubicBezTo>
                  <a:cubicBezTo>
                    <a:pt x="24" y="23"/>
                    <a:pt x="24" y="23"/>
                    <a:pt x="24" y="23"/>
                  </a:cubicBezTo>
                  <a:cubicBezTo>
                    <a:pt x="23" y="24"/>
                    <a:pt x="22" y="24"/>
                    <a:pt x="22" y="25"/>
                  </a:cubicBezTo>
                  <a:cubicBezTo>
                    <a:pt x="21" y="25"/>
                    <a:pt x="21" y="25"/>
                    <a:pt x="21" y="25"/>
                  </a:cubicBezTo>
                  <a:cubicBezTo>
                    <a:pt x="21" y="25"/>
                    <a:pt x="20" y="25"/>
                    <a:pt x="20" y="26"/>
                  </a:cubicBezTo>
                  <a:cubicBezTo>
                    <a:pt x="19" y="26"/>
                    <a:pt x="19" y="26"/>
                    <a:pt x="19" y="26"/>
                  </a:cubicBezTo>
                  <a:cubicBezTo>
                    <a:pt x="19" y="26"/>
                    <a:pt x="19" y="26"/>
                    <a:pt x="19" y="26"/>
                  </a:cubicBezTo>
                  <a:cubicBezTo>
                    <a:pt x="18" y="27"/>
                    <a:pt x="17" y="27"/>
                    <a:pt x="16" y="28"/>
                  </a:cubicBezTo>
                  <a:cubicBezTo>
                    <a:pt x="16" y="28"/>
                    <a:pt x="16" y="28"/>
                    <a:pt x="16" y="28"/>
                  </a:cubicBezTo>
                  <a:cubicBezTo>
                    <a:pt x="16" y="28"/>
                    <a:pt x="16" y="28"/>
                    <a:pt x="16" y="28"/>
                  </a:cubicBezTo>
                  <a:cubicBezTo>
                    <a:pt x="15" y="29"/>
                    <a:pt x="14" y="30"/>
                    <a:pt x="13" y="31"/>
                  </a:cubicBezTo>
                  <a:cubicBezTo>
                    <a:pt x="13" y="31"/>
                    <a:pt x="13" y="31"/>
                    <a:pt x="13" y="31"/>
                  </a:cubicBezTo>
                  <a:cubicBezTo>
                    <a:pt x="13" y="31"/>
                    <a:pt x="13" y="31"/>
                    <a:pt x="13" y="31"/>
                  </a:cubicBezTo>
                  <a:cubicBezTo>
                    <a:pt x="12" y="31"/>
                    <a:pt x="11" y="32"/>
                    <a:pt x="10" y="33"/>
                  </a:cubicBezTo>
                  <a:cubicBezTo>
                    <a:pt x="10" y="33"/>
                    <a:pt x="10" y="33"/>
                    <a:pt x="10" y="33"/>
                  </a:cubicBezTo>
                  <a:cubicBezTo>
                    <a:pt x="10" y="33"/>
                    <a:pt x="10" y="33"/>
                    <a:pt x="10" y="33"/>
                  </a:cubicBezTo>
                  <a:cubicBezTo>
                    <a:pt x="9" y="34"/>
                    <a:pt x="8" y="35"/>
                    <a:pt x="8" y="35"/>
                  </a:cubicBezTo>
                  <a:cubicBezTo>
                    <a:pt x="8" y="35"/>
                    <a:pt x="8" y="35"/>
                    <a:pt x="8" y="35"/>
                  </a:cubicBezTo>
                  <a:cubicBezTo>
                    <a:pt x="8" y="35"/>
                    <a:pt x="8" y="35"/>
                    <a:pt x="8" y="35"/>
                  </a:cubicBezTo>
                  <a:cubicBezTo>
                    <a:pt x="7" y="36"/>
                    <a:pt x="6" y="37"/>
                    <a:pt x="6" y="38"/>
                  </a:cubicBezTo>
                  <a:cubicBezTo>
                    <a:pt x="6" y="38"/>
                    <a:pt x="6" y="38"/>
                    <a:pt x="6" y="38"/>
                  </a:cubicBezTo>
                  <a:cubicBezTo>
                    <a:pt x="6" y="38"/>
                    <a:pt x="6" y="38"/>
                    <a:pt x="6" y="38"/>
                  </a:cubicBezTo>
                  <a:cubicBezTo>
                    <a:pt x="5" y="39"/>
                    <a:pt x="5" y="39"/>
                    <a:pt x="4" y="40"/>
                  </a:cubicBezTo>
                  <a:cubicBezTo>
                    <a:pt x="4" y="40"/>
                    <a:pt x="4" y="40"/>
                    <a:pt x="4" y="40"/>
                  </a:cubicBezTo>
                  <a:cubicBezTo>
                    <a:pt x="4" y="40"/>
                    <a:pt x="4" y="40"/>
                    <a:pt x="4" y="40"/>
                  </a:cubicBezTo>
                  <a:cubicBezTo>
                    <a:pt x="3" y="41"/>
                    <a:pt x="3" y="42"/>
                    <a:pt x="3" y="42"/>
                  </a:cubicBezTo>
                  <a:cubicBezTo>
                    <a:pt x="3" y="42"/>
                    <a:pt x="3" y="42"/>
                    <a:pt x="3" y="42"/>
                  </a:cubicBezTo>
                  <a:cubicBezTo>
                    <a:pt x="3" y="42"/>
                    <a:pt x="3" y="42"/>
                    <a:pt x="3" y="42"/>
                  </a:cubicBezTo>
                  <a:cubicBezTo>
                    <a:pt x="2" y="43"/>
                    <a:pt x="2" y="44"/>
                    <a:pt x="2" y="45"/>
                  </a:cubicBezTo>
                  <a:cubicBezTo>
                    <a:pt x="2" y="45"/>
                    <a:pt x="2" y="45"/>
                    <a:pt x="2" y="45"/>
                  </a:cubicBezTo>
                  <a:cubicBezTo>
                    <a:pt x="1" y="45"/>
                    <a:pt x="1" y="45"/>
                    <a:pt x="1" y="45"/>
                  </a:cubicBezTo>
                  <a:cubicBezTo>
                    <a:pt x="1" y="46"/>
                    <a:pt x="1" y="46"/>
                    <a:pt x="1" y="47"/>
                  </a:cubicBezTo>
                  <a:cubicBezTo>
                    <a:pt x="1" y="47"/>
                    <a:pt x="1" y="47"/>
                    <a:pt x="1" y="47"/>
                  </a:cubicBezTo>
                  <a:cubicBezTo>
                    <a:pt x="1" y="47"/>
                    <a:pt x="1" y="47"/>
                    <a:pt x="1" y="47"/>
                  </a:cubicBezTo>
                  <a:cubicBezTo>
                    <a:pt x="0" y="48"/>
                    <a:pt x="0" y="49"/>
                    <a:pt x="0" y="50"/>
                  </a:cubicBezTo>
                  <a:cubicBezTo>
                    <a:pt x="0" y="50"/>
                    <a:pt x="0" y="50"/>
                    <a:pt x="0" y="50"/>
                  </a:cubicBezTo>
                  <a:cubicBezTo>
                    <a:pt x="0" y="50"/>
                    <a:pt x="0" y="50"/>
                    <a:pt x="0" y="50"/>
                  </a:cubicBezTo>
                  <a:cubicBezTo>
                    <a:pt x="0" y="50"/>
                    <a:pt x="0" y="51"/>
                    <a:pt x="0" y="52"/>
                  </a:cubicBezTo>
                  <a:cubicBezTo>
                    <a:pt x="0" y="52"/>
                    <a:pt x="0" y="52"/>
                    <a:pt x="0" y="52"/>
                  </a:cubicBezTo>
                  <a:cubicBezTo>
                    <a:pt x="0" y="53"/>
                    <a:pt x="0" y="53"/>
                    <a:pt x="0" y="53"/>
                  </a:cubicBezTo>
                  <a:cubicBezTo>
                    <a:pt x="0" y="53"/>
                    <a:pt x="0" y="53"/>
                    <a:pt x="0" y="53"/>
                  </a:cubicBezTo>
                  <a:cubicBezTo>
                    <a:pt x="0" y="54"/>
                    <a:pt x="0" y="54"/>
                    <a:pt x="0" y="54"/>
                  </a:cubicBezTo>
                  <a:cubicBezTo>
                    <a:pt x="0" y="55"/>
                    <a:pt x="0" y="55"/>
                    <a:pt x="0" y="55"/>
                  </a:cubicBezTo>
                  <a:cubicBezTo>
                    <a:pt x="0" y="55"/>
                    <a:pt x="0" y="55"/>
                    <a:pt x="0" y="55"/>
                  </a:cubicBezTo>
                  <a:cubicBezTo>
                    <a:pt x="0" y="55"/>
                    <a:pt x="0" y="55"/>
                    <a:pt x="0" y="55"/>
                  </a:cubicBezTo>
                  <a:cubicBezTo>
                    <a:pt x="0" y="56"/>
                    <a:pt x="0" y="57"/>
                    <a:pt x="1" y="57"/>
                  </a:cubicBezTo>
                  <a:cubicBezTo>
                    <a:pt x="6" y="78"/>
                    <a:pt x="6" y="78"/>
                    <a:pt x="6" y="78"/>
                  </a:cubicBezTo>
                  <a:cubicBezTo>
                    <a:pt x="29" y="169"/>
                    <a:pt x="29" y="169"/>
                    <a:pt x="29" y="169"/>
                  </a:cubicBezTo>
                  <a:cubicBezTo>
                    <a:pt x="31" y="176"/>
                    <a:pt x="33" y="182"/>
                    <a:pt x="34" y="189"/>
                  </a:cubicBezTo>
                  <a:cubicBezTo>
                    <a:pt x="39" y="209"/>
                    <a:pt x="39" y="209"/>
                    <a:pt x="39" y="209"/>
                  </a:cubicBezTo>
                  <a:cubicBezTo>
                    <a:pt x="43" y="223"/>
                    <a:pt x="47" y="237"/>
                    <a:pt x="50" y="251"/>
                  </a:cubicBezTo>
                  <a:cubicBezTo>
                    <a:pt x="53" y="261"/>
                    <a:pt x="53" y="261"/>
                    <a:pt x="53" y="261"/>
                  </a:cubicBezTo>
                  <a:cubicBezTo>
                    <a:pt x="57" y="276"/>
                    <a:pt x="60" y="291"/>
                    <a:pt x="64" y="305"/>
                  </a:cubicBezTo>
                  <a:cubicBezTo>
                    <a:pt x="65" y="310"/>
                    <a:pt x="67" y="315"/>
                    <a:pt x="68" y="321"/>
                  </a:cubicBezTo>
                  <a:cubicBezTo>
                    <a:pt x="68" y="321"/>
                    <a:pt x="68" y="321"/>
                    <a:pt x="68" y="321"/>
                  </a:cubicBezTo>
                  <a:cubicBezTo>
                    <a:pt x="68" y="322"/>
                    <a:pt x="68" y="322"/>
                    <a:pt x="68" y="322"/>
                  </a:cubicBezTo>
                  <a:cubicBezTo>
                    <a:pt x="69" y="322"/>
                    <a:pt x="69" y="322"/>
                    <a:pt x="69" y="322"/>
                  </a:cubicBezTo>
                  <a:cubicBezTo>
                    <a:pt x="69" y="323"/>
                    <a:pt x="69" y="323"/>
                    <a:pt x="69" y="323"/>
                  </a:cubicBezTo>
                  <a:cubicBezTo>
                    <a:pt x="69" y="323"/>
                    <a:pt x="69" y="323"/>
                    <a:pt x="69" y="323"/>
                  </a:cubicBezTo>
                  <a:cubicBezTo>
                    <a:pt x="69" y="323"/>
                    <a:pt x="69" y="323"/>
                    <a:pt x="69" y="323"/>
                  </a:cubicBezTo>
                  <a:cubicBezTo>
                    <a:pt x="69" y="323"/>
                    <a:pt x="69" y="323"/>
                    <a:pt x="69" y="323"/>
                  </a:cubicBezTo>
                  <a:cubicBezTo>
                    <a:pt x="69" y="324"/>
                    <a:pt x="69" y="324"/>
                    <a:pt x="69" y="324"/>
                  </a:cubicBezTo>
                  <a:cubicBezTo>
                    <a:pt x="70" y="324"/>
                    <a:pt x="70" y="324"/>
                    <a:pt x="70" y="324"/>
                  </a:cubicBezTo>
                  <a:cubicBezTo>
                    <a:pt x="70" y="325"/>
                    <a:pt x="70" y="325"/>
                    <a:pt x="70" y="325"/>
                  </a:cubicBezTo>
                  <a:cubicBezTo>
                    <a:pt x="70" y="325"/>
                    <a:pt x="70" y="325"/>
                    <a:pt x="70" y="325"/>
                  </a:cubicBezTo>
                  <a:cubicBezTo>
                    <a:pt x="71" y="326"/>
                    <a:pt x="71" y="326"/>
                    <a:pt x="71" y="326"/>
                  </a:cubicBezTo>
                  <a:cubicBezTo>
                    <a:pt x="71" y="326"/>
                    <a:pt x="71" y="326"/>
                    <a:pt x="71" y="326"/>
                  </a:cubicBezTo>
                  <a:cubicBezTo>
                    <a:pt x="72" y="327"/>
                    <a:pt x="72" y="327"/>
                    <a:pt x="72" y="327"/>
                  </a:cubicBezTo>
                  <a:cubicBezTo>
                    <a:pt x="72" y="327"/>
                    <a:pt x="72" y="327"/>
                    <a:pt x="72" y="327"/>
                  </a:cubicBezTo>
                  <a:cubicBezTo>
                    <a:pt x="72" y="327"/>
                    <a:pt x="72" y="327"/>
                    <a:pt x="72" y="327"/>
                  </a:cubicBezTo>
                  <a:cubicBezTo>
                    <a:pt x="73" y="328"/>
                    <a:pt x="73" y="328"/>
                    <a:pt x="73" y="328"/>
                  </a:cubicBezTo>
                  <a:cubicBezTo>
                    <a:pt x="73" y="328"/>
                    <a:pt x="73" y="328"/>
                    <a:pt x="73" y="328"/>
                  </a:cubicBezTo>
                  <a:cubicBezTo>
                    <a:pt x="73" y="329"/>
                    <a:pt x="73" y="329"/>
                    <a:pt x="73" y="329"/>
                  </a:cubicBezTo>
                  <a:cubicBezTo>
                    <a:pt x="74" y="329"/>
                    <a:pt x="74" y="329"/>
                    <a:pt x="74" y="329"/>
                  </a:cubicBezTo>
                  <a:cubicBezTo>
                    <a:pt x="75" y="329"/>
                    <a:pt x="75" y="329"/>
                    <a:pt x="75" y="329"/>
                  </a:cubicBezTo>
                  <a:cubicBezTo>
                    <a:pt x="75" y="330"/>
                    <a:pt x="75" y="330"/>
                    <a:pt x="75" y="330"/>
                  </a:cubicBezTo>
                  <a:cubicBezTo>
                    <a:pt x="76" y="330"/>
                    <a:pt x="76" y="330"/>
                    <a:pt x="76" y="330"/>
                  </a:cubicBezTo>
                  <a:cubicBezTo>
                    <a:pt x="76" y="331"/>
                    <a:pt x="76" y="331"/>
                    <a:pt x="76" y="331"/>
                  </a:cubicBezTo>
                  <a:cubicBezTo>
                    <a:pt x="77" y="331"/>
                    <a:pt x="77" y="331"/>
                    <a:pt x="77" y="331"/>
                  </a:cubicBezTo>
                  <a:cubicBezTo>
                    <a:pt x="77" y="331"/>
                    <a:pt x="77" y="331"/>
                    <a:pt x="77" y="331"/>
                  </a:cubicBezTo>
                  <a:cubicBezTo>
                    <a:pt x="78" y="332"/>
                    <a:pt x="78" y="332"/>
                    <a:pt x="78" y="332"/>
                  </a:cubicBezTo>
                  <a:cubicBezTo>
                    <a:pt x="79" y="332"/>
                    <a:pt x="79" y="332"/>
                    <a:pt x="79" y="332"/>
                  </a:cubicBezTo>
                  <a:cubicBezTo>
                    <a:pt x="79" y="333"/>
                    <a:pt x="79" y="333"/>
                    <a:pt x="79" y="333"/>
                  </a:cubicBezTo>
                  <a:cubicBezTo>
                    <a:pt x="80" y="333"/>
                    <a:pt x="80" y="333"/>
                    <a:pt x="80" y="333"/>
                  </a:cubicBezTo>
                  <a:cubicBezTo>
                    <a:pt x="81" y="333"/>
                    <a:pt x="81" y="333"/>
                    <a:pt x="81" y="333"/>
                  </a:cubicBezTo>
                  <a:cubicBezTo>
                    <a:pt x="81" y="334"/>
                    <a:pt x="81" y="334"/>
                    <a:pt x="81" y="334"/>
                  </a:cubicBezTo>
                  <a:cubicBezTo>
                    <a:pt x="82" y="334"/>
                    <a:pt x="82" y="334"/>
                    <a:pt x="82" y="334"/>
                  </a:cubicBezTo>
                  <a:cubicBezTo>
                    <a:pt x="83" y="335"/>
                    <a:pt x="83" y="335"/>
                    <a:pt x="83" y="335"/>
                  </a:cubicBezTo>
                  <a:cubicBezTo>
                    <a:pt x="83" y="335"/>
                    <a:pt x="83" y="335"/>
                    <a:pt x="83" y="335"/>
                  </a:cubicBezTo>
                  <a:cubicBezTo>
                    <a:pt x="84" y="335"/>
                    <a:pt x="84" y="335"/>
                    <a:pt x="84" y="335"/>
                  </a:cubicBezTo>
                  <a:cubicBezTo>
                    <a:pt x="84" y="335"/>
                    <a:pt x="84" y="335"/>
                    <a:pt x="84" y="335"/>
                  </a:cubicBezTo>
                  <a:cubicBezTo>
                    <a:pt x="84" y="335"/>
                    <a:pt x="85" y="335"/>
                    <a:pt x="85" y="335"/>
                  </a:cubicBezTo>
                  <a:cubicBezTo>
                    <a:pt x="86" y="336"/>
                    <a:pt x="86" y="336"/>
                    <a:pt x="86" y="336"/>
                  </a:cubicBezTo>
                  <a:cubicBezTo>
                    <a:pt x="86" y="336"/>
                    <a:pt x="86" y="336"/>
                    <a:pt x="86" y="336"/>
                  </a:cubicBezTo>
                  <a:cubicBezTo>
                    <a:pt x="87" y="336"/>
                    <a:pt x="87" y="336"/>
                    <a:pt x="87" y="336"/>
                  </a:cubicBezTo>
                  <a:cubicBezTo>
                    <a:pt x="88" y="337"/>
                    <a:pt x="88" y="337"/>
                    <a:pt x="88" y="337"/>
                  </a:cubicBezTo>
                  <a:cubicBezTo>
                    <a:pt x="89" y="337"/>
                    <a:pt x="89" y="337"/>
                    <a:pt x="89" y="337"/>
                  </a:cubicBezTo>
                  <a:cubicBezTo>
                    <a:pt x="90" y="337"/>
                    <a:pt x="90" y="337"/>
                    <a:pt x="90" y="337"/>
                  </a:cubicBezTo>
                  <a:cubicBezTo>
                    <a:pt x="90" y="337"/>
                    <a:pt x="90" y="338"/>
                    <a:pt x="91" y="338"/>
                  </a:cubicBezTo>
                  <a:cubicBezTo>
                    <a:pt x="91" y="338"/>
                    <a:pt x="91" y="338"/>
                    <a:pt x="91" y="338"/>
                  </a:cubicBezTo>
                  <a:cubicBezTo>
                    <a:pt x="92" y="338"/>
                    <a:pt x="92" y="338"/>
                    <a:pt x="92" y="338"/>
                  </a:cubicBezTo>
                  <a:cubicBezTo>
                    <a:pt x="93" y="339"/>
                    <a:pt x="93" y="339"/>
                    <a:pt x="93" y="339"/>
                  </a:cubicBezTo>
                  <a:cubicBezTo>
                    <a:pt x="94" y="339"/>
                    <a:pt x="94" y="339"/>
                    <a:pt x="94" y="339"/>
                  </a:cubicBezTo>
                  <a:cubicBezTo>
                    <a:pt x="95" y="339"/>
                    <a:pt x="95" y="339"/>
                    <a:pt x="95" y="339"/>
                  </a:cubicBezTo>
                  <a:cubicBezTo>
                    <a:pt x="96" y="339"/>
                    <a:pt x="96" y="339"/>
                    <a:pt x="96" y="339"/>
                  </a:cubicBezTo>
                  <a:cubicBezTo>
                    <a:pt x="97" y="340"/>
                    <a:pt x="97" y="340"/>
                    <a:pt x="97" y="340"/>
                  </a:cubicBezTo>
                  <a:cubicBezTo>
                    <a:pt x="97" y="340"/>
                    <a:pt x="98" y="340"/>
                    <a:pt x="98" y="340"/>
                  </a:cubicBezTo>
                  <a:cubicBezTo>
                    <a:pt x="99" y="340"/>
                    <a:pt x="99" y="340"/>
                    <a:pt x="99" y="340"/>
                  </a:cubicBezTo>
                  <a:cubicBezTo>
                    <a:pt x="99" y="340"/>
                    <a:pt x="99" y="340"/>
                    <a:pt x="100" y="340"/>
                  </a:cubicBezTo>
                  <a:cubicBezTo>
                    <a:pt x="100" y="341"/>
                    <a:pt x="101" y="341"/>
                    <a:pt x="101" y="341"/>
                  </a:cubicBezTo>
                  <a:cubicBezTo>
                    <a:pt x="102" y="341"/>
                    <a:pt x="102" y="341"/>
                    <a:pt x="102" y="341"/>
                  </a:cubicBezTo>
                  <a:cubicBezTo>
                    <a:pt x="102" y="341"/>
                    <a:pt x="102" y="341"/>
                    <a:pt x="102" y="341"/>
                  </a:cubicBezTo>
                  <a:cubicBezTo>
                    <a:pt x="102" y="341"/>
                    <a:pt x="102" y="341"/>
                    <a:pt x="102" y="341"/>
                  </a:cubicBezTo>
                  <a:cubicBezTo>
                    <a:pt x="103" y="341"/>
                    <a:pt x="103" y="341"/>
                    <a:pt x="103" y="341"/>
                  </a:cubicBezTo>
                  <a:cubicBezTo>
                    <a:pt x="103" y="341"/>
                    <a:pt x="104" y="341"/>
                    <a:pt x="104" y="341"/>
                  </a:cubicBezTo>
                  <a:cubicBezTo>
                    <a:pt x="105" y="342"/>
                    <a:pt x="105" y="342"/>
                    <a:pt x="105" y="342"/>
                  </a:cubicBezTo>
                  <a:cubicBezTo>
                    <a:pt x="106" y="342"/>
                    <a:pt x="106" y="342"/>
                    <a:pt x="106" y="342"/>
                  </a:cubicBezTo>
                  <a:cubicBezTo>
                    <a:pt x="107" y="342"/>
                    <a:pt x="107" y="342"/>
                    <a:pt x="107" y="342"/>
                  </a:cubicBezTo>
                  <a:cubicBezTo>
                    <a:pt x="108" y="342"/>
                    <a:pt x="108" y="342"/>
                    <a:pt x="109" y="342"/>
                  </a:cubicBezTo>
                  <a:cubicBezTo>
                    <a:pt x="109" y="342"/>
                    <a:pt x="109" y="342"/>
                    <a:pt x="110" y="343"/>
                  </a:cubicBezTo>
                  <a:cubicBezTo>
                    <a:pt x="110" y="343"/>
                    <a:pt x="110" y="343"/>
                    <a:pt x="110" y="343"/>
                  </a:cubicBezTo>
                  <a:cubicBezTo>
                    <a:pt x="110" y="343"/>
                    <a:pt x="110" y="343"/>
                    <a:pt x="110" y="343"/>
                  </a:cubicBezTo>
                  <a:cubicBezTo>
                    <a:pt x="111" y="343"/>
                    <a:pt x="111" y="343"/>
                    <a:pt x="112" y="343"/>
                  </a:cubicBezTo>
                  <a:cubicBezTo>
                    <a:pt x="112" y="343"/>
                    <a:pt x="113" y="343"/>
                    <a:pt x="113" y="343"/>
                  </a:cubicBezTo>
                  <a:cubicBezTo>
                    <a:pt x="114" y="343"/>
                    <a:pt x="114" y="343"/>
                    <a:pt x="114" y="343"/>
                  </a:cubicBezTo>
                  <a:cubicBezTo>
                    <a:pt x="115" y="343"/>
                    <a:pt x="115" y="343"/>
                    <a:pt x="115" y="343"/>
                  </a:cubicBezTo>
                  <a:cubicBezTo>
                    <a:pt x="115" y="343"/>
                    <a:pt x="116" y="343"/>
                    <a:pt x="116" y="344"/>
                  </a:cubicBezTo>
                  <a:cubicBezTo>
                    <a:pt x="117" y="344"/>
                    <a:pt x="117" y="344"/>
                    <a:pt x="117" y="344"/>
                  </a:cubicBezTo>
                  <a:cubicBezTo>
                    <a:pt x="117" y="344"/>
                    <a:pt x="117" y="344"/>
                    <a:pt x="117" y="344"/>
                  </a:cubicBezTo>
                  <a:cubicBezTo>
                    <a:pt x="118" y="344"/>
                    <a:pt x="118" y="344"/>
                    <a:pt x="118" y="344"/>
                  </a:cubicBezTo>
                  <a:cubicBezTo>
                    <a:pt x="119" y="344"/>
                    <a:pt x="119" y="344"/>
                    <a:pt x="120" y="344"/>
                  </a:cubicBezTo>
                  <a:cubicBezTo>
                    <a:pt x="120" y="344"/>
                    <a:pt x="121" y="344"/>
                    <a:pt x="121" y="344"/>
                  </a:cubicBezTo>
                  <a:cubicBezTo>
                    <a:pt x="122" y="344"/>
                    <a:pt x="123" y="344"/>
                    <a:pt x="123" y="344"/>
                  </a:cubicBezTo>
                  <a:cubicBezTo>
                    <a:pt x="124" y="344"/>
                    <a:pt x="124" y="344"/>
                    <a:pt x="124" y="344"/>
                  </a:cubicBezTo>
                  <a:cubicBezTo>
                    <a:pt x="124" y="344"/>
                    <a:pt x="124" y="344"/>
                    <a:pt x="124" y="344"/>
                  </a:cubicBezTo>
                  <a:cubicBezTo>
                    <a:pt x="124" y="344"/>
                    <a:pt x="124" y="344"/>
                    <a:pt x="124" y="344"/>
                  </a:cubicBezTo>
                  <a:cubicBezTo>
                    <a:pt x="125" y="344"/>
                    <a:pt x="125" y="344"/>
                    <a:pt x="125" y="344"/>
                  </a:cubicBezTo>
                  <a:cubicBezTo>
                    <a:pt x="126" y="344"/>
                    <a:pt x="126" y="345"/>
                    <a:pt x="127" y="345"/>
                  </a:cubicBezTo>
                  <a:cubicBezTo>
                    <a:pt x="127" y="345"/>
                    <a:pt x="128" y="345"/>
                    <a:pt x="128" y="345"/>
                  </a:cubicBezTo>
                  <a:cubicBezTo>
                    <a:pt x="129" y="345"/>
                    <a:pt x="130" y="345"/>
                    <a:pt x="130" y="345"/>
                  </a:cubicBezTo>
                  <a:cubicBezTo>
                    <a:pt x="131" y="345"/>
                    <a:pt x="131" y="345"/>
                    <a:pt x="131" y="345"/>
                  </a:cubicBezTo>
                  <a:cubicBezTo>
                    <a:pt x="131" y="345"/>
                    <a:pt x="131" y="345"/>
                    <a:pt x="131" y="345"/>
                  </a:cubicBezTo>
                  <a:cubicBezTo>
                    <a:pt x="131" y="345"/>
                    <a:pt x="131" y="345"/>
                    <a:pt x="131" y="345"/>
                  </a:cubicBezTo>
                  <a:cubicBezTo>
                    <a:pt x="132" y="345"/>
                    <a:pt x="132" y="345"/>
                    <a:pt x="132" y="345"/>
                  </a:cubicBezTo>
                  <a:cubicBezTo>
                    <a:pt x="133" y="345"/>
                    <a:pt x="133" y="345"/>
                    <a:pt x="134" y="345"/>
                  </a:cubicBezTo>
                  <a:cubicBezTo>
                    <a:pt x="135" y="345"/>
                    <a:pt x="135" y="345"/>
                    <a:pt x="135" y="345"/>
                  </a:cubicBezTo>
                  <a:cubicBezTo>
                    <a:pt x="137" y="345"/>
                    <a:pt x="138" y="345"/>
                    <a:pt x="139" y="345"/>
                  </a:cubicBezTo>
                  <a:cubicBezTo>
                    <a:pt x="140" y="345"/>
                    <a:pt x="141" y="345"/>
                    <a:pt x="143" y="345"/>
                  </a:cubicBezTo>
                  <a:cubicBezTo>
                    <a:pt x="143" y="345"/>
                    <a:pt x="144" y="345"/>
                    <a:pt x="144" y="345"/>
                  </a:cubicBezTo>
                  <a:cubicBezTo>
                    <a:pt x="145" y="345"/>
                    <a:pt x="145" y="345"/>
                    <a:pt x="146" y="345"/>
                  </a:cubicBezTo>
                  <a:cubicBezTo>
                    <a:pt x="147" y="345"/>
                    <a:pt x="147" y="345"/>
                    <a:pt x="147" y="345"/>
                  </a:cubicBezTo>
                  <a:cubicBezTo>
                    <a:pt x="148" y="345"/>
                    <a:pt x="148" y="345"/>
                    <a:pt x="148" y="345"/>
                  </a:cubicBezTo>
                  <a:cubicBezTo>
                    <a:pt x="148" y="345"/>
                    <a:pt x="148" y="345"/>
                    <a:pt x="148" y="345"/>
                  </a:cubicBezTo>
                  <a:cubicBezTo>
                    <a:pt x="149" y="345"/>
                    <a:pt x="149" y="345"/>
                    <a:pt x="150" y="345"/>
                  </a:cubicBezTo>
                  <a:cubicBezTo>
                    <a:pt x="150" y="345"/>
                    <a:pt x="151" y="345"/>
                    <a:pt x="151" y="345"/>
                  </a:cubicBezTo>
                  <a:cubicBezTo>
                    <a:pt x="152" y="345"/>
                    <a:pt x="153" y="345"/>
                    <a:pt x="153" y="345"/>
                  </a:cubicBezTo>
                  <a:cubicBezTo>
                    <a:pt x="154" y="345"/>
                    <a:pt x="154" y="345"/>
                    <a:pt x="154" y="345"/>
                  </a:cubicBezTo>
                  <a:cubicBezTo>
                    <a:pt x="154" y="345"/>
                    <a:pt x="154" y="345"/>
                    <a:pt x="154" y="345"/>
                  </a:cubicBezTo>
                  <a:cubicBezTo>
                    <a:pt x="154" y="345"/>
                    <a:pt x="154" y="345"/>
                    <a:pt x="155" y="344"/>
                  </a:cubicBezTo>
                  <a:cubicBezTo>
                    <a:pt x="156" y="344"/>
                    <a:pt x="156" y="344"/>
                    <a:pt x="157" y="344"/>
                  </a:cubicBezTo>
                  <a:cubicBezTo>
                    <a:pt x="157" y="344"/>
                    <a:pt x="158" y="344"/>
                    <a:pt x="158" y="344"/>
                  </a:cubicBezTo>
                  <a:cubicBezTo>
                    <a:pt x="159" y="344"/>
                    <a:pt x="159" y="344"/>
                    <a:pt x="159" y="344"/>
                  </a:cubicBezTo>
                  <a:cubicBezTo>
                    <a:pt x="159" y="344"/>
                    <a:pt x="159" y="344"/>
                    <a:pt x="159" y="344"/>
                  </a:cubicBezTo>
                  <a:cubicBezTo>
                    <a:pt x="160" y="344"/>
                    <a:pt x="160" y="344"/>
                    <a:pt x="160" y="344"/>
                  </a:cubicBezTo>
                  <a:cubicBezTo>
                    <a:pt x="160" y="344"/>
                    <a:pt x="160" y="344"/>
                    <a:pt x="160" y="344"/>
                  </a:cubicBezTo>
                  <a:cubicBezTo>
                    <a:pt x="161" y="344"/>
                    <a:pt x="161" y="344"/>
                    <a:pt x="162" y="344"/>
                  </a:cubicBezTo>
                  <a:cubicBezTo>
                    <a:pt x="162" y="344"/>
                    <a:pt x="163" y="344"/>
                    <a:pt x="163" y="344"/>
                  </a:cubicBezTo>
                  <a:cubicBezTo>
                    <a:pt x="163" y="344"/>
                    <a:pt x="163" y="344"/>
                    <a:pt x="163" y="344"/>
                  </a:cubicBezTo>
                  <a:cubicBezTo>
                    <a:pt x="164" y="344"/>
                    <a:pt x="164" y="343"/>
                    <a:pt x="165" y="343"/>
                  </a:cubicBezTo>
                  <a:cubicBezTo>
                    <a:pt x="165" y="343"/>
                    <a:pt x="166" y="343"/>
                    <a:pt x="166" y="343"/>
                  </a:cubicBezTo>
                  <a:cubicBezTo>
                    <a:pt x="167" y="343"/>
                    <a:pt x="167" y="343"/>
                    <a:pt x="167" y="343"/>
                  </a:cubicBezTo>
                  <a:cubicBezTo>
                    <a:pt x="167" y="343"/>
                    <a:pt x="168" y="343"/>
                    <a:pt x="168" y="343"/>
                  </a:cubicBezTo>
                  <a:cubicBezTo>
                    <a:pt x="169" y="343"/>
                    <a:pt x="169" y="343"/>
                    <a:pt x="170" y="343"/>
                  </a:cubicBezTo>
                  <a:cubicBezTo>
                    <a:pt x="170" y="343"/>
                    <a:pt x="170" y="343"/>
                    <a:pt x="170" y="343"/>
                  </a:cubicBezTo>
                  <a:cubicBezTo>
                    <a:pt x="171" y="342"/>
                    <a:pt x="171" y="342"/>
                    <a:pt x="171" y="342"/>
                  </a:cubicBezTo>
                  <a:cubicBezTo>
                    <a:pt x="172" y="342"/>
                    <a:pt x="172" y="342"/>
                    <a:pt x="173" y="342"/>
                  </a:cubicBezTo>
                  <a:cubicBezTo>
                    <a:pt x="174" y="342"/>
                    <a:pt x="174" y="342"/>
                    <a:pt x="174" y="342"/>
                  </a:cubicBezTo>
                  <a:cubicBezTo>
                    <a:pt x="174" y="342"/>
                    <a:pt x="174" y="342"/>
                    <a:pt x="174" y="342"/>
                  </a:cubicBezTo>
                  <a:cubicBezTo>
                    <a:pt x="175" y="342"/>
                    <a:pt x="176" y="342"/>
                    <a:pt x="176" y="342"/>
                  </a:cubicBezTo>
                  <a:cubicBezTo>
                    <a:pt x="177" y="341"/>
                    <a:pt x="177" y="341"/>
                    <a:pt x="177" y="341"/>
                  </a:cubicBezTo>
                  <a:cubicBezTo>
                    <a:pt x="178" y="341"/>
                    <a:pt x="178" y="341"/>
                    <a:pt x="179" y="341"/>
                  </a:cubicBezTo>
                  <a:cubicBezTo>
                    <a:pt x="180" y="341"/>
                    <a:pt x="180" y="341"/>
                    <a:pt x="180" y="341"/>
                  </a:cubicBezTo>
                  <a:cubicBezTo>
                    <a:pt x="180" y="341"/>
                    <a:pt x="180" y="341"/>
                    <a:pt x="180" y="341"/>
                  </a:cubicBezTo>
                  <a:cubicBezTo>
                    <a:pt x="181" y="340"/>
                    <a:pt x="181" y="340"/>
                    <a:pt x="182" y="340"/>
                  </a:cubicBezTo>
                  <a:cubicBezTo>
                    <a:pt x="183" y="340"/>
                    <a:pt x="183" y="340"/>
                    <a:pt x="183" y="340"/>
                  </a:cubicBezTo>
                  <a:cubicBezTo>
                    <a:pt x="183" y="340"/>
                    <a:pt x="183" y="340"/>
                    <a:pt x="183" y="340"/>
                  </a:cubicBezTo>
                  <a:cubicBezTo>
                    <a:pt x="184" y="340"/>
                    <a:pt x="184" y="340"/>
                    <a:pt x="185" y="339"/>
                  </a:cubicBezTo>
                  <a:cubicBezTo>
                    <a:pt x="185" y="339"/>
                    <a:pt x="185" y="339"/>
                    <a:pt x="186" y="339"/>
                  </a:cubicBezTo>
                  <a:cubicBezTo>
                    <a:pt x="186" y="339"/>
                    <a:pt x="186" y="339"/>
                    <a:pt x="186" y="339"/>
                  </a:cubicBezTo>
                  <a:cubicBezTo>
                    <a:pt x="186" y="339"/>
                    <a:pt x="186" y="339"/>
                    <a:pt x="186" y="339"/>
                  </a:cubicBezTo>
                  <a:cubicBezTo>
                    <a:pt x="187" y="339"/>
                    <a:pt x="187" y="339"/>
                    <a:pt x="187" y="339"/>
                  </a:cubicBezTo>
                  <a:cubicBezTo>
                    <a:pt x="188" y="338"/>
                    <a:pt x="188" y="338"/>
                    <a:pt x="188" y="338"/>
                  </a:cubicBezTo>
                  <a:cubicBezTo>
                    <a:pt x="188" y="338"/>
                    <a:pt x="188" y="338"/>
                    <a:pt x="188" y="338"/>
                  </a:cubicBezTo>
                  <a:cubicBezTo>
                    <a:pt x="189" y="338"/>
                    <a:pt x="189" y="338"/>
                    <a:pt x="189" y="338"/>
                  </a:cubicBezTo>
                  <a:cubicBezTo>
                    <a:pt x="189" y="338"/>
                    <a:pt x="189" y="338"/>
                    <a:pt x="189" y="338"/>
                  </a:cubicBezTo>
                  <a:cubicBezTo>
                    <a:pt x="190" y="338"/>
                    <a:pt x="190" y="338"/>
                    <a:pt x="191" y="337"/>
                  </a:cubicBezTo>
                  <a:cubicBezTo>
                    <a:pt x="191" y="337"/>
                    <a:pt x="191" y="337"/>
                    <a:pt x="191" y="337"/>
                  </a:cubicBezTo>
                  <a:cubicBezTo>
                    <a:pt x="192" y="337"/>
                    <a:pt x="192" y="337"/>
                    <a:pt x="192" y="337"/>
                  </a:cubicBezTo>
                  <a:cubicBezTo>
                    <a:pt x="192" y="337"/>
                    <a:pt x="193" y="337"/>
                    <a:pt x="193" y="337"/>
                  </a:cubicBezTo>
                  <a:cubicBezTo>
                    <a:pt x="193" y="336"/>
                    <a:pt x="193" y="336"/>
                    <a:pt x="193" y="336"/>
                  </a:cubicBezTo>
                  <a:cubicBezTo>
                    <a:pt x="194" y="336"/>
                    <a:pt x="194" y="336"/>
                    <a:pt x="194" y="336"/>
                  </a:cubicBezTo>
                  <a:cubicBezTo>
                    <a:pt x="195" y="336"/>
                    <a:pt x="195" y="336"/>
                    <a:pt x="195" y="336"/>
                  </a:cubicBezTo>
                  <a:cubicBezTo>
                    <a:pt x="195" y="336"/>
                    <a:pt x="195" y="336"/>
                    <a:pt x="195" y="336"/>
                  </a:cubicBezTo>
                  <a:cubicBezTo>
                    <a:pt x="196" y="336"/>
                    <a:pt x="196" y="336"/>
                    <a:pt x="196" y="336"/>
                  </a:cubicBezTo>
                  <a:cubicBezTo>
                    <a:pt x="196" y="335"/>
                    <a:pt x="196" y="335"/>
                    <a:pt x="197" y="335"/>
                  </a:cubicBezTo>
                  <a:cubicBezTo>
                    <a:pt x="197" y="335"/>
                    <a:pt x="197" y="335"/>
                    <a:pt x="197" y="335"/>
                  </a:cubicBezTo>
                  <a:cubicBezTo>
                    <a:pt x="198" y="335"/>
                    <a:pt x="198" y="335"/>
                    <a:pt x="198" y="335"/>
                  </a:cubicBezTo>
                  <a:cubicBezTo>
                    <a:pt x="198" y="334"/>
                    <a:pt x="199" y="334"/>
                    <a:pt x="200" y="333"/>
                  </a:cubicBezTo>
                  <a:cubicBezTo>
                    <a:pt x="200" y="333"/>
                    <a:pt x="200" y="333"/>
                    <a:pt x="200" y="333"/>
                  </a:cubicBezTo>
                  <a:cubicBezTo>
                    <a:pt x="200" y="333"/>
                    <a:pt x="200" y="333"/>
                    <a:pt x="200" y="333"/>
                  </a:cubicBezTo>
                  <a:cubicBezTo>
                    <a:pt x="201" y="333"/>
                    <a:pt x="201" y="333"/>
                    <a:pt x="202" y="332"/>
                  </a:cubicBezTo>
                  <a:cubicBezTo>
                    <a:pt x="202" y="332"/>
                    <a:pt x="202" y="332"/>
                    <a:pt x="202" y="332"/>
                  </a:cubicBezTo>
                  <a:cubicBezTo>
                    <a:pt x="202" y="332"/>
                    <a:pt x="202" y="332"/>
                    <a:pt x="202" y="332"/>
                  </a:cubicBezTo>
                  <a:cubicBezTo>
                    <a:pt x="203" y="331"/>
                    <a:pt x="203" y="331"/>
                    <a:pt x="203" y="331"/>
                  </a:cubicBezTo>
                  <a:cubicBezTo>
                    <a:pt x="204" y="331"/>
                    <a:pt x="204" y="331"/>
                    <a:pt x="204" y="331"/>
                  </a:cubicBezTo>
                  <a:cubicBezTo>
                    <a:pt x="204" y="331"/>
                    <a:pt x="204" y="331"/>
                    <a:pt x="204" y="331"/>
                  </a:cubicBezTo>
                  <a:cubicBezTo>
                    <a:pt x="204" y="331"/>
                    <a:pt x="204" y="331"/>
                    <a:pt x="204" y="331"/>
                  </a:cubicBezTo>
                  <a:cubicBezTo>
                    <a:pt x="205" y="330"/>
                    <a:pt x="205" y="330"/>
                    <a:pt x="205" y="330"/>
                  </a:cubicBezTo>
                  <a:cubicBezTo>
                    <a:pt x="205" y="330"/>
                    <a:pt x="205" y="330"/>
                    <a:pt x="205" y="330"/>
                  </a:cubicBezTo>
                  <a:cubicBezTo>
                    <a:pt x="206" y="330"/>
                    <a:pt x="206" y="330"/>
                    <a:pt x="206" y="330"/>
                  </a:cubicBezTo>
                  <a:cubicBezTo>
                    <a:pt x="207" y="329"/>
                    <a:pt x="207" y="329"/>
                    <a:pt x="207" y="329"/>
                  </a:cubicBezTo>
                  <a:cubicBezTo>
                    <a:pt x="207" y="329"/>
                    <a:pt x="207" y="329"/>
                    <a:pt x="207" y="329"/>
                  </a:cubicBezTo>
                  <a:cubicBezTo>
                    <a:pt x="207" y="329"/>
                    <a:pt x="207" y="329"/>
                    <a:pt x="207" y="329"/>
                  </a:cubicBezTo>
                  <a:cubicBezTo>
                    <a:pt x="207" y="328"/>
                    <a:pt x="207" y="328"/>
                    <a:pt x="207" y="328"/>
                  </a:cubicBezTo>
                  <a:cubicBezTo>
                    <a:pt x="208" y="328"/>
                    <a:pt x="208" y="328"/>
                    <a:pt x="208" y="328"/>
                  </a:cubicBezTo>
                  <a:cubicBezTo>
                    <a:pt x="208" y="328"/>
                    <a:pt x="208" y="328"/>
                    <a:pt x="208" y="328"/>
                  </a:cubicBezTo>
                  <a:cubicBezTo>
                    <a:pt x="209" y="327"/>
                    <a:pt x="209" y="327"/>
                    <a:pt x="209" y="327"/>
                  </a:cubicBezTo>
                  <a:cubicBezTo>
                    <a:pt x="209" y="327"/>
                    <a:pt x="209" y="327"/>
                    <a:pt x="209" y="327"/>
                  </a:cubicBezTo>
                  <a:cubicBezTo>
                    <a:pt x="209" y="326"/>
                    <a:pt x="209" y="326"/>
                    <a:pt x="209" y="326"/>
                  </a:cubicBezTo>
                  <a:cubicBezTo>
                    <a:pt x="210" y="326"/>
                    <a:pt x="210" y="326"/>
                    <a:pt x="210" y="326"/>
                  </a:cubicBezTo>
                  <a:cubicBezTo>
                    <a:pt x="210" y="326"/>
                    <a:pt x="210" y="326"/>
                    <a:pt x="210" y="326"/>
                  </a:cubicBezTo>
                  <a:cubicBezTo>
                    <a:pt x="210" y="325"/>
                    <a:pt x="210" y="325"/>
                    <a:pt x="210" y="325"/>
                  </a:cubicBezTo>
                  <a:cubicBezTo>
                    <a:pt x="210" y="325"/>
                    <a:pt x="210" y="325"/>
                    <a:pt x="210" y="325"/>
                  </a:cubicBezTo>
                  <a:cubicBezTo>
                    <a:pt x="211" y="325"/>
                    <a:pt x="211" y="325"/>
                    <a:pt x="211" y="325"/>
                  </a:cubicBezTo>
                  <a:cubicBezTo>
                    <a:pt x="211" y="324"/>
                    <a:pt x="211" y="324"/>
                    <a:pt x="211" y="324"/>
                  </a:cubicBezTo>
                  <a:cubicBezTo>
                    <a:pt x="211" y="324"/>
                    <a:pt x="211" y="324"/>
                    <a:pt x="211" y="324"/>
                  </a:cubicBezTo>
                  <a:cubicBezTo>
                    <a:pt x="211" y="324"/>
                    <a:pt x="211" y="324"/>
                    <a:pt x="211" y="324"/>
                  </a:cubicBezTo>
                  <a:cubicBezTo>
                    <a:pt x="211" y="323"/>
                    <a:pt x="211" y="323"/>
                    <a:pt x="211" y="323"/>
                  </a:cubicBezTo>
                  <a:cubicBezTo>
                    <a:pt x="211" y="323"/>
                    <a:pt x="211" y="323"/>
                    <a:pt x="211" y="323"/>
                  </a:cubicBezTo>
                  <a:cubicBezTo>
                    <a:pt x="212" y="323"/>
                    <a:pt x="212" y="323"/>
                    <a:pt x="212" y="323"/>
                  </a:cubicBezTo>
                  <a:cubicBezTo>
                    <a:pt x="212" y="322"/>
                    <a:pt x="212" y="322"/>
                    <a:pt x="212" y="322"/>
                  </a:cubicBezTo>
                  <a:cubicBezTo>
                    <a:pt x="212" y="322"/>
                    <a:pt x="212" y="322"/>
                    <a:pt x="212" y="322"/>
                  </a:cubicBezTo>
                  <a:cubicBezTo>
                    <a:pt x="212" y="322"/>
                    <a:pt x="212" y="322"/>
                    <a:pt x="212" y="322"/>
                  </a:cubicBezTo>
                  <a:cubicBezTo>
                    <a:pt x="212" y="321"/>
                    <a:pt x="212" y="321"/>
                    <a:pt x="212" y="321"/>
                  </a:cubicBezTo>
                  <a:cubicBezTo>
                    <a:pt x="213" y="321"/>
                    <a:pt x="213" y="321"/>
                    <a:pt x="213" y="321"/>
                  </a:cubicBezTo>
                  <a:cubicBezTo>
                    <a:pt x="214" y="315"/>
                    <a:pt x="215" y="310"/>
                    <a:pt x="217" y="305"/>
                  </a:cubicBezTo>
                  <a:cubicBezTo>
                    <a:pt x="236" y="229"/>
                    <a:pt x="255" y="154"/>
                    <a:pt x="275" y="78"/>
                  </a:cubicBezTo>
                  <a:cubicBezTo>
                    <a:pt x="276" y="71"/>
                    <a:pt x="278" y="64"/>
                    <a:pt x="280" y="57"/>
                  </a:cubicBezTo>
                  <a:cubicBezTo>
                    <a:pt x="280" y="56"/>
                    <a:pt x="280" y="55"/>
                    <a:pt x="281" y="53"/>
                  </a:cubicBezTo>
                  <a:cubicBezTo>
                    <a:pt x="281" y="53"/>
                    <a:pt x="281" y="52"/>
                    <a:pt x="281" y="52"/>
                  </a:cubicBezTo>
                  <a:cubicBezTo>
                    <a:pt x="280" y="51"/>
                    <a:pt x="280" y="51"/>
                    <a:pt x="280" y="51"/>
                  </a:cubicBezTo>
                </a:path>
              </a:pathLst>
            </a:custGeom>
            <a:solidFill>
              <a:schemeClr val="accent1">
                <a:lumMod val="5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62" name="Freeform 144">
              <a:extLst>
                <a:ext uri="{FF2B5EF4-FFF2-40B4-BE49-F238E27FC236}">
                  <a16:creationId xmlns:a16="http://schemas.microsoft.com/office/drawing/2014/main" id="{75607F1A-94C7-7429-BCA9-EB45DEF9F7EA}"/>
                </a:ext>
              </a:extLst>
            </p:cNvPr>
            <p:cNvSpPr>
              <a:spLocks/>
            </p:cNvSpPr>
            <p:nvPr/>
          </p:nvSpPr>
          <p:spPr bwMode="auto">
            <a:xfrm>
              <a:off x="3708817" y="5495660"/>
              <a:ext cx="1237683" cy="209403"/>
            </a:xfrm>
            <a:custGeom>
              <a:avLst/>
              <a:gdLst>
                <a:gd name="T0" fmla="*/ 282 w 283"/>
                <a:gd name="T1" fmla="*/ 44 h 87"/>
                <a:gd name="T2" fmla="*/ 139 w 283"/>
                <a:gd name="T3" fmla="*/ 87 h 87"/>
                <a:gd name="T4" fmla="*/ 1 w 283"/>
                <a:gd name="T5" fmla="*/ 43 h 87"/>
                <a:gd name="T6" fmla="*/ 144 w 283"/>
                <a:gd name="T7" fmla="*/ 0 h 87"/>
                <a:gd name="T8" fmla="*/ 282 w 283"/>
                <a:gd name="T9" fmla="*/ 44 h 87"/>
              </a:gdLst>
              <a:ahLst/>
              <a:cxnLst>
                <a:cxn ang="0">
                  <a:pos x="T0" y="T1"/>
                </a:cxn>
                <a:cxn ang="0">
                  <a:pos x="T2" y="T3"/>
                </a:cxn>
                <a:cxn ang="0">
                  <a:pos x="T4" y="T5"/>
                </a:cxn>
                <a:cxn ang="0">
                  <a:pos x="T6" y="T7"/>
                </a:cxn>
                <a:cxn ang="0">
                  <a:pos x="T8" y="T9"/>
                </a:cxn>
              </a:cxnLst>
              <a:rect l="0" t="0" r="r" b="b"/>
              <a:pathLst>
                <a:path w="283" h="87">
                  <a:moveTo>
                    <a:pt x="282" y="44"/>
                  </a:moveTo>
                  <a:cubicBezTo>
                    <a:pt x="280" y="68"/>
                    <a:pt x="216" y="87"/>
                    <a:pt x="139" y="87"/>
                  </a:cubicBezTo>
                  <a:cubicBezTo>
                    <a:pt x="61" y="86"/>
                    <a:pt x="0" y="66"/>
                    <a:pt x="1" y="43"/>
                  </a:cubicBezTo>
                  <a:cubicBezTo>
                    <a:pt x="2" y="19"/>
                    <a:pt x="66" y="0"/>
                    <a:pt x="144" y="0"/>
                  </a:cubicBezTo>
                  <a:cubicBezTo>
                    <a:pt x="221" y="1"/>
                    <a:pt x="283" y="20"/>
                    <a:pt x="282" y="44"/>
                  </a:cubicBezTo>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sp>
        <p:nvSpPr>
          <p:cNvPr id="7" name="Rectangle 176">
            <a:extLst>
              <a:ext uri="{FF2B5EF4-FFF2-40B4-BE49-F238E27FC236}">
                <a16:creationId xmlns:a16="http://schemas.microsoft.com/office/drawing/2014/main" id="{C8E1515D-2B83-8A73-EBCC-FEFDC8ADCB89}"/>
              </a:ext>
            </a:extLst>
          </p:cNvPr>
          <p:cNvSpPr>
            <a:spLocks noChangeArrowheads="1"/>
          </p:cNvSpPr>
          <p:nvPr/>
        </p:nvSpPr>
        <p:spPr bwMode="auto">
          <a:xfrm>
            <a:off x="2444181" y="4414428"/>
            <a:ext cx="4785132" cy="701540"/>
          </a:xfrm>
          <a:prstGeom prst="rect">
            <a:avLst/>
          </a:prstGeom>
          <a:solidFill>
            <a:schemeClr val="accent2"/>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nvGrpSpPr>
          <p:cNvPr id="9" name="Group 8">
            <a:extLst>
              <a:ext uri="{FF2B5EF4-FFF2-40B4-BE49-F238E27FC236}">
                <a16:creationId xmlns:a16="http://schemas.microsoft.com/office/drawing/2014/main" id="{6CECF374-D5D4-5CE1-72F8-7E7805023EA4}"/>
              </a:ext>
            </a:extLst>
          </p:cNvPr>
          <p:cNvGrpSpPr/>
          <p:nvPr/>
        </p:nvGrpSpPr>
        <p:grpSpPr>
          <a:xfrm>
            <a:off x="1524990" y="4277885"/>
            <a:ext cx="1846858" cy="853693"/>
            <a:chOff x="3277730" y="4527866"/>
            <a:chExt cx="1962313" cy="897995"/>
          </a:xfrm>
        </p:grpSpPr>
        <p:sp>
          <p:nvSpPr>
            <p:cNvPr id="64" name="Freeform 149">
              <a:extLst>
                <a:ext uri="{FF2B5EF4-FFF2-40B4-BE49-F238E27FC236}">
                  <a16:creationId xmlns:a16="http://schemas.microsoft.com/office/drawing/2014/main" id="{4D32C394-CCA5-92E5-5A2B-159A637810AE}"/>
                </a:ext>
              </a:extLst>
            </p:cNvPr>
            <p:cNvSpPr>
              <a:spLocks/>
            </p:cNvSpPr>
            <p:nvPr/>
          </p:nvSpPr>
          <p:spPr bwMode="auto">
            <a:xfrm>
              <a:off x="3277731" y="4529758"/>
              <a:ext cx="1953973" cy="896103"/>
            </a:xfrm>
            <a:custGeom>
              <a:avLst/>
              <a:gdLst>
                <a:gd name="T0" fmla="*/ 595 w 597"/>
                <a:gd name="T1" fmla="*/ 53 h 409"/>
                <a:gd name="T2" fmla="*/ 588 w 597"/>
                <a:gd name="T3" fmla="*/ 46 h 409"/>
                <a:gd name="T4" fmla="*/ 577 w 597"/>
                <a:gd name="T5" fmla="*/ 39 h 409"/>
                <a:gd name="T6" fmla="*/ 565 w 597"/>
                <a:gd name="T7" fmla="*/ 34 h 409"/>
                <a:gd name="T8" fmla="*/ 537 w 597"/>
                <a:gd name="T9" fmla="*/ 24 h 409"/>
                <a:gd name="T10" fmla="*/ 518 w 597"/>
                <a:gd name="T11" fmla="*/ 20 h 409"/>
                <a:gd name="T12" fmla="*/ 486 w 597"/>
                <a:gd name="T13" fmla="*/ 13 h 409"/>
                <a:gd name="T14" fmla="*/ 460 w 597"/>
                <a:gd name="T15" fmla="*/ 10 h 409"/>
                <a:gd name="T16" fmla="*/ 425 w 597"/>
                <a:gd name="T17" fmla="*/ 5 h 409"/>
                <a:gd name="T18" fmla="*/ 392 w 597"/>
                <a:gd name="T19" fmla="*/ 3 h 409"/>
                <a:gd name="T20" fmla="*/ 372 w 597"/>
                <a:gd name="T21" fmla="*/ 2 h 409"/>
                <a:gd name="T22" fmla="*/ 353 w 597"/>
                <a:gd name="T23" fmla="*/ 1 h 409"/>
                <a:gd name="T24" fmla="*/ 335 w 597"/>
                <a:gd name="T25" fmla="*/ 0 h 409"/>
                <a:gd name="T26" fmla="*/ 312 w 597"/>
                <a:gd name="T27" fmla="*/ 0 h 409"/>
                <a:gd name="T28" fmla="*/ 289 w 597"/>
                <a:gd name="T29" fmla="*/ 0 h 409"/>
                <a:gd name="T30" fmla="*/ 273 w 597"/>
                <a:gd name="T31" fmla="*/ 0 h 409"/>
                <a:gd name="T32" fmla="*/ 244 w 597"/>
                <a:gd name="T33" fmla="*/ 1 h 409"/>
                <a:gd name="T34" fmla="*/ 203 w 597"/>
                <a:gd name="T35" fmla="*/ 3 h 409"/>
                <a:gd name="T36" fmla="*/ 187 w 597"/>
                <a:gd name="T37" fmla="*/ 4 h 409"/>
                <a:gd name="T38" fmla="*/ 173 w 597"/>
                <a:gd name="T39" fmla="*/ 5 h 409"/>
                <a:gd name="T40" fmla="*/ 155 w 597"/>
                <a:gd name="T41" fmla="*/ 7 h 409"/>
                <a:gd name="T42" fmla="*/ 140 w 597"/>
                <a:gd name="T43" fmla="*/ 9 h 409"/>
                <a:gd name="T44" fmla="*/ 119 w 597"/>
                <a:gd name="T45" fmla="*/ 12 h 409"/>
                <a:gd name="T46" fmla="*/ 103 w 597"/>
                <a:gd name="T47" fmla="*/ 15 h 409"/>
                <a:gd name="T48" fmla="*/ 77 w 597"/>
                <a:gd name="T49" fmla="*/ 20 h 409"/>
                <a:gd name="T50" fmla="*/ 60 w 597"/>
                <a:gd name="T51" fmla="*/ 25 h 409"/>
                <a:gd name="T52" fmla="*/ 42 w 597"/>
                <a:gd name="T53" fmla="*/ 30 h 409"/>
                <a:gd name="T54" fmla="*/ 27 w 597"/>
                <a:gd name="T55" fmla="*/ 36 h 409"/>
                <a:gd name="T56" fmla="*/ 13 w 597"/>
                <a:gd name="T57" fmla="*/ 44 h 409"/>
                <a:gd name="T58" fmla="*/ 4 w 597"/>
                <a:gd name="T59" fmla="*/ 52 h 409"/>
                <a:gd name="T60" fmla="*/ 1 w 597"/>
                <a:gd name="T61" fmla="*/ 59 h 409"/>
                <a:gd name="T62" fmla="*/ 1 w 597"/>
                <a:gd name="T63" fmla="*/ 65 h 409"/>
                <a:gd name="T64" fmla="*/ 139 w 597"/>
                <a:gd name="T65" fmla="*/ 367 h 409"/>
                <a:gd name="T66" fmla="*/ 148 w 597"/>
                <a:gd name="T67" fmla="*/ 384 h 409"/>
                <a:gd name="T68" fmla="*/ 153 w 597"/>
                <a:gd name="T69" fmla="*/ 388 h 409"/>
                <a:gd name="T70" fmla="*/ 161 w 597"/>
                <a:gd name="T71" fmla="*/ 392 h 409"/>
                <a:gd name="T72" fmla="*/ 172 w 597"/>
                <a:gd name="T73" fmla="*/ 396 h 409"/>
                <a:gd name="T74" fmla="*/ 183 w 597"/>
                <a:gd name="T75" fmla="*/ 398 h 409"/>
                <a:gd name="T76" fmla="*/ 197 w 597"/>
                <a:gd name="T77" fmla="*/ 401 h 409"/>
                <a:gd name="T78" fmla="*/ 212 w 597"/>
                <a:gd name="T79" fmla="*/ 404 h 409"/>
                <a:gd name="T80" fmla="*/ 226 w 597"/>
                <a:gd name="T81" fmla="*/ 406 h 409"/>
                <a:gd name="T82" fmla="*/ 243 w 597"/>
                <a:gd name="T83" fmla="*/ 407 h 409"/>
                <a:gd name="T84" fmla="*/ 263 w 597"/>
                <a:gd name="T85" fmla="*/ 408 h 409"/>
                <a:gd name="T86" fmla="*/ 279 w 597"/>
                <a:gd name="T87" fmla="*/ 409 h 409"/>
                <a:gd name="T88" fmla="*/ 307 w 597"/>
                <a:gd name="T89" fmla="*/ 409 h 409"/>
                <a:gd name="T90" fmla="*/ 327 w 597"/>
                <a:gd name="T91" fmla="*/ 409 h 409"/>
                <a:gd name="T92" fmla="*/ 341 w 597"/>
                <a:gd name="T93" fmla="*/ 408 h 409"/>
                <a:gd name="T94" fmla="*/ 362 w 597"/>
                <a:gd name="T95" fmla="*/ 407 h 409"/>
                <a:gd name="T96" fmla="*/ 381 w 597"/>
                <a:gd name="T97" fmla="*/ 404 h 409"/>
                <a:gd name="T98" fmla="*/ 396 w 597"/>
                <a:gd name="T99" fmla="*/ 402 h 409"/>
                <a:gd name="T100" fmla="*/ 407 w 597"/>
                <a:gd name="T101" fmla="*/ 400 h 409"/>
                <a:gd name="T102" fmla="*/ 419 w 597"/>
                <a:gd name="T103" fmla="*/ 397 h 409"/>
                <a:gd name="T104" fmla="*/ 431 w 597"/>
                <a:gd name="T105" fmla="*/ 394 h 409"/>
                <a:gd name="T106" fmla="*/ 440 w 597"/>
                <a:gd name="T107" fmla="*/ 390 h 409"/>
                <a:gd name="T108" fmla="*/ 446 w 597"/>
                <a:gd name="T109" fmla="*/ 387 h 409"/>
                <a:gd name="T110" fmla="*/ 450 w 597"/>
                <a:gd name="T111" fmla="*/ 384 h 409"/>
                <a:gd name="T112" fmla="*/ 453 w 597"/>
                <a:gd name="T113" fmla="*/ 38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7" h="409">
                  <a:moveTo>
                    <a:pt x="597" y="60"/>
                  </a:moveTo>
                  <a:cubicBezTo>
                    <a:pt x="597" y="60"/>
                    <a:pt x="597" y="60"/>
                    <a:pt x="597" y="59"/>
                  </a:cubicBezTo>
                  <a:cubicBezTo>
                    <a:pt x="597" y="59"/>
                    <a:pt x="597" y="59"/>
                    <a:pt x="597" y="59"/>
                  </a:cubicBezTo>
                  <a:cubicBezTo>
                    <a:pt x="597" y="58"/>
                    <a:pt x="597" y="58"/>
                    <a:pt x="597" y="57"/>
                  </a:cubicBezTo>
                  <a:cubicBezTo>
                    <a:pt x="597" y="57"/>
                    <a:pt x="597" y="57"/>
                    <a:pt x="597" y="57"/>
                  </a:cubicBezTo>
                  <a:cubicBezTo>
                    <a:pt x="596" y="56"/>
                    <a:pt x="596" y="56"/>
                    <a:pt x="596" y="56"/>
                  </a:cubicBezTo>
                  <a:cubicBezTo>
                    <a:pt x="596" y="55"/>
                    <a:pt x="596" y="55"/>
                    <a:pt x="596" y="55"/>
                  </a:cubicBezTo>
                  <a:cubicBezTo>
                    <a:pt x="595" y="54"/>
                    <a:pt x="595" y="54"/>
                    <a:pt x="595" y="53"/>
                  </a:cubicBezTo>
                  <a:cubicBezTo>
                    <a:pt x="594" y="53"/>
                    <a:pt x="594" y="53"/>
                    <a:pt x="594" y="53"/>
                  </a:cubicBezTo>
                  <a:cubicBezTo>
                    <a:pt x="594" y="53"/>
                    <a:pt x="594" y="52"/>
                    <a:pt x="593" y="52"/>
                  </a:cubicBezTo>
                  <a:cubicBezTo>
                    <a:pt x="593" y="51"/>
                    <a:pt x="593" y="51"/>
                    <a:pt x="593" y="51"/>
                  </a:cubicBezTo>
                  <a:cubicBezTo>
                    <a:pt x="592" y="50"/>
                    <a:pt x="592" y="50"/>
                    <a:pt x="592" y="50"/>
                  </a:cubicBezTo>
                  <a:cubicBezTo>
                    <a:pt x="591" y="49"/>
                    <a:pt x="591" y="49"/>
                    <a:pt x="591" y="49"/>
                  </a:cubicBezTo>
                  <a:cubicBezTo>
                    <a:pt x="591" y="49"/>
                    <a:pt x="591" y="49"/>
                    <a:pt x="590" y="48"/>
                  </a:cubicBezTo>
                  <a:cubicBezTo>
                    <a:pt x="590" y="48"/>
                    <a:pt x="590" y="48"/>
                    <a:pt x="590" y="48"/>
                  </a:cubicBezTo>
                  <a:cubicBezTo>
                    <a:pt x="589" y="47"/>
                    <a:pt x="589" y="47"/>
                    <a:pt x="588" y="46"/>
                  </a:cubicBezTo>
                  <a:cubicBezTo>
                    <a:pt x="588" y="46"/>
                    <a:pt x="588" y="46"/>
                    <a:pt x="588" y="46"/>
                  </a:cubicBezTo>
                  <a:cubicBezTo>
                    <a:pt x="587" y="45"/>
                    <a:pt x="586" y="45"/>
                    <a:pt x="585" y="44"/>
                  </a:cubicBezTo>
                  <a:cubicBezTo>
                    <a:pt x="585" y="44"/>
                    <a:pt x="585" y="44"/>
                    <a:pt x="585" y="44"/>
                  </a:cubicBezTo>
                  <a:cubicBezTo>
                    <a:pt x="584" y="43"/>
                    <a:pt x="584" y="43"/>
                    <a:pt x="583" y="43"/>
                  </a:cubicBezTo>
                  <a:cubicBezTo>
                    <a:pt x="582" y="42"/>
                    <a:pt x="582" y="42"/>
                    <a:pt x="582" y="42"/>
                  </a:cubicBezTo>
                  <a:cubicBezTo>
                    <a:pt x="581" y="42"/>
                    <a:pt x="581" y="41"/>
                    <a:pt x="580" y="41"/>
                  </a:cubicBezTo>
                  <a:cubicBezTo>
                    <a:pt x="579" y="40"/>
                    <a:pt x="579" y="40"/>
                    <a:pt x="579" y="40"/>
                  </a:cubicBezTo>
                  <a:cubicBezTo>
                    <a:pt x="579" y="40"/>
                    <a:pt x="578" y="40"/>
                    <a:pt x="577" y="39"/>
                  </a:cubicBezTo>
                  <a:cubicBezTo>
                    <a:pt x="576" y="39"/>
                    <a:pt x="576" y="39"/>
                    <a:pt x="576" y="39"/>
                  </a:cubicBezTo>
                  <a:cubicBezTo>
                    <a:pt x="576" y="38"/>
                    <a:pt x="575" y="38"/>
                    <a:pt x="574" y="37"/>
                  </a:cubicBezTo>
                  <a:cubicBezTo>
                    <a:pt x="573" y="37"/>
                    <a:pt x="573" y="37"/>
                    <a:pt x="573" y="37"/>
                  </a:cubicBezTo>
                  <a:cubicBezTo>
                    <a:pt x="572" y="37"/>
                    <a:pt x="571" y="36"/>
                    <a:pt x="570" y="36"/>
                  </a:cubicBezTo>
                  <a:cubicBezTo>
                    <a:pt x="569" y="35"/>
                    <a:pt x="569" y="35"/>
                    <a:pt x="569" y="35"/>
                  </a:cubicBezTo>
                  <a:cubicBezTo>
                    <a:pt x="568" y="35"/>
                    <a:pt x="567" y="35"/>
                    <a:pt x="566" y="34"/>
                  </a:cubicBezTo>
                  <a:cubicBezTo>
                    <a:pt x="566" y="34"/>
                    <a:pt x="566" y="34"/>
                    <a:pt x="566" y="34"/>
                  </a:cubicBezTo>
                  <a:cubicBezTo>
                    <a:pt x="565" y="34"/>
                    <a:pt x="565" y="34"/>
                    <a:pt x="565" y="34"/>
                  </a:cubicBezTo>
                  <a:cubicBezTo>
                    <a:pt x="563" y="33"/>
                    <a:pt x="561" y="32"/>
                    <a:pt x="559" y="31"/>
                  </a:cubicBezTo>
                  <a:cubicBezTo>
                    <a:pt x="558" y="31"/>
                    <a:pt x="558" y="31"/>
                    <a:pt x="558" y="31"/>
                  </a:cubicBezTo>
                  <a:cubicBezTo>
                    <a:pt x="556" y="30"/>
                    <a:pt x="554" y="29"/>
                    <a:pt x="551" y="29"/>
                  </a:cubicBezTo>
                  <a:cubicBezTo>
                    <a:pt x="551" y="28"/>
                    <a:pt x="551" y="28"/>
                    <a:pt x="551" y="28"/>
                  </a:cubicBezTo>
                  <a:cubicBezTo>
                    <a:pt x="550" y="28"/>
                    <a:pt x="550" y="28"/>
                    <a:pt x="550" y="28"/>
                  </a:cubicBezTo>
                  <a:cubicBezTo>
                    <a:pt x="548" y="28"/>
                    <a:pt x="546" y="27"/>
                    <a:pt x="544" y="26"/>
                  </a:cubicBezTo>
                  <a:cubicBezTo>
                    <a:pt x="544" y="26"/>
                    <a:pt x="543" y="26"/>
                    <a:pt x="543" y="26"/>
                  </a:cubicBezTo>
                  <a:cubicBezTo>
                    <a:pt x="541" y="25"/>
                    <a:pt x="539" y="25"/>
                    <a:pt x="537" y="24"/>
                  </a:cubicBezTo>
                  <a:cubicBezTo>
                    <a:pt x="537" y="24"/>
                    <a:pt x="537" y="24"/>
                    <a:pt x="537" y="24"/>
                  </a:cubicBezTo>
                  <a:cubicBezTo>
                    <a:pt x="535" y="24"/>
                    <a:pt x="535" y="24"/>
                    <a:pt x="535" y="24"/>
                  </a:cubicBezTo>
                  <a:cubicBezTo>
                    <a:pt x="534" y="23"/>
                    <a:pt x="532" y="23"/>
                    <a:pt x="531" y="23"/>
                  </a:cubicBezTo>
                  <a:cubicBezTo>
                    <a:pt x="530" y="23"/>
                    <a:pt x="530" y="22"/>
                    <a:pt x="529" y="22"/>
                  </a:cubicBezTo>
                  <a:cubicBezTo>
                    <a:pt x="527" y="22"/>
                    <a:pt x="525" y="21"/>
                    <a:pt x="523" y="21"/>
                  </a:cubicBezTo>
                  <a:cubicBezTo>
                    <a:pt x="523" y="21"/>
                    <a:pt x="523" y="21"/>
                    <a:pt x="523" y="21"/>
                  </a:cubicBezTo>
                  <a:cubicBezTo>
                    <a:pt x="522" y="21"/>
                    <a:pt x="522" y="21"/>
                    <a:pt x="522" y="21"/>
                  </a:cubicBezTo>
                  <a:cubicBezTo>
                    <a:pt x="521" y="20"/>
                    <a:pt x="519" y="20"/>
                    <a:pt x="518" y="20"/>
                  </a:cubicBezTo>
                  <a:cubicBezTo>
                    <a:pt x="517" y="19"/>
                    <a:pt x="516" y="19"/>
                    <a:pt x="516" y="19"/>
                  </a:cubicBezTo>
                  <a:cubicBezTo>
                    <a:pt x="514" y="19"/>
                    <a:pt x="513" y="19"/>
                    <a:pt x="512" y="18"/>
                  </a:cubicBezTo>
                  <a:cubicBezTo>
                    <a:pt x="511" y="18"/>
                    <a:pt x="511" y="18"/>
                    <a:pt x="510" y="18"/>
                  </a:cubicBezTo>
                  <a:cubicBezTo>
                    <a:pt x="510" y="18"/>
                    <a:pt x="510" y="18"/>
                    <a:pt x="510" y="18"/>
                  </a:cubicBezTo>
                  <a:cubicBezTo>
                    <a:pt x="506" y="17"/>
                    <a:pt x="502" y="16"/>
                    <a:pt x="498" y="15"/>
                  </a:cubicBezTo>
                  <a:cubicBezTo>
                    <a:pt x="498" y="15"/>
                    <a:pt x="498" y="15"/>
                    <a:pt x="498" y="15"/>
                  </a:cubicBezTo>
                  <a:cubicBezTo>
                    <a:pt x="497" y="15"/>
                    <a:pt x="497" y="15"/>
                    <a:pt x="497" y="15"/>
                  </a:cubicBezTo>
                  <a:cubicBezTo>
                    <a:pt x="494" y="15"/>
                    <a:pt x="490" y="14"/>
                    <a:pt x="486" y="13"/>
                  </a:cubicBezTo>
                  <a:cubicBezTo>
                    <a:pt x="486" y="13"/>
                    <a:pt x="486" y="13"/>
                    <a:pt x="486" y="13"/>
                  </a:cubicBezTo>
                  <a:cubicBezTo>
                    <a:pt x="485" y="13"/>
                    <a:pt x="485" y="13"/>
                    <a:pt x="485" y="13"/>
                  </a:cubicBezTo>
                  <a:cubicBezTo>
                    <a:pt x="481" y="13"/>
                    <a:pt x="478" y="12"/>
                    <a:pt x="474" y="12"/>
                  </a:cubicBezTo>
                  <a:cubicBezTo>
                    <a:pt x="473" y="11"/>
                    <a:pt x="473" y="11"/>
                    <a:pt x="473" y="11"/>
                  </a:cubicBezTo>
                  <a:cubicBezTo>
                    <a:pt x="472" y="11"/>
                    <a:pt x="472" y="11"/>
                    <a:pt x="472" y="11"/>
                  </a:cubicBezTo>
                  <a:cubicBezTo>
                    <a:pt x="469" y="11"/>
                    <a:pt x="465" y="10"/>
                    <a:pt x="462" y="10"/>
                  </a:cubicBezTo>
                  <a:cubicBezTo>
                    <a:pt x="461" y="10"/>
                    <a:pt x="461" y="10"/>
                    <a:pt x="461" y="10"/>
                  </a:cubicBezTo>
                  <a:cubicBezTo>
                    <a:pt x="460" y="10"/>
                    <a:pt x="460" y="10"/>
                    <a:pt x="460" y="10"/>
                  </a:cubicBezTo>
                  <a:cubicBezTo>
                    <a:pt x="457" y="9"/>
                    <a:pt x="453" y="9"/>
                    <a:pt x="450" y="8"/>
                  </a:cubicBezTo>
                  <a:cubicBezTo>
                    <a:pt x="449" y="8"/>
                    <a:pt x="449" y="8"/>
                    <a:pt x="449" y="8"/>
                  </a:cubicBezTo>
                  <a:cubicBezTo>
                    <a:pt x="448" y="8"/>
                    <a:pt x="448" y="8"/>
                    <a:pt x="448" y="8"/>
                  </a:cubicBezTo>
                  <a:cubicBezTo>
                    <a:pt x="445" y="8"/>
                    <a:pt x="441" y="7"/>
                    <a:pt x="438" y="7"/>
                  </a:cubicBezTo>
                  <a:cubicBezTo>
                    <a:pt x="437" y="7"/>
                    <a:pt x="437" y="7"/>
                    <a:pt x="437" y="7"/>
                  </a:cubicBezTo>
                  <a:cubicBezTo>
                    <a:pt x="436" y="7"/>
                    <a:pt x="436" y="7"/>
                    <a:pt x="435" y="7"/>
                  </a:cubicBezTo>
                  <a:cubicBezTo>
                    <a:pt x="432" y="6"/>
                    <a:pt x="429" y="6"/>
                    <a:pt x="426" y="6"/>
                  </a:cubicBezTo>
                  <a:cubicBezTo>
                    <a:pt x="425" y="5"/>
                    <a:pt x="425" y="5"/>
                    <a:pt x="425" y="5"/>
                  </a:cubicBezTo>
                  <a:cubicBezTo>
                    <a:pt x="424" y="5"/>
                    <a:pt x="424" y="5"/>
                    <a:pt x="423" y="5"/>
                  </a:cubicBezTo>
                  <a:cubicBezTo>
                    <a:pt x="420" y="5"/>
                    <a:pt x="417" y="5"/>
                    <a:pt x="414" y="4"/>
                  </a:cubicBezTo>
                  <a:cubicBezTo>
                    <a:pt x="413" y="4"/>
                    <a:pt x="413" y="4"/>
                    <a:pt x="413" y="4"/>
                  </a:cubicBezTo>
                  <a:cubicBezTo>
                    <a:pt x="413" y="4"/>
                    <a:pt x="413" y="4"/>
                    <a:pt x="413" y="4"/>
                  </a:cubicBezTo>
                  <a:cubicBezTo>
                    <a:pt x="410" y="4"/>
                    <a:pt x="407" y="4"/>
                    <a:pt x="404" y="4"/>
                  </a:cubicBezTo>
                  <a:cubicBezTo>
                    <a:pt x="403" y="4"/>
                    <a:pt x="403" y="4"/>
                    <a:pt x="402" y="4"/>
                  </a:cubicBezTo>
                  <a:cubicBezTo>
                    <a:pt x="402" y="3"/>
                    <a:pt x="402" y="3"/>
                    <a:pt x="401" y="3"/>
                  </a:cubicBezTo>
                  <a:cubicBezTo>
                    <a:pt x="398" y="3"/>
                    <a:pt x="395" y="3"/>
                    <a:pt x="392" y="3"/>
                  </a:cubicBezTo>
                  <a:cubicBezTo>
                    <a:pt x="392" y="3"/>
                    <a:pt x="392" y="3"/>
                    <a:pt x="392" y="3"/>
                  </a:cubicBezTo>
                  <a:cubicBezTo>
                    <a:pt x="391" y="3"/>
                    <a:pt x="391" y="3"/>
                    <a:pt x="391" y="3"/>
                  </a:cubicBezTo>
                  <a:cubicBezTo>
                    <a:pt x="389" y="3"/>
                    <a:pt x="387" y="2"/>
                    <a:pt x="384" y="2"/>
                  </a:cubicBezTo>
                  <a:cubicBezTo>
                    <a:pt x="384" y="2"/>
                    <a:pt x="383" y="2"/>
                    <a:pt x="383" y="2"/>
                  </a:cubicBezTo>
                  <a:cubicBezTo>
                    <a:pt x="382" y="2"/>
                    <a:pt x="382" y="2"/>
                    <a:pt x="381" y="2"/>
                  </a:cubicBezTo>
                  <a:cubicBezTo>
                    <a:pt x="380" y="2"/>
                    <a:pt x="378" y="2"/>
                    <a:pt x="376" y="2"/>
                  </a:cubicBezTo>
                  <a:cubicBezTo>
                    <a:pt x="376" y="2"/>
                    <a:pt x="375" y="2"/>
                    <a:pt x="374" y="2"/>
                  </a:cubicBezTo>
                  <a:cubicBezTo>
                    <a:pt x="374" y="2"/>
                    <a:pt x="373" y="2"/>
                    <a:pt x="372" y="2"/>
                  </a:cubicBezTo>
                  <a:cubicBezTo>
                    <a:pt x="372" y="2"/>
                    <a:pt x="371" y="1"/>
                    <a:pt x="370" y="1"/>
                  </a:cubicBezTo>
                  <a:cubicBezTo>
                    <a:pt x="369" y="1"/>
                    <a:pt x="368" y="1"/>
                    <a:pt x="367" y="1"/>
                  </a:cubicBezTo>
                  <a:cubicBezTo>
                    <a:pt x="367" y="1"/>
                    <a:pt x="366" y="1"/>
                    <a:pt x="365" y="1"/>
                  </a:cubicBezTo>
                  <a:cubicBezTo>
                    <a:pt x="364" y="1"/>
                    <a:pt x="363" y="1"/>
                    <a:pt x="362" y="1"/>
                  </a:cubicBezTo>
                  <a:cubicBezTo>
                    <a:pt x="362" y="1"/>
                    <a:pt x="361" y="1"/>
                    <a:pt x="360" y="1"/>
                  </a:cubicBezTo>
                  <a:cubicBezTo>
                    <a:pt x="360" y="1"/>
                    <a:pt x="359" y="1"/>
                    <a:pt x="358" y="1"/>
                  </a:cubicBezTo>
                  <a:cubicBezTo>
                    <a:pt x="357" y="1"/>
                    <a:pt x="356" y="1"/>
                    <a:pt x="355" y="1"/>
                  </a:cubicBezTo>
                  <a:cubicBezTo>
                    <a:pt x="355" y="1"/>
                    <a:pt x="354" y="1"/>
                    <a:pt x="353" y="1"/>
                  </a:cubicBezTo>
                  <a:cubicBezTo>
                    <a:pt x="352" y="1"/>
                    <a:pt x="351" y="1"/>
                    <a:pt x="350" y="1"/>
                  </a:cubicBezTo>
                  <a:cubicBezTo>
                    <a:pt x="349" y="1"/>
                    <a:pt x="349" y="1"/>
                    <a:pt x="349" y="1"/>
                  </a:cubicBezTo>
                  <a:cubicBezTo>
                    <a:pt x="349" y="1"/>
                    <a:pt x="348" y="1"/>
                    <a:pt x="348" y="1"/>
                  </a:cubicBezTo>
                  <a:cubicBezTo>
                    <a:pt x="346" y="0"/>
                    <a:pt x="344" y="0"/>
                    <a:pt x="343" y="0"/>
                  </a:cubicBezTo>
                  <a:cubicBezTo>
                    <a:pt x="342" y="0"/>
                    <a:pt x="342" y="0"/>
                    <a:pt x="342" y="0"/>
                  </a:cubicBezTo>
                  <a:cubicBezTo>
                    <a:pt x="342" y="0"/>
                    <a:pt x="342" y="0"/>
                    <a:pt x="341" y="0"/>
                  </a:cubicBezTo>
                  <a:cubicBezTo>
                    <a:pt x="340" y="0"/>
                    <a:pt x="339" y="0"/>
                    <a:pt x="338" y="0"/>
                  </a:cubicBezTo>
                  <a:cubicBezTo>
                    <a:pt x="337" y="0"/>
                    <a:pt x="336" y="0"/>
                    <a:pt x="335" y="0"/>
                  </a:cubicBezTo>
                  <a:cubicBezTo>
                    <a:pt x="335" y="0"/>
                    <a:pt x="334" y="0"/>
                    <a:pt x="334" y="0"/>
                  </a:cubicBezTo>
                  <a:cubicBezTo>
                    <a:pt x="334" y="0"/>
                    <a:pt x="333" y="0"/>
                    <a:pt x="333" y="0"/>
                  </a:cubicBezTo>
                  <a:cubicBezTo>
                    <a:pt x="331" y="0"/>
                    <a:pt x="329" y="0"/>
                    <a:pt x="328" y="0"/>
                  </a:cubicBezTo>
                  <a:cubicBezTo>
                    <a:pt x="326" y="0"/>
                    <a:pt x="325" y="0"/>
                    <a:pt x="324" y="0"/>
                  </a:cubicBezTo>
                  <a:cubicBezTo>
                    <a:pt x="322" y="0"/>
                    <a:pt x="321" y="0"/>
                    <a:pt x="320" y="0"/>
                  </a:cubicBezTo>
                  <a:cubicBezTo>
                    <a:pt x="318" y="0"/>
                    <a:pt x="317" y="0"/>
                    <a:pt x="316" y="0"/>
                  </a:cubicBezTo>
                  <a:cubicBezTo>
                    <a:pt x="314" y="0"/>
                    <a:pt x="313" y="0"/>
                    <a:pt x="312" y="0"/>
                  </a:cubicBezTo>
                  <a:cubicBezTo>
                    <a:pt x="312" y="0"/>
                    <a:pt x="312" y="0"/>
                    <a:pt x="312" y="0"/>
                  </a:cubicBezTo>
                  <a:cubicBezTo>
                    <a:pt x="312" y="0"/>
                    <a:pt x="312" y="0"/>
                    <a:pt x="312" y="0"/>
                  </a:cubicBezTo>
                  <a:cubicBezTo>
                    <a:pt x="310" y="0"/>
                    <a:pt x="309" y="0"/>
                    <a:pt x="308" y="0"/>
                  </a:cubicBezTo>
                  <a:cubicBezTo>
                    <a:pt x="306" y="0"/>
                    <a:pt x="305" y="0"/>
                    <a:pt x="304" y="0"/>
                  </a:cubicBezTo>
                  <a:cubicBezTo>
                    <a:pt x="304" y="0"/>
                    <a:pt x="304" y="0"/>
                    <a:pt x="304" y="0"/>
                  </a:cubicBezTo>
                  <a:cubicBezTo>
                    <a:pt x="302" y="0"/>
                    <a:pt x="301" y="0"/>
                    <a:pt x="300" y="0"/>
                  </a:cubicBezTo>
                  <a:cubicBezTo>
                    <a:pt x="299" y="0"/>
                    <a:pt x="298" y="0"/>
                    <a:pt x="296" y="0"/>
                  </a:cubicBezTo>
                  <a:cubicBezTo>
                    <a:pt x="295" y="0"/>
                    <a:pt x="294" y="0"/>
                    <a:pt x="293" y="0"/>
                  </a:cubicBezTo>
                  <a:cubicBezTo>
                    <a:pt x="292" y="0"/>
                    <a:pt x="290" y="0"/>
                    <a:pt x="289" y="0"/>
                  </a:cubicBezTo>
                  <a:cubicBezTo>
                    <a:pt x="289" y="0"/>
                    <a:pt x="289" y="0"/>
                    <a:pt x="289" y="0"/>
                  </a:cubicBezTo>
                  <a:cubicBezTo>
                    <a:pt x="288" y="0"/>
                    <a:pt x="288" y="0"/>
                    <a:pt x="288" y="0"/>
                  </a:cubicBezTo>
                  <a:cubicBezTo>
                    <a:pt x="287" y="0"/>
                    <a:pt x="287" y="0"/>
                    <a:pt x="286" y="0"/>
                  </a:cubicBezTo>
                  <a:cubicBezTo>
                    <a:pt x="284" y="0"/>
                    <a:pt x="283" y="0"/>
                    <a:pt x="282" y="0"/>
                  </a:cubicBezTo>
                  <a:cubicBezTo>
                    <a:pt x="281" y="0"/>
                    <a:pt x="280" y="0"/>
                    <a:pt x="278" y="0"/>
                  </a:cubicBezTo>
                  <a:cubicBezTo>
                    <a:pt x="277" y="0"/>
                    <a:pt x="275" y="0"/>
                    <a:pt x="274" y="0"/>
                  </a:cubicBezTo>
                  <a:cubicBezTo>
                    <a:pt x="274" y="0"/>
                    <a:pt x="274" y="0"/>
                    <a:pt x="274" y="0"/>
                  </a:cubicBezTo>
                  <a:cubicBezTo>
                    <a:pt x="274" y="0"/>
                    <a:pt x="273" y="0"/>
                    <a:pt x="273" y="0"/>
                  </a:cubicBezTo>
                  <a:cubicBezTo>
                    <a:pt x="272" y="0"/>
                    <a:pt x="271" y="0"/>
                    <a:pt x="270" y="0"/>
                  </a:cubicBezTo>
                  <a:cubicBezTo>
                    <a:pt x="269" y="0"/>
                    <a:pt x="267" y="0"/>
                    <a:pt x="266" y="0"/>
                  </a:cubicBezTo>
                  <a:cubicBezTo>
                    <a:pt x="264" y="0"/>
                    <a:pt x="263" y="0"/>
                    <a:pt x="262" y="0"/>
                  </a:cubicBezTo>
                  <a:cubicBezTo>
                    <a:pt x="261" y="0"/>
                    <a:pt x="260" y="0"/>
                    <a:pt x="259" y="0"/>
                  </a:cubicBezTo>
                  <a:cubicBezTo>
                    <a:pt x="258" y="0"/>
                    <a:pt x="258" y="0"/>
                    <a:pt x="258" y="0"/>
                  </a:cubicBezTo>
                  <a:cubicBezTo>
                    <a:pt x="258" y="0"/>
                    <a:pt x="258" y="0"/>
                    <a:pt x="258" y="0"/>
                  </a:cubicBezTo>
                  <a:cubicBezTo>
                    <a:pt x="256" y="0"/>
                    <a:pt x="254" y="0"/>
                    <a:pt x="252" y="0"/>
                  </a:cubicBezTo>
                  <a:cubicBezTo>
                    <a:pt x="249" y="1"/>
                    <a:pt x="247" y="1"/>
                    <a:pt x="244" y="1"/>
                  </a:cubicBezTo>
                  <a:cubicBezTo>
                    <a:pt x="244" y="1"/>
                    <a:pt x="244" y="1"/>
                    <a:pt x="244" y="1"/>
                  </a:cubicBezTo>
                  <a:cubicBezTo>
                    <a:pt x="237" y="1"/>
                    <a:pt x="230" y="1"/>
                    <a:pt x="223" y="2"/>
                  </a:cubicBezTo>
                  <a:cubicBezTo>
                    <a:pt x="223" y="2"/>
                    <a:pt x="223" y="2"/>
                    <a:pt x="223" y="2"/>
                  </a:cubicBezTo>
                  <a:cubicBezTo>
                    <a:pt x="219" y="2"/>
                    <a:pt x="215" y="2"/>
                    <a:pt x="211" y="2"/>
                  </a:cubicBezTo>
                  <a:cubicBezTo>
                    <a:pt x="210" y="2"/>
                    <a:pt x="210" y="2"/>
                    <a:pt x="209" y="3"/>
                  </a:cubicBezTo>
                  <a:cubicBezTo>
                    <a:pt x="208" y="3"/>
                    <a:pt x="208" y="3"/>
                    <a:pt x="208" y="3"/>
                  </a:cubicBezTo>
                  <a:cubicBezTo>
                    <a:pt x="208" y="3"/>
                    <a:pt x="207" y="3"/>
                    <a:pt x="207" y="3"/>
                  </a:cubicBezTo>
                  <a:cubicBezTo>
                    <a:pt x="206" y="3"/>
                    <a:pt x="205" y="3"/>
                    <a:pt x="203" y="3"/>
                  </a:cubicBezTo>
                  <a:cubicBezTo>
                    <a:pt x="203" y="3"/>
                    <a:pt x="203" y="3"/>
                    <a:pt x="202" y="3"/>
                  </a:cubicBezTo>
                  <a:cubicBezTo>
                    <a:pt x="201" y="3"/>
                    <a:pt x="200" y="3"/>
                    <a:pt x="199" y="3"/>
                  </a:cubicBezTo>
                  <a:cubicBezTo>
                    <a:pt x="199" y="3"/>
                    <a:pt x="198" y="3"/>
                    <a:pt x="197" y="3"/>
                  </a:cubicBezTo>
                  <a:cubicBezTo>
                    <a:pt x="197" y="3"/>
                    <a:pt x="196" y="3"/>
                    <a:pt x="196" y="3"/>
                  </a:cubicBezTo>
                  <a:cubicBezTo>
                    <a:pt x="195" y="4"/>
                    <a:pt x="194" y="4"/>
                    <a:pt x="193" y="4"/>
                  </a:cubicBezTo>
                  <a:cubicBezTo>
                    <a:pt x="192" y="4"/>
                    <a:pt x="192" y="4"/>
                    <a:pt x="191" y="4"/>
                  </a:cubicBezTo>
                  <a:cubicBezTo>
                    <a:pt x="191" y="4"/>
                    <a:pt x="190" y="4"/>
                    <a:pt x="189" y="4"/>
                  </a:cubicBezTo>
                  <a:cubicBezTo>
                    <a:pt x="188" y="4"/>
                    <a:pt x="188" y="4"/>
                    <a:pt x="187" y="4"/>
                  </a:cubicBezTo>
                  <a:cubicBezTo>
                    <a:pt x="186" y="4"/>
                    <a:pt x="186" y="4"/>
                    <a:pt x="186" y="4"/>
                  </a:cubicBezTo>
                  <a:cubicBezTo>
                    <a:pt x="185" y="4"/>
                    <a:pt x="183" y="5"/>
                    <a:pt x="182" y="5"/>
                  </a:cubicBezTo>
                  <a:cubicBezTo>
                    <a:pt x="181" y="5"/>
                    <a:pt x="181" y="5"/>
                    <a:pt x="181" y="5"/>
                  </a:cubicBezTo>
                  <a:cubicBezTo>
                    <a:pt x="181" y="5"/>
                    <a:pt x="181" y="5"/>
                    <a:pt x="181" y="5"/>
                  </a:cubicBezTo>
                  <a:cubicBezTo>
                    <a:pt x="180" y="5"/>
                    <a:pt x="179" y="5"/>
                    <a:pt x="178" y="5"/>
                  </a:cubicBezTo>
                  <a:cubicBezTo>
                    <a:pt x="177" y="5"/>
                    <a:pt x="176" y="5"/>
                    <a:pt x="175" y="5"/>
                  </a:cubicBezTo>
                  <a:cubicBezTo>
                    <a:pt x="175" y="5"/>
                    <a:pt x="174" y="5"/>
                    <a:pt x="174" y="5"/>
                  </a:cubicBezTo>
                  <a:cubicBezTo>
                    <a:pt x="173" y="5"/>
                    <a:pt x="173" y="5"/>
                    <a:pt x="173" y="5"/>
                  </a:cubicBezTo>
                  <a:cubicBezTo>
                    <a:pt x="172" y="6"/>
                    <a:pt x="171" y="6"/>
                    <a:pt x="169" y="6"/>
                  </a:cubicBezTo>
                  <a:cubicBezTo>
                    <a:pt x="169" y="6"/>
                    <a:pt x="168" y="6"/>
                    <a:pt x="168" y="6"/>
                  </a:cubicBezTo>
                  <a:cubicBezTo>
                    <a:pt x="168" y="6"/>
                    <a:pt x="168" y="6"/>
                    <a:pt x="168" y="6"/>
                  </a:cubicBezTo>
                  <a:cubicBezTo>
                    <a:pt x="167" y="6"/>
                    <a:pt x="166" y="6"/>
                    <a:pt x="165" y="6"/>
                  </a:cubicBezTo>
                  <a:cubicBezTo>
                    <a:pt x="164" y="6"/>
                    <a:pt x="163" y="7"/>
                    <a:pt x="161" y="7"/>
                  </a:cubicBezTo>
                  <a:cubicBezTo>
                    <a:pt x="160" y="7"/>
                    <a:pt x="159" y="7"/>
                    <a:pt x="157" y="7"/>
                  </a:cubicBezTo>
                  <a:cubicBezTo>
                    <a:pt x="157" y="7"/>
                    <a:pt x="156" y="7"/>
                    <a:pt x="155" y="7"/>
                  </a:cubicBezTo>
                  <a:cubicBezTo>
                    <a:pt x="155" y="7"/>
                    <a:pt x="155" y="7"/>
                    <a:pt x="155" y="7"/>
                  </a:cubicBezTo>
                  <a:cubicBezTo>
                    <a:pt x="154" y="7"/>
                    <a:pt x="154" y="8"/>
                    <a:pt x="153" y="8"/>
                  </a:cubicBezTo>
                  <a:cubicBezTo>
                    <a:pt x="152" y="8"/>
                    <a:pt x="151" y="8"/>
                    <a:pt x="149" y="8"/>
                  </a:cubicBezTo>
                  <a:cubicBezTo>
                    <a:pt x="149" y="8"/>
                    <a:pt x="149" y="8"/>
                    <a:pt x="149" y="8"/>
                  </a:cubicBezTo>
                  <a:cubicBezTo>
                    <a:pt x="148" y="8"/>
                    <a:pt x="148" y="8"/>
                    <a:pt x="148" y="8"/>
                  </a:cubicBezTo>
                  <a:cubicBezTo>
                    <a:pt x="147" y="8"/>
                    <a:pt x="146" y="8"/>
                    <a:pt x="145" y="9"/>
                  </a:cubicBezTo>
                  <a:cubicBezTo>
                    <a:pt x="145" y="9"/>
                    <a:pt x="144" y="9"/>
                    <a:pt x="144" y="9"/>
                  </a:cubicBezTo>
                  <a:cubicBezTo>
                    <a:pt x="143" y="9"/>
                    <a:pt x="142" y="9"/>
                    <a:pt x="141" y="9"/>
                  </a:cubicBezTo>
                  <a:cubicBezTo>
                    <a:pt x="141" y="9"/>
                    <a:pt x="140" y="9"/>
                    <a:pt x="140" y="9"/>
                  </a:cubicBezTo>
                  <a:cubicBezTo>
                    <a:pt x="139" y="9"/>
                    <a:pt x="139" y="9"/>
                    <a:pt x="138" y="9"/>
                  </a:cubicBezTo>
                  <a:cubicBezTo>
                    <a:pt x="137" y="10"/>
                    <a:pt x="137" y="10"/>
                    <a:pt x="136" y="10"/>
                  </a:cubicBezTo>
                  <a:cubicBezTo>
                    <a:pt x="135" y="10"/>
                    <a:pt x="135" y="10"/>
                    <a:pt x="135" y="10"/>
                  </a:cubicBezTo>
                  <a:cubicBezTo>
                    <a:pt x="134" y="10"/>
                    <a:pt x="133" y="10"/>
                    <a:pt x="132" y="10"/>
                  </a:cubicBezTo>
                  <a:cubicBezTo>
                    <a:pt x="130" y="11"/>
                    <a:pt x="129" y="11"/>
                    <a:pt x="128" y="11"/>
                  </a:cubicBezTo>
                  <a:cubicBezTo>
                    <a:pt x="127" y="11"/>
                    <a:pt x="126" y="11"/>
                    <a:pt x="125" y="11"/>
                  </a:cubicBezTo>
                  <a:cubicBezTo>
                    <a:pt x="125" y="11"/>
                    <a:pt x="125" y="11"/>
                    <a:pt x="125" y="11"/>
                  </a:cubicBezTo>
                  <a:cubicBezTo>
                    <a:pt x="123" y="12"/>
                    <a:pt x="121" y="12"/>
                    <a:pt x="119" y="12"/>
                  </a:cubicBezTo>
                  <a:cubicBezTo>
                    <a:pt x="118" y="12"/>
                    <a:pt x="118" y="12"/>
                    <a:pt x="118" y="12"/>
                  </a:cubicBezTo>
                  <a:cubicBezTo>
                    <a:pt x="118" y="12"/>
                    <a:pt x="117" y="12"/>
                    <a:pt x="117" y="13"/>
                  </a:cubicBezTo>
                  <a:cubicBezTo>
                    <a:pt x="115" y="13"/>
                    <a:pt x="114" y="13"/>
                    <a:pt x="112" y="13"/>
                  </a:cubicBezTo>
                  <a:cubicBezTo>
                    <a:pt x="112" y="13"/>
                    <a:pt x="112" y="13"/>
                    <a:pt x="112" y="13"/>
                  </a:cubicBezTo>
                  <a:cubicBezTo>
                    <a:pt x="111" y="13"/>
                    <a:pt x="111" y="14"/>
                    <a:pt x="111" y="14"/>
                  </a:cubicBezTo>
                  <a:cubicBezTo>
                    <a:pt x="109" y="14"/>
                    <a:pt x="107" y="14"/>
                    <a:pt x="105" y="15"/>
                  </a:cubicBezTo>
                  <a:cubicBezTo>
                    <a:pt x="105" y="15"/>
                    <a:pt x="104" y="15"/>
                    <a:pt x="104" y="15"/>
                  </a:cubicBezTo>
                  <a:cubicBezTo>
                    <a:pt x="103" y="15"/>
                    <a:pt x="103" y="15"/>
                    <a:pt x="103" y="15"/>
                  </a:cubicBezTo>
                  <a:cubicBezTo>
                    <a:pt x="100" y="15"/>
                    <a:pt x="98" y="16"/>
                    <a:pt x="95" y="16"/>
                  </a:cubicBezTo>
                  <a:cubicBezTo>
                    <a:pt x="94" y="17"/>
                    <a:pt x="94" y="17"/>
                    <a:pt x="94" y="17"/>
                  </a:cubicBezTo>
                  <a:cubicBezTo>
                    <a:pt x="94" y="17"/>
                    <a:pt x="94" y="17"/>
                    <a:pt x="94" y="17"/>
                  </a:cubicBezTo>
                  <a:cubicBezTo>
                    <a:pt x="90" y="17"/>
                    <a:pt x="87" y="18"/>
                    <a:pt x="84" y="19"/>
                  </a:cubicBezTo>
                  <a:cubicBezTo>
                    <a:pt x="84" y="19"/>
                    <a:pt x="84" y="19"/>
                    <a:pt x="84" y="19"/>
                  </a:cubicBezTo>
                  <a:cubicBezTo>
                    <a:pt x="83" y="19"/>
                    <a:pt x="83" y="19"/>
                    <a:pt x="83" y="19"/>
                  </a:cubicBezTo>
                  <a:cubicBezTo>
                    <a:pt x="82" y="19"/>
                    <a:pt x="80" y="20"/>
                    <a:pt x="79" y="20"/>
                  </a:cubicBezTo>
                  <a:cubicBezTo>
                    <a:pt x="78" y="20"/>
                    <a:pt x="78" y="20"/>
                    <a:pt x="77" y="20"/>
                  </a:cubicBezTo>
                  <a:cubicBezTo>
                    <a:pt x="76" y="21"/>
                    <a:pt x="74" y="21"/>
                    <a:pt x="72" y="21"/>
                  </a:cubicBezTo>
                  <a:cubicBezTo>
                    <a:pt x="72" y="21"/>
                    <a:pt x="72" y="21"/>
                    <a:pt x="72" y="21"/>
                  </a:cubicBezTo>
                  <a:cubicBezTo>
                    <a:pt x="72" y="21"/>
                    <a:pt x="72" y="21"/>
                    <a:pt x="72" y="21"/>
                  </a:cubicBezTo>
                  <a:cubicBezTo>
                    <a:pt x="70" y="22"/>
                    <a:pt x="68" y="22"/>
                    <a:pt x="67" y="23"/>
                  </a:cubicBezTo>
                  <a:cubicBezTo>
                    <a:pt x="66" y="23"/>
                    <a:pt x="66" y="23"/>
                    <a:pt x="65" y="23"/>
                  </a:cubicBezTo>
                  <a:cubicBezTo>
                    <a:pt x="64" y="23"/>
                    <a:pt x="63" y="24"/>
                    <a:pt x="61" y="24"/>
                  </a:cubicBezTo>
                  <a:cubicBezTo>
                    <a:pt x="61" y="24"/>
                    <a:pt x="61" y="24"/>
                    <a:pt x="61" y="24"/>
                  </a:cubicBezTo>
                  <a:cubicBezTo>
                    <a:pt x="60" y="25"/>
                    <a:pt x="60" y="25"/>
                    <a:pt x="60" y="25"/>
                  </a:cubicBezTo>
                  <a:cubicBezTo>
                    <a:pt x="59" y="25"/>
                    <a:pt x="58" y="25"/>
                    <a:pt x="56" y="26"/>
                  </a:cubicBezTo>
                  <a:cubicBezTo>
                    <a:pt x="56" y="26"/>
                    <a:pt x="56" y="26"/>
                    <a:pt x="55" y="26"/>
                  </a:cubicBezTo>
                  <a:cubicBezTo>
                    <a:pt x="54" y="26"/>
                    <a:pt x="52" y="27"/>
                    <a:pt x="51" y="27"/>
                  </a:cubicBezTo>
                  <a:cubicBezTo>
                    <a:pt x="51" y="27"/>
                    <a:pt x="51" y="27"/>
                    <a:pt x="51" y="27"/>
                  </a:cubicBezTo>
                  <a:cubicBezTo>
                    <a:pt x="51" y="27"/>
                    <a:pt x="51" y="27"/>
                    <a:pt x="51" y="27"/>
                  </a:cubicBezTo>
                  <a:cubicBezTo>
                    <a:pt x="49" y="28"/>
                    <a:pt x="48" y="28"/>
                    <a:pt x="46" y="29"/>
                  </a:cubicBezTo>
                  <a:cubicBezTo>
                    <a:pt x="45" y="29"/>
                    <a:pt x="45" y="29"/>
                    <a:pt x="45" y="29"/>
                  </a:cubicBezTo>
                  <a:cubicBezTo>
                    <a:pt x="44" y="29"/>
                    <a:pt x="43" y="30"/>
                    <a:pt x="42" y="30"/>
                  </a:cubicBezTo>
                  <a:cubicBezTo>
                    <a:pt x="42" y="30"/>
                    <a:pt x="42" y="30"/>
                    <a:pt x="42" y="30"/>
                  </a:cubicBezTo>
                  <a:cubicBezTo>
                    <a:pt x="42" y="30"/>
                    <a:pt x="42" y="30"/>
                    <a:pt x="42" y="30"/>
                  </a:cubicBezTo>
                  <a:cubicBezTo>
                    <a:pt x="39" y="31"/>
                    <a:pt x="37" y="32"/>
                    <a:pt x="34" y="33"/>
                  </a:cubicBezTo>
                  <a:cubicBezTo>
                    <a:pt x="34" y="33"/>
                    <a:pt x="34" y="33"/>
                    <a:pt x="34" y="33"/>
                  </a:cubicBezTo>
                  <a:cubicBezTo>
                    <a:pt x="34" y="33"/>
                    <a:pt x="34" y="33"/>
                    <a:pt x="34" y="33"/>
                  </a:cubicBezTo>
                  <a:cubicBezTo>
                    <a:pt x="32" y="34"/>
                    <a:pt x="30" y="35"/>
                    <a:pt x="28" y="36"/>
                  </a:cubicBezTo>
                  <a:cubicBezTo>
                    <a:pt x="27" y="36"/>
                    <a:pt x="27" y="36"/>
                    <a:pt x="27" y="36"/>
                  </a:cubicBezTo>
                  <a:cubicBezTo>
                    <a:pt x="27" y="36"/>
                    <a:pt x="27" y="36"/>
                    <a:pt x="27" y="36"/>
                  </a:cubicBezTo>
                  <a:cubicBezTo>
                    <a:pt x="25" y="37"/>
                    <a:pt x="24" y="38"/>
                    <a:pt x="22" y="38"/>
                  </a:cubicBezTo>
                  <a:cubicBezTo>
                    <a:pt x="22" y="39"/>
                    <a:pt x="22" y="39"/>
                    <a:pt x="22" y="39"/>
                  </a:cubicBezTo>
                  <a:cubicBezTo>
                    <a:pt x="21" y="39"/>
                    <a:pt x="21" y="39"/>
                    <a:pt x="21" y="39"/>
                  </a:cubicBezTo>
                  <a:cubicBezTo>
                    <a:pt x="20" y="40"/>
                    <a:pt x="18" y="40"/>
                    <a:pt x="17" y="41"/>
                  </a:cubicBezTo>
                  <a:cubicBezTo>
                    <a:pt x="17" y="41"/>
                    <a:pt x="17" y="41"/>
                    <a:pt x="17" y="41"/>
                  </a:cubicBezTo>
                  <a:cubicBezTo>
                    <a:pt x="16" y="42"/>
                    <a:pt x="16" y="42"/>
                    <a:pt x="16" y="42"/>
                  </a:cubicBezTo>
                  <a:cubicBezTo>
                    <a:pt x="15" y="42"/>
                    <a:pt x="14" y="43"/>
                    <a:pt x="13" y="44"/>
                  </a:cubicBezTo>
                  <a:cubicBezTo>
                    <a:pt x="13" y="44"/>
                    <a:pt x="13" y="44"/>
                    <a:pt x="13" y="44"/>
                  </a:cubicBezTo>
                  <a:cubicBezTo>
                    <a:pt x="12" y="44"/>
                    <a:pt x="12" y="44"/>
                    <a:pt x="12" y="44"/>
                  </a:cubicBezTo>
                  <a:cubicBezTo>
                    <a:pt x="11" y="45"/>
                    <a:pt x="10" y="46"/>
                    <a:pt x="9" y="47"/>
                  </a:cubicBezTo>
                  <a:cubicBezTo>
                    <a:pt x="9" y="47"/>
                    <a:pt x="9" y="47"/>
                    <a:pt x="9" y="47"/>
                  </a:cubicBezTo>
                  <a:cubicBezTo>
                    <a:pt x="9" y="47"/>
                    <a:pt x="9" y="47"/>
                    <a:pt x="9" y="47"/>
                  </a:cubicBezTo>
                  <a:cubicBezTo>
                    <a:pt x="8" y="48"/>
                    <a:pt x="7" y="49"/>
                    <a:pt x="6" y="50"/>
                  </a:cubicBezTo>
                  <a:cubicBezTo>
                    <a:pt x="6" y="50"/>
                    <a:pt x="6" y="50"/>
                    <a:pt x="6" y="50"/>
                  </a:cubicBezTo>
                  <a:cubicBezTo>
                    <a:pt x="6" y="50"/>
                    <a:pt x="6" y="50"/>
                    <a:pt x="6" y="50"/>
                  </a:cubicBezTo>
                  <a:cubicBezTo>
                    <a:pt x="5" y="51"/>
                    <a:pt x="4" y="52"/>
                    <a:pt x="4" y="52"/>
                  </a:cubicBezTo>
                  <a:cubicBezTo>
                    <a:pt x="4" y="53"/>
                    <a:pt x="4" y="53"/>
                    <a:pt x="4" y="53"/>
                  </a:cubicBezTo>
                  <a:cubicBezTo>
                    <a:pt x="4" y="53"/>
                    <a:pt x="4" y="53"/>
                    <a:pt x="4" y="53"/>
                  </a:cubicBezTo>
                  <a:cubicBezTo>
                    <a:pt x="3" y="54"/>
                    <a:pt x="2" y="54"/>
                    <a:pt x="2" y="55"/>
                  </a:cubicBezTo>
                  <a:cubicBezTo>
                    <a:pt x="2" y="56"/>
                    <a:pt x="2" y="56"/>
                    <a:pt x="2" y="56"/>
                  </a:cubicBezTo>
                  <a:cubicBezTo>
                    <a:pt x="2" y="56"/>
                    <a:pt x="2" y="56"/>
                    <a:pt x="2" y="56"/>
                  </a:cubicBezTo>
                  <a:cubicBezTo>
                    <a:pt x="1" y="57"/>
                    <a:pt x="1" y="57"/>
                    <a:pt x="1" y="58"/>
                  </a:cubicBezTo>
                  <a:cubicBezTo>
                    <a:pt x="1" y="59"/>
                    <a:pt x="1" y="59"/>
                    <a:pt x="1" y="59"/>
                  </a:cubicBezTo>
                  <a:cubicBezTo>
                    <a:pt x="1" y="59"/>
                    <a:pt x="1" y="59"/>
                    <a:pt x="1" y="59"/>
                  </a:cubicBezTo>
                  <a:cubicBezTo>
                    <a:pt x="1" y="59"/>
                    <a:pt x="0" y="60"/>
                    <a:pt x="0" y="61"/>
                  </a:cubicBezTo>
                  <a:cubicBezTo>
                    <a:pt x="0" y="62"/>
                    <a:pt x="0" y="62"/>
                    <a:pt x="0" y="62"/>
                  </a:cubicBezTo>
                  <a:cubicBezTo>
                    <a:pt x="0" y="62"/>
                    <a:pt x="0" y="62"/>
                    <a:pt x="0" y="62"/>
                  </a:cubicBezTo>
                  <a:cubicBezTo>
                    <a:pt x="0" y="63"/>
                    <a:pt x="0" y="63"/>
                    <a:pt x="0" y="63"/>
                  </a:cubicBezTo>
                  <a:cubicBezTo>
                    <a:pt x="1" y="64"/>
                    <a:pt x="1" y="64"/>
                    <a:pt x="1" y="64"/>
                  </a:cubicBezTo>
                  <a:cubicBezTo>
                    <a:pt x="1" y="65"/>
                    <a:pt x="1" y="65"/>
                    <a:pt x="1" y="65"/>
                  </a:cubicBezTo>
                  <a:cubicBezTo>
                    <a:pt x="1" y="65"/>
                    <a:pt x="1" y="65"/>
                    <a:pt x="1" y="65"/>
                  </a:cubicBezTo>
                  <a:cubicBezTo>
                    <a:pt x="1" y="65"/>
                    <a:pt x="1" y="65"/>
                    <a:pt x="1" y="65"/>
                  </a:cubicBezTo>
                  <a:cubicBezTo>
                    <a:pt x="1" y="66"/>
                    <a:pt x="1" y="67"/>
                    <a:pt x="2" y="68"/>
                  </a:cubicBezTo>
                  <a:cubicBezTo>
                    <a:pt x="35" y="141"/>
                    <a:pt x="35" y="141"/>
                    <a:pt x="35" y="141"/>
                  </a:cubicBezTo>
                  <a:cubicBezTo>
                    <a:pt x="63" y="200"/>
                    <a:pt x="63" y="200"/>
                    <a:pt x="63" y="200"/>
                  </a:cubicBezTo>
                  <a:cubicBezTo>
                    <a:pt x="66" y="208"/>
                    <a:pt x="70" y="216"/>
                    <a:pt x="73" y="224"/>
                  </a:cubicBezTo>
                  <a:cubicBezTo>
                    <a:pt x="84" y="248"/>
                    <a:pt x="84" y="248"/>
                    <a:pt x="84" y="248"/>
                  </a:cubicBezTo>
                  <a:cubicBezTo>
                    <a:pt x="92" y="264"/>
                    <a:pt x="100" y="281"/>
                    <a:pt x="107" y="297"/>
                  </a:cubicBezTo>
                  <a:cubicBezTo>
                    <a:pt x="113" y="309"/>
                    <a:pt x="113" y="309"/>
                    <a:pt x="113" y="309"/>
                  </a:cubicBezTo>
                  <a:cubicBezTo>
                    <a:pt x="122" y="329"/>
                    <a:pt x="131" y="349"/>
                    <a:pt x="139" y="367"/>
                  </a:cubicBezTo>
                  <a:cubicBezTo>
                    <a:pt x="141" y="372"/>
                    <a:pt x="143" y="376"/>
                    <a:pt x="145" y="380"/>
                  </a:cubicBezTo>
                  <a:cubicBezTo>
                    <a:pt x="146" y="381"/>
                    <a:pt x="146" y="381"/>
                    <a:pt x="146" y="381"/>
                  </a:cubicBezTo>
                  <a:cubicBezTo>
                    <a:pt x="146" y="382"/>
                    <a:pt x="146" y="382"/>
                    <a:pt x="146" y="382"/>
                  </a:cubicBezTo>
                  <a:cubicBezTo>
                    <a:pt x="146" y="382"/>
                    <a:pt x="146" y="382"/>
                    <a:pt x="146" y="382"/>
                  </a:cubicBezTo>
                  <a:cubicBezTo>
                    <a:pt x="147" y="383"/>
                    <a:pt x="147" y="383"/>
                    <a:pt x="147" y="383"/>
                  </a:cubicBezTo>
                  <a:cubicBezTo>
                    <a:pt x="147" y="383"/>
                    <a:pt x="147" y="383"/>
                    <a:pt x="147" y="383"/>
                  </a:cubicBezTo>
                  <a:cubicBezTo>
                    <a:pt x="147" y="383"/>
                    <a:pt x="147" y="383"/>
                    <a:pt x="147" y="383"/>
                  </a:cubicBezTo>
                  <a:cubicBezTo>
                    <a:pt x="148" y="384"/>
                    <a:pt x="148" y="384"/>
                    <a:pt x="148" y="384"/>
                  </a:cubicBezTo>
                  <a:cubicBezTo>
                    <a:pt x="148" y="384"/>
                    <a:pt x="148" y="384"/>
                    <a:pt x="148" y="384"/>
                  </a:cubicBezTo>
                  <a:cubicBezTo>
                    <a:pt x="149" y="385"/>
                    <a:pt x="149" y="385"/>
                    <a:pt x="149" y="385"/>
                  </a:cubicBezTo>
                  <a:cubicBezTo>
                    <a:pt x="150" y="385"/>
                    <a:pt x="150" y="385"/>
                    <a:pt x="150" y="385"/>
                  </a:cubicBezTo>
                  <a:cubicBezTo>
                    <a:pt x="150" y="386"/>
                    <a:pt x="150" y="386"/>
                    <a:pt x="150" y="386"/>
                  </a:cubicBezTo>
                  <a:cubicBezTo>
                    <a:pt x="151" y="386"/>
                    <a:pt x="151" y="386"/>
                    <a:pt x="151" y="386"/>
                  </a:cubicBezTo>
                  <a:cubicBezTo>
                    <a:pt x="151" y="387"/>
                    <a:pt x="151" y="387"/>
                    <a:pt x="151" y="387"/>
                  </a:cubicBezTo>
                  <a:cubicBezTo>
                    <a:pt x="152" y="387"/>
                    <a:pt x="152" y="387"/>
                    <a:pt x="153" y="388"/>
                  </a:cubicBezTo>
                  <a:cubicBezTo>
                    <a:pt x="153" y="388"/>
                    <a:pt x="153" y="388"/>
                    <a:pt x="153" y="388"/>
                  </a:cubicBezTo>
                  <a:cubicBezTo>
                    <a:pt x="154" y="388"/>
                    <a:pt x="154" y="388"/>
                    <a:pt x="154" y="388"/>
                  </a:cubicBezTo>
                  <a:cubicBezTo>
                    <a:pt x="154" y="388"/>
                    <a:pt x="155" y="389"/>
                    <a:pt x="155" y="389"/>
                  </a:cubicBezTo>
                  <a:cubicBezTo>
                    <a:pt x="156" y="389"/>
                    <a:pt x="156" y="389"/>
                    <a:pt x="156" y="389"/>
                  </a:cubicBezTo>
                  <a:cubicBezTo>
                    <a:pt x="157" y="390"/>
                    <a:pt x="157" y="390"/>
                    <a:pt x="157" y="390"/>
                  </a:cubicBezTo>
                  <a:cubicBezTo>
                    <a:pt x="157" y="390"/>
                    <a:pt x="158" y="390"/>
                    <a:pt x="158" y="390"/>
                  </a:cubicBezTo>
                  <a:cubicBezTo>
                    <a:pt x="159" y="391"/>
                    <a:pt x="159" y="391"/>
                    <a:pt x="159" y="391"/>
                  </a:cubicBezTo>
                  <a:cubicBezTo>
                    <a:pt x="160" y="391"/>
                    <a:pt x="160" y="391"/>
                    <a:pt x="160" y="391"/>
                  </a:cubicBezTo>
                  <a:cubicBezTo>
                    <a:pt x="160" y="391"/>
                    <a:pt x="161" y="392"/>
                    <a:pt x="161" y="392"/>
                  </a:cubicBezTo>
                  <a:cubicBezTo>
                    <a:pt x="162" y="392"/>
                    <a:pt x="162" y="392"/>
                    <a:pt x="163" y="392"/>
                  </a:cubicBezTo>
                  <a:cubicBezTo>
                    <a:pt x="164" y="393"/>
                    <a:pt x="164" y="393"/>
                    <a:pt x="164" y="393"/>
                  </a:cubicBezTo>
                  <a:cubicBezTo>
                    <a:pt x="165" y="393"/>
                    <a:pt x="165" y="393"/>
                    <a:pt x="165" y="393"/>
                  </a:cubicBezTo>
                  <a:cubicBezTo>
                    <a:pt x="165" y="393"/>
                    <a:pt x="166" y="393"/>
                    <a:pt x="166" y="394"/>
                  </a:cubicBezTo>
                  <a:cubicBezTo>
                    <a:pt x="167" y="394"/>
                    <a:pt x="167" y="394"/>
                    <a:pt x="168" y="394"/>
                  </a:cubicBezTo>
                  <a:cubicBezTo>
                    <a:pt x="169" y="394"/>
                    <a:pt x="169" y="394"/>
                    <a:pt x="169" y="394"/>
                  </a:cubicBezTo>
                  <a:cubicBezTo>
                    <a:pt x="169" y="395"/>
                    <a:pt x="170" y="395"/>
                    <a:pt x="170" y="395"/>
                  </a:cubicBezTo>
                  <a:cubicBezTo>
                    <a:pt x="171" y="395"/>
                    <a:pt x="172" y="395"/>
                    <a:pt x="172" y="396"/>
                  </a:cubicBezTo>
                  <a:cubicBezTo>
                    <a:pt x="173" y="396"/>
                    <a:pt x="173" y="396"/>
                    <a:pt x="173" y="396"/>
                  </a:cubicBezTo>
                  <a:cubicBezTo>
                    <a:pt x="174" y="396"/>
                    <a:pt x="174" y="396"/>
                    <a:pt x="174" y="396"/>
                  </a:cubicBezTo>
                  <a:cubicBezTo>
                    <a:pt x="175" y="396"/>
                    <a:pt x="176" y="397"/>
                    <a:pt x="177" y="397"/>
                  </a:cubicBezTo>
                  <a:cubicBezTo>
                    <a:pt x="177" y="397"/>
                    <a:pt x="178" y="397"/>
                    <a:pt x="178" y="397"/>
                  </a:cubicBezTo>
                  <a:cubicBezTo>
                    <a:pt x="179" y="397"/>
                    <a:pt x="179" y="397"/>
                    <a:pt x="179" y="397"/>
                  </a:cubicBezTo>
                  <a:cubicBezTo>
                    <a:pt x="179" y="397"/>
                    <a:pt x="179" y="397"/>
                    <a:pt x="179" y="397"/>
                  </a:cubicBezTo>
                  <a:cubicBezTo>
                    <a:pt x="180" y="398"/>
                    <a:pt x="180" y="398"/>
                    <a:pt x="181" y="398"/>
                  </a:cubicBezTo>
                  <a:cubicBezTo>
                    <a:pt x="182" y="398"/>
                    <a:pt x="183" y="398"/>
                    <a:pt x="183" y="398"/>
                  </a:cubicBezTo>
                  <a:cubicBezTo>
                    <a:pt x="184" y="399"/>
                    <a:pt x="184" y="399"/>
                    <a:pt x="184" y="399"/>
                  </a:cubicBezTo>
                  <a:cubicBezTo>
                    <a:pt x="185" y="399"/>
                    <a:pt x="185" y="399"/>
                    <a:pt x="186" y="399"/>
                  </a:cubicBezTo>
                  <a:cubicBezTo>
                    <a:pt x="187" y="399"/>
                    <a:pt x="188" y="399"/>
                    <a:pt x="188" y="400"/>
                  </a:cubicBezTo>
                  <a:cubicBezTo>
                    <a:pt x="189" y="400"/>
                    <a:pt x="189" y="400"/>
                    <a:pt x="189" y="400"/>
                  </a:cubicBezTo>
                  <a:cubicBezTo>
                    <a:pt x="190" y="400"/>
                    <a:pt x="191" y="400"/>
                    <a:pt x="191" y="400"/>
                  </a:cubicBezTo>
                  <a:cubicBezTo>
                    <a:pt x="192" y="400"/>
                    <a:pt x="193" y="400"/>
                    <a:pt x="193" y="401"/>
                  </a:cubicBezTo>
                  <a:cubicBezTo>
                    <a:pt x="194" y="401"/>
                    <a:pt x="194" y="401"/>
                    <a:pt x="195" y="401"/>
                  </a:cubicBezTo>
                  <a:cubicBezTo>
                    <a:pt x="196" y="401"/>
                    <a:pt x="196" y="401"/>
                    <a:pt x="197" y="401"/>
                  </a:cubicBezTo>
                  <a:cubicBezTo>
                    <a:pt x="198" y="401"/>
                    <a:pt x="198" y="402"/>
                    <a:pt x="199" y="402"/>
                  </a:cubicBezTo>
                  <a:cubicBezTo>
                    <a:pt x="200" y="402"/>
                    <a:pt x="200" y="402"/>
                    <a:pt x="201" y="402"/>
                  </a:cubicBezTo>
                  <a:cubicBezTo>
                    <a:pt x="202" y="402"/>
                    <a:pt x="203" y="402"/>
                    <a:pt x="203" y="402"/>
                  </a:cubicBezTo>
                  <a:cubicBezTo>
                    <a:pt x="204" y="403"/>
                    <a:pt x="204" y="403"/>
                    <a:pt x="204" y="403"/>
                  </a:cubicBezTo>
                  <a:cubicBezTo>
                    <a:pt x="205" y="403"/>
                    <a:pt x="206" y="403"/>
                    <a:pt x="206" y="403"/>
                  </a:cubicBezTo>
                  <a:cubicBezTo>
                    <a:pt x="207" y="403"/>
                    <a:pt x="208" y="403"/>
                    <a:pt x="209" y="403"/>
                  </a:cubicBezTo>
                  <a:cubicBezTo>
                    <a:pt x="210" y="403"/>
                    <a:pt x="210" y="403"/>
                    <a:pt x="210" y="403"/>
                  </a:cubicBezTo>
                  <a:cubicBezTo>
                    <a:pt x="211" y="404"/>
                    <a:pt x="212" y="404"/>
                    <a:pt x="212" y="404"/>
                  </a:cubicBezTo>
                  <a:cubicBezTo>
                    <a:pt x="214" y="404"/>
                    <a:pt x="215" y="404"/>
                    <a:pt x="216" y="404"/>
                  </a:cubicBezTo>
                  <a:cubicBezTo>
                    <a:pt x="217" y="404"/>
                    <a:pt x="217" y="404"/>
                    <a:pt x="217" y="404"/>
                  </a:cubicBezTo>
                  <a:cubicBezTo>
                    <a:pt x="217" y="404"/>
                    <a:pt x="217" y="404"/>
                    <a:pt x="217" y="404"/>
                  </a:cubicBezTo>
                  <a:cubicBezTo>
                    <a:pt x="217" y="404"/>
                    <a:pt x="218" y="404"/>
                    <a:pt x="218" y="405"/>
                  </a:cubicBezTo>
                  <a:cubicBezTo>
                    <a:pt x="219" y="405"/>
                    <a:pt x="219" y="405"/>
                    <a:pt x="219" y="405"/>
                  </a:cubicBezTo>
                  <a:cubicBezTo>
                    <a:pt x="220" y="405"/>
                    <a:pt x="221" y="405"/>
                    <a:pt x="222" y="405"/>
                  </a:cubicBezTo>
                  <a:cubicBezTo>
                    <a:pt x="223" y="405"/>
                    <a:pt x="224" y="405"/>
                    <a:pt x="225" y="405"/>
                  </a:cubicBezTo>
                  <a:cubicBezTo>
                    <a:pt x="225" y="405"/>
                    <a:pt x="226" y="405"/>
                    <a:pt x="226" y="406"/>
                  </a:cubicBezTo>
                  <a:cubicBezTo>
                    <a:pt x="227" y="406"/>
                    <a:pt x="228" y="406"/>
                    <a:pt x="229" y="406"/>
                  </a:cubicBezTo>
                  <a:cubicBezTo>
                    <a:pt x="230" y="406"/>
                    <a:pt x="231" y="406"/>
                    <a:pt x="231" y="406"/>
                  </a:cubicBezTo>
                  <a:cubicBezTo>
                    <a:pt x="232" y="406"/>
                    <a:pt x="233" y="406"/>
                    <a:pt x="234" y="406"/>
                  </a:cubicBezTo>
                  <a:cubicBezTo>
                    <a:pt x="234" y="406"/>
                    <a:pt x="234" y="406"/>
                    <a:pt x="234" y="406"/>
                  </a:cubicBezTo>
                  <a:cubicBezTo>
                    <a:pt x="235" y="406"/>
                    <a:pt x="235" y="406"/>
                    <a:pt x="235" y="406"/>
                  </a:cubicBezTo>
                  <a:cubicBezTo>
                    <a:pt x="236" y="407"/>
                    <a:pt x="237" y="407"/>
                    <a:pt x="238" y="407"/>
                  </a:cubicBezTo>
                  <a:cubicBezTo>
                    <a:pt x="239" y="407"/>
                    <a:pt x="240" y="407"/>
                    <a:pt x="241" y="407"/>
                  </a:cubicBezTo>
                  <a:cubicBezTo>
                    <a:pt x="242" y="407"/>
                    <a:pt x="242" y="407"/>
                    <a:pt x="243" y="407"/>
                  </a:cubicBezTo>
                  <a:cubicBezTo>
                    <a:pt x="243" y="407"/>
                    <a:pt x="244" y="407"/>
                    <a:pt x="245" y="407"/>
                  </a:cubicBezTo>
                  <a:cubicBezTo>
                    <a:pt x="246" y="407"/>
                    <a:pt x="247" y="407"/>
                    <a:pt x="248" y="408"/>
                  </a:cubicBezTo>
                  <a:cubicBezTo>
                    <a:pt x="249" y="408"/>
                    <a:pt x="249" y="408"/>
                    <a:pt x="250" y="408"/>
                  </a:cubicBezTo>
                  <a:cubicBezTo>
                    <a:pt x="250" y="408"/>
                    <a:pt x="250" y="408"/>
                    <a:pt x="250" y="408"/>
                  </a:cubicBezTo>
                  <a:cubicBezTo>
                    <a:pt x="251" y="408"/>
                    <a:pt x="251" y="408"/>
                    <a:pt x="252" y="408"/>
                  </a:cubicBezTo>
                  <a:cubicBezTo>
                    <a:pt x="253" y="408"/>
                    <a:pt x="254" y="408"/>
                    <a:pt x="256" y="408"/>
                  </a:cubicBezTo>
                  <a:cubicBezTo>
                    <a:pt x="257" y="408"/>
                    <a:pt x="258" y="408"/>
                    <a:pt x="259" y="408"/>
                  </a:cubicBezTo>
                  <a:cubicBezTo>
                    <a:pt x="260" y="408"/>
                    <a:pt x="262" y="408"/>
                    <a:pt x="263" y="408"/>
                  </a:cubicBezTo>
                  <a:cubicBezTo>
                    <a:pt x="263" y="408"/>
                    <a:pt x="264" y="408"/>
                    <a:pt x="264" y="408"/>
                  </a:cubicBezTo>
                  <a:cubicBezTo>
                    <a:pt x="265" y="408"/>
                    <a:pt x="265" y="408"/>
                    <a:pt x="265" y="408"/>
                  </a:cubicBezTo>
                  <a:cubicBezTo>
                    <a:pt x="265" y="408"/>
                    <a:pt x="265" y="408"/>
                    <a:pt x="265" y="408"/>
                  </a:cubicBezTo>
                  <a:cubicBezTo>
                    <a:pt x="265" y="409"/>
                    <a:pt x="266" y="409"/>
                    <a:pt x="266" y="409"/>
                  </a:cubicBezTo>
                  <a:cubicBezTo>
                    <a:pt x="268" y="409"/>
                    <a:pt x="269" y="409"/>
                    <a:pt x="270" y="409"/>
                  </a:cubicBezTo>
                  <a:cubicBezTo>
                    <a:pt x="271" y="409"/>
                    <a:pt x="272" y="409"/>
                    <a:pt x="273" y="409"/>
                  </a:cubicBezTo>
                  <a:cubicBezTo>
                    <a:pt x="275" y="409"/>
                    <a:pt x="277" y="409"/>
                    <a:pt x="278" y="409"/>
                  </a:cubicBezTo>
                  <a:cubicBezTo>
                    <a:pt x="278" y="409"/>
                    <a:pt x="279" y="409"/>
                    <a:pt x="279" y="409"/>
                  </a:cubicBezTo>
                  <a:cubicBezTo>
                    <a:pt x="280" y="409"/>
                    <a:pt x="280" y="409"/>
                    <a:pt x="280" y="409"/>
                  </a:cubicBezTo>
                  <a:cubicBezTo>
                    <a:pt x="280" y="409"/>
                    <a:pt x="280" y="409"/>
                    <a:pt x="280" y="409"/>
                  </a:cubicBezTo>
                  <a:cubicBezTo>
                    <a:pt x="281" y="409"/>
                    <a:pt x="281" y="409"/>
                    <a:pt x="281" y="409"/>
                  </a:cubicBezTo>
                  <a:cubicBezTo>
                    <a:pt x="283" y="409"/>
                    <a:pt x="284" y="409"/>
                    <a:pt x="286" y="409"/>
                  </a:cubicBezTo>
                  <a:cubicBezTo>
                    <a:pt x="287" y="409"/>
                    <a:pt x="288" y="409"/>
                    <a:pt x="289" y="409"/>
                  </a:cubicBezTo>
                  <a:cubicBezTo>
                    <a:pt x="291" y="409"/>
                    <a:pt x="294" y="409"/>
                    <a:pt x="296" y="409"/>
                  </a:cubicBezTo>
                  <a:cubicBezTo>
                    <a:pt x="299" y="409"/>
                    <a:pt x="301" y="409"/>
                    <a:pt x="304" y="409"/>
                  </a:cubicBezTo>
                  <a:cubicBezTo>
                    <a:pt x="305" y="409"/>
                    <a:pt x="306" y="409"/>
                    <a:pt x="307" y="409"/>
                  </a:cubicBezTo>
                  <a:cubicBezTo>
                    <a:pt x="308" y="409"/>
                    <a:pt x="310" y="409"/>
                    <a:pt x="312" y="409"/>
                  </a:cubicBezTo>
                  <a:cubicBezTo>
                    <a:pt x="313" y="409"/>
                    <a:pt x="313" y="409"/>
                    <a:pt x="314" y="409"/>
                  </a:cubicBezTo>
                  <a:cubicBezTo>
                    <a:pt x="315" y="409"/>
                    <a:pt x="315" y="409"/>
                    <a:pt x="315" y="409"/>
                  </a:cubicBezTo>
                  <a:cubicBezTo>
                    <a:pt x="316" y="409"/>
                    <a:pt x="316" y="409"/>
                    <a:pt x="316" y="409"/>
                  </a:cubicBezTo>
                  <a:cubicBezTo>
                    <a:pt x="317" y="409"/>
                    <a:pt x="318" y="409"/>
                    <a:pt x="319" y="409"/>
                  </a:cubicBezTo>
                  <a:cubicBezTo>
                    <a:pt x="320" y="409"/>
                    <a:pt x="321" y="409"/>
                    <a:pt x="322" y="409"/>
                  </a:cubicBezTo>
                  <a:cubicBezTo>
                    <a:pt x="324" y="409"/>
                    <a:pt x="325" y="409"/>
                    <a:pt x="327" y="409"/>
                  </a:cubicBezTo>
                  <a:cubicBezTo>
                    <a:pt x="327" y="409"/>
                    <a:pt x="327" y="409"/>
                    <a:pt x="327" y="409"/>
                  </a:cubicBezTo>
                  <a:cubicBezTo>
                    <a:pt x="327" y="409"/>
                    <a:pt x="327" y="409"/>
                    <a:pt x="327" y="409"/>
                  </a:cubicBezTo>
                  <a:cubicBezTo>
                    <a:pt x="328" y="409"/>
                    <a:pt x="329" y="409"/>
                    <a:pt x="330" y="409"/>
                  </a:cubicBezTo>
                  <a:cubicBezTo>
                    <a:pt x="331" y="409"/>
                    <a:pt x="333" y="409"/>
                    <a:pt x="334" y="408"/>
                  </a:cubicBezTo>
                  <a:cubicBezTo>
                    <a:pt x="335" y="408"/>
                    <a:pt x="336" y="408"/>
                    <a:pt x="337" y="408"/>
                  </a:cubicBezTo>
                  <a:cubicBezTo>
                    <a:pt x="338" y="408"/>
                    <a:pt x="338" y="408"/>
                    <a:pt x="339" y="408"/>
                  </a:cubicBezTo>
                  <a:cubicBezTo>
                    <a:pt x="339" y="408"/>
                    <a:pt x="339" y="408"/>
                    <a:pt x="339" y="408"/>
                  </a:cubicBezTo>
                  <a:cubicBezTo>
                    <a:pt x="340" y="408"/>
                    <a:pt x="340" y="408"/>
                    <a:pt x="340" y="408"/>
                  </a:cubicBezTo>
                  <a:cubicBezTo>
                    <a:pt x="340" y="408"/>
                    <a:pt x="341" y="408"/>
                    <a:pt x="341" y="408"/>
                  </a:cubicBezTo>
                  <a:cubicBezTo>
                    <a:pt x="342" y="408"/>
                    <a:pt x="343" y="408"/>
                    <a:pt x="345" y="408"/>
                  </a:cubicBezTo>
                  <a:cubicBezTo>
                    <a:pt x="345" y="408"/>
                    <a:pt x="346" y="408"/>
                    <a:pt x="347" y="408"/>
                  </a:cubicBezTo>
                  <a:cubicBezTo>
                    <a:pt x="348" y="408"/>
                    <a:pt x="348" y="408"/>
                    <a:pt x="348" y="408"/>
                  </a:cubicBezTo>
                  <a:cubicBezTo>
                    <a:pt x="349" y="408"/>
                    <a:pt x="350" y="407"/>
                    <a:pt x="352" y="407"/>
                  </a:cubicBezTo>
                  <a:cubicBezTo>
                    <a:pt x="352" y="407"/>
                    <a:pt x="353" y="407"/>
                    <a:pt x="354" y="407"/>
                  </a:cubicBezTo>
                  <a:cubicBezTo>
                    <a:pt x="355" y="407"/>
                    <a:pt x="355" y="407"/>
                    <a:pt x="356" y="407"/>
                  </a:cubicBezTo>
                  <a:cubicBezTo>
                    <a:pt x="357" y="407"/>
                    <a:pt x="357" y="407"/>
                    <a:pt x="358" y="407"/>
                  </a:cubicBezTo>
                  <a:cubicBezTo>
                    <a:pt x="359" y="407"/>
                    <a:pt x="361" y="407"/>
                    <a:pt x="362" y="407"/>
                  </a:cubicBezTo>
                  <a:cubicBezTo>
                    <a:pt x="362" y="406"/>
                    <a:pt x="362" y="406"/>
                    <a:pt x="363" y="406"/>
                  </a:cubicBezTo>
                  <a:cubicBezTo>
                    <a:pt x="364" y="406"/>
                    <a:pt x="364" y="406"/>
                    <a:pt x="365" y="406"/>
                  </a:cubicBezTo>
                  <a:cubicBezTo>
                    <a:pt x="366" y="406"/>
                    <a:pt x="367" y="406"/>
                    <a:pt x="368" y="406"/>
                  </a:cubicBezTo>
                  <a:cubicBezTo>
                    <a:pt x="369" y="406"/>
                    <a:pt x="369" y="406"/>
                    <a:pt x="370" y="406"/>
                  </a:cubicBezTo>
                  <a:cubicBezTo>
                    <a:pt x="370" y="406"/>
                    <a:pt x="371" y="406"/>
                    <a:pt x="372" y="406"/>
                  </a:cubicBezTo>
                  <a:cubicBezTo>
                    <a:pt x="373" y="405"/>
                    <a:pt x="374" y="405"/>
                    <a:pt x="375" y="405"/>
                  </a:cubicBezTo>
                  <a:cubicBezTo>
                    <a:pt x="376" y="405"/>
                    <a:pt x="377" y="405"/>
                    <a:pt x="378" y="405"/>
                  </a:cubicBezTo>
                  <a:cubicBezTo>
                    <a:pt x="379" y="405"/>
                    <a:pt x="380" y="404"/>
                    <a:pt x="381" y="404"/>
                  </a:cubicBezTo>
                  <a:cubicBezTo>
                    <a:pt x="382" y="404"/>
                    <a:pt x="383" y="404"/>
                    <a:pt x="383" y="404"/>
                  </a:cubicBezTo>
                  <a:cubicBezTo>
                    <a:pt x="384" y="404"/>
                    <a:pt x="384" y="404"/>
                    <a:pt x="384" y="404"/>
                  </a:cubicBezTo>
                  <a:cubicBezTo>
                    <a:pt x="385" y="404"/>
                    <a:pt x="386" y="404"/>
                    <a:pt x="387" y="403"/>
                  </a:cubicBezTo>
                  <a:cubicBezTo>
                    <a:pt x="388" y="403"/>
                    <a:pt x="389" y="403"/>
                    <a:pt x="390" y="403"/>
                  </a:cubicBezTo>
                  <a:cubicBezTo>
                    <a:pt x="390" y="403"/>
                    <a:pt x="390" y="403"/>
                    <a:pt x="390" y="403"/>
                  </a:cubicBezTo>
                  <a:cubicBezTo>
                    <a:pt x="391" y="403"/>
                    <a:pt x="392" y="403"/>
                    <a:pt x="393" y="403"/>
                  </a:cubicBezTo>
                  <a:cubicBezTo>
                    <a:pt x="394" y="402"/>
                    <a:pt x="395" y="402"/>
                    <a:pt x="396" y="402"/>
                  </a:cubicBezTo>
                  <a:cubicBezTo>
                    <a:pt x="396" y="402"/>
                    <a:pt x="396" y="402"/>
                    <a:pt x="396" y="402"/>
                  </a:cubicBezTo>
                  <a:cubicBezTo>
                    <a:pt x="397" y="402"/>
                    <a:pt x="397" y="402"/>
                    <a:pt x="397" y="402"/>
                  </a:cubicBezTo>
                  <a:cubicBezTo>
                    <a:pt x="397" y="402"/>
                    <a:pt x="397" y="402"/>
                    <a:pt x="398" y="402"/>
                  </a:cubicBezTo>
                  <a:cubicBezTo>
                    <a:pt x="399" y="402"/>
                    <a:pt x="399" y="402"/>
                    <a:pt x="400" y="401"/>
                  </a:cubicBezTo>
                  <a:cubicBezTo>
                    <a:pt x="401" y="401"/>
                    <a:pt x="401" y="401"/>
                    <a:pt x="401" y="401"/>
                  </a:cubicBezTo>
                  <a:cubicBezTo>
                    <a:pt x="402" y="401"/>
                    <a:pt x="402" y="401"/>
                    <a:pt x="402" y="401"/>
                  </a:cubicBezTo>
                  <a:cubicBezTo>
                    <a:pt x="402" y="401"/>
                    <a:pt x="403" y="401"/>
                    <a:pt x="403" y="401"/>
                  </a:cubicBezTo>
                  <a:cubicBezTo>
                    <a:pt x="404" y="401"/>
                    <a:pt x="405" y="400"/>
                    <a:pt x="406" y="400"/>
                  </a:cubicBezTo>
                  <a:cubicBezTo>
                    <a:pt x="407" y="400"/>
                    <a:pt x="407" y="400"/>
                    <a:pt x="407" y="400"/>
                  </a:cubicBezTo>
                  <a:cubicBezTo>
                    <a:pt x="407" y="400"/>
                    <a:pt x="408" y="400"/>
                    <a:pt x="408" y="400"/>
                  </a:cubicBezTo>
                  <a:cubicBezTo>
                    <a:pt x="409" y="400"/>
                    <a:pt x="410" y="399"/>
                    <a:pt x="411" y="399"/>
                  </a:cubicBezTo>
                  <a:cubicBezTo>
                    <a:pt x="412" y="399"/>
                    <a:pt x="412" y="399"/>
                    <a:pt x="412" y="399"/>
                  </a:cubicBezTo>
                  <a:cubicBezTo>
                    <a:pt x="412" y="399"/>
                    <a:pt x="413" y="399"/>
                    <a:pt x="413" y="399"/>
                  </a:cubicBezTo>
                  <a:cubicBezTo>
                    <a:pt x="414" y="399"/>
                    <a:pt x="414" y="399"/>
                    <a:pt x="415" y="398"/>
                  </a:cubicBezTo>
                  <a:cubicBezTo>
                    <a:pt x="415" y="398"/>
                    <a:pt x="415" y="398"/>
                    <a:pt x="415" y="398"/>
                  </a:cubicBezTo>
                  <a:cubicBezTo>
                    <a:pt x="416" y="398"/>
                    <a:pt x="416" y="398"/>
                    <a:pt x="417" y="398"/>
                  </a:cubicBezTo>
                  <a:cubicBezTo>
                    <a:pt x="418" y="398"/>
                    <a:pt x="418" y="397"/>
                    <a:pt x="419" y="397"/>
                  </a:cubicBezTo>
                  <a:cubicBezTo>
                    <a:pt x="420" y="397"/>
                    <a:pt x="420" y="397"/>
                    <a:pt x="421" y="397"/>
                  </a:cubicBezTo>
                  <a:cubicBezTo>
                    <a:pt x="421" y="397"/>
                    <a:pt x="421" y="397"/>
                    <a:pt x="421" y="397"/>
                  </a:cubicBezTo>
                  <a:cubicBezTo>
                    <a:pt x="423" y="396"/>
                    <a:pt x="424" y="396"/>
                    <a:pt x="426" y="396"/>
                  </a:cubicBezTo>
                  <a:cubicBezTo>
                    <a:pt x="426" y="395"/>
                    <a:pt x="426" y="395"/>
                    <a:pt x="426" y="395"/>
                  </a:cubicBezTo>
                  <a:cubicBezTo>
                    <a:pt x="427" y="395"/>
                    <a:pt x="427" y="395"/>
                    <a:pt x="427" y="395"/>
                  </a:cubicBezTo>
                  <a:cubicBezTo>
                    <a:pt x="428" y="395"/>
                    <a:pt x="429" y="395"/>
                    <a:pt x="430" y="394"/>
                  </a:cubicBezTo>
                  <a:cubicBezTo>
                    <a:pt x="430" y="394"/>
                    <a:pt x="430" y="394"/>
                    <a:pt x="430" y="394"/>
                  </a:cubicBezTo>
                  <a:cubicBezTo>
                    <a:pt x="430" y="394"/>
                    <a:pt x="431" y="394"/>
                    <a:pt x="431" y="394"/>
                  </a:cubicBezTo>
                  <a:cubicBezTo>
                    <a:pt x="432" y="393"/>
                    <a:pt x="433" y="393"/>
                    <a:pt x="433" y="393"/>
                  </a:cubicBezTo>
                  <a:cubicBezTo>
                    <a:pt x="434" y="393"/>
                    <a:pt x="434" y="393"/>
                    <a:pt x="434" y="393"/>
                  </a:cubicBezTo>
                  <a:cubicBezTo>
                    <a:pt x="434" y="393"/>
                    <a:pt x="434" y="393"/>
                    <a:pt x="434" y="393"/>
                  </a:cubicBezTo>
                  <a:cubicBezTo>
                    <a:pt x="435" y="392"/>
                    <a:pt x="435" y="392"/>
                    <a:pt x="435" y="392"/>
                  </a:cubicBezTo>
                  <a:cubicBezTo>
                    <a:pt x="436" y="392"/>
                    <a:pt x="436" y="392"/>
                    <a:pt x="437" y="392"/>
                  </a:cubicBezTo>
                  <a:cubicBezTo>
                    <a:pt x="437" y="391"/>
                    <a:pt x="437" y="391"/>
                    <a:pt x="437" y="391"/>
                  </a:cubicBezTo>
                  <a:cubicBezTo>
                    <a:pt x="438" y="391"/>
                    <a:pt x="438" y="391"/>
                    <a:pt x="439" y="391"/>
                  </a:cubicBezTo>
                  <a:cubicBezTo>
                    <a:pt x="439" y="391"/>
                    <a:pt x="439" y="390"/>
                    <a:pt x="440" y="390"/>
                  </a:cubicBezTo>
                  <a:cubicBezTo>
                    <a:pt x="441" y="390"/>
                    <a:pt x="441" y="390"/>
                    <a:pt x="441" y="390"/>
                  </a:cubicBezTo>
                  <a:cubicBezTo>
                    <a:pt x="441" y="390"/>
                    <a:pt x="441" y="390"/>
                    <a:pt x="441" y="390"/>
                  </a:cubicBezTo>
                  <a:cubicBezTo>
                    <a:pt x="442" y="389"/>
                    <a:pt x="442" y="389"/>
                    <a:pt x="442" y="389"/>
                  </a:cubicBezTo>
                  <a:cubicBezTo>
                    <a:pt x="442" y="389"/>
                    <a:pt x="442" y="389"/>
                    <a:pt x="443" y="389"/>
                  </a:cubicBezTo>
                  <a:cubicBezTo>
                    <a:pt x="443" y="389"/>
                    <a:pt x="443" y="389"/>
                    <a:pt x="443" y="389"/>
                  </a:cubicBezTo>
                  <a:cubicBezTo>
                    <a:pt x="444" y="388"/>
                    <a:pt x="444" y="388"/>
                    <a:pt x="444" y="388"/>
                  </a:cubicBezTo>
                  <a:cubicBezTo>
                    <a:pt x="445" y="387"/>
                    <a:pt x="445" y="387"/>
                    <a:pt x="445" y="387"/>
                  </a:cubicBezTo>
                  <a:cubicBezTo>
                    <a:pt x="446" y="387"/>
                    <a:pt x="446" y="387"/>
                    <a:pt x="446" y="387"/>
                  </a:cubicBezTo>
                  <a:cubicBezTo>
                    <a:pt x="446" y="387"/>
                    <a:pt x="446" y="387"/>
                    <a:pt x="446" y="387"/>
                  </a:cubicBezTo>
                  <a:cubicBezTo>
                    <a:pt x="447" y="387"/>
                    <a:pt x="447" y="387"/>
                    <a:pt x="447" y="387"/>
                  </a:cubicBezTo>
                  <a:cubicBezTo>
                    <a:pt x="447" y="386"/>
                    <a:pt x="447" y="386"/>
                    <a:pt x="447" y="386"/>
                  </a:cubicBezTo>
                  <a:cubicBezTo>
                    <a:pt x="448" y="385"/>
                    <a:pt x="448" y="385"/>
                    <a:pt x="448" y="385"/>
                  </a:cubicBezTo>
                  <a:cubicBezTo>
                    <a:pt x="449" y="385"/>
                    <a:pt x="449" y="385"/>
                    <a:pt x="449" y="385"/>
                  </a:cubicBezTo>
                  <a:cubicBezTo>
                    <a:pt x="449" y="384"/>
                    <a:pt x="449" y="384"/>
                    <a:pt x="449" y="384"/>
                  </a:cubicBezTo>
                  <a:cubicBezTo>
                    <a:pt x="450" y="384"/>
                    <a:pt x="450" y="384"/>
                    <a:pt x="450" y="384"/>
                  </a:cubicBezTo>
                  <a:cubicBezTo>
                    <a:pt x="450" y="384"/>
                    <a:pt x="450" y="384"/>
                    <a:pt x="450" y="384"/>
                  </a:cubicBezTo>
                  <a:cubicBezTo>
                    <a:pt x="450" y="383"/>
                    <a:pt x="450" y="383"/>
                    <a:pt x="450" y="383"/>
                  </a:cubicBezTo>
                  <a:cubicBezTo>
                    <a:pt x="450" y="383"/>
                    <a:pt x="450" y="383"/>
                    <a:pt x="450" y="383"/>
                  </a:cubicBezTo>
                  <a:cubicBezTo>
                    <a:pt x="451" y="383"/>
                    <a:pt x="451" y="383"/>
                    <a:pt x="451" y="383"/>
                  </a:cubicBezTo>
                  <a:cubicBezTo>
                    <a:pt x="451" y="382"/>
                    <a:pt x="451" y="382"/>
                    <a:pt x="451" y="382"/>
                  </a:cubicBezTo>
                  <a:cubicBezTo>
                    <a:pt x="452" y="382"/>
                    <a:pt x="452" y="382"/>
                    <a:pt x="452" y="382"/>
                  </a:cubicBezTo>
                  <a:cubicBezTo>
                    <a:pt x="452" y="381"/>
                    <a:pt x="452" y="381"/>
                    <a:pt x="452" y="381"/>
                  </a:cubicBezTo>
                  <a:cubicBezTo>
                    <a:pt x="452" y="381"/>
                    <a:pt x="452" y="381"/>
                    <a:pt x="452" y="381"/>
                  </a:cubicBezTo>
                  <a:cubicBezTo>
                    <a:pt x="453" y="380"/>
                    <a:pt x="453" y="380"/>
                    <a:pt x="453" y="380"/>
                  </a:cubicBezTo>
                  <a:cubicBezTo>
                    <a:pt x="455" y="376"/>
                    <a:pt x="457" y="372"/>
                    <a:pt x="459" y="367"/>
                  </a:cubicBezTo>
                  <a:cubicBezTo>
                    <a:pt x="493" y="292"/>
                    <a:pt x="528" y="216"/>
                    <a:pt x="563" y="141"/>
                  </a:cubicBezTo>
                  <a:cubicBezTo>
                    <a:pt x="574" y="116"/>
                    <a:pt x="585" y="92"/>
                    <a:pt x="596" y="68"/>
                  </a:cubicBezTo>
                  <a:cubicBezTo>
                    <a:pt x="597" y="66"/>
                    <a:pt x="597" y="64"/>
                    <a:pt x="597" y="63"/>
                  </a:cubicBezTo>
                  <a:cubicBezTo>
                    <a:pt x="597" y="62"/>
                    <a:pt x="597" y="62"/>
                    <a:pt x="597" y="61"/>
                  </a:cubicBezTo>
                  <a:cubicBezTo>
                    <a:pt x="597" y="60"/>
                    <a:pt x="597" y="60"/>
                    <a:pt x="597" y="60"/>
                  </a:cubicBezTo>
                </a:path>
              </a:pathLst>
            </a:custGeom>
            <a:solidFill>
              <a:srgbClr val="A21619"/>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65" name="Freeform 150">
              <a:extLst>
                <a:ext uri="{FF2B5EF4-FFF2-40B4-BE49-F238E27FC236}">
                  <a16:creationId xmlns:a16="http://schemas.microsoft.com/office/drawing/2014/main" id="{4555E838-233A-9559-593A-D4613C8561DB}"/>
                </a:ext>
              </a:extLst>
            </p:cNvPr>
            <p:cNvSpPr>
              <a:spLocks/>
            </p:cNvSpPr>
            <p:nvPr/>
          </p:nvSpPr>
          <p:spPr bwMode="auto">
            <a:xfrm>
              <a:off x="3277730" y="4527866"/>
              <a:ext cx="1962313" cy="292987"/>
            </a:xfrm>
            <a:custGeom>
              <a:avLst/>
              <a:gdLst>
                <a:gd name="T0" fmla="*/ 599 w 602"/>
                <a:gd name="T1" fmla="*/ 64 h 125"/>
                <a:gd name="T2" fmla="*/ 296 w 602"/>
                <a:gd name="T3" fmla="*/ 125 h 125"/>
                <a:gd name="T4" fmla="*/ 2 w 602"/>
                <a:gd name="T5" fmla="*/ 62 h 125"/>
                <a:gd name="T6" fmla="*/ 306 w 602"/>
                <a:gd name="T7" fmla="*/ 1 h 125"/>
                <a:gd name="T8" fmla="*/ 599 w 602"/>
                <a:gd name="T9" fmla="*/ 64 h 125"/>
              </a:gdLst>
              <a:ahLst/>
              <a:cxnLst>
                <a:cxn ang="0">
                  <a:pos x="T0" y="T1"/>
                </a:cxn>
                <a:cxn ang="0">
                  <a:pos x="T2" y="T3"/>
                </a:cxn>
                <a:cxn ang="0">
                  <a:pos x="T4" y="T5"/>
                </a:cxn>
                <a:cxn ang="0">
                  <a:pos x="T6" y="T7"/>
                </a:cxn>
                <a:cxn ang="0">
                  <a:pos x="T8" y="T9"/>
                </a:cxn>
              </a:cxnLst>
              <a:rect l="0" t="0" r="r" b="b"/>
              <a:pathLst>
                <a:path w="602" h="125">
                  <a:moveTo>
                    <a:pt x="599" y="64"/>
                  </a:moveTo>
                  <a:cubicBezTo>
                    <a:pt x="597" y="98"/>
                    <a:pt x="461" y="125"/>
                    <a:pt x="296" y="125"/>
                  </a:cubicBezTo>
                  <a:cubicBezTo>
                    <a:pt x="131" y="124"/>
                    <a:pt x="0" y="96"/>
                    <a:pt x="2" y="62"/>
                  </a:cubicBezTo>
                  <a:cubicBezTo>
                    <a:pt x="5" y="27"/>
                    <a:pt x="141" y="0"/>
                    <a:pt x="306" y="1"/>
                  </a:cubicBezTo>
                  <a:cubicBezTo>
                    <a:pt x="471" y="1"/>
                    <a:pt x="602" y="30"/>
                    <a:pt x="599" y="64"/>
                  </a:cubicBezTo>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sp>
        <p:nvSpPr>
          <p:cNvPr id="10" name="Rectangle 177">
            <a:extLst>
              <a:ext uri="{FF2B5EF4-FFF2-40B4-BE49-F238E27FC236}">
                <a16:creationId xmlns:a16="http://schemas.microsoft.com/office/drawing/2014/main" id="{98A55BA2-87F8-FC22-3757-7F49BE1E76B3}"/>
              </a:ext>
            </a:extLst>
          </p:cNvPr>
          <p:cNvSpPr>
            <a:spLocks noChangeArrowheads="1"/>
          </p:cNvSpPr>
          <p:nvPr/>
        </p:nvSpPr>
        <p:spPr bwMode="auto">
          <a:xfrm>
            <a:off x="2456822" y="4559233"/>
            <a:ext cx="4785132" cy="48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11" name="Rectangle 179">
            <a:extLst>
              <a:ext uri="{FF2B5EF4-FFF2-40B4-BE49-F238E27FC236}">
                <a16:creationId xmlns:a16="http://schemas.microsoft.com/office/drawing/2014/main" id="{A1BA4082-5357-05BE-3998-80888BCB8682}"/>
              </a:ext>
            </a:extLst>
          </p:cNvPr>
          <p:cNvSpPr>
            <a:spLocks noChangeArrowheads="1"/>
          </p:cNvSpPr>
          <p:nvPr/>
        </p:nvSpPr>
        <p:spPr bwMode="auto">
          <a:xfrm>
            <a:off x="2456822" y="5230567"/>
            <a:ext cx="4796508" cy="48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23" name="Rectangle 170">
            <a:extLst>
              <a:ext uri="{FF2B5EF4-FFF2-40B4-BE49-F238E27FC236}">
                <a16:creationId xmlns:a16="http://schemas.microsoft.com/office/drawing/2014/main" id="{DDFFE468-3764-2E8B-4C59-444A43B3A8C9}"/>
              </a:ext>
            </a:extLst>
          </p:cNvPr>
          <p:cNvSpPr>
            <a:spLocks noChangeArrowheads="1"/>
          </p:cNvSpPr>
          <p:nvPr/>
        </p:nvSpPr>
        <p:spPr bwMode="auto">
          <a:xfrm>
            <a:off x="2488691" y="2117926"/>
            <a:ext cx="4740623" cy="693129"/>
          </a:xfrm>
          <a:prstGeom prst="rect">
            <a:avLst/>
          </a:prstGeom>
          <a:solidFill>
            <a:schemeClr val="accent2"/>
          </a:solidFill>
          <a:ln>
            <a:noFill/>
          </a:ln>
        </p:spPr>
        <p:txBody>
          <a:bodyPr vert="horz" wrap="square" lIns="182832" tIns="91416" rIns="182832" bIns="91416" numCol="1" anchor="t" anchorCtr="0" compatLnSpc="1">
            <a:prstTxWarp prst="textNoShape">
              <a:avLst/>
            </a:prstTxWarp>
          </a:bodyPr>
          <a:lstStyle/>
          <a:p>
            <a:endParaRPr lang="id-ID" sz="1200">
              <a:highlight>
                <a:srgbClr val="808000"/>
              </a:highlight>
              <a:latin typeface="+mj-lt"/>
            </a:endParaRPr>
          </a:p>
        </p:txBody>
      </p:sp>
      <p:sp>
        <p:nvSpPr>
          <p:cNvPr id="26" name="Rectangle 172">
            <a:extLst>
              <a:ext uri="{FF2B5EF4-FFF2-40B4-BE49-F238E27FC236}">
                <a16:creationId xmlns:a16="http://schemas.microsoft.com/office/drawing/2014/main" id="{3F7262BF-8F55-EB7C-EB56-E612B2ED3B87}"/>
              </a:ext>
            </a:extLst>
          </p:cNvPr>
          <p:cNvSpPr>
            <a:spLocks noChangeArrowheads="1"/>
          </p:cNvSpPr>
          <p:nvPr/>
        </p:nvSpPr>
        <p:spPr bwMode="auto">
          <a:xfrm>
            <a:off x="2447159" y="2888085"/>
            <a:ext cx="4785132" cy="697867"/>
          </a:xfrm>
          <a:prstGeom prst="rect">
            <a:avLst/>
          </a:prstGeom>
          <a:solidFill>
            <a:schemeClr val="accent2"/>
          </a:solidFill>
          <a:ln>
            <a:solidFill>
              <a:schemeClr val="accent4">
                <a:lumMod val="60000"/>
                <a:lumOff val="40000"/>
              </a:schemeClr>
            </a:solidFill>
          </a:ln>
        </p:spPr>
        <p:txBody>
          <a:bodyPr vert="horz" wrap="square" lIns="182832" tIns="91416" rIns="182832" bIns="91416" numCol="1" anchor="t" anchorCtr="0" compatLnSpc="1">
            <a:prstTxWarp prst="textNoShape">
              <a:avLst/>
            </a:prstTxWarp>
          </a:bodyPr>
          <a:lstStyle/>
          <a:p>
            <a:endParaRPr lang="id-ID" sz="1200">
              <a:solidFill>
                <a:schemeClr val="accent5">
                  <a:lumMod val="75000"/>
                </a:schemeClr>
              </a:solidFill>
              <a:highlight>
                <a:srgbClr val="00FF00"/>
              </a:highlight>
              <a:latin typeface="+mj-lt"/>
            </a:endParaRPr>
          </a:p>
        </p:txBody>
      </p:sp>
      <p:sp>
        <p:nvSpPr>
          <p:cNvPr id="27" name="Rectangle 174">
            <a:extLst>
              <a:ext uri="{FF2B5EF4-FFF2-40B4-BE49-F238E27FC236}">
                <a16:creationId xmlns:a16="http://schemas.microsoft.com/office/drawing/2014/main" id="{AE74E5E5-B8C3-70D1-294C-97CEB29F198D}"/>
              </a:ext>
            </a:extLst>
          </p:cNvPr>
          <p:cNvSpPr>
            <a:spLocks noChangeArrowheads="1"/>
          </p:cNvSpPr>
          <p:nvPr/>
        </p:nvSpPr>
        <p:spPr bwMode="auto">
          <a:xfrm>
            <a:off x="2449685" y="3655560"/>
            <a:ext cx="4780076" cy="700609"/>
          </a:xfrm>
          <a:prstGeom prst="rect">
            <a:avLst/>
          </a:prstGeom>
          <a:solidFill>
            <a:schemeClr val="accent2"/>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nvGrpSpPr>
          <p:cNvPr id="32" name="Group 31">
            <a:extLst>
              <a:ext uri="{FF2B5EF4-FFF2-40B4-BE49-F238E27FC236}">
                <a16:creationId xmlns:a16="http://schemas.microsoft.com/office/drawing/2014/main" id="{A2A4AF01-D66B-A145-9E42-035B342EFADE}"/>
              </a:ext>
            </a:extLst>
          </p:cNvPr>
          <p:cNvGrpSpPr/>
          <p:nvPr/>
        </p:nvGrpSpPr>
        <p:grpSpPr>
          <a:xfrm>
            <a:off x="1048017" y="3450097"/>
            <a:ext cx="2776791" cy="1015609"/>
            <a:chOff x="2951147" y="3594643"/>
            <a:chExt cx="2619062" cy="1068314"/>
          </a:xfrm>
        </p:grpSpPr>
        <p:sp>
          <p:nvSpPr>
            <p:cNvPr id="59" name="Freeform 155">
              <a:extLst>
                <a:ext uri="{FF2B5EF4-FFF2-40B4-BE49-F238E27FC236}">
                  <a16:creationId xmlns:a16="http://schemas.microsoft.com/office/drawing/2014/main" id="{9476788F-6F8B-4722-709B-67B7A050AF54}"/>
                </a:ext>
              </a:extLst>
            </p:cNvPr>
            <p:cNvSpPr>
              <a:spLocks/>
            </p:cNvSpPr>
            <p:nvPr/>
          </p:nvSpPr>
          <p:spPr bwMode="auto">
            <a:xfrm>
              <a:off x="2963068" y="3597481"/>
              <a:ext cx="2595220" cy="1065476"/>
            </a:xfrm>
            <a:custGeom>
              <a:avLst/>
              <a:gdLst>
                <a:gd name="T0" fmla="*/ 913 w 920"/>
                <a:gd name="T1" fmla="*/ 79 h 476"/>
                <a:gd name="T2" fmla="*/ 897 w 920"/>
                <a:gd name="T3" fmla="*/ 66 h 476"/>
                <a:gd name="T4" fmla="*/ 872 w 920"/>
                <a:gd name="T5" fmla="*/ 53 h 476"/>
                <a:gd name="T6" fmla="*/ 847 w 920"/>
                <a:gd name="T7" fmla="*/ 44 h 476"/>
                <a:gd name="T8" fmla="*/ 805 w 920"/>
                <a:gd name="T9" fmla="*/ 32 h 476"/>
                <a:gd name="T10" fmla="*/ 766 w 920"/>
                <a:gd name="T11" fmla="*/ 24 h 476"/>
                <a:gd name="T12" fmla="*/ 728 w 920"/>
                <a:gd name="T13" fmla="*/ 18 h 476"/>
                <a:gd name="T14" fmla="*/ 671 w 920"/>
                <a:gd name="T15" fmla="*/ 10 h 476"/>
                <a:gd name="T16" fmla="*/ 591 w 920"/>
                <a:gd name="T17" fmla="*/ 3 h 476"/>
                <a:gd name="T18" fmla="*/ 554 w 920"/>
                <a:gd name="T19" fmla="*/ 2 h 476"/>
                <a:gd name="T20" fmla="*/ 520 w 920"/>
                <a:gd name="T21" fmla="*/ 0 h 476"/>
                <a:gd name="T22" fmla="*/ 492 w 920"/>
                <a:gd name="T23" fmla="*/ 0 h 476"/>
                <a:gd name="T24" fmla="*/ 445 w 920"/>
                <a:gd name="T25" fmla="*/ 0 h 476"/>
                <a:gd name="T26" fmla="*/ 403 w 920"/>
                <a:gd name="T27" fmla="*/ 0 h 476"/>
                <a:gd name="T28" fmla="*/ 322 w 920"/>
                <a:gd name="T29" fmla="*/ 4 h 476"/>
                <a:gd name="T30" fmla="*/ 289 w 920"/>
                <a:gd name="T31" fmla="*/ 6 h 476"/>
                <a:gd name="T32" fmla="*/ 261 w 920"/>
                <a:gd name="T33" fmla="*/ 9 h 476"/>
                <a:gd name="T34" fmla="*/ 223 w 920"/>
                <a:gd name="T35" fmla="*/ 13 h 476"/>
                <a:gd name="T36" fmla="*/ 193 w 920"/>
                <a:gd name="T37" fmla="*/ 17 h 476"/>
                <a:gd name="T38" fmla="*/ 159 w 920"/>
                <a:gd name="T39" fmla="*/ 23 h 476"/>
                <a:gd name="T40" fmla="*/ 119 w 920"/>
                <a:gd name="T41" fmla="*/ 31 h 476"/>
                <a:gd name="T42" fmla="*/ 84 w 920"/>
                <a:gd name="T43" fmla="*/ 40 h 476"/>
                <a:gd name="T44" fmla="*/ 56 w 920"/>
                <a:gd name="T45" fmla="*/ 49 h 476"/>
                <a:gd name="T46" fmla="*/ 36 w 920"/>
                <a:gd name="T47" fmla="*/ 58 h 476"/>
                <a:gd name="T48" fmla="*/ 21 w 920"/>
                <a:gd name="T49" fmla="*/ 67 h 476"/>
                <a:gd name="T50" fmla="*/ 9 w 920"/>
                <a:gd name="T51" fmla="*/ 76 h 476"/>
                <a:gd name="T52" fmla="*/ 3 w 920"/>
                <a:gd name="T53" fmla="*/ 86 h 476"/>
                <a:gd name="T54" fmla="*/ 0 w 920"/>
                <a:gd name="T55" fmla="*/ 97 h 476"/>
                <a:gd name="T56" fmla="*/ 146 w 920"/>
                <a:gd name="T57" fmla="*/ 417 h 476"/>
                <a:gd name="T58" fmla="*/ 150 w 920"/>
                <a:gd name="T59" fmla="*/ 423 h 476"/>
                <a:gd name="T60" fmla="*/ 157 w 920"/>
                <a:gd name="T61" fmla="*/ 429 h 476"/>
                <a:gd name="T62" fmla="*/ 166 w 920"/>
                <a:gd name="T63" fmla="*/ 435 h 476"/>
                <a:gd name="T64" fmla="*/ 178 w 920"/>
                <a:gd name="T65" fmla="*/ 440 h 476"/>
                <a:gd name="T66" fmla="*/ 192 w 920"/>
                <a:gd name="T67" fmla="*/ 445 h 476"/>
                <a:gd name="T68" fmla="*/ 207 w 920"/>
                <a:gd name="T69" fmla="*/ 450 h 476"/>
                <a:gd name="T70" fmla="*/ 226 w 920"/>
                <a:gd name="T71" fmla="*/ 454 h 476"/>
                <a:gd name="T72" fmla="*/ 246 w 920"/>
                <a:gd name="T73" fmla="*/ 459 h 476"/>
                <a:gd name="T74" fmla="*/ 269 w 920"/>
                <a:gd name="T75" fmla="*/ 463 h 476"/>
                <a:gd name="T76" fmla="*/ 293 w 920"/>
                <a:gd name="T77" fmla="*/ 466 h 476"/>
                <a:gd name="T78" fmla="*/ 329 w 920"/>
                <a:gd name="T79" fmla="*/ 470 h 476"/>
                <a:gd name="T80" fmla="*/ 366 w 920"/>
                <a:gd name="T81" fmla="*/ 473 h 476"/>
                <a:gd name="T82" fmla="*/ 396 w 920"/>
                <a:gd name="T83" fmla="*/ 475 h 476"/>
                <a:gd name="T84" fmla="*/ 437 w 920"/>
                <a:gd name="T85" fmla="*/ 476 h 476"/>
                <a:gd name="T86" fmla="*/ 486 w 920"/>
                <a:gd name="T87" fmla="*/ 476 h 476"/>
                <a:gd name="T88" fmla="*/ 518 w 920"/>
                <a:gd name="T89" fmla="*/ 475 h 476"/>
                <a:gd name="T90" fmla="*/ 558 w 920"/>
                <a:gd name="T91" fmla="*/ 473 h 476"/>
                <a:gd name="T92" fmla="*/ 599 w 920"/>
                <a:gd name="T93" fmla="*/ 469 h 476"/>
                <a:gd name="T94" fmla="*/ 632 w 920"/>
                <a:gd name="T95" fmla="*/ 465 h 476"/>
                <a:gd name="T96" fmla="*/ 659 w 920"/>
                <a:gd name="T97" fmla="*/ 461 h 476"/>
                <a:gd name="T98" fmla="*/ 686 w 920"/>
                <a:gd name="T99" fmla="*/ 456 h 476"/>
                <a:gd name="T100" fmla="*/ 707 w 920"/>
                <a:gd name="T101" fmla="*/ 451 h 476"/>
                <a:gd name="T102" fmla="*/ 720 w 920"/>
                <a:gd name="T103" fmla="*/ 448 h 476"/>
                <a:gd name="T104" fmla="*/ 736 w 920"/>
                <a:gd name="T105" fmla="*/ 442 h 476"/>
                <a:gd name="T106" fmla="*/ 750 w 920"/>
                <a:gd name="T107" fmla="*/ 436 h 476"/>
                <a:gd name="T108" fmla="*/ 759 w 920"/>
                <a:gd name="T109" fmla="*/ 431 h 476"/>
                <a:gd name="T110" fmla="*/ 767 w 920"/>
                <a:gd name="T111" fmla="*/ 426 h 476"/>
                <a:gd name="T112" fmla="*/ 772 w 920"/>
                <a:gd name="T113" fmla="*/ 420 h 476"/>
                <a:gd name="T114" fmla="*/ 919 w 920"/>
                <a:gd name="T115" fmla="*/ 94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20" h="476">
                  <a:moveTo>
                    <a:pt x="919" y="93"/>
                  </a:moveTo>
                  <a:cubicBezTo>
                    <a:pt x="919" y="93"/>
                    <a:pt x="919" y="92"/>
                    <a:pt x="919" y="91"/>
                  </a:cubicBezTo>
                  <a:cubicBezTo>
                    <a:pt x="919" y="90"/>
                    <a:pt x="919" y="90"/>
                    <a:pt x="919" y="90"/>
                  </a:cubicBezTo>
                  <a:cubicBezTo>
                    <a:pt x="919" y="90"/>
                    <a:pt x="919" y="89"/>
                    <a:pt x="918" y="88"/>
                  </a:cubicBezTo>
                  <a:cubicBezTo>
                    <a:pt x="918" y="87"/>
                    <a:pt x="918" y="87"/>
                    <a:pt x="918" y="87"/>
                  </a:cubicBezTo>
                  <a:cubicBezTo>
                    <a:pt x="918" y="87"/>
                    <a:pt x="918" y="86"/>
                    <a:pt x="917" y="86"/>
                  </a:cubicBezTo>
                  <a:cubicBezTo>
                    <a:pt x="917" y="85"/>
                    <a:pt x="917" y="85"/>
                    <a:pt x="917" y="85"/>
                  </a:cubicBezTo>
                  <a:cubicBezTo>
                    <a:pt x="916" y="84"/>
                    <a:pt x="916" y="83"/>
                    <a:pt x="915" y="82"/>
                  </a:cubicBezTo>
                  <a:cubicBezTo>
                    <a:pt x="915" y="82"/>
                    <a:pt x="915" y="82"/>
                    <a:pt x="915" y="82"/>
                  </a:cubicBezTo>
                  <a:cubicBezTo>
                    <a:pt x="914" y="81"/>
                    <a:pt x="914" y="80"/>
                    <a:pt x="913" y="79"/>
                  </a:cubicBezTo>
                  <a:cubicBezTo>
                    <a:pt x="913" y="79"/>
                    <a:pt x="913" y="79"/>
                    <a:pt x="913" y="79"/>
                  </a:cubicBezTo>
                  <a:cubicBezTo>
                    <a:pt x="912" y="78"/>
                    <a:pt x="912" y="77"/>
                    <a:pt x="911" y="77"/>
                  </a:cubicBezTo>
                  <a:cubicBezTo>
                    <a:pt x="910" y="76"/>
                    <a:pt x="910" y="76"/>
                    <a:pt x="910" y="76"/>
                  </a:cubicBezTo>
                  <a:cubicBezTo>
                    <a:pt x="910" y="75"/>
                    <a:pt x="909" y="75"/>
                    <a:pt x="908" y="74"/>
                  </a:cubicBezTo>
                  <a:cubicBezTo>
                    <a:pt x="907" y="73"/>
                    <a:pt x="907" y="73"/>
                    <a:pt x="907" y="73"/>
                  </a:cubicBezTo>
                  <a:cubicBezTo>
                    <a:pt x="907" y="73"/>
                    <a:pt x="906" y="72"/>
                    <a:pt x="905" y="71"/>
                  </a:cubicBezTo>
                  <a:cubicBezTo>
                    <a:pt x="904" y="71"/>
                    <a:pt x="904" y="71"/>
                    <a:pt x="904" y="71"/>
                  </a:cubicBezTo>
                  <a:cubicBezTo>
                    <a:pt x="903" y="70"/>
                    <a:pt x="902" y="69"/>
                    <a:pt x="901" y="68"/>
                  </a:cubicBezTo>
                  <a:cubicBezTo>
                    <a:pt x="900" y="67"/>
                    <a:pt x="900" y="67"/>
                    <a:pt x="900" y="67"/>
                  </a:cubicBezTo>
                  <a:cubicBezTo>
                    <a:pt x="899" y="67"/>
                    <a:pt x="898" y="66"/>
                    <a:pt x="897" y="66"/>
                  </a:cubicBezTo>
                  <a:cubicBezTo>
                    <a:pt x="897" y="65"/>
                    <a:pt x="896" y="65"/>
                    <a:pt x="896" y="65"/>
                  </a:cubicBezTo>
                  <a:cubicBezTo>
                    <a:pt x="895" y="64"/>
                    <a:pt x="894" y="64"/>
                    <a:pt x="893" y="63"/>
                  </a:cubicBezTo>
                  <a:cubicBezTo>
                    <a:pt x="893" y="63"/>
                    <a:pt x="892" y="63"/>
                    <a:pt x="891" y="62"/>
                  </a:cubicBezTo>
                  <a:cubicBezTo>
                    <a:pt x="891" y="62"/>
                    <a:pt x="890" y="61"/>
                    <a:pt x="889" y="61"/>
                  </a:cubicBezTo>
                  <a:cubicBezTo>
                    <a:pt x="888" y="60"/>
                    <a:pt x="888" y="60"/>
                    <a:pt x="887" y="60"/>
                  </a:cubicBezTo>
                  <a:cubicBezTo>
                    <a:pt x="886" y="59"/>
                    <a:pt x="884" y="58"/>
                    <a:pt x="883" y="58"/>
                  </a:cubicBezTo>
                  <a:cubicBezTo>
                    <a:pt x="882" y="57"/>
                    <a:pt x="882" y="57"/>
                    <a:pt x="882" y="57"/>
                  </a:cubicBezTo>
                  <a:cubicBezTo>
                    <a:pt x="881" y="57"/>
                    <a:pt x="879" y="56"/>
                    <a:pt x="877" y="55"/>
                  </a:cubicBezTo>
                  <a:cubicBezTo>
                    <a:pt x="877" y="55"/>
                    <a:pt x="876" y="54"/>
                    <a:pt x="875" y="54"/>
                  </a:cubicBezTo>
                  <a:cubicBezTo>
                    <a:pt x="874" y="54"/>
                    <a:pt x="873" y="53"/>
                    <a:pt x="872" y="53"/>
                  </a:cubicBezTo>
                  <a:cubicBezTo>
                    <a:pt x="871" y="52"/>
                    <a:pt x="871" y="52"/>
                    <a:pt x="871" y="52"/>
                  </a:cubicBezTo>
                  <a:cubicBezTo>
                    <a:pt x="870" y="52"/>
                    <a:pt x="870" y="52"/>
                    <a:pt x="869" y="52"/>
                  </a:cubicBezTo>
                  <a:cubicBezTo>
                    <a:pt x="868" y="51"/>
                    <a:pt x="868" y="51"/>
                    <a:pt x="867" y="51"/>
                  </a:cubicBezTo>
                  <a:cubicBezTo>
                    <a:pt x="866" y="50"/>
                    <a:pt x="865" y="50"/>
                    <a:pt x="864" y="50"/>
                  </a:cubicBezTo>
                  <a:cubicBezTo>
                    <a:pt x="863" y="49"/>
                    <a:pt x="862" y="49"/>
                    <a:pt x="861" y="48"/>
                  </a:cubicBezTo>
                  <a:cubicBezTo>
                    <a:pt x="860" y="48"/>
                    <a:pt x="859" y="48"/>
                    <a:pt x="858" y="47"/>
                  </a:cubicBezTo>
                  <a:cubicBezTo>
                    <a:pt x="857" y="47"/>
                    <a:pt x="856" y="47"/>
                    <a:pt x="855" y="46"/>
                  </a:cubicBezTo>
                  <a:cubicBezTo>
                    <a:pt x="854" y="46"/>
                    <a:pt x="853" y="46"/>
                    <a:pt x="853" y="45"/>
                  </a:cubicBezTo>
                  <a:cubicBezTo>
                    <a:pt x="851" y="45"/>
                    <a:pt x="850" y="45"/>
                    <a:pt x="849" y="44"/>
                  </a:cubicBezTo>
                  <a:cubicBezTo>
                    <a:pt x="849" y="44"/>
                    <a:pt x="848" y="44"/>
                    <a:pt x="847" y="44"/>
                  </a:cubicBezTo>
                  <a:cubicBezTo>
                    <a:pt x="847" y="43"/>
                    <a:pt x="847" y="43"/>
                    <a:pt x="847" y="43"/>
                  </a:cubicBezTo>
                  <a:cubicBezTo>
                    <a:pt x="844" y="43"/>
                    <a:pt x="841" y="42"/>
                    <a:pt x="838" y="41"/>
                  </a:cubicBezTo>
                  <a:cubicBezTo>
                    <a:pt x="837" y="40"/>
                    <a:pt x="836" y="40"/>
                    <a:pt x="836" y="40"/>
                  </a:cubicBezTo>
                  <a:cubicBezTo>
                    <a:pt x="833" y="39"/>
                    <a:pt x="829" y="38"/>
                    <a:pt x="826" y="37"/>
                  </a:cubicBezTo>
                  <a:cubicBezTo>
                    <a:pt x="826" y="37"/>
                    <a:pt x="826" y="37"/>
                    <a:pt x="826" y="37"/>
                  </a:cubicBezTo>
                  <a:cubicBezTo>
                    <a:pt x="825" y="37"/>
                    <a:pt x="825" y="37"/>
                    <a:pt x="824" y="37"/>
                  </a:cubicBezTo>
                  <a:cubicBezTo>
                    <a:pt x="822" y="36"/>
                    <a:pt x="820" y="36"/>
                    <a:pt x="817" y="35"/>
                  </a:cubicBezTo>
                  <a:cubicBezTo>
                    <a:pt x="816" y="35"/>
                    <a:pt x="815" y="35"/>
                    <a:pt x="815" y="34"/>
                  </a:cubicBezTo>
                  <a:cubicBezTo>
                    <a:pt x="812" y="34"/>
                    <a:pt x="809" y="33"/>
                    <a:pt x="805" y="32"/>
                  </a:cubicBezTo>
                  <a:cubicBezTo>
                    <a:pt x="805" y="32"/>
                    <a:pt x="805" y="32"/>
                    <a:pt x="805" y="32"/>
                  </a:cubicBezTo>
                  <a:cubicBezTo>
                    <a:pt x="804" y="32"/>
                    <a:pt x="804" y="32"/>
                    <a:pt x="804" y="32"/>
                  </a:cubicBezTo>
                  <a:cubicBezTo>
                    <a:pt x="802" y="31"/>
                    <a:pt x="799" y="31"/>
                    <a:pt x="797" y="30"/>
                  </a:cubicBezTo>
                  <a:cubicBezTo>
                    <a:pt x="796" y="30"/>
                    <a:pt x="795" y="30"/>
                    <a:pt x="794" y="29"/>
                  </a:cubicBezTo>
                  <a:cubicBezTo>
                    <a:pt x="792" y="29"/>
                    <a:pt x="789" y="28"/>
                    <a:pt x="787" y="28"/>
                  </a:cubicBezTo>
                  <a:cubicBezTo>
                    <a:pt x="787" y="28"/>
                    <a:pt x="786" y="28"/>
                    <a:pt x="785" y="28"/>
                  </a:cubicBezTo>
                  <a:cubicBezTo>
                    <a:pt x="785" y="28"/>
                    <a:pt x="785" y="27"/>
                    <a:pt x="784" y="27"/>
                  </a:cubicBezTo>
                  <a:cubicBezTo>
                    <a:pt x="782" y="27"/>
                    <a:pt x="780" y="27"/>
                    <a:pt x="778" y="26"/>
                  </a:cubicBezTo>
                  <a:cubicBezTo>
                    <a:pt x="777" y="26"/>
                    <a:pt x="776" y="26"/>
                    <a:pt x="775" y="26"/>
                  </a:cubicBezTo>
                  <a:cubicBezTo>
                    <a:pt x="772" y="25"/>
                    <a:pt x="769" y="24"/>
                    <a:pt x="766" y="24"/>
                  </a:cubicBezTo>
                  <a:cubicBezTo>
                    <a:pt x="766" y="24"/>
                    <a:pt x="766" y="24"/>
                    <a:pt x="766" y="24"/>
                  </a:cubicBezTo>
                  <a:cubicBezTo>
                    <a:pt x="765" y="24"/>
                    <a:pt x="765" y="24"/>
                    <a:pt x="764" y="23"/>
                  </a:cubicBezTo>
                  <a:cubicBezTo>
                    <a:pt x="762" y="23"/>
                    <a:pt x="760" y="23"/>
                    <a:pt x="758" y="22"/>
                  </a:cubicBezTo>
                  <a:cubicBezTo>
                    <a:pt x="756" y="22"/>
                    <a:pt x="755" y="22"/>
                    <a:pt x="754" y="22"/>
                  </a:cubicBezTo>
                  <a:cubicBezTo>
                    <a:pt x="752" y="21"/>
                    <a:pt x="750" y="21"/>
                    <a:pt x="748" y="21"/>
                  </a:cubicBezTo>
                  <a:cubicBezTo>
                    <a:pt x="747" y="21"/>
                    <a:pt x="747" y="21"/>
                    <a:pt x="747" y="21"/>
                  </a:cubicBezTo>
                  <a:cubicBezTo>
                    <a:pt x="746" y="20"/>
                    <a:pt x="746" y="20"/>
                    <a:pt x="745" y="20"/>
                  </a:cubicBezTo>
                  <a:cubicBezTo>
                    <a:pt x="743" y="20"/>
                    <a:pt x="741" y="20"/>
                    <a:pt x="739" y="19"/>
                  </a:cubicBezTo>
                  <a:cubicBezTo>
                    <a:pt x="738" y="19"/>
                    <a:pt x="737" y="19"/>
                    <a:pt x="735" y="19"/>
                  </a:cubicBezTo>
                  <a:cubicBezTo>
                    <a:pt x="734" y="18"/>
                    <a:pt x="732" y="18"/>
                    <a:pt x="730" y="18"/>
                  </a:cubicBezTo>
                  <a:cubicBezTo>
                    <a:pt x="730" y="18"/>
                    <a:pt x="729" y="18"/>
                    <a:pt x="728" y="18"/>
                  </a:cubicBezTo>
                  <a:cubicBezTo>
                    <a:pt x="728" y="17"/>
                    <a:pt x="728" y="17"/>
                    <a:pt x="727" y="17"/>
                  </a:cubicBezTo>
                  <a:cubicBezTo>
                    <a:pt x="722" y="17"/>
                    <a:pt x="716" y="16"/>
                    <a:pt x="710" y="15"/>
                  </a:cubicBezTo>
                  <a:cubicBezTo>
                    <a:pt x="709" y="15"/>
                    <a:pt x="709" y="15"/>
                    <a:pt x="709" y="15"/>
                  </a:cubicBezTo>
                  <a:cubicBezTo>
                    <a:pt x="708" y="15"/>
                    <a:pt x="708" y="15"/>
                    <a:pt x="708" y="15"/>
                  </a:cubicBezTo>
                  <a:cubicBezTo>
                    <a:pt x="703" y="14"/>
                    <a:pt x="698" y="13"/>
                    <a:pt x="692" y="13"/>
                  </a:cubicBezTo>
                  <a:cubicBezTo>
                    <a:pt x="692" y="13"/>
                    <a:pt x="691" y="13"/>
                    <a:pt x="691" y="12"/>
                  </a:cubicBezTo>
                  <a:cubicBezTo>
                    <a:pt x="690" y="12"/>
                    <a:pt x="690" y="12"/>
                    <a:pt x="690" y="12"/>
                  </a:cubicBezTo>
                  <a:cubicBezTo>
                    <a:pt x="684" y="12"/>
                    <a:pt x="679" y="11"/>
                    <a:pt x="673" y="10"/>
                  </a:cubicBezTo>
                  <a:cubicBezTo>
                    <a:pt x="672" y="10"/>
                    <a:pt x="672" y="10"/>
                    <a:pt x="672" y="10"/>
                  </a:cubicBezTo>
                  <a:cubicBezTo>
                    <a:pt x="672" y="10"/>
                    <a:pt x="671" y="10"/>
                    <a:pt x="671" y="10"/>
                  </a:cubicBezTo>
                  <a:cubicBezTo>
                    <a:pt x="666" y="10"/>
                    <a:pt x="660" y="9"/>
                    <a:pt x="655" y="9"/>
                  </a:cubicBezTo>
                  <a:cubicBezTo>
                    <a:pt x="654" y="8"/>
                    <a:pt x="654" y="8"/>
                    <a:pt x="654" y="8"/>
                  </a:cubicBezTo>
                  <a:cubicBezTo>
                    <a:pt x="653" y="8"/>
                    <a:pt x="653" y="8"/>
                    <a:pt x="652" y="8"/>
                  </a:cubicBezTo>
                  <a:cubicBezTo>
                    <a:pt x="642" y="7"/>
                    <a:pt x="631" y="6"/>
                    <a:pt x="621" y="6"/>
                  </a:cubicBezTo>
                  <a:cubicBezTo>
                    <a:pt x="620" y="6"/>
                    <a:pt x="620" y="5"/>
                    <a:pt x="619" y="5"/>
                  </a:cubicBezTo>
                  <a:cubicBezTo>
                    <a:pt x="619" y="5"/>
                    <a:pt x="618" y="5"/>
                    <a:pt x="617" y="5"/>
                  </a:cubicBezTo>
                  <a:cubicBezTo>
                    <a:pt x="613" y="5"/>
                    <a:pt x="609" y="5"/>
                    <a:pt x="604" y="4"/>
                  </a:cubicBezTo>
                  <a:cubicBezTo>
                    <a:pt x="604" y="4"/>
                    <a:pt x="604" y="4"/>
                    <a:pt x="604" y="4"/>
                  </a:cubicBezTo>
                  <a:cubicBezTo>
                    <a:pt x="603" y="4"/>
                    <a:pt x="603" y="4"/>
                    <a:pt x="602" y="4"/>
                  </a:cubicBezTo>
                  <a:cubicBezTo>
                    <a:pt x="598" y="4"/>
                    <a:pt x="595" y="4"/>
                    <a:pt x="591" y="3"/>
                  </a:cubicBezTo>
                  <a:cubicBezTo>
                    <a:pt x="591" y="3"/>
                    <a:pt x="590" y="3"/>
                    <a:pt x="589" y="3"/>
                  </a:cubicBezTo>
                  <a:cubicBezTo>
                    <a:pt x="588" y="3"/>
                    <a:pt x="587" y="3"/>
                    <a:pt x="587" y="3"/>
                  </a:cubicBezTo>
                  <a:cubicBezTo>
                    <a:pt x="584" y="3"/>
                    <a:pt x="581" y="3"/>
                    <a:pt x="579" y="3"/>
                  </a:cubicBezTo>
                  <a:cubicBezTo>
                    <a:pt x="578" y="3"/>
                    <a:pt x="577" y="3"/>
                    <a:pt x="576" y="3"/>
                  </a:cubicBezTo>
                  <a:cubicBezTo>
                    <a:pt x="575" y="3"/>
                    <a:pt x="574" y="3"/>
                    <a:pt x="573" y="2"/>
                  </a:cubicBezTo>
                  <a:cubicBezTo>
                    <a:pt x="572" y="2"/>
                    <a:pt x="570" y="2"/>
                    <a:pt x="569" y="2"/>
                  </a:cubicBezTo>
                  <a:cubicBezTo>
                    <a:pt x="568" y="2"/>
                    <a:pt x="566" y="2"/>
                    <a:pt x="565" y="2"/>
                  </a:cubicBezTo>
                  <a:cubicBezTo>
                    <a:pt x="564" y="2"/>
                    <a:pt x="563" y="2"/>
                    <a:pt x="563" y="2"/>
                  </a:cubicBezTo>
                  <a:cubicBezTo>
                    <a:pt x="561" y="2"/>
                    <a:pt x="559" y="2"/>
                    <a:pt x="557" y="2"/>
                  </a:cubicBezTo>
                  <a:cubicBezTo>
                    <a:pt x="556" y="2"/>
                    <a:pt x="555" y="2"/>
                    <a:pt x="554" y="2"/>
                  </a:cubicBezTo>
                  <a:cubicBezTo>
                    <a:pt x="554" y="2"/>
                    <a:pt x="553" y="1"/>
                    <a:pt x="552" y="1"/>
                  </a:cubicBezTo>
                  <a:cubicBezTo>
                    <a:pt x="550" y="1"/>
                    <a:pt x="548" y="1"/>
                    <a:pt x="546" y="1"/>
                  </a:cubicBezTo>
                  <a:cubicBezTo>
                    <a:pt x="545" y="1"/>
                    <a:pt x="544" y="1"/>
                    <a:pt x="543" y="1"/>
                  </a:cubicBezTo>
                  <a:cubicBezTo>
                    <a:pt x="542" y="1"/>
                    <a:pt x="541" y="1"/>
                    <a:pt x="540" y="1"/>
                  </a:cubicBezTo>
                  <a:cubicBezTo>
                    <a:pt x="539" y="1"/>
                    <a:pt x="538" y="1"/>
                    <a:pt x="537" y="1"/>
                  </a:cubicBezTo>
                  <a:cubicBezTo>
                    <a:pt x="536" y="1"/>
                    <a:pt x="536" y="1"/>
                    <a:pt x="535" y="1"/>
                  </a:cubicBezTo>
                  <a:cubicBezTo>
                    <a:pt x="533" y="1"/>
                    <a:pt x="530" y="1"/>
                    <a:pt x="527" y="1"/>
                  </a:cubicBezTo>
                  <a:cubicBezTo>
                    <a:pt x="527" y="1"/>
                    <a:pt x="527" y="1"/>
                    <a:pt x="527" y="1"/>
                  </a:cubicBezTo>
                  <a:cubicBezTo>
                    <a:pt x="526" y="1"/>
                    <a:pt x="526" y="1"/>
                    <a:pt x="526" y="1"/>
                  </a:cubicBezTo>
                  <a:cubicBezTo>
                    <a:pt x="524" y="0"/>
                    <a:pt x="522" y="0"/>
                    <a:pt x="520" y="0"/>
                  </a:cubicBezTo>
                  <a:cubicBezTo>
                    <a:pt x="519" y="0"/>
                    <a:pt x="518" y="0"/>
                    <a:pt x="516" y="0"/>
                  </a:cubicBezTo>
                  <a:cubicBezTo>
                    <a:pt x="516" y="0"/>
                    <a:pt x="515" y="0"/>
                    <a:pt x="514" y="0"/>
                  </a:cubicBezTo>
                  <a:cubicBezTo>
                    <a:pt x="513" y="0"/>
                    <a:pt x="512" y="0"/>
                    <a:pt x="512" y="0"/>
                  </a:cubicBezTo>
                  <a:cubicBezTo>
                    <a:pt x="512" y="0"/>
                    <a:pt x="512" y="0"/>
                    <a:pt x="512" y="0"/>
                  </a:cubicBezTo>
                  <a:cubicBezTo>
                    <a:pt x="509" y="0"/>
                    <a:pt x="507" y="0"/>
                    <a:pt x="504" y="0"/>
                  </a:cubicBezTo>
                  <a:cubicBezTo>
                    <a:pt x="504" y="0"/>
                    <a:pt x="504" y="0"/>
                    <a:pt x="504" y="0"/>
                  </a:cubicBezTo>
                  <a:cubicBezTo>
                    <a:pt x="503" y="0"/>
                    <a:pt x="503" y="0"/>
                    <a:pt x="503" y="0"/>
                  </a:cubicBezTo>
                  <a:cubicBezTo>
                    <a:pt x="501" y="0"/>
                    <a:pt x="500" y="0"/>
                    <a:pt x="498" y="0"/>
                  </a:cubicBezTo>
                  <a:cubicBezTo>
                    <a:pt x="496" y="0"/>
                    <a:pt x="494" y="0"/>
                    <a:pt x="492" y="0"/>
                  </a:cubicBezTo>
                  <a:cubicBezTo>
                    <a:pt x="492" y="0"/>
                    <a:pt x="492" y="0"/>
                    <a:pt x="492" y="0"/>
                  </a:cubicBezTo>
                  <a:cubicBezTo>
                    <a:pt x="490" y="0"/>
                    <a:pt x="488" y="0"/>
                    <a:pt x="486" y="0"/>
                  </a:cubicBezTo>
                  <a:cubicBezTo>
                    <a:pt x="484" y="0"/>
                    <a:pt x="482" y="0"/>
                    <a:pt x="480" y="0"/>
                  </a:cubicBezTo>
                  <a:cubicBezTo>
                    <a:pt x="478" y="0"/>
                    <a:pt x="475" y="0"/>
                    <a:pt x="473" y="0"/>
                  </a:cubicBezTo>
                  <a:cubicBezTo>
                    <a:pt x="472" y="0"/>
                    <a:pt x="470" y="0"/>
                    <a:pt x="468" y="0"/>
                  </a:cubicBezTo>
                  <a:cubicBezTo>
                    <a:pt x="467" y="0"/>
                    <a:pt x="467" y="0"/>
                    <a:pt x="467" y="0"/>
                  </a:cubicBezTo>
                  <a:cubicBezTo>
                    <a:pt x="465" y="0"/>
                    <a:pt x="464" y="0"/>
                    <a:pt x="462" y="0"/>
                  </a:cubicBezTo>
                  <a:cubicBezTo>
                    <a:pt x="460" y="0"/>
                    <a:pt x="458" y="0"/>
                    <a:pt x="456" y="0"/>
                  </a:cubicBezTo>
                  <a:cubicBezTo>
                    <a:pt x="454" y="0"/>
                    <a:pt x="452" y="0"/>
                    <a:pt x="451" y="0"/>
                  </a:cubicBezTo>
                  <a:cubicBezTo>
                    <a:pt x="449" y="0"/>
                    <a:pt x="447" y="0"/>
                    <a:pt x="445" y="0"/>
                  </a:cubicBezTo>
                  <a:cubicBezTo>
                    <a:pt x="445" y="0"/>
                    <a:pt x="445" y="0"/>
                    <a:pt x="445" y="0"/>
                  </a:cubicBezTo>
                  <a:cubicBezTo>
                    <a:pt x="444" y="0"/>
                    <a:pt x="444" y="0"/>
                    <a:pt x="444" y="0"/>
                  </a:cubicBezTo>
                  <a:cubicBezTo>
                    <a:pt x="442" y="0"/>
                    <a:pt x="441" y="0"/>
                    <a:pt x="439" y="0"/>
                  </a:cubicBezTo>
                  <a:cubicBezTo>
                    <a:pt x="438" y="0"/>
                    <a:pt x="436" y="0"/>
                    <a:pt x="434" y="0"/>
                  </a:cubicBezTo>
                  <a:cubicBezTo>
                    <a:pt x="432" y="0"/>
                    <a:pt x="430" y="0"/>
                    <a:pt x="428" y="0"/>
                  </a:cubicBezTo>
                  <a:cubicBezTo>
                    <a:pt x="426" y="0"/>
                    <a:pt x="424" y="0"/>
                    <a:pt x="422" y="0"/>
                  </a:cubicBezTo>
                  <a:cubicBezTo>
                    <a:pt x="421" y="0"/>
                    <a:pt x="421" y="0"/>
                    <a:pt x="421" y="0"/>
                  </a:cubicBezTo>
                  <a:cubicBezTo>
                    <a:pt x="421" y="0"/>
                    <a:pt x="421" y="0"/>
                    <a:pt x="421" y="0"/>
                  </a:cubicBezTo>
                  <a:cubicBezTo>
                    <a:pt x="419" y="0"/>
                    <a:pt x="417" y="0"/>
                    <a:pt x="415" y="0"/>
                  </a:cubicBezTo>
                  <a:cubicBezTo>
                    <a:pt x="413" y="0"/>
                    <a:pt x="411" y="0"/>
                    <a:pt x="409" y="0"/>
                  </a:cubicBezTo>
                  <a:cubicBezTo>
                    <a:pt x="407" y="0"/>
                    <a:pt x="405" y="0"/>
                    <a:pt x="403" y="0"/>
                  </a:cubicBezTo>
                  <a:cubicBezTo>
                    <a:pt x="401" y="0"/>
                    <a:pt x="400" y="0"/>
                    <a:pt x="398" y="0"/>
                  </a:cubicBezTo>
                  <a:cubicBezTo>
                    <a:pt x="398" y="0"/>
                    <a:pt x="398" y="0"/>
                    <a:pt x="398" y="0"/>
                  </a:cubicBezTo>
                  <a:cubicBezTo>
                    <a:pt x="397" y="0"/>
                    <a:pt x="397" y="0"/>
                    <a:pt x="396" y="0"/>
                  </a:cubicBezTo>
                  <a:cubicBezTo>
                    <a:pt x="393" y="1"/>
                    <a:pt x="390" y="1"/>
                    <a:pt x="387" y="1"/>
                  </a:cubicBezTo>
                  <a:cubicBezTo>
                    <a:pt x="383" y="1"/>
                    <a:pt x="379" y="1"/>
                    <a:pt x="375" y="1"/>
                  </a:cubicBezTo>
                  <a:cubicBezTo>
                    <a:pt x="374" y="1"/>
                    <a:pt x="372" y="1"/>
                    <a:pt x="370" y="1"/>
                  </a:cubicBezTo>
                  <a:cubicBezTo>
                    <a:pt x="361" y="2"/>
                    <a:pt x="352" y="2"/>
                    <a:pt x="344" y="3"/>
                  </a:cubicBezTo>
                  <a:cubicBezTo>
                    <a:pt x="343" y="3"/>
                    <a:pt x="343" y="3"/>
                    <a:pt x="342" y="3"/>
                  </a:cubicBezTo>
                  <a:cubicBezTo>
                    <a:pt x="336" y="3"/>
                    <a:pt x="330" y="3"/>
                    <a:pt x="324" y="4"/>
                  </a:cubicBezTo>
                  <a:cubicBezTo>
                    <a:pt x="323" y="4"/>
                    <a:pt x="323" y="4"/>
                    <a:pt x="322" y="4"/>
                  </a:cubicBezTo>
                  <a:cubicBezTo>
                    <a:pt x="322" y="4"/>
                    <a:pt x="321" y="4"/>
                    <a:pt x="321" y="4"/>
                  </a:cubicBezTo>
                  <a:cubicBezTo>
                    <a:pt x="320" y="4"/>
                    <a:pt x="319" y="4"/>
                    <a:pt x="318" y="4"/>
                  </a:cubicBezTo>
                  <a:cubicBezTo>
                    <a:pt x="316" y="4"/>
                    <a:pt x="314" y="4"/>
                    <a:pt x="313" y="5"/>
                  </a:cubicBezTo>
                  <a:cubicBezTo>
                    <a:pt x="312" y="5"/>
                    <a:pt x="311" y="5"/>
                    <a:pt x="310" y="5"/>
                  </a:cubicBezTo>
                  <a:cubicBezTo>
                    <a:pt x="310" y="5"/>
                    <a:pt x="309" y="5"/>
                    <a:pt x="308" y="5"/>
                  </a:cubicBezTo>
                  <a:cubicBezTo>
                    <a:pt x="306" y="5"/>
                    <a:pt x="305" y="5"/>
                    <a:pt x="303" y="5"/>
                  </a:cubicBezTo>
                  <a:cubicBezTo>
                    <a:pt x="302" y="5"/>
                    <a:pt x="301" y="5"/>
                    <a:pt x="300" y="5"/>
                  </a:cubicBezTo>
                  <a:cubicBezTo>
                    <a:pt x="299" y="6"/>
                    <a:pt x="298" y="6"/>
                    <a:pt x="298" y="6"/>
                  </a:cubicBezTo>
                  <a:cubicBezTo>
                    <a:pt x="296" y="6"/>
                    <a:pt x="295" y="6"/>
                    <a:pt x="294" y="6"/>
                  </a:cubicBezTo>
                  <a:cubicBezTo>
                    <a:pt x="293" y="6"/>
                    <a:pt x="291" y="6"/>
                    <a:pt x="289" y="6"/>
                  </a:cubicBezTo>
                  <a:cubicBezTo>
                    <a:pt x="289" y="6"/>
                    <a:pt x="288" y="6"/>
                    <a:pt x="288" y="6"/>
                  </a:cubicBezTo>
                  <a:cubicBezTo>
                    <a:pt x="287" y="7"/>
                    <a:pt x="287" y="7"/>
                    <a:pt x="286" y="7"/>
                  </a:cubicBezTo>
                  <a:cubicBezTo>
                    <a:pt x="284" y="7"/>
                    <a:pt x="282" y="7"/>
                    <a:pt x="280" y="7"/>
                  </a:cubicBezTo>
                  <a:cubicBezTo>
                    <a:pt x="279" y="7"/>
                    <a:pt x="279" y="7"/>
                    <a:pt x="278" y="7"/>
                  </a:cubicBezTo>
                  <a:cubicBezTo>
                    <a:pt x="278" y="7"/>
                    <a:pt x="278" y="7"/>
                    <a:pt x="278" y="7"/>
                  </a:cubicBezTo>
                  <a:cubicBezTo>
                    <a:pt x="276" y="7"/>
                    <a:pt x="275" y="8"/>
                    <a:pt x="273" y="8"/>
                  </a:cubicBezTo>
                  <a:cubicBezTo>
                    <a:pt x="272" y="8"/>
                    <a:pt x="270" y="8"/>
                    <a:pt x="269" y="8"/>
                  </a:cubicBezTo>
                  <a:cubicBezTo>
                    <a:pt x="268" y="8"/>
                    <a:pt x="268" y="8"/>
                    <a:pt x="268" y="8"/>
                  </a:cubicBezTo>
                  <a:cubicBezTo>
                    <a:pt x="267" y="8"/>
                    <a:pt x="267" y="8"/>
                    <a:pt x="267" y="8"/>
                  </a:cubicBezTo>
                  <a:cubicBezTo>
                    <a:pt x="265" y="9"/>
                    <a:pt x="263" y="9"/>
                    <a:pt x="261" y="9"/>
                  </a:cubicBezTo>
                  <a:cubicBezTo>
                    <a:pt x="260" y="9"/>
                    <a:pt x="259" y="9"/>
                    <a:pt x="259" y="9"/>
                  </a:cubicBezTo>
                  <a:cubicBezTo>
                    <a:pt x="258" y="9"/>
                    <a:pt x="258" y="9"/>
                    <a:pt x="257" y="9"/>
                  </a:cubicBezTo>
                  <a:cubicBezTo>
                    <a:pt x="256" y="9"/>
                    <a:pt x="255" y="10"/>
                    <a:pt x="254" y="10"/>
                  </a:cubicBezTo>
                  <a:cubicBezTo>
                    <a:pt x="252" y="10"/>
                    <a:pt x="250" y="10"/>
                    <a:pt x="248" y="10"/>
                  </a:cubicBezTo>
                  <a:cubicBezTo>
                    <a:pt x="246" y="11"/>
                    <a:pt x="244" y="11"/>
                    <a:pt x="242" y="11"/>
                  </a:cubicBezTo>
                  <a:cubicBezTo>
                    <a:pt x="241" y="11"/>
                    <a:pt x="240" y="11"/>
                    <a:pt x="239" y="11"/>
                  </a:cubicBezTo>
                  <a:cubicBezTo>
                    <a:pt x="238" y="11"/>
                    <a:pt x="238" y="11"/>
                    <a:pt x="238" y="11"/>
                  </a:cubicBezTo>
                  <a:cubicBezTo>
                    <a:pt x="237" y="12"/>
                    <a:pt x="236" y="12"/>
                    <a:pt x="236" y="12"/>
                  </a:cubicBezTo>
                  <a:cubicBezTo>
                    <a:pt x="234" y="12"/>
                    <a:pt x="231" y="12"/>
                    <a:pt x="229" y="12"/>
                  </a:cubicBezTo>
                  <a:cubicBezTo>
                    <a:pt x="227" y="13"/>
                    <a:pt x="225" y="13"/>
                    <a:pt x="223" y="13"/>
                  </a:cubicBezTo>
                  <a:cubicBezTo>
                    <a:pt x="222" y="13"/>
                    <a:pt x="221" y="13"/>
                    <a:pt x="220" y="14"/>
                  </a:cubicBezTo>
                  <a:cubicBezTo>
                    <a:pt x="219" y="14"/>
                    <a:pt x="219" y="14"/>
                    <a:pt x="218" y="14"/>
                  </a:cubicBezTo>
                  <a:cubicBezTo>
                    <a:pt x="217" y="14"/>
                    <a:pt x="216" y="14"/>
                    <a:pt x="215" y="14"/>
                  </a:cubicBezTo>
                  <a:cubicBezTo>
                    <a:pt x="214" y="14"/>
                    <a:pt x="213" y="14"/>
                    <a:pt x="212" y="15"/>
                  </a:cubicBezTo>
                  <a:cubicBezTo>
                    <a:pt x="211" y="15"/>
                    <a:pt x="210" y="15"/>
                    <a:pt x="209" y="15"/>
                  </a:cubicBezTo>
                  <a:cubicBezTo>
                    <a:pt x="208" y="15"/>
                    <a:pt x="208" y="15"/>
                    <a:pt x="208" y="15"/>
                  </a:cubicBezTo>
                  <a:cubicBezTo>
                    <a:pt x="205" y="16"/>
                    <a:pt x="203" y="16"/>
                    <a:pt x="201" y="16"/>
                  </a:cubicBezTo>
                  <a:cubicBezTo>
                    <a:pt x="201" y="16"/>
                    <a:pt x="201" y="16"/>
                    <a:pt x="201" y="16"/>
                  </a:cubicBezTo>
                  <a:cubicBezTo>
                    <a:pt x="200" y="16"/>
                    <a:pt x="199" y="16"/>
                    <a:pt x="199" y="16"/>
                  </a:cubicBezTo>
                  <a:cubicBezTo>
                    <a:pt x="197" y="17"/>
                    <a:pt x="195" y="17"/>
                    <a:pt x="193" y="17"/>
                  </a:cubicBezTo>
                  <a:cubicBezTo>
                    <a:pt x="192" y="17"/>
                    <a:pt x="192" y="17"/>
                    <a:pt x="192" y="17"/>
                  </a:cubicBezTo>
                  <a:cubicBezTo>
                    <a:pt x="189" y="18"/>
                    <a:pt x="186" y="18"/>
                    <a:pt x="182" y="19"/>
                  </a:cubicBezTo>
                  <a:cubicBezTo>
                    <a:pt x="182" y="19"/>
                    <a:pt x="182" y="19"/>
                    <a:pt x="182" y="19"/>
                  </a:cubicBezTo>
                  <a:cubicBezTo>
                    <a:pt x="181" y="19"/>
                    <a:pt x="181" y="19"/>
                    <a:pt x="180" y="19"/>
                  </a:cubicBezTo>
                  <a:cubicBezTo>
                    <a:pt x="177" y="20"/>
                    <a:pt x="175" y="20"/>
                    <a:pt x="173" y="20"/>
                  </a:cubicBezTo>
                  <a:cubicBezTo>
                    <a:pt x="172" y="21"/>
                    <a:pt x="172" y="21"/>
                    <a:pt x="172" y="21"/>
                  </a:cubicBezTo>
                  <a:cubicBezTo>
                    <a:pt x="171" y="21"/>
                    <a:pt x="171" y="21"/>
                    <a:pt x="170" y="21"/>
                  </a:cubicBezTo>
                  <a:cubicBezTo>
                    <a:pt x="167" y="21"/>
                    <a:pt x="164" y="22"/>
                    <a:pt x="161" y="23"/>
                  </a:cubicBezTo>
                  <a:cubicBezTo>
                    <a:pt x="161" y="23"/>
                    <a:pt x="160" y="23"/>
                    <a:pt x="160" y="23"/>
                  </a:cubicBezTo>
                  <a:cubicBezTo>
                    <a:pt x="159" y="23"/>
                    <a:pt x="159" y="23"/>
                    <a:pt x="159" y="23"/>
                  </a:cubicBezTo>
                  <a:cubicBezTo>
                    <a:pt x="155" y="24"/>
                    <a:pt x="150" y="24"/>
                    <a:pt x="146" y="25"/>
                  </a:cubicBezTo>
                  <a:cubicBezTo>
                    <a:pt x="146" y="25"/>
                    <a:pt x="146" y="25"/>
                    <a:pt x="145" y="25"/>
                  </a:cubicBezTo>
                  <a:cubicBezTo>
                    <a:pt x="144" y="26"/>
                    <a:pt x="144" y="26"/>
                    <a:pt x="143" y="26"/>
                  </a:cubicBezTo>
                  <a:cubicBezTo>
                    <a:pt x="142" y="26"/>
                    <a:pt x="140" y="26"/>
                    <a:pt x="139" y="27"/>
                  </a:cubicBezTo>
                  <a:cubicBezTo>
                    <a:pt x="137" y="27"/>
                    <a:pt x="136" y="27"/>
                    <a:pt x="135" y="28"/>
                  </a:cubicBezTo>
                  <a:cubicBezTo>
                    <a:pt x="133" y="28"/>
                    <a:pt x="132" y="28"/>
                    <a:pt x="131" y="28"/>
                  </a:cubicBezTo>
                  <a:cubicBezTo>
                    <a:pt x="130" y="29"/>
                    <a:pt x="129" y="29"/>
                    <a:pt x="128" y="29"/>
                  </a:cubicBezTo>
                  <a:cubicBezTo>
                    <a:pt x="128" y="29"/>
                    <a:pt x="128" y="29"/>
                    <a:pt x="127" y="29"/>
                  </a:cubicBezTo>
                  <a:cubicBezTo>
                    <a:pt x="125" y="30"/>
                    <a:pt x="123" y="30"/>
                    <a:pt x="122" y="30"/>
                  </a:cubicBezTo>
                  <a:cubicBezTo>
                    <a:pt x="121" y="31"/>
                    <a:pt x="120" y="31"/>
                    <a:pt x="119" y="31"/>
                  </a:cubicBezTo>
                  <a:cubicBezTo>
                    <a:pt x="116" y="32"/>
                    <a:pt x="114" y="32"/>
                    <a:pt x="112" y="33"/>
                  </a:cubicBezTo>
                  <a:cubicBezTo>
                    <a:pt x="112" y="33"/>
                    <a:pt x="111" y="33"/>
                    <a:pt x="111" y="33"/>
                  </a:cubicBezTo>
                  <a:cubicBezTo>
                    <a:pt x="111" y="33"/>
                    <a:pt x="111" y="33"/>
                    <a:pt x="111" y="33"/>
                  </a:cubicBezTo>
                  <a:cubicBezTo>
                    <a:pt x="108" y="34"/>
                    <a:pt x="105" y="34"/>
                    <a:pt x="103" y="35"/>
                  </a:cubicBezTo>
                  <a:cubicBezTo>
                    <a:pt x="102" y="35"/>
                    <a:pt x="101" y="35"/>
                    <a:pt x="100" y="36"/>
                  </a:cubicBezTo>
                  <a:cubicBezTo>
                    <a:pt x="98" y="36"/>
                    <a:pt x="96" y="37"/>
                    <a:pt x="95" y="37"/>
                  </a:cubicBezTo>
                  <a:cubicBezTo>
                    <a:pt x="94" y="37"/>
                    <a:pt x="94" y="37"/>
                    <a:pt x="93" y="37"/>
                  </a:cubicBezTo>
                  <a:cubicBezTo>
                    <a:pt x="93" y="38"/>
                    <a:pt x="92" y="38"/>
                    <a:pt x="92" y="38"/>
                  </a:cubicBezTo>
                  <a:cubicBezTo>
                    <a:pt x="90" y="38"/>
                    <a:pt x="89" y="39"/>
                    <a:pt x="87" y="39"/>
                  </a:cubicBezTo>
                  <a:cubicBezTo>
                    <a:pt x="86" y="39"/>
                    <a:pt x="85" y="40"/>
                    <a:pt x="84" y="40"/>
                  </a:cubicBezTo>
                  <a:cubicBezTo>
                    <a:pt x="83" y="41"/>
                    <a:pt x="81" y="41"/>
                    <a:pt x="79" y="42"/>
                  </a:cubicBezTo>
                  <a:cubicBezTo>
                    <a:pt x="79" y="42"/>
                    <a:pt x="78" y="42"/>
                    <a:pt x="78" y="42"/>
                  </a:cubicBezTo>
                  <a:cubicBezTo>
                    <a:pt x="77" y="42"/>
                    <a:pt x="77" y="42"/>
                    <a:pt x="77" y="42"/>
                  </a:cubicBezTo>
                  <a:cubicBezTo>
                    <a:pt x="75" y="43"/>
                    <a:pt x="73" y="43"/>
                    <a:pt x="71" y="44"/>
                  </a:cubicBezTo>
                  <a:cubicBezTo>
                    <a:pt x="70" y="44"/>
                    <a:pt x="70" y="45"/>
                    <a:pt x="69" y="45"/>
                  </a:cubicBezTo>
                  <a:cubicBezTo>
                    <a:pt x="67" y="45"/>
                    <a:pt x="66" y="46"/>
                    <a:pt x="65" y="46"/>
                  </a:cubicBezTo>
                  <a:cubicBezTo>
                    <a:pt x="64" y="47"/>
                    <a:pt x="64" y="47"/>
                    <a:pt x="64" y="47"/>
                  </a:cubicBezTo>
                  <a:cubicBezTo>
                    <a:pt x="63" y="47"/>
                    <a:pt x="63" y="47"/>
                    <a:pt x="62" y="47"/>
                  </a:cubicBezTo>
                  <a:cubicBezTo>
                    <a:pt x="61" y="48"/>
                    <a:pt x="60" y="48"/>
                    <a:pt x="59" y="48"/>
                  </a:cubicBezTo>
                  <a:cubicBezTo>
                    <a:pt x="58" y="49"/>
                    <a:pt x="57" y="49"/>
                    <a:pt x="56" y="49"/>
                  </a:cubicBezTo>
                  <a:cubicBezTo>
                    <a:pt x="55" y="50"/>
                    <a:pt x="54" y="50"/>
                    <a:pt x="53" y="51"/>
                  </a:cubicBezTo>
                  <a:cubicBezTo>
                    <a:pt x="52" y="51"/>
                    <a:pt x="52" y="51"/>
                    <a:pt x="52" y="51"/>
                  </a:cubicBezTo>
                  <a:cubicBezTo>
                    <a:pt x="52" y="51"/>
                    <a:pt x="51" y="51"/>
                    <a:pt x="51" y="52"/>
                  </a:cubicBezTo>
                  <a:cubicBezTo>
                    <a:pt x="50" y="52"/>
                    <a:pt x="49" y="52"/>
                    <a:pt x="48" y="53"/>
                  </a:cubicBezTo>
                  <a:cubicBezTo>
                    <a:pt x="47" y="53"/>
                    <a:pt x="46" y="53"/>
                    <a:pt x="46" y="54"/>
                  </a:cubicBezTo>
                  <a:cubicBezTo>
                    <a:pt x="45" y="54"/>
                    <a:pt x="44" y="54"/>
                    <a:pt x="43" y="55"/>
                  </a:cubicBezTo>
                  <a:cubicBezTo>
                    <a:pt x="43" y="55"/>
                    <a:pt x="42" y="55"/>
                    <a:pt x="42" y="55"/>
                  </a:cubicBezTo>
                  <a:cubicBezTo>
                    <a:pt x="42" y="55"/>
                    <a:pt x="41" y="56"/>
                    <a:pt x="41" y="56"/>
                  </a:cubicBezTo>
                  <a:cubicBezTo>
                    <a:pt x="40" y="56"/>
                    <a:pt x="39" y="57"/>
                    <a:pt x="39" y="57"/>
                  </a:cubicBezTo>
                  <a:cubicBezTo>
                    <a:pt x="38" y="57"/>
                    <a:pt x="37" y="58"/>
                    <a:pt x="36" y="58"/>
                  </a:cubicBezTo>
                  <a:cubicBezTo>
                    <a:pt x="36" y="58"/>
                    <a:pt x="35" y="59"/>
                    <a:pt x="34" y="59"/>
                  </a:cubicBezTo>
                  <a:cubicBezTo>
                    <a:pt x="33" y="60"/>
                    <a:pt x="33" y="60"/>
                    <a:pt x="33" y="60"/>
                  </a:cubicBezTo>
                  <a:cubicBezTo>
                    <a:pt x="33" y="60"/>
                    <a:pt x="32" y="60"/>
                    <a:pt x="32" y="60"/>
                  </a:cubicBezTo>
                  <a:cubicBezTo>
                    <a:pt x="31" y="60"/>
                    <a:pt x="31" y="61"/>
                    <a:pt x="30" y="61"/>
                  </a:cubicBezTo>
                  <a:cubicBezTo>
                    <a:pt x="30" y="62"/>
                    <a:pt x="29" y="62"/>
                    <a:pt x="28" y="62"/>
                  </a:cubicBezTo>
                  <a:cubicBezTo>
                    <a:pt x="28" y="63"/>
                    <a:pt x="27" y="63"/>
                    <a:pt x="26" y="63"/>
                  </a:cubicBezTo>
                  <a:cubicBezTo>
                    <a:pt x="26" y="64"/>
                    <a:pt x="26" y="64"/>
                    <a:pt x="26" y="64"/>
                  </a:cubicBezTo>
                  <a:cubicBezTo>
                    <a:pt x="25" y="64"/>
                    <a:pt x="25" y="64"/>
                    <a:pt x="24" y="64"/>
                  </a:cubicBezTo>
                  <a:cubicBezTo>
                    <a:pt x="24" y="65"/>
                    <a:pt x="23" y="65"/>
                    <a:pt x="23" y="65"/>
                  </a:cubicBezTo>
                  <a:cubicBezTo>
                    <a:pt x="22" y="66"/>
                    <a:pt x="22" y="66"/>
                    <a:pt x="21" y="67"/>
                  </a:cubicBezTo>
                  <a:cubicBezTo>
                    <a:pt x="21" y="67"/>
                    <a:pt x="20" y="67"/>
                    <a:pt x="20" y="68"/>
                  </a:cubicBezTo>
                  <a:cubicBezTo>
                    <a:pt x="19" y="68"/>
                    <a:pt x="19" y="68"/>
                    <a:pt x="19" y="68"/>
                  </a:cubicBezTo>
                  <a:cubicBezTo>
                    <a:pt x="19" y="68"/>
                    <a:pt x="18" y="69"/>
                    <a:pt x="18" y="69"/>
                  </a:cubicBezTo>
                  <a:cubicBezTo>
                    <a:pt x="17" y="69"/>
                    <a:pt x="17" y="70"/>
                    <a:pt x="17" y="70"/>
                  </a:cubicBezTo>
                  <a:cubicBezTo>
                    <a:pt x="16" y="70"/>
                    <a:pt x="15" y="71"/>
                    <a:pt x="15" y="71"/>
                  </a:cubicBezTo>
                  <a:cubicBezTo>
                    <a:pt x="15" y="71"/>
                    <a:pt x="14" y="72"/>
                    <a:pt x="14" y="72"/>
                  </a:cubicBezTo>
                  <a:cubicBezTo>
                    <a:pt x="13" y="72"/>
                    <a:pt x="13" y="72"/>
                    <a:pt x="13" y="72"/>
                  </a:cubicBezTo>
                  <a:cubicBezTo>
                    <a:pt x="13" y="73"/>
                    <a:pt x="13" y="73"/>
                    <a:pt x="12" y="73"/>
                  </a:cubicBezTo>
                  <a:cubicBezTo>
                    <a:pt x="11" y="74"/>
                    <a:pt x="11" y="74"/>
                    <a:pt x="11" y="74"/>
                  </a:cubicBezTo>
                  <a:cubicBezTo>
                    <a:pt x="11" y="75"/>
                    <a:pt x="10" y="76"/>
                    <a:pt x="9" y="76"/>
                  </a:cubicBezTo>
                  <a:cubicBezTo>
                    <a:pt x="9" y="77"/>
                    <a:pt x="9" y="77"/>
                    <a:pt x="9" y="77"/>
                  </a:cubicBezTo>
                  <a:cubicBezTo>
                    <a:pt x="9" y="77"/>
                    <a:pt x="9" y="77"/>
                    <a:pt x="9" y="77"/>
                  </a:cubicBezTo>
                  <a:cubicBezTo>
                    <a:pt x="8" y="77"/>
                    <a:pt x="8" y="78"/>
                    <a:pt x="7" y="79"/>
                  </a:cubicBezTo>
                  <a:cubicBezTo>
                    <a:pt x="7" y="79"/>
                    <a:pt x="7" y="79"/>
                    <a:pt x="7" y="79"/>
                  </a:cubicBezTo>
                  <a:cubicBezTo>
                    <a:pt x="6" y="80"/>
                    <a:pt x="6" y="80"/>
                    <a:pt x="5" y="81"/>
                  </a:cubicBezTo>
                  <a:cubicBezTo>
                    <a:pt x="5" y="81"/>
                    <a:pt x="5" y="81"/>
                    <a:pt x="5" y="81"/>
                  </a:cubicBezTo>
                  <a:cubicBezTo>
                    <a:pt x="5" y="82"/>
                    <a:pt x="5" y="82"/>
                    <a:pt x="5" y="82"/>
                  </a:cubicBezTo>
                  <a:cubicBezTo>
                    <a:pt x="4" y="82"/>
                    <a:pt x="4" y="83"/>
                    <a:pt x="4" y="83"/>
                  </a:cubicBezTo>
                  <a:cubicBezTo>
                    <a:pt x="3" y="84"/>
                    <a:pt x="3" y="84"/>
                    <a:pt x="3" y="84"/>
                  </a:cubicBezTo>
                  <a:cubicBezTo>
                    <a:pt x="3" y="86"/>
                    <a:pt x="3" y="86"/>
                    <a:pt x="3" y="86"/>
                  </a:cubicBezTo>
                  <a:cubicBezTo>
                    <a:pt x="2" y="86"/>
                    <a:pt x="2" y="86"/>
                    <a:pt x="2" y="86"/>
                  </a:cubicBezTo>
                  <a:cubicBezTo>
                    <a:pt x="2" y="86"/>
                    <a:pt x="2" y="87"/>
                    <a:pt x="2" y="87"/>
                  </a:cubicBezTo>
                  <a:cubicBezTo>
                    <a:pt x="2" y="87"/>
                    <a:pt x="2" y="88"/>
                    <a:pt x="2" y="88"/>
                  </a:cubicBezTo>
                  <a:cubicBezTo>
                    <a:pt x="1" y="89"/>
                    <a:pt x="1" y="89"/>
                    <a:pt x="1" y="89"/>
                  </a:cubicBezTo>
                  <a:cubicBezTo>
                    <a:pt x="1" y="90"/>
                    <a:pt x="1" y="90"/>
                    <a:pt x="1" y="90"/>
                  </a:cubicBezTo>
                  <a:cubicBezTo>
                    <a:pt x="1" y="91"/>
                    <a:pt x="1" y="91"/>
                    <a:pt x="1" y="91"/>
                  </a:cubicBezTo>
                  <a:cubicBezTo>
                    <a:pt x="1" y="91"/>
                    <a:pt x="0" y="92"/>
                    <a:pt x="0" y="93"/>
                  </a:cubicBezTo>
                  <a:cubicBezTo>
                    <a:pt x="0" y="94"/>
                    <a:pt x="0" y="94"/>
                    <a:pt x="0" y="95"/>
                  </a:cubicBezTo>
                  <a:cubicBezTo>
                    <a:pt x="0" y="96"/>
                    <a:pt x="0" y="96"/>
                    <a:pt x="0" y="96"/>
                  </a:cubicBezTo>
                  <a:cubicBezTo>
                    <a:pt x="0" y="96"/>
                    <a:pt x="0" y="96"/>
                    <a:pt x="0" y="97"/>
                  </a:cubicBezTo>
                  <a:cubicBezTo>
                    <a:pt x="0" y="97"/>
                    <a:pt x="1" y="98"/>
                    <a:pt x="1" y="98"/>
                  </a:cubicBezTo>
                  <a:cubicBezTo>
                    <a:pt x="1" y="99"/>
                    <a:pt x="1" y="99"/>
                    <a:pt x="1" y="99"/>
                  </a:cubicBezTo>
                  <a:cubicBezTo>
                    <a:pt x="1" y="100"/>
                    <a:pt x="1" y="100"/>
                    <a:pt x="1" y="100"/>
                  </a:cubicBezTo>
                  <a:cubicBezTo>
                    <a:pt x="1" y="101"/>
                    <a:pt x="1" y="101"/>
                    <a:pt x="1" y="101"/>
                  </a:cubicBezTo>
                  <a:cubicBezTo>
                    <a:pt x="1" y="102"/>
                    <a:pt x="1" y="102"/>
                    <a:pt x="1" y="102"/>
                  </a:cubicBezTo>
                  <a:cubicBezTo>
                    <a:pt x="2" y="103"/>
                    <a:pt x="2" y="103"/>
                    <a:pt x="2" y="104"/>
                  </a:cubicBezTo>
                  <a:cubicBezTo>
                    <a:pt x="15" y="132"/>
                    <a:pt x="28" y="160"/>
                    <a:pt x="41" y="188"/>
                  </a:cubicBezTo>
                  <a:cubicBezTo>
                    <a:pt x="75" y="263"/>
                    <a:pt x="110" y="339"/>
                    <a:pt x="145" y="414"/>
                  </a:cubicBezTo>
                  <a:cubicBezTo>
                    <a:pt x="145" y="415"/>
                    <a:pt x="145" y="416"/>
                    <a:pt x="146" y="417"/>
                  </a:cubicBezTo>
                  <a:cubicBezTo>
                    <a:pt x="146" y="417"/>
                    <a:pt x="146" y="417"/>
                    <a:pt x="146" y="417"/>
                  </a:cubicBezTo>
                  <a:cubicBezTo>
                    <a:pt x="146" y="418"/>
                    <a:pt x="146" y="418"/>
                    <a:pt x="147" y="418"/>
                  </a:cubicBezTo>
                  <a:cubicBezTo>
                    <a:pt x="147" y="419"/>
                    <a:pt x="147" y="419"/>
                    <a:pt x="147" y="419"/>
                  </a:cubicBezTo>
                  <a:cubicBezTo>
                    <a:pt x="148" y="420"/>
                    <a:pt x="148" y="420"/>
                    <a:pt x="148" y="420"/>
                  </a:cubicBezTo>
                  <a:cubicBezTo>
                    <a:pt x="148" y="420"/>
                    <a:pt x="148" y="420"/>
                    <a:pt x="148" y="420"/>
                  </a:cubicBezTo>
                  <a:cubicBezTo>
                    <a:pt x="148" y="420"/>
                    <a:pt x="148" y="420"/>
                    <a:pt x="148" y="420"/>
                  </a:cubicBezTo>
                  <a:cubicBezTo>
                    <a:pt x="148" y="421"/>
                    <a:pt x="148" y="421"/>
                    <a:pt x="148" y="421"/>
                  </a:cubicBezTo>
                  <a:cubicBezTo>
                    <a:pt x="149" y="421"/>
                    <a:pt x="149" y="422"/>
                    <a:pt x="150" y="422"/>
                  </a:cubicBezTo>
                  <a:cubicBezTo>
                    <a:pt x="150" y="423"/>
                    <a:pt x="150" y="423"/>
                    <a:pt x="150" y="423"/>
                  </a:cubicBezTo>
                  <a:cubicBezTo>
                    <a:pt x="150" y="423"/>
                    <a:pt x="150" y="423"/>
                    <a:pt x="150" y="423"/>
                  </a:cubicBezTo>
                  <a:cubicBezTo>
                    <a:pt x="150" y="423"/>
                    <a:pt x="150" y="423"/>
                    <a:pt x="150" y="423"/>
                  </a:cubicBezTo>
                  <a:cubicBezTo>
                    <a:pt x="151" y="424"/>
                    <a:pt x="151" y="424"/>
                    <a:pt x="151" y="424"/>
                  </a:cubicBezTo>
                  <a:cubicBezTo>
                    <a:pt x="152" y="425"/>
                    <a:pt x="152" y="425"/>
                    <a:pt x="152" y="425"/>
                  </a:cubicBezTo>
                  <a:cubicBezTo>
                    <a:pt x="153" y="426"/>
                    <a:pt x="153" y="426"/>
                    <a:pt x="153" y="426"/>
                  </a:cubicBezTo>
                  <a:cubicBezTo>
                    <a:pt x="153" y="426"/>
                    <a:pt x="153" y="426"/>
                    <a:pt x="153" y="426"/>
                  </a:cubicBezTo>
                  <a:cubicBezTo>
                    <a:pt x="153" y="426"/>
                    <a:pt x="153" y="426"/>
                    <a:pt x="153" y="426"/>
                  </a:cubicBezTo>
                  <a:cubicBezTo>
                    <a:pt x="154" y="427"/>
                    <a:pt x="154" y="427"/>
                    <a:pt x="154" y="427"/>
                  </a:cubicBezTo>
                  <a:cubicBezTo>
                    <a:pt x="155" y="427"/>
                    <a:pt x="155" y="427"/>
                    <a:pt x="156" y="428"/>
                  </a:cubicBezTo>
                  <a:cubicBezTo>
                    <a:pt x="156" y="429"/>
                    <a:pt x="156" y="429"/>
                    <a:pt x="156" y="429"/>
                  </a:cubicBezTo>
                  <a:cubicBezTo>
                    <a:pt x="157" y="429"/>
                    <a:pt x="157" y="429"/>
                    <a:pt x="157" y="429"/>
                  </a:cubicBezTo>
                  <a:cubicBezTo>
                    <a:pt x="157" y="429"/>
                    <a:pt x="157" y="429"/>
                    <a:pt x="157" y="429"/>
                  </a:cubicBezTo>
                  <a:cubicBezTo>
                    <a:pt x="158" y="430"/>
                    <a:pt x="158" y="430"/>
                    <a:pt x="158" y="430"/>
                  </a:cubicBezTo>
                  <a:cubicBezTo>
                    <a:pt x="159" y="430"/>
                    <a:pt x="159" y="430"/>
                    <a:pt x="159" y="430"/>
                  </a:cubicBezTo>
                  <a:cubicBezTo>
                    <a:pt x="160" y="431"/>
                    <a:pt x="160" y="431"/>
                    <a:pt x="161" y="431"/>
                  </a:cubicBezTo>
                  <a:cubicBezTo>
                    <a:pt x="161" y="431"/>
                    <a:pt x="161" y="431"/>
                    <a:pt x="161" y="431"/>
                  </a:cubicBezTo>
                  <a:cubicBezTo>
                    <a:pt x="161" y="432"/>
                    <a:pt x="161" y="432"/>
                    <a:pt x="161" y="432"/>
                  </a:cubicBezTo>
                  <a:cubicBezTo>
                    <a:pt x="162" y="432"/>
                    <a:pt x="162" y="432"/>
                    <a:pt x="162" y="432"/>
                  </a:cubicBezTo>
                  <a:cubicBezTo>
                    <a:pt x="162" y="432"/>
                    <a:pt x="163" y="433"/>
                    <a:pt x="164" y="434"/>
                  </a:cubicBezTo>
                  <a:cubicBezTo>
                    <a:pt x="165" y="434"/>
                    <a:pt x="165" y="434"/>
                    <a:pt x="165" y="434"/>
                  </a:cubicBezTo>
                  <a:cubicBezTo>
                    <a:pt x="166" y="434"/>
                    <a:pt x="166" y="434"/>
                    <a:pt x="166" y="434"/>
                  </a:cubicBezTo>
                  <a:cubicBezTo>
                    <a:pt x="166" y="435"/>
                    <a:pt x="166" y="435"/>
                    <a:pt x="166" y="435"/>
                  </a:cubicBezTo>
                  <a:cubicBezTo>
                    <a:pt x="167" y="435"/>
                    <a:pt x="167" y="435"/>
                    <a:pt x="167" y="435"/>
                  </a:cubicBezTo>
                  <a:cubicBezTo>
                    <a:pt x="168" y="435"/>
                    <a:pt x="168" y="436"/>
                    <a:pt x="169" y="436"/>
                  </a:cubicBezTo>
                  <a:cubicBezTo>
                    <a:pt x="169" y="436"/>
                    <a:pt x="170" y="436"/>
                    <a:pt x="171" y="437"/>
                  </a:cubicBezTo>
                  <a:cubicBezTo>
                    <a:pt x="171" y="437"/>
                    <a:pt x="171" y="437"/>
                    <a:pt x="171" y="437"/>
                  </a:cubicBezTo>
                  <a:cubicBezTo>
                    <a:pt x="172" y="437"/>
                    <a:pt x="172" y="437"/>
                    <a:pt x="172" y="437"/>
                  </a:cubicBezTo>
                  <a:cubicBezTo>
                    <a:pt x="172" y="437"/>
                    <a:pt x="172" y="437"/>
                    <a:pt x="172" y="437"/>
                  </a:cubicBezTo>
                  <a:cubicBezTo>
                    <a:pt x="173" y="438"/>
                    <a:pt x="174" y="438"/>
                    <a:pt x="174" y="438"/>
                  </a:cubicBezTo>
                  <a:cubicBezTo>
                    <a:pt x="175" y="439"/>
                    <a:pt x="175" y="439"/>
                    <a:pt x="176" y="439"/>
                  </a:cubicBezTo>
                  <a:cubicBezTo>
                    <a:pt x="176" y="439"/>
                    <a:pt x="177" y="439"/>
                    <a:pt x="177" y="440"/>
                  </a:cubicBezTo>
                  <a:cubicBezTo>
                    <a:pt x="178" y="440"/>
                    <a:pt x="178" y="440"/>
                    <a:pt x="178" y="440"/>
                  </a:cubicBezTo>
                  <a:cubicBezTo>
                    <a:pt x="179" y="440"/>
                    <a:pt x="179" y="440"/>
                    <a:pt x="180" y="441"/>
                  </a:cubicBezTo>
                  <a:cubicBezTo>
                    <a:pt x="180" y="441"/>
                    <a:pt x="182" y="441"/>
                    <a:pt x="183" y="442"/>
                  </a:cubicBezTo>
                  <a:cubicBezTo>
                    <a:pt x="183" y="442"/>
                    <a:pt x="183" y="442"/>
                    <a:pt x="183" y="442"/>
                  </a:cubicBezTo>
                  <a:cubicBezTo>
                    <a:pt x="184" y="442"/>
                    <a:pt x="184" y="442"/>
                    <a:pt x="184" y="442"/>
                  </a:cubicBezTo>
                  <a:cubicBezTo>
                    <a:pt x="185" y="443"/>
                    <a:pt x="185" y="443"/>
                    <a:pt x="185" y="443"/>
                  </a:cubicBezTo>
                  <a:cubicBezTo>
                    <a:pt x="186" y="443"/>
                    <a:pt x="187" y="443"/>
                    <a:pt x="188" y="444"/>
                  </a:cubicBezTo>
                  <a:cubicBezTo>
                    <a:pt x="188" y="444"/>
                    <a:pt x="188" y="444"/>
                    <a:pt x="189" y="444"/>
                  </a:cubicBezTo>
                  <a:cubicBezTo>
                    <a:pt x="190" y="444"/>
                    <a:pt x="191" y="445"/>
                    <a:pt x="191" y="445"/>
                  </a:cubicBezTo>
                  <a:cubicBezTo>
                    <a:pt x="192" y="445"/>
                    <a:pt x="192" y="445"/>
                    <a:pt x="192" y="445"/>
                  </a:cubicBezTo>
                  <a:cubicBezTo>
                    <a:pt x="192" y="445"/>
                    <a:pt x="192" y="445"/>
                    <a:pt x="192" y="445"/>
                  </a:cubicBezTo>
                  <a:cubicBezTo>
                    <a:pt x="192" y="445"/>
                    <a:pt x="193" y="446"/>
                    <a:pt x="194" y="446"/>
                  </a:cubicBezTo>
                  <a:cubicBezTo>
                    <a:pt x="195" y="446"/>
                    <a:pt x="195" y="446"/>
                    <a:pt x="196" y="447"/>
                  </a:cubicBezTo>
                  <a:cubicBezTo>
                    <a:pt x="197" y="447"/>
                    <a:pt x="198" y="447"/>
                    <a:pt x="198" y="447"/>
                  </a:cubicBezTo>
                  <a:cubicBezTo>
                    <a:pt x="199" y="447"/>
                    <a:pt x="199" y="447"/>
                    <a:pt x="199" y="447"/>
                  </a:cubicBezTo>
                  <a:cubicBezTo>
                    <a:pt x="199" y="448"/>
                    <a:pt x="199" y="448"/>
                    <a:pt x="199" y="448"/>
                  </a:cubicBezTo>
                  <a:cubicBezTo>
                    <a:pt x="200" y="448"/>
                    <a:pt x="200" y="448"/>
                    <a:pt x="201" y="448"/>
                  </a:cubicBezTo>
                  <a:cubicBezTo>
                    <a:pt x="202" y="448"/>
                    <a:pt x="202" y="448"/>
                    <a:pt x="203" y="449"/>
                  </a:cubicBezTo>
                  <a:cubicBezTo>
                    <a:pt x="204" y="449"/>
                    <a:pt x="205" y="449"/>
                    <a:pt x="206" y="450"/>
                  </a:cubicBezTo>
                  <a:cubicBezTo>
                    <a:pt x="207" y="450"/>
                    <a:pt x="207" y="450"/>
                    <a:pt x="207" y="450"/>
                  </a:cubicBezTo>
                  <a:cubicBezTo>
                    <a:pt x="207" y="450"/>
                    <a:pt x="207" y="450"/>
                    <a:pt x="207" y="450"/>
                  </a:cubicBezTo>
                  <a:cubicBezTo>
                    <a:pt x="208" y="450"/>
                    <a:pt x="208" y="450"/>
                    <a:pt x="208" y="450"/>
                  </a:cubicBezTo>
                  <a:cubicBezTo>
                    <a:pt x="210" y="450"/>
                    <a:pt x="211" y="451"/>
                    <a:pt x="213" y="451"/>
                  </a:cubicBezTo>
                  <a:cubicBezTo>
                    <a:pt x="213" y="451"/>
                    <a:pt x="214" y="452"/>
                    <a:pt x="214" y="452"/>
                  </a:cubicBezTo>
                  <a:cubicBezTo>
                    <a:pt x="215" y="452"/>
                    <a:pt x="215" y="452"/>
                    <a:pt x="215" y="452"/>
                  </a:cubicBezTo>
                  <a:cubicBezTo>
                    <a:pt x="216" y="452"/>
                    <a:pt x="216" y="452"/>
                    <a:pt x="217" y="452"/>
                  </a:cubicBezTo>
                  <a:cubicBezTo>
                    <a:pt x="217" y="452"/>
                    <a:pt x="218" y="453"/>
                    <a:pt x="218" y="453"/>
                  </a:cubicBezTo>
                  <a:cubicBezTo>
                    <a:pt x="219" y="453"/>
                    <a:pt x="220" y="453"/>
                    <a:pt x="220" y="453"/>
                  </a:cubicBezTo>
                  <a:cubicBezTo>
                    <a:pt x="221" y="453"/>
                    <a:pt x="223" y="454"/>
                    <a:pt x="224" y="454"/>
                  </a:cubicBezTo>
                  <a:cubicBezTo>
                    <a:pt x="224" y="454"/>
                    <a:pt x="225" y="454"/>
                    <a:pt x="225" y="454"/>
                  </a:cubicBezTo>
                  <a:cubicBezTo>
                    <a:pt x="226" y="454"/>
                    <a:pt x="226" y="454"/>
                    <a:pt x="226" y="454"/>
                  </a:cubicBezTo>
                  <a:cubicBezTo>
                    <a:pt x="226" y="455"/>
                    <a:pt x="226" y="455"/>
                    <a:pt x="226" y="455"/>
                  </a:cubicBezTo>
                  <a:cubicBezTo>
                    <a:pt x="227" y="455"/>
                    <a:pt x="228" y="455"/>
                    <a:pt x="229" y="455"/>
                  </a:cubicBezTo>
                  <a:cubicBezTo>
                    <a:pt x="230" y="455"/>
                    <a:pt x="231" y="456"/>
                    <a:pt x="232" y="456"/>
                  </a:cubicBezTo>
                  <a:cubicBezTo>
                    <a:pt x="233" y="456"/>
                    <a:pt x="233" y="456"/>
                    <a:pt x="234" y="456"/>
                  </a:cubicBezTo>
                  <a:cubicBezTo>
                    <a:pt x="235" y="456"/>
                    <a:pt x="235" y="457"/>
                    <a:pt x="236" y="457"/>
                  </a:cubicBezTo>
                  <a:cubicBezTo>
                    <a:pt x="236" y="457"/>
                    <a:pt x="237" y="457"/>
                    <a:pt x="238" y="457"/>
                  </a:cubicBezTo>
                  <a:cubicBezTo>
                    <a:pt x="239" y="457"/>
                    <a:pt x="240" y="458"/>
                    <a:pt x="242" y="458"/>
                  </a:cubicBezTo>
                  <a:cubicBezTo>
                    <a:pt x="242" y="458"/>
                    <a:pt x="243" y="458"/>
                    <a:pt x="244" y="458"/>
                  </a:cubicBezTo>
                  <a:cubicBezTo>
                    <a:pt x="245" y="458"/>
                    <a:pt x="245" y="458"/>
                    <a:pt x="245" y="458"/>
                  </a:cubicBezTo>
                  <a:cubicBezTo>
                    <a:pt x="245" y="459"/>
                    <a:pt x="245" y="459"/>
                    <a:pt x="246" y="459"/>
                  </a:cubicBezTo>
                  <a:cubicBezTo>
                    <a:pt x="247" y="459"/>
                    <a:pt x="248" y="459"/>
                    <a:pt x="250" y="459"/>
                  </a:cubicBezTo>
                  <a:cubicBezTo>
                    <a:pt x="250" y="460"/>
                    <a:pt x="251" y="460"/>
                    <a:pt x="252" y="460"/>
                  </a:cubicBezTo>
                  <a:cubicBezTo>
                    <a:pt x="253" y="460"/>
                    <a:pt x="254" y="460"/>
                    <a:pt x="255" y="460"/>
                  </a:cubicBezTo>
                  <a:cubicBezTo>
                    <a:pt x="256" y="461"/>
                    <a:pt x="256" y="461"/>
                    <a:pt x="256" y="461"/>
                  </a:cubicBezTo>
                  <a:cubicBezTo>
                    <a:pt x="257" y="461"/>
                    <a:pt x="258" y="461"/>
                    <a:pt x="259" y="461"/>
                  </a:cubicBezTo>
                  <a:cubicBezTo>
                    <a:pt x="260" y="461"/>
                    <a:pt x="261" y="461"/>
                    <a:pt x="262" y="462"/>
                  </a:cubicBezTo>
                  <a:cubicBezTo>
                    <a:pt x="263" y="462"/>
                    <a:pt x="264" y="462"/>
                    <a:pt x="265" y="462"/>
                  </a:cubicBezTo>
                  <a:cubicBezTo>
                    <a:pt x="266" y="462"/>
                    <a:pt x="266" y="462"/>
                    <a:pt x="266" y="462"/>
                  </a:cubicBezTo>
                  <a:cubicBezTo>
                    <a:pt x="267" y="462"/>
                    <a:pt x="267" y="462"/>
                    <a:pt x="267" y="462"/>
                  </a:cubicBezTo>
                  <a:cubicBezTo>
                    <a:pt x="267" y="462"/>
                    <a:pt x="268" y="463"/>
                    <a:pt x="269" y="463"/>
                  </a:cubicBezTo>
                  <a:cubicBezTo>
                    <a:pt x="270" y="463"/>
                    <a:pt x="271" y="463"/>
                    <a:pt x="272" y="463"/>
                  </a:cubicBezTo>
                  <a:cubicBezTo>
                    <a:pt x="273" y="463"/>
                    <a:pt x="274" y="464"/>
                    <a:pt x="276" y="464"/>
                  </a:cubicBezTo>
                  <a:cubicBezTo>
                    <a:pt x="277" y="464"/>
                    <a:pt x="278" y="464"/>
                    <a:pt x="278" y="464"/>
                  </a:cubicBezTo>
                  <a:cubicBezTo>
                    <a:pt x="280" y="464"/>
                    <a:pt x="282" y="465"/>
                    <a:pt x="284" y="465"/>
                  </a:cubicBezTo>
                  <a:cubicBezTo>
                    <a:pt x="285" y="465"/>
                    <a:pt x="285" y="465"/>
                    <a:pt x="286" y="465"/>
                  </a:cubicBezTo>
                  <a:cubicBezTo>
                    <a:pt x="287" y="465"/>
                    <a:pt x="288" y="466"/>
                    <a:pt x="289" y="466"/>
                  </a:cubicBezTo>
                  <a:cubicBezTo>
                    <a:pt x="289" y="466"/>
                    <a:pt x="290" y="466"/>
                    <a:pt x="290" y="466"/>
                  </a:cubicBezTo>
                  <a:cubicBezTo>
                    <a:pt x="291" y="466"/>
                    <a:pt x="291" y="466"/>
                    <a:pt x="292" y="466"/>
                  </a:cubicBezTo>
                  <a:cubicBezTo>
                    <a:pt x="293" y="466"/>
                    <a:pt x="293" y="466"/>
                    <a:pt x="293" y="466"/>
                  </a:cubicBezTo>
                  <a:cubicBezTo>
                    <a:pt x="293" y="466"/>
                    <a:pt x="293" y="466"/>
                    <a:pt x="293" y="466"/>
                  </a:cubicBezTo>
                  <a:cubicBezTo>
                    <a:pt x="296" y="467"/>
                    <a:pt x="298" y="467"/>
                    <a:pt x="301" y="467"/>
                  </a:cubicBezTo>
                  <a:cubicBezTo>
                    <a:pt x="301" y="467"/>
                    <a:pt x="302" y="467"/>
                    <a:pt x="302" y="467"/>
                  </a:cubicBezTo>
                  <a:cubicBezTo>
                    <a:pt x="305" y="468"/>
                    <a:pt x="307" y="468"/>
                    <a:pt x="309" y="468"/>
                  </a:cubicBezTo>
                  <a:cubicBezTo>
                    <a:pt x="311" y="468"/>
                    <a:pt x="311" y="468"/>
                    <a:pt x="311" y="468"/>
                  </a:cubicBezTo>
                  <a:cubicBezTo>
                    <a:pt x="311" y="468"/>
                    <a:pt x="312" y="469"/>
                    <a:pt x="313" y="469"/>
                  </a:cubicBezTo>
                  <a:cubicBezTo>
                    <a:pt x="314" y="469"/>
                    <a:pt x="314" y="469"/>
                    <a:pt x="315" y="469"/>
                  </a:cubicBezTo>
                  <a:cubicBezTo>
                    <a:pt x="319" y="469"/>
                    <a:pt x="322" y="470"/>
                    <a:pt x="326" y="470"/>
                  </a:cubicBezTo>
                  <a:cubicBezTo>
                    <a:pt x="327" y="470"/>
                    <a:pt x="327" y="470"/>
                    <a:pt x="328" y="470"/>
                  </a:cubicBezTo>
                  <a:cubicBezTo>
                    <a:pt x="328" y="470"/>
                    <a:pt x="328" y="470"/>
                    <a:pt x="328" y="470"/>
                  </a:cubicBezTo>
                  <a:cubicBezTo>
                    <a:pt x="329" y="470"/>
                    <a:pt x="329" y="470"/>
                    <a:pt x="329" y="470"/>
                  </a:cubicBezTo>
                  <a:cubicBezTo>
                    <a:pt x="333" y="471"/>
                    <a:pt x="336" y="471"/>
                    <a:pt x="340" y="471"/>
                  </a:cubicBezTo>
                  <a:cubicBezTo>
                    <a:pt x="341" y="471"/>
                    <a:pt x="341" y="471"/>
                    <a:pt x="341" y="471"/>
                  </a:cubicBezTo>
                  <a:cubicBezTo>
                    <a:pt x="341" y="471"/>
                    <a:pt x="342" y="471"/>
                    <a:pt x="343" y="471"/>
                  </a:cubicBezTo>
                  <a:cubicBezTo>
                    <a:pt x="343" y="472"/>
                    <a:pt x="344" y="472"/>
                    <a:pt x="344" y="472"/>
                  </a:cubicBezTo>
                  <a:cubicBezTo>
                    <a:pt x="347" y="472"/>
                    <a:pt x="350" y="472"/>
                    <a:pt x="353" y="472"/>
                  </a:cubicBezTo>
                  <a:cubicBezTo>
                    <a:pt x="353" y="472"/>
                    <a:pt x="353" y="472"/>
                    <a:pt x="353" y="472"/>
                  </a:cubicBezTo>
                  <a:cubicBezTo>
                    <a:pt x="355" y="472"/>
                    <a:pt x="357" y="473"/>
                    <a:pt x="359" y="473"/>
                  </a:cubicBezTo>
                  <a:cubicBezTo>
                    <a:pt x="360" y="473"/>
                    <a:pt x="360" y="473"/>
                    <a:pt x="360" y="473"/>
                  </a:cubicBezTo>
                  <a:cubicBezTo>
                    <a:pt x="360" y="473"/>
                    <a:pt x="360" y="473"/>
                    <a:pt x="360" y="473"/>
                  </a:cubicBezTo>
                  <a:cubicBezTo>
                    <a:pt x="362" y="473"/>
                    <a:pt x="364" y="473"/>
                    <a:pt x="366" y="473"/>
                  </a:cubicBezTo>
                  <a:cubicBezTo>
                    <a:pt x="367" y="473"/>
                    <a:pt x="367" y="473"/>
                    <a:pt x="367" y="473"/>
                  </a:cubicBezTo>
                  <a:cubicBezTo>
                    <a:pt x="370" y="473"/>
                    <a:pt x="372" y="474"/>
                    <a:pt x="374" y="474"/>
                  </a:cubicBezTo>
                  <a:cubicBezTo>
                    <a:pt x="374" y="474"/>
                    <a:pt x="375" y="474"/>
                    <a:pt x="375" y="474"/>
                  </a:cubicBezTo>
                  <a:cubicBezTo>
                    <a:pt x="377" y="474"/>
                    <a:pt x="378" y="474"/>
                    <a:pt x="380" y="474"/>
                  </a:cubicBezTo>
                  <a:cubicBezTo>
                    <a:pt x="381" y="474"/>
                    <a:pt x="381" y="474"/>
                    <a:pt x="382" y="474"/>
                  </a:cubicBezTo>
                  <a:cubicBezTo>
                    <a:pt x="384" y="474"/>
                    <a:pt x="387" y="474"/>
                    <a:pt x="389" y="474"/>
                  </a:cubicBezTo>
                  <a:cubicBezTo>
                    <a:pt x="390" y="475"/>
                    <a:pt x="390" y="475"/>
                    <a:pt x="390" y="475"/>
                  </a:cubicBezTo>
                  <a:cubicBezTo>
                    <a:pt x="390" y="475"/>
                    <a:pt x="390" y="475"/>
                    <a:pt x="390" y="475"/>
                  </a:cubicBezTo>
                  <a:cubicBezTo>
                    <a:pt x="391" y="475"/>
                    <a:pt x="393" y="475"/>
                    <a:pt x="394" y="475"/>
                  </a:cubicBezTo>
                  <a:cubicBezTo>
                    <a:pt x="395" y="475"/>
                    <a:pt x="396" y="475"/>
                    <a:pt x="396" y="475"/>
                  </a:cubicBezTo>
                  <a:cubicBezTo>
                    <a:pt x="399" y="475"/>
                    <a:pt x="402" y="475"/>
                    <a:pt x="404" y="475"/>
                  </a:cubicBezTo>
                  <a:cubicBezTo>
                    <a:pt x="405" y="475"/>
                    <a:pt x="405" y="475"/>
                    <a:pt x="406" y="475"/>
                  </a:cubicBezTo>
                  <a:cubicBezTo>
                    <a:pt x="407" y="475"/>
                    <a:pt x="408" y="475"/>
                    <a:pt x="409" y="475"/>
                  </a:cubicBezTo>
                  <a:cubicBezTo>
                    <a:pt x="409" y="475"/>
                    <a:pt x="410" y="475"/>
                    <a:pt x="411" y="475"/>
                  </a:cubicBezTo>
                  <a:cubicBezTo>
                    <a:pt x="414" y="475"/>
                    <a:pt x="417" y="476"/>
                    <a:pt x="420" y="476"/>
                  </a:cubicBezTo>
                  <a:cubicBezTo>
                    <a:pt x="421" y="476"/>
                    <a:pt x="421" y="476"/>
                    <a:pt x="421" y="476"/>
                  </a:cubicBezTo>
                  <a:cubicBezTo>
                    <a:pt x="421" y="476"/>
                    <a:pt x="421" y="476"/>
                    <a:pt x="421" y="476"/>
                  </a:cubicBezTo>
                  <a:cubicBezTo>
                    <a:pt x="422" y="476"/>
                    <a:pt x="423" y="476"/>
                    <a:pt x="424" y="476"/>
                  </a:cubicBezTo>
                  <a:cubicBezTo>
                    <a:pt x="424" y="476"/>
                    <a:pt x="425" y="476"/>
                    <a:pt x="426" y="476"/>
                  </a:cubicBezTo>
                  <a:cubicBezTo>
                    <a:pt x="429" y="476"/>
                    <a:pt x="433" y="476"/>
                    <a:pt x="437" y="476"/>
                  </a:cubicBezTo>
                  <a:cubicBezTo>
                    <a:pt x="437" y="476"/>
                    <a:pt x="437" y="476"/>
                    <a:pt x="437" y="476"/>
                  </a:cubicBezTo>
                  <a:cubicBezTo>
                    <a:pt x="438" y="476"/>
                    <a:pt x="438" y="476"/>
                    <a:pt x="439" y="476"/>
                  </a:cubicBezTo>
                  <a:cubicBezTo>
                    <a:pt x="439" y="476"/>
                    <a:pt x="440" y="476"/>
                    <a:pt x="440" y="476"/>
                  </a:cubicBezTo>
                  <a:cubicBezTo>
                    <a:pt x="445" y="476"/>
                    <a:pt x="450" y="476"/>
                    <a:pt x="454" y="476"/>
                  </a:cubicBezTo>
                  <a:cubicBezTo>
                    <a:pt x="459" y="476"/>
                    <a:pt x="464" y="476"/>
                    <a:pt x="469" y="476"/>
                  </a:cubicBezTo>
                  <a:cubicBezTo>
                    <a:pt x="470" y="476"/>
                    <a:pt x="470" y="476"/>
                    <a:pt x="470" y="476"/>
                  </a:cubicBezTo>
                  <a:cubicBezTo>
                    <a:pt x="471" y="476"/>
                    <a:pt x="472" y="476"/>
                    <a:pt x="473" y="476"/>
                  </a:cubicBezTo>
                  <a:cubicBezTo>
                    <a:pt x="473" y="476"/>
                    <a:pt x="474" y="476"/>
                    <a:pt x="475" y="476"/>
                  </a:cubicBezTo>
                  <a:cubicBezTo>
                    <a:pt x="478" y="476"/>
                    <a:pt x="481" y="476"/>
                    <a:pt x="484" y="476"/>
                  </a:cubicBezTo>
                  <a:cubicBezTo>
                    <a:pt x="485" y="476"/>
                    <a:pt x="485" y="476"/>
                    <a:pt x="486" y="476"/>
                  </a:cubicBezTo>
                  <a:cubicBezTo>
                    <a:pt x="488" y="476"/>
                    <a:pt x="489" y="476"/>
                    <a:pt x="491" y="476"/>
                  </a:cubicBezTo>
                  <a:cubicBezTo>
                    <a:pt x="492" y="476"/>
                    <a:pt x="492" y="476"/>
                    <a:pt x="492" y="476"/>
                  </a:cubicBezTo>
                  <a:cubicBezTo>
                    <a:pt x="493" y="476"/>
                    <a:pt x="493" y="476"/>
                    <a:pt x="493" y="476"/>
                  </a:cubicBezTo>
                  <a:cubicBezTo>
                    <a:pt x="495" y="476"/>
                    <a:pt x="497" y="476"/>
                    <a:pt x="499" y="476"/>
                  </a:cubicBezTo>
                  <a:cubicBezTo>
                    <a:pt x="500" y="476"/>
                    <a:pt x="500" y="476"/>
                    <a:pt x="501" y="476"/>
                  </a:cubicBezTo>
                  <a:cubicBezTo>
                    <a:pt x="502" y="476"/>
                    <a:pt x="503" y="476"/>
                    <a:pt x="504" y="475"/>
                  </a:cubicBezTo>
                  <a:cubicBezTo>
                    <a:pt x="505" y="475"/>
                    <a:pt x="506" y="475"/>
                    <a:pt x="507" y="475"/>
                  </a:cubicBezTo>
                  <a:cubicBezTo>
                    <a:pt x="509" y="475"/>
                    <a:pt x="512" y="475"/>
                    <a:pt x="514" y="475"/>
                  </a:cubicBezTo>
                  <a:cubicBezTo>
                    <a:pt x="515" y="475"/>
                    <a:pt x="515" y="475"/>
                    <a:pt x="516" y="475"/>
                  </a:cubicBezTo>
                  <a:cubicBezTo>
                    <a:pt x="517" y="475"/>
                    <a:pt x="517" y="475"/>
                    <a:pt x="518" y="475"/>
                  </a:cubicBezTo>
                  <a:cubicBezTo>
                    <a:pt x="518" y="475"/>
                    <a:pt x="518" y="475"/>
                    <a:pt x="518" y="475"/>
                  </a:cubicBezTo>
                  <a:cubicBezTo>
                    <a:pt x="522" y="475"/>
                    <a:pt x="525" y="475"/>
                    <a:pt x="529" y="475"/>
                  </a:cubicBezTo>
                  <a:cubicBezTo>
                    <a:pt x="529" y="475"/>
                    <a:pt x="530" y="475"/>
                    <a:pt x="530" y="475"/>
                  </a:cubicBezTo>
                  <a:cubicBezTo>
                    <a:pt x="531" y="474"/>
                    <a:pt x="531" y="474"/>
                    <a:pt x="531" y="474"/>
                  </a:cubicBezTo>
                  <a:cubicBezTo>
                    <a:pt x="535" y="474"/>
                    <a:pt x="539" y="474"/>
                    <a:pt x="542" y="474"/>
                  </a:cubicBezTo>
                  <a:cubicBezTo>
                    <a:pt x="543" y="474"/>
                    <a:pt x="543" y="474"/>
                    <a:pt x="543" y="474"/>
                  </a:cubicBezTo>
                  <a:cubicBezTo>
                    <a:pt x="544" y="474"/>
                    <a:pt x="544" y="474"/>
                    <a:pt x="544" y="474"/>
                  </a:cubicBezTo>
                  <a:cubicBezTo>
                    <a:pt x="544" y="474"/>
                    <a:pt x="545" y="474"/>
                    <a:pt x="545" y="474"/>
                  </a:cubicBezTo>
                  <a:cubicBezTo>
                    <a:pt x="549" y="473"/>
                    <a:pt x="553" y="473"/>
                    <a:pt x="558" y="473"/>
                  </a:cubicBezTo>
                  <a:cubicBezTo>
                    <a:pt x="558" y="473"/>
                    <a:pt x="558" y="473"/>
                    <a:pt x="558" y="473"/>
                  </a:cubicBezTo>
                  <a:cubicBezTo>
                    <a:pt x="559" y="473"/>
                    <a:pt x="559" y="473"/>
                    <a:pt x="560" y="473"/>
                  </a:cubicBezTo>
                  <a:cubicBezTo>
                    <a:pt x="564" y="472"/>
                    <a:pt x="568" y="472"/>
                    <a:pt x="572" y="472"/>
                  </a:cubicBezTo>
                  <a:cubicBezTo>
                    <a:pt x="572" y="472"/>
                    <a:pt x="573" y="472"/>
                    <a:pt x="573" y="472"/>
                  </a:cubicBezTo>
                  <a:cubicBezTo>
                    <a:pt x="573" y="472"/>
                    <a:pt x="573" y="472"/>
                    <a:pt x="573" y="472"/>
                  </a:cubicBezTo>
                  <a:cubicBezTo>
                    <a:pt x="574" y="472"/>
                    <a:pt x="575" y="472"/>
                    <a:pt x="575" y="472"/>
                  </a:cubicBezTo>
                  <a:cubicBezTo>
                    <a:pt x="579" y="471"/>
                    <a:pt x="582" y="471"/>
                    <a:pt x="585" y="471"/>
                  </a:cubicBezTo>
                  <a:cubicBezTo>
                    <a:pt x="586" y="471"/>
                    <a:pt x="586" y="471"/>
                    <a:pt x="586" y="471"/>
                  </a:cubicBezTo>
                  <a:cubicBezTo>
                    <a:pt x="587" y="471"/>
                    <a:pt x="588" y="471"/>
                    <a:pt x="589" y="470"/>
                  </a:cubicBezTo>
                  <a:cubicBezTo>
                    <a:pt x="589" y="470"/>
                    <a:pt x="590" y="470"/>
                    <a:pt x="590" y="470"/>
                  </a:cubicBezTo>
                  <a:cubicBezTo>
                    <a:pt x="593" y="470"/>
                    <a:pt x="596" y="470"/>
                    <a:pt x="599" y="469"/>
                  </a:cubicBezTo>
                  <a:cubicBezTo>
                    <a:pt x="599" y="469"/>
                    <a:pt x="599" y="469"/>
                    <a:pt x="599" y="469"/>
                  </a:cubicBezTo>
                  <a:cubicBezTo>
                    <a:pt x="601" y="469"/>
                    <a:pt x="602" y="469"/>
                    <a:pt x="604" y="469"/>
                  </a:cubicBezTo>
                  <a:cubicBezTo>
                    <a:pt x="605" y="469"/>
                    <a:pt x="605" y="469"/>
                    <a:pt x="605" y="469"/>
                  </a:cubicBezTo>
                  <a:cubicBezTo>
                    <a:pt x="607" y="469"/>
                    <a:pt x="609" y="468"/>
                    <a:pt x="612" y="468"/>
                  </a:cubicBezTo>
                  <a:cubicBezTo>
                    <a:pt x="612" y="468"/>
                    <a:pt x="612" y="468"/>
                    <a:pt x="612" y="468"/>
                  </a:cubicBezTo>
                  <a:cubicBezTo>
                    <a:pt x="614" y="468"/>
                    <a:pt x="616" y="468"/>
                    <a:pt x="618" y="467"/>
                  </a:cubicBezTo>
                  <a:cubicBezTo>
                    <a:pt x="619" y="467"/>
                    <a:pt x="619" y="467"/>
                    <a:pt x="619" y="467"/>
                  </a:cubicBezTo>
                  <a:cubicBezTo>
                    <a:pt x="620" y="467"/>
                    <a:pt x="622" y="467"/>
                    <a:pt x="624" y="467"/>
                  </a:cubicBezTo>
                  <a:cubicBezTo>
                    <a:pt x="625" y="466"/>
                    <a:pt x="625" y="466"/>
                    <a:pt x="625" y="466"/>
                  </a:cubicBezTo>
                  <a:cubicBezTo>
                    <a:pt x="627" y="466"/>
                    <a:pt x="630" y="466"/>
                    <a:pt x="632" y="465"/>
                  </a:cubicBezTo>
                  <a:cubicBezTo>
                    <a:pt x="633" y="465"/>
                    <a:pt x="633" y="465"/>
                    <a:pt x="633" y="465"/>
                  </a:cubicBezTo>
                  <a:cubicBezTo>
                    <a:pt x="634" y="465"/>
                    <a:pt x="635" y="465"/>
                    <a:pt x="636" y="465"/>
                  </a:cubicBezTo>
                  <a:cubicBezTo>
                    <a:pt x="636" y="465"/>
                    <a:pt x="637" y="465"/>
                    <a:pt x="637" y="465"/>
                  </a:cubicBezTo>
                  <a:cubicBezTo>
                    <a:pt x="640" y="464"/>
                    <a:pt x="643" y="464"/>
                    <a:pt x="645" y="464"/>
                  </a:cubicBezTo>
                  <a:cubicBezTo>
                    <a:pt x="646" y="464"/>
                    <a:pt x="646" y="463"/>
                    <a:pt x="647" y="463"/>
                  </a:cubicBezTo>
                  <a:cubicBezTo>
                    <a:pt x="647" y="463"/>
                    <a:pt x="647" y="463"/>
                    <a:pt x="647" y="463"/>
                  </a:cubicBezTo>
                  <a:cubicBezTo>
                    <a:pt x="648" y="463"/>
                    <a:pt x="648" y="463"/>
                    <a:pt x="649" y="463"/>
                  </a:cubicBezTo>
                  <a:cubicBezTo>
                    <a:pt x="652" y="463"/>
                    <a:pt x="655" y="462"/>
                    <a:pt x="658" y="462"/>
                  </a:cubicBezTo>
                  <a:cubicBezTo>
                    <a:pt x="659" y="461"/>
                    <a:pt x="659" y="461"/>
                    <a:pt x="659" y="461"/>
                  </a:cubicBezTo>
                  <a:cubicBezTo>
                    <a:pt x="659" y="461"/>
                    <a:pt x="659" y="461"/>
                    <a:pt x="659" y="461"/>
                  </a:cubicBezTo>
                  <a:cubicBezTo>
                    <a:pt x="660" y="461"/>
                    <a:pt x="660" y="461"/>
                    <a:pt x="660" y="461"/>
                  </a:cubicBezTo>
                  <a:cubicBezTo>
                    <a:pt x="663" y="461"/>
                    <a:pt x="666" y="460"/>
                    <a:pt x="668" y="460"/>
                  </a:cubicBezTo>
                  <a:cubicBezTo>
                    <a:pt x="669" y="460"/>
                    <a:pt x="669" y="460"/>
                    <a:pt x="669" y="460"/>
                  </a:cubicBezTo>
                  <a:cubicBezTo>
                    <a:pt x="670" y="459"/>
                    <a:pt x="670" y="459"/>
                    <a:pt x="670" y="459"/>
                  </a:cubicBezTo>
                  <a:cubicBezTo>
                    <a:pt x="670" y="459"/>
                    <a:pt x="671" y="459"/>
                    <a:pt x="671" y="459"/>
                  </a:cubicBezTo>
                  <a:cubicBezTo>
                    <a:pt x="673" y="459"/>
                    <a:pt x="675" y="458"/>
                    <a:pt x="677" y="458"/>
                  </a:cubicBezTo>
                  <a:cubicBezTo>
                    <a:pt x="678" y="458"/>
                    <a:pt x="678" y="458"/>
                    <a:pt x="678" y="458"/>
                  </a:cubicBezTo>
                  <a:cubicBezTo>
                    <a:pt x="679" y="458"/>
                    <a:pt x="680" y="458"/>
                    <a:pt x="680" y="457"/>
                  </a:cubicBezTo>
                  <a:cubicBezTo>
                    <a:pt x="681" y="457"/>
                    <a:pt x="681" y="457"/>
                    <a:pt x="682" y="457"/>
                  </a:cubicBezTo>
                  <a:cubicBezTo>
                    <a:pt x="683" y="457"/>
                    <a:pt x="685" y="457"/>
                    <a:pt x="686" y="456"/>
                  </a:cubicBezTo>
                  <a:cubicBezTo>
                    <a:pt x="687" y="456"/>
                    <a:pt x="687" y="456"/>
                    <a:pt x="688" y="456"/>
                  </a:cubicBezTo>
                  <a:cubicBezTo>
                    <a:pt x="689" y="456"/>
                    <a:pt x="690" y="455"/>
                    <a:pt x="691" y="455"/>
                  </a:cubicBezTo>
                  <a:cubicBezTo>
                    <a:pt x="691" y="455"/>
                    <a:pt x="691" y="455"/>
                    <a:pt x="692" y="455"/>
                  </a:cubicBezTo>
                  <a:cubicBezTo>
                    <a:pt x="693" y="455"/>
                    <a:pt x="694" y="454"/>
                    <a:pt x="696" y="454"/>
                  </a:cubicBezTo>
                  <a:cubicBezTo>
                    <a:pt x="696" y="454"/>
                    <a:pt x="696" y="454"/>
                    <a:pt x="696" y="454"/>
                  </a:cubicBezTo>
                  <a:cubicBezTo>
                    <a:pt x="696" y="454"/>
                    <a:pt x="697" y="454"/>
                    <a:pt x="697" y="454"/>
                  </a:cubicBezTo>
                  <a:cubicBezTo>
                    <a:pt x="698" y="454"/>
                    <a:pt x="699" y="453"/>
                    <a:pt x="700" y="453"/>
                  </a:cubicBezTo>
                  <a:cubicBezTo>
                    <a:pt x="701" y="453"/>
                    <a:pt x="701" y="453"/>
                    <a:pt x="701" y="453"/>
                  </a:cubicBezTo>
                  <a:cubicBezTo>
                    <a:pt x="702" y="453"/>
                    <a:pt x="703" y="452"/>
                    <a:pt x="703" y="452"/>
                  </a:cubicBezTo>
                  <a:cubicBezTo>
                    <a:pt x="704" y="452"/>
                    <a:pt x="706" y="452"/>
                    <a:pt x="707" y="451"/>
                  </a:cubicBezTo>
                  <a:cubicBezTo>
                    <a:pt x="707" y="451"/>
                    <a:pt x="708" y="451"/>
                    <a:pt x="709" y="451"/>
                  </a:cubicBezTo>
                  <a:cubicBezTo>
                    <a:pt x="710" y="451"/>
                    <a:pt x="710" y="451"/>
                    <a:pt x="710" y="451"/>
                  </a:cubicBezTo>
                  <a:cubicBezTo>
                    <a:pt x="710" y="450"/>
                    <a:pt x="710" y="450"/>
                    <a:pt x="710" y="450"/>
                  </a:cubicBezTo>
                  <a:cubicBezTo>
                    <a:pt x="711" y="450"/>
                    <a:pt x="712" y="450"/>
                    <a:pt x="713" y="450"/>
                  </a:cubicBezTo>
                  <a:cubicBezTo>
                    <a:pt x="713" y="450"/>
                    <a:pt x="713" y="450"/>
                    <a:pt x="714" y="449"/>
                  </a:cubicBezTo>
                  <a:cubicBezTo>
                    <a:pt x="715" y="449"/>
                    <a:pt x="717" y="449"/>
                    <a:pt x="718" y="448"/>
                  </a:cubicBezTo>
                  <a:cubicBezTo>
                    <a:pt x="718" y="448"/>
                    <a:pt x="718" y="448"/>
                    <a:pt x="718" y="448"/>
                  </a:cubicBezTo>
                  <a:cubicBezTo>
                    <a:pt x="719" y="448"/>
                    <a:pt x="719" y="448"/>
                    <a:pt x="719" y="448"/>
                  </a:cubicBezTo>
                  <a:cubicBezTo>
                    <a:pt x="719" y="448"/>
                    <a:pt x="719" y="448"/>
                    <a:pt x="719" y="448"/>
                  </a:cubicBezTo>
                  <a:cubicBezTo>
                    <a:pt x="720" y="448"/>
                    <a:pt x="720" y="448"/>
                    <a:pt x="720" y="448"/>
                  </a:cubicBezTo>
                  <a:cubicBezTo>
                    <a:pt x="721" y="447"/>
                    <a:pt x="722" y="447"/>
                    <a:pt x="723" y="447"/>
                  </a:cubicBezTo>
                  <a:cubicBezTo>
                    <a:pt x="724" y="446"/>
                    <a:pt x="724" y="446"/>
                    <a:pt x="725" y="446"/>
                  </a:cubicBezTo>
                  <a:cubicBezTo>
                    <a:pt x="726" y="446"/>
                    <a:pt x="726" y="446"/>
                    <a:pt x="726" y="446"/>
                  </a:cubicBezTo>
                  <a:cubicBezTo>
                    <a:pt x="727" y="446"/>
                    <a:pt x="727" y="446"/>
                    <a:pt x="727" y="446"/>
                  </a:cubicBezTo>
                  <a:cubicBezTo>
                    <a:pt x="728" y="445"/>
                    <a:pt x="728" y="445"/>
                    <a:pt x="728" y="445"/>
                  </a:cubicBezTo>
                  <a:cubicBezTo>
                    <a:pt x="728" y="445"/>
                    <a:pt x="729" y="445"/>
                    <a:pt x="729" y="445"/>
                  </a:cubicBezTo>
                  <a:cubicBezTo>
                    <a:pt x="730" y="444"/>
                    <a:pt x="731" y="444"/>
                    <a:pt x="732" y="444"/>
                  </a:cubicBezTo>
                  <a:cubicBezTo>
                    <a:pt x="732" y="444"/>
                    <a:pt x="733" y="443"/>
                    <a:pt x="733" y="443"/>
                  </a:cubicBezTo>
                  <a:cubicBezTo>
                    <a:pt x="734" y="443"/>
                    <a:pt x="734" y="443"/>
                    <a:pt x="734" y="443"/>
                  </a:cubicBezTo>
                  <a:cubicBezTo>
                    <a:pt x="735" y="443"/>
                    <a:pt x="735" y="443"/>
                    <a:pt x="736" y="442"/>
                  </a:cubicBezTo>
                  <a:cubicBezTo>
                    <a:pt x="737" y="442"/>
                    <a:pt x="737" y="442"/>
                    <a:pt x="737" y="442"/>
                  </a:cubicBezTo>
                  <a:cubicBezTo>
                    <a:pt x="737" y="442"/>
                    <a:pt x="737" y="442"/>
                    <a:pt x="737" y="442"/>
                  </a:cubicBezTo>
                  <a:cubicBezTo>
                    <a:pt x="738" y="442"/>
                    <a:pt x="739" y="441"/>
                    <a:pt x="740" y="441"/>
                  </a:cubicBezTo>
                  <a:cubicBezTo>
                    <a:pt x="741" y="440"/>
                    <a:pt x="741" y="440"/>
                    <a:pt x="741" y="440"/>
                  </a:cubicBezTo>
                  <a:cubicBezTo>
                    <a:pt x="742" y="440"/>
                    <a:pt x="743" y="440"/>
                    <a:pt x="743" y="439"/>
                  </a:cubicBezTo>
                  <a:cubicBezTo>
                    <a:pt x="744" y="439"/>
                    <a:pt x="744" y="439"/>
                    <a:pt x="744" y="439"/>
                  </a:cubicBezTo>
                  <a:cubicBezTo>
                    <a:pt x="745" y="439"/>
                    <a:pt x="746" y="438"/>
                    <a:pt x="747" y="438"/>
                  </a:cubicBezTo>
                  <a:cubicBezTo>
                    <a:pt x="748" y="438"/>
                    <a:pt x="748" y="438"/>
                    <a:pt x="748" y="438"/>
                  </a:cubicBezTo>
                  <a:cubicBezTo>
                    <a:pt x="748" y="437"/>
                    <a:pt x="749" y="437"/>
                    <a:pt x="750" y="436"/>
                  </a:cubicBezTo>
                  <a:cubicBezTo>
                    <a:pt x="750" y="436"/>
                    <a:pt x="750" y="436"/>
                    <a:pt x="750" y="436"/>
                  </a:cubicBezTo>
                  <a:cubicBezTo>
                    <a:pt x="751" y="436"/>
                    <a:pt x="751" y="436"/>
                    <a:pt x="751" y="436"/>
                  </a:cubicBezTo>
                  <a:cubicBezTo>
                    <a:pt x="751" y="436"/>
                    <a:pt x="752" y="435"/>
                    <a:pt x="752" y="435"/>
                  </a:cubicBezTo>
                  <a:cubicBezTo>
                    <a:pt x="753" y="435"/>
                    <a:pt x="753" y="435"/>
                    <a:pt x="753" y="435"/>
                  </a:cubicBezTo>
                  <a:cubicBezTo>
                    <a:pt x="753" y="435"/>
                    <a:pt x="753" y="435"/>
                    <a:pt x="753" y="435"/>
                  </a:cubicBezTo>
                  <a:cubicBezTo>
                    <a:pt x="754" y="434"/>
                    <a:pt x="754" y="434"/>
                    <a:pt x="754" y="434"/>
                  </a:cubicBezTo>
                  <a:cubicBezTo>
                    <a:pt x="754" y="434"/>
                    <a:pt x="755" y="434"/>
                    <a:pt x="755" y="434"/>
                  </a:cubicBezTo>
                  <a:cubicBezTo>
                    <a:pt x="756" y="433"/>
                    <a:pt x="756" y="433"/>
                    <a:pt x="757" y="433"/>
                  </a:cubicBezTo>
                  <a:cubicBezTo>
                    <a:pt x="757" y="433"/>
                    <a:pt x="757" y="432"/>
                    <a:pt x="758" y="432"/>
                  </a:cubicBezTo>
                  <a:cubicBezTo>
                    <a:pt x="758" y="432"/>
                    <a:pt x="758" y="432"/>
                    <a:pt x="758" y="432"/>
                  </a:cubicBezTo>
                  <a:cubicBezTo>
                    <a:pt x="759" y="431"/>
                    <a:pt x="759" y="431"/>
                    <a:pt x="759" y="431"/>
                  </a:cubicBezTo>
                  <a:cubicBezTo>
                    <a:pt x="760" y="431"/>
                    <a:pt x="760" y="431"/>
                    <a:pt x="760" y="431"/>
                  </a:cubicBezTo>
                  <a:cubicBezTo>
                    <a:pt x="761" y="430"/>
                    <a:pt x="761" y="430"/>
                    <a:pt x="761" y="430"/>
                  </a:cubicBezTo>
                  <a:cubicBezTo>
                    <a:pt x="761" y="430"/>
                    <a:pt x="761" y="430"/>
                    <a:pt x="761" y="430"/>
                  </a:cubicBezTo>
                  <a:cubicBezTo>
                    <a:pt x="762" y="429"/>
                    <a:pt x="762" y="429"/>
                    <a:pt x="762" y="429"/>
                  </a:cubicBezTo>
                  <a:cubicBezTo>
                    <a:pt x="763" y="429"/>
                    <a:pt x="763" y="429"/>
                    <a:pt x="763" y="429"/>
                  </a:cubicBezTo>
                  <a:cubicBezTo>
                    <a:pt x="764" y="428"/>
                    <a:pt x="764" y="428"/>
                    <a:pt x="764" y="428"/>
                  </a:cubicBezTo>
                  <a:cubicBezTo>
                    <a:pt x="764" y="428"/>
                    <a:pt x="765" y="428"/>
                    <a:pt x="765" y="427"/>
                  </a:cubicBezTo>
                  <a:cubicBezTo>
                    <a:pt x="766" y="427"/>
                    <a:pt x="766" y="427"/>
                    <a:pt x="766" y="427"/>
                  </a:cubicBezTo>
                  <a:cubicBezTo>
                    <a:pt x="766" y="426"/>
                    <a:pt x="766" y="426"/>
                    <a:pt x="766" y="426"/>
                  </a:cubicBezTo>
                  <a:cubicBezTo>
                    <a:pt x="767" y="426"/>
                    <a:pt x="767" y="426"/>
                    <a:pt x="767" y="426"/>
                  </a:cubicBezTo>
                  <a:cubicBezTo>
                    <a:pt x="767" y="426"/>
                    <a:pt x="767" y="426"/>
                    <a:pt x="767" y="426"/>
                  </a:cubicBezTo>
                  <a:cubicBezTo>
                    <a:pt x="768" y="425"/>
                    <a:pt x="768" y="425"/>
                    <a:pt x="768" y="425"/>
                  </a:cubicBezTo>
                  <a:cubicBezTo>
                    <a:pt x="768" y="425"/>
                    <a:pt x="769" y="424"/>
                    <a:pt x="769" y="424"/>
                  </a:cubicBezTo>
                  <a:cubicBezTo>
                    <a:pt x="769" y="423"/>
                    <a:pt x="769" y="423"/>
                    <a:pt x="769" y="423"/>
                  </a:cubicBezTo>
                  <a:cubicBezTo>
                    <a:pt x="770" y="423"/>
                    <a:pt x="770" y="423"/>
                    <a:pt x="770" y="423"/>
                  </a:cubicBezTo>
                  <a:cubicBezTo>
                    <a:pt x="770" y="423"/>
                    <a:pt x="770" y="423"/>
                    <a:pt x="770" y="423"/>
                  </a:cubicBezTo>
                  <a:cubicBezTo>
                    <a:pt x="770" y="422"/>
                    <a:pt x="771" y="422"/>
                    <a:pt x="771" y="422"/>
                  </a:cubicBezTo>
                  <a:cubicBezTo>
                    <a:pt x="771" y="421"/>
                    <a:pt x="771" y="421"/>
                    <a:pt x="771" y="421"/>
                  </a:cubicBezTo>
                  <a:cubicBezTo>
                    <a:pt x="772" y="421"/>
                    <a:pt x="772" y="420"/>
                    <a:pt x="772" y="420"/>
                  </a:cubicBezTo>
                  <a:cubicBezTo>
                    <a:pt x="772" y="420"/>
                    <a:pt x="772" y="420"/>
                    <a:pt x="772" y="420"/>
                  </a:cubicBezTo>
                  <a:cubicBezTo>
                    <a:pt x="772" y="420"/>
                    <a:pt x="772" y="420"/>
                    <a:pt x="772" y="420"/>
                  </a:cubicBezTo>
                  <a:cubicBezTo>
                    <a:pt x="772" y="420"/>
                    <a:pt x="772" y="420"/>
                    <a:pt x="772" y="420"/>
                  </a:cubicBezTo>
                  <a:cubicBezTo>
                    <a:pt x="773" y="418"/>
                    <a:pt x="773" y="418"/>
                    <a:pt x="773" y="418"/>
                  </a:cubicBezTo>
                  <a:cubicBezTo>
                    <a:pt x="773" y="418"/>
                    <a:pt x="773" y="418"/>
                    <a:pt x="773" y="418"/>
                  </a:cubicBezTo>
                  <a:cubicBezTo>
                    <a:pt x="774" y="418"/>
                    <a:pt x="774" y="417"/>
                    <a:pt x="774" y="417"/>
                  </a:cubicBezTo>
                  <a:cubicBezTo>
                    <a:pt x="774" y="416"/>
                    <a:pt x="775" y="415"/>
                    <a:pt x="775" y="414"/>
                  </a:cubicBezTo>
                  <a:cubicBezTo>
                    <a:pt x="810" y="339"/>
                    <a:pt x="844" y="263"/>
                    <a:pt x="879" y="188"/>
                  </a:cubicBezTo>
                  <a:cubicBezTo>
                    <a:pt x="892" y="160"/>
                    <a:pt x="905" y="132"/>
                    <a:pt x="917" y="104"/>
                  </a:cubicBezTo>
                  <a:cubicBezTo>
                    <a:pt x="919" y="102"/>
                    <a:pt x="919" y="99"/>
                    <a:pt x="919" y="97"/>
                  </a:cubicBezTo>
                  <a:cubicBezTo>
                    <a:pt x="920" y="96"/>
                    <a:pt x="920" y="95"/>
                    <a:pt x="919" y="94"/>
                  </a:cubicBezTo>
                  <a:cubicBezTo>
                    <a:pt x="919" y="93"/>
                    <a:pt x="919" y="93"/>
                    <a:pt x="919" y="93"/>
                  </a:cubicBezTo>
                </a:path>
              </a:pathLst>
            </a:custGeom>
            <a:solidFill>
              <a:srgbClr val="C71B1F"/>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60" name="Freeform 156">
              <a:extLst>
                <a:ext uri="{FF2B5EF4-FFF2-40B4-BE49-F238E27FC236}">
                  <a16:creationId xmlns:a16="http://schemas.microsoft.com/office/drawing/2014/main" id="{BE1410C4-3710-7876-1000-19FE71605C37}"/>
                </a:ext>
              </a:extLst>
            </p:cNvPr>
            <p:cNvSpPr>
              <a:spLocks/>
            </p:cNvSpPr>
            <p:nvPr/>
          </p:nvSpPr>
          <p:spPr bwMode="auto">
            <a:xfrm>
              <a:off x="2951147" y="3594643"/>
              <a:ext cx="2619062" cy="432436"/>
            </a:xfrm>
            <a:custGeom>
              <a:avLst/>
              <a:gdLst>
                <a:gd name="T0" fmla="*/ 923 w 928"/>
                <a:gd name="T1" fmla="*/ 98 h 193"/>
                <a:gd name="T2" fmla="*/ 456 w 928"/>
                <a:gd name="T3" fmla="*/ 192 h 193"/>
                <a:gd name="T4" fmla="*/ 4 w 928"/>
                <a:gd name="T5" fmla="*/ 94 h 193"/>
                <a:gd name="T6" fmla="*/ 472 w 928"/>
                <a:gd name="T7" fmla="*/ 1 h 193"/>
                <a:gd name="T8" fmla="*/ 923 w 928"/>
                <a:gd name="T9" fmla="*/ 98 h 193"/>
              </a:gdLst>
              <a:ahLst/>
              <a:cxnLst>
                <a:cxn ang="0">
                  <a:pos x="T0" y="T1"/>
                </a:cxn>
                <a:cxn ang="0">
                  <a:pos x="T2" y="T3"/>
                </a:cxn>
                <a:cxn ang="0">
                  <a:pos x="T4" y="T5"/>
                </a:cxn>
                <a:cxn ang="0">
                  <a:pos x="T6" y="T7"/>
                </a:cxn>
                <a:cxn ang="0">
                  <a:pos x="T8" y="T9"/>
                </a:cxn>
              </a:cxnLst>
              <a:rect l="0" t="0" r="r" b="b"/>
              <a:pathLst>
                <a:path w="928" h="193">
                  <a:moveTo>
                    <a:pt x="923" y="98"/>
                  </a:moveTo>
                  <a:cubicBezTo>
                    <a:pt x="919" y="151"/>
                    <a:pt x="710" y="193"/>
                    <a:pt x="456" y="192"/>
                  </a:cubicBezTo>
                  <a:cubicBezTo>
                    <a:pt x="202" y="191"/>
                    <a:pt x="0" y="147"/>
                    <a:pt x="4" y="94"/>
                  </a:cubicBezTo>
                  <a:cubicBezTo>
                    <a:pt x="9" y="42"/>
                    <a:pt x="218" y="0"/>
                    <a:pt x="472" y="1"/>
                  </a:cubicBezTo>
                  <a:cubicBezTo>
                    <a:pt x="726" y="1"/>
                    <a:pt x="928" y="45"/>
                    <a:pt x="923" y="98"/>
                  </a:cubicBezTo>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grpSp>
        <p:nvGrpSpPr>
          <p:cNvPr id="33" name="Group 32">
            <a:extLst>
              <a:ext uri="{FF2B5EF4-FFF2-40B4-BE49-F238E27FC236}">
                <a16:creationId xmlns:a16="http://schemas.microsoft.com/office/drawing/2014/main" id="{9D7AD51C-F076-3BEC-55BB-72BBE1C875F9}"/>
              </a:ext>
            </a:extLst>
          </p:cNvPr>
          <p:cNvGrpSpPr/>
          <p:nvPr/>
        </p:nvGrpSpPr>
        <p:grpSpPr>
          <a:xfrm>
            <a:off x="560152" y="2598429"/>
            <a:ext cx="3748732" cy="1160440"/>
            <a:chOff x="2490993" y="2652180"/>
            <a:chExt cx="3535793" cy="1220660"/>
          </a:xfrm>
        </p:grpSpPr>
        <p:sp>
          <p:nvSpPr>
            <p:cNvPr id="57" name="Freeform 163">
              <a:extLst>
                <a:ext uri="{FF2B5EF4-FFF2-40B4-BE49-F238E27FC236}">
                  <a16:creationId xmlns:a16="http://schemas.microsoft.com/office/drawing/2014/main" id="{58568CA5-3AD9-3E7C-1F19-077F16E4BBAE}"/>
                </a:ext>
              </a:extLst>
            </p:cNvPr>
            <p:cNvSpPr>
              <a:spLocks/>
            </p:cNvSpPr>
            <p:nvPr/>
          </p:nvSpPr>
          <p:spPr bwMode="auto">
            <a:xfrm>
              <a:off x="2508875" y="2655018"/>
              <a:ext cx="3503608" cy="1217822"/>
            </a:xfrm>
            <a:custGeom>
              <a:avLst/>
              <a:gdLst>
                <a:gd name="T0" fmla="*/ 1230 w 1242"/>
                <a:gd name="T1" fmla="*/ 105 h 544"/>
                <a:gd name="T2" fmla="*/ 1200 w 1242"/>
                <a:gd name="T3" fmla="*/ 83 h 544"/>
                <a:gd name="T4" fmla="*/ 1159 w 1242"/>
                <a:gd name="T5" fmla="*/ 65 h 544"/>
                <a:gd name="T6" fmla="*/ 1115 w 1242"/>
                <a:gd name="T7" fmla="*/ 51 h 544"/>
                <a:gd name="T8" fmla="*/ 1059 w 1242"/>
                <a:gd name="T9" fmla="*/ 38 h 544"/>
                <a:gd name="T10" fmla="*/ 993 w 1242"/>
                <a:gd name="T11" fmla="*/ 26 h 544"/>
                <a:gd name="T12" fmla="*/ 933 w 1242"/>
                <a:gd name="T13" fmla="*/ 18 h 544"/>
                <a:gd name="T14" fmla="*/ 859 w 1242"/>
                <a:gd name="T15" fmla="*/ 10 h 544"/>
                <a:gd name="T16" fmla="*/ 775 w 1242"/>
                <a:gd name="T17" fmla="*/ 4 h 544"/>
                <a:gd name="T18" fmla="*/ 712 w 1242"/>
                <a:gd name="T19" fmla="*/ 2 h 544"/>
                <a:gd name="T20" fmla="*/ 664 w 1242"/>
                <a:gd name="T21" fmla="*/ 0 h 544"/>
                <a:gd name="T22" fmla="*/ 601 w 1242"/>
                <a:gd name="T23" fmla="*/ 0 h 544"/>
                <a:gd name="T24" fmla="*/ 554 w 1242"/>
                <a:gd name="T25" fmla="*/ 1 h 544"/>
                <a:gd name="T26" fmla="*/ 491 w 1242"/>
                <a:gd name="T27" fmla="*/ 3 h 544"/>
                <a:gd name="T28" fmla="*/ 410 w 1242"/>
                <a:gd name="T29" fmla="*/ 8 h 544"/>
                <a:gd name="T30" fmla="*/ 361 w 1242"/>
                <a:gd name="T31" fmla="*/ 12 h 544"/>
                <a:gd name="T32" fmla="*/ 318 w 1242"/>
                <a:gd name="T33" fmla="*/ 17 h 544"/>
                <a:gd name="T34" fmla="*/ 271 w 1242"/>
                <a:gd name="T35" fmla="*/ 23 h 544"/>
                <a:gd name="T36" fmla="*/ 213 w 1242"/>
                <a:gd name="T37" fmla="*/ 32 h 544"/>
                <a:gd name="T38" fmla="*/ 160 w 1242"/>
                <a:gd name="T39" fmla="*/ 43 h 544"/>
                <a:gd name="T40" fmla="*/ 105 w 1242"/>
                <a:gd name="T41" fmla="*/ 58 h 544"/>
                <a:gd name="T42" fmla="*/ 65 w 1242"/>
                <a:gd name="T43" fmla="*/ 72 h 544"/>
                <a:gd name="T44" fmla="*/ 35 w 1242"/>
                <a:gd name="T45" fmla="*/ 86 h 544"/>
                <a:gd name="T46" fmla="*/ 16 w 1242"/>
                <a:gd name="T47" fmla="*/ 100 h 544"/>
                <a:gd name="T48" fmla="*/ 4 w 1242"/>
                <a:gd name="T49" fmla="*/ 115 h 544"/>
                <a:gd name="T50" fmla="*/ 1 w 1242"/>
                <a:gd name="T51" fmla="*/ 133 h 544"/>
                <a:gd name="T52" fmla="*/ 149 w 1242"/>
                <a:gd name="T53" fmla="*/ 458 h 544"/>
                <a:gd name="T54" fmla="*/ 156 w 1242"/>
                <a:gd name="T55" fmla="*/ 466 h 544"/>
                <a:gd name="T56" fmla="*/ 166 w 1242"/>
                <a:gd name="T57" fmla="*/ 474 h 544"/>
                <a:gd name="T58" fmla="*/ 180 w 1242"/>
                <a:gd name="T59" fmla="*/ 482 h 544"/>
                <a:gd name="T60" fmla="*/ 199 w 1242"/>
                <a:gd name="T61" fmla="*/ 491 h 544"/>
                <a:gd name="T62" fmla="*/ 218 w 1242"/>
                <a:gd name="T63" fmla="*/ 498 h 544"/>
                <a:gd name="T64" fmla="*/ 240 w 1242"/>
                <a:gd name="T65" fmla="*/ 504 h 544"/>
                <a:gd name="T66" fmla="*/ 268 w 1242"/>
                <a:gd name="T67" fmla="*/ 511 h 544"/>
                <a:gd name="T68" fmla="*/ 303 w 1242"/>
                <a:gd name="T69" fmla="*/ 518 h 544"/>
                <a:gd name="T70" fmla="*/ 333 w 1242"/>
                <a:gd name="T71" fmla="*/ 524 h 544"/>
                <a:gd name="T72" fmla="*/ 368 w 1242"/>
                <a:gd name="T73" fmla="*/ 529 h 544"/>
                <a:gd name="T74" fmla="*/ 408 w 1242"/>
                <a:gd name="T75" fmla="*/ 533 h 544"/>
                <a:gd name="T76" fmla="*/ 446 w 1242"/>
                <a:gd name="T77" fmla="*/ 537 h 544"/>
                <a:gd name="T78" fmla="*/ 493 w 1242"/>
                <a:gd name="T79" fmla="*/ 540 h 544"/>
                <a:gd name="T80" fmla="*/ 542 w 1242"/>
                <a:gd name="T81" fmla="*/ 542 h 544"/>
                <a:gd name="T82" fmla="*/ 587 w 1242"/>
                <a:gd name="T83" fmla="*/ 543 h 544"/>
                <a:gd name="T84" fmla="*/ 648 w 1242"/>
                <a:gd name="T85" fmla="*/ 544 h 544"/>
                <a:gd name="T86" fmla="*/ 695 w 1242"/>
                <a:gd name="T87" fmla="*/ 543 h 544"/>
                <a:gd name="T88" fmla="*/ 741 w 1242"/>
                <a:gd name="T89" fmla="*/ 541 h 544"/>
                <a:gd name="T90" fmla="*/ 778 w 1242"/>
                <a:gd name="T91" fmla="*/ 538 h 544"/>
                <a:gd name="T92" fmla="*/ 820 w 1242"/>
                <a:gd name="T93" fmla="*/ 535 h 544"/>
                <a:gd name="T94" fmla="*/ 860 w 1242"/>
                <a:gd name="T95" fmla="*/ 530 h 544"/>
                <a:gd name="T96" fmla="*/ 898 w 1242"/>
                <a:gd name="T97" fmla="*/ 525 h 544"/>
                <a:gd name="T98" fmla="*/ 933 w 1242"/>
                <a:gd name="T99" fmla="*/ 520 h 544"/>
                <a:gd name="T100" fmla="*/ 965 w 1242"/>
                <a:gd name="T101" fmla="*/ 513 h 544"/>
                <a:gd name="T102" fmla="*/ 1002 w 1242"/>
                <a:gd name="T103" fmla="*/ 504 h 544"/>
                <a:gd name="T104" fmla="*/ 1025 w 1242"/>
                <a:gd name="T105" fmla="*/ 497 h 544"/>
                <a:gd name="T106" fmla="*/ 1046 w 1242"/>
                <a:gd name="T107" fmla="*/ 489 h 544"/>
                <a:gd name="T108" fmla="*/ 1062 w 1242"/>
                <a:gd name="T109" fmla="*/ 482 h 544"/>
                <a:gd name="T110" fmla="*/ 1076 w 1242"/>
                <a:gd name="T111" fmla="*/ 474 h 544"/>
                <a:gd name="T112" fmla="*/ 1088 w 1242"/>
                <a:gd name="T113" fmla="*/ 465 h 544"/>
                <a:gd name="T114" fmla="*/ 1094 w 1242"/>
                <a:gd name="T115" fmla="*/ 457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42" h="544">
                  <a:moveTo>
                    <a:pt x="1241" y="127"/>
                  </a:moveTo>
                  <a:cubicBezTo>
                    <a:pt x="1241" y="126"/>
                    <a:pt x="1241" y="125"/>
                    <a:pt x="1241" y="124"/>
                  </a:cubicBezTo>
                  <a:cubicBezTo>
                    <a:pt x="1241" y="124"/>
                    <a:pt x="1241" y="123"/>
                    <a:pt x="1241" y="123"/>
                  </a:cubicBezTo>
                  <a:cubicBezTo>
                    <a:pt x="1241" y="122"/>
                    <a:pt x="1240" y="121"/>
                    <a:pt x="1240" y="120"/>
                  </a:cubicBezTo>
                  <a:cubicBezTo>
                    <a:pt x="1240" y="120"/>
                    <a:pt x="1240" y="119"/>
                    <a:pt x="1240" y="119"/>
                  </a:cubicBezTo>
                  <a:cubicBezTo>
                    <a:pt x="1239" y="118"/>
                    <a:pt x="1239" y="117"/>
                    <a:pt x="1238" y="116"/>
                  </a:cubicBezTo>
                  <a:cubicBezTo>
                    <a:pt x="1238" y="115"/>
                    <a:pt x="1238" y="115"/>
                    <a:pt x="1238" y="115"/>
                  </a:cubicBezTo>
                  <a:cubicBezTo>
                    <a:pt x="1237" y="114"/>
                    <a:pt x="1237" y="113"/>
                    <a:pt x="1236" y="112"/>
                  </a:cubicBezTo>
                  <a:cubicBezTo>
                    <a:pt x="1235" y="111"/>
                    <a:pt x="1235" y="111"/>
                    <a:pt x="1235" y="111"/>
                  </a:cubicBezTo>
                  <a:cubicBezTo>
                    <a:pt x="1235" y="110"/>
                    <a:pt x="1234" y="109"/>
                    <a:pt x="1233" y="108"/>
                  </a:cubicBezTo>
                  <a:cubicBezTo>
                    <a:pt x="1233" y="108"/>
                    <a:pt x="1233" y="107"/>
                    <a:pt x="1232" y="107"/>
                  </a:cubicBezTo>
                  <a:cubicBezTo>
                    <a:pt x="1232" y="106"/>
                    <a:pt x="1231" y="105"/>
                    <a:pt x="1230" y="105"/>
                  </a:cubicBezTo>
                  <a:cubicBezTo>
                    <a:pt x="1230" y="104"/>
                    <a:pt x="1229" y="104"/>
                    <a:pt x="1229" y="103"/>
                  </a:cubicBezTo>
                  <a:cubicBezTo>
                    <a:pt x="1228" y="102"/>
                    <a:pt x="1227" y="102"/>
                    <a:pt x="1227" y="101"/>
                  </a:cubicBezTo>
                  <a:cubicBezTo>
                    <a:pt x="1226" y="101"/>
                    <a:pt x="1226" y="100"/>
                    <a:pt x="1225" y="100"/>
                  </a:cubicBezTo>
                  <a:cubicBezTo>
                    <a:pt x="1224" y="99"/>
                    <a:pt x="1223" y="98"/>
                    <a:pt x="1222" y="97"/>
                  </a:cubicBezTo>
                  <a:cubicBezTo>
                    <a:pt x="1221" y="96"/>
                    <a:pt x="1221" y="96"/>
                    <a:pt x="1221" y="96"/>
                  </a:cubicBezTo>
                  <a:cubicBezTo>
                    <a:pt x="1220" y="95"/>
                    <a:pt x="1218" y="94"/>
                    <a:pt x="1216" y="93"/>
                  </a:cubicBezTo>
                  <a:cubicBezTo>
                    <a:pt x="1216" y="93"/>
                    <a:pt x="1216" y="92"/>
                    <a:pt x="1215" y="92"/>
                  </a:cubicBezTo>
                  <a:cubicBezTo>
                    <a:pt x="1214" y="91"/>
                    <a:pt x="1213" y="90"/>
                    <a:pt x="1211" y="89"/>
                  </a:cubicBezTo>
                  <a:cubicBezTo>
                    <a:pt x="1211" y="89"/>
                    <a:pt x="1210" y="89"/>
                    <a:pt x="1210" y="88"/>
                  </a:cubicBezTo>
                  <a:cubicBezTo>
                    <a:pt x="1208" y="88"/>
                    <a:pt x="1207" y="87"/>
                    <a:pt x="1206" y="86"/>
                  </a:cubicBezTo>
                  <a:cubicBezTo>
                    <a:pt x="1205" y="86"/>
                    <a:pt x="1204" y="85"/>
                    <a:pt x="1204" y="85"/>
                  </a:cubicBezTo>
                  <a:cubicBezTo>
                    <a:pt x="1202" y="84"/>
                    <a:pt x="1201" y="83"/>
                    <a:pt x="1200" y="83"/>
                  </a:cubicBezTo>
                  <a:cubicBezTo>
                    <a:pt x="1199" y="82"/>
                    <a:pt x="1198" y="82"/>
                    <a:pt x="1198" y="81"/>
                  </a:cubicBezTo>
                  <a:cubicBezTo>
                    <a:pt x="1196" y="81"/>
                    <a:pt x="1194" y="80"/>
                    <a:pt x="1192" y="79"/>
                  </a:cubicBezTo>
                  <a:cubicBezTo>
                    <a:pt x="1191" y="78"/>
                    <a:pt x="1191" y="78"/>
                    <a:pt x="1191" y="78"/>
                  </a:cubicBezTo>
                  <a:cubicBezTo>
                    <a:pt x="1189" y="77"/>
                    <a:pt x="1187" y="76"/>
                    <a:pt x="1184" y="75"/>
                  </a:cubicBezTo>
                  <a:cubicBezTo>
                    <a:pt x="1184" y="75"/>
                    <a:pt x="1183" y="74"/>
                    <a:pt x="1182" y="74"/>
                  </a:cubicBezTo>
                  <a:cubicBezTo>
                    <a:pt x="1181" y="73"/>
                    <a:pt x="1179" y="73"/>
                    <a:pt x="1177" y="72"/>
                  </a:cubicBezTo>
                  <a:cubicBezTo>
                    <a:pt x="1176" y="71"/>
                    <a:pt x="1176" y="71"/>
                    <a:pt x="1176" y="71"/>
                  </a:cubicBezTo>
                  <a:cubicBezTo>
                    <a:pt x="1175" y="71"/>
                    <a:pt x="1175" y="71"/>
                    <a:pt x="1174" y="71"/>
                  </a:cubicBezTo>
                  <a:cubicBezTo>
                    <a:pt x="1173" y="70"/>
                    <a:pt x="1171" y="70"/>
                    <a:pt x="1170" y="69"/>
                  </a:cubicBezTo>
                  <a:cubicBezTo>
                    <a:pt x="1169" y="69"/>
                    <a:pt x="1168" y="68"/>
                    <a:pt x="1167" y="68"/>
                  </a:cubicBezTo>
                  <a:cubicBezTo>
                    <a:pt x="1165" y="67"/>
                    <a:pt x="1164" y="67"/>
                    <a:pt x="1163" y="66"/>
                  </a:cubicBezTo>
                  <a:cubicBezTo>
                    <a:pt x="1161" y="66"/>
                    <a:pt x="1160" y="65"/>
                    <a:pt x="1159" y="65"/>
                  </a:cubicBezTo>
                  <a:cubicBezTo>
                    <a:pt x="1158" y="64"/>
                    <a:pt x="1156" y="64"/>
                    <a:pt x="1155" y="63"/>
                  </a:cubicBezTo>
                  <a:cubicBezTo>
                    <a:pt x="1154" y="63"/>
                    <a:pt x="1152" y="63"/>
                    <a:pt x="1151" y="62"/>
                  </a:cubicBezTo>
                  <a:cubicBezTo>
                    <a:pt x="1150" y="62"/>
                    <a:pt x="1148" y="61"/>
                    <a:pt x="1146" y="61"/>
                  </a:cubicBezTo>
                  <a:cubicBezTo>
                    <a:pt x="1146" y="60"/>
                    <a:pt x="1145" y="60"/>
                    <a:pt x="1144" y="60"/>
                  </a:cubicBezTo>
                  <a:cubicBezTo>
                    <a:pt x="1144" y="60"/>
                    <a:pt x="1143" y="59"/>
                    <a:pt x="1143" y="59"/>
                  </a:cubicBezTo>
                  <a:cubicBezTo>
                    <a:pt x="1142" y="59"/>
                    <a:pt x="1141" y="59"/>
                    <a:pt x="1140" y="58"/>
                  </a:cubicBezTo>
                  <a:cubicBezTo>
                    <a:pt x="1138" y="58"/>
                    <a:pt x="1136" y="57"/>
                    <a:pt x="1135" y="57"/>
                  </a:cubicBezTo>
                  <a:cubicBezTo>
                    <a:pt x="1134" y="57"/>
                    <a:pt x="1133" y="56"/>
                    <a:pt x="1132" y="56"/>
                  </a:cubicBezTo>
                  <a:cubicBezTo>
                    <a:pt x="1130" y="55"/>
                    <a:pt x="1128" y="55"/>
                    <a:pt x="1127" y="54"/>
                  </a:cubicBezTo>
                  <a:cubicBezTo>
                    <a:pt x="1126" y="54"/>
                    <a:pt x="1125" y="54"/>
                    <a:pt x="1124" y="54"/>
                  </a:cubicBezTo>
                  <a:cubicBezTo>
                    <a:pt x="1122" y="53"/>
                    <a:pt x="1120" y="52"/>
                    <a:pt x="1118" y="52"/>
                  </a:cubicBezTo>
                  <a:cubicBezTo>
                    <a:pt x="1117" y="52"/>
                    <a:pt x="1116" y="51"/>
                    <a:pt x="1115" y="51"/>
                  </a:cubicBezTo>
                  <a:cubicBezTo>
                    <a:pt x="1115" y="51"/>
                    <a:pt x="1115" y="51"/>
                    <a:pt x="1115" y="51"/>
                  </a:cubicBezTo>
                  <a:cubicBezTo>
                    <a:pt x="1115" y="51"/>
                    <a:pt x="1114" y="51"/>
                    <a:pt x="1114" y="51"/>
                  </a:cubicBezTo>
                  <a:cubicBezTo>
                    <a:pt x="1110" y="50"/>
                    <a:pt x="1107" y="49"/>
                    <a:pt x="1103" y="48"/>
                  </a:cubicBezTo>
                  <a:cubicBezTo>
                    <a:pt x="1102" y="48"/>
                    <a:pt x="1101" y="47"/>
                    <a:pt x="1100" y="47"/>
                  </a:cubicBezTo>
                  <a:cubicBezTo>
                    <a:pt x="1096" y="46"/>
                    <a:pt x="1092" y="45"/>
                    <a:pt x="1087" y="44"/>
                  </a:cubicBezTo>
                  <a:cubicBezTo>
                    <a:pt x="1087" y="44"/>
                    <a:pt x="1087" y="44"/>
                    <a:pt x="1087" y="44"/>
                  </a:cubicBezTo>
                  <a:cubicBezTo>
                    <a:pt x="1086" y="44"/>
                    <a:pt x="1086" y="44"/>
                    <a:pt x="1086" y="44"/>
                  </a:cubicBezTo>
                  <a:cubicBezTo>
                    <a:pt x="1083" y="43"/>
                    <a:pt x="1079" y="42"/>
                    <a:pt x="1076" y="41"/>
                  </a:cubicBezTo>
                  <a:cubicBezTo>
                    <a:pt x="1074" y="41"/>
                    <a:pt x="1073" y="41"/>
                    <a:pt x="1072" y="41"/>
                  </a:cubicBezTo>
                  <a:cubicBezTo>
                    <a:pt x="1069" y="40"/>
                    <a:pt x="1066" y="39"/>
                    <a:pt x="1063" y="39"/>
                  </a:cubicBezTo>
                  <a:cubicBezTo>
                    <a:pt x="1062" y="38"/>
                    <a:pt x="1061" y="38"/>
                    <a:pt x="1061" y="38"/>
                  </a:cubicBezTo>
                  <a:cubicBezTo>
                    <a:pt x="1060" y="38"/>
                    <a:pt x="1059" y="38"/>
                    <a:pt x="1059" y="38"/>
                  </a:cubicBezTo>
                  <a:cubicBezTo>
                    <a:pt x="1056" y="37"/>
                    <a:pt x="1053" y="37"/>
                    <a:pt x="1050" y="36"/>
                  </a:cubicBezTo>
                  <a:cubicBezTo>
                    <a:pt x="1049" y="36"/>
                    <a:pt x="1048" y="36"/>
                    <a:pt x="1047" y="35"/>
                  </a:cubicBezTo>
                  <a:cubicBezTo>
                    <a:pt x="1043" y="35"/>
                    <a:pt x="1039" y="34"/>
                    <a:pt x="1035" y="33"/>
                  </a:cubicBezTo>
                  <a:cubicBezTo>
                    <a:pt x="1034" y="33"/>
                    <a:pt x="1034" y="33"/>
                    <a:pt x="1034" y="33"/>
                  </a:cubicBezTo>
                  <a:cubicBezTo>
                    <a:pt x="1033" y="33"/>
                    <a:pt x="1033" y="33"/>
                    <a:pt x="1032" y="33"/>
                  </a:cubicBezTo>
                  <a:cubicBezTo>
                    <a:pt x="1029" y="32"/>
                    <a:pt x="1026" y="31"/>
                    <a:pt x="1023" y="31"/>
                  </a:cubicBezTo>
                  <a:cubicBezTo>
                    <a:pt x="1021" y="31"/>
                    <a:pt x="1020" y="30"/>
                    <a:pt x="1018" y="30"/>
                  </a:cubicBezTo>
                  <a:cubicBezTo>
                    <a:pt x="1016" y="30"/>
                    <a:pt x="1013" y="29"/>
                    <a:pt x="1011" y="29"/>
                  </a:cubicBezTo>
                  <a:cubicBezTo>
                    <a:pt x="1010" y="29"/>
                    <a:pt x="1009" y="29"/>
                    <a:pt x="1009" y="28"/>
                  </a:cubicBezTo>
                  <a:cubicBezTo>
                    <a:pt x="1008" y="28"/>
                    <a:pt x="1007" y="28"/>
                    <a:pt x="1005" y="28"/>
                  </a:cubicBezTo>
                  <a:cubicBezTo>
                    <a:pt x="1003" y="28"/>
                    <a:pt x="1001" y="27"/>
                    <a:pt x="998" y="27"/>
                  </a:cubicBezTo>
                  <a:cubicBezTo>
                    <a:pt x="997" y="26"/>
                    <a:pt x="995" y="26"/>
                    <a:pt x="993" y="26"/>
                  </a:cubicBezTo>
                  <a:cubicBezTo>
                    <a:pt x="991" y="26"/>
                    <a:pt x="988" y="25"/>
                    <a:pt x="986" y="25"/>
                  </a:cubicBezTo>
                  <a:cubicBezTo>
                    <a:pt x="985" y="25"/>
                    <a:pt x="984" y="25"/>
                    <a:pt x="983" y="24"/>
                  </a:cubicBezTo>
                  <a:cubicBezTo>
                    <a:pt x="982" y="24"/>
                    <a:pt x="981" y="24"/>
                    <a:pt x="980" y="24"/>
                  </a:cubicBezTo>
                  <a:cubicBezTo>
                    <a:pt x="978" y="24"/>
                    <a:pt x="976" y="23"/>
                    <a:pt x="974" y="23"/>
                  </a:cubicBezTo>
                  <a:cubicBezTo>
                    <a:pt x="972" y="23"/>
                    <a:pt x="970" y="22"/>
                    <a:pt x="968" y="22"/>
                  </a:cubicBezTo>
                  <a:cubicBezTo>
                    <a:pt x="965" y="22"/>
                    <a:pt x="963" y="22"/>
                    <a:pt x="961" y="21"/>
                  </a:cubicBezTo>
                  <a:cubicBezTo>
                    <a:pt x="960" y="21"/>
                    <a:pt x="959" y="21"/>
                    <a:pt x="958" y="21"/>
                  </a:cubicBezTo>
                  <a:cubicBezTo>
                    <a:pt x="957" y="21"/>
                    <a:pt x="956" y="21"/>
                    <a:pt x="955" y="20"/>
                  </a:cubicBezTo>
                  <a:cubicBezTo>
                    <a:pt x="953" y="20"/>
                    <a:pt x="951" y="20"/>
                    <a:pt x="949" y="20"/>
                  </a:cubicBezTo>
                  <a:cubicBezTo>
                    <a:pt x="947" y="19"/>
                    <a:pt x="944" y="19"/>
                    <a:pt x="942" y="19"/>
                  </a:cubicBezTo>
                  <a:cubicBezTo>
                    <a:pt x="940" y="19"/>
                    <a:pt x="938" y="18"/>
                    <a:pt x="936" y="18"/>
                  </a:cubicBezTo>
                  <a:cubicBezTo>
                    <a:pt x="935" y="18"/>
                    <a:pt x="934" y="18"/>
                    <a:pt x="933" y="18"/>
                  </a:cubicBezTo>
                  <a:cubicBezTo>
                    <a:pt x="932" y="17"/>
                    <a:pt x="930" y="17"/>
                    <a:pt x="929" y="17"/>
                  </a:cubicBezTo>
                  <a:cubicBezTo>
                    <a:pt x="927" y="17"/>
                    <a:pt x="925" y="17"/>
                    <a:pt x="923" y="17"/>
                  </a:cubicBezTo>
                  <a:cubicBezTo>
                    <a:pt x="921" y="16"/>
                    <a:pt x="919" y="16"/>
                    <a:pt x="917" y="16"/>
                  </a:cubicBezTo>
                  <a:cubicBezTo>
                    <a:pt x="914" y="15"/>
                    <a:pt x="912" y="15"/>
                    <a:pt x="910" y="15"/>
                  </a:cubicBezTo>
                  <a:cubicBezTo>
                    <a:pt x="909" y="15"/>
                    <a:pt x="908" y="15"/>
                    <a:pt x="908" y="15"/>
                  </a:cubicBezTo>
                  <a:cubicBezTo>
                    <a:pt x="907" y="15"/>
                    <a:pt x="906" y="15"/>
                    <a:pt x="906" y="15"/>
                  </a:cubicBezTo>
                  <a:cubicBezTo>
                    <a:pt x="899" y="14"/>
                    <a:pt x="891" y="13"/>
                    <a:pt x="884" y="12"/>
                  </a:cubicBezTo>
                  <a:cubicBezTo>
                    <a:pt x="883" y="12"/>
                    <a:pt x="883" y="12"/>
                    <a:pt x="883" y="12"/>
                  </a:cubicBezTo>
                  <a:cubicBezTo>
                    <a:pt x="882" y="12"/>
                    <a:pt x="881" y="12"/>
                    <a:pt x="881" y="12"/>
                  </a:cubicBezTo>
                  <a:cubicBezTo>
                    <a:pt x="874" y="11"/>
                    <a:pt x="867" y="11"/>
                    <a:pt x="860" y="10"/>
                  </a:cubicBezTo>
                  <a:cubicBezTo>
                    <a:pt x="859" y="10"/>
                    <a:pt x="859" y="10"/>
                    <a:pt x="859" y="10"/>
                  </a:cubicBezTo>
                  <a:cubicBezTo>
                    <a:pt x="859" y="10"/>
                    <a:pt x="859" y="10"/>
                    <a:pt x="859" y="10"/>
                  </a:cubicBezTo>
                  <a:cubicBezTo>
                    <a:pt x="852" y="9"/>
                    <a:pt x="845" y="9"/>
                    <a:pt x="838" y="8"/>
                  </a:cubicBezTo>
                  <a:cubicBezTo>
                    <a:pt x="837" y="8"/>
                    <a:pt x="837" y="8"/>
                    <a:pt x="836" y="8"/>
                  </a:cubicBezTo>
                  <a:cubicBezTo>
                    <a:pt x="835" y="8"/>
                    <a:pt x="834" y="8"/>
                    <a:pt x="834" y="8"/>
                  </a:cubicBezTo>
                  <a:cubicBezTo>
                    <a:pt x="828" y="8"/>
                    <a:pt x="822" y="7"/>
                    <a:pt x="815" y="7"/>
                  </a:cubicBezTo>
                  <a:cubicBezTo>
                    <a:pt x="815" y="7"/>
                    <a:pt x="815" y="7"/>
                    <a:pt x="815" y="7"/>
                  </a:cubicBezTo>
                  <a:cubicBezTo>
                    <a:pt x="815" y="7"/>
                    <a:pt x="814" y="7"/>
                    <a:pt x="813" y="6"/>
                  </a:cubicBezTo>
                  <a:cubicBezTo>
                    <a:pt x="808" y="6"/>
                    <a:pt x="803" y="6"/>
                    <a:pt x="798" y="6"/>
                  </a:cubicBezTo>
                  <a:cubicBezTo>
                    <a:pt x="797" y="5"/>
                    <a:pt x="797" y="5"/>
                    <a:pt x="796" y="5"/>
                  </a:cubicBezTo>
                  <a:cubicBezTo>
                    <a:pt x="795" y="5"/>
                    <a:pt x="793" y="5"/>
                    <a:pt x="792" y="5"/>
                  </a:cubicBezTo>
                  <a:cubicBezTo>
                    <a:pt x="788" y="5"/>
                    <a:pt x="784" y="5"/>
                    <a:pt x="781" y="4"/>
                  </a:cubicBezTo>
                  <a:cubicBezTo>
                    <a:pt x="779" y="4"/>
                    <a:pt x="778" y="4"/>
                    <a:pt x="777" y="4"/>
                  </a:cubicBezTo>
                  <a:cubicBezTo>
                    <a:pt x="776" y="4"/>
                    <a:pt x="776" y="4"/>
                    <a:pt x="775" y="4"/>
                  </a:cubicBezTo>
                  <a:cubicBezTo>
                    <a:pt x="772" y="4"/>
                    <a:pt x="770" y="4"/>
                    <a:pt x="767" y="4"/>
                  </a:cubicBezTo>
                  <a:cubicBezTo>
                    <a:pt x="766" y="4"/>
                    <a:pt x="764" y="4"/>
                    <a:pt x="763" y="4"/>
                  </a:cubicBezTo>
                  <a:cubicBezTo>
                    <a:pt x="762" y="4"/>
                    <a:pt x="761" y="3"/>
                    <a:pt x="760" y="3"/>
                  </a:cubicBezTo>
                  <a:cubicBezTo>
                    <a:pt x="757" y="3"/>
                    <a:pt x="755" y="3"/>
                    <a:pt x="753" y="3"/>
                  </a:cubicBezTo>
                  <a:cubicBezTo>
                    <a:pt x="751" y="3"/>
                    <a:pt x="750" y="3"/>
                    <a:pt x="748" y="3"/>
                  </a:cubicBezTo>
                  <a:cubicBezTo>
                    <a:pt x="747" y="3"/>
                    <a:pt x="746" y="3"/>
                    <a:pt x="745" y="3"/>
                  </a:cubicBezTo>
                  <a:cubicBezTo>
                    <a:pt x="742" y="3"/>
                    <a:pt x="740" y="3"/>
                    <a:pt x="738" y="2"/>
                  </a:cubicBezTo>
                  <a:cubicBezTo>
                    <a:pt x="736" y="2"/>
                    <a:pt x="735" y="2"/>
                    <a:pt x="734" y="2"/>
                  </a:cubicBezTo>
                  <a:cubicBezTo>
                    <a:pt x="732" y="2"/>
                    <a:pt x="730" y="2"/>
                    <a:pt x="729" y="2"/>
                  </a:cubicBezTo>
                  <a:cubicBezTo>
                    <a:pt x="727" y="2"/>
                    <a:pt x="726" y="2"/>
                    <a:pt x="724" y="2"/>
                  </a:cubicBezTo>
                  <a:cubicBezTo>
                    <a:pt x="724" y="2"/>
                    <a:pt x="723" y="2"/>
                    <a:pt x="723" y="2"/>
                  </a:cubicBezTo>
                  <a:cubicBezTo>
                    <a:pt x="719" y="2"/>
                    <a:pt x="716" y="2"/>
                    <a:pt x="712" y="2"/>
                  </a:cubicBezTo>
                  <a:cubicBezTo>
                    <a:pt x="711" y="2"/>
                    <a:pt x="711" y="2"/>
                    <a:pt x="711" y="2"/>
                  </a:cubicBezTo>
                  <a:cubicBezTo>
                    <a:pt x="710" y="2"/>
                    <a:pt x="709" y="1"/>
                    <a:pt x="708" y="1"/>
                  </a:cubicBezTo>
                  <a:cubicBezTo>
                    <a:pt x="706" y="1"/>
                    <a:pt x="704" y="1"/>
                    <a:pt x="702" y="1"/>
                  </a:cubicBezTo>
                  <a:cubicBezTo>
                    <a:pt x="700" y="1"/>
                    <a:pt x="699" y="1"/>
                    <a:pt x="697" y="1"/>
                  </a:cubicBezTo>
                  <a:cubicBezTo>
                    <a:pt x="696" y="1"/>
                    <a:pt x="695" y="1"/>
                    <a:pt x="693" y="1"/>
                  </a:cubicBezTo>
                  <a:cubicBezTo>
                    <a:pt x="693" y="1"/>
                    <a:pt x="692" y="1"/>
                    <a:pt x="691" y="1"/>
                  </a:cubicBezTo>
                  <a:cubicBezTo>
                    <a:pt x="687" y="1"/>
                    <a:pt x="684" y="1"/>
                    <a:pt x="681" y="1"/>
                  </a:cubicBezTo>
                  <a:cubicBezTo>
                    <a:pt x="680" y="1"/>
                    <a:pt x="680" y="1"/>
                    <a:pt x="680" y="1"/>
                  </a:cubicBezTo>
                  <a:cubicBezTo>
                    <a:pt x="679" y="1"/>
                    <a:pt x="679" y="1"/>
                    <a:pt x="678" y="1"/>
                  </a:cubicBezTo>
                  <a:cubicBezTo>
                    <a:pt x="676" y="1"/>
                    <a:pt x="674" y="1"/>
                    <a:pt x="672" y="1"/>
                  </a:cubicBezTo>
                  <a:cubicBezTo>
                    <a:pt x="670" y="1"/>
                    <a:pt x="667" y="1"/>
                    <a:pt x="664" y="0"/>
                  </a:cubicBezTo>
                  <a:cubicBezTo>
                    <a:pt x="664" y="0"/>
                    <a:pt x="664" y="0"/>
                    <a:pt x="664" y="0"/>
                  </a:cubicBezTo>
                  <a:cubicBezTo>
                    <a:pt x="663" y="0"/>
                    <a:pt x="663" y="0"/>
                    <a:pt x="663" y="0"/>
                  </a:cubicBezTo>
                  <a:cubicBezTo>
                    <a:pt x="661" y="0"/>
                    <a:pt x="658" y="0"/>
                    <a:pt x="656" y="0"/>
                  </a:cubicBezTo>
                  <a:cubicBezTo>
                    <a:pt x="654" y="0"/>
                    <a:pt x="651" y="0"/>
                    <a:pt x="649" y="0"/>
                  </a:cubicBezTo>
                  <a:cubicBezTo>
                    <a:pt x="648" y="0"/>
                    <a:pt x="648" y="0"/>
                    <a:pt x="647" y="0"/>
                  </a:cubicBezTo>
                  <a:cubicBezTo>
                    <a:pt x="644" y="0"/>
                    <a:pt x="642" y="0"/>
                    <a:pt x="639" y="0"/>
                  </a:cubicBezTo>
                  <a:cubicBezTo>
                    <a:pt x="637" y="0"/>
                    <a:pt x="634" y="0"/>
                    <a:pt x="632" y="0"/>
                  </a:cubicBezTo>
                  <a:cubicBezTo>
                    <a:pt x="631" y="0"/>
                    <a:pt x="631" y="0"/>
                    <a:pt x="631" y="0"/>
                  </a:cubicBezTo>
                  <a:cubicBezTo>
                    <a:pt x="628" y="0"/>
                    <a:pt x="626" y="0"/>
                    <a:pt x="623" y="0"/>
                  </a:cubicBezTo>
                  <a:cubicBezTo>
                    <a:pt x="621" y="0"/>
                    <a:pt x="618" y="0"/>
                    <a:pt x="616" y="0"/>
                  </a:cubicBezTo>
                  <a:cubicBezTo>
                    <a:pt x="616" y="0"/>
                    <a:pt x="616" y="0"/>
                    <a:pt x="616" y="0"/>
                  </a:cubicBezTo>
                  <a:cubicBezTo>
                    <a:pt x="613" y="0"/>
                    <a:pt x="611" y="0"/>
                    <a:pt x="608" y="0"/>
                  </a:cubicBezTo>
                  <a:cubicBezTo>
                    <a:pt x="606" y="0"/>
                    <a:pt x="603" y="0"/>
                    <a:pt x="601" y="0"/>
                  </a:cubicBezTo>
                  <a:cubicBezTo>
                    <a:pt x="600" y="0"/>
                    <a:pt x="600" y="0"/>
                    <a:pt x="600" y="0"/>
                  </a:cubicBezTo>
                  <a:cubicBezTo>
                    <a:pt x="600" y="0"/>
                    <a:pt x="599" y="0"/>
                    <a:pt x="599" y="0"/>
                  </a:cubicBezTo>
                  <a:cubicBezTo>
                    <a:pt x="597" y="0"/>
                    <a:pt x="595" y="0"/>
                    <a:pt x="593" y="0"/>
                  </a:cubicBezTo>
                  <a:cubicBezTo>
                    <a:pt x="591" y="0"/>
                    <a:pt x="588" y="0"/>
                    <a:pt x="586" y="0"/>
                  </a:cubicBezTo>
                  <a:cubicBezTo>
                    <a:pt x="585" y="0"/>
                    <a:pt x="585" y="0"/>
                    <a:pt x="585" y="0"/>
                  </a:cubicBezTo>
                  <a:cubicBezTo>
                    <a:pt x="584" y="0"/>
                    <a:pt x="584" y="0"/>
                    <a:pt x="583" y="0"/>
                  </a:cubicBezTo>
                  <a:cubicBezTo>
                    <a:pt x="581" y="0"/>
                    <a:pt x="580" y="0"/>
                    <a:pt x="578" y="0"/>
                  </a:cubicBezTo>
                  <a:cubicBezTo>
                    <a:pt x="575" y="1"/>
                    <a:pt x="572" y="1"/>
                    <a:pt x="569" y="1"/>
                  </a:cubicBezTo>
                  <a:cubicBezTo>
                    <a:pt x="569" y="1"/>
                    <a:pt x="569" y="1"/>
                    <a:pt x="569" y="1"/>
                  </a:cubicBezTo>
                  <a:cubicBezTo>
                    <a:pt x="568" y="1"/>
                    <a:pt x="568" y="1"/>
                    <a:pt x="567" y="1"/>
                  </a:cubicBezTo>
                  <a:cubicBezTo>
                    <a:pt x="565" y="1"/>
                    <a:pt x="563" y="1"/>
                    <a:pt x="561" y="1"/>
                  </a:cubicBezTo>
                  <a:cubicBezTo>
                    <a:pt x="558" y="1"/>
                    <a:pt x="556" y="1"/>
                    <a:pt x="554" y="1"/>
                  </a:cubicBezTo>
                  <a:cubicBezTo>
                    <a:pt x="553" y="1"/>
                    <a:pt x="553" y="1"/>
                    <a:pt x="552" y="1"/>
                  </a:cubicBezTo>
                  <a:cubicBezTo>
                    <a:pt x="552" y="1"/>
                    <a:pt x="552" y="1"/>
                    <a:pt x="552" y="1"/>
                  </a:cubicBezTo>
                  <a:cubicBezTo>
                    <a:pt x="549" y="1"/>
                    <a:pt x="546" y="1"/>
                    <a:pt x="543" y="1"/>
                  </a:cubicBezTo>
                  <a:cubicBezTo>
                    <a:pt x="542" y="1"/>
                    <a:pt x="540" y="1"/>
                    <a:pt x="538" y="1"/>
                  </a:cubicBezTo>
                  <a:cubicBezTo>
                    <a:pt x="538" y="1"/>
                    <a:pt x="537" y="1"/>
                    <a:pt x="537" y="1"/>
                  </a:cubicBezTo>
                  <a:cubicBezTo>
                    <a:pt x="536" y="1"/>
                    <a:pt x="535" y="1"/>
                    <a:pt x="535" y="1"/>
                  </a:cubicBezTo>
                  <a:cubicBezTo>
                    <a:pt x="531" y="2"/>
                    <a:pt x="527" y="2"/>
                    <a:pt x="523" y="2"/>
                  </a:cubicBezTo>
                  <a:cubicBezTo>
                    <a:pt x="522" y="2"/>
                    <a:pt x="522" y="2"/>
                    <a:pt x="522" y="2"/>
                  </a:cubicBezTo>
                  <a:cubicBezTo>
                    <a:pt x="519" y="2"/>
                    <a:pt x="515" y="2"/>
                    <a:pt x="512" y="2"/>
                  </a:cubicBezTo>
                  <a:cubicBezTo>
                    <a:pt x="510" y="2"/>
                    <a:pt x="508" y="2"/>
                    <a:pt x="507" y="2"/>
                  </a:cubicBezTo>
                  <a:cubicBezTo>
                    <a:pt x="507" y="2"/>
                    <a:pt x="507" y="2"/>
                    <a:pt x="507" y="2"/>
                  </a:cubicBezTo>
                  <a:cubicBezTo>
                    <a:pt x="501" y="3"/>
                    <a:pt x="496" y="3"/>
                    <a:pt x="491" y="3"/>
                  </a:cubicBezTo>
                  <a:cubicBezTo>
                    <a:pt x="491" y="3"/>
                    <a:pt x="491" y="3"/>
                    <a:pt x="491" y="3"/>
                  </a:cubicBezTo>
                  <a:cubicBezTo>
                    <a:pt x="491" y="3"/>
                    <a:pt x="491" y="3"/>
                    <a:pt x="491" y="3"/>
                  </a:cubicBezTo>
                  <a:cubicBezTo>
                    <a:pt x="482" y="3"/>
                    <a:pt x="473" y="4"/>
                    <a:pt x="464" y="4"/>
                  </a:cubicBezTo>
                  <a:cubicBezTo>
                    <a:pt x="463" y="4"/>
                    <a:pt x="463" y="4"/>
                    <a:pt x="462" y="4"/>
                  </a:cubicBezTo>
                  <a:cubicBezTo>
                    <a:pt x="454" y="5"/>
                    <a:pt x="445" y="5"/>
                    <a:pt x="436" y="6"/>
                  </a:cubicBezTo>
                  <a:cubicBezTo>
                    <a:pt x="436" y="6"/>
                    <a:pt x="435" y="6"/>
                    <a:pt x="435" y="6"/>
                  </a:cubicBezTo>
                  <a:cubicBezTo>
                    <a:pt x="434" y="6"/>
                    <a:pt x="434" y="6"/>
                    <a:pt x="433" y="6"/>
                  </a:cubicBezTo>
                  <a:cubicBezTo>
                    <a:pt x="432" y="6"/>
                    <a:pt x="430" y="6"/>
                    <a:pt x="428" y="7"/>
                  </a:cubicBezTo>
                  <a:cubicBezTo>
                    <a:pt x="426" y="7"/>
                    <a:pt x="424" y="7"/>
                    <a:pt x="422" y="7"/>
                  </a:cubicBezTo>
                  <a:cubicBezTo>
                    <a:pt x="421" y="7"/>
                    <a:pt x="421" y="7"/>
                    <a:pt x="420" y="7"/>
                  </a:cubicBezTo>
                  <a:cubicBezTo>
                    <a:pt x="418" y="7"/>
                    <a:pt x="416" y="7"/>
                    <a:pt x="414" y="7"/>
                  </a:cubicBezTo>
                  <a:cubicBezTo>
                    <a:pt x="413" y="8"/>
                    <a:pt x="411" y="8"/>
                    <a:pt x="410" y="8"/>
                  </a:cubicBezTo>
                  <a:cubicBezTo>
                    <a:pt x="408" y="8"/>
                    <a:pt x="407" y="8"/>
                    <a:pt x="406" y="8"/>
                  </a:cubicBezTo>
                  <a:cubicBezTo>
                    <a:pt x="404" y="8"/>
                    <a:pt x="402" y="8"/>
                    <a:pt x="401" y="9"/>
                  </a:cubicBezTo>
                  <a:cubicBezTo>
                    <a:pt x="399" y="9"/>
                    <a:pt x="398" y="9"/>
                    <a:pt x="397" y="9"/>
                  </a:cubicBezTo>
                  <a:cubicBezTo>
                    <a:pt x="395" y="9"/>
                    <a:pt x="394" y="9"/>
                    <a:pt x="392" y="9"/>
                  </a:cubicBezTo>
                  <a:cubicBezTo>
                    <a:pt x="391" y="9"/>
                    <a:pt x="389" y="9"/>
                    <a:pt x="388" y="10"/>
                  </a:cubicBezTo>
                  <a:cubicBezTo>
                    <a:pt x="387" y="10"/>
                    <a:pt x="387" y="10"/>
                    <a:pt x="386" y="10"/>
                  </a:cubicBezTo>
                  <a:cubicBezTo>
                    <a:pt x="383" y="10"/>
                    <a:pt x="380" y="10"/>
                    <a:pt x="377" y="10"/>
                  </a:cubicBezTo>
                  <a:cubicBezTo>
                    <a:pt x="377" y="11"/>
                    <a:pt x="377" y="11"/>
                    <a:pt x="376" y="11"/>
                  </a:cubicBezTo>
                  <a:cubicBezTo>
                    <a:pt x="375" y="11"/>
                    <a:pt x="375" y="11"/>
                    <a:pt x="374" y="11"/>
                  </a:cubicBezTo>
                  <a:cubicBezTo>
                    <a:pt x="372" y="11"/>
                    <a:pt x="370" y="11"/>
                    <a:pt x="369" y="11"/>
                  </a:cubicBezTo>
                  <a:cubicBezTo>
                    <a:pt x="367" y="11"/>
                    <a:pt x="365" y="12"/>
                    <a:pt x="363" y="12"/>
                  </a:cubicBezTo>
                  <a:cubicBezTo>
                    <a:pt x="362" y="12"/>
                    <a:pt x="362" y="12"/>
                    <a:pt x="361" y="12"/>
                  </a:cubicBezTo>
                  <a:cubicBezTo>
                    <a:pt x="360" y="12"/>
                    <a:pt x="360" y="12"/>
                    <a:pt x="360" y="12"/>
                  </a:cubicBezTo>
                  <a:cubicBezTo>
                    <a:pt x="357" y="12"/>
                    <a:pt x="354" y="13"/>
                    <a:pt x="352" y="13"/>
                  </a:cubicBezTo>
                  <a:cubicBezTo>
                    <a:pt x="351" y="13"/>
                    <a:pt x="350" y="13"/>
                    <a:pt x="349" y="13"/>
                  </a:cubicBezTo>
                  <a:cubicBezTo>
                    <a:pt x="348" y="13"/>
                    <a:pt x="347" y="13"/>
                    <a:pt x="347" y="13"/>
                  </a:cubicBezTo>
                  <a:cubicBezTo>
                    <a:pt x="345" y="14"/>
                    <a:pt x="344" y="14"/>
                    <a:pt x="343" y="14"/>
                  </a:cubicBezTo>
                  <a:cubicBezTo>
                    <a:pt x="340" y="14"/>
                    <a:pt x="338" y="14"/>
                    <a:pt x="335" y="15"/>
                  </a:cubicBezTo>
                  <a:cubicBezTo>
                    <a:pt x="335" y="15"/>
                    <a:pt x="335" y="15"/>
                    <a:pt x="335" y="15"/>
                  </a:cubicBezTo>
                  <a:cubicBezTo>
                    <a:pt x="335" y="15"/>
                    <a:pt x="335" y="15"/>
                    <a:pt x="335" y="15"/>
                  </a:cubicBezTo>
                  <a:cubicBezTo>
                    <a:pt x="332" y="15"/>
                    <a:pt x="329" y="15"/>
                    <a:pt x="326" y="16"/>
                  </a:cubicBezTo>
                  <a:cubicBezTo>
                    <a:pt x="325" y="16"/>
                    <a:pt x="324" y="16"/>
                    <a:pt x="323" y="16"/>
                  </a:cubicBezTo>
                  <a:cubicBezTo>
                    <a:pt x="322" y="16"/>
                    <a:pt x="321" y="16"/>
                    <a:pt x="320" y="16"/>
                  </a:cubicBezTo>
                  <a:cubicBezTo>
                    <a:pt x="320" y="16"/>
                    <a:pt x="319" y="16"/>
                    <a:pt x="318" y="17"/>
                  </a:cubicBezTo>
                  <a:cubicBezTo>
                    <a:pt x="315" y="17"/>
                    <a:pt x="312" y="17"/>
                    <a:pt x="310" y="18"/>
                  </a:cubicBezTo>
                  <a:cubicBezTo>
                    <a:pt x="309" y="18"/>
                    <a:pt x="309" y="18"/>
                    <a:pt x="309" y="18"/>
                  </a:cubicBezTo>
                  <a:cubicBezTo>
                    <a:pt x="308" y="18"/>
                    <a:pt x="308" y="18"/>
                    <a:pt x="307" y="18"/>
                  </a:cubicBezTo>
                  <a:cubicBezTo>
                    <a:pt x="305" y="18"/>
                    <a:pt x="303" y="18"/>
                    <a:pt x="301" y="19"/>
                  </a:cubicBezTo>
                  <a:cubicBezTo>
                    <a:pt x="300" y="19"/>
                    <a:pt x="299" y="19"/>
                    <a:pt x="298" y="19"/>
                  </a:cubicBezTo>
                  <a:cubicBezTo>
                    <a:pt x="296" y="19"/>
                    <a:pt x="295" y="19"/>
                    <a:pt x="294" y="20"/>
                  </a:cubicBezTo>
                  <a:cubicBezTo>
                    <a:pt x="293" y="20"/>
                    <a:pt x="292" y="20"/>
                    <a:pt x="291" y="20"/>
                  </a:cubicBezTo>
                  <a:cubicBezTo>
                    <a:pt x="289" y="20"/>
                    <a:pt x="287" y="20"/>
                    <a:pt x="285" y="21"/>
                  </a:cubicBezTo>
                  <a:cubicBezTo>
                    <a:pt x="284" y="21"/>
                    <a:pt x="283" y="21"/>
                    <a:pt x="282" y="21"/>
                  </a:cubicBezTo>
                  <a:cubicBezTo>
                    <a:pt x="282" y="21"/>
                    <a:pt x="281" y="21"/>
                    <a:pt x="281" y="21"/>
                  </a:cubicBezTo>
                  <a:cubicBezTo>
                    <a:pt x="277" y="22"/>
                    <a:pt x="274" y="22"/>
                    <a:pt x="271" y="23"/>
                  </a:cubicBezTo>
                  <a:cubicBezTo>
                    <a:pt x="271" y="23"/>
                    <a:pt x="271" y="23"/>
                    <a:pt x="271" y="23"/>
                  </a:cubicBezTo>
                  <a:cubicBezTo>
                    <a:pt x="270" y="23"/>
                    <a:pt x="270" y="23"/>
                    <a:pt x="270" y="23"/>
                  </a:cubicBezTo>
                  <a:cubicBezTo>
                    <a:pt x="266" y="23"/>
                    <a:pt x="263" y="24"/>
                    <a:pt x="260" y="24"/>
                  </a:cubicBezTo>
                  <a:cubicBezTo>
                    <a:pt x="259" y="24"/>
                    <a:pt x="259" y="24"/>
                    <a:pt x="259" y="24"/>
                  </a:cubicBezTo>
                  <a:cubicBezTo>
                    <a:pt x="255" y="25"/>
                    <a:pt x="250" y="26"/>
                    <a:pt x="246" y="26"/>
                  </a:cubicBezTo>
                  <a:cubicBezTo>
                    <a:pt x="246" y="26"/>
                    <a:pt x="246" y="26"/>
                    <a:pt x="246" y="26"/>
                  </a:cubicBezTo>
                  <a:cubicBezTo>
                    <a:pt x="245" y="26"/>
                    <a:pt x="245" y="27"/>
                    <a:pt x="244" y="27"/>
                  </a:cubicBezTo>
                  <a:cubicBezTo>
                    <a:pt x="241" y="27"/>
                    <a:pt x="237" y="28"/>
                    <a:pt x="233" y="28"/>
                  </a:cubicBezTo>
                  <a:cubicBezTo>
                    <a:pt x="232" y="29"/>
                    <a:pt x="232" y="29"/>
                    <a:pt x="232" y="29"/>
                  </a:cubicBezTo>
                  <a:cubicBezTo>
                    <a:pt x="231" y="29"/>
                    <a:pt x="231" y="29"/>
                    <a:pt x="230" y="29"/>
                  </a:cubicBezTo>
                  <a:cubicBezTo>
                    <a:pt x="226" y="30"/>
                    <a:pt x="222" y="30"/>
                    <a:pt x="218" y="31"/>
                  </a:cubicBezTo>
                  <a:cubicBezTo>
                    <a:pt x="217" y="31"/>
                    <a:pt x="216" y="31"/>
                    <a:pt x="215" y="32"/>
                  </a:cubicBezTo>
                  <a:cubicBezTo>
                    <a:pt x="215" y="32"/>
                    <a:pt x="214" y="32"/>
                    <a:pt x="213" y="32"/>
                  </a:cubicBezTo>
                  <a:cubicBezTo>
                    <a:pt x="212" y="32"/>
                    <a:pt x="211" y="32"/>
                    <a:pt x="209" y="33"/>
                  </a:cubicBezTo>
                  <a:cubicBezTo>
                    <a:pt x="207" y="33"/>
                    <a:pt x="205" y="33"/>
                    <a:pt x="203" y="34"/>
                  </a:cubicBezTo>
                  <a:cubicBezTo>
                    <a:pt x="201" y="34"/>
                    <a:pt x="200" y="34"/>
                    <a:pt x="199" y="35"/>
                  </a:cubicBezTo>
                  <a:cubicBezTo>
                    <a:pt x="198" y="35"/>
                    <a:pt x="197" y="35"/>
                    <a:pt x="196" y="35"/>
                  </a:cubicBezTo>
                  <a:cubicBezTo>
                    <a:pt x="195" y="35"/>
                    <a:pt x="194" y="36"/>
                    <a:pt x="193" y="36"/>
                  </a:cubicBezTo>
                  <a:cubicBezTo>
                    <a:pt x="191" y="36"/>
                    <a:pt x="189" y="37"/>
                    <a:pt x="187" y="37"/>
                  </a:cubicBezTo>
                  <a:cubicBezTo>
                    <a:pt x="185" y="37"/>
                    <a:pt x="184" y="38"/>
                    <a:pt x="182" y="38"/>
                  </a:cubicBezTo>
                  <a:cubicBezTo>
                    <a:pt x="180" y="38"/>
                    <a:pt x="178" y="39"/>
                    <a:pt x="176" y="39"/>
                  </a:cubicBezTo>
                  <a:cubicBezTo>
                    <a:pt x="175" y="39"/>
                    <a:pt x="174" y="40"/>
                    <a:pt x="173" y="40"/>
                  </a:cubicBezTo>
                  <a:cubicBezTo>
                    <a:pt x="173" y="40"/>
                    <a:pt x="172" y="40"/>
                    <a:pt x="171" y="40"/>
                  </a:cubicBezTo>
                  <a:cubicBezTo>
                    <a:pt x="169" y="41"/>
                    <a:pt x="166" y="41"/>
                    <a:pt x="164" y="42"/>
                  </a:cubicBezTo>
                  <a:cubicBezTo>
                    <a:pt x="163" y="42"/>
                    <a:pt x="161" y="42"/>
                    <a:pt x="160" y="43"/>
                  </a:cubicBezTo>
                  <a:cubicBezTo>
                    <a:pt x="157" y="43"/>
                    <a:pt x="154" y="44"/>
                    <a:pt x="151" y="45"/>
                  </a:cubicBezTo>
                  <a:cubicBezTo>
                    <a:pt x="151" y="45"/>
                    <a:pt x="150" y="45"/>
                    <a:pt x="149" y="45"/>
                  </a:cubicBezTo>
                  <a:cubicBezTo>
                    <a:pt x="149" y="45"/>
                    <a:pt x="149" y="45"/>
                    <a:pt x="149" y="45"/>
                  </a:cubicBezTo>
                  <a:cubicBezTo>
                    <a:pt x="145" y="46"/>
                    <a:pt x="142" y="47"/>
                    <a:pt x="138" y="48"/>
                  </a:cubicBezTo>
                  <a:cubicBezTo>
                    <a:pt x="137" y="48"/>
                    <a:pt x="136" y="49"/>
                    <a:pt x="135" y="49"/>
                  </a:cubicBezTo>
                  <a:cubicBezTo>
                    <a:pt x="133" y="50"/>
                    <a:pt x="130" y="50"/>
                    <a:pt x="127" y="51"/>
                  </a:cubicBezTo>
                  <a:cubicBezTo>
                    <a:pt x="127" y="51"/>
                    <a:pt x="126" y="51"/>
                    <a:pt x="126" y="51"/>
                  </a:cubicBezTo>
                  <a:cubicBezTo>
                    <a:pt x="125" y="52"/>
                    <a:pt x="125" y="52"/>
                    <a:pt x="124" y="52"/>
                  </a:cubicBezTo>
                  <a:cubicBezTo>
                    <a:pt x="122" y="53"/>
                    <a:pt x="119" y="53"/>
                    <a:pt x="117" y="54"/>
                  </a:cubicBezTo>
                  <a:cubicBezTo>
                    <a:pt x="116" y="54"/>
                    <a:pt x="115" y="54"/>
                    <a:pt x="114" y="55"/>
                  </a:cubicBezTo>
                  <a:cubicBezTo>
                    <a:pt x="111" y="56"/>
                    <a:pt x="109" y="56"/>
                    <a:pt x="106" y="57"/>
                  </a:cubicBezTo>
                  <a:cubicBezTo>
                    <a:pt x="106" y="57"/>
                    <a:pt x="105" y="57"/>
                    <a:pt x="105" y="58"/>
                  </a:cubicBezTo>
                  <a:cubicBezTo>
                    <a:pt x="104" y="58"/>
                    <a:pt x="104" y="58"/>
                    <a:pt x="104" y="58"/>
                  </a:cubicBezTo>
                  <a:cubicBezTo>
                    <a:pt x="101" y="59"/>
                    <a:pt x="98" y="60"/>
                    <a:pt x="96" y="60"/>
                  </a:cubicBezTo>
                  <a:cubicBezTo>
                    <a:pt x="95" y="61"/>
                    <a:pt x="94" y="61"/>
                    <a:pt x="93" y="61"/>
                  </a:cubicBezTo>
                  <a:cubicBezTo>
                    <a:pt x="91" y="62"/>
                    <a:pt x="89" y="63"/>
                    <a:pt x="87" y="63"/>
                  </a:cubicBezTo>
                  <a:cubicBezTo>
                    <a:pt x="86" y="64"/>
                    <a:pt x="86" y="64"/>
                    <a:pt x="86" y="64"/>
                  </a:cubicBezTo>
                  <a:cubicBezTo>
                    <a:pt x="86" y="64"/>
                    <a:pt x="85" y="64"/>
                    <a:pt x="84" y="65"/>
                  </a:cubicBezTo>
                  <a:cubicBezTo>
                    <a:pt x="82" y="65"/>
                    <a:pt x="81" y="66"/>
                    <a:pt x="79" y="66"/>
                  </a:cubicBezTo>
                  <a:cubicBezTo>
                    <a:pt x="78" y="67"/>
                    <a:pt x="77" y="67"/>
                    <a:pt x="76" y="67"/>
                  </a:cubicBezTo>
                  <a:cubicBezTo>
                    <a:pt x="75" y="68"/>
                    <a:pt x="73" y="69"/>
                    <a:pt x="72" y="69"/>
                  </a:cubicBezTo>
                  <a:cubicBezTo>
                    <a:pt x="71" y="69"/>
                    <a:pt x="71" y="69"/>
                    <a:pt x="70" y="70"/>
                  </a:cubicBezTo>
                  <a:cubicBezTo>
                    <a:pt x="70" y="70"/>
                    <a:pt x="69" y="70"/>
                    <a:pt x="68" y="70"/>
                  </a:cubicBezTo>
                  <a:cubicBezTo>
                    <a:pt x="67" y="71"/>
                    <a:pt x="66" y="71"/>
                    <a:pt x="65" y="72"/>
                  </a:cubicBezTo>
                  <a:cubicBezTo>
                    <a:pt x="64" y="72"/>
                    <a:pt x="63" y="73"/>
                    <a:pt x="62" y="73"/>
                  </a:cubicBezTo>
                  <a:cubicBezTo>
                    <a:pt x="60" y="74"/>
                    <a:pt x="59" y="74"/>
                    <a:pt x="58" y="75"/>
                  </a:cubicBezTo>
                  <a:cubicBezTo>
                    <a:pt x="58" y="75"/>
                    <a:pt x="57" y="75"/>
                    <a:pt x="57" y="75"/>
                  </a:cubicBezTo>
                  <a:cubicBezTo>
                    <a:pt x="56" y="76"/>
                    <a:pt x="56" y="76"/>
                    <a:pt x="55" y="76"/>
                  </a:cubicBezTo>
                  <a:cubicBezTo>
                    <a:pt x="54" y="77"/>
                    <a:pt x="53" y="77"/>
                    <a:pt x="52" y="78"/>
                  </a:cubicBezTo>
                  <a:cubicBezTo>
                    <a:pt x="51" y="78"/>
                    <a:pt x="50" y="79"/>
                    <a:pt x="49" y="79"/>
                  </a:cubicBezTo>
                  <a:cubicBezTo>
                    <a:pt x="48" y="80"/>
                    <a:pt x="47" y="80"/>
                    <a:pt x="46" y="80"/>
                  </a:cubicBezTo>
                  <a:cubicBezTo>
                    <a:pt x="46" y="81"/>
                    <a:pt x="45" y="81"/>
                    <a:pt x="45" y="81"/>
                  </a:cubicBezTo>
                  <a:cubicBezTo>
                    <a:pt x="44" y="81"/>
                    <a:pt x="44" y="82"/>
                    <a:pt x="43" y="82"/>
                  </a:cubicBezTo>
                  <a:cubicBezTo>
                    <a:pt x="42" y="82"/>
                    <a:pt x="41" y="83"/>
                    <a:pt x="41" y="83"/>
                  </a:cubicBezTo>
                  <a:cubicBezTo>
                    <a:pt x="40" y="84"/>
                    <a:pt x="39" y="84"/>
                    <a:pt x="38" y="85"/>
                  </a:cubicBezTo>
                  <a:cubicBezTo>
                    <a:pt x="37" y="85"/>
                    <a:pt x="36" y="86"/>
                    <a:pt x="35" y="86"/>
                  </a:cubicBezTo>
                  <a:cubicBezTo>
                    <a:pt x="34" y="87"/>
                    <a:pt x="34" y="87"/>
                    <a:pt x="34" y="87"/>
                  </a:cubicBezTo>
                  <a:cubicBezTo>
                    <a:pt x="34" y="87"/>
                    <a:pt x="33" y="88"/>
                    <a:pt x="33" y="88"/>
                  </a:cubicBezTo>
                  <a:cubicBezTo>
                    <a:pt x="32" y="88"/>
                    <a:pt x="31" y="89"/>
                    <a:pt x="31" y="89"/>
                  </a:cubicBezTo>
                  <a:cubicBezTo>
                    <a:pt x="30" y="90"/>
                    <a:pt x="29" y="90"/>
                    <a:pt x="28" y="91"/>
                  </a:cubicBezTo>
                  <a:cubicBezTo>
                    <a:pt x="28" y="91"/>
                    <a:pt x="27" y="92"/>
                    <a:pt x="26" y="92"/>
                  </a:cubicBezTo>
                  <a:cubicBezTo>
                    <a:pt x="26" y="93"/>
                    <a:pt x="26" y="93"/>
                    <a:pt x="26" y="93"/>
                  </a:cubicBezTo>
                  <a:cubicBezTo>
                    <a:pt x="25" y="93"/>
                    <a:pt x="24" y="93"/>
                    <a:pt x="24" y="94"/>
                  </a:cubicBezTo>
                  <a:cubicBezTo>
                    <a:pt x="23" y="94"/>
                    <a:pt x="23" y="95"/>
                    <a:pt x="22" y="95"/>
                  </a:cubicBezTo>
                  <a:cubicBezTo>
                    <a:pt x="21" y="96"/>
                    <a:pt x="21" y="96"/>
                    <a:pt x="20" y="97"/>
                  </a:cubicBezTo>
                  <a:cubicBezTo>
                    <a:pt x="19" y="97"/>
                    <a:pt x="19" y="98"/>
                    <a:pt x="18" y="98"/>
                  </a:cubicBezTo>
                  <a:cubicBezTo>
                    <a:pt x="18" y="98"/>
                    <a:pt x="18" y="98"/>
                    <a:pt x="18" y="98"/>
                  </a:cubicBezTo>
                  <a:cubicBezTo>
                    <a:pt x="17" y="99"/>
                    <a:pt x="17" y="99"/>
                    <a:pt x="16" y="100"/>
                  </a:cubicBezTo>
                  <a:cubicBezTo>
                    <a:pt x="16" y="100"/>
                    <a:pt x="15" y="101"/>
                    <a:pt x="15" y="101"/>
                  </a:cubicBezTo>
                  <a:cubicBezTo>
                    <a:pt x="14" y="102"/>
                    <a:pt x="14" y="103"/>
                    <a:pt x="13" y="103"/>
                  </a:cubicBezTo>
                  <a:cubicBezTo>
                    <a:pt x="12" y="104"/>
                    <a:pt x="12" y="104"/>
                    <a:pt x="12" y="104"/>
                  </a:cubicBezTo>
                  <a:cubicBezTo>
                    <a:pt x="12" y="104"/>
                    <a:pt x="12" y="104"/>
                    <a:pt x="12" y="104"/>
                  </a:cubicBezTo>
                  <a:cubicBezTo>
                    <a:pt x="12" y="104"/>
                    <a:pt x="12" y="104"/>
                    <a:pt x="12" y="104"/>
                  </a:cubicBezTo>
                  <a:cubicBezTo>
                    <a:pt x="11" y="105"/>
                    <a:pt x="10" y="106"/>
                    <a:pt x="9" y="107"/>
                  </a:cubicBezTo>
                  <a:cubicBezTo>
                    <a:pt x="9" y="108"/>
                    <a:pt x="9" y="108"/>
                    <a:pt x="9" y="108"/>
                  </a:cubicBezTo>
                  <a:cubicBezTo>
                    <a:pt x="8" y="109"/>
                    <a:pt x="7" y="110"/>
                    <a:pt x="7" y="110"/>
                  </a:cubicBezTo>
                  <a:cubicBezTo>
                    <a:pt x="7" y="110"/>
                    <a:pt x="7" y="110"/>
                    <a:pt x="7" y="110"/>
                  </a:cubicBezTo>
                  <a:cubicBezTo>
                    <a:pt x="7" y="111"/>
                    <a:pt x="6" y="111"/>
                    <a:pt x="6" y="112"/>
                  </a:cubicBezTo>
                  <a:cubicBezTo>
                    <a:pt x="6" y="112"/>
                    <a:pt x="5" y="113"/>
                    <a:pt x="5" y="114"/>
                  </a:cubicBezTo>
                  <a:cubicBezTo>
                    <a:pt x="5" y="114"/>
                    <a:pt x="4" y="114"/>
                    <a:pt x="4" y="115"/>
                  </a:cubicBezTo>
                  <a:cubicBezTo>
                    <a:pt x="4" y="115"/>
                    <a:pt x="4" y="116"/>
                    <a:pt x="3" y="116"/>
                  </a:cubicBezTo>
                  <a:cubicBezTo>
                    <a:pt x="3" y="117"/>
                    <a:pt x="3" y="117"/>
                    <a:pt x="3" y="117"/>
                  </a:cubicBezTo>
                  <a:cubicBezTo>
                    <a:pt x="3" y="117"/>
                    <a:pt x="3" y="118"/>
                    <a:pt x="3" y="118"/>
                  </a:cubicBezTo>
                  <a:cubicBezTo>
                    <a:pt x="2" y="119"/>
                    <a:pt x="2" y="119"/>
                    <a:pt x="2" y="120"/>
                  </a:cubicBezTo>
                  <a:cubicBezTo>
                    <a:pt x="2" y="120"/>
                    <a:pt x="2" y="121"/>
                    <a:pt x="1" y="121"/>
                  </a:cubicBezTo>
                  <a:cubicBezTo>
                    <a:pt x="1" y="122"/>
                    <a:pt x="1" y="122"/>
                    <a:pt x="1" y="123"/>
                  </a:cubicBezTo>
                  <a:cubicBezTo>
                    <a:pt x="1" y="123"/>
                    <a:pt x="1" y="123"/>
                    <a:pt x="1" y="123"/>
                  </a:cubicBezTo>
                  <a:cubicBezTo>
                    <a:pt x="1" y="124"/>
                    <a:pt x="0" y="126"/>
                    <a:pt x="0" y="127"/>
                  </a:cubicBezTo>
                  <a:cubicBezTo>
                    <a:pt x="0" y="128"/>
                    <a:pt x="0" y="128"/>
                    <a:pt x="0" y="129"/>
                  </a:cubicBezTo>
                  <a:cubicBezTo>
                    <a:pt x="0" y="130"/>
                    <a:pt x="0" y="130"/>
                    <a:pt x="0" y="130"/>
                  </a:cubicBezTo>
                  <a:cubicBezTo>
                    <a:pt x="0" y="130"/>
                    <a:pt x="0" y="131"/>
                    <a:pt x="0" y="131"/>
                  </a:cubicBezTo>
                  <a:cubicBezTo>
                    <a:pt x="0" y="132"/>
                    <a:pt x="1" y="133"/>
                    <a:pt x="1" y="133"/>
                  </a:cubicBezTo>
                  <a:cubicBezTo>
                    <a:pt x="1" y="134"/>
                    <a:pt x="1" y="135"/>
                    <a:pt x="1" y="135"/>
                  </a:cubicBezTo>
                  <a:cubicBezTo>
                    <a:pt x="1" y="136"/>
                    <a:pt x="1" y="136"/>
                    <a:pt x="1" y="136"/>
                  </a:cubicBezTo>
                  <a:cubicBezTo>
                    <a:pt x="1" y="136"/>
                    <a:pt x="1" y="137"/>
                    <a:pt x="2" y="137"/>
                  </a:cubicBezTo>
                  <a:cubicBezTo>
                    <a:pt x="2" y="138"/>
                    <a:pt x="2" y="138"/>
                    <a:pt x="2" y="138"/>
                  </a:cubicBezTo>
                  <a:cubicBezTo>
                    <a:pt x="2" y="139"/>
                    <a:pt x="3" y="141"/>
                    <a:pt x="3" y="142"/>
                  </a:cubicBezTo>
                  <a:cubicBezTo>
                    <a:pt x="18" y="174"/>
                    <a:pt x="33" y="207"/>
                    <a:pt x="48" y="239"/>
                  </a:cubicBezTo>
                  <a:cubicBezTo>
                    <a:pt x="81" y="311"/>
                    <a:pt x="114" y="383"/>
                    <a:pt x="147" y="454"/>
                  </a:cubicBezTo>
                  <a:cubicBezTo>
                    <a:pt x="147" y="455"/>
                    <a:pt x="147" y="455"/>
                    <a:pt x="147" y="455"/>
                  </a:cubicBezTo>
                  <a:cubicBezTo>
                    <a:pt x="147" y="456"/>
                    <a:pt x="147" y="456"/>
                    <a:pt x="147" y="456"/>
                  </a:cubicBezTo>
                  <a:cubicBezTo>
                    <a:pt x="148" y="457"/>
                    <a:pt x="148" y="457"/>
                    <a:pt x="148" y="457"/>
                  </a:cubicBezTo>
                  <a:cubicBezTo>
                    <a:pt x="148" y="458"/>
                    <a:pt x="148" y="458"/>
                    <a:pt x="148" y="458"/>
                  </a:cubicBezTo>
                  <a:cubicBezTo>
                    <a:pt x="149" y="458"/>
                    <a:pt x="149" y="458"/>
                    <a:pt x="149" y="458"/>
                  </a:cubicBezTo>
                  <a:cubicBezTo>
                    <a:pt x="149" y="459"/>
                    <a:pt x="149" y="459"/>
                    <a:pt x="150" y="460"/>
                  </a:cubicBezTo>
                  <a:cubicBezTo>
                    <a:pt x="150" y="460"/>
                    <a:pt x="150" y="460"/>
                    <a:pt x="150" y="460"/>
                  </a:cubicBezTo>
                  <a:cubicBezTo>
                    <a:pt x="151" y="461"/>
                    <a:pt x="151" y="461"/>
                    <a:pt x="151" y="461"/>
                  </a:cubicBezTo>
                  <a:cubicBezTo>
                    <a:pt x="151" y="461"/>
                    <a:pt x="151" y="462"/>
                    <a:pt x="152" y="462"/>
                  </a:cubicBezTo>
                  <a:cubicBezTo>
                    <a:pt x="152" y="463"/>
                    <a:pt x="152" y="463"/>
                    <a:pt x="152" y="463"/>
                  </a:cubicBezTo>
                  <a:cubicBezTo>
                    <a:pt x="152" y="463"/>
                    <a:pt x="152" y="463"/>
                    <a:pt x="152" y="463"/>
                  </a:cubicBezTo>
                  <a:cubicBezTo>
                    <a:pt x="153" y="463"/>
                    <a:pt x="153" y="463"/>
                    <a:pt x="153" y="463"/>
                  </a:cubicBezTo>
                  <a:cubicBezTo>
                    <a:pt x="153" y="464"/>
                    <a:pt x="154" y="464"/>
                    <a:pt x="154" y="465"/>
                  </a:cubicBezTo>
                  <a:cubicBezTo>
                    <a:pt x="155" y="465"/>
                    <a:pt x="155" y="465"/>
                    <a:pt x="155" y="465"/>
                  </a:cubicBezTo>
                  <a:cubicBezTo>
                    <a:pt x="155" y="466"/>
                    <a:pt x="155" y="466"/>
                    <a:pt x="155" y="466"/>
                  </a:cubicBezTo>
                  <a:cubicBezTo>
                    <a:pt x="155" y="466"/>
                    <a:pt x="155" y="466"/>
                    <a:pt x="155" y="466"/>
                  </a:cubicBezTo>
                  <a:cubicBezTo>
                    <a:pt x="156" y="466"/>
                    <a:pt x="156" y="466"/>
                    <a:pt x="156" y="466"/>
                  </a:cubicBezTo>
                  <a:cubicBezTo>
                    <a:pt x="156" y="466"/>
                    <a:pt x="156" y="467"/>
                    <a:pt x="157" y="467"/>
                  </a:cubicBezTo>
                  <a:cubicBezTo>
                    <a:pt x="157" y="468"/>
                    <a:pt x="157" y="468"/>
                    <a:pt x="157" y="468"/>
                  </a:cubicBezTo>
                  <a:cubicBezTo>
                    <a:pt x="158" y="468"/>
                    <a:pt x="158" y="468"/>
                    <a:pt x="158" y="468"/>
                  </a:cubicBezTo>
                  <a:cubicBezTo>
                    <a:pt x="159" y="469"/>
                    <a:pt x="159" y="469"/>
                    <a:pt x="159" y="469"/>
                  </a:cubicBezTo>
                  <a:cubicBezTo>
                    <a:pt x="159" y="469"/>
                    <a:pt x="160" y="470"/>
                    <a:pt x="160" y="470"/>
                  </a:cubicBezTo>
                  <a:cubicBezTo>
                    <a:pt x="161" y="471"/>
                    <a:pt x="161" y="471"/>
                    <a:pt x="161" y="471"/>
                  </a:cubicBezTo>
                  <a:cubicBezTo>
                    <a:pt x="161" y="471"/>
                    <a:pt x="161" y="471"/>
                    <a:pt x="161" y="471"/>
                  </a:cubicBezTo>
                  <a:cubicBezTo>
                    <a:pt x="162" y="471"/>
                    <a:pt x="162" y="471"/>
                    <a:pt x="162" y="472"/>
                  </a:cubicBezTo>
                  <a:cubicBezTo>
                    <a:pt x="163" y="472"/>
                    <a:pt x="163" y="472"/>
                    <a:pt x="163" y="472"/>
                  </a:cubicBezTo>
                  <a:cubicBezTo>
                    <a:pt x="164" y="473"/>
                    <a:pt x="164" y="473"/>
                    <a:pt x="164" y="473"/>
                  </a:cubicBezTo>
                  <a:cubicBezTo>
                    <a:pt x="165" y="474"/>
                    <a:pt x="165" y="474"/>
                    <a:pt x="165" y="474"/>
                  </a:cubicBezTo>
                  <a:cubicBezTo>
                    <a:pt x="166" y="474"/>
                    <a:pt x="166" y="474"/>
                    <a:pt x="166" y="474"/>
                  </a:cubicBezTo>
                  <a:cubicBezTo>
                    <a:pt x="167" y="475"/>
                    <a:pt x="167" y="475"/>
                    <a:pt x="167" y="475"/>
                  </a:cubicBezTo>
                  <a:cubicBezTo>
                    <a:pt x="167" y="475"/>
                    <a:pt x="168" y="475"/>
                    <a:pt x="168" y="476"/>
                  </a:cubicBezTo>
                  <a:cubicBezTo>
                    <a:pt x="169" y="476"/>
                    <a:pt x="169" y="476"/>
                    <a:pt x="170" y="477"/>
                  </a:cubicBezTo>
                  <a:cubicBezTo>
                    <a:pt x="170" y="477"/>
                    <a:pt x="170" y="477"/>
                    <a:pt x="170" y="477"/>
                  </a:cubicBezTo>
                  <a:cubicBezTo>
                    <a:pt x="171" y="477"/>
                    <a:pt x="171" y="477"/>
                    <a:pt x="172" y="478"/>
                  </a:cubicBezTo>
                  <a:cubicBezTo>
                    <a:pt x="172" y="478"/>
                    <a:pt x="173" y="479"/>
                    <a:pt x="174" y="479"/>
                  </a:cubicBezTo>
                  <a:cubicBezTo>
                    <a:pt x="175" y="479"/>
                    <a:pt x="175" y="479"/>
                    <a:pt x="175" y="479"/>
                  </a:cubicBezTo>
                  <a:cubicBezTo>
                    <a:pt x="176" y="480"/>
                    <a:pt x="176" y="480"/>
                    <a:pt x="176" y="480"/>
                  </a:cubicBezTo>
                  <a:cubicBezTo>
                    <a:pt x="176" y="480"/>
                    <a:pt x="176" y="480"/>
                    <a:pt x="176" y="480"/>
                  </a:cubicBezTo>
                  <a:cubicBezTo>
                    <a:pt x="176" y="480"/>
                    <a:pt x="177" y="481"/>
                    <a:pt x="178" y="481"/>
                  </a:cubicBezTo>
                  <a:cubicBezTo>
                    <a:pt x="178" y="481"/>
                    <a:pt x="179" y="482"/>
                    <a:pt x="179" y="482"/>
                  </a:cubicBezTo>
                  <a:cubicBezTo>
                    <a:pt x="180" y="482"/>
                    <a:pt x="180" y="482"/>
                    <a:pt x="180" y="482"/>
                  </a:cubicBezTo>
                  <a:cubicBezTo>
                    <a:pt x="181" y="483"/>
                    <a:pt x="182" y="483"/>
                    <a:pt x="182" y="483"/>
                  </a:cubicBezTo>
                  <a:cubicBezTo>
                    <a:pt x="183" y="484"/>
                    <a:pt x="184" y="484"/>
                    <a:pt x="184" y="484"/>
                  </a:cubicBezTo>
                  <a:cubicBezTo>
                    <a:pt x="184" y="484"/>
                    <a:pt x="184" y="484"/>
                    <a:pt x="184" y="484"/>
                  </a:cubicBezTo>
                  <a:cubicBezTo>
                    <a:pt x="185" y="485"/>
                    <a:pt x="185" y="485"/>
                    <a:pt x="185" y="485"/>
                  </a:cubicBezTo>
                  <a:cubicBezTo>
                    <a:pt x="186" y="485"/>
                    <a:pt x="186" y="485"/>
                    <a:pt x="187" y="486"/>
                  </a:cubicBezTo>
                  <a:cubicBezTo>
                    <a:pt x="187" y="486"/>
                    <a:pt x="188" y="486"/>
                    <a:pt x="189" y="486"/>
                  </a:cubicBezTo>
                  <a:cubicBezTo>
                    <a:pt x="189" y="487"/>
                    <a:pt x="190" y="487"/>
                    <a:pt x="190" y="487"/>
                  </a:cubicBezTo>
                  <a:cubicBezTo>
                    <a:pt x="191" y="487"/>
                    <a:pt x="191" y="488"/>
                    <a:pt x="192" y="488"/>
                  </a:cubicBezTo>
                  <a:cubicBezTo>
                    <a:pt x="192" y="488"/>
                    <a:pt x="193" y="488"/>
                    <a:pt x="194" y="489"/>
                  </a:cubicBezTo>
                  <a:cubicBezTo>
                    <a:pt x="194" y="489"/>
                    <a:pt x="195" y="489"/>
                    <a:pt x="196" y="489"/>
                  </a:cubicBezTo>
                  <a:cubicBezTo>
                    <a:pt x="196" y="490"/>
                    <a:pt x="197" y="490"/>
                    <a:pt x="197" y="490"/>
                  </a:cubicBezTo>
                  <a:cubicBezTo>
                    <a:pt x="198" y="490"/>
                    <a:pt x="198" y="490"/>
                    <a:pt x="199" y="491"/>
                  </a:cubicBezTo>
                  <a:cubicBezTo>
                    <a:pt x="200" y="491"/>
                    <a:pt x="201" y="491"/>
                    <a:pt x="202" y="492"/>
                  </a:cubicBezTo>
                  <a:cubicBezTo>
                    <a:pt x="202" y="492"/>
                    <a:pt x="202" y="492"/>
                    <a:pt x="202" y="492"/>
                  </a:cubicBezTo>
                  <a:cubicBezTo>
                    <a:pt x="203" y="492"/>
                    <a:pt x="203" y="492"/>
                    <a:pt x="203" y="492"/>
                  </a:cubicBezTo>
                  <a:cubicBezTo>
                    <a:pt x="204" y="493"/>
                    <a:pt x="204" y="493"/>
                    <a:pt x="204" y="493"/>
                  </a:cubicBezTo>
                  <a:cubicBezTo>
                    <a:pt x="205" y="493"/>
                    <a:pt x="206" y="493"/>
                    <a:pt x="207" y="494"/>
                  </a:cubicBezTo>
                  <a:cubicBezTo>
                    <a:pt x="208" y="494"/>
                    <a:pt x="209" y="494"/>
                    <a:pt x="209" y="495"/>
                  </a:cubicBezTo>
                  <a:cubicBezTo>
                    <a:pt x="210" y="495"/>
                    <a:pt x="210" y="495"/>
                    <a:pt x="210" y="495"/>
                  </a:cubicBezTo>
                  <a:cubicBezTo>
                    <a:pt x="210" y="495"/>
                    <a:pt x="210" y="495"/>
                    <a:pt x="210" y="495"/>
                  </a:cubicBezTo>
                  <a:cubicBezTo>
                    <a:pt x="211" y="495"/>
                    <a:pt x="212" y="496"/>
                    <a:pt x="213" y="496"/>
                  </a:cubicBezTo>
                  <a:cubicBezTo>
                    <a:pt x="214" y="496"/>
                    <a:pt x="215" y="496"/>
                    <a:pt x="215" y="497"/>
                  </a:cubicBezTo>
                  <a:cubicBezTo>
                    <a:pt x="216" y="497"/>
                    <a:pt x="216" y="497"/>
                    <a:pt x="216" y="497"/>
                  </a:cubicBezTo>
                  <a:cubicBezTo>
                    <a:pt x="217" y="497"/>
                    <a:pt x="218" y="497"/>
                    <a:pt x="218" y="498"/>
                  </a:cubicBezTo>
                  <a:cubicBezTo>
                    <a:pt x="219" y="498"/>
                    <a:pt x="220" y="498"/>
                    <a:pt x="221" y="499"/>
                  </a:cubicBezTo>
                  <a:cubicBezTo>
                    <a:pt x="222" y="499"/>
                    <a:pt x="222" y="499"/>
                    <a:pt x="222" y="499"/>
                  </a:cubicBezTo>
                  <a:cubicBezTo>
                    <a:pt x="223" y="499"/>
                    <a:pt x="223" y="499"/>
                    <a:pt x="223" y="499"/>
                  </a:cubicBezTo>
                  <a:cubicBezTo>
                    <a:pt x="224" y="499"/>
                    <a:pt x="225" y="500"/>
                    <a:pt x="225" y="500"/>
                  </a:cubicBezTo>
                  <a:cubicBezTo>
                    <a:pt x="226" y="500"/>
                    <a:pt x="227" y="500"/>
                    <a:pt x="227" y="501"/>
                  </a:cubicBezTo>
                  <a:cubicBezTo>
                    <a:pt x="228" y="501"/>
                    <a:pt x="229" y="501"/>
                    <a:pt x="230" y="501"/>
                  </a:cubicBezTo>
                  <a:cubicBezTo>
                    <a:pt x="230" y="501"/>
                    <a:pt x="230" y="501"/>
                    <a:pt x="230" y="501"/>
                  </a:cubicBezTo>
                  <a:cubicBezTo>
                    <a:pt x="231" y="502"/>
                    <a:pt x="232" y="502"/>
                    <a:pt x="232" y="502"/>
                  </a:cubicBezTo>
                  <a:cubicBezTo>
                    <a:pt x="233" y="502"/>
                    <a:pt x="233" y="502"/>
                    <a:pt x="234" y="502"/>
                  </a:cubicBezTo>
                  <a:cubicBezTo>
                    <a:pt x="235" y="503"/>
                    <a:pt x="235" y="503"/>
                    <a:pt x="236" y="503"/>
                  </a:cubicBezTo>
                  <a:cubicBezTo>
                    <a:pt x="237" y="503"/>
                    <a:pt x="239" y="504"/>
                    <a:pt x="240" y="504"/>
                  </a:cubicBezTo>
                  <a:cubicBezTo>
                    <a:pt x="240" y="504"/>
                    <a:pt x="240" y="504"/>
                    <a:pt x="240" y="504"/>
                  </a:cubicBezTo>
                  <a:cubicBezTo>
                    <a:pt x="241" y="505"/>
                    <a:pt x="242" y="505"/>
                    <a:pt x="243" y="505"/>
                  </a:cubicBezTo>
                  <a:cubicBezTo>
                    <a:pt x="244" y="505"/>
                    <a:pt x="246" y="506"/>
                    <a:pt x="247" y="506"/>
                  </a:cubicBezTo>
                  <a:cubicBezTo>
                    <a:pt x="247" y="506"/>
                    <a:pt x="248" y="506"/>
                    <a:pt x="248" y="506"/>
                  </a:cubicBezTo>
                  <a:cubicBezTo>
                    <a:pt x="249" y="507"/>
                    <a:pt x="249" y="507"/>
                    <a:pt x="249" y="507"/>
                  </a:cubicBezTo>
                  <a:cubicBezTo>
                    <a:pt x="250" y="507"/>
                    <a:pt x="250" y="507"/>
                    <a:pt x="250" y="507"/>
                  </a:cubicBezTo>
                  <a:cubicBezTo>
                    <a:pt x="251" y="507"/>
                    <a:pt x="253" y="508"/>
                    <a:pt x="254" y="508"/>
                  </a:cubicBezTo>
                  <a:cubicBezTo>
                    <a:pt x="255" y="508"/>
                    <a:pt x="255" y="508"/>
                    <a:pt x="256" y="508"/>
                  </a:cubicBezTo>
                  <a:cubicBezTo>
                    <a:pt x="257" y="509"/>
                    <a:pt x="257" y="509"/>
                    <a:pt x="258" y="509"/>
                  </a:cubicBezTo>
                  <a:cubicBezTo>
                    <a:pt x="259" y="509"/>
                    <a:pt x="260" y="509"/>
                    <a:pt x="261" y="510"/>
                  </a:cubicBezTo>
                  <a:cubicBezTo>
                    <a:pt x="262" y="510"/>
                    <a:pt x="263" y="510"/>
                    <a:pt x="264" y="510"/>
                  </a:cubicBezTo>
                  <a:cubicBezTo>
                    <a:pt x="265" y="510"/>
                    <a:pt x="265" y="511"/>
                    <a:pt x="266" y="511"/>
                  </a:cubicBezTo>
                  <a:cubicBezTo>
                    <a:pt x="267" y="511"/>
                    <a:pt x="268" y="511"/>
                    <a:pt x="268" y="511"/>
                  </a:cubicBezTo>
                  <a:cubicBezTo>
                    <a:pt x="270" y="512"/>
                    <a:pt x="271" y="512"/>
                    <a:pt x="272" y="512"/>
                  </a:cubicBezTo>
                  <a:cubicBezTo>
                    <a:pt x="273" y="512"/>
                    <a:pt x="273" y="512"/>
                    <a:pt x="274" y="513"/>
                  </a:cubicBezTo>
                  <a:cubicBezTo>
                    <a:pt x="275" y="513"/>
                    <a:pt x="276" y="513"/>
                    <a:pt x="276" y="513"/>
                  </a:cubicBezTo>
                  <a:cubicBezTo>
                    <a:pt x="277" y="513"/>
                    <a:pt x="278" y="514"/>
                    <a:pt x="280" y="514"/>
                  </a:cubicBezTo>
                  <a:cubicBezTo>
                    <a:pt x="281" y="514"/>
                    <a:pt x="282" y="514"/>
                    <a:pt x="283" y="514"/>
                  </a:cubicBezTo>
                  <a:cubicBezTo>
                    <a:pt x="283" y="515"/>
                    <a:pt x="284" y="515"/>
                    <a:pt x="285" y="515"/>
                  </a:cubicBezTo>
                  <a:cubicBezTo>
                    <a:pt x="286" y="515"/>
                    <a:pt x="287" y="515"/>
                    <a:pt x="287" y="515"/>
                  </a:cubicBezTo>
                  <a:cubicBezTo>
                    <a:pt x="289" y="516"/>
                    <a:pt x="290" y="516"/>
                    <a:pt x="292" y="516"/>
                  </a:cubicBezTo>
                  <a:cubicBezTo>
                    <a:pt x="292" y="516"/>
                    <a:pt x="293" y="517"/>
                    <a:pt x="294" y="517"/>
                  </a:cubicBezTo>
                  <a:cubicBezTo>
                    <a:pt x="295" y="517"/>
                    <a:pt x="295" y="517"/>
                    <a:pt x="295" y="517"/>
                  </a:cubicBezTo>
                  <a:cubicBezTo>
                    <a:pt x="297" y="517"/>
                    <a:pt x="298" y="518"/>
                    <a:pt x="300" y="518"/>
                  </a:cubicBezTo>
                  <a:cubicBezTo>
                    <a:pt x="301" y="518"/>
                    <a:pt x="302" y="518"/>
                    <a:pt x="303" y="518"/>
                  </a:cubicBezTo>
                  <a:cubicBezTo>
                    <a:pt x="304" y="519"/>
                    <a:pt x="304" y="519"/>
                    <a:pt x="304" y="519"/>
                  </a:cubicBezTo>
                  <a:cubicBezTo>
                    <a:pt x="305" y="519"/>
                    <a:pt x="307" y="519"/>
                    <a:pt x="309" y="519"/>
                  </a:cubicBezTo>
                  <a:cubicBezTo>
                    <a:pt x="310" y="520"/>
                    <a:pt x="311" y="520"/>
                    <a:pt x="312" y="520"/>
                  </a:cubicBezTo>
                  <a:cubicBezTo>
                    <a:pt x="312" y="520"/>
                    <a:pt x="313" y="520"/>
                    <a:pt x="313" y="520"/>
                  </a:cubicBezTo>
                  <a:cubicBezTo>
                    <a:pt x="314" y="520"/>
                    <a:pt x="315" y="521"/>
                    <a:pt x="316" y="521"/>
                  </a:cubicBezTo>
                  <a:cubicBezTo>
                    <a:pt x="317" y="521"/>
                    <a:pt x="318" y="521"/>
                    <a:pt x="318" y="521"/>
                  </a:cubicBezTo>
                  <a:cubicBezTo>
                    <a:pt x="319" y="521"/>
                    <a:pt x="320" y="521"/>
                    <a:pt x="320" y="522"/>
                  </a:cubicBezTo>
                  <a:cubicBezTo>
                    <a:pt x="321" y="522"/>
                    <a:pt x="322" y="522"/>
                    <a:pt x="323" y="522"/>
                  </a:cubicBezTo>
                  <a:cubicBezTo>
                    <a:pt x="324" y="522"/>
                    <a:pt x="325" y="522"/>
                    <a:pt x="326" y="523"/>
                  </a:cubicBezTo>
                  <a:cubicBezTo>
                    <a:pt x="327" y="523"/>
                    <a:pt x="328" y="523"/>
                    <a:pt x="329" y="523"/>
                  </a:cubicBezTo>
                  <a:cubicBezTo>
                    <a:pt x="330" y="523"/>
                    <a:pt x="331" y="523"/>
                    <a:pt x="332" y="523"/>
                  </a:cubicBezTo>
                  <a:cubicBezTo>
                    <a:pt x="333" y="524"/>
                    <a:pt x="333" y="524"/>
                    <a:pt x="333" y="524"/>
                  </a:cubicBezTo>
                  <a:cubicBezTo>
                    <a:pt x="334" y="524"/>
                    <a:pt x="335" y="524"/>
                    <a:pt x="336" y="524"/>
                  </a:cubicBezTo>
                  <a:cubicBezTo>
                    <a:pt x="337" y="524"/>
                    <a:pt x="337" y="524"/>
                    <a:pt x="338" y="524"/>
                  </a:cubicBezTo>
                  <a:cubicBezTo>
                    <a:pt x="339" y="525"/>
                    <a:pt x="340" y="525"/>
                    <a:pt x="341" y="525"/>
                  </a:cubicBezTo>
                  <a:cubicBezTo>
                    <a:pt x="342" y="525"/>
                    <a:pt x="343" y="525"/>
                    <a:pt x="345" y="525"/>
                  </a:cubicBezTo>
                  <a:cubicBezTo>
                    <a:pt x="345" y="525"/>
                    <a:pt x="346" y="526"/>
                    <a:pt x="347" y="526"/>
                  </a:cubicBezTo>
                  <a:cubicBezTo>
                    <a:pt x="348" y="526"/>
                    <a:pt x="349" y="526"/>
                    <a:pt x="351" y="526"/>
                  </a:cubicBezTo>
                  <a:cubicBezTo>
                    <a:pt x="352" y="527"/>
                    <a:pt x="354" y="527"/>
                    <a:pt x="356" y="527"/>
                  </a:cubicBezTo>
                  <a:cubicBezTo>
                    <a:pt x="357" y="527"/>
                    <a:pt x="357" y="527"/>
                    <a:pt x="358" y="527"/>
                  </a:cubicBezTo>
                  <a:cubicBezTo>
                    <a:pt x="359" y="527"/>
                    <a:pt x="359" y="527"/>
                    <a:pt x="360" y="528"/>
                  </a:cubicBezTo>
                  <a:cubicBezTo>
                    <a:pt x="362" y="528"/>
                    <a:pt x="363" y="528"/>
                    <a:pt x="365" y="528"/>
                  </a:cubicBezTo>
                  <a:cubicBezTo>
                    <a:pt x="366" y="528"/>
                    <a:pt x="367" y="528"/>
                    <a:pt x="367" y="529"/>
                  </a:cubicBezTo>
                  <a:cubicBezTo>
                    <a:pt x="368" y="529"/>
                    <a:pt x="368" y="529"/>
                    <a:pt x="368" y="529"/>
                  </a:cubicBezTo>
                  <a:cubicBezTo>
                    <a:pt x="369" y="529"/>
                    <a:pt x="370" y="529"/>
                    <a:pt x="370" y="529"/>
                  </a:cubicBezTo>
                  <a:cubicBezTo>
                    <a:pt x="372" y="529"/>
                    <a:pt x="373" y="529"/>
                    <a:pt x="375" y="529"/>
                  </a:cubicBezTo>
                  <a:cubicBezTo>
                    <a:pt x="376" y="530"/>
                    <a:pt x="378" y="530"/>
                    <a:pt x="379" y="530"/>
                  </a:cubicBezTo>
                  <a:cubicBezTo>
                    <a:pt x="379" y="530"/>
                    <a:pt x="380" y="530"/>
                    <a:pt x="380" y="530"/>
                  </a:cubicBezTo>
                  <a:cubicBezTo>
                    <a:pt x="381" y="530"/>
                    <a:pt x="381" y="530"/>
                    <a:pt x="382" y="530"/>
                  </a:cubicBezTo>
                  <a:cubicBezTo>
                    <a:pt x="383" y="530"/>
                    <a:pt x="383" y="531"/>
                    <a:pt x="384" y="531"/>
                  </a:cubicBezTo>
                  <a:cubicBezTo>
                    <a:pt x="386" y="531"/>
                    <a:pt x="387" y="531"/>
                    <a:pt x="389" y="531"/>
                  </a:cubicBezTo>
                  <a:cubicBezTo>
                    <a:pt x="390" y="531"/>
                    <a:pt x="392" y="532"/>
                    <a:pt x="393" y="532"/>
                  </a:cubicBezTo>
                  <a:cubicBezTo>
                    <a:pt x="394" y="532"/>
                    <a:pt x="395" y="532"/>
                    <a:pt x="396" y="532"/>
                  </a:cubicBezTo>
                  <a:cubicBezTo>
                    <a:pt x="397" y="532"/>
                    <a:pt x="398" y="532"/>
                    <a:pt x="399" y="532"/>
                  </a:cubicBezTo>
                  <a:cubicBezTo>
                    <a:pt x="400" y="532"/>
                    <a:pt x="402" y="533"/>
                    <a:pt x="404" y="533"/>
                  </a:cubicBezTo>
                  <a:cubicBezTo>
                    <a:pt x="405" y="533"/>
                    <a:pt x="406" y="533"/>
                    <a:pt x="408" y="533"/>
                  </a:cubicBezTo>
                  <a:cubicBezTo>
                    <a:pt x="408" y="533"/>
                    <a:pt x="409" y="533"/>
                    <a:pt x="409" y="533"/>
                  </a:cubicBezTo>
                  <a:cubicBezTo>
                    <a:pt x="411" y="534"/>
                    <a:pt x="412" y="534"/>
                    <a:pt x="414" y="534"/>
                  </a:cubicBezTo>
                  <a:cubicBezTo>
                    <a:pt x="416" y="534"/>
                    <a:pt x="417" y="534"/>
                    <a:pt x="419" y="534"/>
                  </a:cubicBezTo>
                  <a:cubicBezTo>
                    <a:pt x="419" y="534"/>
                    <a:pt x="420" y="535"/>
                    <a:pt x="421" y="535"/>
                  </a:cubicBezTo>
                  <a:cubicBezTo>
                    <a:pt x="422" y="535"/>
                    <a:pt x="422" y="535"/>
                    <a:pt x="422" y="535"/>
                  </a:cubicBezTo>
                  <a:cubicBezTo>
                    <a:pt x="423" y="535"/>
                    <a:pt x="423" y="535"/>
                    <a:pt x="423" y="535"/>
                  </a:cubicBezTo>
                  <a:cubicBezTo>
                    <a:pt x="423" y="535"/>
                    <a:pt x="424" y="535"/>
                    <a:pt x="424" y="535"/>
                  </a:cubicBezTo>
                  <a:cubicBezTo>
                    <a:pt x="426" y="535"/>
                    <a:pt x="427" y="535"/>
                    <a:pt x="429" y="535"/>
                  </a:cubicBezTo>
                  <a:cubicBezTo>
                    <a:pt x="431" y="536"/>
                    <a:pt x="433" y="536"/>
                    <a:pt x="435" y="536"/>
                  </a:cubicBezTo>
                  <a:cubicBezTo>
                    <a:pt x="436" y="536"/>
                    <a:pt x="438" y="536"/>
                    <a:pt x="439" y="536"/>
                  </a:cubicBezTo>
                  <a:cubicBezTo>
                    <a:pt x="441" y="536"/>
                    <a:pt x="442" y="537"/>
                    <a:pt x="444" y="537"/>
                  </a:cubicBezTo>
                  <a:cubicBezTo>
                    <a:pt x="445" y="537"/>
                    <a:pt x="446" y="537"/>
                    <a:pt x="446" y="537"/>
                  </a:cubicBezTo>
                  <a:cubicBezTo>
                    <a:pt x="447" y="537"/>
                    <a:pt x="448" y="537"/>
                    <a:pt x="450" y="537"/>
                  </a:cubicBezTo>
                  <a:cubicBezTo>
                    <a:pt x="453" y="537"/>
                    <a:pt x="457" y="538"/>
                    <a:pt x="460" y="538"/>
                  </a:cubicBezTo>
                  <a:cubicBezTo>
                    <a:pt x="461" y="538"/>
                    <a:pt x="462" y="538"/>
                    <a:pt x="463" y="538"/>
                  </a:cubicBezTo>
                  <a:cubicBezTo>
                    <a:pt x="465" y="538"/>
                    <a:pt x="467" y="538"/>
                    <a:pt x="469" y="539"/>
                  </a:cubicBezTo>
                  <a:cubicBezTo>
                    <a:pt x="469" y="539"/>
                    <a:pt x="469" y="539"/>
                    <a:pt x="469" y="539"/>
                  </a:cubicBezTo>
                  <a:cubicBezTo>
                    <a:pt x="470" y="539"/>
                    <a:pt x="470" y="539"/>
                    <a:pt x="470" y="539"/>
                  </a:cubicBezTo>
                  <a:cubicBezTo>
                    <a:pt x="470" y="539"/>
                    <a:pt x="470" y="539"/>
                    <a:pt x="471" y="539"/>
                  </a:cubicBezTo>
                  <a:cubicBezTo>
                    <a:pt x="472" y="539"/>
                    <a:pt x="474" y="539"/>
                    <a:pt x="475" y="539"/>
                  </a:cubicBezTo>
                  <a:cubicBezTo>
                    <a:pt x="477" y="539"/>
                    <a:pt x="479" y="539"/>
                    <a:pt x="482" y="539"/>
                  </a:cubicBezTo>
                  <a:cubicBezTo>
                    <a:pt x="483" y="540"/>
                    <a:pt x="485" y="540"/>
                    <a:pt x="486" y="540"/>
                  </a:cubicBezTo>
                  <a:cubicBezTo>
                    <a:pt x="488" y="540"/>
                    <a:pt x="490" y="540"/>
                    <a:pt x="492" y="540"/>
                  </a:cubicBezTo>
                  <a:cubicBezTo>
                    <a:pt x="493" y="540"/>
                    <a:pt x="493" y="540"/>
                    <a:pt x="493" y="540"/>
                  </a:cubicBezTo>
                  <a:cubicBezTo>
                    <a:pt x="494" y="540"/>
                    <a:pt x="496" y="540"/>
                    <a:pt x="497" y="540"/>
                  </a:cubicBezTo>
                  <a:cubicBezTo>
                    <a:pt x="499" y="540"/>
                    <a:pt x="501" y="541"/>
                    <a:pt x="504" y="541"/>
                  </a:cubicBezTo>
                  <a:cubicBezTo>
                    <a:pt x="505" y="541"/>
                    <a:pt x="507" y="541"/>
                    <a:pt x="508" y="541"/>
                  </a:cubicBezTo>
                  <a:cubicBezTo>
                    <a:pt x="510" y="541"/>
                    <a:pt x="512" y="541"/>
                    <a:pt x="514" y="541"/>
                  </a:cubicBezTo>
                  <a:cubicBezTo>
                    <a:pt x="515" y="541"/>
                    <a:pt x="515" y="541"/>
                    <a:pt x="515" y="541"/>
                  </a:cubicBezTo>
                  <a:cubicBezTo>
                    <a:pt x="515" y="541"/>
                    <a:pt x="515" y="541"/>
                    <a:pt x="515" y="541"/>
                  </a:cubicBezTo>
                  <a:cubicBezTo>
                    <a:pt x="517" y="541"/>
                    <a:pt x="518" y="541"/>
                    <a:pt x="520" y="541"/>
                  </a:cubicBezTo>
                  <a:cubicBezTo>
                    <a:pt x="522" y="542"/>
                    <a:pt x="524" y="542"/>
                    <a:pt x="526" y="542"/>
                  </a:cubicBezTo>
                  <a:cubicBezTo>
                    <a:pt x="528" y="542"/>
                    <a:pt x="529" y="542"/>
                    <a:pt x="531" y="542"/>
                  </a:cubicBezTo>
                  <a:cubicBezTo>
                    <a:pt x="533" y="542"/>
                    <a:pt x="535" y="542"/>
                    <a:pt x="537" y="542"/>
                  </a:cubicBezTo>
                  <a:cubicBezTo>
                    <a:pt x="538" y="542"/>
                    <a:pt x="538" y="542"/>
                    <a:pt x="539" y="542"/>
                  </a:cubicBezTo>
                  <a:cubicBezTo>
                    <a:pt x="540" y="542"/>
                    <a:pt x="541" y="542"/>
                    <a:pt x="542" y="542"/>
                  </a:cubicBezTo>
                  <a:cubicBezTo>
                    <a:pt x="545" y="542"/>
                    <a:pt x="547" y="543"/>
                    <a:pt x="549" y="543"/>
                  </a:cubicBezTo>
                  <a:cubicBezTo>
                    <a:pt x="551" y="543"/>
                    <a:pt x="552" y="543"/>
                    <a:pt x="554" y="543"/>
                  </a:cubicBezTo>
                  <a:cubicBezTo>
                    <a:pt x="556" y="543"/>
                    <a:pt x="558" y="543"/>
                    <a:pt x="560" y="543"/>
                  </a:cubicBezTo>
                  <a:cubicBezTo>
                    <a:pt x="561" y="543"/>
                    <a:pt x="561" y="543"/>
                    <a:pt x="561" y="543"/>
                  </a:cubicBezTo>
                  <a:cubicBezTo>
                    <a:pt x="562" y="543"/>
                    <a:pt x="562" y="543"/>
                    <a:pt x="562" y="543"/>
                  </a:cubicBezTo>
                  <a:cubicBezTo>
                    <a:pt x="562" y="543"/>
                    <a:pt x="562" y="543"/>
                    <a:pt x="562" y="543"/>
                  </a:cubicBezTo>
                  <a:cubicBezTo>
                    <a:pt x="563" y="543"/>
                    <a:pt x="564" y="543"/>
                    <a:pt x="565" y="543"/>
                  </a:cubicBezTo>
                  <a:cubicBezTo>
                    <a:pt x="568" y="543"/>
                    <a:pt x="570" y="543"/>
                    <a:pt x="572" y="543"/>
                  </a:cubicBezTo>
                  <a:cubicBezTo>
                    <a:pt x="574" y="543"/>
                    <a:pt x="576" y="543"/>
                    <a:pt x="577" y="543"/>
                  </a:cubicBezTo>
                  <a:cubicBezTo>
                    <a:pt x="579" y="543"/>
                    <a:pt x="582" y="543"/>
                    <a:pt x="584" y="543"/>
                  </a:cubicBezTo>
                  <a:cubicBezTo>
                    <a:pt x="585" y="543"/>
                    <a:pt x="585" y="543"/>
                    <a:pt x="586" y="543"/>
                  </a:cubicBezTo>
                  <a:cubicBezTo>
                    <a:pt x="586" y="543"/>
                    <a:pt x="587" y="543"/>
                    <a:pt x="587" y="543"/>
                  </a:cubicBezTo>
                  <a:cubicBezTo>
                    <a:pt x="588" y="543"/>
                    <a:pt x="588" y="543"/>
                    <a:pt x="589" y="544"/>
                  </a:cubicBezTo>
                  <a:cubicBezTo>
                    <a:pt x="592" y="544"/>
                    <a:pt x="594" y="544"/>
                    <a:pt x="597" y="544"/>
                  </a:cubicBezTo>
                  <a:cubicBezTo>
                    <a:pt x="598" y="544"/>
                    <a:pt x="599" y="544"/>
                    <a:pt x="601" y="544"/>
                  </a:cubicBezTo>
                  <a:cubicBezTo>
                    <a:pt x="604" y="544"/>
                    <a:pt x="608" y="544"/>
                    <a:pt x="612" y="544"/>
                  </a:cubicBezTo>
                  <a:cubicBezTo>
                    <a:pt x="612" y="544"/>
                    <a:pt x="612" y="544"/>
                    <a:pt x="612" y="544"/>
                  </a:cubicBezTo>
                  <a:cubicBezTo>
                    <a:pt x="613" y="544"/>
                    <a:pt x="613" y="544"/>
                    <a:pt x="613" y="544"/>
                  </a:cubicBezTo>
                  <a:cubicBezTo>
                    <a:pt x="617" y="544"/>
                    <a:pt x="621" y="544"/>
                    <a:pt x="625" y="544"/>
                  </a:cubicBezTo>
                  <a:cubicBezTo>
                    <a:pt x="626" y="544"/>
                    <a:pt x="627" y="544"/>
                    <a:pt x="628" y="544"/>
                  </a:cubicBezTo>
                  <a:cubicBezTo>
                    <a:pt x="631" y="544"/>
                    <a:pt x="634" y="544"/>
                    <a:pt x="637" y="544"/>
                  </a:cubicBezTo>
                  <a:cubicBezTo>
                    <a:pt x="638" y="544"/>
                    <a:pt x="639" y="544"/>
                    <a:pt x="640" y="544"/>
                  </a:cubicBezTo>
                  <a:cubicBezTo>
                    <a:pt x="641" y="544"/>
                    <a:pt x="642" y="544"/>
                    <a:pt x="643" y="544"/>
                  </a:cubicBezTo>
                  <a:cubicBezTo>
                    <a:pt x="645" y="544"/>
                    <a:pt x="647" y="544"/>
                    <a:pt x="648" y="544"/>
                  </a:cubicBezTo>
                  <a:cubicBezTo>
                    <a:pt x="650" y="544"/>
                    <a:pt x="652" y="544"/>
                    <a:pt x="653" y="543"/>
                  </a:cubicBezTo>
                  <a:cubicBezTo>
                    <a:pt x="656" y="543"/>
                    <a:pt x="658" y="543"/>
                    <a:pt x="660" y="543"/>
                  </a:cubicBezTo>
                  <a:cubicBezTo>
                    <a:pt x="662" y="543"/>
                    <a:pt x="664" y="543"/>
                    <a:pt x="665" y="543"/>
                  </a:cubicBezTo>
                  <a:cubicBezTo>
                    <a:pt x="667" y="543"/>
                    <a:pt x="668" y="543"/>
                    <a:pt x="670" y="543"/>
                  </a:cubicBezTo>
                  <a:cubicBezTo>
                    <a:pt x="670" y="543"/>
                    <a:pt x="670" y="543"/>
                    <a:pt x="670" y="543"/>
                  </a:cubicBezTo>
                  <a:cubicBezTo>
                    <a:pt x="670" y="543"/>
                    <a:pt x="670" y="543"/>
                    <a:pt x="670" y="543"/>
                  </a:cubicBezTo>
                  <a:cubicBezTo>
                    <a:pt x="671" y="543"/>
                    <a:pt x="671" y="543"/>
                    <a:pt x="672" y="543"/>
                  </a:cubicBezTo>
                  <a:cubicBezTo>
                    <a:pt x="674" y="543"/>
                    <a:pt x="675" y="543"/>
                    <a:pt x="677" y="543"/>
                  </a:cubicBezTo>
                  <a:cubicBezTo>
                    <a:pt x="679" y="543"/>
                    <a:pt x="681" y="543"/>
                    <a:pt x="684" y="543"/>
                  </a:cubicBezTo>
                  <a:cubicBezTo>
                    <a:pt x="685" y="543"/>
                    <a:pt x="686" y="543"/>
                    <a:pt x="688" y="543"/>
                  </a:cubicBezTo>
                  <a:cubicBezTo>
                    <a:pt x="689" y="543"/>
                    <a:pt x="690" y="543"/>
                    <a:pt x="691" y="543"/>
                  </a:cubicBezTo>
                  <a:cubicBezTo>
                    <a:pt x="692" y="543"/>
                    <a:pt x="694" y="543"/>
                    <a:pt x="695" y="543"/>
                  </a:cubicBezTo>
                  <a:cubicBezTo>
                    <a:pt x="697" y="542"/>
                    <a:pt x="699" y="542"/>
                    <a:pt x="700" y="542"/>
                  </a:cubicBezTo>
                  <a:cubicBezTo>
                    <a:pt x="702" y="542"/>
                    <a:pt x="705" y="542"/>
                    <a:pt x="707" y="542"/>
                  </a:cubicBezTo>
                  <a:cubicBezTo>
                    <a:pt x="707" y="542"/>
                    <a:pt x="708" y="542"/>
                    <a:pt x="708" y="542"/>
                  </a:cubicBezTo>
                  <a:cubicBezTo>
                    <a:pt x="709" y="542"/>
                    <a:pt x="709" y="542"/>
                    <a:pt x="709" y="542"/>
                  </a:cubicBezTo>
                  <a:cubicBezTo>
                    <a:pt x="710" y="542"/>
                    <a:pt x="711" y="542"/>
                    <a:pt x="712" y="542"/>
                  </a:cubicBezTo>
                  <a:cubicBezTo>
                    <a:pt x="714" y="542"/>
                    <a:pt x="716" y="542"/>
                    <a:pt x="718" y="542"/>
                  </a:cubicBezTo>
                  <a:cubicBezTo>
                    <a:pt x="720" y="542"/>
                    <a:pt x="721" y="542"/>
                    <a:pt x="723" y="541"/>
                  </a:cubicBezTo>
                  <a:cubicBezTo>
                    <a:pt x="724" y="541"/>
                    <a:pt x="726" y="541"/>
                    <a:pt x="727" y="541"/>
                  </a:cubicBezTo>
                  <a:cubicBezTo>
                    <a:pt x="728" y="541"/>
                    <a:pt x="728" y="541"/>
                    <a:pt x="728" y="541"/>
                  </a:cubicBezTo>
                  <a:cubicBezTo>
                    <a:pt x="729" y="541"/>
                    <a:pt x="729" y="541"/>
                    <a:pt x="729" y="541"/>
                  </a:cubicBezTo>
                  <a:cubicBezTo>
                    <a:pt x="731" y="541"/>
                    <a:pt x="733" y="541"/>
                    <a:pt x="734" y="541"/>
                  </a:cubicBezTo>
                  <a:cubicBezTo>
                    <a:pt x="736" y="541"/>
                    <a:pt x="739" y="541"/>
                    <a:pt x="741" y="541"/>
                  </a:cubicBezTo>
                  <a:cubicBezTo>
                    <a:pt x="742" y="540"/>
                    <a:pt x="744" y="540"/>
                    <a:pt x="745" y="540"/>
                  </a:cubicBezTo>
                  <a:cubicBezTo>
                    <a:pt x="746" y="540"/>
                    <a:pt x="746" y="540"/>
                    <a:pt x="746" y="540"/>
                  </a:cubicBezTo>
                  <a:cubicBezTo>
                    <a:pt x="747" y="540"/>
                    <a:pt x="747" y="540"/>
                    <a:pt x="747" y="540"/>
                  </a:cubicBezTo>
                  <a:cubicBezTo>
                    <a:pt x="749" y="540"/>
                    <a:pt x="750" y="540"/>
                    <a:pt x="752" y="540"/>
                  </a:cubicBezTo>
                  <a:cubicBezTo>
                    <a:pt x="753" y="540"/>
                    <a:pt x="755" y="540"/>
                    <a:pt x="757" y="540"/>
                  </a:cubicBezTo>
                  <a:cubicBezTo>
                    <a:pt x="757" y="540"/>
                    <a:pt x="758" y="540"/>
                    <a:pt x="758" y="540"/>
                  </a:cubicBezTo>
                  <a:cubicBezTo>
                    <a:pt x="760" y="539"/>
                    <a:pt x="761" y="539"/>
                    <a:pt x="763" y="539"/>
                  </a:cubicBezTo>
                  <a:cubicBezTo>
                    <a:pt x="764" y="539"/>
                    <a:pt x="766" y="539"/>
                    <a:pt x="768" y="539"/>
                  </a:cubicBezTo>
                  <a:cubicBezTo>
                    <a:pt x="768" y="539"/>
                    <a:pt x="769" y="539"/>
                    <a:pt x="770" y="539"/>
                  </a:cubicBezTo>
                  <a:cubicBezTo>
                    <a:pt x="771" y="539"/>
                    <a:pt x="771" y="539"/>
                    <a:pt x="772" y="539"/>
                  </a:cubicBezTo>
                  <a:cubicBezTo>
                    <a:pt x="773" y="539"/>
                    <a:pt x="773" y="539"/>
                    <a:pt x="774" y="539"/>
                  </a:cubicBezTo>
                  <a:cubicBezTo>
                    <a:pt x="775" y="538"/>
                    <a:pt x="777" y="538"/>
                    <a:pt x="778" y="538"/>
                  </a:cubicBezTo>
                  <a:cubicBezTo>
                    <a:pt x="779" y="538"/>
                    <a:pt x="780" y="538"/>
                    <a:pt x="781" y="538"/>
                  </a:cubicBezTo>
                  <a:cubicBezTo>
                    <a:pt x="782" y="538"/>
                    <a:pt x="784" y="538"/>
                    <a:pt x="785" y="538"/>
                  </a:cubicBezTo>
                  <a:cubicBezTo>
                    <a:pt x="786" y="538"/>
                    <a:pt x="788" y="537"/>
                    <a:pt x="789" y="537"/>
                  </a:cubicBezTo>
                  <a:cubicBezTo>
                    <a:pt x="790" y="537"/>
                    <a:pt x="791" y="537"/>
                    <a:pt x="792" y="537"/>
                  </a:cubicBezTo>
                  <a:cubicBezTo>
                    <a:pt x="794" y="537"/>
                    <a:pt x="795" y="537"/>
                    <a:pt x="796" y="537"/>
                  </a:cubicBezTo>
                  <a:cubicBezTo>
                    <a:pt x="797" y="537"/>
                    <a:pt x="798" y="537"/>
                    <a:pt x="800" y="537"/>
                  </a:cubicBezTo>
                  <a:cubicBezTo>
                    <a:pt x="801" y="536"/>
                    <a:pt x="802" y="536"/>
                    <a:pt x="803" y="536"/>
                  </a:cubicBezTo>
                  <a:cubicBezTo>
                    <a:pt x="805" y="536"/>
                    <a:pt x="806" y="536"/>
                    <a:pt x="807" y="536"/>
                  </a:cubicBezTo>
                  <a:cubicBezTo>
                    <a:pt x="808" y="536"/>
                    <a:pt x="809" y="536"/>
                    <a:pt x="810" y="536"/>
                  </a:cubicBezTo>
                  <a:cubicBezTo>
                    <a:pt x="811" y="535"/>
                    <a:pt x="813" y="535"/>
                    <a:pt x="814" y="535"/>
                  </a:cubicBezTo>
                  <a:cubicBezTo>
                    <a:pt x="816" y="535"/>
                    <a:pt x="817" y="535"/>
                    <a:pt x="818" y="535"/>
                  </a:cubicBezTo>
                  <a:cubicBezTo>
                    <a:pt x="819" y="535"/>
                    <a:pt x="820" y="535"/>
                    <a:pt x="820" y="535"/>
                  </a:cubicBezTo>
                  <a:cubicBezTo>
                    <a:pt x="822" y="535"/>
                    <a:pt x="823" y="534"/>
                    <a:pt x="825" y="534"/>
                  </a:cubicBezTo>
                  <a:cubicBezTo>
                    <a:pt x="826" y="534"/>
                    <a:pt x="828" y="534"/>
                    <a:pt x="829" y="534"/>
                  </a:cubicBezTo>
                  <a:cubicBezTo>
                    <a:pt x="830" y="534"/>
                    <a:pt x="830" y="534"/>
                    <a:pt x="831" y="534"/>
                  </a:cubicBezTo>
                  <a:cubicBezTo>
                    <a:pt x="832" y="533"/>
                    <a:pt x="834" y="533"/>
                    <a:pt x="836" y="533"/>
                  </a:cubicBezTo>
                  <a:cubicBezTo>
                    <a:pt x="837" y="533"/>
                    <a:pt x="838" y="533"/>
                    <a:pt x="840" y="533"/>
                  </a:cubicBezTo>
                  <a:cubicBezTo>
                    <a:pt x="841" y="533"/>
                    <a:pt x="841" y="533"/>
                    <a:pt x="841" y="533"/>
                  </a:cubicBezTo>
                  <a:cubicBezTo>
                    <a:pt x="841" y="533"/>
                    <a:pt x="841" y="533"/>
                    <a:pt x="841" y="533"/>
                  </a:cubicBezTo>
                  <a:cubicBezTo>
                    <a:pt x="843" y="532"/>
                    <a:pt x="845" y="532"/>
                    <a:pt x="847" y="532"/>
                  </a:cubicBezTo>
                  <a:cubicBezTo>
                    <a:pt x="848" y="532"/>
                    <a:pt x="849" y="532"/>
                    <a:pt x="850" y="532"/>
                  </a:cubicBezTo>
                  <a:cubicBezTo>
                    <a:pt x="851" y="531"/>
                    <a:pt x="851" y="531"/>
                    <a:pt x="851" y="531"/>
                  </a:cubicBezTo>
                  <a:cubicBezTo>
                    <a:pt x="852" y="531"/>
                    <a:pt x="853" y="531"/>
                    <a:pt x="854" y="531"/>
                  </a:cubicBezTo>
                  <a:cubicBezTo>
                    <a:pt x="856" y="531"/>
                    <a:pt x="858" y="531"/>
                    <a:pt x="860" y="530"/>
                  </a:cubicBezTo>
                  <a:cubicBezTo>
                    <a:pt x="861" y="530"/>
                    <a:pt x="861" y="530"/>
                    <a:pt x="861" y="530"/>
                  </a:cubicBezTo>
                  <a:cubicBezTo>
                    <a:pt x="862" y="530"/>
                    <a:pt x="863" y="530"/>
                    <a:pt x="864" y="530"/>
                  </a:cubicBezTo>
                  <a:cubicBezTo>
                    <a:pt x="866" y="530"/>
                    <a:pt x="868" y="529"/>
                    <a:pt x="870" y="529"/>
                  </a:cubicBezTo>
                  <a:cubicBezTo>
                    <a:pt x="871" y="529"/>
                    <a:pt x="871" y="529"/>
                    <a:pt x="871" y="529"/>
                  </a:cubicBezTo>
                  <a:cubicBezTo>
                    <a:pt x="872" y="529"/>
                    <a:pt x="873" y="529"/>
                    <a:pt x="874" y="529"/>
                  </a:cubicBezTo>
                  <a:cubicBezTo>
                    <a:pt x="876" y="528"/>
                    <a:pt x="878" y="528"/>
                    <a:pt x="879" y="528"/>
                  </a:cubicBezTo>
                  <a:cubicBezTo>
                    <a:pt x="880" y="528"/>
                    <a:pt x="880" y="528"/>
                    <a:pt x="881" y="528"/>
                  </a:cubicBezTo>
                  <a:cubicBezTo>
                    <a:pt x="882" y="528"/>
                    <a:pt x="883" y="527"/>
                    <a:pt x="884" y="527"/>
                  </a:cubicBezTo>
                  <a:cubicBezTo>
                    <a:pt x="886" y="527"/>
                    <a:pt x="887" y="527"/>
                    <a:pt x="889" y="527"/>
                  </a:cubicBezTo>
                  <a:cubicBezTo>
                    <a:pt x="889" y="527"/>
                    <a:pt x="890" y="526"/>
                    <a:pt x="891" y="526"/>
                  </a:cubicBezTo>
                  <a:cubicBezTo>
                    <a:pt x="892" y="526"/>
                    <a:pt x="893" y="526"/>
                    <a:pt x="894" y="526"/>
                  </a:cubicBezTo>
                  <a:cubicBezTo>
                    <a:pt x="895" y="526"/>
                    <a:pt x="897" y="525"/>
                    <a:pt x="898" y="525"/>
                  </a:cubicBezTo>
                  <a:cubicBezTo>
                    <a:pt x="899" y="525"/>
                    <a:pt x="900" y="525"/>
                    <a:pt x="900" y="525"/>
                  </a:cubicBezTo>
                  <a:cubicBezTo>
                    <a:pt x="902" y="525"/>
                    <a:pt x="903" y="525"/>
                    <a:pt x="904" y="524"/>
                  </a:cubicBezTo>
                  <a:cubicBezTo>
                    <a:pt x="905" y="524"/>
                    <a:pt x="906" y="524"/>
                    <a:pt x="907" y="524"/>
                  </a:cubicBezTo>
                  <a:cubicBezTo>
                    <a:pt x="908" y="524"/>
                    <a:pt x="909" y="524"/>
                    <a:pt x="910" y="523"/>
                  </a:cubicBezTo>
                  <a:cubicBezTo>
                    <a:pt x="911" y="523"/>
                    <a:pt x="912" y="523"/>
                    <a:pt x="913" y="523"/>
                  </a:cubicBezTo>
                  <a:cubicBezTo>
                    <a:pt x="914" y="523"/>
                    <a:pt x="915" y="523"/>
                    <a:pt x="916" y="522"/>
                  </a:cubicBezTo>
                  <a:cubicBezTo>
                    <a:pt x="917" y="522"/>
                    <a:pt x="918" y="522"/>
                    <a:pt x="919" y="522"/>
                  </a:cubicBezTo>
                  <a:cubicBezTo>
                    <a:pt x="920" y="522"/>
                    <a:pt x="921" y="522"/>
                    <a:pt x="921" y="522"/>
                  </a:cubicBezTo>
                  <a:cubicBezTo>
                    <a:pt x="922" y="521"/>
                    <a:pt x="922" y="521"/>
                    <a:pt x="922" y="521"/>
                  </a:cubicBezTo>
                  <a:cubicBezTo>
                    <a:pt x="923" y="521"/>
                    <a:pt x="924" y="521"/>
                    <a:pt x="925" y="521"/>
                  </a:cubicBezTo>
                  <a:cubicBezTo>
                    <a:pt x="926" y="521"/>
                    <a:pt x="927" y="521"/>
                    <a:pt x="929" y="520"/>
                  </a:cubicBezTo>
                  <a:cubicBezTo>
                    <a:pt x="930" y="520"/>
                    <a:pt x="932" y="520"/>
                    <a:pt x="933" y="520"/>
                  </a:cubicBezTo>
                  <a:cubicBezTo>
                    <a:pt x="934" y="519"/>
                    <a:pt x="935" y="519"/>
                    <a:pt x="936" y="519"/>
                  </a:cubicBezTo>
                  <a:cubicBezTo>
                    <a:pt x="936" y="519"/>
                    <a:pt x="937" y="519"/>
                    <a:pt x="937" y="519"/>
                  </a:cubicBezTo>
                  <a:cubicBezTo>
                    <a:pt x="939" y="518"/>
                    <a:pt x="940" y="518"/>
                    <a:pt x="941" y="518"/>
                  </a:cubicBezTo>
                  <a:cubicBezTo>
                    <a:pt x="943" y="518"/>
                    <a:pt x="944" y="517"/>
                    <a:pt x="945" y="517"/>
                  </a:cubicBezTo>
                  <a:cubicBezTo>
                    <a:pt x="947" y="517"/>
                    <a:pt x="948" y="517"/>
                    <a:pt x="949" y="516"/>
                  </a:cubicBezTo>
                  <a:cubicBezTo>
                    <a:pt x="950" y="516"/>
                    <a:pt x="950" y="516"/>
                    <a:pt x="951" y="516"/>
                  </a:cubicBezTo>
                  <a:cubicBezTo>
                    <a:pt x="952" y="516"/>
                    <a:pt x="953" y="516"/>
                    <a:pt x="953" y="516"/>
                  </a:cubicBezTo>
                  <a:cubicBezTo>
                    <a:pt x="955" y="515"/>
                    <a:pt x="956" y="515"/>
                    <a:pt x="958" y="515"/>
                  </a:cubicBezTo>
                  <a:cubicBezTo>
                    <a:pt x="959" y="514"/>
                    <a:pt x="960" y="514"/>
                    <a:pt x="961" y="514"/>
                  </a:cubicBezTo>
                  <a:cubicBezTo>
                    <a:pt x="962" y="514"/>
                    <a:pt x="963" y="514"/>
                    <a:pt x="964" y="513"/>
                  </a:cubicBezTo>
                  <a:cubicBezTo>
                    <a:pt x="964" y="513"/>
                    <a:pt x="965" y="513"/>
                    <a:pt x="965" y="513"/>
                  </a:cubicBezTo>
                  <a:cubicBezTo>
                    <a:pt x="965" y="513"/>
                    <a:pt x="965" y="513"/>
                    <a:pt x="965" y="513"/>
                  </a:cubicBezTo>
                  <a:cubicBezTo>
                    <a:pt x="967" y="513"/>
                    <a:pt x="968" y="513"/>
                    <a:pt x="969" y="512"/>
                  </a:cubicBezTo>
                  <a:cubicBezTo>
                    <a:pt x="970" y="512"/>
                    <a:pt x="972" y="512"/>
                    <a:pt x="973" y="511"/>
                  </a:cubicBezTo>
                  <a:cubicBezTo>
                    <a:pt x="974" y="511"/>
                    <a:pt x="975" y="511"/>
                    <a:pt x="977" y="511"/>
                  </a:cubicBezTo>
                  <a:cubicBezTo>
                    <a:pt x="978" y="510"/>
                    <a:pt x="979" y="510"/>
                    <a:pt x="981" y="510"/>
                  </a:cubicBezTo>
                  <a:cubicBezTo>
                    <a:pt x="982" y="509"/>
                    <a:pt x="983" y="509"/>
                    <a:pt x="984" y="509"/>
                  </a:cubicBezTo>
                  <a:cubicBezTo>
                    <a:pt x="985" y="509"/>
                    <a:pt x="985" y="509"/>
                    <a:pt x="986" y="508"/>
                  </a:cubicBezTo>
                  <a:cubicBezTo>
                    <a:pt x="987" y="508"/>
                    <a:pt x="987" y="508"/>
                    <a:pt x="988" y="508"/>
                  </a:cubicBezTo>
                  <a:cubicBezTo>
                    <a:pt x="989" y="508"/>
                    <a:pt x="990" y="507"/>
                    <a:pt x="991" y="507"/>
                  </a:cubicBezTo>
                  <a:cubicBezTo>
                    <a:pt x="992" y="507"/>
                    <a:pt x="993" y="507"/>
                    <a:pt x="994" y="506"/>
                  </a:cubicBezTo>
                  <a:cubicBezTo>
                    <a:pt x="995" y="506"/>
                    <a:pt x="996" y="506"/>
                    <a:pt x="996" y="506"/>
                  </a:cubicBezTo>
                  <a:cubicBezTo>
                    <a:pt x="997" y="506"/>
                    <a:pt x="998" y="505"/>
                    <a:pt x="998" y="505"/>
                  </a:cubicBezTo>
                  <a:cubicBezTo>
                    <a:pt x="999" y="505"/>
                    <a:pt x="1001" y="504"/>
                    <a:pt x="1002" y="504"/>
                  </a:cubicBezTo>
                  <a:cubicBezTo>
                    <a:pt x="1003" y="504"/>
                    <a:pt x="1003" y="504"/>
                    <a:pt x="1003" y="504"/>
                  </a:cubicBezTo>
                  <a:cubicBezTo>
                    <a:pt x="1004" y="503"/>
                    <a:pt x="1004" y="503"/>
                    <a:pt x="1004" y="503"/>
                  </a:cubicBezTo>
                  <a:cubicBezTo>
                    <a:pt x="1005" y="503"/>
                    <a:pt x="1005" y="503"/>
                    <a:pt x="1005" y="503"/>
                  </a:cubicBezTo>
                  <a:cubicBezTo>
                    <a:pt x="1007" y="503"/>
                    <a:pt x="1009" y="502"/>
                    <a:pt x="1011" y="501"/>
                  </a:cubicBezTo>
                  <a:cubicBezTo>
                    <a:pt x="1012" y="501"/>
                    <a:pt x="1012" y="501"/>
                    <a:pt x="1012" y="501"/>
                  </a:cubicBezTo>
                  <a:cubicBezTo>
                    <a:pt x="1012" y="501"/>
                    <a:pt x="1012" y="501"/>
                    <a:pt x="1012" y="501"/>
                  </a:cubicBezTo>
                  <a:cubicBezTo>
                    <a:pt x="1013" y="501"/>
                    <a:pt x="1013" y="501"/>
                    <a:pt x="1014" y="501"/>
                  </a:cubicBezTo>
                  <a:cubicBezTo>
                    <a:pt x="1015" y="500"/>
                    <a:pt x="1016" y="500"/>
                    <a:pt x="1018" y="500"/>
                  </a:cubicBezTo>
                  <a:cubicBezTo>
                    <a:pt x="1018" y="499"/>
                    <a:pt x="1018" y="499"/>
                    <a:pt x="1019" y="499"/>
                  </a:cubicBezTo>
                  <a:cubicBezTo>
                    <a:pt x="1019" y="499"/>
                    <a:pt x="1020" y="499"/>
                    <a:pt x="1021" y="499"/>
                  </a:cubicBezTo>
                  <a:cubicBezTo>
                    <a:pt x="1022" y="498"/>
                    <a:pt x="1023" y="498"/>
                    <a:pt x="1024" y="498"/>
                  </a:cubicBezTo>
                  <a:cubicBezTo>
                    <a:pt x="1024" y="497"/>
                    <a:pt x="1025" y="497"/>
                    <a:pt x="1025" y="497"/>
                  </a:cubicBezTo>
                  <a:cubicBezTo>
                    <a:pt x="1026" y="497"/>
                    <a:pt x="1027" y="497"/>
                    <a:pt x="1027" y="496"/>
                  </a:cubicBezTo>
                  <a:cubicBezTo>
                    <a:pt x="1028" y="496"/>
                    <a:pt x="1029" y="496"/>
                    <a:pt x="1030" y="496"/>
                  </a:cubicBezTo>
                  <a:cubicBezTo>
                    <a:pt x="1030" y="495"/>
                    <a:pt x="1031" y="495"/>
                    <a:pt x="1032" y="495"/>
                  </a:cubicBezTo>
                  <a:cubicBezTo>
                    <a:pt x="1032" y="495"/>
                    <a:pt x="1033" y="494"/>
                    <a:pt x="1034" y="494"/>
                  </a:cubicBezTo>
                  <a:cubicBezTo>
                    <a:pt x="1034" y="494"/>
                    <a:pt x="1035" y="494"/>
                    <a:pt x="1035" y="494"/>
                  </a:cubicBezTo>
                  <a:cubicBezTo>
                    <a:pt x="1036" y="493"/>
                    <a:pt x="1037" y="493"/>
                    <a:pt x="1038" y="493"/>
                  </a:cubicBezTo>
                  <a:cubicBezTo>
                    <a:pt x="1038" y="493"/>
                    <a:pt x="1038" y="492"/>
                    <a:pt x="1039" y="492"/>
                  </a:cubicBezTo>
                  <a:cubicBezTo>
                    <a:pt x="1039" y="492"/>
                    <a:pt x="1039" y="492"/>
                    <a:pt x="1039" y="492"/>
                  </a:cubicBezTo>
                  <a:cubicBezTo>
                    <a:pt x="1040" y="492"/>
                    <a:pt x="1040" y="492"/>
                    <a:pt x="1041" y="492"/>
                  </a:cubicBezTo>
                  <a:cubicBezTo>
                    <a:pt x="1042" y="491"/>
                    <a:pt x="1042" y="491"/>
                    <a:pt x="1043" y="491"/>
                  </a:cubicBezTo>
                  <a:cubicBezTo>
                    <a:pt x="1044" y="490"/>
                    <a:pt x="1044" y="490"/>
                    <a:pt x="1045" y="490"/>
                  </a:cubicBezTo>
                  <a:cubicBezTo>
                    <a:pt x="1045" y="490"/>
                    <a:pt x="1046" y="490"/>
                    <a:pt x="1046" y="489"/>
                  </a:cubicBezTo>
                  <a:cubicBezTo>
                    <a:pt x="1047" y="489"/>
                    <a:pt x="1048" y="489"/>
                    <a:pt x="1048" y="489"/>
                  </a:cubicBezTo>
                  <a:cubicBezTo>
                    <a:pt x="1049" y="488"/>
                    <a:pt x="1049" y="488"/>
                    <a:pt x="1050" y="488"/>
                  </a:cubicBezTo>
                  <a:cubicBezTo>
                    <a:pt x="1050" y="488"/>
                    <a:pt x="1051" y="488"/>
                    <a:pt x="1051" y="487"/>
                  </a:cubicBezTo>
                  <a:cubicBezTo>
                    <a:pt x="1052" y="487"/>
                    <a:pt x="1052" y="487"/>
                    <a:pt x="1053" y="486"/>
                  </a:cubicBezTo>
                  <a:cubicBezTo>
                    <a:pt x="1054" y="486"/>
                    <a:pt x="1054" y="486"/>
                    <a:pt x="1055" y="486"/>
                  </a:cubicBezTo>
                  <a:cubicBezTo>
                    <a:pt x="1055" y="486"/>
                    <a:pt x="1055" y="486"/>
                    <a:pt x="1055" y="486"/>
                  </a:cubicBezTo>
                  <a:cubicBezTo>
                    <a:pt x="1056" y="485"/>
                    <a:pt x="1056" y="485"/>
                    <a:pt x="1056" y="485"/>
                  </a:cubicBezTo>
                  <a:cubicBezTo>
                    <a:pt x="1056" y="485"/>
                    <a:pt x="1057" y="485"/>
                    <a:pt x="1058" y="484"/>
                  </a:cubicBezTo>
                  <a:cubicBezTo>
                    <a:pt x="1058" y="484"/>
                    <a:pt x="1059" y="484"/>
                    <a:pt x="1059" y="484"/>
                  </a:cubicBezTo>
                  <a:cubicBezTo>
                    <a:pt x="1059" y="483"/>
                    <a:pt x="1059" y="483"/>
                    <a:pt x="1059" y="483"/>
                  </a:cubicBezTo>
                  <a:cubicBezTo>
                    <a:pt x="1060" y="483"/>
                    <a:pt x="1060" y="483"/>
                    <a:pt x="1060" y="483"/>
                  </a:cubicBezTo>
                  <a:cubicBezTo>
                    <a:pt x="1061" y="483"/>
                    <a:pt x="1062" y="482"/>
                    <a:pt x="1062" y="482"/>
                  </a:cubicBezTo>
                  <a:cubicBezTo>
                    <a:pt x="1063" y="482"/>
                    <a:pt x="1063" y="482"/>
                    <a:pt x="1064" y="481"/>
                  </a:cubicBezTo>
                  <a:cubicBezTo>
                    <a:pt x="1065" y="481"/>
                    <a:pt x="1065" y="481"/>
                    <a:pt x="1065" y="481"/>
                  </a:cubicBezTo>
                  <a:cubicBezTo>
                    <a:pt x="1065" y="480"/>
                    <a:pt x="1066" y="480"/>
                    <a:pt x="1066" y="480"/>
                  </a:cubicBezTo>
                  <a:cubicBezTo>
                    <a:pt x="1067" y="480"/>
                    <a:pt x="1067" y="479"/>
                    <a:pt x="1068" y="479"/>
                  </a:cubicBezTo>
                  <a:cubicBezTo>
                    <a:pt x="1069" y="478"/>
                    <a:pt x="1069" y="478"/>
                    <a:pt x="1069" y="478"/>
                  </a:cubicBezTo>
                  <a:cubicBezTo>
                    <a:pt x="1069" y="478"/>
                    <a:pt x="1070" y="478"/>
                    <a:pt x="1070" y="478"/>
                  </a:cubicBezTo>
                  <a:cubicBezTo>
                    <a:pt x="1071" y="477"/>
                    <a:pt x="1071" y="477"/>
                    <a:pt x="1072" y="477"/>
                  </a:cubicBezTo>
                  <a:cubicBezTo>
                    <a:pt x="1073" y="476"/>
                    <a:pt x="1073" y="476"/>
                    <a:pt x="1073" y="476"/>
                  </a:cubicBezTo>
                  <a:cubicBezTo>
                    <a:pt x="1073" y="476"/>
                    <a:pt x="1074" y="476"/>
                    <a:pt x="1074" y="475"/>
                  </a:cubicBezTo>
                  <a:cubicBezTo>
                    <a:pt x="1075" y="475"/>
                    <a:pt x="1075" y="475"/>
                    <a:pt x="1075" y="474"/>
                  </a:cubicBezTo>
                  <a:cubicBezTo>
                    <a:pt x="1076" y="474"/>
                    <a:pt x="1076" y="474"/>
                    <a:pt x="1076" y="474"/>
                  </a:cubicBezTo>
                  <a:cubicBezTo>
                    <a:pt x="1076" y="474"/>
                    <a:pt x="1076" y="474"/>
                    <a:pt x="1076" y="474"/>
                  </a:cubicBezTo>
                  <a:cubicBezTo>
                    <a:pt x="1077" y="474"/>
                    <a:pt x="1077" y="473"/>
                    <a:pt x="1077" y="473"/>
                  </a:cubicBezTo>
                  <a:cubicBezTo>
                    <a:pt x="1078" y="473"/>
                    <a:pt x="1078" y="472"/>
                    <a:pt x="1079" y="472"/>
                  </a:cubicBezTo>
                  <a:cubicBezTo>
                    <a:pt x="1080" y="471"/>
                    <a:pt x="1080" y="471"/>
                    <a:pt x="1080" y="471"/>
                  </a:cubicBezTo>
                  <a:cubicBezTo>
                    <a:pt x="1081" y="471"/>
                    <a:pt x="1081" y="471"/>
                    <a:pt x="1081" y="471"/>
                  </a:cubicBezTo>
                  <a:cubicBezTo>
                    <a:pt x="1081" y="470"/>
                    <a:pt x="1082" y="470"/>
                    <a:pt x="1082" y="470"/>
                  </a:cubicBezTo>
                  <a:cubicBezTo>
                    <a:pt x="1083" y="469"/>
                    <a:pt x="1083" y="469"/>
                    <a:pt x="1083" y="469"/>
                  </a:cubicBezTo>
                  <a:cubicBezTo>
                    <a:pt x="1084" y="468"/>
                    <a:pt x="1084" y="468"/>
                    <a:pt x="1084" y="468"/>
                  </a:cubicBezTo>
                  <a:cubicBezTo>
                    <a:pt x="1084" y="468"/>
                    <a:pt x="1085" y="468"/>
                    <a:pt x="1085" y="467"/>
                  </a:cubicBezTo>
                  <a:cubicBezTo>
                    <a:pt x="1086" y="466"/>
                    <a:pt x="1086" y="466"/>
                    <a:pt x="1086" y="466"/>
                  </a:cubicBezTo>
                  <a:cubicBezTo>
                    <a:pt x="1086" y="466"/>
                    <a:pt x="1086" y="466"/>
                    <a:pt x="1086" y="466"/>
                  </a:cubicBezTo>
                  <a:cubicBezTo>
                    <a:pt x="1087" y="466"/>
                    <a:pt x="1087" y="466"/>
                    <a:pt x="1087" y="466"/>
                  </a:cubicBezTo>
                  <a:cubicBezTo>
                    <a:pt x="1088" y="465"/>
                    <a:pt x="1088" y="465"/>
                    <a:pt x="1088" y="465"/>
                  </a:cubicBezTo>
                  <a:cubicBezTo>
                    <a:pt x="1088" y="464"/>
                    <a:pt x="1088" y="464"/>
                    <a:pt x="1088" y="464"/>
                  </a:cubicBezTo>
                  <a:cubicBezTo>
                    <a:pt x="1088" y="464"/>
                    <a:pt x="1088" y="464"/>
                    <a:pt x="1088" y="464"/>
                  </a:cubicBezTo>
                  <a:cubicBezTo>
                    <a:pt x="1088" y="464"/>
                    <a:pt x="1088" y="464"/>
                    <a:pt x="1088" y="464"/>
                  </a:cubicBezTo>
                  <a:cubicBezTo>
                    <a:pt x="1089" y="464"/>
                    <a:pt x="1089" y="464"/>
                    <a:pt x="1089" y="464"/>
                  </a:cubicBezTo>
                  <a:cubicBezTo>
                    <a:pt x="1089" y="463"/>
                    <a:pt x="1089" y="463"/>
                    <a:pt x="1090" y="462"/>
                  </a:cubicBezTo>
                  <a:cubicBezTo>
                    <a:pt x="1091" y="461"/>
                    <a:pt x="1091" y="461"/>
                    <a:pt x="1091" y="461"/>
                  </a:cubicBezTo>
                  <a:cubicBezTo>
                    <a:pt x="1091" y="461"/>
                    <a:pt x="1091" y="461"/>
                    <a:pt x="1091" y="461"/>
                  </a:cubicBezTo>
                  <a:cubicBezTo>
                    <a:pt x="1091" y="461"/>
                    <a:pt x="1091" y="460"/>
                    <a:pt x="1092" y="460"/>
                  </a:cubicBezTo>
                  <a:cubicBezTo>
                    <a:pt x="1092" y="459"/>
                    <a:pt x="1092" y="459"/>
                    <a:pt x="1092" y="459"/>
                  </a:cubicBezTo>
                  <a:cubicBezTo>
                    <a:pt x="1092" y="459"/>
                    <a:pt x="1092" y="459"/>
                    <a:pt x="1092" y="459"/>
                  </a:cubicBezTo>
                  <a:cubicBezTo>
                    <a:pt x="1093" y="458"/>
                    <a:pt x="1093" y="458"/>
                    <a:pt x="1094" y="457"/>
                  </a:cubicBezTo>
                  <a:cubicBezTo>
                    <a:pt x="1094" y="457"/>
                    <a:pt x="1094" y="457"/>
                    <a:pt x="1094" y="457"/>
                  </a:cubicBezTo>
                  <a:cubicBezTo>
                    <a:pt x="1094" y="457"/>
                    <a:pt x="1094" y="457"/>
                    <a:pt x="1094" y="457"/>
                  </a:cubicBezTo>
                  <a:cubicBezTo>
                    <a:pt x="1094" y="456"/>
                    <a:pt x="1094" y="456"/>
                    <a:pt x="1094" y="456"/>
                  </a:cubicBezTo>
                  <a:cubicBezTo>
                    <a:pt x="1095" y="455"/>
                    <a:pt x="1095" y="455"/>
                    <a:pt x="1095" y="454"/>
                  </a:cubicBezTo>
                  <a:cubicBezTo>
                    <a:pt x="1128" y="383"/>
                    <a:pt x="1161" y="311"/>
                    <a:pt x="1194" y="239"/>
                  </a:cubicBezTo>
                  <a:cubicBezTo>
                    <a:pt x="1209" y="207"/>
                    <a:pt x="1224" y="174"/>
                    <a:pt x="1239" y="142"/>
                  </a:cubicBezTo>
                  <a:cubicBezTo>
                    <a:pt x="1240" y="138"/>
                    <a:pt x="1241" y="135"/>
                    <a:pt x="1241" y="131"/>
                  </a:cubicBezTo>
                  <a:cubicBezTo>
                    <a:pt x="1242" y="130"/>
                    <a:pt x="1242" y="129"/>
                    <a:pt x="1241" y="128"/>
                  </a:cubicBezTo>
                  <a:cubicBezTo>
                    <a:pt x="1241" y="127"/>
                    <a:pt x="1241" y="127"/>
                    <a:pt x="1241" y="127"/>
                  </a:cubicBezTo>
                  <a:close/>
                </a:path>
              </a:pathLst>
            </a:custGeom>
            <a:solidFill>
              <a:srgbClr val="E74F53"/>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58" name="Freeform 164">
              <a:extLst>
                <a:ext uri="{FF2B5EF4-FFF2-40B4-BE49-F238E27FC236}">
                  <a16:creationId xmlns:a16="http://schemas.microsoft.com/office/drawing/2014/main" id="{942830CC-D47B-1EAB-7ABC-D7663A877B2E}"/>
                </a:ext>
              </a:extLst>
            </p:cNvPr>
            <p:cNvSpPr>
              <a:spLocks/>
            </p:cNvSpPr>
            <p:nvPr/>
          </p:nvSpPr>
          <p:spPr bwMode="auto">
            <a:xfrm>
              <a:off x="2490993" y="2652180"/>
              <a:ext cx="3535793" cy="581943"/>
            </a:xfrm>
            <a:custGeom>
              <a:avLst/>
              <a:gdLst>
                <a:gd name="T0" fmla="*/ 1247 w 1253"/>
                <a:gd name="T1" fmla="*/ 132 h 260"/>
                <a:gd name="T2" fmla="*/ 616 w 1253"/>
                <a:gd name="T3" fmla="*/ 259 h 260"/>
                <a:gd name="T4" fmla="*/ 6 w 1253"/>
                <a:gd name="T5" fmla="*/ 128 h 260"/>
                <a:gd name="T6" fmla="*/ 638 w 1253"/>
                <a:gd name="T7" fmla="*/ 1 h 260"/>
                <a:gd name="T8" fmla="*/ 1247 w 1253"/>
                <a:gd name="T9" fmla="*/ 132 h 260"/>
              </a:gdLst>
              <a:ahLst/>
              <a:cxnLst>
                <a:cxn ang="0">
                  <a:pos x="T0" y="T1"/>
                </a:cxn>
                <a:cxn ang="0">
                  <a:pos x="T2" y="T3"/>
                </a:cxn>
                <a:cxn ang="0">
                  <a:pos x="T4" y="T5"/>
                </a:cxn>
                <a:cxn ang="0">
                  <a:pos x="T6" y="T7"/>
                </a:cxn>
                <a:cxn ang="0">
                  <a:pos x="T8" y="T9"/>
                </a:cxn>
              </a:cxnLst>
              <a:rect l="0" t="0" r="r" b="b"/>
              <a:pathLst>
                <a:path w="1253" h="260">
                  <a:moveTo>
                    <a:pt x="1247" y="132"/>
                  </a:moveTo>
                  <a:cubicBezTo>
                    <a:pt x="1241" y="204"/>
                    <a:pt x="959" y="260"/>
                    <a:pt x="616" y="259"/>
                  </a:cubicBezTo>
                  <a:cubicBezTo>
                    <a:pt x="273" y="258"/>
                    <a:pt x="0" y="199"/>
                    <a:pt x="6" y="128"/>
                  </a:cubicBezTo>
                  <a:cubicBezTo>
                    <a:pt x="12" y="57"/>
                    <a:pt x="295" y="0"/>
                    <a:pt x="638" y="1"/>
                  </a:cubicBezTo>
                  <a:cubicBezTo>
                    <a:pt x="980" y="2"/>
                    <a:pt x="1253" y="61"/>
                    <a:pt x="1247" y="132"/>
                  </a:cubicBezTo>
                  <a:close/>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sz="1200">
                <a:latin typeface="+mj-lt"/>
              </a:endParaRPr>
            </a:p>
          </p:txBody>
        </p:sp>
      </p:grpSp>
      <p:sp>
        <p:nvSpPr>
          <p:cNvPr id="34" name="Rectangle 171">
            <a:extLst>
              <a:ext uri="{FF2B5EF4-FFF2-40B4-BE49-F238E27FC236}">
                <a16:creationId xmlns:a16="http://schemas.microsoft.com/office/drawing/2014/main" id="{C76F72AD-B456-4937-61F5-2E358023751A}"/>
              </a:ext>
            </a:extLst>
          </p:cNvPr>
          <p:cNvSpPr>
            <a:spLocks noChangeArrowheads="1"/>
          </p:cNvSpPr>
          <p:nvPr/>
        </p:nvSpPr>
        <p:spPr bwMode="auto">
          <a:xfrm>
            <a:off x="2482548" y="2342767"/>
            <a:ext cx="4749742" cy="48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45" name="Rectangle 173">
            <a:extLst>
              <a:ext uri="{FF2B5EF4-FFF2-40B4-BE49-F238E27FC236}">
                <a16:creationId xmlns:a16="http://schemas.microsoft.com/office/drawing/2014/main" id="{EBFB4B6B-BB3A-1D7D-E85B-1866E4478DAA}"/>
              </a:ext>
            </a:extLst>
          </p:cNvPr>
          <p:cNvSpPr>
            <a:spLocks noChangeArrowheads="1"/>
          </p:cNvSpPr>
          <p:nvPr/>
        </p:nvSpPr>
        <p:spPr bwMode="auto">
          <a:xfrm>
            <a:off x="2447159" y="3088687"/>
            <a:ext cx="4785132" cy="48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47" name="Rectangle 175">
            <a:extLst>
              <a:ext uri="{FF2B5EF4-FFF2-40B4-BE49-F238E27FC236}">
                <a16:creationId xmlns:a16="http://schemas.microsoft.com/office/drawing/2014/main" id="{24810F62-2371-088C-0C57-D9FF1B00D99F}"/>
              </a:ext>
            </a:extLst>
          </p:cNvPr>
          <p:cNvSpPr>
            <a:spLocks noChangeArrowheads="1"/>
          </p:cNvSpPr>
          <p:nvPr/>
        </p:nvSpPr>
        <p:spPr bwMode="auto">
          <a:xfrm>
            <a:off x="2452214" y="3831514"/>
            <a:ext cx="4780076" cy="48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32" tIns="91416" rIns="182832" bIns="91416" numCol="1" anchor="t" anchorCtr="0" compatLnSpc="1">
            <a:prstTxWarp prst="textNoShape">
              <a:avLst/>
            </a:prstTxWarp>
          </a:bodyPr>
          <a:lstStyle/>
          <a:p>
            <a:endParaRPr lang="id-ID" sz="1200">
              <a:latin typeface="+mj-lt"/>
            </a:endParaRPr>
          </a:p>
        </p:txBody>
      </p:sp>
      <p:grpSp>
        <p:nvGrpSpPr>
          <p:cNvPr id="48" name="Group 47">
            <a:extLst>
              <a:ext uri="{FF2B5EF4-FFF2-40B4-BE49-F238E27FC236}">
                <a16:creationId xmlns:a16="http://schemas.microsoft.com/office/drawing/2014/main" id="{C0820400-5E69-A21E-61F3-4D91FAAABE0B}"/>
              </a:ext>
            </a:extLst>
          </p:cNvPr>
          <p:cNvGrpSpPr/>
          <p:nvPr/>
        </p:nvGrpSpPr>
        <p:grpSpPr>
          <a:xfrm>
            <a:off x="93772" y="1778739"/>
            <a:ext cx="4685283" cy="1269288"/>
            <a:chOff x="2051105" y="1747564"/>
            <a:chExt cx="4419146" cy="1335158"/>
          </a:xfrm>
        </p:grpSpPr>
        <p:sp>
          <p:nvSpPr>
            <p:cNvPr id="54" name="Freeform 165">
              <a:extLst>
                <a:ext uri="{FF2B5EF4-FFF2-40B4-BE49-F238E27FC236}">
                  <a16:creationId xmlns:a16="http://schemas.microsoft.com/office/drawing/2014/main" id="{86B0461C-5837-AD35-031A-1B4866BBEA55}"/>
                </a:ext>
              </a:extLst>
            </p:cNvPr>
            <p:cNvSpPr>
              <a:spLocks/>
            </p:cNvSpPr>
            <p:nvPr/>
          </p:nvSpPr>
          <p:spPr bwMode="auto">
            <a:xfrm>
              <a:off x="2073755" y="1747564"/>
              <a:ext cx="4373846" cy="1335158"/>
            </a:xfrm>
            <a:custGeom>
              <a:avLst/>
              <a:gdLst>
                <a:gd name="T0" fmla="*/ 1545 w 1550"/>
                <a:gd name="T1" fmla="*/ 143 h 596"/>
                <a:gd name="T2" fmla="*/ 1529 w 1550"/>
                <a:gd name="T3" fmla="*/ 124 h 596"/>
                <a:gd name="T4" fmla="*/ 1507 w 1550"/>
                <a:gd name="T5" fmla="*/ 108 h 596"/>
                <a:gd name="T6" fmla="*/ 1472 w 1550"/>
                <a:gd name="T7" fmla="*/ 91 h 596"/>
                <a:gd name="T8" fmla="*/ 1437 w 1550"/>
                <a:gd name="T9" fmla="*/ 78 h 596"/>
                <a:gd name="T10" fmla="*/ 1396 w 1550"/>
                <a:gd name="T11" fmla="*/ 65 h 596"/>
                <a:gd name="T12" fmla="*/ 1358 w 1550"/>
                <a:gd name="T13" fmla="*/ 55 h 596"/>
                <a:gd name="T14" fmla="*/ 1292 w 1550"/>
                <a:gd name="T15" fmla="*/ 41 h 596"/>
                <a:gd name="T16" fmla="*/ 247 w 1550"/>
                <a:gd name="T17" fmla="*/ 43 h 596"/>
                <a:gd name="T18" fmla="*/ 199 w 1550"/>
                <a:gd name="T19" fmla="*/ 53 h 596"/>
                <a:gd name="T20" fmla="*/ 146 w 1550"/>
                <a:gd name="T21" fmla="*/ 67 h 596"/>
                <a:gd name="T22" fmla="*/ 104 w 1550"/>
                <a:gd name="T23" fmla="*/ 80 h 596"/>
                <a:gd name="T24" fmla="*/ 70 w 1550"/>
                <a:gd name="T25" fmla="*/ 94 h 596"/>
                <a:gd name="T26" fmla="*/ 44 w 1550"/>
                <a:gd name="T27" fmla="*/ 108 h 596"/>
                <a:gd name="T28" fmla="*/ 24 w 1550"/>
                <a:gd name="T29" fmla="*/ 121 h 596"/>
                <a:gd name="T30" fmla="*/ 14 w 1550"/>
                <a:gd name="T31" fmla="*/ 130 h 596"/>
                <a:gd name="T32" fmla="*/ 3 w 1550"/>
                <a:gd name="T33" fmla="*/ 145 h 596"/>
                <a:gd name="T34" fmla="*/ 0 w 1550"/>
                <a:gd name="T35" fmla="*/ 161 h 596"/>
                <a:gd name="T36" fmla="*/ 48 w 1550"/>
                <a:gd name="T37" fmla="*/ 274 h 596"/>
                <a:gd name="T38" fmla="*/ 146 w 1550"/>
                <a:gd name="T39" fmla="*/ 485 h 596"/>
                <a:gd name="T40" fmla="*/ 154 w 1550"/>
                <a:gd name="T41" fmla="*/ 493 h 596"/>
                <a:gd name="T42" fmla="*/ 164 w 1550"/>
                <a:gd name="T43" fmla="*/ 501 h 596"/>
                <a:gd name="T44" fmla="*/ 177 w 1550"/>
                <a:gd name="T45" fmla="*/ 509 h 596"/>
                <a:gd name="T46" fmla="*/ 191 w 1550"/>
                <a:gd name="T47" fmla="*/ 516 h 596"/>
                <a:gd name="T48" fmla="*/ 210 w 1550"/>
                <a:gd name="T49" fmla="*/ 524 h 596"/>
                <a:gd name="T50" fmla="*/ 234 w 1550"/>
                <a:gd name="T51" fmla="*/ 533 h 596"/>
                <a:gd name="T52" fmla="*/ 255 w 1550"/>
                <a:gd name="T53" fmla="*/ 540 h 596"/>
                <a:gd name="T54" fmla="*/ 279 w 1550"/>
                <a:gd name="T55" fmla="*/ 546 h 596"/>
                <a:gd name="T56" fmla="*/ 311 w 1550"/>
                <a:gd name="T57" fmla="*/ 554 h 596"/>
                <a:gd name="T58" fmla="*/ 339 w 1550"/>
                <a:gd name="T59" fmla="*/ 560 h 596"/>
                <a:gd name="T60" fmla="*/ 373 w 1550"/>
                <a:gd name="T61" fmla="*/ 566 h 596"/>
                <a:gd name="T62" fmla="*/ 408 w 1550"/>
                <a:gd name="T63" fmla="*/ 571 h 596"/>
                <a:gd name="T64" fmla="*/ 439 w 1550"/>
                <a:gd name="T65" fmla="*/ 576 h 596"/>
                <a:gd name="T66" fmla="*/ 477 w 1550"/>
                <a:gd name="T67" fmla="*/ 580 h 596"/>
                <a:gd name="T68" fmla="*/ 512 w 1550"/>
                <a:gd name="T69" fmla="*/ 584 h 596"/>
                <a:gd name="T70" fmla="*/ 552 w 1550"/>
                <a:gd name="T71" fmla="*/ 587 h 596"/>
                <a:gd name="T72" fmla="*/ 589 w 1550"/>
                <a:gd name="T73" fmla="*/ 590 h 596"/>
                <a:gd name="T74" fmla="*/ 633 w 1550"/>
                <a:gd name="T75" fmla="*/ 592 h 596"/>
                <a:gd name="T76" fmla="*/ 685 w 1550"/>
                <a:gd name="T77" fmla="*/ 594 h 596"/>
                <a:gd name="T78" fmla="*/ 728 w 1550"/>
                <a:gd name="T79" fmla="*/ 595 h 596"/>
                <a:gd name="T80" fmla="*/ 785 w 1550"/>
                <a:gd name="T81" fmla="*/ 595 h 596"/>
                <a:gd name="T82" fmla="*/ 841 w 1550"/>
                <a:gd name="T83" fmla="*/ 595 h 596"/>
                <a:gd name="T84" fmla="*/ 890 w 1550"/>
                <a:gd name="T85" fmla="*/ 593 h 596"/>
                <a:gd name="T86" fmla="*/ 927 w 1550"/>
                <a:gd name="T87" fmla="*/ 592 h 596"/>
                <a:gd name="T88" fmla="*/ 971 w 1550"/>
                <a:gd name="T89" fmla="*/ 589 h 596"/>
                <a:gd name="T90" fmla="*/ 1009 w 1550"/>
                <a:gd name="T91" fmla="*/ 586 h 596"/>
                <a:gd name="T92" fmla="*/ 1053 w 1550"/>
                <a:gd name="T93" fmla="*/ 582 h 596"/>
                <a:gd name="T94" fmla="*/ 1086 w 1550"/>
                <a:gd name="T95" fmla="*/ 579 h 596"/>
                <a:gd name="T96" fmla="*/ 1127 w 1550"/>
                <a:gd name="T97" fmla="*/ 573 h 596"/>
                <a:gd name="T98" fmla="*/ 1165 w 1550"/>
                <a:gd name="T99" fmla="*/ 568 h 596"/>
                <a:gd name="T100" fmla="*/ 1196 w 1550"/>
                <a:gd name="T101" fmla="*/ 562 h 596"/>
                <a:gd name="T102" fmla="*/ 1223 w 1550"/>
                <a:gd name="T103" fmla="*/ 557 h 596"/>
                <a:gd name="T104" fmla="*/ 1256 w 1550"/>
                <a:gd name="T105" fmla="*/ 550 h 596"/>
                <a:gd name="T106" fmla="*/ 1286 w 1550"/>
                <a:gd name="T107" fmla="*/ 542 h 596"/>
                <a:gd name="T108" fmla="*/ 1307 w 1550"/>
                <a:gd name="T109" fmla="*/ 536 h 596"/>
                <a:gd name="T110" fmla="*/ 1332 w 1550"/>
                <a:gd name="T111" fmla="*/ 527 h 596"/>
                <a:gd name="T112" fmla="*/ 1350 w 1550"/>
                <a:gd name="T113" fmla="*/ 520 h 596"/>
                <a:gd name="T114" fmla="*/ 1365 w 1550"/>
                <a:gd name="T115" fmla="*/ 513 h 596"/>
                <a:gd name="T116" fmla="*/ 1381 w 1550"/>
                <a:gd name="T117" fmla="*/ 504 h 596"/>
                <a:gd name="T118" fmla="*/ 1392 w 1550"/>
                <a:gd name="T119" fmla="*/ 496 h 596"/>
                <a:gd name="T120" fmla="*/ 1400 w 1550"/>
                <a:gd name="T121" fmla="*/ 489 h 596"/>
                <a:gd name="T122" fmla="*/ 1408 w 1550"/>
                <a:gd name="T123" fmla="*/ 479 h 596"/>
                <a:gd name="T124" fmla="*/ 1550 w 1550"/>
                <a:gd name="T125" fmla="*/ 164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50" h="596">
                  <a:moveTo>
                    <a:pt x="1550" y="160"/>
                  </a:moveTo>
                  <a:cubicBezTo>
                    <a:pt x="1550" y="159"/>
                    <a:pt x="1550" y="157"/>
                    <a:pt x="1550" y="156"/>
                  </a:cubicBezTo>
                  <a:cubicBezTo>
                    <a:pt x="1550" y="155"/>
                    <a:pt x="1550" y="155"/>
                    <a:pt x="1550" y="155"/>
                  </a:cubicBezTo>
                  <a:cubicBezTo>
                    <a:pt x="1549" y="154"/>
                    <a:pt x="1549" y="153"/>
                    <a:pt x="1549" y="152"/>
                  </a:cubicBezTo>
                  <a:cubicBezTo>
                    <a:pt x="1549" y="152"/>
                    <a:pt x="1549" y="152"/>
                    <a:pt x="1549" y="152"/>
                  </a:cubicBezTo>
                  <a:cubicBezTo>
                    <a:pt x="1549" y="151"/>
                    <a:pt x="1548" y="149"/>
                    <a:pt x="1548" y="148"/>
                  </a:cubicBezTo>
                  <a:cubicBezTo>
                    <a:pt x="1547" y="147"/>
                    <a:pt x="1547" y="147"/>
                    <a:pt x="1547" y="147"/>
                  </a:cubicBezTo>
                  <a:cubicBezTo>
                    <a:pt x="1547" y="146"/>
                    <a:pt x="1546" y="145"/>
                    <a:pt x="1546" y="144"/>
                  </a:cubicBezTo>
                  <a:cubicBezTo>
                    <a:pt x="1545" y="143"/>
                    <a:pt x="1545" y="143"/>
                    <a:pt x="1545" y="143"/>
                  </a:cubicBezTo>
                  <a:cubicBezTo>
                    <a:pt x="1545" y="142"/>
                    <a:pt x="1544" y="141"/>
                    <a:pt x="1543" y="140"/>
                  </a:cubicBezTo>
                  <a:cubicBezTo>
                    <a:pt x="1543" y="140"/>
                    <a:pt x="1543" y="140"/>
                    <a:pt x="1543" y="140"/>
                  </a:cubicBezTo>
                  <a:cubicBezTo>
                    <a:pt x="1542" y="138"/>
                    <a:pt x="1542" y="137"/>
                    <a:pt x="1541" y="136"/>
                  </a:cubicBezTo>
                  <a:cubicBezTo>
                    <a:pt x="1540" y="135"/>
                    <a:pt x="1540" y="135"/>
                    <a:pt x="1540" y="135"/>
                  </a:cubicBezTo>
                  <a:cubicBezTo>
                    <a:pt x="1539" y="134"/>
                    <a:pt x="1538" y="133"/>
                    <a:pt x="1537" y="132"/>
                  </a:cubicBezTo>
                  <a:cubicBezTo>
                    <a:pt x="1537" y="131"/>
                    <a:pt x="1537" y="131"/>
                    <a:pt x="1537" y="131"/>
                  </a:cubicBezTo>
                  <a:cubicBezTo>
                    <a:pt x="1536" y="130"/>
                    <a:pt x="1535" y="129"/>
                    <a:pt x="1534" y="128"/>
                  </a:cubicBezTo>
                  <a:cubicBezTo>
                    <a:pt x="1533" y="128"/>
                    <a:pt x="1533" y="128"/>
                    <a:pt x="1533" y="128"/>
                  </a:cubicBezTo>
                  <a:cubicBezTo>
                    <a:pt x="1532" y="126"/>
                    <a:pt x="1531" y="125"/>
                    <a:pt x="1529" y="124"/>
                  </a:cubicBezTo>
                  <a:cubicBezTo>
                    <a:pt x="1529" y="123"/>
                    <a:pt x="1529" y="123"/>
                    <a:pt x="1529" y="123"/>
                  </a:cubicBezTo>
                  <a:cubicBezTo>
                    <a:pt x="1527" y="122"/>
                    <a:pt x="1526" y="121"/>
                    <a:pt x="1525" y="120"/>
                  </a:cubicBezTo>
                  <a:cubicBezTo>
                    <a:pt x="1524" y="120"/>
                    <a:pt x="1524" y="120"/>
                    <a:pt x="1524" y="120"/>
                  </a:cubicBezTo>
                  <a:cubicBezTo>
                    <a:pt x="1523" y="119"/>
                    <a:pt x="1521" y="118"/>
                    <a:pt x="1520" y="116"/>
                  </a:cubicBezTo>
                  <a:cubicBezTo>
                    <a:pt x="1519" y="116"/>
                    <a:pt x="1519" y="116"/>
                    <a:pt x="1519" y="116"/>
                  </a:cubicBezTo>
                  <a:cubicBezTo>
                    <a:pt x="1517" y="115"/>
                    <a:pt x="1516" y="114"/>
                    <a:pt x="1514" y="113"/>
                  </a:cubicBezTo>
                  <a:cubicBezTo>
                    <a:pt x="1513" y="112"/>
                    <a:pt x="1513" y="112"/>
                    <a:pt x="1513" y="112"/>
                  </a:cubicBezTo>
                  <a:cubicBezTo>
                    <a:pt x="1511" y="111"/>
                    <a:pt x="1510" y="110"/>
                    <a:pt x="1508" y="109"/>
                  </a:cubicBezTo>
                  <a:cubicBezTo>
                    <a:pt x="1507" y="108"/>
                    <a:pt x="1507" y="108"/>
                    <a:pt x="1507" y="108"/>
                  </a:cubicBezTo>
                  <a:cubicBezTo>
                    <a:pt x="1506" y="107"/>
                    <a:pt x="1504" y="106"/>
                    <a:pt x="1502" y="105"/>
                  </a:cubicBezTo>
                  <a:cubicBezTo>
                    <a:pt x="1501" y="105"/>
                    <a:pt x="1501" y="105"/>
                    <a:pt x="1501" y="105"/>
                  </a:cubicBezTo>
                  <a:cubicBezTo>
                    <a:pt x="1499" y="104"/>
                    <a:pt x="1497" y="103"/>
                    <a:pt x="1495" y="102"/>
                  </a:cubicBezTo>
                  <a:cubicBezTo>
                    <a:pt x="1495" y="101"/>
                    <a:pt x="1494" y="101"/>
                    <a:pt x="1494" y="101"/>
                  </a:cubicBezTo>
                  <a:cubicBezTo>
                    <a:pt x="1492" y="100"/>
                    <a:pt x="1490" y="99"/>
                    <a:pt x="1487" y="98"/>
                  </a:cubicBezTo>
                  <a:cubicBezTo>
                    <a:pt x="1487" y="97"/>
                    <a:pt x="1487" y="97"/>
                    <a:pt x="1487" y="97"/>
                  </a:cubicBezTo>
                  <a:cubicBezTo>
                    <a:pt x="1485" y="96"/>
                    <a:pt x="1483" y="95"/>
                    <a:pt x="1480" y="94"/>
                  </a:cubicBezTo>
                  <a:cubicBezTo>
                    <a:pt x="1480" y="94"/>
                    <a:pt x="1479" y="94"/>
                    <a:pt x="1479" y="94"/>
                  </a:cubicBezTo>
                  <a:cubicBezTo>
                    <a:pt x="1477" y="93"/>
                    <a:pt x="1474" y="92"/>
                    <a:pt x="1472" y="91"/>
                  </a:cubicBezTo>
                  <a:cubicBezTo>
                    <a:pt x="1472" y="91"/>
                    <a:pt x="1471" y="90"/>
                    <a:pt x="1471" y="90"/>
                  </a:cubicBezTo>
                  <a:cubicBezTo>
                    <a:pt x="1470" y="90"/>
                    <a:pt x="1469" y="90"/>
                    <a:pt x="1468" y="89"/>
                  </a:cubicBezTo>
                  <a:cubicBezTo>
                    <a:pt x="1468" y="89"/>
                    <a:pt x="1467" y="89"/>
                    <a:pt x="1466" y="88"/>
                  </a:cubicBezTo>
                  <a:cubicBezTo>
                    <a:pt x="1464" y="88"/>
                    <a:pt x="1463" y="87"/>
                    <a:pt x="1461" y="86"/>
                  </a:cubicBezTo>
                  <a:cubicBezTo>
                    <a:pt x="1460" y="86"/>
                    <a:pt x="1458" y="85"/>
                    <a:pt x="1457" y="85"/>
                  </a:cubicBezTo>
                  <a:cubicBezTo>
                    <a:pt x="1455" y="84"/>
                    <a:pt x="1453" y="83"/>
                    <a:pt x="1452" y="83"/>
                  </a:cubicBezTo>
                  <a:cubicBezTo>
                    <a:pt x="1450" y="82"/>
                    <a:pt x="1449" y="82"/>
                    <a:pt x="1447" y="81"/>
                  </a:cubicBezTo>
                  <a:cubicBezTo>
                    <a:pt x="1445" y="80"/>
                    <a:pt x="1444" y="80"/>
                    <a:pt x="1442" y="79"/>
                  </a:cubicBezTo>
                  <a:cubicBezTo>
                    <a:pt x="1440" y="79"/>
                    <a:pt x="1439" y="78"/>
                    <a:pt x="1437" y="78"/>
                  </a:cubicBezTo>
                  <a:cubicBezTo>
                    <a:pt x="1435" y="77"/>
                    <a:pt x="1433" y="76"/>
                    <a:pt x="1431" y="76"/>
                  </a:cubicBezTo>
                  <a:cubicBezTo>
                    <a:pt x="1430" y="75"/>
                    <a:pt x="1429" y="75"/>
                    <a:pt x="1429" y="75"/>
                  </a:cubicBezTo>
                  <a:cubicBezTo>
                    <a:pt x="1428" y="74"/>
                    <a:pt x="1427" y="74"/>
                    <a:pt x="1427" y="74"/>
                  </a:cubicBezTo>
                  <a:cubicBezTo>
                    <a:pt x="1426" y="74"/>
                    <a:pt x="1424" y="73"/>
                    <a:pt x="1423" y="73"/>
                  </a:cubicBezTo>
                  <a:cubicBezTo>
                    <a:pt x="1421" y="72"/>
                    <a:pt x="1419" y="72"/>
                    <a:pt x="1417" y="71"/>
                  </a:cubicBezTo>
                  <a:cubicBezTo>
                    <a:pt x="1416" y="71"/>
                    <a:pt x="1414" y="70"/>
                    <a:pt x="1413" y="70"/>
                  </a:cubicBezTo>
                  <a:cubicBezTo>
                    <a:pt x="1411" y="69"/>
                    <a:pt x="1409" y="69"/>
                    <a:pt x="1407" y="68"/>
                  </a:cubicBezTo>
                  <a:cubicBezTo>
                    <a:pt x="1405" y="68"/>
                    <a:pt x="1404" y="67"/>
                    <a:pt x="1403" y="67"/>
                  </a:cubicBezTo>
                  <a:cubicBezTo>
                    <a:pt x="1401" y="66"/>
                    <a:pt x="1398" y="65"/>
                    <a:pt x="1396" y="65"/>
                  </a:cubicBezTo>
                  <a:cubicBezTo>
                    <a:pt x="1395" y="65"/>
                    <a:pt x="1394" y="64"/>
                    <a:pt x="1393" y="64"/>
                  </a:cubicBezTo>
                  <a:cubicBezTo>
                    <a:pt x="1392" y="64"/>
                    <a:pt x="1392" y="64"/>
                    <a:pt x="1392" y="64"/>
                  </a:cubicBezTo>
                  <a:cubicBezTo>
                    <a:pt x="1389" y="63"/>
                    <a:pt x="1386" y="62"/>
                    <a:pt x="1383" y="61"/>
                  </a:cubicBezTo>
                  <a:cubicBezTo>
                    <a:pt x="1382" y="61"/>
                    <a:pt x="1381" y="61"/>
                    <a:pt x="1380" y="61"/>
                  </a:cubicBezTo>
                  <a:cubicBezTo>
                    <a:pt x="1377" y="60"/>
                    <a:pt x="1374" y="59"/>
                    <a:pt x="1372" y="59"/>
                  </a:cubicBezTo>
                  <a:cubicBezTo>
                    <a:pt x="1371" y="58"/>
                    <a:pt x="1370" y="58"/>
                    <a:pt x="1369" y="58"/>
                  </a:cubicBezTo>
                  <a:cubicBezTo>
                    <a:pt x="1365" y="57"/>
                    <a:pt x="1362" y="56"/>
                    <a:pt x="1359" y="55"/>
                  </a:cubicBezTo>
                  <a:cubicBezTo>
                    <a:pt x="1358" y="55"/>
                    <a:pt x="1358" y="55"/>
                    <a:pt x="1358" y="55"/>
                  </a:cubicBezTo>
                  <a:cubicBezTo>
                    <a:pt x="1358" y="55"/>
                    <a:pt x="1358" y="55"/>
                    <a:pt x="1358" y="55"/>
                  </a:cubicBezTo>
                  <a:cubicBezTo>
                    <a:pt x="1357" y="55"/>
                    <a:pt x="1357" y="55"/>
                    <a:pt x="1357" y="55"/>
                  </a:cubicBezTo>
                  <a:cubicBezTo>
                    <a:pt x="1353" y="54"/>
                    <a:pt x="1348" y="53"/>
                    <a:pt x="1343" y="52"/>
                  </a:cubicBezTo>
                  <a:cubicBezTo>
                    <a:pt x="1341" y="51"/>
                    <a:pt x="1340" y="51"/>
                    <a:pt x="1338" y="51"/>
                  </a:cubicBezTo>
                  <a:cubicBezTo>
                    <a:pt x="1335" y="50"/>
                    <a:pt x="1331" y="49"/>
                    <a:pt x="1327" y="48"/>
                  </a:cubicBezTo>
                  <a:cubicBezTo>
                    <a:pt x="1326" y="48"/>
                    <a:pt x="1325" y="48"/>
                    <a:pt x="1324" y="48"/>
                  </a:cubicBezTo>
                  <a:cubicBezTo>
                    <a:pt x="1323" y="47"/>
                    <a:pt x="1323" y="47"/>
                    <a:pt x="1322" y="47"/>
                  </a:cubicBezTo>
                  <a:cubicBezTo>
                    <a:pt x="1319" y="46"/>
                    <a:pt x="1315" y="46"/>
                    <a:pt x="1311" y="45"/>
                  </a:cubicBezTo>
                  <a:cubicBezTo>
                    <a:pt x="1310" y="45"/>
                    <a:pt x="1309" y="44"/>
                    <a:pt x="1307" y="44"/>
                  </a:cubicBezTo>
                  <a:cubicBezTo>
                    <a:pt x="1302" y="43"/>
                    <a:pt x="1297" y="42"/>
                    <a:pt x="1292" y="41"/>
                  </a:cubicBezTo>
                  <a:cubicBezTo>
                    <a:pt x="1291" y="41"/>
                    <a:pt x="1291" y="41"/>
                    <a:pt x="1291" y="41"/>
                  </a:cubicBezTo>
                  <a:cubicBezTo>
                    <a:pt x="1291" y="41"/>
                    <a:pt x="1291" y="41"/>
                    <a:pt x="1291" y="41"/>
                  </a:cubicBezTo>
                  <a:cubicBezTo>
                    <a:pt x="1158" y="16"/>
                    <a:pt x="982" y="1"/>
                    <a:pt x="788" y="0"/>
                  </a:cubicBezTo>
                  <a:cubicBezTo>
                    <a:pt x="590" y="0"/>
                    <a:pt x="407" y="14"/>
                    <a:pt x="268" y="39"/>
                  </a:cubicBezTo>
                  <a:cubicBezTo>
                    <a:pt x="268" y="39"/>
                    <a:pt x="268" y="39"/>
                    <a:pt x="268" y="39"/>
                  </a:cubicBezTo>
                  <a:cubicBezTo>
                    <a:pt x="267" y="40"/>
                    <a:pt x="267" y="40"/>
                    <a:pt x="266" y="40"/>
                  </a:cubicBezTo>
                  <a:cubicBezTo>
                    <a:pt x="264" y="40"/>
                    <a:pt x="262" y="40"/>
                    <a:pt x="260" y="41"/>
                  </a:cubicBezTo>
                  <a:cubicBezTo>
                    <a:pt x="258" y="41"/>
                    <a:pt x="255" y="42"/>
                    <a:pt x="253" y="42"/>
                  </a:cubicBezTo>
                  <a:cubicBezTo>
                    <a:pt x="251" y="43"/>
                    <a:pt x="249" y="43"/>
                    <a:pt x="247" y="43"/>
                  </a:cubicBezTo>
                  <a:cubicBezTo>
                    <a:pt x="246" y="44"/>
                    <a:pt x="245" y="44"/>
                    <a:pt x="244" y="44"/>
                  </a:cubicBezTo>
                  <a:cubicBezTo>
                    <a:pt x="243" y="44"/>
                    <a:pt x="242" y="44"/>
                    <a:pt x="241" y="45"/>
                  </a:cubicBezTo>
                  <a:cubicBezTo>
                    <a:pt x="238" y="45"/>
                    <a:pt x="235" y="46"/>
                    <a:pt x="233" y="46"/>
                  </a:cubicBezTo>
                  <a:cubicBezTo>
                    <a:pt x="231" y="47"/>
                    <a:pt x="229" y="47"/>
                    <a:pt x="227" y="47"/>
                  </a:cubicBezTo>
                  <a:cubicBezTo>
                    <a:pt x="224" y="48"/>
                    <a:pt x="222" y="48"/>
                    <a:pt x="219" y="49"/>
                  </a:cubicBezTo>
                  <a:cubicBezTo>
                    <a:pt x="218" y="49"/>
                    <a:pt x="217" y="49"/>
                    <a:pt x="216" y="50"/>
                  </a:cubicBezTo>
                  <a:cubicBezTo>
                    <a:pt x="215" y="50"/>
                    <a:pt x="214" y="50"/>
                    <a:pt x="213" y="50"/>
                  </a:cubicBezTo>
                  <a:cubicBezTo>
                    <a:pt x="210" y="51"/>
                    <a:pt x="207" y="52"/>
                    <a:pt x="204" y="52"/>
                  </a:cubicBezTo>
                  <a:cubicBezTo>
                    <a:pt x="202" y="53"/>
                    <a:pt x="201" y="53"/>
                    <a:pt x="199" y="53"/>
                  </a:cubicBezTo>
                  <a:cubicBezTo>
                    <a:pt x="195" y="54"/>
                    <a:pt x="191" y="55"/>
                    <a:pt x="187" y="56"/>
                  </a:cubicBezTo>
                  <a:cubicBezTo>
                    <a:pt x="186" y="57"/>
                    <a:pt x="186" y="57"/>
                    <a:pt x="186" y="57"/>
                  </a:cubicBezTo>
                  <a:cubicBezTo>
                    <a:pt x="186" y="57"/>
                    <a:pt x="186" y="57"/>
                    <a:pt x="186" y="57"/>
                  </a:cubicBezTo>
                  <a:cubicBezTo>
                    <a:pt x="181" y="58"/>
                    <a:pt x="176" y="59"/>
                    <a:pt x="172" y="60"/>
                  </a:cubicBezTo>
                  <a:cubicBezTo>
                    <a:pt x="171" y="60"/>
                    <a:pt x="169" y="61"/>
                    <a:pt x="168" y="61"/>
                  </a:cubicBezTo>
                  <a:cubicBezTo>
                    <a:pt x="165" y="62"/>
                    <a:pt x="162" y="63"/>
                    <a:pt x="158" y="64"/>
                  </a:cubicBezTo>
                  <a:cubicBezTo>
                    <a:pt x="158" y="64"/>
                    <a:pt x="157" y="64"/>
                    <a:pt x="156" y="64"/>
                  </a:cubicBezTo>
                  <a:cubicBezTo>
                    <a:pt x="155" y="64"/>
                    <a:pt x="155" y="65"/>
                    <a:pt x="154" y="65"/>
                  </a:cubicBezTo>
                  <a:cubicBezTo>
                    <a:pt x="151" y="66"/>
                    <a:pt x="148" y="66"/>
                    <a:pt x="146" y="67"/>
                  </a:cubicBezTo>
                  <a:cubicBezTo>
                    <a:pt x="144" y="68"/>
                    <a:pt x="143" y="68"/>
                    <a:pt x="141" y="68"/>
                  </a:cubicBezTo>
                  <a:cubicBezTo>
                    <a:pt x="138" y="69"/>
                    <a:pt x="135" y="70"/>
                    <a:pt x="132" y="71"/>
                  </a:cubicBezTo>
                  <a:cubicBezTo>
                    <a:pt x="131" y="72"/>
                    <a:pt x="131" y="72"/>
                    <a:pt x="130" y="72"/>
                  </a:cubicBezTo>
                  <a:cubicBezTo>
                    <a:pt x="130" y="72"/>
                    <a:pt x="130" y="72"/>
                    <a:pt x="130" y="72"/>
                  </a:cubicBezTo>
                  <a:cubicBezTo>
                    <a:pt x="126" y="73"/>
                    <a:pt x="122" y="74"/>
                    <a:pt x="119" y="76"/>
                  </a:cubicBezTo>
                  <a:cubicBezTo>
                    <a:pt x="118" y="76"/>
                    <a:pt x="117" y="76"/>
                    <a:pt x="116" y="76"/>
                  </a:cubicBezTo>
                  <a:cubicBezTo>
                    <a:pt x="114" y="77"/>
                    <a:pt x="111" y="78"/>
                    <a:pt x="108" y="79"/>
                  </a:cubicBezTo>
                  <a:cubicBezTo>
                    <a:pt x="107" y="79"/>
                    <a:pt x="107" y="79"/>
                    <a:pt x="107" y="79"/>
                  </a:cubicBezTo>
                  <a:cubicBezTo>
                    <a:pt x="106" y="80"/>
                    <a:pt x="105" y="80"/>
                    <a:pt x="104" y="80"/>
                  </a:cubicBezTo>
                  <a:cubicBezTo>
                    <a:pt x="102" y="81"/>
                    <a:pt x="100" y="82"/>
                    <a:pt x="98" y="83"/>
                  </a:cubicBezTo>
                  <a:cubicBezTo>
                    <a:pt x="97" y="83"/>
                    <a:pt x="96" y="84"/>
                    <a:pt x="94" y="84"/>
                  </a:cubicBezTo>
                  <a:cubicBezTo>
                    <a:pt x="92" y="85"/>
                    <a:pt x="91" y="86"/>
                    <a:pt x="89" y="86"/>
                  </a:cubicBezTo>
                  <a:cubicBezTo>
                    <a:pt x="88" y="86"/>
                    <a:pt x="88" y="87"/>
                    <a:pt x="87" y="87"/>
                  </a:cubicBezTo>
                  <a:cubicBezTo>
                    <a:pt x="86" y="87"/>
                    <a:pt x="86" y="88"/>
                    <a:pt x="85" y="88"/>
                  </a:cubicBezTo>
                  <a:cubicBezTo>
                    <a:pt x="83" y="89"/>
                    <a:pt x="82" y="89"/>
                    <a:pt x="80" y="90"/>
                  </a:cubicBezTo>
                  <a:cubicBezTo>
                    <a:pt x="79" y="90"/>
                    <a:pt x="78" y="91"/>
                    <a:pt x="76" y="91"/>
                  </a:cubicBezTo>
                  <a:cubicBezTo>
                    <a:pt x="75" y="92"/>
                    <a:pt x="73" y="93"/>
                    <a:pt x="72" y="93"/>
                  </a:cubicBezTo>
                  <a:cubicBezTo>
                    <a:pt x="71" y="94"/>
                    <a:pt x="71" y="94"/>
                    <a:pt x="70" y="94"/>
                  </a:cubicBezTo>
                  <a:cubicBezTo>
                    <a:pt x="69" y="94"/>
                    <a:pt x="69" y="95"/>
                    <a:pt x="68" y="95"/>
                  </a:cubicBezTo>
                  <a:cubicBezTo>
                    <a:pt x="67" y="96"/>
                    <a:pt x="65" y="96"/>
                    <a:pt x="64" y="97"/>
                  </a:cubicBezTo>
                  <a:cubicBezTo>
                    <a:pt x="63" y="98"/>
                    <a:pt x="62" y="98"/>
                    <a:pt x="60" y="99"/>
                  </a:cubicBezTo>
                  <a:cubicBezTo>
                    <a:pt x="59" y="99"/>
                    <a:pt x="58" y="100"/>
                    <a:pt x="57" y="101"/>
                  </a:cubicBezTo>
                  <a:cubicBezTo>
                    <a:pt x="56" y="101"/>
                    <a:pt x="56" y="101"/>
                    <a:pt x="55" y="101"/>
                  </a:cubicBezTo>
                  <a:cubicBezTo>
                    <a:pt x="54" y="102"/>
                    <a:pt x="54" y="102"/>
                    <a:pt x="53" y="102"/>
                  </a:cubicBezTo>
                  <a:cubicBezTo>
                    <a:pt x="52" y="103"/>
                    <a:pt x="51" y="104"/>
                    <a:pt x="50" y="104"/>
                  </a:cubicBezTo>
                  <a:cubicBezTo>
                    <a:pt x="49" y="105"/>
                    <a:pt x="48" y="105"/>
                    <a:pt x="47" y="106"/>
                  </a:cubicBezTo>
                  <a:cubicBezTo>
                    <a:pt x="46" y="107"/>
                    <a:pt x="45" y="107"/>
                    <a:pt x="44" y="108"/>
                  </a:cubicBezTo>
                  <a:cubicBezTo>
                    <a:pt x="43" y="108"/>
                    <a:pt x="43" y="108"/>
                    <a:pt x="42" y="109"/>
                  </a:cubicBezTo>
                  <a:cubicBezTo>
                    <a:pt x="42" y="109"/>
                    <a:pt x="41" y="109"/>
                    <a:pt x="40" y="110"/>
                  </a:cubicBezTo>
                  <a:cubicBezTo>
                    <a:pt x="39" y="110"/>
                    <a:pt x="38" y="111"/>
                    <a:pt x="38" y="111"/>
                  </a:cubicBezTo>
                  <a:cubicBezTo>
                    <a:pt x="37" y="112"/>
                    <a:pt x="36" y="113"/>
                    <a:pt x="35" y="113"/>
                  </a:cubicBezTo>
                  <a:cubicBezTo>
                    <a:pt x="34" y="114"/>
                    <a:pt x="33" y="115"/>
                    <a:pt x="32" y="115"/>
                  </a:cubicBezTo>
                  <a:cubicBezTo>
                    <a:pt x="31" y="116"/>
                    <a:pt x="31" y="116"/>
                    <a:pt x="31" y="116"/>
                  </a:cubicBezTo>
                  <a:cubicBezTo>
                    <a:pt x="30" y="116"/>
                    <a:pt x="30" y="117"/>
                    <a:pt x="29" y="117"/>
                  </a:cubicBezTo>
                  <a:cubicBezTo>
                    <a:pt x="28" y="118"/>
                    <a:pt x="28" y="118"/>
                    <a:pt x="27" y="119"/>
                  </a:cubicBezTo>
                  <a:cubicBezTo>
                    <a:pt x="26" y="120"/>
                    <a:pt x="25" y="120"/>
                    <a:pt x="24" y="121"/>
                  </a:cubicBezTo>
                  <a:cubicBezTo>
                    <a:pt x="24" y="121"/>
                    <a:pt x="23" y="122"/>
                    <a:pt x="22" y="123"/>
                  </a:cubicBezTo>
                  <a:cubicBezTo>
                    <a:pt x="22" y="123"/>
                    <a:pt x="22" y="123"/>
                    <a:pt x="22" y="123"/>
                  </a:cubicBezTo>
                  <a:cubicBezTo>
                    <a:pt x="21" y="124"/>
                    <a:pt x="20" y="124"/>
                    <a:pt x="20" y="125"/>
                  </a:cubicBezTo>
                  <a:cubicBezTo>
                    <a:pt x="19" y="125"/>
                    <a:pt x="19" y="126"/>
                    <a:pt x="18" y="126"/>
                  </a:cubicBezTo>
                  <a:cubicBezTo>
                    <a:pt x="17" y="127"/>
                    <a:pt x="16" y="128"/>
                    <a:pt x="15" y="129"/>
                  </a:cubicBezTo>
                  <a:cubicBezTo>
                    <a:pt x="15" y="129"/>
                    <a:pt x="15" y="130"/>
                    <a:pt x="14" y="130"/>
                  </a:cubicBezTo>
                  <a:cubicBezTo>
                    <a:pt x="14" y="130"/>
                    <a:pt x="14" y="130"/>
                    <a:pt x="14" y="130"/>
                  </a:cubicBezTo>
                  <a:cubicBezTo>
                    <a:pt x="14" y="130"/>
                    <a:pt x="14" y="130"/>
                    <a:pt x="14" y="130"/>
                  </a:cubicBezTo>
                  <a:cubicBezTo>
                    <a:pt x="14" y="130"/>
                    <a:pt x="14" y="130"/>
                    <a:pt x="14" y="130"/>
                  </a:cubicBezTo>
                  <a:cubicBezTo>
                    <a:pt x="14" y="130"/>
                    <a:pt x="14" y="130"/>
                    <a:pt x="14" y="130"/>
                  </a:cubicBezTo>
                  <a:cubicBezTo>
                    <a:pt x="13" y="131"/>
                    <a:pt x="12" y="133"/>
                    <a:pt x="11" y="134"/>
                  </a:cubicBezTo>
                  <a:cubicBezTo>
                    <a:pt x="10" y="135"/>
                    <a:pt x="10" y="135"/>
                    <a:pt x="10" y="135"/>
                  </a:cubicBezTo>
                  <a:cubicBezTo>
                    <a:pt x="9" y="136"/>
                    <a:pt x="9" y="137"/>
                    <a:pt x="8" y="138"/>
                  </a:cubicBezTo>
                  <a:cubicBezTo>
                    <a:pt x="8" y="138"/>
                    <a:pt x="8" y="138"/>
                    <a:pt x="8" y="138"/>
                  </a:cubicBezTo>
                  <a:cubicBezTo>
                    <a:pt x="7" y="138"/>
                    <a:pt x="7" y="139"/>
                    <a:pt x="7" y="139"/>
                  </a:cubicBezTo>
                  <a:cubicBezTo>
                    <a:pt x="6" y="140"/>
                    <a:pt x="6" y="141"/>
                    <a:pt x="5" y="142"/>
                  </a:cubicBezTo>
                  <a:cubicBezTo>
                    <a:pt x="5" y="142"/>
                    <a:pt x="5" y="143"/>
                    <a:pt x="4" y="143"/>
                  </a:cubicBezTo>
                  <a:cubicBezTo>
                    <a:pt x="4" y="144"/>
                    <a:pt x="4" y="145"/>
                    <a:pt x="3" y="145"/>
                  </a:cubicBezTo>
                  <a:cubicBezTo>
                    <a:pt x="3" y="146"/>
                    <a:pt x="3" y="146"/>
                    <a:pt x="3" y="146"/>
                  </a:cubicBezTo>
                  <a:cubicBezTo>
                    <a:pt x="3" y="146"/>
                    <a:pt x="3" y="147"/>
                    <a:pt x="2" y="148"/>
                  </a:cubicBezTo>
                  <a:cubicBezTo>
                    <a:pt x="2" y="148"/>
                    <a:pt x="2" y="149"/>
                    <a:pt x="2" y="150"/>
                  </a:cubicBezTo>
                  <a:cubicBezTo>
                    <a:pt x="1" y="150"/>
                    <a:pt x="1" y="151"/>
                    <a:pt x="1" y="152"/>
                  </a:cubicBezTo>
                  <a:cubicBezTo>
                    <a:pt x="1" y="152"/>
                    <a:pt x="1" y="153"/>
                    <a:pt x="1" y="153"/>
                  </a:cubicBezTo>
                  <a:cubicBezTo>
                    <a:pt x="0" y="154"/>
                    <a:pt x="0" y="154"/>
                    <a:pt x="0" y="154"/>
                  </a:cubicBezTo>
                  <a:cubicBezTo>
                    <a:pt x="0" y="155"/>
                    <a:pt x="0" y="155"/>
                    <a:pt x="0" y="155"/>
                  </a:cubicBezTo>
                  <a:cubicBezTo>
                    <a:pt x="0" y="156"/>
                    <a:pt x="0" y="157"/>
                    <a:pt x="0" y="159"/>
                  </a:cubicBezTo>
                  <a:cubicBezTo>
                    <a:pt x="0" y="159"/>
                    <a:pt x="0" y="160"/>
                    <a:pt x="0" y="161"/>
                  </a:cubicBezTo>
                  <a:cubicBezTo>
                    <a:pt x="0" y="162"/>
                    <a:pt x="0" y="162"/>
                    <a:pt x="0" y="162"/>
                  </a:cubicBezTo>
                  <a:cubicBezTo>
                    <a:pt x="0" y="163"/>
                    <a:pt x="0" y="164"/>
                    <a:pt x="0" y="164"/>
                  </a:cubicBezTo>
                  <a:cubicBezTo>
                    <a:pt x="0" y="165"/>
                    <a:pt x="0" y="166"/>
                    <a:pt x="0" y="167"/>
                  </a:cubicBezTo>
                  <a:cubicBezTo>
                    <a:pt x="0" y="167"/>
                    <a:pt x="0" y="168"/>
                    <a:pt x="0" y="169"/>
                  </a:cubicBezTo>
                  <a:cubicBezTo>
                    <a:pt x="1" y="170"/>
                    <a:pt x="1" y="170"/>
                    <a:pt x="1" y="170"/>
                  </a:cubicBezTo>
                  <a:cubicBezTo>
                    <a:pt x="1" y="170"/>
                    <a:pt x="1" y="171"/>
                    <a:pt x="1" y="171"/>
                  </a:cubicBezTo>
                  <a:cubicBezTo>
                    <a:pt x="1" y="172"/>
                    <a:pt x="1" y="172"/>
                    <a:pt x="1" y="173"/>
                  </a:cubicBezTo>
                  <a:cubicBezTo>
                    <a:pt x="2" y="174"/>
                    <a:pt x="2" y="176"/>
                    <a:pt x="3" y="177"/>
                  </a:cubicBezTo>
                  <a:cubicBezTo>
                    <a:pt x="18" y="209"/>
                    <a:pt x="33" y="242"/>
                    <a:pt x="48" y="274"/>
                  </a:cubicBezTo>
                  <a:cubicBezTo>
                    <a:pt x="79" y="342"/>
                    <a:pt x="109" y="409"/>
                    <a:pt x="140" y="476"/>
                  </a:cubicBezTo>
                  <a:cubicBezTo>
                    <a:pt x="141" y="477"/>
                    <a:pt x="141" y="477"/>
                    <a:pt x="141" y="477"/>
                  </a:cubicBezTo>
                  <a:cubicBezTo>
                    <a:pt x="141" y="477"/>
                    <a:pt x="141" y="478"/>
                    <a:pt x="141" y="478"/>
                  </a:cubicBezTo>
                  <a:cubicBezTo>
                    <a:pt x="142" y="479"/>
                    <a:pt x="142" y="479"/>
                    <a:pt x="142" y="479"/>
                  </a:cubicBezTo>
                  <a:cubicBezTo>
                    <a:pt x="143" y="480"/>
                    <a:pt x="143" y="480"/>
                    <a:pt x="143" y="480"/>
                  </a:cubicBezTo>
                  <a:cubicBezTo>
                    <a:pt x="143" y="481"/>
                    <a:pt x="143" y="481"/>
                    <a:pt x="143" y="481"/>
                  </a:cubicBezTo>
                  <a:cubicBezTo>
                    <a:pt x="144" y="482"/>
                    <a:pt x="144" y="482"/>
                    <a:pt x="145" y="483"/>
                  </a:cubicBezTo>
                  <a:cubicBezTo>
                    <a:pt x="145" y="484"/>
                    <a:pt x="145" y="484"/>
                    <a:pt x="145" y="484"/>
                  </a:cubicBezTo>
                  <a:cubicBezTo>
                    <a:pt x="146" y="485"/>
                    <a:pt x="146" y="485"/>
                    <a:pt x="146" y="485"/>
                  </a:cubicBezTo>
                  <a:cubicBezTo>
                    <a:pt x="146" y="485"/>
                    <a:pt x="147" y="486"/>
                    <a:pt x="147" y="486"/>
                  </a:cubicBezTo>
                  <a:cubicBezTo>
                    <a:pt x="148" y="487"/>
                    <a:pt x="148" y="487"/>
                    <a:pt x="148" y="487"/>
                  </a:cubicBezTo>
                  <a:cubicBezTo>
                    <a:pt x="148" y="487"/>
                    <a:pt x="148" y="487"/>
                    <a:pt x="148" y="487"/>
                  </a:cubicBezTo>
                  <a:cubicBezTo>
                    <a:pt x="148" y="488"/>
                    <a:pt x="148" y="488"/>
                    <a:pt x="148" y="488"/>
                  </a:cubicBezTo>
                  <a:cubicBezTo>
                    <a:pt x="149" y="488"/>
                    <a:pt x="150" y="489"/>
                    <a:pt x="150" y="490"/>
                  </a:cubicBezTo>
                  <a:cubicBezTo>
                    <a:pt x="151" y="490"/>
                    <a:pt x="151" y="490"/>
                    <a:pt x="151" y="491"/>
                  </a:cubicBezTo>
                  <a:cubicBezTo>
                    <a:pt x="152" y="491"/>
                    <a:pt x="152" y="491"/>
                    <a:pt x="152" y="491"/>
                  </a:cubicBezTo>
                  <a:cubicBezTo>
                    <a:pt x="152" y="492"/>
                    <a:pt x="152" y="492"/>
                    <a:pt x="152" y="492"/>
                  </a:cubicBezTo>
                  <a:cubicBezTo>
                    <a:pt x="153" y="492"/>
                    <a:pt x="153" y="493"/>
                    <a:pt x="154" y="493"/>
                  </a:cubicBezTo>
                  <a:cubicBezTo>
                    <a:pt x="155" y="494"/>
                    <a:pt x="155" y="494"/>
                    <a:pt x="155" y="494"/>
                  </a:cubicBezTo>
                  <a:cubicBezTo>
                    <a:pt x="156" y="495"/>
                    <a:pt x="156" y="495"/>
                    <a:pt x="156" y="495"/>
                  </a:cubicBezTo>
                  <a:cubicBezTo>
                    <a:pt x="156" y="495"/>
                    <a:pt x="156" y="495"/>
                    <a:pt x="157" y="496"/>
                  </a:cubicBezTo>
                  <a:cubicBezTo>
                    <a:pt x="157" y="496"/>
                    <a:pt x="158" y="497"/>
                    <a:pt x="159" y="497"/>
                  </a:cubicBezTo>
                  <a:cubicBezTo>
                    <a:pt x="159" y="498"/>
                    <a:pt x="159" y="498"/>
                    <a:pt x="159" y="498"/>
                  </a:cubicBezTo>
                  <a:cubicBezTo>
                    <a:pt x="160" y="498"/>
                    <a:pt x="160" y="498"/>
                    <a:pt x="160" y="498"/>
                  </a:cubicBezTo>
                  <a:cubicBezTo>
                    <a:pt x="160" y="498"/>
                    <a:pt x="161" y="499"/>
                    <a:pt x="161" y="499"/>
                  </a:cubicBezTo>
                  <a:cubicBezTo>
                    <a:pt x="162" y="499"/>
                    <a:pt x="162" y="500"/>
                    <a:pt x="163" y="500"/>
                  </a:cubicBezTo>
                  <a:cubicBezTo>
                    <a:pt x="163" y="500"/>
                    <a:pt x="163" y="501"/>
                    <a:pt x="164" y="501"/>
                  </a:cubicBezTo>
                  <a:cubicBezTo>
                    <a:pt x="164" y="501"/>
                    <a:pt x="164" y="501"/>
                    <a:pt x="164" y="501"/>
                  </a:cubicBezTo>
                  <a:cubicBezTo>
                    <a:pt x="165" y="502"/>
                    <a:pt x="165" y="502"/>
                    <a:pt x="165" y="502"/>
                  </a:cubicBezTo>
                  <a:cubicBezTo>
                    <a:pt x="165" y="502"/>
                    <a:pt x="166" y="502"/>
                    <a:pt x="166" y="502"/>
                  </a:cubicBezTo>
                  <a:cubicBezTo>
                    <a:pt x="167" y="503"/>
                    <a:pt x="167" y="503"/>
                    <a:pt x="167" y="503"/>
                  </a:cubicBezTo>
                  <a:cubicBezTo>
                    <a:pt x="168" y="503"/>
                    <a:pt x="168" y="504"/>
                    <a:pt x="169" y="504"/>
                  </a:cubicBezTo>
                  <a:cubicBezTo>
                    <a:pt x="170" y="505"/>
                    <a:pt x="171" y="505"/>
                    <a:pt x="171" y="506"/>
                  </a:cubicBezTo>
                  <a:cubicBezTo>
                    <a:pt x="172" y="506"/>
                    <a:pt x="172" y="506"/>
                    <a:pt x="172" y="506"/>
                  </a:cubicBezTo>
                  <a:cubicBezTo>
                    <a:pt x="173" y="507"/>
                    <a:pt x="173" y="507"/>
                    <a:pt x="174" y="507"/>
                  </a:cubicBezTo>
                  <a:cubicBezTo>
                    <a:pt x="175" y="508"/>
                    <a:pt x="176" y="508"/>
                    <a:pt x="177" y="509"/>
                  </a:cubicBezTo>
                  <a:cubicBezTo>
                    <a:pt x="178" y="509"/>
                    <a:pt x="178" y="509"/>
                    <a:pt x="178" y="509"/>
                  </a:cubicBezTo>
                  <a:cubicBezTo>
                    <a:pt x="178" y="510"/>
                    <a:pt x="179" y="510"/>
                    <a:pt x="179" y="510"/>
                  </a:cubicBezTo>
                  <a:cubicBezTo>
                    <a:pt x="179" y="510"/>
                    <a:pt x="179" y="510"/>
                    <a:pt x="179" y="510"/>
                  </a:cubicBezTo>
                  <a:cubicBezTo>
                    <a:pt x="180" y="511"/>
                    <a:pt x="181" y="511"/>
                    <a:pt x="182" y="512"/>
                  </a:cubicBezTo>
                  <a:cubicBezTo>
                    <a:pt x="183" y="512"/>
                    <a:pt x="183" y="512"/>
                    <a:pt x="184" y="513"/>
                  </a:cubicBezTo>
                  <a:cubicBezTo>
                    <a:pt x="184" y="513"/>
                    <a:pt x="185" y="513"/>
                    <a:pt x="185" y="513"/>
                  </a:cubicBezTo>
                  <a:cubicBezTo>
                    <a:pt x="186" y="514"/>
                    <a:pt x="187" y="514"/>
                    <a:pt x="188" y="515"/>
                  </a:cubicBezTo>
                  <a:cubicBezTo>
                    <a:pt x="189" y="515"/>
                    <a:pt x="190" y="516"/>
                    <a:pt x="191" y="516"/>
                  </a:cubicBezTo>
                  <a:cubicBezTo>
                    <a:pt x="191" y="516"/>
                    <a:pt x="191" y="516"/>
                    <a:pt x="191" y="516"/>
                  </a:cubicBezTo>
                  <a:cubicBezTo>
                    <a:pt x="192" y="517"/>
                    <a:pt x="192" y="517"/>
                    <a:pt x="192" y="517"/>
                  </a:cubicBezTo>
                  <a:cubicBezTo>
                    <a:pt x="193" y="517"/>
                    <a:pt x="193" y="517"/>
                    <a:pt x="194" y="518"/>
                  </a:cubicBezTo>
                  <a:cubicBezTo>
                    <a:pt x="195" y="518"/>
                    <a:pt x="196" y="518"/>
                    <a:pt x="197" y="519"/>
                  </a:cubicBezTo>
                  <a:cubicBezTo>
                    <a:pt x="197" y="519"/>
                    <a:pt x="198" y="520"/>
                    <a:pt x="199" y="520"/>
                  </a:cubicBezTo>
                  <a:cubicBezTo>
                    <a:pt x="199" y="520"/>
                    <a:pt x="200" y="520"/>
                    <a:pt x="201" y="521"/>
                  </a:cubicBezTo>
                  <a:cubicBezTo>
                    <a:pt x="201" y="521"/>
                    <a:pt x="202" y="521"/>
                    <a:pt x="203" y="522"/>
                  </a:cubicBezTo>
                  <a:cubicBezTo>
                    <a:pt x="204" y="522"/>
                    <a:pt x="205" y="523"/>
                    <a:pt x="206" y="523"/>
                  </a:cubicBezTo>
                  <a:cubicBezTo>
                    <a:pt x="207" y="523"/>
                    <a:pt x="208" y="523"/>
                    <a:pt x="208" y="524"/>
                  </a:cubicBezTo>
                  <a:cubicBezTo>
                    <a:pt x="209" y="524"/>
                    <a:pt x="209" y="524"/>
                    <a:pt x="210" y="524"/>
                  </a:cubicBezTo>
                  <a:cubicBezTo>
                    <a:pt x="211" y="525"/>
                    <a:pt x="213" y="526"/>
                    <a:pt x="214" y="526"/>
                  </a:cubicBezTo>
                  <a:cubicBezTo>
                    <a:pt x="215" y="526"/>
                    <a:pt x="215" y="526"/>
                    <a:pt x="215" y="526"/>
                  </a:cubicBezTo>
                  <a:cubicBezTo>
                    <a:pt x="215" y="526"/>
                    <a:pt x="216" y="527"/>
                    <a:pt x="216" y="527"/>
                  </a:cubicBezTo>
                  <a:cubicBezTo>
                    <a:pt x="217" y="527"/>
                    <a:pt x="217" y="527"/>
                    <a:pt x="217" y="527"/>
                  </a:cubicBezTo>
                  <a:cubicBezTo>
                    <a:pt x="219" y="528"/>
                    <a:pt x="220" y="528"/>
                    <a:pt x="222" y="529"/>
                  </a:cubicBezTo>
                  <a:cubicBezTo>
                    <a:pt x="223" y="529"/>
                    <a:pt x="223" y="530"/>
                    <a:pt x="224" y="530"/>
                  </a:cubicBezTo>
                  <a:cubicBezTo>
                    <a:pt x="226" y="531"/>
                    <a:pt x="228" y="531"/>
                    <a:pt x="230" y="532"/>
                  </a:cubicBezTo>
                  <a:cubicBezTo>
                    <a:pt x="231" y="532"/>
                    <a:pt x="231" y="532"/>
                    <a:pt x="232" y="533"/>
                  </a:cubicBezTo>
                  <a:cubicBezTo>
                    <a:pt x="233" y="533"/>
                    <a:pt x="233" y="533"/>
                    <a:pt x="234" y="533"/>
                  </a:cubicBezTo>
                  <a:cubicBezTo>
                    <a:pt x="234" y="533"/>
                    <a:pt x="235" y="534"/>
                    <a:pt x="236" y="534"/>
                  </a:cubicBezTo>
                  <a:cubicBezTo>
                    <a:pt x="237" y="534"/>
                    <a:pt x="239" y="535"/>
                    <a:pt x="240" y="535"/>
                  </a:cubicBezTo>
                  <a:cubicBezTo>
                    <a:pt x="240" y="535"/>
                    <a:pt x="240" y="535"/>
                    <a:pt x="240" y="535"/>
                  </a:cubicBezTo>
                  <a:cubicBezTo>
                    <a:pt x="241" y="535"/>
                    <a:pt x="242" y="536"/>
                    <a:pt x="243" y="536"/>
                  </a:cubicBezTo>
                  <a:cubicBezTo>
                    <a:pt x="244" y="536"/>
                    <a:pt x="245" y="537"/>
                    <a:pt x="246" y="537"/>
                  </a:cubicBezTo>
                  <a:cubicBezTo>
                    <a:pt x="247" y="537"/>
                    <a:pt x="247" y="537"/>
                    <a:pt x="248" y="538"/>
                  </a:cubicBezTo>
                  <a:cubicBezTo>
                    <a:pt x="249" y="538"/>
                    <a:pt x="250" y="538"/>
                    <a:pt x="251" y="538"/>
                  </a:cubicBezTo>
                  <a:cubicBezTo>
                    <a:pt x="251" y="539"/>
                    <a:pt x="252" y="539"/>
                    <a:pt x="253" y="539"/>
                  </a:cubicBezTo>
                  <a:cubicBezTo>
                    <a:pt x="253" y="539"/>
                    <a:pt x="254" y="539"/>
                    <a:pt x="255" y="540"/>
                  </a:cubicBezTo>
                  <a:cubicBezTo>
                    <a:pt x="256" y="540"/>
                    <a:pt x="256" y="540"/>
                    <a:pt x="257" y="540"/>
                  </a:cubicBezTo>
                  <a:cubicBezTo>
                    <a:pt x="258" y="541"/>
                    <a:pt x="259" y="541"/>
                    <a:pt x="260" y="541"/>
                  </a:cubicBezTo>
                  <a:cubicBezTo>
                    <a:pt x="262" y="542"/>
                    <a:pt x="263" y="542"/>
                    <a:pt x="265" y="543"/>
                  </a:cubicBezTo>
                  <a:cubicBezTo>
                    <a:pt x="266" y="543"/>
                    <a:pt x="266" y="543"/>
                    <a:pt x="266" y="543"/>
                  </a:cubicBezTo>
                  <a:cubicBezTo>
                    <a:pt x="267" y="543"/>
                    <a:pt x="268" y="543"/>
                    <a:pt x="269" y="544"/>
                  </a:cubicBezTo>
                  <a:cubicBezTo>
                    <a:pt x="271" y="544"/>
                    <a:pt x="273" y="545"/>
                    <a:pt x="275" y="545"/>
                  </a:cubicBezTo>
                  <a:cubicBezTo>
                    <a:pt x="275" y="545"/>
                    <a:pt x="276" y="545"/>
                    <a:pt x="276" y="546"/>
                  </a:cubicBezTo>
                  <a:cubicBezTo>
                    <a:pt x="277" y="546"/>
                    <a:pt x="277" y="546"/>
                    <a:pt x="277" y="546"/>
                  </a:cubicBezTo>
                  <a:cubicBezTo>
                    <a:pt x="278" y="546"/>
                    <a:pt x="278" y="546"/>
                    <a:pt x="279" y="546"/>
                  </a:cubicBezTo>
                  <a:cubicBezTo>
                    <a:pt x="280" y="547"/>
                    <a:pt x="282" y="547"/>
                    <a:pt x="284" y="548"/>
                  </a:cubicBezTo>
                  <a:cubicBezTo>
                    <a:pt x="285" y="548"/>
                    <a:pt x="286" y="548"/>
                    <a:pt x="287" y="548"/>
                  </a:cubicBezTo>
                  <a:cubicBezTo>
                    <a:pt x="287" y="548"/>
                    <a:pt x="288" y="549"/>
                    <a:pt x="289" y="549"/>
                  </a:cubicBezTo>
                  <a:cubicBezTo>
                    <a:pt x="291" y="549"/>
                    <a:pt x="292" y="550"/>
                    <a:pt x="294" y="550"/>
                  </a:cubicBezTo>
                  <a:cubicBezTo>
                    <a:pt x="295" y="550"/>
                    <a:pt x="296" y="551"/>
                    <a:pt x="298" y="551"/>
                  </a:cubicBezTo>
                  <a:cubicBezTo>
                    <a:pt x="298" y="551"/>
                    <a:pt x="299" y="551"/>
                    <a:pt x="300" y="551"/>
                  </a:cubicBezTo>
                  <a:cubicBezTo>
                    <a:pt x="301" y="552"/>
                    <a:pt x="302" y="552"/>
                    <a:pt x="304" y="552"/>
                  </a:cubicBezTo>
                  <a:cubicBezTo>
                    <a:pt x="305" y="553"/>
                    <a:pt x="306" y="553"/>
                    <a:pt x="308" y="553"/>
                  </a:cubicBezTo>
                  <a:cubicBezTo>
                    <a:pt x="309" y="553"/>
                    <a:pt x="310" y="554"/>
                    <a:pt x="311" y="554"/>
                  </a:cubicBezTo>
                  <a:cubicBezTo>
                    <a:pt x="312" y="554"/>
                    <a:pt x="313" y="554"/>
                    <a:pt x="314" y="554"/>
                  </a:cubicBezTo>
                  <a:cubicBezTo>
                    <a:pt x="314" y="554"/>
                    <a:pt x="314" y="554"/>
                    <a:pt x="314" y="554"/>
                  </a:cubicBezTo>
                  <a:cubicBezTo>
                    <a:pt x="315" y="555"/>
                    <a:pt x="317" y="555"/>
                    <a:pt x="318" y="555"/>
                  </a:cubicBezTo>
                  <a:cubicBezTo>
                    <a:pt x="320" y="556"/>
                    <a:pt x="321" y="556"/>
                    <a:pt x="323" y="556"/>
                  </a:cubicBezTo>
                  <a:cubicBezTo>
                    <a:pt x="324" y="557"/>
                    <a:pt x="325" y="557"/>
                    <a:pt x="325" y="557"/>
                  </a:cubicBezTo>
                  <a:cubicBezTo>
                    <a:pt x="326" y="557"/>
                    <a:pt x="327" y="557"/>
                    <a:pt x="328" y="558"/>
                  </a:cubicBezTo>
                  <a:cubicBezTo>
                    <a:pt x="331" y="558"/>
                    <a:pt x="333" y="558"/>
                    <a:pt x="335" y="559"/>
                  </a:cubicBezTo>
                  <a:cubicBezTo>
                    <a:pt x="336" y="559"/>
                    <a:pt x="337" y="559"/>
                    <a:pt x="338" y="559"/>
                  </a:cubicBezTo>
                  <a:cubicBezTo>
                    <a:pt x="338" y="560"/>
                    <a:pt x="339" y="560"/>
                    <a:pt x="339" y="560"/>
                  </a:cubicBezTo>
                  <a:cubicBezTo>
                    <a:pt x="341" y="560"/>
                    <a:pt x="344" y="561"/>
                    <a:pt x="346" y="561"/>
                  </a:cubicBezTo>
                  <a:cubicBezTo>
                    <a:pt x="347" y="561"/>
                    <a:pt x="349" y="562"/>
                    <a:pt x="350" y="562"/>
                  </a:cubicBezTo>
                  <a:cubicBezTo>
                    <a:pt x="351" y="562"/>
                    <a:pt x="351" y="562"/>
                    <a:pt x="351" y="562"/>
                  </a:cubicBezTo>
                  <a:cubicBezTo>
                    <a:pt x="353" y="562"/>
                    <a:pt x="355" y="563"/>
                    <a:pt x="358" y="563"/>
                  </a:cubicBezTo>
                  <a:cubicBezTo>
                    <a:pt x="359" y="563"/>
                    <a:pt x="360" y="564"/>
                    <a:pt x="361" y="564"/>
                  </a:cubicBezTo>
                  <a:cubicBezTo>
                    <a:pt x="362" y="564"/>
                    <a:pt x="363" y="564"/>
                    <a:pt x="363" y="564"/>
                  </a:cubicBezTo>
                  <a:cubicBezTo>
                    <a:pt x="364" y="564"/>
                    <a:pt x="365" y="565"/>
                    <a:pt x="366" y="565"/>
                  </a:cubicBezTo>
                  <a:cubicBezTo>
                    <a:pt x="368" y="565"/>
                    <a:pt x="370" y="565"/>
                    <a:pt x="372" y="566"/>
                  </a:cubicBezTo>
                  <a:cubicBezTo>
                    <a:pt x="373" y="566"/>
                    <a:pt x="373" y="566"/>
                    <a:pt x="373" y="566"/>
                  </a:cubicBezTo>
                  <a:cubicBezTo>
                    <a:pt x="374" y="566"/>
                    <a:pt x="375" y="566"/>
                    <a:pt x="376" y="566"/>
                  </a:cubicBezTo>
                  <a:cubicBezTo>
                    <a:pt x="377" y="567"/>
                    <a:pt x="379" y="567"/>
                    <a:pt x="380" y="567"/>
                  </a:cubicBezTo>
                  <a:cubicBezTo>
                    <a:pt x="382" y="567"/>
                    <a:pt x="383" y="568"/>
                    <a:pt x="384" y="568"/>
                  </a:cubicBezTo>
                  <a:cubicBezTo>
                    <a:pt x="385" y="568"/>
                    <a:pt x="386" y="568"/>
                    <a:pt x="387" y="568"/>
                  </a:cubicBezTo>
                  <a:cubicBezTo>
                    <a:pt x="388" y="568"/>
                    <a:pt x="389" y="568"/>
                    <a:pt x="390" y="569"/>
                  </a:cubicBezTo>
                  <a:cubicBezTo>
                    <a:pt x="391" y="569"/>
                    <a:pt x="392" y="569"/>
                    <a:pt x="393" y="569"/>
                  </a:cubicBezTo>
                  <a:cubicBezTo>
                    <a:pt x="394" y="569"/>
                    <a:pt x="395" y="569"/>
                    <a:pt x="396" y="570"/>
                  </a:cubicBezTo>
                  <a:cubicBezTo>
                    <a:pt x="398" y="570"/>
                    <a:pt x="399" y="570"/>
                    <a:pt x="400" y="570"/>
                  </a:cubicBezTo>
                  <a:cubicBezTo>
                    <a:pt x="403" y="571"/>
                    <a:pt x="406" y="571"/>
                    <a:pt x="408" y="571"/>
                  </a:cubicBezTo>
                  <a:cubicBezTo>
                    <a:pt x="410" y="572"/>
                    <a:pt x="411" y="572"/>
                    <a:pt x="413" y="572"/>
                  </a:cubicBezTo>
                  <a:cubicBezTo>
                    <a:pt x="415" y="572"/>
                    <a:pt x="418" y="573"/>
                    <a:pt x="420" y="573"/>
                  </a:cubicBezTo>
                  <a:cubicBezTo>
                    <a:pt x="421" y="573"/>
                    <a:pt x="421" y="573"/>
                    <a:pt x="421" y="573"/>
                  </a:cubicBezTo>
                  <a:cubicBezTo>
                    <a:pt x="422" y="573"/>
                    <a:pt x="422" y="573"/>
                    <a:pt x="422" y="573"/>
                  </a:cubicBezTo>
                  <a:cubicBezTo>
                    <a:pt x="423" y="574"/>
                    <a:pt x="424" y="574"/>
                    <a:pt x="426" y="574"/>
                  </a:cubicBezTo>
                  <a:cubicBezTo>
                    <a:pt x="428" y="574"/>
                    <a:pt x="430" y="575"/>
                    <a:pt x="433" y="575"/>
                  </a:cubicBezTo>
                  <a:cubicBezTo>
                    <a:pt x="434" y="575"/>
                    <a:pt x="435" y="575"/>
                    <a:pt x="436" y="575"/>
                  </a:cubicBezTo>
                  <a:cubicBezTo>
                    <a:pt x="437" y="575"/>
                    <a:pt x="437" y="575"/>
                    <a:pt x="437" y="575"/>
                  </a:cubicBezTo>
                  <a:cubicBezTo>
                    <a:pt x="438" y="575"/>
                    <a:pt x="438" y="576"/>
                    <a:pt x="439" y="576"/>
                  </a:cubicBezTo>
                  <a:cubicBezTo>
                    <a:pt x="441" y="576"/>
                    <a:pt x="443" y="576"/>
                    <a:pt x="446" y="576"/>
                  </a:cubicBezTo>
                  <a:cubicBezTo>
                    <a:pt x="447" y="577"/>
                    <a:pt x="449" y="577"/>
                    <a:pt x="451" y="577"/>
                  </a:cubicBezTo>
                  <a:cubicBezTo>
                    <a:pt x="452" y="577"/>
                    <a:pt x="453" y="577"/>
                    <a:pt x="454" y="577"/>
                  </a:cubicBezTo>
                  <a:cubicBezTo>
                    <a:pt x="455" y="578"/>
                    <a:pt x="455" y="578"/>
                    <a:pt x="455" y="578"/>
                  </a:cubicBezTo>
                  <a:cubicBezTo>
                    <a:pt x="456" y="578"/>
                    <a:pt x="457" y="578"/>
                    <a:pt x="458" y="578"/>
                  </a:cubicBezTo>
                  <a:cubicBezTo>
                    <a:pt x="460" y="578"/>
                    <a:pt x="462" y="578"/>
                    <a:pt x="464" y="579"/>
                  </a:cubicBezTo>
                  <a:cubicBezTo>
                    <a:pt x="466" y="579"/>
                    <a:pt x="468" y="579"/>
                    <a:pt x="471" y="579"/>
                  </a:cubicBezTo>
                  <a:cubicBezTo>
                    <a:pt x="471" y="580"/>
                    <a:pt x="472" y="580"/>
                    <a:pt x="473" y="580"/>
                  </a:cubicBezTo>
                  <a:cubicBezTo>
                    <a:pt x="475" y="580"/>
                    <a:pt x="476" y="580"/>
                    <a:pt x="477" y="580"/>
                  </a:cubicBezTo>
                  <a:cubicBezTo>
                    <a:pt x="480" y="580"/>
                    <a:pt x="482" y="581"/>
                    <a:pt x="485" y="581"/>
                  </a:cubicBezTo>
                  <a:cubicBezTo>
                    <a:pt x="486" y="581"/>
                    <a:pt x="488" y="581"/>
                    <a:pt x="490" y="582"/>
                  </a:cubicBezTo>
                  <a:cubicBezTo>
                    <a:pt x="490" y="582"/>
                    <a:pt x="491" y="582"/>
                    <a:pt x="491" y="582"/>
                  </a:cubicBezTo>
                  <a:cubicBezTo>
                    <a:pt x="494" y="582"/>
                    <a:pt x="496" y="582"/>
                    <a:pt x="499" y="582"/>
                  </a:cubicBezTo>
                  <a:cubicBezTo>
                    <a:pt x="500" y="583"/>
                    <a:pt x="502" y="583"/>
                    <a:pt x="504" y="583"/>
                  </a:cubicBezTo>
                  <a:cubicBezTo>
                    <a:pt x="505" y="583"/>
                    <a:pt x="506" y="583"/>
                    <a:pt x="508" y="583"/>
                  </a:cubicBezTo>
                  <a:cubicBezTo>
                    <a:pt x="509" y="583"/>
                    <a:pt x="509" y="583"/>
                    <a:pt x="509" y="583"/>
                  </a:cubicBezTo>
                  <a:cubicBezTo>
                    <a:pt x="510" y="584"/>
                    <a:pt x="511" y="584"/>
                    <a:pt x="512" y="584"/>
                  </a:cubicBezTo>
                  <a:cubicBezTo>
                    <a:pt x="512" y="584"/>
                    <a:pt x="512" y="584"/>
                    <a:pt x="512" y="584"/>
                  </a:cubicBezTo>
                  <a:cubicBezTo>
                    <a:pt x="514" y="584"/>
                    <a:pt x="516" y="584"/>
                    <a:pt x="518" y="584"/>
                  </a:cubicBezTo>
                  <a:cubicBezTo>
                    <a:pt x="519" y="584"/>
                    <a:pt x="521" y="585"/>
                    <a:pt x="522" y="585"/>
                  </a:cubicBezTo>
                  <a:cubicBezTo>
                    <a:pt x="524" y="585"/>
                    <a:pt x="525" y="585"/>
                    <a:pt x="527" y="585"/>
                  </a:cubicBezTo>
                  <a:cubicBezTo>
                    <a:pt x="529" y="585"/>
                    <a:pt x="530" y="585"/>
                    <a:pt x="532" y="586"/>
                  </a:cubicBezTo>
                  <a:cubicBezTo>
                    <a:pt x="533" y="586"/>
                    <a:pt x="535" y="586"/>
                    <a:pt x="537" y="586"/>
                  </a:cubicBezTo>
                  <a:cubicBezTo>
                    <a:pt x="539" y="586"/>
                    <a:pt x="541" y="586"/>
                    <a:pt x="542" y="586"/>
                  </a:cubicBezTo>
                  <a:cubicBezTo>
                    <a:pt x="543" y="586"/>
                    <a:pt x="543" y="586"/>
                    <a:pt x="543" y="586"/>
                  </a:cubicBezTo>
                  <a:cubicBezTo>
                    <a:pt x="544" y="587"/>
                    <a:pt x="544" y="587"/>
                    <a:pt x="546" y="587"/>
                  </a:cubicBezTo>
                  <a:cubicBezTo>
                    <a:pt x="548" y="587"/>
                    <a:pt x="550" y="587"/>
                    <a:pt x="552" y="587"/>
                  </a:cubicBezTo>
                  <a:cubicBezTo>
                    <a:pt x="554" y="587"/>
                    <a:pt x="556" y="587"/>
                    <a:pt x="557" y="588"/>
                  </a:cubicBezTo>
                  <a:cubicBezTo>
                    <a:pt x="558" y="588"/>
                    <a:pt x="559" y="588"/>
                    <a:pt x="560" y="588"/>
                  </a:cubicBezTo>
                  <a:cubicBezTo>
                    <a:pt x="560" y="588"/>
                    <a:pt x="561" y="588"/>
                    <a:pt x="561" y="588"/>
                  </a:cubicBezTo>
                  <a:cubicBezTo>
                    <a:pt x="564" y="588"/>
                    <a:pt x="567" y="588"/>
                    <a:pt x="569" y="588"/>
                  </a:cubicBezTo>
                  <a:cubicBezTo>
                    <a:pt x="570" y="589"/>
                    <a:pt x="571" y="589"/>
                    <a:pt x="572" y="589"/>
                  </a:cubicBezTo>
                  <a:cubicBezTo>
                    <a:pt x="572" y="589"/>
                    <a:pt x="572" y="589"/>
                    <a:pt x="572" y="589"/>
                  </a:cubicBezTo>
                  <a:cubicBezTo>
                    <a:pt x="573" y="589"/>
                    <a:pt x="574" y="589"/>
                    <a:pt x="574" y="589"/>
                  </a:cubicBezTo>
                  <a:cubicBezTo>
                    <a:pt x="576" y="589"/>
                    <a:pt x="577" y="589"/>
                    <a:pt x="579" y="589"/>
                  </a:cubicBezTo>
                  <a:cubicBezTo>
                    <a:pt x="582" y="589"/>
                    <a:pt x="585" y="590"/>
                    <a:pt x="589" y="590"/>
                  </a:cubicBezTo>
                  <a:cubicBezTo>
                    <a:pt x="590" y="590"/>
                    <a:pt x="592" y="590"/>
                    <a:pt x="594" y="590"/>
                  </a:cubicBezTo>
                  <a:cubicBezTo>
                    <a:pt x="597" y="590"/>
                    <a:pt x="599" y="590"/>
                    <a:pt x="602" y="591"/>
                  </a:cubicBezTo>
                  <a:cubicBezTo>
                    <a:pt x="603" y="591"/>
                    <a:pt x="603" y="591"/>
                    <a:pt x="603" y="591"/>
                  </a:cubicBezTo>
                  <a:cubicBezTo>
                    <a:pt x="603" y="591"/>
                    <a:pt x="603" y="591"/>
                    <a:pt x="603" y="591"/>
                  </a:cubicBezTo>
                  <a:cubicBezTo>
                    <a:pt x="605" y="591"/>
                    <a:pt x="607" y="591"/>
                    <a:pt x="609" y="591"/>
                  </a:cubicBezTo>
                  <a:cubicBezTo>
                    <a:pt x="612" y="591"/>
                    <a:pt x="615" y="591"/>
                    <a:pt x="618" y="591"/>
                  </a:cubicBezTo>
                  <a:cubicBezTo>
                    <a:pt x="620" y="592"/>
                    <a:pt x="622" y="592"/>
                    <a:pt x="624" y="592"/>
                  </a:cubicBezTo>
                  <a:cubicBezTo>
                    <a:pt x="627" y="592"/>
                    <a:pt x="630" y="592"/>
                    <a:pt x="632" y="592"/>
                  </a:cubicBezTo>
                  <a:cubicBezTo>
                    <a:pt x="633" y="592"/>
                    <a:pt x="633" y="592"/>
                    <a:pt x="633" y="592"/>
                  </a:cubicBezTo>
                  <a:cubicBezTo>
                    <a:pt x="634" y="592"/>
                    <a:pt x="634" y="592"/>
                    <a:pt x="634" y="592"/>
                  </a:cubicBezTo>
                  <a:cubicBezTo>
                    <a:pt x="636" y="592"/>
                    <a:pt x="638" y="592"/>
                    <a:pt x="639" y="592"/>
                  </a:cubicBezTo>
                  <a:cubicBezTo>
                    <a:pt x="642" y="593"/>
                    <a:pt x="645" y="593"/>
                    <a:pt x="648" y="593"/>
                  </a:cubicBezTo>
                  <a:cubicBezTo>
                    <a:pt x="650" y="593"/>
                    <a:pt x="652" y="593"/>
                    <a:pt x="655" y="593"/>
                  </a:cubicBezTo>
                  <a:cubicBezTo>
                    <a:pt x="657" y="593"/>
                    <a:pt x="660" y="593"/>
                    <a:pt x="663" y="593"/>
                  </a:cubicBezTo>
                  <a:cubicBezTo>
                    <a:pt x="664" y="593"/>
                    <a:pt x="664" y="594"/>
                    <a:pt x="665" y="594"/>
                  </a:cubicBezTo>
                  <a:cubicBezTo>
                    <a:pt x="667" y="594"/>
                    <a:pt x="668" y="594"/>
                    <a:pt x="670" y="594"/>
                  </a:cubicBezTo>
                  <a:cubicBezTo>
                    <a:pt x="673" y="594"/>
                    <a:pt x="676" y="594"/>
                    <a:pt x="679" y="594"/>
                  </a:cubicBezTo>
                  <a:cubicBezTo>
                    <a:pt x="681" y="594"/>
                    <a:pt x="683" y="594"/>
                    <a:pt x="685" y="594"/>
                  </a:cubicBezTo>
                  <a:cubicBezTo>
                    <a:pt x="688" y="594"/>
                    <a:pt x="691" y="594"/>
                    <a:pt x="694" y="594"/>
                  </a:cubicBezTo>
                  <a:cubicBezTo>
                    <a:pt x="694" y="594"/>
                    <a:pt x="694" y="594"/>
                    <a:pt x="694" y="594"/>
                  </a:cubicBezTo>
                  <a:cubicBezTo>
                    <a:pt x="695" y="594"/>
                    <a:pt x="695" y="594"/>
                    <a:pt x="696" y="594"/>
                  </a:cubicBezTo>
                  <a:cubicBezTo>
                    <a:pt x="696" y="595"/>
                    <a:pt x="696" y="595"/>
                    <a:pt x="696" y="595"/>
                  </a:cubicBezTo>
                  <a:cubicBezTo>
                    <a:pt x="698" y="595"/>
                    <a:pt x="699" y="595"/>
                    <a:pt x="701" y="595"/>
                  </a:cubicBezTo>
                  <a:cubicBezTo>
                    <a:pt x="704" y="595"/>
                    <a:pt x="707" y="595"/>
                    <a:pt x="710" y="595"/>
                  </a:cubicBezTo>
                  <a:cubicBezTo>
                    <a:pt x="712" y="595"/>
                    <a:pt x="714" y="595"/>
                    <a:pt x="716" y="595"/>
                  </a:cubicBezTo>
                  <a:cubicBezTo>
                    <a:pt x="720" y="595"/>
                    <a:pt x="723" y="595"/>
                    <a:pt x="726" y="595"/>
                  </a:cubicBezTo>
                  <a:cubicBezTo>
                    <a:pt x="727" y="595"/>
                    <a:pt x="727" y="595"/>
                    <a:pt x="728" y="595"/>
                  </a:cubicBezTo>
                  <a:cubicBezTo>
                    <a:pt x="728" y="595"/>
                    <a:pt x="729" y="595"/>
                    <a:pt x="730" y="595"/>
                  </a:cubicBezTo>
                  <a:cubicBezTo>
                    <a:pt x="730" y="595"/>
                    <a:pt x="731" y="595"/>
                    <a:pt x="732" y="595"/>
                  </a:cubicBezTo>
                  <a:cubicBezTo>
                    <a:pt x="736" y="595"/>
                    <a:pt x="739" y="595"/>
                    <a:pt x="743" y="595"/>
                  </a:cubicBezTo>
                  <a:cubicBezTo>
                    <a:pt x="744" y="595"/>
                    <a:pt x="746" y="595"/>
                    <a:pt x="748" y="595"/>
                  </a:cubicBezTo>
                  <a:cubicBezTo>
                    <a:pt x="753" y="595"/>
                    <a:pt x="758" y="595"/>
                    <a:pt x="763" y="595"/>
                  </a:cubicBezTo>
                  <a:cubicBezTo>
                    <a:pt x="763" y="595"/>
                    <a:pt x="763" y="595"/>
                    <a:pt x="763" y="595"/>
                  </a:cubicBezTo>
                  <a:cubicBezTo>
                    <a:pt x="764" y="595"/>
                    <a:pt x="764" y="595"/>
                    <a:pt x="764" y="595"/>
                  </a:cubicBezTo>
                  <a:cubicBezTo>
                    <a:pt x="769" y="596"/>
                    <a:pt x="775" y="596"/>
                    <a:pt x="780" y="596"/>
                  </a:cubicBezTo>
                  <a:cubicBezTo>
                    <a:pt x="782" y="596"/>
                    <a:pt x="784" y="595"/>
                    <a:pt x="785" y="595"/>
                  </a:cubicBezTo>
                  <a:cubicBezTo>
                    <a:pt x="789" y="595"/>
                    <a:pt x="792" y="595"/>
                    <a:pt x="796" y="595"/>
                  </a:cubicBezTo>
                  <a:cubicBezTo>
                    <a:pt x="798" y="595"/>
                    <a:pt x="799" y="595"/>
                    <a:pt x="801" y="595"/>
                  </a:cubicBezTo>
                  <a:cubicBezTo>
                    <a:pt x="802" y="595"/>
                    <a:pt x="803" y="595"/>
                    <a:pt x="804" y="595"/>
                  </a:cubicBezTo>
                  <a:cubicBezTo>
                    <a:pt x="807" y="595"/>
                    <a:pt x="809" y="595"/>
                    <a:pt x="812" y="595"/>
                  </a:cubicBezTo>
                  <a:cubicBezTo>
                    <a:pt x="814" y="595"/>
                    <a:pt x="816" y="595"/>
                    <a:pt x="818" y="595"/>
                  </a:cubicBezTo>
                  <a:cubicBezTo>
                    <a:pt x="821" y="595"/>
                    <a:pt x="824" y="595"/>
                    <a:pt x="828" y="595"/>
                  </a:cubicBezTo>
                  <a:cubicBezTo>
                    <a:pt x="830" y="595"/>
                    <a:pt x="832" y="595"/>
                    <a:pt x="834" y="595"/>
                  </a:cubicBezTo>
                  <a:cubicBezTo>
                    <a:pt x="836" y="595"/>
                    <a:pt x="838" y="595"/>
                    <a:pt x="840" y="595"/>
                  </a:cubicBezTo>
                  <a:cubicBezTo>
                    <a:pt x="841" y="595"/>
                    <a:pt x="841" y="595"/>
                    <a:pt x="841" y="595"/>
                  </a:cubicBezTo>
                  <a:cubicBezTo>
                    <a:pt x="841" y="595"/>
                    <a:pt x="841" y="595"/>
                    <a:pt x="841" y="595"/>
                  </a:cubicBezTo>
                  <a:cubicBezTo>
                    <a:pt x="842" y="595"/>
                    <a:pt x="842" y="595"/>
                    <a:pt x="843" y="595"/>
                  </a:cubicBezTo>
                  <a:cubicBezTo>
                    <a:pt x="846" y="595"/>
                    <a:pt x="848" y="595"/>
                    <a:pt x="850" y="595"/>
                  </a:cubicBezTo>
                  <a:cubicBezTo>
                    <a:pt x="853" y="595"/>
                    <a:pt x="856" y="594"/>
                    <a:pt x="859" y="594"/>
                  </a:cubicBezTo>
                  <a:cubicBezTo>
                    <a:pt x="861" y="594"/>
                    <a:pt x="863" y="594"/>
                    <a:pt x="865" y="594"/>
                  </a:cubicBezTo>
                  <a:cubicBezTo>
                    <a:pt x="866" y="594"/>
                    <a:pt x="867" y="594"/>
                    <a:pt x="868" y="594"/>
                  </a:cubicBezTo>
                  <a:cubicBezTo>
                    <a:pt x="870" y="594"/>
                    <a:pt x="872" y="594"/>
                    <a:pt x="874" y="594"/>
                  </a:cubicBezTo>
                  <a:cubicBezTo>
                    <a:pt x="877" y="594"/>
                    <a:pt x="879" y="594"/>
                    <a:pt x="881" y="594"/>
                  </a:cubicBezTo>
                  <a:cubicBezTo>
                    <a:pt x="884" y="594"/>
                    <a:pt x="887" y="593"/>
                    <a:pt x="890" y="593"/>
                  </a:cubicBezTo>
                  <a:cubicBezTo>
                    <a:pt x="890" y="593"/>
                    <a:pt x="891" y="593"/>
                    <a:pt x="892" y="593"/>
                  </a:cubicBezTo>
                  <a:cubicBezTo>
                    <a:pt x="892" y="593"/>
                    <a:pt x="892" y="593"/>
                    <a:pt x="892" y="593"/>
                  </a:cubicBezTo>
                  <a:cubicBezTo>
                    <a:pt x="894" y="593"/>
                    <a:pt x="895" y="593"/>
                    <a:pt x="897" y="593"/>
                  </a:cubicBezTo>
                  <a:cubicBezTo>
                    <a:pt x="899" y="593"/>
                    <a:pt x="902" y="593"/>
                    <a:pt x="905" y="593"/>
                  </a:cubicBezTo>
                  <a:cubicBezTo>
                    <a:pt x="907" y="593"/>
                    <a:pt x="910" y="593"/>
                    <a:pt x="912" y="592"/>
                  </a:cubicBezTo>
                  <a:cubicBezTo>
                    <a:pt x="914" y="592"/>
                    <a:pt x="915" y="592"/>
                    <a:pt x="917" y="592"/>
                  </a:cubicBezTo>
                  <a:cubicBezTo>
                    <a:pt x="917" y="592"/>
                    <a:pt x="918" y="592"/>
                    <a:pt x="919" y="592"/>
                  </a:cubicBezTo>
                  <a:cubicBezTo>
                    <a:pt x="919" y="592"/>
                    <a:pt x="920" y="592"/>
                    <a:pt x="920" y="592"/>
                  </a:cubicBezTo>
                  <a:cubicBezTo>
                    <a:pt x="922" y="592"/>
                    <a:pt x="925" y="592"/>
                    <a:pt x="927" y="592"/>
                  </a:cubicBezTo>
                  <a:cubicBezTo>
                    <a:pt x="930" y="592"/>
                    <a:pt x="932" y="591"/>
                    <a:pt x="935" y="591"/>
                  </a:cubicBezTo>
                  <a:cubicBezTo>
                    <a:pt x="937" y="591"/>
                    <a:pt x="939" y="591"/>
                    <a:pt x="941" y="591"/>
                  </a:cubicBezTo>
                  <a:cubicBezTo>
                    <a:pt x="941" y="591"/>
                    <a:pt x="942" y="591"/>
                    <a:pt x="942" y="591"/>
                  </a:cubicBezTo>
                  <a:cubicBezTo>
                    <a:pt x="943" y="591"/>
                    <a:pt x="943" y="591"/>
                    <a:pt x="944" y="591"/>
                  </a:cubicBezTo>
                  <a:cubicBezTo>
                    <a:pt x="946" y="591"/>
                    <a:pt x="948" y="591"/>
                    <a:pt x="950" y="590"/>
                  </a:cubicBezTo>
                  <a:cubicBezTo>
                    <a:pt x="952" y="590"/>
                    <a:pt x="954" y="590"/>
                    <a:pt x="956" y="590"/>
                  </a:cubicBezTo>
                  <a:cubicBezTo>
                    <a:pt x="957" y="590"/>
                    <a:pt x="958" y="590"/>
                    <a:pt x="959" y="590"/>
                  </a:cubicBezTo>
                  <a:cubicBezTo>
                    <a:pt x="961" y="590"/>
                    <a:pt x="963" y="590"/>
                    <a:pt x="965" y="590"/>
                  </a:cubicBezTo>
                  <a:cubicBezTo>
                    <a:pt x="967" y="589"/>
                    <a:pt x="969" y="589"/>
                    <a:pt x="971" y="589"/>
                  </a:cubicBezTo>
                  <a:cubicBezTo>
                    <a:pt x="972" y="589"/>
                    <a:pt x="973" y="589"/>
                    <a:pt x="974" y="589"/>
                  </a:cubicBezTo>
                  <a:cubicBezTo>
                    <a:pt x="975" y="589"/>
                    <a:pt x="976" y="589"/>
                    <a:pt x="977" y="589"/>
                  </a:cubicBezTo>
                  <a:cubicBezTo>
                    <a:pt x="977" y="589"/>
                    <a:pt x="978" y="589"/>
                    <a:pt x="979" y="589"/>
                  </a:cubicBezTo>
                  <a:cubicBezTo>
                    <a:pt x="981" y="588"/>
                    <a:pt x="983" y="588"/>
                    <a:pt x="986" y="588"/>
                  </a:cubicBezTo>
                  <a:cubicBezTo>
                    <a:pt x="987" y="588"/>
                    <a:pt x="988" y="588"/>
                    <a:pt x="989" y="588"/>
                  </a:cubicBezTo>
                  <a:cubicBezTo>
                    <a:pt x="991" y="588"/>
                    <a:pt x="992" y="588"/>
                    <a:pt x="994" y="587"/>
                  </a:cubicBezTo>
                  <a:cubicBezTo>
                    <a:pt x="996" y="587"/>
                    <a:pt x="998" y="587"/>
                    <a:pt x="1000" y="587"/>
                  </a:cubicBezTo>
                  <a:cubicBezTo>
                    <a:pt x="1001" y="587"/>
                    <a:pt x="1003" y="587"/>
                    <a:pt x="1004" y="587"/>
                  </a:cubicBezTo>
                  <a:cubicBezTo>
                    <a:pt x="1006" y="587"/>
                    <a:pt x="1007" y="586"/>
                    <a:pt x="1009" y="586"/>
                  </a:cubicBezTo>
                  <a:cubicBezTo>
                    <a:pt x="1011" y="586"/>
                    <a:pt x="1012" y="586"/>
                    <a:pt x="1014" y="586"/>
                  </a:cubicBezTo>
                  <a:cubicBezTo>
                    <a:pt x="1016" y="586"/>
                    <a:pt x="1017" y="586"/>
                    <a:pt x="1019" y="585"/>
                  </a:cubicBezTo>
                  <a:cubicBezTo>
                    <a:pt x="1021" y="585"/>
                    <a:pt x="1022" y="585"/>
                    <a:pt x="1024" y="585"/>
                  </a:cubicBezTo>
                  <a:cubicBezTo>
                    <a:pt x="1025" y="585"/>
                    <a:pt x="1027" y="585"/>
                    <a:pt x="1028" y="585"/>
                  </a:cubicBezTo>
                  <a:cubicBezTo>
                    <a:pt x="1030" y="584"/>
                    <a:pt x="1032" y="584"/>
                    <a:pt x="1034" y="584"/>
                  </a:cubicBezTo>
                  <a:cubicBezTo>
                    <a:pt x="1035" y="584"/>
                    <a:pt x="1037" y="584"/>
                    <a:pt x="1039" y="584"/>
                  </a:cubicBezTo>
                  <a:cubicBezTo>
                    <a:pt x="1040" y="584"/>
                    <a:pt x="1041" y="583"/>
                    <a:pt x="1042" y="583"/>
                  </a:cubicBezTo>
                  <a:cubicBezTo>
                    <a:pt x="1044" y="583"/>
                    <a:pt x="1046" y="583"/>
                    <a:pt x="1048" y="583"/>
                  </a:cubicBezTo>
                  <a:cubicBezTo>
                    <a:pt x="1050" y="583"/>
                    <a:pt x="1052" y="582"/>
                    <a:pt x="1053" y="582"/>
                  </a:cubicBezTo>
                  <a:cubicBezTo>
                    <a:pt x="1054" y="582"/>
                    <a:pt x="1055" y="582"/>
                    <a:pt x="1056" y="582"/>
                  </a:cubicBezTo>
                  <a:cubicBezTo>
                    <a:pt x="1058" y="582"/>
                    <a:pt x="1061" y="581"/>
                    <a:pt x="1063" y="581"/>
                  </a:cubicBezTo>
                  <a:cubicBezTo>
                    <a:pt x="1065" y="581"/>
                    <a:pt x="1066" y="581"/>
                    <a:pt x="1068" y="581"/>
                  </a:cubicBezTo>
                  <a:cubicBezTo>
                    <a:pt x="1068" y="581"/>
                    <a:pt x="1068" y="581"/>
                    <a:pt x="1069" y="581"/>
                  </a:cubicBezTo>
                  <a:cubicBezTo>
                    <a:pt x="1070" y="581"/>
                    <a:pt x="1070" y="581"/>
                    <a:pt x="1070" y="581"/>
                  </a:cubicBezTo>
                  <a:cubicBezTo>
                    <a:pt x="1073" y="580"/>
                    <a:pt x="1077" y="580"/>
                    <a:pt x="1081" y="579"/>
                  </a:cubicBezTo>
                  <a:cubicBezTo>
                    <a:pt x="1081" y="579"/>
                    <a:pt x="1081" y="579"/>
                    <a:pt x="1081" y="579"/>
                  </a:cubicBezTo>
                  <a:cubicBezTo>
                    <a:pt x="1082" y="579"/>
                    <a:pt x="1082" y="579"/>
                    <a:pt x="1082" y="579"/>
                  </a:cubicBezTo>
                  <a:cubicBezTo>
                    <a:pt x="1084" y="579"/>
                    <a:pt x="1085" y="579"/>
                    <a:pt x="1086" y="579"/>
                  </a:cubicBezTo>
                  <a:cubicBezTo>
                    <a:pt x="1089" y="578"/>
                    <a:pt x="1092" y="578"/>
                    <a:pt x="1095" y="578"/>
                  </a:cubicBezTo>
                  <a:cubicBezTo>
                    <a:pt x="1097" y="577"/>
                    <a:pt x="1099" y="577"/>
                    <a:pt x="1100" y="577"/>
                  </a:cubicBezTo>
                  <a:cubicBezTo>
                    <a:pt x="1103" y="577"/>
                    <a:pt x="1106" y="576"/>
                    <a:pt x="1108" y="576"/>
                  </a:cubicBezTo>
                  <a:cubicBezTo>
                    <a:pt x="1109" y="576"/>
                    <a:pt x="1109" y="576"/>
                    <a:pt x="1110" y="576"/>
                  </a:cubicBezTo>
                  <a:cubicBezTo>
                    <a:pt x="1111" y="576"/>
                    <a:pt x="1111" y="576"/>
                    <a:pt x="1112" y="575"/>
                  </a:cubicBezTo>
                  <a:cubicBezTo>
                    <a:pt x="1113" y="575"/>
                    <a:pt x="1113" y="575"/>
                    <a:pt x="1113" y="575"/>
                  </a:cubicBezTo>
                  <a:cubicBezTo>
                    <a:pt x="1116" y="575"/>
                    <a:pt x="1118" y="575"/>
                    <a:pt x="1121" y="574"/>
                  </a:cubicBezTo>
                  <a:cubicBezTo>
                    <a:pt x="1122" y="574"/>
                    <a:pt x="1122" y="574"/>
                    <a:pt x="1123" y="574"/>
                  </a:cubicBezTo>
                  <a:cubicBezTo>
                    <a:pt x="1124" y="574"/>
                    <a:pt x="1126" y="574"/>
                    <a:pt x="1127" y="573"/>
                  </a:cubicBezTo>
                  <a:cubicBezTo>
                    <a:pt x="1129" y="573"/>
                    <a:pt x="1131" y="573"/>
                    <a:pt x="1133" y="573"/>
                  </a:cubicBezTo>
                  <a:cubicBezTo>
                    <a:pt x="1134" y="572"/>
                    <a:pt x="1135" y="572"/>
                    <a:pt x="1136" y="572"/>
                  </a:cubicBezTo>
                  <a:cubicBezTo>
                    <a:pt x="1138" y="572"/>
                    <a:pt x="1139" y="572"/>
                    <a:pt x="1140" y="572"/>
                  </a:cubicBezTo>
                  <a:cubicBezTo>
                    <a:pt x="1142" y="571"/>
                    <a:pt x="1144" y="571"/>
                    <a:pt x="1146" y="571"/>
                  </a:cubicBezTo>
                  <a:cubicBezTo>
                    <a:pt x="1147" y="571"/>
                    <a:pt x="1148" y="570"/>
                    <a:pt x="1149" y="570"/>
                  </a:cubicBezTo>
                  <a:cubicBezTo>
                    <a:pt x="1151" y="570"/>
                    <a:pt x="1152" y="570"/>
                    <a:pt x="1153" y="570"/>
                  </a:cubicBezTo>
                  <a:cubicBezTo>
                    <a:pt x="1154" y="569"/>
                    <a:pt x="1156" y="569"/>
                    <a:pt x="1158" y="569"/>
                  </a:cubicBezTo>
                  <a:cubicBezTo>
                    <a:pt x="1159" y="569"/>
                    <a:pt x="1161" y="568"/>
                    <a:pt x="1162" y="568"/>
                  </a:cubicBezTo>
                  <a:cubicBezTo>
                    <a:pt x="1163" y="568"/>
                    <a:pt x="1164" y="568"/>
                    <a:pt x="1165" y="568"/>
                  </a:cubicBezTo>
                  <a:cubicBezTo>
                    <a:pt x="1167" y="568"/>
                    <a:pt x="1168" y="567"/>
                    <a:pt x="1170" y="567"/>
                  </a:cubicBezTo>
                  <a:cubicBezTo>
                    <a:pt x="1171" y="567"/>
                    <a:pt x="1173" y="566"/>
                    <a:pt x="1175" y="566"/>
                  </a:cubicBezTo>
                  <a:cubicBezTo>
                    <a:pt x="1175" y="566"/>
                    <a:pt x="1176" y="566"/>
                    <a:pt x="1177" y="566"/>
                  </a:cubicBezTo>
                  <a:cubicBezTo>
                    <a:pt x="1178" y="566"/>
                    <a:pt x="1178" y="566"/>
                    <a:pt x="1178" y="566"/>
                  </a:cubicBezTo>
                  <a:cubicBezTo>
                    <a:pt x="1179" y="566"/>
                    <a:pt x="1180" y="565"/>
                    <a:pt x="1181" y="565"/>
                  </a:cubicBezTo>
                  <a:cubicBezTo>
                    <a:pt x="1183" y="565"/>
                    <a:pt x="1184" y="565"/>
                    <a:pt x="1185" y="564"/>
                  </a:cubicBezTo>
                  <a:cubicBezTo>
                    <a:pt x="1186" y="564"/>
                    <a:pt x="1187" y="564"/>
                    <a:pt x="1188" y="564"/>
                  </a:cubicBezTo>
                  <a:cubicBezTo>
                    <a:pt x="1190" y="564"/>
                    <a:pt x="1191" y="563"/>
                    <a:pt x="1193" y="563"/>
                  </a:cubicBezTo>
                  <a:cubicBezTo>
                    <a:pt x="1194" y="563"/>
                    <a:pt x="1195" y="563"/>
                    <a:pt x="1196" y="562"/>
                  </a:cubicBezTo>
                  <a:cubicBezTo>
                    <a:pt x="1197" y="562"/>
                    <a:pt x="1198" y="562"/>
                    <a:pt x="1199" y="562"/>
                  </a:cubicBezTo>
                  <a:cubicBezTo>
                    <a:pt x="1200" y="562"/>
                    <a:pt x="1202" y="561"/>
                    <a:pt x="1203" y="561"/>
                  </a:cubicBezTo>
                  <a:cubicBezTo>
                    <a:pt x="1204" y="561"/>
                    <a:pt x="1205" y="561"/>
                    <a:pt x="1207" y="561"/>
                  </a:cubicBezTo>
                  <a:cubicBezTo>
                    <a:pt x="1207" y="560"/>
                    <a:pt x="1207" y="560"/>
                    <a:pt x="1207" y="560"/>
                  </a:cubicBezTo>
                  <a:cubicBezTo>
                    <a:pt x="1208" y="560"/>
                    <a:pt x="1209" y="560"/>
                    <a:pt x="1209" y="560"/>
                  </a:cubicBezTo>
                  <a:cubicBezTo>
                    <a:pt x="1211" y="560"/>
                    <a:pt x="1212" y="559"/>
                    <a:pt x="1213" y="559"/>
                  </a:cubicBezTo>
                  <a:cubicBezTo>
                    <a:pt x="1215" y="559"/>
                    <a:pt x="1216" y="559"/>
                    <a:pt x="1217" y="558"/>
                  </a:cubicBezTo>
                  <a:cubicBezTo>
                    <a:pt x="1218" y="558"/>
                    <a:pt x="1219" y="558"/>
                    <a:pt x="1220" y="558"/>
                  </a:cubicBezTo>
                  <a:cubicBezTo>
                    <a:pt x="1221" y="558"/>
                    <a:pt x="1222" y="557"/>
                    <a:pt x="1223" y="557"/>
                  </a:cubicBezTo>
                  <a:cubicBezTo>
                    <a:pt x="1225" y="557"/>
                    <a:pt x="1226" y="557"/>
                    <a:pt x="1227" y="556"/>
                  </a:cubicBezTo>
                  <a:cubicBezTo>
                    <a:pt x="1228" y="556"/>
                    <a:pt x="1229" y="556"/>
                    <a:pt x="1230" y="556"/>
                  </a:cubicBezTo>
                  <a:cubicBezTo>
                    <a:pt x="1231" y="556"/>
                    <a:pt x="1232" y="555"/>
                    <a:pt x="1233" y="555"/>
                  </a:cubicBezTo>
                  <a:cubicBezTo>
                    <a:pt x="1235" y="555"/>
                    <a:pt x="1236" y="555"/>
                    <a:pt x="1237" y="554"/>
                  </a:cubicBezTo>
                  <a:cubicBezTo>
                    <a:pt x="1238" y="554"/>
                    <a:pt x="1239" y="554"/>
                    <a:pt x="1241" y="553"/>
                  </a:cubicBezTo>
                  <a:cubicBezTo>
                    <a:pt x="1241" y="553"/>
                    <a:pt x="1242" y="553"/>
                    <a:pt x="1243" y="553"/>
                  </a:cubicBezTo>
                  <a:cubicBezTo>
                    <a:pt x="1244" y="553"/>
                    <a:pt x="1246" y="552"/>
                    <a:pt x="1247" y="552"/>
                  </a:cubicBezTo>
                  <a:cubicBezTo>
                    <a:pt x="1248" y="552"/>
                    <a:pt x="1249" y="551"/>
                    <a:pt x="1251" y="551"/>
                  </a:cubicBezTo>
                  <a:cubicBezTo>
                    <a:pt x="1253" y="551"/>
                    <a:pt x="1255" y="550"/>
                    <a:pt x="1256" y="550"/>
                  </a:cubicBezTo>
                  <a:cubicBezTo>
                    <a:pt x="1258" y="550"/>
                    <a:pt x="1259" y="549"/>
                    <a:pt x="1261" y="549"/>
                  </a:cubicBezTo>
                  <a:cubicBezTo>
                    <a:pt x="1261" y="549"/>
                    <a:pt x="1262" y="548"/>
                    <a:pt x="1263" y="548"/>
                  </a:cubicBezTo>
                  <a:cubicBezTo>
                    <a:pt x="1264" y="548"/>
                    <a:pt x="1265" y="548"/>
                    <a:pt x="1266" y="547"/>
                  </a:cubicBezTo>
                  <a:cubicBezTo>
                    <a:pt x="1268" y="547"/>
                    <a:pt x="1269" y="547"/>
                    <a:pt x="1270" y="546"/>
                  </a:cubicBezTo>
                  <a:cubicBezTo>
                    <a:pt x="1272" y="546"/>
                    <a:pt x="1273" y="546"/>
                    <a:pt x="1274" y="545"/>
                  </a:cubicBezTo>
                  <a:cubicBezTo>
                    <a:pt x="1275" y="545"/>
                    <a:pt x="1276" y="545"/>
                    <a:pt x="1277" y="545"/>
                  </a:cubicBezTo>
                  <a:cubicBezTo>
                    <a:pt x="1278" y="544"/>
                    <a:pt x="1279" y="544"/>
                    <a:pt x="1279" y="544"/>
                  </a:cubicBezTo>
                  <a:cubicBezTo>
                    <a:pt x="1282" y="543"/>
                    <a:pt x="1284" y="543"/>
                    <a:pt x="1286" y="542"/>
                  </a:cubicBezTo>
                  <a:cubicBezTo>
                    <a:pt x="1286" y="542"/>
                    <a:pt x="1286" y="542"/>
                    <a:pt x="1286" y="542"/>
                  </a:cubicBezTo>
                  <a:cubicBezTo>
                    <a:pt x="1287" y="542"/>
                    <a:pt x="1287" y="542"/>
                    <a:pt x="1288" y="542"/>
                  </a:cubicBezTo>
                  <a:cubicBezTo>
                    <a:pt x="1288" y="542"/>
                    <a:pt x="1288" y="542"/>
                    <a:pt x="1288" y="542"/>
                  </a:cubicBezTo>
                  <a:cubicBezTo>
                    <a:pt x="1291" y="541"/>
                    <a:pt x="1294" y="540"/>
                    <a:pt x="1297" y="539"/>
                  </a:cubicBezTo>
                  <a:cubicBezTo>
                    <a:pt x="1298" y="539"/>
                    <a:pt x="1298" y="539"/>
                    <a:pt x="1298" y="539"/>
                  </a:cubicBezTo>
                  <a:cubicBezTo>
                    <a:pt x="1298" y="539"/>
                    <a:pt x="1298" y="539"/>
                    <a:pt x="1298" y="539"/>
                  </a:cubicBezTo>
                  <a:cubicBezTo>
                    <a:pt x="1299" y="539"/>
                    <a:pt x="1299" y="539"/>
                    <a:pt x="1299" y="539"/>
                  </a:cubicBezTo>
                  <a:cubicBezTo>
                    <a:pt x="1300" y="538"/>
                    <a:pt x="1300" y="538"/>
                    <a:pt x="1301" y="538"/>
                  </a:cubicBezTo>
                  <a:cubicBezTo>
                    <a:pt x="1303" y="537"/>
                    <a:pt x="1304" y="537"/>
                    <a:pt x="1306" y="536"/>
                  </a:cubicBezTo>
                  <a:cubicBezTo>
                    <a:pt x="1306" y="536"/>
                    <a:pt x="1307" y="536"/>
                    <a:pt x="1307" y="536"/>
                  </a:cubicBezTo>
                  <a:cubicBezTo>
                    <a:pt x="1308" y="536"/>
                    <a:pt x="1309" y="535"/>
                    <a:pt x="1310" y="535"/>
                  </a:cubicBezTo>
                  <a:cubicBezTo>
                    <a:pt x="1311" y="535"/>
                    <a:pt x="1313" y="534"/>
                    <a:pt x="1314" y="534"/>
                  </a:cubicBezTo>
                  <a:cubicBezTo>
                    <a:pt x="1315" y="534"/>
                    <a:pt x="1315" y="533"/>
                    <a:pt x="1316" y="533"/>
                  </a:cubicBezTo>
                  <a:cubicBezTo>
                    <a:pt x="1317" y="533"/>
                    <a:pt x="1318" y="532"/>
                    <a:pt x="1319" y="532"/>
                  </a:cubicBezTo>
                  <a:cubicBezTo>
                    <a:pt x="1320" y="532"/>
                    <a:pt x="1321" y="531"/>
                    <a:pt x="1322" y="531"/>
                  </a:cubicBezTo>
                  <a:cubicBezTo>
                    <a:pt x="1323" y="531"/>
                    <a:pt x="1323" y="531"/>
                    <a:pt x="1324" y="530"/>
                  </a:cubicBezTo>
                  <a:cubicBezTo>
                    <a:pt x="1325" y="530"/>
                    <a:pt x="1326" y="530"/>
                    <a:pt x="1327" y="529"/>
                  </a:cubicBezTo>
                  <a:cubicBezTo>
                    <a:pt x="1328" y="529"/>
                    <a:pt x="1329" y="529"/>
                    <a:pt x="1329" y="528"/>
                  </a:cubicBezTo>
                  <a:cubicBezTo>
                    <a:pt x="1330" y="528"/>
                    <a:pt x="1331" y="528"/>
                    <a:pt x="1332" y="527"/>
                  </a:cubicBezTo>
                  <a:cubicBezTo>
                    <a:pt x="1333" y="527"/>
                    <a:pt x="1333" y="527"/>
                    <a:pt x="1334" y="527"/>
                  </a:cubicBezTo>
                  <a:cubicBezTo>
                    <a:pt x="1335" y="526"/>
                    <a:pt x="1335" y="526"/>
                    <a:pt x="1335" y="526"/>
                  </a:cubicBezTo>
                  <a:cubicBezTo>
                    <a:pt x="1335" y="526"/>
                    <a:pt x="1336" y="526"/>
                    <a:pt x="1337" y="526"/>
                  </a:cubicBezTo>
                  <a:cubicBezTo>
                    <a:pt x="1338" y="525"/>
                    <a:pt x="1339" y="525"/>
                    <a:pt x="1340" y="525"/>
                  </a:cubicBezTo>
                  <a:cubicBezTo>
                    <a:pt x="1340" y="524"/>
                    <a:pt x="1341" y="524"/>
                    <a:pt x="1342" y="524"/>
                  </a:cubicBezTo>
                  <a:cubicBezTo>
                    <a:pt x="1343" y="523"/>
                    <a:pt x="1343" y="523"/>
                    <a:pt x="1344" y="523"/>
                  </a:cubicBezTo>
                  <a:cubicBezTo>
                    <a:pt x="1345" y="522"/>
                    <a:pt x="1346" y="522"/>
                    <a:pt x="1347" y="522"/>
                  </a:cubicBezTo>
                  <a:cubicBezTo>
                    <a:pt x="1347" y="521"/>
                    <a:pt x="1348" y="521"/>
                    <a:pt x="1349" y="521"/>
                  </a:cubicBezTo>
                  <a:cubicBezTo>
                    <a:pt x="1349" y="521"/>
                    <a:pt x="1350" y="520"/>
                    <a:pt x="1350" y="520"/>
                  </a:cubicBezTo>
                  <a:cubicBezTo>
                    <a:pt x="1351" y="520"/>
                    <a:pt x="1352" y="519"/>
                    <a:pt x="1353" y="519"/>
                  </a:cubicBezTo>
                  <a:cubicBezTo>
                    <a:pt x="1354" y="519"/>
                    <a:pt x="1355" y="518"/>
                    <a:pt x="1355" y="518"/>
                  </a:cubicBezTo>
                  <a:cubicBezTo>
                    <a:pt x="1355" y="518"/>
                    <a:pt x="1355" y="518"/>
                    <a:pt x="1355" y="518"/>
                  </a:cubicBezTo>
                  <a:cubicBezTo>
                    <a:pt x="1356" y="518"/>
                    <a:pt x="1356" y="517"/>
                    <a:pt x="1357" y="517"/>
                  </a:cubicBezTo>
                  <a:cubicBezTo>
                    <a:pt x="1358" y="517"/>
                    <a:pt x="1359" y="516"/>
                    <a:pt x="1360" y="516"/>
                  </a:cubicBezTo>
                  <a:cubicBezTo>
                    <a:pt x="1360" y="516"/>
                    <a:pt x="1361" y="515"/>
                    <a:pt x="1362" y="515"/>
                  </a:cubicBezTo>
                  <a:cubicBezTo>
                    <a:pt x="1362" y="515"/>
                    <a:pt x="1362" y="515"/>
                    <a:pt x="1362" y="515"/>
                  </a:cubicBezTo>
                  <a:cubicBezTo>
                    <a:pt x="1362" y="515"/>
                    <a:pt x="1362" y="514"/>
                    <a:pt x="1363" y="514"/>
                  </a:cubicBezTo>
                  <a:cubicBezTo>
                    <a:pt x="1364" y="514"/>
                    <a:pt x="1365" y="513"/>
                    <a:pt x="1365" y="513"/>
                  </a:cubicBezTo>
                  <a:cubicBezTo>
                    <a:pt x="1366" y="513"/>
                    <a:pt x="1367" y="512"/>
                    <a:pt x="1367" y="512"/>
                  </a:cubicBezTo>
                  <a:cubicBezTo>
                    <a:pt x="1368" y="512"/>
                    <a:pt x="1368" y="512"/>
                    <a:pt x="1369" y="511"/>
                  </a:cubicBezTo>
                  <a:cubicBezTo>
                    <a:pt x="1370" y="511"/>
                    <a:pt x="1370" y="510"/>
                    <a:pt x="1371" y="510"/>
                  </a:cubicBezTo>
                  <a:cubicBezTo>
                    <a:pt x="1372" y="510"/>
                    <a:pt x="1372" y="509"/>
                    <a:pt x="1373" y="509"/>
                  </a:cubicBezTo>
                  <a:cubicBezTo>
                    <a:pt x="1373" y="509"/>
                    <a:pt x="1374" y="508"/>
                    <a:pt x="1374" y="508"/>
                  </a:cubicBezTo>
                  <a:cubicBezTo>
                    <a:pt x="1375" y="508"/>
                    <a:pt x="1376" y="507"/>
                    <a:pt x="1376" y="507"/>
                  </a:cubicBezTo>
                  <a:cubicBezTo>
                    <a:pt x="1377" y="507"/>
                    <a:pt x="1378" y="506"/>
                    <a:pt x="1378" y="506"/>
                  </a:cubicBezTo>
                  <a:cubicBezTo>
                    <a:pt x="1379" y="506"/>
                    <a:pt x="1379" y="505"/>
                    <a:pt x="1380" y="505"/>
                  </a:cubicBezTo>
                  <a:cubicBezTo>
                    <a:pt x="1380" y="505"/>
                    <a:pt x="1381" y="504"/>
                    <a:pt x="1381" y="504"/>
                  </a:cubicBezTo>
                  <a:cubicBezTo>
                    <a:pt x="1382" y="504"/>
                    <a:pt x="1382" y="503"/>
                    <a:pt x="1383" y="503"/>
                  </a:cubicBezTo>
                  <a:cubicBezTo>
                    <a:pt x="1384" y="502"/>
                    <a:pt x="1384" y="502"/>
                    <a:pt x="1384" y="502"/>
                  </a:cubicBezTo>
                  <a:cubicBezTo>
                    <a:pt x="1384" y="502"/>
                    <a:pt x="1384" y="502"/>
                    <a:pt x="1384" y="502"/>
                  </a:cubicBezTo>
                  <a:cubicBezTo>
                    <a:pt x="1385" y="502"/>
                    <a:pt x="1385" y="501"/>
                    <a:pt x="1386" y="501"/>
                  </a:cubicBezTo>
                  <a:cubicBezTo>
                    <a:pt x="1386" y="501"/>
                    <a:pt x="1386" y="501"/>
                    <a:pt x="1386" y="501"/>
                  </a:cubicBezTo>
                  <a:cubicBezTo>
                    <a:pt x="1387" y="500"/>
                    <a:pt x="1387" y="500"/>
                    <a:pt x="1388" y="500"/>
                  </a:cubicBezTo>
                  <a:cubicBezTo>
                    <a:pt x="1388" y="499"/>
                    <a:pt x="1389" y="499"/>
                    <a:pt x="1389" y="499"/>
                  </a:cubicBezTo>
                  <a:cubicBezTo>
                    <a:pt x="1389" y="498"/>
                    <a:pt x="1390" y="498"/>
                    <a:pt x="1390" y="498"/>
                  </a:cubicBezTo>
                  <a:cubicBezTo>
                    <a:pt x="1391" y="497"/>
                    <a:pt x="1391" y="497"/>
                    <a:pt x="1392" y="496"/>
                  </a:cubicBezTo>
                  <a:cubicBezTo>
                    <a:pt x="1392" y="496"/>
                    <a:pt x="1393" y="496"/>
                    <a:pt x="1393" y="495"/>
                  </a:cubicBezTo>
                  <a:cubicBezTo>
                    <a:pt x="1394" y="495"/>
                    <a:pt x="1394" y="495"/>
                    <a:pt x="1394" y="495"/>
                  </a:cubicBezTo>
                  <a:cubicBezTo>
                    <a:pt x="1395" y="494"/>
                    <a:pt x="1395" y="494"/>
                    <a:pt x="1396" y="493"/>
                  </a:cubicBezTo>
                  <a:cubicBezTo>
                    <a:pt x="1396" y="493"/>
                    <a:pt x="1397" y="492"/>
                    <a:pt x="1397" y="492"/>
                  </a:cubicBezTo>
                  <a:cubicBezTo>
                    <a:pt x="1397" y="492"/>
                    <a:pt x="1397" y="492"/>
                    <a:pt x="1397" y="492"/>
                  </a:cubicBezTo>
                  <a:cubicBezTo>
                    <a:pt x="1398" y="491"/>
                    <a:pt x="1399" y="490"/>
                    <a:pt x="1399" y="490"/>
                  </a:cubicBezTo>
                  <a:cubicBezTo>
                    <a:pt x="1400" y="489"/>
                    <a:pt x="1400" y="489"/>
                    <a:pt x="1400" y="489"/>
                  </a:cubicBezTo>
                  <a:cubicBezTo>
                    <a:pt x="1400" y="489"/>
                    <a:pt x="1400" y="489"/>
                    <a:pt x="1400" y="489"/>
                  </a:cubicBezTo>
                  <a:cubicBezTo>
                    <a:pt x="1400" y="489"/>
                    <a:pt x="1400" y="489"/>
                    <a:pt x="1400" y="489"/>
                  </a:cubicBezTo>
                  <a:cubicBezTo>
                    <a:pt x="1401" y="488"/>
                    <a:pt x="1401" y="488"/>
                    <a:pt x="1401" y="488"/>
                  </a:cubicBezTo>
                  <a:cubicBezTo>
                    <a:pt x="1401" y="488"/>
                    <a:pt x="1402" y="487"/>
                    <a:pt x="1402" y="487"/>
                  </a:cubicBezTo>
                  <a:cubicBezTo>
                    <a:pt x="1403" y="486"/>
                    <a:pt x="1403" y="486"/>
                    <a:pt x="1403" y="485"/>
                  </a:cubicBezTo>
                  <a:cubicBezTo>
                    <a:pt x="1403" y="485"/>
                    <a:pt x="1403" y="485"/>
                    <a:pt x="1403" y="485"/>
                  </a:cubicBezTo>
                  <a:cubicBezTo>
                    <a:pt x="1404" y="485"/>
                    <a:pt x="1404" y="484"/>
                    <a:pt x="1405" y="483"/>
                  </a:cubicBezTo>
                  <a:cubicBezTo>
                    <a:pt x="1405" y="483"/>
                    <a:pt x="1406" y="483"/>
                    <a:pt x="1406" y="482"/>
                  </a:cubicBezTo>
                  <a:cubicBezTo>
                    <a:pt x="1406" y="482"/>
                    <a:pt x="1406" y="482"/>
                    <a:pt x="1406" y="482"/>
                  </a:cubicBezTo>
                  <a:cubicBezTo>
                    <a:pt x="1406" y="481"/>
                    <a:pt x="1407" y="481"/>
                    <a:pt x="1407" y="480"/>
                  </a:cubicBezTo>
                  <a:cubicBezTo>
                    <a:pt x="1408" y="479"/>
                    <a:pt x="1408" y="479"/>
                    <a:pt x="1408" y="479"/>
                  </a:cubicBezTo>
                  <a:cubicBezTo>
                    <a:pt x="1408" y="479"/>
                    <a:pt x="1408" y="479"/>
                    <a:pt x="1408" y="479"/>
                  </a:cubicBezTo>
                  <a:cubicBezTo>
                    <a:pt x="1408" y="478"/>
                    <a:pt x="1408" y="478"/>
                    <a:pt x="1408" y="478"/>
                  </a:cubicBezTo>
                  <a:cubicBezTo>
                    <a:pt x="1409" y="477"/>
                    <a:pt x="1409" y="476"/>
                    <a:pt x="1410" y="476"/>
                  </a:cubicBezTo>
                  <a:cubicBezTo>
                    <a:pt x="1469" y="346"/>
                    <a:pt x="1469" y="346"/>
                    <a:pt x="1469" y="346"/>
                  </a:cubicBezTo>
                  <a:cubicBezTo>
                    <a:pt x="1472" y="339"/>
                    <a:pt x="1475" y="333"/>
                    <a:pt x="1478" y="326"/>
                  </a:cubicBezTo>
                  <a:cubicBezTo>
                    <a:pt x="1487" y="307"/>
                    <a:pt x="1487" y="307"/>
                    <a:pt x="1487" y="307"/>
                  </a:cubicBezTo>
                  <a:cubicBezTo>
                    <a:pt x="1492" y="296"/>
                    <a:pt x="1497" y="285"/>
                    <a:pt x="1502" y="274"/>
                  </a:cubicBezTo>
                  <a:cubicBezTo>
                    <a:pt x="1518" y="240"/>
                    <a:pt x="1533" y="207"/>
                    <a:pt x="1547" y="177"/>
                  </a:cubicBezTo>
                  <a:cubicBezTo>
                    <a:pt x="1549" y="173"/>
                    <a:pt x="1550" y="168"/>
                    <a:pt x="1550" y="164"/>
                  </a:cubicBezTo>
                  <a:cubicBezTo>
                    <a:pt x="1550" y="163"/>
                    <a:pt x="1550" y="162"/>
                    <a:pt x="1550" y="160"/>
                  </a:cubicBezTo>
                  <a:close/>
                </a:path>
              </a:pathLst>
            </a:custGeom>
            <a:solidFill>
              <a:srgbClr val="F01536"/>
            </a:solidFill>
            <a:ln w="9525">
              <a:noFill/>
              <a:round/>
              <a:headEnd/>
              <a:tailEnd/>
            </a:ln>
          </p:spPr>
          <p:txBody>
            <a:bodyPr vert="horz" wrap="square" lIns="182832" tIns="91416" rIns="182832" bIns="91416" numCol="1" anchor="t" anchorCtr="0" compatLnSpc="1">
              <a:prstTxWarp prst="textNoShape">
                <a:avLst/>
              </a:prstTxWarp>
            </a:bodyPr>
            <a:lstStyle/>
            <a:p>
              <a:endParaRPr lang="id-ID" sz="1200">
                <a:latin typeface="+mj-lt"/>
              </a:endParaRPr>
            </a:p>
          </p:txBody>
        </p:sp>
        <p:sp>
          <p:nvSpPr>
            <p:cNvPr id="55" name="Freeform 166">
              <a:extLst>
                <a:ext uri="{FF2B5EF4-FFF2-40B4-BE49-F238E27FC236}">
                  <a16:creationId xmlns:a16="http://schemas.microsoft.com/office/drawing/2014/main" id="{AC86EE96-F121-FC21-BC23-217DDA458889}"/>
                </a:ext>
              </a:extLst>
            </p:cNvPr>
            <p:cNvSpPr>
              <a:spLocks/>
            </p:cNvSpPr>
            <p:nvPr/>
          </p:nvSpPr>
          <p:spPr bwMode="auto">
            <a:xfrm>
              <a:off x="2051105" y="1755906"/>
              <a:ext cx="4419146" cy="605564"/>
            </a:xfrm>
            <a:custGeom>
              <a:avLst/>
              <a:gdLst>
                <a:gd name="T0" fmla="*/ 1558 w 1566"/>
                <a:gd name="T1" fmla="*/ 165 h 325"/>
                <a:gd name="T2" fmla="*/ 769 w 1566"/>
                <a:gd name="T3" fmla="*/ 324 h 325"/>
                <a:gd name="T4" fmla="*/ 8 w 1566"/>
                <a:gd name="T5" fmla="*/ 160 h 325"/>
                <a:gd name="T6" fmla="*/ 796 w 1566"/>
                <a:gd name="T7" fmla="*/ 1 h 325"/>
                <a:gd name="T8" fmla="*/ 1558 w 1566"/>
                <a:gd name="T9" fmla="*/ 165 h 325"/>
              </a:gdLst>
              <a:ahLst/>
              <a:cxnLst>
                <a:cxn ang="0">
                  <a:pos x="T0" y="T1"/>
                </a:cxn>
                <a:cxn ang="0">
                  <a:pos x="T2" y="T3"/>
                </a:cxn>
                <a:cxn ang="0">
                  <a:pos x="T4" y="T5"/>
                </a:cxn>
                <a:cxn ang="0">
                  <a:pos x="T6" y="T7"/>
                </a:cxn>
                <a:cxn ang="0">
                  <a:pos x="T8" y="T9"/>
                </a:cxn>
              </a:cxnLst>
              <a:rect l="0" t="0" r="r" b="b"/>
              <a:pathLst>
                <a:path w="1566" h="325">
                  <a:moveTo>
                    <a:pt x="1558" y="165"/>
                  </a:moveTo>
                  <a:cubicBezTo>
                    <a:pt x="1551" y="254"/>
                    <a:pt x="1198" y="325"/>
                    <a:pt x="769" y="324"/>
                  </a:cubicBezTo>
                  <a:cubicBezTo>
                    <a:pt x="341" y="322"/>
                    <a:pt x="0" y="249"/>
                    <a:pt x="8" y="160"/>
                  </a:cubicBezTo>
                  <a:cubicBezTo>
                    <a:pt x="15" y="71"/>
                    <a:pt x="368" y="0"/>
                    <a:pt x="796" y="1"/>
                  </a:cubicBezTo>
                  <a:cubicBezTo>
                    <a:pt x="1225" y="3"/>
                    <a:pt x="1566" y="76"/>
                    <a:pt x="1558" y="165"/>
                  </a:cubicBezTo>
                  <a:close/>
                </a:path>
              </a:pathLst>
            </a:custGeom>
            <a:solidFill>
              <a:schemeClr val="accent1">
                <a:lumMod val="40000"/>
                <a:lumOff val="60000"/>
              </a:schemeClr>
            </a:solidFill>
            <a:ln>
              <a:noFill/>
            </a:ln>
          </p:spPr>
          <p:txBody>
            <a:bodyPr vert="horz" wrap="square" lIns="182832" tIns="91416" rIns="182832" bIns="91416" numCol="1" anchor="t" anchorCtr="0" compatLnSpc="1">
              <a:prstTxWarp prst="textNoShape">
                <a:avLst/>
              </a:prstTxWarp>
            </a:bodyPr>
            <a:lstStyle/>
            <a:p>
              <a:endParaRPr lang="id-ID">
                <a:solidFill>
                  <a:schemeClr val="accent1">
                    <a:lumMod val="20000"/>
                    <a:lumOff val="80000"/>
                  </a:schemeClr>
                </a:solidFill>
              </a:endParaRPr>
            </a:p>
          </p:txBody>
        </p:sp>
      </p:grpSp>
      <p:sp>
        <p:nvSpPr>
          <p:cNvPr id="49" name="TextBox 48">
            <a:extLst>
              <a:ext uri="{FF2B5EF4-FFF2-40B4-BE49-F238E27FC236}">
                <a16:creationId xmlns:a16="http://schemas.microsoft.com/office/drawing/2014/main" id="{99CA4C40-3DB9-990D-EAC6-04AC5F5C6B84}"/>
              </a:ext>
            </a:extLst>
          </p:cNvPr>
          <p:cNvSpPr txBox="1"/>
          <p:nvPr/>
        </p:nvSpPr>
        <p:spPr>
          <a:xfrm>
            <a:off x="4483377" y="2277580"/>
            <a:ext cx="2578967" cy="430887"/>
          </a:xfrm>
          <a:prstGeom prst="rect">
            <a:avLst/>
          </a:prstGeom>
          <a:noFill/>
        </p:spPr>
        <p:txBody>
          <a:bodyPr wrap="squar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Patients with at least 1 NT1/NT2 Diagnosis within 2022-2025</a:t>
            </a:r>
          </a:p>
        </p:txBody>
      </p:sp>
      <p:sp>
        <p:nvSpPr>
          <p:cNvPr id="52" name="TextBox 51">
            <a:extLst>
              <a:ext uri="{FF2B5EF4-FFF2-40B4-BE49-F238E27FC236}">
                <a16:creationId xmlns:a16="http://schemas.microsoft.com/office/drawing/2014/main" id="{38F640C3-D88F-A438-4254-C3326FEC7D1D}"/>
              </a:ext>
            </a:extLst>
          </p:cNvPr>
          <p:cNvSpPr txBox="1"/>
          <p:nvPr/>
        </p:nvSpPr>
        <p:spPr>
          <a:xfrm>
            <a:off x="4307024" y="4549754"/>
            <a:ext cx="2753959" cy="430887"/>
          </a:xfrm>
          <a:prstGeom prst="rect">
            <a:avLst/>
          </a:prstGeom>
          <a:noFill/>
        </p:spPr>
        <p:txBody>
          <a:bodyPr wrap="non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Incident Patients within </a:t>
            </a:r>
            <a:r>
              <a:rPr lang="en-US" sz="1400" b="1" u="sng">
                <a:solidFill>
                  <a:schemeClr val="bg1"/>
                </a:solidFill>
                <a:latin typeface="+mj-lt"/>
                <a:ea typeface="League Spartan" charset="0"/>
                <a:cs typeface="Arial" panose="020B0604020202020204" pitchFamily="34" charset="0"/>
              </a:rPr>
              <a:t>2022-2025</a:t>
            </a:r>
          </a:p>
          <a:p>
            <a:pPr algn="r"/>
            <a:r>
              <a:rPr lang="en-US" sz="900" b="1" i="1">
                <a:solidFill>
                  <a:schemeClr val="bg1"/>
                </a:solidFill>
                <a:latin typeface="+mj-lt"/>
                <a:ea typeface="League Spartan" charset="0"/>
                <a:cs typeface="Arial" panose="020B0604020202020204" pitchFamily="34" charset="0"/>
              </a:rPr>
              <a:t>(i.e., Patients with their 1</a:t>
            </a:r>
            <a:r>
              <a:rPr lang="en-US" sz="900" b="1" i="1" baseline="30000">
                <a:solidFill>
                  <a:schemeClr val="bg1"/>
                </a:solidFill>
                <a:latin typeface="+mj-lt"/>
                <a:ea typeface="League Spartan" charset="0"/>
                <a:cs typeface="Arial" panose="020B0604020202020204" pitchFamily="34" charset="0"/>
              </a:rPr>
              <a:t>st</a:t>
            </a:r>
            <a:r>
              <a:rPr lang="en-US" sz="900" b="1" i="1">
                <a:solidFill>
                  <a:schemeClr val="bg1"/>
                </a:solidFill>
                <a:latin typeface="+mj-lt"/>
                <a:ea typeface="League Spartan" charset="0"/>
                <a:cs typeface="Arial" panose="020B0604020202020204" pitchFamily="34" charset="0"/>
              </a:rPr>
              <a:t> NT1/NT2 Dx on or after 2022)</a:t>
            </a:r>
            <a:r>
              <a:rPr lang="en-US" sz="1400" b="1">
                <a:solidFill>
                  <a:schemeClr val="bg1"/>
                </a:solidFill>
                <a:latin typeface="+mj-lt"/>
                <a:ea typeface="League Spartan" charset="0"/>
                <a:cs typeface="Arial" panose="020B0604020202020204" pitchFamily="34" charset="0"/>
              </a:rPr>
              <a:t> </a:t>
            </a:r>
          </a:p>
        </p:txBody>
      </p:sp>
      <p:sp>
        <p:nvSpPr>
          <p:cNvPr id="53" name="TextBox 52">
            <a:extLst>
              <a:ext uri="{FF2B5EF4-FFF2-40B4-BE49-F238E27FC236}">
                <a16:creationId xmlns:a16="http://schemas.microsoft.com/office/drawing/2014/main" id="{791B08C8-4A8B-18C6-87D9-9D5B8FB94CD9}"/>
              </a:ext>
            </a:extLst>
          </p:cNvPr>
          <p:cNvSpPr txBox="1"/>
          <p:nvPr/>
        </p:nvSpPr>
        <p:spPr>
          <a:xfrm>
            <a:off x="4387200" y="5292534"/>
            <a:ext cx="2769953" cy="553998"/>
          </a:xfrm>
          <a:prstGeom prst="rect">
            <a:avLst/>
          </a:prstGeom>
          <a:noFill/>
        </p:spPr>
        <p:txBody>
          <a:bodyPr wrap="squar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Patients with stable lookback period</a:t>
            </a:r>
          </a:p>
          <a:p>
            <a:pPr algn="r"/>
            <a:endParaRPr lang="en-US" sz="400" b="1">
              <a:solidFill>
                <a:schemeClr val="bg1"/>
              </a:solidFill>
              <a:latin typeface="+mj-lt"/>
              <a:ea typeface="League Spartan" charset="0"/>
              <a:cs typeface="Arial" panose="020B0604020202020204" pitchFamily="34" charset="0"/>
            </a:endParaRPr>
          </a:p>
          <a:p>
            <a:r>
              <a:rPr lang="en-US" sz="900" b="1" i="1">
                <a:solidFill>
                  <a:schemeClr val="bg1"/>
                </a:solidFill>
                <a:ea typeface="+mn-lt"/>
                <a:cs typeface="+mn-lt"/>
              </a:rPr>
              <a:t>(i.e., patients having medical activity in each semester during the two years prior to their first diagnosis date)</a:t>
            </a:r>
            <a:endParaRPr lang="en-US" sz="900" b="1" i="1">
              <a:solidFill>
                <a:schemeClr val="bg1"/>
              </a:solidFill>
              <a:latin typeface="+mj-lt"/>
              <a:ea typeface="League Spartan" charset="0"/>
              <a:cs typeface="Arial" panose="020B0604020202020204" pitchFamily="34" charset="0"/>
            </a:endParaRPr>
          </a:p>
        </p:txBody>
      </p:sp>
      <p:sp>
        <p:nvSpPr>
          <p:cNvPr id="22" name="TextBox 21">
            <a:extLst>
              <a:ext uri="{FF2B5EF4-FFF2-40B4-BE49-F238E27FC236}">
                <a16:creationId xmlns:a16="http://schemas.microsoft.com/office/drawing/2014/main" id="{131DF4E2-ABB5-6059-57DF-16C71FFACE96}"/>
              </a:ext>
            </a:extLst>
          </p:cNvPr>
          <p:cNvSpPr txBox="1"/>
          <p:nvPr/>
        </p:nvSpPr>
        <p:spPr>
          <a:xfrm>
            <a:off x="4483377" y="3005606"/>
            <a:ext cx="2577600" cy="430887"/>
          </a:xfrm>
          <a:prstGeom prst="rect">
            <a:avLst/>
          </a:prstGeom>
          <a:noFill/>
        </p:spPr>
        <p:txBody>
          <a:bodyPr wrap="squar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Patients with min. two NT1/NT2 Diagnosis at least 90 days apart</a:t>
            </a:r>
          </a:p>
        </p:txBody>
      </p:sp>
      <p:sp>
        <p:nvSpPr>
          <p:cNvPr id="24" name="TextBox 23">
            <a:extLst>
              <a:ext uri="{FF2B5EF4-FFF2-40B4-BE49-F238E27FC236}">
                <a16:creationId xmlns:a16="http://schemas.microsoft.com/office/drawing/2014/main" id="{BCF4BE10-2524-E547-88EF-674CCA753CA0}"/>
              </a:ext>
            </a:extLst>
          </p:cNvPr>
          <p:cNvSpPr txBox="1"/>
          <p:nvPr/>
        </p:nvSpPr>
        <p:spPr>
          <a:xfrm>
            <a:off x="4483377" y="3734437"/>
            <a:ext cx="2577600" cy="769440"/>
          </a:xfrm>
          <a:prstGeom prst="rect">
            <a:avLst/>
          </a:prstGeom>
          <a:noFill/>
        </p:spPr>
        <p:txBody>
          <a:bodyPr wrap="square" lIns="0" tIns="0" rIns="0" bIns="0" rtlCol="0" anchor="ctr" anchorCtr="0">
            <a:spAutoFit/>
          </a:bodyPr>
          <a:lstStyle/>
          <a:p>
            <a:pPr algn="r"/>
            <a:r>
              <a:rPr lang="en-US" sz="1400" b="1">
                <a:solidFill>
                  <a:schemeClr val="bg1"/>
                </a:solidFill>
                <a:latin typeface="+mj-lt"/>
                <a:ea typeface="League Spartan" charset="0"/>
                <a:cs typeface="Arial" panose="020B0604020202020204" pitchFamily="34" charset="0"/>
              </a:rPr>
              <a:t>Patients aged 18 years and above</a:t>
            </a:r>
          </a:p>
          <a:p>
            <a:pPr algn="r"/>
            <a:endParaRPr lang="en-US" sz="400" b="1">
              <a:solidFill>
                <a:schemeClr val="bg1"/>
              </a:solidFill>
              <a:latin typeface="+mj-lt"/>
              <a:ea typeface="League Spartan" charset="0"/>
              <a:cs typeface="Arial" panose="020B0604020202020204" pitchFamily="34" charset="0"/>
            </a:endParaRPr>
          </a:p>
          <a:p>
            <a:r>
              <a:rPr lang="en-US" sz="900" b="1" i="1">
                <a:solidFill>
                  <a:schemeClr val="bg1"/>
                </a:solidFill>
                <a:ea typeface="+mn-lt"/>
                <a:cs typeface="+mn-lt"/>
              </a:rPr>
              <a:t>(Calculated as year of 1</a:t>
            </a:r>
            <a:r>
              <a:rPr lang="en-US" sz="900" b="1" i="1" baseline="30000">
                <a:solidFill>
                  <a:schemeClr val="bg1"/>
                </a:solidFill>
                <a:ea typeface="+mn-lt"/>
                <a:cs typeface="+mn-lt"/>
              </a:rPr>
              <a:t>st</a:t>
            </a:r>
            <a:r>
              <a:rPr lang="en-US" sz="900" b="1" i="1">
                <a:solidFill>
                  <a:schemeClr val="bg1"/>
                </a:solidFill>
                <a:ea typeface="+mn-lt"/>
                <a:cs typeface="+mn-lt"/>
              </a:rPr>
              <a:t> NT1/NT2 diagnosis within 2022-2025 minus the birth year of the patient )</a:t>
            </a:r>
          </a:p>
          <a:p>
            <a:pPr algn="r"/>
            <a:endParaRPr lang="en-US" sz="1400" b="1">
              <a:solidFill>
                <a:schemeClr val="bg1"/>
              </a:solidFill>
              <a:latin typeface="+mj-lt"/>
              <a:ea typeface="League Spartan" charset="0"/>
              <a:cs typeface="Arial" panose="020B0604020202020204" pitchFamily="34" charset="0"/>
            </a:endParaRPr>
          </a:p>
        </p:txBody>
      </p:sp>
      <p:sp>
        <p:nvSpPr>
          <p:cNvPr id="12" name="TextBox 11">
            <a:extLst>
              <a:ext uri="{FF2B5EF4-FFF2-40B4-BE49-F238E27FC236}">
                <a16:creationId xmlns:a16="http://schemas.microsoft.com/office/drawing/2014/main" id="{59F6A277-2C62-C91C-F873-F4495807B79A}"/>
              </a:ext>
            </a:extLst>
          </p:cNvPr>
          <p:cNvSpPr txBox="1"/>
          <p:nvPr/>
        </p:nvSpPr>
        <p:spPr>
          <a:xfrm>
            <a:off x="1897724" y="2423754"/>
            <a:ext cx="1510293" cy="523220"/>
          </a:xfrm>
          <a:prstGeom prst="rect">
            <a:avLst/>
          </a:prstGeom>
          <a:noFill/>
        </p:spPr>
        <p:txBody>
          <a:bodyPr wrap="square" rtlCol="0">
            <a:spAutoFit/>
          </a:bodyPr>
          <a:lstStyle/>
          <a:p>
            <a:r>
              <a:rPr lang="en-IN" sz="2800" b="1">
                <a:solidFill>
                  <a:schemeClr val="bg2"/>
                </a:solidFill>
              </a:rPr>
              <a:t>342.8K</a:t>
            </a:r>
          </a:p>
        </p:txBody>
      </p:sp>
      <p:sp>
        <p:nvSpPr>
          <p:cNvPr id="17" name="TextBox 16">
            <a:extLst>
              <a:ext uri="{FF2B5EF4-FFF2-40B4-BE49-F238E27FC236}">
                <a16:creationId xmlns:a16="http://schemas.microsoft.com/office/drawing/2014/main" id="{A1ECA1B3-183F-D839-2B5E-8BE6B28E9113}"/>
              </a:ext>
            </a:extLst>
          </p:cNvPr>
          <p:cNvSpPr txBox="1"/>
          <p:nvPr/>
        </p:nvSpPr>
        <p:spPr>
          <a:xfrm>
            <a:off x="1770299" y="3230372"/>
            <a:ext cx="1811542" cy="400110"/>
          </a:xfrm>
          <a:prstGeom prst="rect">
            <a:avLst/>
          </a:prstGeom>
          <a:noFill/>
        </p:spPr>
        <p:txBody>
          <a:bodyPr wrap="square" rtlCol="0">
            <a:spAutoFit/>
          </a:bodyPr>
          <a:lstStyle/>
          <a:p>
            <a:r>
              <a:rPr lang="en-IN" sz="2000" b="1">
                <a:solidFill>
                  <a:schemeClr val="bg2"/>
                </a:solidFill>
              </a:rPr>
              <a:t>184.2K (54%)</a:t>
            </a:r>
          </a:p>
        </p:txBody>
      </p:sp>
      <p:sp>
        <p:nvSpPr>
          <p:cNvPr id="19" name="TextBox 18">
            <a:extLst>
              <a:ext uri="{FF2B5EF4-FFF2-40B4-BE49-F238E27FC236}">
                <a16:creationId xmlns:a16="http://schemas.microsoft.com/office/drawing/2014/main" id="{E913F693-38BC-DE55-63AC-2F7F60257184}"/>
              </a:ext>
            </a:extLst>
          </p:cNvPr>
          <p:cNvSpPr txBox="1"/>
          <p:nvPr/>
        </p:nvSpPr>
        <p:spPr>
          <a:xfrm>
            <a:off x="1858809" y="3962781"/>
            <a:ext cx="1503739" cy="369332"/>
          </a:xfrm>
          <a:prstGeom prst="rect">
            <a:avLst/>
          </a:prstGeom>
          <a:noFill/>
        </p:spPr>
        <p:txBody>
          <a:bodyPr wrap="square" rtlCol="0">
            <a:spAutoFit/>
          </a:bodyPr>
          <a:lstStyle/>
          <a:p>
            <a:r>
              <a:rPr lang="en-IN" b="1">
                <a:solidFill>
                  <a:schemeClr val="bg2"/>
                </a:solidFill>
              </a:rPr>
              <a:t>177.5K (96%)</a:t>
            </a:r>
          </a:p>
        </p:txBody>
      </p:sp>
      <p:sp>
        <p:nvSpPr>
          <p:cNvPr id="21" name="TextBox 20">
            <a:extLst>
              <a:ext uri="{FF2B5EF4-FFF2-40B4-BE49-F238E27FC236}">
                <a16:creationId xmlns:a16="http://schemas.microsoft.com/office/drawing/2014/main" id="{05BF0E60-15C6-D4D5-D4EF-E5E3A4AFB264}"/>
              </a:ext>
            </a:extLst>
          </p:cNvPr>
          <p:cNvSpPr txBox="1"/>
          <p:nvPr/>
        </p:nvSpPr>
        <p:spPr>
          <a:xfrm>
            <a:off x="1985272" y="5427906"/>
            <a:ext cx="1193116" cy="307777"/>
          </a:xfrm>
          <a:prstGeom prst="rect">
            <a:avLst/>
          </a:prstGeom>
          <a:noFill/>
        </p:spPr>
        <p:txBody>
          <a:bodyPr wrap="square" rtlCol="0">
            <a:spAutoFit/>
          </a:bodyPr>
          <a:lstStyle/>
          <a:p>
            <a:r>
              <a:rPr lang="en-IN" sz="1400" b="1">
                <a:solidFill>
                  <a:schemeClr val="bg2"/>
                </a:solidFill>
              </a:rPr>
              <a:t>46.8K (76%)</a:t>
            </a:r>
          </a:p>
        </p:txBody>
      </p:sp>
      <p:sp>
        <p:nvSpPr>
          <p:cNvPr id="31" name="TextBox 30">
            <a:extLst>
              <a:ext uri="{FF2B5EF4-FFF2-40B4-BE49-F238E27FC236}">
                <a16:creationId xmlns:a16="http://schemas.microsoft.com/office/drawing/2014/main" id="{5A264DD3-9DF0-5C75-EFD3-C194BCA26C28}"/>
              </a:ext>
            </a:extLst>
          </p:cNvPr>
          <p:cNvSpPr txBox="1"/>
          <p:nvPr/>
        </p:nvSpPr>
        <p:spPr>
          <a:xfrm>
            <a:off x="1256494" y="1380763"/>
            <a:ext cx="2325347" cy="369332"/>
          </a:xfrm>
          <a:prstGeom prst="rect">
            <a:avLst/>
          </a:prstGeom>
          <a:noFill/>
        </p:spPr>
        <p:txBody>
          <a:bodyPr wrap="square" rtlCol="0">
            <a:spAutoFit/>
          </a:bodyPr>
          <a:lstStyle/>
          <a:p>
            <a:r>
              <a:rPr lang="en-IN" b="1">
                <a:solidFill>
                  <a:schemeClr val="tx1">
                    <a:lumMod val="50000"/>
                  </a:schemeClr>
                </a:solidFill>
              </a:rPr>
              <a:t># Patients (% of Prior)</a:t>
            </a:r>
          </a:p>
        </p:txBody>
      </p:sp>
      <p:sp>
        <p:nvSpPr>
          <p:cNvPr id="13" name="Rectangle: Rounded Corners 12">
            <a:extLst>
              <a:ext uri="{FF2B5EF4-FFF2-40B4-BE49-F238E27FC236}">
                <a16:creationId xmlns:a16="http://schemas.microsoft.com/office/drawing/2014/main" id="{4621E8A2-8DB6-0FD7-929B-B565C5D6687B}"/>
              </a:ext>
            </a:extLst>
          </p:cNvPr>
          <p:cNvSpPr/>
          <p:nvPr/>
        </p:nvSpPr>
        <p:spPr>
          <a:xfrm>
            <a:off x="7583446" y="1166096"/>
            <a:ext cx="4061406" cy="504985"/>
          </a:xfrm>
          <a:prstGeom prst="round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a:solidFill>
                  <a:schemeClr val="bg1"/>
                </a:solidFill>
              </a:rPr>
              <a:t>Rationale / Considerations</a:t>
            </a:r>
            <a:endParaRPr kumimoji="1" lang="en-IN" b="1">
              <a:solidFill>
                <a:schemeClr val="bg1"/>
              </a:solidFill>
            </a:endParaRPr>
          </a:p>
        </p:txBody>
      </p:sp>
      <p:sp>
        <p:nvSpPr>
          <p:cNvPr id="25" name="Rectangle: Rounded Corners 24">
            <a:extLst>
              <a:ext uri="{FF2B5EF4-FFF2-40B4-BE49-F238E27FC236}">
                <a16:creationId xmlns:a16="http://schemas.microsoft.com/office/drawing/2014/main" id="{B4CBCFFF-F2BE-8330-47C5-914C43D79293}"/>
              </a:ext>
            </a:extLst>
          </p:cNvPr>
          <p:cNvSpPr/>
          <p:nvPr/>
        </p:nvSpPr>
        <p:spPr>
          <a:xfrm>
            <a:off x="4772685" y="1160501"/>
            <a:ext cx="2487022" cy="504985"/>
          </a:xfrm>
          <a:prstGeom prst="round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a:solidFill>
                  <a:schemeClr val="bg1"/>
                </a:solidFill>
              </a:rPr>
              <a:t>Business Rules</a:t>
            </a:r>
            <a:r>
              <a:rPr kumimoji="1" lang="en-US" b="1" baseline="30000">
                <a:solidFill>
                  <a:schemeClr val="bg1"/>
                </a:solidFill>
              </a:rPr>
              <a:t>1</a:t>
            </a:r>
            <a:endParaRPr kumimoji="1" lang="en-IN" b="1" baseline="30000">
              <a:solidFill>
                <a:schemeClr val="bg1"/>
              </a:solidFill>
            </a:endParaRPr>
          </a:p>
        </p:txBody>
      </p:sp>
      <p:sp>
        <p:nvSpPr>
          <p:cNvPr id="28" name="Rectangle 27">
            <a:extLst>
              <a:ext uri="{FF2B5EF4-FFF2-40B4-BE49-F238E27FC236}">
                <a16:creationId xmlns:a16="http://schemas.microsoft.com/office/drawing/2014/main" id="{CE096D7C-D021-1793-913F-55B9FF4F8B96}"/>
              </a:ext>
            </a:extLst>
          </p:cNvPr>
          <p:cNvSpPr/>
          <p:nvPr/>
        </p:nvSpPr>
        <p:spPr>
          <a:xfrm>
            <a:off x="7583446" y="2905154"/>
            <a:ext cx="4029439" cy="666604"/>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a:ea typeface="+mn-lt"/>
                <a:cs typeface="+mn-lt"/>
              </a:rPr>
              <a:t>Increases confidence in true NT1/NT2 patients' identification and helps exclude misdiagnosed cases</a:t>
            </a:r>
          </a:p>
        </p:txBody>
      </p:sp>
      <p:sp>
        <p:nvSpPr>
          <p:cNvPr id="29" name="Rectangle 28">
            <a:extLst>
              <a:ext uri="{FF2B5EF4-FFF2-40B4-BE49-F238E27FC236}">
                <a16:creationId xmlns:a16="http://schemas.microsoft.com/office/drawing/2014/main" id="{DF2504D5-376E-09A8-D638-B54E335EBC06}"/>
              </a:ext>
            </a:extLst>
          </p:cNvPr>
          <p:cNvSpPr/>
          <p:nvPr/>
        </p:nvSpPr>
        <p:spPr>
          <a:xfrm>
            <a:off x="7583445" y="3664642"/>
            <a:ext cx="4029439" cy="666604"/>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a:t>Aligns with conservative labeled population (18+ years) and ensures commercial relevance</a:t>
            </a:r>
            <a:r>
              <a:rPr lang="en-US" sz="1200" baseline="30000"/>
              <a:t>2</a:t>
            </a:r>
            <a:endParaRPr lang="en-US" sz="1200" b="1" baseline="30000">
              <a:ea typeface="+mn-lt"/>
              <a:cs typeface="+mn-lt"/>
            </a:endParaRPr>
          </a:p>
        </p:txBody>
      </p:sp>
      <p:sp>
        <p:nvSpPr>
          <p:cNvPr id="30" name="Rectangle 29">
            <a:extLst>
              <a:ext uri="{FF2B5EF4-FFF2-40B4-BE49-F238E27FC236}">
                <a16:creationId xmlns:a16="http://schemas.microsoft.com/office/drawing/2014/main" id="{6CC21D4A-F2CE-0592-84E5-267D4929139B}"/>
              </a:ext>
            </a:extLst>
          </p:cNvPr>
          <p:cNvSpPr/>
          <p:nvPr/>
        </p:nvSpPr>
        <p:spPr>
          <a:xfrm>
            <a:off x="7574150" y="4397944"/>
            <a:ext cx="4029439" cy="718029"/>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dirty="0"/>
              <a:t>Incident patients are selected to analyze </a:t>
            </a:r>
            <a:r>
              <a:rPr lang="en-US" sz="1200" b="1" dirty="0"/>
              <a:t>pre-diagnosis referral patterns</a:t>
            </a:r>
            <a:r>
              <a:rPr lang="en-US" sz="1200" dirty="0"/>
              <a:t> and patient flow across HCPs leading up to first NT1/NT2 diagnosis</a:t>
            </a:r>
          </a:p>
        </p:txBody>
      </p:sp>
      <p:sp>
        <p:nvSpPr>
          <p:cNvPr id="36" name="Rectangle 35">
            <a:extLst>
              <a:ext uri="{FF2B5EF4-FFF2-40B4-BE49-F238E27FC236}">
                <a16:creationId xmlns:a16="http://schemas.microsoft.com/office/drawing/2014/main" id="{9880E19B-A355-D992-F090-FD69A65D9056}"/>
              </a:ext>
            </a:extLst>
          </p:cNvPr>
          <p:cNvSpPr/>
          <p:nvPr/>
        </p:nvSpPr>
        <p:spPr>
          <a:xfrm>
            <a:off x="7538546" y="5243239"/>
            <a:ext cx="4029439" cy="718029"/>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a:t>Stability criteria act as a proxy for closed claims, ensuring </a:t>
            </a:r>
            <a:r>
              <a:rPr lang="en-US" sz="1200" b="1"/>
              <a:t>consistent longitudinal data capture </a:t>
            </a:r>
            <a:r>
              <a:rPr lang="en-US" sz="1200"/>
              <a:t>and improving confidence in patient visibility within the Komodo dataset</a:t>
            </a:r>
            <a:endParaRPr lang="en-US" sz="1200" i="1"/>
          </a:p>
        </p:txBody>
      </p:sp>
      <p:sp>
        <p:nvSpPr>
          <p:cNvPr id="38" name="Rectangle 37">
            <a:extLst>
              <a:ext uri="{FF2B5EF4-FFF2-40B4-BE49-F238E27FC236}">
                <a16:creationId xmlns:a16="http://schemas.microsoft.com/office/drawing/2014/main" id="{44666CBF-9A6F-3C3C-E8CB-40E9CED1AB58}"/>
              </a:ext>
            </a:extLst>
          </p:cNvPr>
          <p:cNvSpPr/>
          <p:nvPr/>
        </p:nvSpPr>
        <p:spPr>
          <a:xfrm>
            <a:off x="7599429" y="2117926"/>
            <a:ext cx="4029439" cy="701480"/>
          </a:xfrm>
          <a:prstGeom prst="rect">
            <a:avLst/>
          </a:prstGeom>
          <a:solidFill>
            <a:srgbClr val="D4D6DB"/>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r>
              <a:rPr lang="en-US" sz="1200">
                <a:ea typeface="+mn-lt"/>
                <a:cs typeface="+mn-lt"/>
              </a:rPr>
              <a:t>Using ICD Codes: </a:t>
            </a:r>
            <a:r>
              <a:rPr lang="en-US" sz="1200" b="1">
                <a:solidFill>
                  <a:srgbClr val="34373F"/>
                </a:solidFill>
                <a:cs typeface="Arial" panose="020B0604020202020204" pitchFamily="34" charset="0"/>
              </a:rPr>
              <a:t>G47.411, G47.421, G47.419, G47.429</a:t>
            </a:r>
            <a:endParaRPr lang="en-US" sz="1200" b="1">
              <a:ea typeface="+mn-lt"/>
              <a:cs typeface="+mn-lt"/>
            </a:endParaRPr>
          </a:p>
        </p:txBody>
      </p:sp>
      <p:sp>
        <p:nvSpPr>
          <p:cNvPr id="20" name="TextBox 19">
            <a:extLst>
              <a:ext uri="{FF2B5EF4-FFF2-40B4-BE49-F238E27FC236}">
                <a16:creationId xmlns:a16="http://schemas.microsoft.com/office/drawing/2014/main" id="{12C14DDA-249B-1D58-CC27-4C27BCCFE856}"/>
              </a:ext>
            </a:extLst>
          </p:cNvPr>
          <p:cNvSpPr txBox="1"/>
          <p:nvPr/>
        </p:nvSpPr>
        <p:spPr>
          <a:xfrm>
            <a:off x="1897724" y="4641622"/>
            <a:ext cx="1704849" cy="338554"/>
          </a:xfrm>
          <a:prstGeom prst="rect">
            <a:avLst/>
          </a:prstGeom>
          <a:noFill/>
        </p:spPr>
        <p:txBody>
          <a:bodyPr wrap="square" rtlCol="0">
            <a:spAutoFit/>
          </a:bodyPr>
          <a:lstStyle/>
          <a:p>
            <a:r>
              <a:rPr lang="en-IN" sz="1600" b="1">
                <a:solidFill>
                  <a:schemeClr val="bg2"/>
                </a:solidFill>
              </a:rPr>
              <a:t>61.6K (35%)</a:t>
            </a:r>
          </a:p>
        </p:txBody>
      </p:sp>
      <p:sp>
        <p:nvSpPr>
          <p:cNvPr id="2" name="Rectangle 1">
            <a:extLst>
              <a:ext uri="{FF2B5EF4-FFF2-40B4-BE49-F238E27FC236}">
                <a16:creationId xmlns:a16="http://schemas.microsoft.com/office/drawing/2014/main" id="{78B8ADAB-8C07-34D6-01AA-0CBEB7033296}"/>
              </a:ext>
            </a:extLst>
          </p:cNvPr>
          <p:cNvSpPr/>
          <p:nvPr/>
        </p:nvSpPr>
        <p:spPr>
          <a:xfrm>
            <a:off x="311150" y="5184933"/>
            <a:ext cx="11353015" cy="822184"/>
          </a:xfrm>
          <a:prstGeom prst="rect">
            <a:avLst/>
          </a:prstGeom>
          <a:noFill/>
          <a:ln w="22225">
            <a:solidFill>
              <a:srgbClr val="00B050"/>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5" name="TextBox 14">
            <a:extLst>
              <a:ext uri="{FF2B5EF4-FFF2-40B4-BE49-F238E27FC236}">
                <a16:creationId xmlns:a16="http://schemas.microsoft.com/office/drawing/2014/main" id="{0E6427E6-0AFE-C3FA-03AA-97740C03F178}"/>
              </a:ext>
            </a:extLst>
          </p:cNvPr>
          <p:cNvSpPr txBox="1"/>
          <p:nvPr/>
        </p:nvSpPr>
        <p:spPr>
          <a:xfrm>
            <a:off x="305356" y="5343253"/>
            <a:ext cx="1655899" cy="461665"/>
          </a:xfrm>
          <a:prstGeom prst="rect">
            <a:avLst/>
          </a:prstGeom>
          <a:noFill/>
        </p:spPr>
        <p:txBody>
          <a:bodyPr wrap="square" rtlCol="0">
            <a:spAutoFit/>
          </a:bodyPr>
          <a:lstStyle/>
          <a:p>
            <a:r>
              <a:rPr lang="en-IN" sz="1200" b="1">
                <a:solidFill>
                  <a:srgbClr val="00B050"/>
                </a:solidFill>
              </a:rPr>
              <a:t>Base cohort for all the following analysis</a:t>
            </a:r>
          </a:p>
        </p:txBody>
      </p:sp>
    </p:spTree>
    <p:extLst>
      <p:ext uri="{BB962C8B-B14F-4D97-AF65-F5344CB8AC3E}">
        <p14:creationId xmlns:p14="http://schemas.microsoft.com/office/powerpoint/2010/main" val="1181304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45F0-4682-C63E-C4B4-B755F2AB5069}"/>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0316A53A-1C4C-F033-7364-8D1CABE8498F}"/>
              </a:ext>
            </a:extLst>
          </p:cNvPr>
          <p:cNvCxnSpPr>
            <a:cxnSpLocks/>
            <a:stCxn id="7" idx="4"/>
          </p:cNvCxnSpPr>
          <p:nvPr/>
        </p:nvCxnSpPr>
        <p:spPr>
          <a:xfrm>
            <a:off x="2558231" y="3577699"/>
            <a:ext cx="1405164" cy="2564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2065DF7-AD1E-3FDC-210B-231C5DE9D616}"/>
              </a:ext>
            </a:extLst>
          </p:cNvPr>
          <p:cNvCxnSpPr>
            <a:cxnSpLocks/>
            <a:stCxn id="7" idx="0"/>
          </p:cNvCxnSpPr>
          <p:nvPr/>
        </p:nvCxnSpPr>
        <p:spPr>
          <a:xfrm flipV="1">
            <a:off x="2558231" y="1140145"/>
            <a:ext cx="1397081" cy="921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5DAAE671-3A26-EA80-CF53-50BE15019C96}"/>
              </a:ext>
            </a:extLst>
          </p:cNvPr>
          <p:cNvSpPr>
            <a:spLocks noGrp="1"/>
          </p:cNvSpPr>
          <p:nvPr>
            <p:ph type="ftr" sz="quarter" idx="3"/>
          </p:nvPr>
        </p:nvSpPr>
        <p:spPr/>
        <p:txBody>
          <a:bodyPr/>
          <a:lstStyle/>
          <a:p>
            <a:r>
              <a:rPr lang="en-JP"/>
              <a:t> </a:t>
            </a:r>
          </a:p>
        </p:txBody>
      </p:sp>
      <p:sp>
        <p:nvSpPr>
          <p:cNvPr id="4" name="Title 3">
            <a:extLst>
              <a:ext uri="{FF2B5EF4-FFF2-40B4-BE49-F238E27FC236}">
                <a16:creationId xmlns:a16="http://schemas.microsoft.com/office/drawing/2014/main" id="{7DF0F9B5-F4A5-3401-2CAF-945DCCE59CCD}"/>
              </a:ext>
            </a:extLst>
          </p:cNvPr>
          <p:cNvSpPr>
            <a:spLocks noGrp="1"/>
          </p:cNvSpPr>
          <p:nvPr>
            <p:ph type="title"/>
          </p:nvPr>
        </p:nvSpPr>
        <p:spPr/>
        <p:txBody>
          <a:bodyPr>
            <a:noAutofit/>
          </a:bodyPr>
          <a:lstStyle/>
          <a:p>
            <a:r>
              <a:rPr lang="en-US" sz="2000"/>
              <a:t>Claims-based HCP universe for ~46.8K patients shows ~97% overlap with Top Decile (D10–6) HCPs, indicating strong alignment with the current target list</a:t>
            </a:r>
            <a:endParaRPr lang="en-IN" sz="2000"/>
          </a:p>
        </p:txBody>
      </p:sp>
      <p:sp>
        <p:nvSpPr>
          <p:cNvPr id="2" name="Oval 1">
            <a:extLst>
              <a:ext uri="{FF2B5EF4-FFF2-40B4-BE49-F238E27FC236}">
                <a16:creationId xmlns:a16="http://schemas.microsoft.com/office/drawing/2014/main" id="{BCF2C3D1-9787-4050-E0AB-FFA8387AF42E}"/>
              </a:ext>
            </a:extLst>
          </p:cNvPr>
          <p:cNvSpPr/>
          <p:nvPr/>
        </p:nvSpPr>
        <p:spPr>
          <a:xfrm>
            <a:off x="506223" y="1681966"/>
            <a:ext cx="2323736" cy="2287463"/>
          </a:xfrm>
          <a:prstGeom prst="ellipse">
            <a:avLst/>
          </a:prstGeom>
          <a:solidFill>
            <a:srgbClr val="E1242A">
              <a:alpha val="50196"/>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 name="Oval 6">
            <a:extLst>
              <a:ext uri="{FF2B5EF4-FFF2-40B4-BE49-F238E27FC236}">
                <a16:creationId xmlns:a16="http://schemas.microsoft.com/office/drawing/2014/main" id="{7B4FE42F-F005-9ED8-97EB-C0BADD15464B}"/>
              </a:ext>
            </a:extLst>
          </p:cNvPr>
          <p:cNvSpPr/>
          <p:nvPr/>
        </p:nvSpPr>
        <p:spPr>
          <a:xfrm>
            <a:off x="1774037" y="2061258"/>
            <a:ext cx="1568388" cy="1516441"/>
          </a:xfrm>
          <a:prstGeom prst="ellipse">
            <a:avLst/>
          </a:prstGeom>
          <a:solidFill>
            <a:schemeClr val="tx1">
              <a:lumMod val="75000"/>
              <a:alpha val="30196"/>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aphicFrame>
        <p:nvGraphicFramePr>
          <p:cNvPr id="13" name="Table 12">
            <a:extLst>
              <a:ext uri="{FF2B5EF4-FFF2-40B4-BE49-F238E27FC236}">
                <a16:creationId xmlns:a16="http://schemas.microsoft.com/office/drawing/2014/main" id="{29A14B36-255F-78B3-B6B2-A027CA4E1476}"/>
              </a:ext>
            </a:extLst>
          </p:cNvPr>
          <p:cNvGraphicFramePr>
            <a:graphicFrameLocks noGrp="1"/>
          </p:cNvGraphicFramePr>
          <p:nvPr/>
        </p:nvGraphicFramePr>
        <p:xfrm>
          <a:off x="3966458" y="1127369"/>
          <a:ext cx="6774508" cy="5048568"/>
        </p:xfrm>
        <a:graphic>
          <a:graphicData uri="http://schemas.openxmlformats.org/drawingml/2006/table">
            <a:tbl>
              <a:tblPr firstRow="1">
                <a:tableStyleId>{5C22544A-7EE6-4342-B048-85BDC9FD1C3A}</a:tableStyleId>
              </a:tblPr>
              <a:tblGrid>
                <a:gridCol w="1044705">
                  <a:extLst>
                    <a:ext uri="{9D8B030D-6E8A-4147-A177-3AD203B41FA5}">
                      <a16:colId xmlns:a16="http://schemas.microsoft.com/office/drawing/2014/main" val="2768715004"/>
                    </a:ext>
                  </a:extLst>
                </a:gridCol>
                <a:gridCol w="938373">
                  <a:extLst>
                    <a:ext uri="{9D8B030D-6E8A-4147-A177-3AD203B41FA5}">
                      <a16:colId xmlns:a16="http://schemas.microsoft.com/office/drawing/2014/main" val="2624041268"/>
                    </a:ext>
                  </a:extLst>
                </a:gridCol>
                <a:gridCol w="958286">
                  <a:extLst>
                    <a:ext uri="{9D8B030D-6E8A-4147-A177-3AD203B41FA5}">
                      <a16:colId xmlns:a16="http://schemas.microsoft.com/office/drawing/2014/main" val="58347247"/>
                    </a:ext>
                  </a:extLst>
                </a:gridCol>
                <a:gridCol w="958286">
                  <a:extLst>
                    <a:ext uri="{9D8B030D-6E8A-4147-A177-3AD203B41FA5}">
                      <a16:colId xmlns:a16="http://schemas.microsoft.com/office/drawing/2014/main" val="692365849"/>
                    </a:ext>
                  </a:extLst>
                </a:gridCol>
                <a:gridCol w="958286">
                  <a:extLst>
                    <a:ext uri="{9D8B030D-6E8A-4147-A177-3AD203B41FA5}">
                      <a16:colId xmlns:a16="http://schemas.microsoft.com/office/drawing/2014/main" val="2053528160"/>
                    </a:ext>
                  </a:extLst>
                </a:gridCol>
                <a:gridCol w="958286">
                  <a:extLst>
                    <a:ext uri="{9D8B030D-6E8A-4147-A177-3AD203B41FA5}">
                      <a16:colId xmlns:a16="http://schemas.microsoft.com/office/drawing/2014/main" val="1932766833"/>
                    </a:ext>
                  </a:extLst>
                </a:gridCol>
                <a:gridCol w="958286">
                  <a:extLst>
                    <a:ext uri="{9D8B030D-6E8A-4147-A177-3AD203B41FA5}">
                      <a16:colId xmlns:a16="http://schemas.microsoft.com/office/drawing/2014/main" val="3154098461"/>
                    </a:ext>
                  </a:extLst>
                </a:gridCol>
              </a:tblGrid>
              <a:tr h="420714">
                <a:tc>
                  <a:txBody>
                    <a:bodyPr/>
                    <a:lstStyle/>
                    <a:p>
                      <a:pPr algn="ctr" fontAlgn="b">
                        <a:buNone/>
                      </a:pPr>
                      <a:r>
                        <a:rPr lang="en-IN" sz="1200" b="1" u="none" strike="noStrike">
                          <a:effectLst/>
                          <a:latin typeface="+mn-lt"/>
                        </a:rPr>
                        <a:t>Decile/Specialty</a:t>
                      </a:r>
                      <a:endParaRPr lang="en-IN" sz="1200" b="1" i="0" u="none" strike="noStrike">
                        <a:solidFill>
                          <a:srgbClr val="000000"/>
                        </a:solidFill>
                        <a:effectLst/>
                        <a:latin typeface="+mn-lt"/>
                      </a:endParaRP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200" b="1" i="0" u="none" strike="noStrike">
                          <a:solidFill>
                            <a:schemeClr val="bg1"/>
                          </a:solidFill>
                          <a:effectLst/>
                          <a:latin typeface="+mn-lt"/>
                        </a:rPr>
                        <a:t>N</a:t>
                      </a:r>
                      <a:r>
                        <a:rPr lang="en-IN" sz="1200" b="1" i="0" u="none" strike="noStrike" err="1">
                          <a:solidFill>
                            <a:schemeClr val="bg1"/>
                          </a:solidFill>
                          <a:effectLst/>
                          <a:latin typeface="+mn-lt"/>
                        </a:rPr>
                        <a:t>eurology</a:t>
                      </a:r>
                      <a:endParaRPr lang="en-IN" sz="1200" b="1" i="0" u="none" strike="noStrike">
                        <a:solidFill>
                          <a:schemeClr val="bg1"/>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200" b="1" i="0" u="none" strike="noStrike">
                          <a:solidFill>
                            <a:schemeClr val="bg1"/>
                          </a:solidFill>
                          <a:effectLst/>
                          <a:latin typeface="+mn-lt"/>
                        </a:rPr>
                        <a:t>P</a:t>
                      </a:r>
                      <a:r>
                        <a:rPr lang="en-IN" sz="1200" b="1" i="0" u="none" strike="noStrike">
                          <a:solidFill>
                            <a:schemeClr val="bg1"/>
                          </a:solidFill>
                          <a:effectLst/>
                          <a:latin typeface="+mn-lt"/>
                        </a:rPr>
                        <a:t>ysch</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IN" sz="1200" b="1" u="none" strike="noStrike">
                          <a:effectLst/>
                          <a:latin typeface="+mn-lt"/>
                        </a:rPr>
                        <a:t>Pulmonary</a:t>
                      </a:r>
                      <a:endParaRPr lang="en-IN" sz="1200" b="1" i="0" u="none" strike="noStrike">
                        <a:solidFill>
                          <a:srgbClr val="000000"/>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IN" sz="1200" b="1" u="none" strike="noStrike">
                          <a:effectLst/>
                          <a:latin typeface="+mn-lt"/>
                        </a:rPr>
                        <a:t>General Care</a:t>
                      </a:r>
                      <a:endParaRPr lang="en-IN" sz="1200" b="1" i="0" u="none" strike="noStrike">
                        <a:solidFill>
                          <a:srgbClr val="000000"/>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IN" sz="1200" b="1" u="none" strike="noStrike">
                          <a:effectLst/>
                          <a:latin typeface="+mn-lt"/>
                        </a:rPr>
                        <a:t>Others</a:t>
                      </a:r>
                      <a:endParaRPr lang="en-IN" sz="1200" b="1" i="0" u="none" strike="noStrike">
                        <a:solidFill>
                          <a:srgbClr val="000000"/>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IN" sz="1200" b="1" u="none" strike="noStrike">
                          <a:effectLst/>
                          <a:latin typeface="+mn-lt"/>
                        </a:rPr>
                        <a:t>Total</a:t>
                      </a:r>
                      <a:endParaRPr lang="en-IN" sz="1200" b="1" i="0" u="none" strike="noStrike">
                        <a:solidFill>
                          <a:srgbClr val="000000"/>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450808910"/>
                  </a:ext>
                </a:extLst>
              </a:tr>
              <a:tr h="420714">
                <a:tc>
                  <a:txBody>
                    <a:bodyPr/>
                    <a:lstStyle/>
                    <a:p>
                      <a:pPr algn="ctr" fontAlgn="b">
                        <a:buNone/>
                      </a:pPr>
                      <a:r>
                        <a:rPr lang="en-IN" sz="1100" b="0" i="0" u="none" strike="noStrike">
                          <a:solidFill>
                            <a:srgbClr val="000000"/>
                          </a:solidFill>
                          <a:effectLst/>
                          <a:latin typeface="+mn-lt"/>
                        </a:rPr>
                        <a:t>10</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76|100%</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2136168937"/>
                  </a:ext>
                </a:extLst>
              </a:tr>
              <a:tr h="420714">
                <a:tc>
                  <a:txBody>
                    <a:bodyPr/>
                    <a:lstStyle/>
                    <a:p>
                      <a:pPr algn="ctr" fontAlgn="b">
                        <a:buNone/>
                      </a:pPr>
                      <a:r>
                        <a:rPr lang="en-IN" sz="1100" b="0" i="0" u="none" strike="noStrike">
                          <a:solidFill>
                            <a:srgbClr val="000000"/>
                          </a:solidFill>
                          <a:effectLst/>
                          <a:latin typeface="+mn-lt"/>
                        </a:rPr>
                        <a:t>9</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177|99%</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2571303938"/>
                  </a:ext>
                </a:extLst>
              </a:tr>
              <a:tr h="420714">
                <a:tc>
                  <a:txBody>
                    <a:bodyPr/>
                    <a:lstStyle/>
                    <a:p>
                      <a:pPr algn="ctr" fontAlgn="b">
                        <a:buNone/>
                      </a:pPr>
                      <a:r>
                        <a:rPr lang="en-IN" sz="1100" b="0" i="0" u="none" strike="noStrike">
                          <a:solidFill>
                            <a:srgbClr val="000000"/>
                          </a:solidFill>
                          <a:effectLst/>
                          <a:latin typeface="+mn-lt"/>
                        </a:rPr>
                        <a:t>8</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98%</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310|99%</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2764512273"/>
                  </a:ext>
                </a:extLst>
              </a:tr>
              <a:tr h="420714">
                <a:tc>
                  <a:txBody>
                    <a:bodyPr/>
                    <a:lstStyle/>
                    <a:p>
                      <a:pPr algn="ctr" fontAlgn="b">
                        <a:buNone/>
                      </a:pPr>
                      <a:r>
                        <a:rPr lang="en-IN" sz="1100" b="0" i="0" u="none" strike="noStrike">
                          <a:solidFill>
                            <a:srgbClr val="000000"/>
                          </a:solidFill>
                          <a:effectLst/>
                          <a:latin typeface="+mn-lt"/>
                        </a:rPr>
                        <a:t>7</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98%</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474|99%</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2059964094"/>
                  </a:ext>
                </a:extLst>
              </a:tr>
              <a:tr h="420714">
                <a:tc>
                  <a:txBody>
                    <a:bodyPr/>
                    <a:lstStyle/>
                    <a:p>
                      <a:pPr algn="ctr" fontAlgn="b">
                        <a:buNone/>
                      </a:pPr>
                      <a:r>
                        <a:rPr lang="en-IN" sz="1100" b="0" i="0" u="none" strike="noStrike">
                          <a:solidFill>
                            <a:srgbClr val="000000"/>
                          </a:solidFill>
                          <a:effectLst/>
                          <a:latin typeface="+mn-lt"/>
                        </a:rPr>
                        <a:t>6</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95%</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83%</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94%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tc>
                  <a:txBody>
                    <a:bodyPr/>
                    <a:lstStyle/>
                    <a:p>
                      <a:pPr algn="ctr" fontAlgn="b">
                        <a:buNone/>
                      </a:pPr>
                      <a:r>
                        <a:rPr lang="en-IN" sz="1100" b="0" i="0" u="none" strike="noStrike">
                          <a:solidFill>
                            <a:srgbClr val="000000"/>
                          </a:solidFill>
                          <a:effectLst/>
                          <a:latin typeface="+mn-lt"/>
                        </a:rPr>
                        <a:t>705|95%</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CCFFCC"/>
                    </a:solidFill>
                  </a:tcPr>
                </a:tc>
                <a:extLst>
                  <a:ext uri="{0D108BD9-81ED-4DB2-BD59-A6C34878D82A}">
                    <a16:rowId xmlns:a16="http://schemas.microsoft.com/office/drawing/2014/main" val="3754920251"/>
                  </a:ext>
                </a:extLst>
              </a:tr>
              <a:tr h="420714">
                <a:tc>
                  <a:txBody>
                    <a:bodyPr/>
                    <a:lstStyle/>
                    <a:p>
                      <a:pPr algn="ctr" fontAlgn="b">
                        <a:buNone/>
                      </a:pPr>
                      <a:r>
                        <a:rPr lang="en-IN" sz="1100" b="0" i="0" u="none" strike="noStrike">
                          <a:solidFill>
                            <a:srgbClr val="000000"/>
                          </a:solidFill>
                          <a:effectLst/>
                          <a:latin typeface="+mn-lt"/>
                        </a:rPr>
                        <a:t>5</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94%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91%</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95%</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94%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100%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tc>
                  <a:txBody>
                    <a:bodyPr/>
                    <a:lstStyle/>
                    <a:p>
                      <a:pPr algn="ctr" fontAlgn="b">
                        <a:buNone/>
                      </a:pPr>
                      <a:r>
                        <a:rPr lang="en-IN" sz="1100" b="0" i="0" u="none" strike="noStrike">
                          <a:solidFill>
                            <a:srgbClr val="000000"/>
                          </a:solidFill>
                          <a:effectLst/>
                          <a:latin typeface="+mn-lt"/>
                        </a:rPr>
                        <a:t>1,150|94%</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rgbClr val="FFFFFF"/>
                    </a:solidFill>
                  </a:tcPr>
                </a:tc>
                <a:extLst>
                  <a:ext uri="{0D108BD9-81ED-4DB2-BD59-A6C34878D82A}">
                    <a16:rowId xmlns:a16="http://schemas.microsoft.com/office/drawing/2014/main" val="1796694781"/>
                  </a:ext>
                </a:extLst>
              </a:tr>
              <a:tr h="420714">
                <a:tc>
                  <a:txBody>
                    <a:bodyPr/>
                    <a:lstStyle/>
                    <a:p>
                      <a:pPr algn="ctr" fontAlgn="b">
                        <a:buNone/>
                      </a:pPr>
                      <a:r>
                        <a:rPr lang="en-IN" sz="1100" b="0" i="0" u="none" strike="noStrike">
                          <a:solidFill>
                            <a:srgbClr val="000000"/>
                          </a:solidFill>
                          <a:effectLst/>
                          <a:latin typeface="+mn-lt"/>
                        </a:rPr>
                        <a:t>4</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84%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92%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87%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2,142|88%</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3703801114"/>
                  </a:ext>
                </a:extLst>
              </a:tr>
              <a:tr h="420714">
                <a:tc>
                  <a:txBody>
                    <a:bodyPr/>
                    <a:lstStyle/>
                    <a:p>
                      <a:pPr algn="ctr" fontAlgn="b">
                        <a:buNone/>
                      </a:pPr>
                      <a:r>
                        <a:rPr lang="en-IN" sz="1100" b="0" i="0" u="none" strike="noStrike">
                          <a:solidFill>
                            <a:srgbClr val="000000"/>
                          </a:solidFill>
                          <a:effectLst/>
                          <a:latin typeface="+mn-lt"/>
                        </a:rPr>
                        <a:t>3</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75%</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69%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82%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64%</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73%</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4,698|70%</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971083304"/>
                  </a:ext>
                </a:extLst>
              </a:tr>
              <a:tr h="420714">
                <a:tc>
                  <a:txBody>
                    <a:bodyPr/>
                    <a:lstStyle/>
                    <a:p>
                      <a:pPr algn="ctr" fontAlgn="b">
                        <a:buNone/>
                      </a:pPr>
                      <a:r>
                        <a:rPr lang="en-IN" sz="1100" b="0" i="0" u="none" strike="noStrike">
                          <a:solidFill>
                            <a:srgbClr val="000000"/>
                          </a:solidFill>
                          <a:effectLst/>
                          <a:latin typeface="+mn-lt"/>
                        </a:rPr>
                        <a:t>2</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65%</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80%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71%</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73%</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50%</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728|68%</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4185257696"/>
                  </a:ext>
                </a:extLst>
              </a:tr>
              <a:tr h="420714">
                <a:tc>
                  <a:txBody>
                    <a:bodyPr/>
                    <a:lstStyle/>
                    <a:p>
                      <a:pPr algn="ctr" fontAlgn="b">
                        <a:buNone/>
                      </a:pPr>
                      <a:r>
                        <a:rPr lang="en-IN" sz="1100" b="0" i="0" u="none" strike="noStrike">
                          <a:solidFill>
                            <a:srgbClr val="000000"/>
                          </a:solidFill>
                          <a:effectLst/>
                          <a:latin typeface="+mn-lt"/>
                        </a:rPr>
                        <a:t>1</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58%</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67%</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52%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algn="ctr" fontAlgn="b">
                        <a:buNone/>
                      </a:pPr>
                      <a:r>
                        <a:rPr lang="en-IN" sz="1100" b="0" i="0" u="none" strike="noStrike">
                          <a:solidFill>
                            <a:srgbClr val="000000"/>
                          </a:solidFill>
                          <a:effectLst/>
                          <a:latin typeface="+mn-lt"/>
                        </a:rPr>
                        <a:t>489|59%</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4172498828"/>
                  </a:ext>
                </a:extLst>
              </a:tr>
              <a:tr h="420714">
                <a:tc>
                  <a:txBody>
                    <a:bodyPr/>
                    <a:lstStyle/>
                    <a:p>
                      <a:pPr algn="ctr" fontAlgn="b">
                        <a:buNone/>
                      </a:pPr>
                      <a:r>
                        <a:rPr lang="en-IN" sz="1100" b="1" i="0" u="none" strike="noStrike">
                          <a:solidFill>
                            <a:srgbClr val="000000"/>
                          </a:solidFill>
                          <a:effectLst/>
                          <a:latin typeface="+mn-lt"/>
                        </a:rPr>
                        <a:t>Total</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79%</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72%</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86%</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73%</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68%</a:t>
                      </a: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IN" sz="1100" b="1" i="0" u="none" strike="noStrike">
                          <a:solidFill>
                            <a:srgbClr val="000000"/>
                          </a:solidFill>
                          <a:effectLst/>
                          <a:latin typeface="+mn-lt"/>
                        </a:rPr>
                        <a:t>10,949|78%</a:t>
                      </a:r>
                    </a:p>
                  </a:txBody>
                  <a:tcPr marL="6350" marR="6350" marT="6350" marB="0" anchor="ctr">
                    <a:lnL w="6350" cap="flat" cmpd="sng" algn="ctr">
                      <a:solidFill>
                        <a:schemeClr val="bg1">
                          <a:lumMod val="8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828343867"/>
                  </a:ext>
                </a:extLst>
              </a:tr>
            </a:tbl>
          </a:graphicData>
        </a:graphic>
      </p:graphicFrame>
      <p:sp>
        <p:nvSpPr>
          <p:cNvPr id="14" name="TextBox 13">
            <a:extLst>
              <a:ext uri="{FF2B5EF4-FFF2-40B4-BE49-F238E27FC236}">
                <a16:creationId xmlns:a16="http://schemas.microsoft.com/office/drawing/2014/main" id="{AED76624-9D83-A8F6-64C1-CE5A469AC596}"/>
              </a:ext>
            </a:extLst>
          </p:cNvPr>
          <p:cNvSpPr txBox="1"/>
          <p:nvPr/>
        </p:nvSpPr>
        <p:spPr>
          <a:xfrm>
            <a:off x="2604627" y="3420821"/>
            <a:ext cx="1493146" cy="461665"/>
          </a:xfrm>
          <a:prstGeom prst="rect">
            <a:avLst/>
          </a:prstGeom>
          <a:noFill/>
        </p:spPr>
        <p:txBody>
          <a:bodyPr wrap="square" rtlCol="0">
            <a:spAutoFit/>
          </a:bodyPr>
          <a:lstStyle/>
          <a:p>
            <a:pPr algn="ctr"/>
            <a:r>
              <a:rPr lang="en-US" sz="1200" b="1">
                <a:solidFill>
                  <a:schemeClr val="bg1">
                    <a:lumMod val="50000"/>
                  </a:schemeClr>
                </a:solidFill>
              </a:rPr>
              <a:t>n = 14,086</a:t>
            </a:r>
          </a:p>
          <a:p>
            <a:pPr algn="ctr"/>
            <a:r>
              <a:rPr lang="en-US" sz="1200" b="1">
                <a:solidFill>
                  <a:schemeClr val="bg1">
                    <a:lumMod val="50000"/>
                  </a:schemeClr>
                </a:solidFill>
              </a:rPr>
              <a:t>(Takeda Target List)</a:t>
            </a:r>
          </a:p>
        </p:txBody>
      </p:sp>
      <p:sp>
        <p:nvSpPr>
          <p:cNvPr id="18" name="TextBox 17">
            <a:extLst>
              <a:ext uri="{FF2B5EF4-FFF2-40B4-BE49-F238E27FC236}">
                <a16:creationId xmlns:a16="http://schemas.microsoft.com/office/drawing/2014/main" id="{30B15AEF-D91E-3774-ECA4-A1998779EEF3}"/>
              </a:ext>
            </a:extLst>
          </p:cNvPr>
          <p:cNvSpPr txBox="1"/>
          <p:nvPr/>
        </p:nvSpPr>
        <p:spPr>
          <a:xfrm>
            <a:off x="1987511" y="2572781"/>
            <a:ext cx="645962" cy="461665"/>
          </a:xfrm>
          <a:prstGeom prst="rect">
            <a:avLst/>
          </a:prstGeom>
          <a:noFill/>
        </p:spPr>
        <p:txBody>
          <a:bodyPr wrap="square" rtlCol="0">
            <a:spAutoFit/>
          </a:bodyPr>
          <a:lstStyle/>
          <a:p>
            <a:r>
              <a:rPr lang="en-US" sz="1200" b="1">
                <a:solidFill>
                  <a:schemeClr val="bg1"/>
                </a:solidFill>
              </a:rPr>
              <a:t>10,949(78%)</a:t>
            </a:r>
          </a:p>
        </p:txBody>
      </p:sp>
      <p:sp>
        <p:nvSpPr>
          <p:cNvPr id="19" name="TextBox 18">
            <a:extLst>
              <a:ext uri="{FF2B5EF4-FFF2-40B4-BE49-F238E27FC236}">
                <a16:creationId xmlns:a16="http://schemas.microsoft.com/office/drawing/2014/main" id="{5B98AA74-1B97-C298-85D1-73617F7D6AF5}"/>
              </a:ext>
            </a:extLst>
          </p:cNvPr>
          <p:cNvSpPr txBox="1"/>
          <p:nvPr/>
        </p:nvSpPr>
        <p:spPr>
          <a:xfrm>
            <a:off x="2818168" y="2646736"/>
            <a:ext cx="559493" cy="461665"/>
          </a:xfrm>
          <a:prstGeom prst="rect">
            <a:avLst/>
          </a:prstGeom>
          <a:noFill/>
        </p:spPr>
        <p:txBody>
          <a:bodyPr wrap="square" rtlCol="0">
            <a:spAutoFit/>
          </a:bodyPr>
          <a:lstStyle/>
          <a:p>
            <a:r>
              <a:rPr lang="en-US" sz="1200" b="1">
                <a:solidFill>
                  <a:schemeClr val="bg1"/>
                </a:solidFill>
              </a:rPr>
              <a:t>3,137 (22%)</a:t>
            </a:r>
          </a:p>
        </p:txBody>
      </p:sp>
      <p:sp>
        <p:nvSpPr>
          <p:cNvPr id="23" name="TextBox 22">
            <a:extLst>
              <a:ext uri="{FF2B5EF4-FFF2-40B4-BE49-F238E27FC236}">
                <a16:creationId xmlns:a16="http://schemas.microsoft.com/office/drawing/2014/main" id="{9938B75D-D57D-C1DD-58D3-714329A8668E}"/>
              </a:ext>
            </a:extLst>
          </p:cNvPr>
          <p:cNvSpPr txBox="1"/>
          <p:nvPr/>
        </p:nvSpPr>
        <p:spPr>
          <a:xfrm>
            <a:off x="753215" y="2603034"/>
            <a:ext cx="763734" cy="276999"/>
          </a:xfrm>
          <a:prstGeom prst="rect">
            <a:avLst/>
          </a:prstGeom>
          <a:noFill/>
        </p:spPr>
        <p:txBody>
          <a:bodyPr wrap="square" rtlCol="0">
            <a:spAutoFit/>
          </a:bodyPr>
          <a:lstStyle/>
          <a:p>
            <a:r>
              <a:rPr lang="en-US" sz="1200" b="1">
                <a:solidFill>
                  <a:schemeClr val="bg1"/>
                </a:solidFill>
              </a:rPr>
              <a:t>288,077</a:t>
            </a:r>
          </a:p>
        </p:txBody>
      </p:sp>
      <p:sp>
        <p:nvSpPr>
          <p:cNvPr id="26" name="TextBox 25">
            <a:extLst>
              <a:ext uri="{FF2B5EF4-FFF2-40B4-BE49-F238E27FC236}">
                <a16:creationId xmlns:a16="http://schemas.microsoft.com/office/drawing/2014/main" id="{7978877D-1BFD-EAC8-B8C1-42B2AB4925C7}"/>
              </a:ext>
            </a:extLst>
          </p:cNvPr>
          <p:cNvSpPr txBox="1"/>
          <p:nvPr/>
        </p:nvSpPr>
        <p:spPr>
          <a:xfrm>
            <a:off x="1546912" y="3982065"/>
            <a:ext cx="719430" cy="461665"/>
          </a:xfrm>
          <a:prstGeom prst="rect">
            <a:avLst/>
          </a:prstGeom>
          <a:noFill/>
        </p:spPr>
        <p:txBody>
          <a:bodyPr wrap="square" rtlCol="0">
            <a:spAutoFit/>
          </a:bodyPr>
          <a:lstStyle/>
          <a:p>
            <a:pPr algn="ctr"/>
            <a:r>
              <a:rPr lang="en-US" sz="1200" b="1">
                <a:solidFill>
                  <a:schemeClr val="bg1"/>
                </a:solidFill>
              </a:rPr>
              <a:t>62,427 (29%)</a:t>
            </a:r>
          </a:p>
        </p:txBody>
      </p:sp>
      <p:sp>
        <p:nvSpPr>
          <p:cNvPr id="28" name="TextBox 27">
            <a:extLst>
              <a:ext uri="{FF2B5EF4-FFF2-40B4-BE49-F238E27FC236}">
                <a16:creationId xmlns:a16="http://schemas.microsoft.com/office/drawing/2014/main" id="{83D559E5-A596-5C82-E636-4F36957C4A8D}"/>
              </a:ext>
            </a:extLst>
          </p:cNvPr>
          <p:cNvSpPr txBox="1"/>
          <p:nvPr/>
        </p:nvSpPr>
        <p:spPr>
          <a:xfrm>
            <a:off x="312616" y="4012318"/>
            <a:ext cx="763734" cy="276999"/>
          </a:xfrm>
          <a:prstGeom prst="rect">
            <a:avLst/>
          </a:prstGeom>
          <a:noFill/>
        </p:spPr>
        <p:txBody>
          <a:bodyPr wrap="square" rtlCol="0">
            <a:spAutoFit/>
          </a:bodyPr>
          <a:lstStyle/>
          <a:p>
            <a:r>
              <a:rPr lang="en-US" sz="1200" b="1">
                <a:solidFill>
                  <a:schemeClr val="bg1"/>
                </a:solidFill>
              </a:rPr>
              <a:t>190,797</a:t>
            </a:r>
          </a:p>
        </p:txBody>
      </p:sp>
      <p:sp>
        <p:nvSpPr>
          <p:cNvPr id="30" name="Rectangle 29">
            <a:extLst>
              <a:ext uri="{FF2B5EF4-FFF2-40B4-BE49-F238E27FC236}">
                <a16:creationId xmlns:a16="http://schemas.microsoft.com/office/drawing/2014/main" id="{C2E8AD91-3A01-C1C3-B2A9-5F4D507FCB31}"/>
              </a:ext>
            </a:extLst>
          </p:cNvPr>
          <p:cNvSpPr/>
          <p:nvPr/>
        </p:nvSpPr>
        <p:spPr>
          <a:xfrm>
            <a:off x="3974541" y="1533525"/>
            <a:ext cx="6748152" cy="2133220"/>
          </a:xfrm>
          <a:prstGeom prst="rect">
            <a:avLst/>
          </a:prstGeom>
          <a:noFill/>
          <a:ln w="28575">
            <a:solidFill>
              <a:srgbClr val="00B050"/>
            </a:solidFill>
            <a:prstDash val="sys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31" name="TextBox 30">
            <a:extLst>
              <a:ext uri="{FF2B5EF4-FFF2-40B4-BE49-F238E27FC236}">
                <a16:creationId xmlns:a16="http://schemas.microsoft.com/office/drawing/2014/main" id="{676D5D23-9296-F897-CF21-7B4978395EAF}"/>
              </a:ext>
            </a:extLst>
          </p:cNvPr>
          <p:cNvSpPr txBox="1"/>
          <p:nvPr/>
        </p:nvSpPr>
        <p:spPr>
          <a:xfrm>
            <a:off x="-78544" y="1408244"/>
            <a:ext cx="1441083" cy="461665"/>
          </a:xfrm>
          <a:prstGeom prst="rect">
            <a:avLst/>
          </a:prstGeom>
          <a:noFill/>
        </p:spPr>
        <p:txBody>
          <a:bodyPr wrap="square" rtlCol="0">
            <a:spAutoFit/>
          </a:bodyPr>
          <a:lstStyle/>
          <a:p>
            <a:pPr algn="ctr"/>
            <a:r>
              <a:rPr lang="en-US" sz="1200" b="1">
                <a:solidFill>
                  <a:schemeClr val="accent2">
                    <a:lumMod val="60000"/>
                    <a:lumOff val="40000"/>
                  </a:schemeClr>
                </a:solidFill>
              </a:rPr>
              <a:t>n = 299,026</a:t>
            </a:r>
          </a:p>
          <a:p>
            <a:pPr algn="ctr"/>
            <a:r>
              <a:rPr lang="en-US" sz="1200" b="1">
                <a:solidFill>
                  <a:schemeClr val="accent2">
                    <a:lumMod val="60000"/>
                    <a:lumOff val="40000"/>
                  </a:schemeClr>
                </a:solidFill>
              </a:rPr>
              <a:t>(Claims Universe)</a:t>
            </a:r>
          </a:p>
        </p:txBody>
      </p:sp>
      <p:sp>
        <p:nvSpPr>
          <p:cNvPr id="12" name="Text Placeholder 5">
            <a:extLst>
              <a:ext uri="{FF2B5EF4-FFF2-40B4-BE49-F238E27FC236}">
                <a16:creationId xmlns:a16="http://schemas.microsoft.com/office/drawing/2014/main" id="{844CA3C5-6378-4BAF-4079-EAB54B913300}"/>
              </a:ext>
            </a:extLst>
          </p:cNvPr>
          <p:cNvSpPr txBox="1">
            <a:spLocks/>
          </p:cNvSpPr>
          <p:nvPr/>
        </p:nvSpPr>
        <p:spPr>
          <a:xfrm>
            <a:off x="606078" y="6616599"/>
            <a:ext cx="6968348" cy="196131"/>
          </a:xfrm>
          <a:prstGeom prst="rect">
            <a:avLst/>
          </a:prstGeom>
        </p:spPr>
        <p:txBody>
          <a:bodyPr vert="horz" wrap="none" lIns="0" tIns="0" rIns="0" bIns="72000" numCol="1" rtlCol="0" anchor="t">
            <a:noAutofit/>
          </a:bodyPr>
          <a:lstStyle>
            <a:lvl1pPr marL="0" indent="0" algn="l" defTabSz="914150" rtl="0" eaLnBrk="1" latinLnBrk="0" hangingPunct="1">
              <a:lnSpc>
                <a:spcPts val="1600"/>
              </a:lnSpc>
              <a:spcBef>
                <a:spcPts val="0"/>
              </a:spcBef>
              <a:spcAft>
                <a:spcPts val="600"/>
              </a:spcAft>
              <a:buClr>
                <a:srgbClr val="4C4948"/>
              </a:buClr>
              <a:buFont typeface="Arial" panose="020B0604020202020204" pitchFamily="34" charset="0"/>
              <a:buNone/>
              <a:defRPr kumimoji="1" sz="800" b="0" i="0" kern="1200" baseline="0">
                <a:solidFill>
                  <a:schemeClr val="accent3"/>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IN" i="1"/>
              <a:t>1. Considers activities like NT1 Diagnosis, Relevant Misdiagnosis, Relevant NT1 Test, Relevant NT1 Treatment</a:t>
            </a:r>
          </a:p>
        </p:txBody>
      </p:sp>
      <p:grpSp>
        <p:nvGrpSpPr>
          <p:cNvPr id="21" name="Group 20">
            <a:extLst>
              <a:ext uri="{FF2B5EF4-FFF2-40B4-BE49-F238E27FC236}">
                <a16:creationId xmlns:a16="http://schemas.microsoft.com/office/drawing/2014/main" id="{23838DC7-7408-FDCD-1413-203DB9F4D1D6}"/>
              </a:ext>
            </a:extLst>
          </p:cNvPr>
          <p:cNvGrpSpPr/>
          <p:nvPr/>
        </p:nvGrpSpPr>
        <p:grpSpPr>
          <a:xfrm>
            <a:off x="195136" y="4275347"/>
            <a:ext cx="2074269" cy="1027798"/>
            <a:chOff x="-154253" y="4836051"/>
            <a:chExt cx="3434717" cy="1081343"/>
          </a:xfrm>
        </p:grpSpPr>
        <p:sp>
          <p:nvSpPr>
            <p:cNvPr id="17" name="Speech Bubble: Rectangle with Corners Rounded 16">
              <a:extLst>
                <a:ext uri="{FF2B5EF4-FFF2-40B4-BE49-F238E27FC236}">
                  <a16:creationId xmlns:a16="http://schemas.microsoft.com/office/drawing/2014/main" id="{EE70401C-79BF-BC17-63D8-256D596338ED}"/>
                </a:ext>
              </a:extLst>
            </p:cNvPr>
            <p:cNvSpPr/>
            <p:nvPr/>
          </p:nvSpPr>
          <p:spPr>
            <a:xfrm>
              <a:off x="-98810" y="4836051"/>
              <a:ext cx="3374204" cy="1081343"/>
            </a:xfrm>
            <a:prstGeom prst="wedgeRoundRectCallout">
              <a:avLst>
                <a:gd name="adj1" fmla="val 15124"/>
                <a:gd name="adj2" fmla="val -76771"/>
                <a:gd name="adj3" fmla="val 16667"/>
              </a:avLst>
            </a:prstGeom>
            <a:solidFill>
              <a:schemeClr val="accent1">
                <a:lumMod val="20000"/>
                <a:lumOff val="80000"/>
                <a:alpha val="38000"/>
              </a:schemeClr>
            </a:solidFill>
            <a:ln w="63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sz="1600"/>
            </a:p>
          </p:txBody>
        </p:sp>
        <p:sp>
          <p:nvSpPr>
            <p:cNvPr id="20" name="TextBox 19">
              <a:extLst>
                <a:ext uri="{FF2B5EF4-FFF2-40B4-BE49-F238E27FC236}">
                  <a16:creationId xmlns:a16="http://schemas.microsoft.com/office/drawing/2014/main" id="{38BCBC2C-7CCB-11F0-2E11-888EFE839E47}"/>
                </a:ext>
              </a:extLst>
            </p:cNvPr>
            <p:cNvSpPr txBox="1"/>
            <p:nvPr/>
          </p:nvSpPr>
          <p:spPr>
            <a:xfrm>
              <a:off x="-154253" y="4919985"/>
              <a:ext cx="3434717" cy="947146"/>
            </a:xfrm>
            <a:prstGeom prst="rect">
              <a:avLst/>
            </a:prstGeom>
            <a:noFill/>
          </p:spPr>
          <p:txBody>
            <a:bodyPr wrap="square" rtlCol="0" anchor="ctr">
              <a:spAutoFit/>
            </a:bodyPr>
            <a:lstStyle/>
            <a:p>
              <a:pPr algn="ctr"/>
              <a:r>
                <a:rPr lang="en-IN" sz="1050" i="1"/>
                <a:t>Claims universe has been created by considering relevant claims</a:t>
              </a:r>
              <a:r>
                <a:rPr lang="en-IN" sz="1050" i="1" baseline="30000"/>
                <a:t>1</a:t>
              </a:r>
              <a:r>
                <a:rPr lang="en-IN" sz="1050" i="1"/>
                <a:t> For identified 46.8K patient universe from 6yrs pre and complete post-diagnosis journey</a:t>
              </a:r>
            </a:p>
          </p:txBody>
        </p:sp>
      </p:grpSp>
      <p:sp>
        <p:nvSpPr>
          <p:cNvPr id="25" name="TextBox 24">
            <a:extLst>
              <a:ext uri="{FF2B5EF4-FFF2-40B4-BE49-F238E27FC236}">
                <a16:creationId xmlns:a16="http://schemas.microsoft.com/office/drawing/2014/main" id="{ACF810B3-6CB3-A258-0FC6-32A613D2C6E6}"/>
              </a:ext>
            </a:extLst>
          </p:cNvPr>
          <p:cNvSpPr txBox="1"/>
          <p:nvPr/>
        </p:nvSpPr>
        <p:spPr>
          <a:xfrm>
            <a:off x="6686017" y="6178873"/>
            <a:ext cx="4067708" cy="261610"/>
          </a:xfrm>
          <a:prstGeom prst="rect">
            <a:avLst/>
          </a:prstGeom>
          <a:noFill/>
        </p:spPr>
        <p:txBody>
          <a:bodyPr wrap="square" rtlCol="0">
            <a:spAutoFit/>
          </a:bodyPr>
          <a:lstStyle/>
          <a:p>
            <a:r>
              <a:rPr lang="en-IN" sz="1100" i="1">
                <a:solidFill>
                  <a:schemeClr val="tx2"/>
                </a:solidFill>
              </a:rPr>
              <a:t>Note: % corresponds to the overlap with Takeda’s existing target list</a:t>
            </a:r>
          </a:p>
        </p:txBody>
      </p:sp>
      <p:sp>
        <p:nvSpPr>
          <p:cNvPr id="6" name="Slide Number Placeholder 4">
            <a:extLst>
              <a:ext uri="{FF2B5EF4-FFF2-40B4-BE49-F238E27FC236}">
                <a16:creationId xmlns:a16="http://schemas.microsoft.com/office/drawing/2014/main" id="{06F90CFD-09EA-6F95-3D0B-7B18DB1E2B48}"/>
              </a:ext>
            </a:extLst>
          </p:cNvPr>
          <p:cNvSpPr>
            <a:spLocks noGrp="1"/>
          </p:cNvSpPr>
          <p:nvPr>
            <p:ph type="sldNum" sz="quarter" idx="4"/>
          </p:nvPr>
        </p:nvSpPr>
        <p:spPr>
          <a:xfrm>
            <a:off x="311150" y="6523001"/>
            <a:ext cx="294928" cy="196131"/>
          </a:xfrm>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10</a:t>
            </a:fld>
            <a:endParaRPr kumimoji="0" lang="ja-JP" altLang="en-US" sz="800" b="1" i="0" u="none" strike="noStrike" kern="1200" cap="none" spc="0" normalizeH="0" baseline="0" noProof="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endParaRPr>
          </a:p>
        </p:txBody>
      </p:sp>
    </p:spTree>
    <p:extLst>
      <p:ext uri="{BB962C8B-B14F-4D97-AF65-F5344CB8AC3E}">
        <p14:creationId xmlns:p14="http://schemas.microsoft.com/office/powerpoint/2010/main" val="3832929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A5C25-2019-63D1-3EB3-E6BCFFAA0F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EDB142-150A-D8C6-88DC-FAF72ABAD5FE}"/>
              </a:ext>
            </a:extLst>
          </p:cNvPr>
          <p:cNvSpPr>
            <a:spLocks noGrp="1"/>
          </p:cNvSpPr>
          <p:nvPr>
            <p:ph type="title"/>
          </p:nvPr>
        </p:nvSpPr>
        <p:spPr>
          <a:xfrm>
            <a:off x="615603" y="161605"/>
            <a:ext cx="9940253" cy="685801"/>
          </a:xfrm>
        </p:spPr>
        <p:txBody>
          <a:bodyPr>
            <a:noAutofit/>
          </a:bodyPr>
          <a:lstStyle/>
          <a:p>
            <a:r>
              <a:rPr lang="en-US" sz="2000">
                <a:latin typeface="+mj-lt"/>
              </a:rPr>
              <a:t>Recognizing the complexity of NT1 patient journeys, we developed and aligned on a referral grid to systematically capture care transitions</a:t>
            </a:r>
          </a:p>
        </p:txBody>
      </p:sp>
      <p:sp>
        <p:nvSpPr>
          <p:cNvPr id="5" name="Slide Number Placeholder 4">
            <a:extLst>
              <a:ext uri="{FF2B5EF4-FFF2-40B4-BE49-F238E27FC236}">
                <a16:creationId xmlns:a16="http://schemas.microsoft.com/office/drawing/2014/main" id="{3E49ECD0-1DA1-405C-CAD6-7664EEEC9810}"/>
              </a:ext>
            </a:extLst>
          </p:cNvPr>
          <p:cNvSpPr>
            <a:spLocks noGrp="1"/>
          </p:cNvSpPr>
          <p:nvPr>
            <p:ph type="sldNum" sz="quarter" idx="4"/>
          </p:nvPr>
        </p:nvSpPr>
        <p:spPr/>
        <p:txBody>
          <a:bodyPr/>
          <a:lstStyle/>
          <a:p>
            <a:pPr defTabSz="1218810"/>
            <a:fld id="{E9B57936-92EF-4126-AE48-1D9D36D15E98}" type="slidenum">
              <a:rPr lang="ja-JP" altLang="en-US" smtClean="0">
                <a:latin typeface="+mj-lt"/>
              </a:rPr>
              <a:pPr defTabSz="1218810"/>
              <a:t>11</a:t>
            </a:fld>
            <a:endParaRPr lang="ja-JP" altLang="en-US">
              <a:latin typeface="+mj-lt"/>
            </a:endParaRPr>
          </a:p>
        </p:txBody>
      </p:sp>
      <p:cxnSp>
        <p:nvCxnSpPr>
          <p:cNvPr id="8" name="Straight Arrow Connector 7">
            <a:extLst>
              <a:ext uri="{FF2B5EF4-FFF2-40B4-BE49-F238E27FC236}">
                <a16:creationId xmlns:a16="http://schemas.microsoft.com/office/drawing/2014/main" id="{73B479D7-75F7-E139-B042-95FBC589CD81}"/>
              </a:ext>
            </a:extLst>
          </p:cNvPr>
          <p:cNvCxnSpPr>
            <a:cxnSpLocks/>
          </p:cNvCxnSpPr>
          <p:nvPr/>
        </p:nvCxnSpPr>
        <p:spPr>
          <a:xfrm>
            <a:off x="3137836" y="1279024"/>
            <a:ext cx="208868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EC4772E-B146-BAF5-FFCE-6E90F1D7D399}"/>
              </a:ext>
            </a:extLst>
          </p:cNvPr>
          <p:cNvSpPr txBox="1"/>
          <p:nvPr/>
        </p:nvSpPr>
        <p:spPr>
          <a:xfrm>
            <a:off x="3060835" y="1050508"/>
            <a:ext cx="2088682" cy="261610"/>
          </a:xfrm>
          <a:prstGeom prst="rect">
            <a:avLst/>
          </a:prstGeom>
          <a:noFill/>
        </p:spPr>
        <p:txBody>
          <a:bodyPr wrap="square" rtlCol="0">
            <a:spAutoFit/>
          </a:bodyPr>
          <a:lstStyle/>
          <a:p>
            <a:r>
              <a:rPr lang="en-IN" sz="1100" b="1" i="1">
                <a:solidFill>
                  <a:schemeClr val="accent2"/>
                </a:solidFill>
              </a:rPr>
              <a:t>Different type of referral activity</a:t>
            </a:r>
          </a:p>
        </p:txBody>
      </p:sp>
      <p:graphicFrame>
        <p:nvGraphicFramePr>
          <p:cNvPr id="12" name="Table 11">
            <a:extLst>
              <a:ext uri="{FF2B5EF4-FFF2-40B4-BE49-F238E27FC236}">
                <a16:creationId xmlns:a16="http://schemas.microsoft.com/office/drawing/2014/main" id="{1C6ECB95-C978-3D40-7A8C-8C5B7AC352CD}"/>
              </a:ext>
            </a:extLst>
          </p:cNvPr>
          <p:cNvGraphicFramePr>
            <a:graphicFrameLocks noGrp="1"/>
          </p:cNvGraphicFramePr>
          <p:nvPr/>
        </p:nvGraphicFramePr>
        <p:xfrm>
          <a:off x="10210508" y="6147632"/>
          <a:ext cx="1670342" cy="571500"/>
        </p:xfrm>
        <a:graphic>
          <a:graphicData uri="http://schemas.openxmlformats.org/drawingml/2006/table">
            <a:tbl>
              <a:tblPr/>
              <a:tblGrid>
                <a:gridCol w="1670342">
                  <a:extLst>
                    <a:ext uri="{9D8B030D-6E8A-4147-A177-3AD203B41FA5}">
                      <a16:colId xmlns:a16="http://schemas.microsoft.com/office/drawing/2014/main" val="1939055554"/>
                    </a:ext>
                  </a:extLst>
                </a:gridCol>
              </a:tblGrid>
              <a:tr h="173562">
                <a:tc>
                  <a:txBody>
                    <a:bodyPr/>
                    <a:lstStyle/>
                    <a:p>
                      <a:pPr algn="l" fontAlgn="b">
                        <a:buNone/>
                      </a:pPr>
                      <a:r>
                        <a:rPr lang="en-IN" sz="1200" b="1" i="1" u="none" strike="noStrike">
                          <a:solidFill>
                            <a:srgbClr val="000000"/>
                          </a:solidFill>
                          <a:effectLst/>
                          <a:latin typeface="Aptos Narrow" panose="020B0004020202020204" pitchFamily="34" charset="0"/>
                        </a:rPr>
                        <a:t>Syntax</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8489843"/>
                  </a:ext>
                </a:extLst>
              </a:tr>
              <a:tr h="173562">
                <a:tc>
                  <a:txBody>
                    <a:bodyPr/>
                    <a:lstStyle/>
                    <a:p>
                      <a:pPr algn="l" fontAlgn="b">
                        <a:buNone/>
                      </a:pPr>
                      <a:r>
                        <a:rPr lang="en-IN" sz="1200" b="0" i="1" u="none" strike="noStrike">
                          <a:solidFill>
                            <a:srgbClr val="000000"/>
                          </a:solidFill>
                          <a:effectLst/>
                          <a:latin typeface="Aptos Narrow" panose="020B0004020202020204" pitchFamily="34" charset="0"/>
                        </a:rPr>
                        <a:t>Referral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AF2D0"/>
                    </a:solidFill>
                  </a:tcPr>
                </a:tc>
                <a:extLst>
                  <a:ext uri="{0D108BD9-81ED-4DB2-BD59-A6C34878D82A}">
                    <a16:rowId xmlns:a16="http://schemas.microsoft.com/office/drawing/2014/main" val="3024960325"/>
                  </a:ext>
                </a:extLst>
              </a:tr>
              <a:tr h="173562">
                <a:tc>
                  <a:txBody>
                    <a:bodyPr/>
                    <a:lstStyle/>
                    <a:p>
                      <a:pPr algn="l" fontAlgn="b">
                        <a:buNone/>
                      </a:pPr>
                      <a:r>
                        <a:rPr lang="en-IN" sz="1200" b="0" i="1" u="none" strike="noStrike">
                          <a:solidFill>
                            <a:srgbClr val="000000"/>
                          </a:solidFill>
                          <a:effectLst/>
                          <a:latin typeface="Aptos Narrow" panose="020B0004020202020204" pitchFamily="34" charset="0"/>
                        </a:rPr>
                        <a:t>Not a referral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382790318"/>
                  </a:ext>
                </a:extLst>
              </a:tr>
            </a:tbl>
          </a:graphicData>
        </a:graphic>
      </p:graphicFrame>
      <p:sp>
        <p:nvSpPr>
          <p:cNvPr id="13" name="TextBox 12">
            <a:extLst>
              <a:ext uri="{FF2B5EF4-FFF2-40B4-BE49-F238E27FC236}">
                <a16:creationId xmlns:a16="http://schemas.microsoft.com/office/drawing/2014/main" id="{7E21761B-556F-C6E1-3291-61120EC911DE}"/>
              </a:ext>
            </a:extLst>
          </p:cNvPr>
          <p:cNvSpPr txBox="1"/>
          <p:nvPr/>
        </p:nvSpPr>
        <p:spPr>
          <a:xfrm>
            <a:off x="600556" y="6405622"/>
            <a:ext cx="9615474" cy="430887"/>
          </a:xfrm>
          <a:prstGeom prst="rect">
            <a:avLst/>
          </a:prstGeom>
          <a:noFill/>
        </p:spPr>
        <p:txBody>
          <a:bodyPr wrap="square" rtlCol="0">
            <a:spAutoFit/>
          </a:bodyPr>
          <a:lstStyle/>
          <a:p>
            <a:r>
              <a:rPr lang="en-IN" sz="1100" b="1" i="1"/>
              <a:t>Aligned Specialty Tiering:</a:t>
            </a:r>
          </a:p>
          <a:p>
            <a:pPr marL="182563" indent="-182563">
              <a:buFont typeface="Arial" panose="020B0604020202020204" pitchFamily="34" charset="0"/>
              <a:buChar char="•"/>
            </a:pPr>
            <a:r>
              <a:rPr lang="en-IN" sz="1100" i="1"/>
              <a:t>Tier 1: Sleep Specialist; Tier 2: Neuro, Psych, </a:t>
            </a:r>
            <a:r>
              <a:rPr lang="en-IN" sz="1100" i="1" err="1"/>
              <a:t>Pulmo</a:t>
            </a:r>
            <a:r>
              <a:rPr lang="en-IN" sz="1100" i="1"/>
              <a:t>; Tier 3: Other Specialists;</a:t>
            </a:r>
            <a:r>
              <a:rPr lang="en-IN" sz="1100" i="1" baseline="30000"/>
              <a:t>;</a:t>
            </a:r>
            <a:r>
              <a:rPr lang="en-IN" sz="1100" i="1"/>
              <a:t>Tier 4: PCP, NP, PA; Tier 5: Other non-Specialists</a:t>
            </a:r>
          </a:p>
        </p:txBody>
      </p:sp>
      <p:graphicFrame>
        <p:nvGraphicFramePr>
          <p:cNvPr id="7" name="Table 6">
            <a:extLst>
              <a:ext uri="{FF2B5EF4-FFF2-40B4-BE49-F238E27FC236}">
                <a16:creationId xmlns:a16="http://schemas.microsoft.com/office/drawing/2014/main" id="{7A2BFF9F-54F4-BE94-3C90-03833E172A55}"/>
              </a:ext>
            </a:extLst>
          </p:cNvPr>
          <p:cNvGraphicFramePr>
            <a:graphicFrameLocks noGrp="1"/>
          </p:cNvGraphicFramePr>
          <p:nvPr/>
        </p:nvGraphicFramePr>
        <p:xfrm>
          <a:off x="311150" y="1324636"/>
          <a:ext cx="11449594" cy="2456788"/>
        </p:xfrm>
        <a:graphic>
          <a:graphicData uri="http://schemas.openxmlformats.org/drawingml/2006/table">
            <a:tbl>
              <a:tblPr/>
              <a:tblGrid>
                <a:gridCol w="1868132">
                  <a:extLst>
                    <a:ext uri="{9D8B030D-6E8A-4147-A177-3AD203B41FA5}">
                      <a16:colId xmlns:a16="http://schemas.microsoft.com/office/drawing/2014/main" val="4072869820"/>
                    </a:ext>
                  </a:extLst>
                </a:gridCol>
                <a:gridCol w="968400">
                  <a:extLst>
                    <a:ext uri="{9D8B030D-6E8A-4147-A177-3AD203B41FA5}">
                      <a16:colId xmlns:a16="http://schemas.microsoft.com/office/drawing/2014/main" val="3040175120"/>
                    </a:ext>
                  </a:extLst>
                </a:gridCol>
                <a:gridCol w="968400">
                  <a:extLst>
                    <a:ext uri="{9D8B030D-6E8A-4147-A177-3AD203B41FA5}">
                      <a16:colId xmlns:a16="http://schemas.microsoft.com/office/drawing/2014/main" val="2752290544"/>
                    </a:ext>
                  </a:extLst>
                </a:gridCol>
                <a:gridCol w="1184866">
                  <a:extLst>
                    <a:ext uri="{9D8B030D-6E8A-4147-A177-3AD203B41FA5}">
                      <a16:colId xmlns:a16="http://schemas.microsoft.com/office/drawing/2014/main" val="4103443008"/>
                    </a:ext>
                  </a:extLst>
                </a:gridCol>
                <a:gridCol w="1184866">
                  <a:extLst>
                    <a:ext uri="{9D8B030D-6E8A-4147-A177-3AD203B41FA5}">
                      <a16:colId xmlns:a16="http://schemas.microsoft.com/office/drawing/2014/main" val="3752067470"/>
                    </a:ext>
                  </a:extLst>
                </a:gridCol>
                <a:gridCol w="968400">
                  <a:extLst>
                    <a:ext uri="{9D8B030D-6E8A-4147-A177-3AD203B41FA5}">
                      <a16:colId xmlns:a16="http://schemas.microsoft.com/office/drawing/2014/main" val="3220852613"/>
                    </a:ext>
                  </a:extLst>
                </a:gridCol>
                <a:gridCol w="1105114">
                  <a:extLst>
                    <a:ext uri="{9D8B030D-6E8A-4147-A177-3AD203B41FA5}">
                      <a16:colId xmlns:a16="http://schemas.microsoft.com/office/drawing/2014/main" val="3657894261"/>
                    </a:ext>
                  </a:extLst>
                </a:gridCol>
                <a:gridCol w="1105114">
                  <a:extLst>
                    <a:ext uri="{9D8B030D-6E8A-4147-A177-3AD203B41FA5}">
                      <a16:colId xmlns:a16="http://schemas.microsoft.com/office/drawing/2014/main" val="1659807680"/>
                    </a:ext>
                  </a:extLst>
                </a:gridCol>
                <a:gridCol w="1048151">
                  <a:extLst>
                    <a:ext uri="{9D8B030D-6E8A-4147-A177-3AD203B41FA5}">
                      <a16:colId xmlns:a16="http://schemas.microsoft.com/office/drawing/2014/main" val="4089405724"/>
                    </a:ext>
                  </a:extLst>
                </a:gridCol>
                <a:gridCol w="1048151">
                  <a:extLst>
                    <a:ext uri="{9D8B030D-6E8A-4147-A177-3AD203B41FA5}">
                      <a16:colId xmlns:a16="http://schemas.microsoft.com/office/drawing/2014/main" val="3442791242"/>
                    </a:ext>
                  </a:extLst>
                </a:gridCol>
              </a:tblGrid>
              <a:tr h="563276">
                <a:tc>
                  <a:txBody>
                    <a:bodyPr/>
                    <a:lstStyle/>
                    <a:p>
                      <a:pPr algn="ctr" fontAlgn="ctr">
                        <a:buNone/>
                      </a:pPr>
                      <a:r>
                        <a:rPr lang="en-IN" sz="1100" b="1" i="1" u="none" strike="noStrike">
                          <a:solidFill>
                            <a:srgbClr val="FFFFFF"/>
                          </a:solidFill>
                          <a:effectLst/>
                          <a:latin typeface="+mn-lt"/>
                        </a:rPr>
                        <a:t>Specialty Change Scenario</a:t>
                      </a: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000000"/>
                    </a:solidFill>
                  </a:tcPr>
                </a:tc>
                <a:tc>
                  <a:txBody>
                    <a:bodyPr/>
                    <a:lstStyle/>
                    <a:p>
                      <a:pPr algn="ctr" fontAlgn="ctr">
                        <a:buNone/>
                      </a:pPr>
                      <a:r>
                        <a:rPr lang="en-IN" sz="1100" b="1" i="1" u="none" strike="noStrike">
                          <a:solidFill>
                            <a:srgbClr val="FFFFFF"/>
                          </a:solidFill>
                          <a:effectLst/>
                          <a:latin typeface="+mn-lt"/>
                        </a:rPr>
                        <a:t>Same Misdiagnosis</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Separate Misdiagnosis</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First Test</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Repeated Test</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First NT Diagnosis</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Repeated NT Diagnosis</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US" sz="1100" b="1" i="1" u="none" strike="noStrike">
                          <a:solidFill>
                            <a:srgbClr val="FFFFFF"/>
                          </a:solidFill>
                          <a:effectLst/>
                          <a:latin typeface="+mn-lt"/>
                        </a:rPr>
                        <a:t>Treatment Initiation</a:t>
                      </a:r>
                      <a:r>
                        <a:rPr lang="en-US" sz="1100" b="0" i="1" u="none" strike="noStrike">
                          <a:solidFill>
                            <a:srgbClr val="FFFFFF"/>
                          </a:solidFill>
                          <a:effectLst/>
                          <a:latin typeface="+mn-lt"/>
                        </a:rPr>
                        <a:t> (any 1st Relevant Drug)</a:t>
                      </a:r>
                      <a:endParaRPr lang="en-US" sz="1100" b="1" i="1" u="none" strike="noStrike">
                        <a:solidFill>
                          <a:srgbClr val="FFFFFF"/>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Same treatment</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tc>
                  <a:txBody>
                    <a:bodyPr/>
                    <a:lstStyle/>
                    <a:p>
                      <a:pPr algn="ctr" fontAlgn="ctr">
                        <a:buNone/>
                      </a:pPr>
                      <a:r>
                        <a:rPr lang="en-IN" sz="1100" b="1" i="1" u="none" strike="noStrike">
                          <a:solidFill>
                            <a:srgbClr val="FFFFFF"/>
                          </a:solidFill>
                          <a:effectLst/>
                          <a:latin typeface="+mn-lt"/>
                        </a:rPr>
                        <a:t>Treatment Change</a:t>
                      </a: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00000"/>
                    </a:solidFill>
                  </a:tcPr>
                </a:tc>
                <a:extLst>
                  <a:ext uri="{0D108BD9-81ED-4DB2-BD59-A6C34878D82A}">
                    <a16:rowId xmlns:a16="http://schemas.microsoft.com/office/drawing/2014/main" val="3578248230"/>
                  </a:ext>
                </a:extLst>
              </a:tr>
              <a:tr h="473378">
                <a:tc>
                  <a:txBody>
                    <a:bodyPr/>
                    <a:lstStyle/>
                    <a:p>
                      <a:pPr marL="144000" algn="l" fontAlgn="b">
                        <a:buNone/>
                      </a:pPr>
                      <a:r>
                        <a:rPr lang="en-IN" sz="1100" b="1" i="1" u="none" strike="noStrike">
                          <a:solidFill>
                            <a:srgbClr val="000000"/>
                          </a:solidFill>
                          <a:effectLst/>
                          <a:latin typeface="+mn-lt"/>
                        </a:rPr>
                        <a:t>Tier Upgrade </a:t>
                      </a:r>
                    </a:p>
                    <a:p>
                      <a:pPr marL="144000" algn="l" fontAlgn="b">
                        <a:buNone/>
                      </a:pPr>
                      <a:r>
                        <a:rPr lang="en-IN" sz="800" b="0" i="1" u="none" strike="noStrike">
                          <a:solidFill>
                            <a:srgbClr val="000000"/>
                          </a:solidFill>
                          <a:effectLst/>
                          <a:latin typeface="+mn-lt"/>
                        </a:rPr>
                        <a:t>Example: Tier 2 </a:t>
                      </a:r>
                      <a:r>
                        <a:rPr lang="en-IN" sz="800" b="0" i="1" u="none" strike="noStrike">
                          <a:solidFill>
                            <a:srgbClr val="000000"/>
                          </a:solidFill>
                          <a:effectLst/>
                          <a:latin typeface="+mn-lt"/>
                          <a:sym typeface="Wingdings" panose="05000000000000000000" pitchFamily="2" charset="2"/>
                        </a:rPr>
                        <a:t> Tier 1</a:t>
                      </a:r>
                      <a:endParaRPr lang="en-IN" sz="800" b="0" i="1" u="none" strike="noStrike">
                        <a:solidFill>
                          <a:srgbClr val="000000"/>
                        </a:solidFill>
                        <a:effectLst/>
                        <a:latin typeface="+mn-lt"/>
                      </a:endParaRP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AEDFB"/>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marL="0" marR="0" lvl="0" indent="0" algn="ctr" defTabSz="914150" rtl="0" eaLnBrk="1" fontAlgn="b" latinLnBrk="0" hangingPunct="1">
                        <a:lnSpc>
                          <a:spcPct val="100000"/>
                        </a:lnSpc>
                        <a:spcBef>
                          <a:spcPts val="0"/>
                        </a:spcBef>
                        <a:spcAft>
                          <a:spcPts val="0"/>
                        </a:spcAft>
                        <a:buClrTx/>
                        <a:buSzTx/>
                        <a:buFontTx/>
                        <a:buNone/>
                        <a:tabLst/>
                        <a:defRPr/>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extLst>
                  <a:ext uri="{0D108BD9-81ED-4DB2-BD59-A6C34878D82A}">
                    <a16:rowId xmlns:a16="http://schemas.microsoft.com/office/drawing/2014/main" val="1687418675"/>
                  </a:ext>
                </a:extLst>
              </a:tr>
              <a:tr h="473378">
                <a:tc>
                  <a:txBody>
                    <a:bodyPr/>
                    <a:lstStyle/>
                    <a:p>
                      <a:pPr marL="144000" algn="l" fontAlgn="b">
                        <a:buNone/>
                      </a:pPr>
                      <a:r>
                        <a:rPr lang="en-IN" sz="1100" b="1" i="1" u="none" strike="noStrike">
                          <a:solidFill>
                            <a:srgbClr val="000000"/>
                          </a:solidFill>
                          <a:effectLst/>
                          <a:latin typeface="+mn-lt"/>
                        </a:rPr>
                        <a:t>Tier Downgrade</a:t>
                      </a:r>
                    </a:p>
                    <a:p>
                      <a:pPr marL="144000" marR="0" lvl="0" indent="0" algn="l" defTabSz="914150" rtl="0" eaLnBrk="1" fontAlgn="b" latinLnBrk="0" hangingPunct="1">
                        <a:lnSpc>
                          <a:spcPct val="100000"/>
                        </a:lnSpc>
                        <a:spcBef>
                          <a:spcPts val="0"/>
                        </a:spcBef>
                        <a:spcAft>
                          <a:spcPts val="0"/>
                        </a:spcAft>
                        <a:buClrTx/>
                        <a:buSzTx/>
                        <a:buFontTx/>
                        <a:buNone/>
                        <a:tabLst/>
                        <a:defRPr/>
                      </a:pPr>
                      <a:r>
                        <a:rPr lang="en-IN" sz="800" b="0" i="1" u="none" strike="noStrike">
                          <a:solidFill>
                            <a:srgbClr val="000000"/>
                          </a:solidFill>
                          <a:effectLst/>
                          <a:latin typeface="+mn-lt"/>
                        </a:rPr>
                        <a:t>Example: Tier 1 </a:t>
                      </a:r>
                      <a:r>
                        <a:rPr lang="en-IN" sz="800" b="0" i="1" u="none" strike="noStrike">
                          <a:solidFill>
                            <a:srgbClr val="000000"/>
                          </a:solidFill>
                          <a:effectLst/>
                          <a:latin typeface="+mn-lt"/>
                          <a:sym typeface="Wingdings" panose="05000000000000000000" pitchFamily="2" charset="2"/>
                        </a:rPr>
                        <a:t> Tier 2</a:t>
                      </a:r>
                      <a:endParaRPr lang="en-IN" sz="800" b="0" i="1" u="none" strike="noStrike">
                        <a:solidFill>
                          <a:srgbClr val="000000"/>
                        </a:solidFill>
                        <a:effectLst/>
                        <a:latin typeface="+mn-lt"/>
                      </a:endParaRP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AEDFB"/>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marL="0" marR="0" lvl="0" indent="0" algn="ctr" defTabSz="914150" rtl="0" eaLnBrk="1" fontAlgn="b" latinLnBrk="0" hangingPunct="1">
                        <a:lnSpc>
                          <a:spcPct val="100000"/>
                        </a:lnSpc>
                        <a:spcBef>
                          <a:spcPts val="0"/>
                        </a:spcBef>
                        <a:spcAft>
                          <a:spcPts val="0"/>
                        </a:spcAft>
                        <a:buClrTx/>
                        <a:buSzTx/>
                        <a:buFontTx/>
                        <a:buNone/>
                        <a:tabLst/>
                        <a:defRPr/>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extLst>
                  <a:ext uri="{0D108BD9-81ED-4DB2-BD59-A6C34878D82A}">
                    <a16:rowId xmlns:a16="http://schemas.microsoft.com/office/drawing/2014/main" val="3896846876"/>
                  </a:ext>
                </a:extLst>
              </a:tr>
              <a:tr h="473378">
                <a:tc>
                  <a:txBody>
                    <a:bodyPr/>
                    <a:lstStyle/>
                    <a:p>
                      <a:pPr marL="144000" algn="l" fontAlgn="b">
                        <a:buNone/>
                      </a:pPr>
                      <a:r>
                        <a:rPr lang="en-IN" sz="1100" b="1" i="1" u="none" strike="noStrike">
                          <a:solidFill>
                            <a:srgbClr val="000000"/>
                          </a:solidFill>
                          <a:effectLst/>
                          <a:latin typeface="+mn-lt"/>
                        </a:rPr>
                        <a:t>Same Tier Same Spec</a:t>
                      </a:r>
                    </a:p>
                    <a:p>
                      <a:pPr marL="144000" algn="l" fontAlgn="b">
                        <a:buNone/>
                      </a:pPr>
                      <a:r>
                        <a:rPr lang="en-IN" sz="800" b="0" i="1" u="none" strike="noStrike">
                          <a:solidFill>
                            <a:srgbClr val="000000"/>
                          </a:solidFill>
                          <a:effectLst/>
                          <a:latin typeface="+mn-lt"/>
                        </a:rPr>
                        <a:t>Example: Tier 2 Neuro </a:t>
                      </a:r>
                      <a:r>
                        <a:rPr lang="en-IN" sz="800" b="0" i="1" u="none" strike="noStrike">
                          <a:solidFill>
                            <a:srgbClr val="000000"/>
                          </a:solidFill>
                          <a:effectLst/>
                          <a:latin typeface="+mn-lt"/>
                          <a:sym typeface="Wingdings" panose="05000000000000000000" pitchFamily="2" charset="2"/>
                        </a:rPr>
                        <a:t> Tier 2 Neuro</a:t>
                      </a:r>
                      <a:endParaRPr lang="en-IN" sz="800" b="0" i="1" u="none" strike="noStrike">
                        <a:solidFill>
                          <a:srgbClr val="000000"/>
                        </a:solidFill>
                        <a:effectLst/>
                        <a:latin typeface="+mn-lt"/>
                      </a:endParaRP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CAEDFB"/>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marL="0" marR="0" lvl="0" indent="0" algn="ctr" defTabSz="914150" rtl="0" eaLnBrk="1" fontAlgn="b" latinLnBrk="0" hangingPunct="1">
                        <a:lnSpc>
                          <a:spcPct val="100000"/>
                        </a:lnSpc>
                        <a:spcBef>
                          <a:spcPts val="0"/>
                        </a:spcBef>
                        <a:spcAft>
                          <a:spcPts val="0"/>
                        </a:spcAft>
                        <a:buClrTx/>
                        <a:buSzTx/>
                        <a:buFontTx/>
                        <a:buNone/>
                        <a:tabLst/>
                        <a:defRPr/>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6350" cap="flat" cmpd="sng" algn="ctr">
                      <a:solidFill>
                        <a:schemeClr val="tx1">
                          <a:lumMod val="40000"/>
                          <a:lumOff val="60000"/>
                        </a:schemeClr>
                      </a:solidFill>
                      <a:prstDash val="sysDash"/>
                      <a:round/>
                      <a:headEnd type="none" w="med" len="med"/>
                      <a:tailEnd type="none" w="med" len="med"/>
                    </a:lnB>
                    <a:solidFill>
                      <a:srgbClr val="DAF2D0"/>
                    </a:solidFill>
                  </a:tcPr>
                </a:tc>
                <a:extLst>
                  <a:ext uri="{0D108BD9-81ED-4DB2-BD59-A6C34878D82A}">
                    <a16:rowId xmlns:a16="http://schemas.microsoft.com/office/drawing/2014/main" val="2842651315"/>
                  </a:ext>
                </a:extLst>
              </a:tr>
              <a:tr h="473378">
                <a:tc>
                  <a:txBody>
                    <a:bodyPr/>
                    <a:lstStyle/>
                    <a:p>
                      <a:pPr marL="144000" algn="l" fontAlgn="b">
                        <a:buNone/>
                      </a:pPr>
                      <a:r>
                        <a:rPr lang="en-IN" sz="1100" b="1" i="1" u="none" strike="noStrike">
                          <a:solidFill>
                            <a:srgbClr val="000000"/>
                          </a:solidFill>
                          <a:effectLst/>
                          <a:latin typeface="+mn-lt"/>
                        </a:rPr>
                        <a:t>Same Tier Different Spec</a:t>
                      </a:r>
                    </a:p>
                    <a:p>
                      <a:pPr marL="144000" algn="l" fontAlgn="b">
                        <a:buNone/>
                      </a:pPr>
                      <a:r>
                        <a:rPr lang="en-IN" sz="800" b="0" i="1" u="none" strike="noStrike">
                          <a:solidFill>
                            <a:srgbClr val="000000"/>
                          </a:solidFill>
                          <a:effectLst/>
                          <a:latin typeface="+mn-lt"/>
                        </a:rPr>
                        <a:t>Example: Tier 2 Neuro </a:t>
                      </a:r>
                      <a:r>
                        <a:rPr lang="en-IN" sz="800" b="0" i="1" u="none" strike="noStrike">
                          <a:solidFill>
                            <a:srgbClr val="000000"/>
                          </a:solidFill>
                          <a:effectLst/>
                          <a:latin typeface="+mn-lt"/>
                          <a:sym typeface="Wingdings" panose="05000000000000000000" pitchFamily="2" charset="2"/>
                        </a:rPr>
                        <a:t> Tier 2 Psych</a:t>
                      </a:r>
                      <a:endParaRPr lang="en-IN" sz="800" b="0" i="1" u="none" strike="noStrike">
                        <a:solidFill>
                          <a:srgbClr val="000000"/>
                        </a:solidFill>
                        <a:effectLst/>
                        <a:latin typeface="+mn-lt"/>
                      </a:endParaRPr>
                    </a:p>
                  </a:txBody>
                  <a:tcPr marL="6452" marR="6452" marT="6452" marB="0" anchor="ctr">
                    <a:lnL w="9525" cap="flat" cmpd="sng" algn="ctr">
                      <a:solidFill>
                        <a:schemeClr val="tx2"/>
                      </a:solidFill>
                      <a:prstDash val="solid"/>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CAEDFB"/>
                    </a:solidFill>
                  </a:tcPr>
                </a:tc>
                <a:tc>
                  <a:txBody>
                    <a:bodyPr/>
                    <a:lstStyle/>
                    <a:p>
                      <a:pPr algn="ctr" fontAlgn="b">
                        <a:buNone/>
                      </a:pPr>
                      <a:endParaRPr lang="en-IN" sz="1100" b="0" i="1"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marL="0" marR="0" lvl="0" indent="0" algn="ctr" defTabSz="914150" rtl="0" eaLnBrk="1" fontAlgn="b" latinLnBrk="0" hangingPunct="1">
                        <a:lnSpc>
                          <a:spcPct val="100000"/>
                        </a:lnSpc>
                        <a:spcBef>
                          <a:spcPts val="0"/>
                        </a:spcBef>
                        <a:spcAft>
                          <a:spcPts val="0"/>
                        </a:spcAft>
                        <a:buClrTx/>
                        <a:buSzTx/>
                        <a:buFontTx/>
                        <a:buNone/>
                        <a:tabLst/>
                        <a:defRPr/>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FBE2D5"/>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6350" cap="flat" cmpd="sng" algn="ctr">
                      <a:solidFill>
                        <a:schemeClr val="tx1">
                          <a:lumMod val="40000"/>
                          <a:lumOff val="60000"/>
                        </a:schemeClr>
                      </a:solidFill>
                      <a:prstDash val="sysDash"/>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tc>
                  <a:txBody>
                    <a:bodyPr/>
                    <a:lstStyle/>
                    <a:p>
                      <a:pPr algn="ctr" fontAlgn="b">
                        <a:buNone/>
                      </a:pPr>
                      <a:endParaRPr lang="en-IN" sz="1100" b="0" i="0" u="none" strike="noStrike">
                        <a:solidFill>
                          <a:srgbClr val="000000"/>
                        </a:solidFill>
                        <a:effectLst/>
                        <a:latin typeface="+mn-lt"/>
                      </a:endParaRPr>
                    </a:p>
                  </a:txBody>
                  <a:tcPr marL="6452" marR="6452" marT="6452" marB="0" anchor="ctr">
                    <a:lnL w="6350" cap="flat" cmpd="sng" algn="ctr">
                      <a:solidFill>
                        <a:schemeClr val="tx1">
                          <a:lumMod val="40000"/>
                          <a:lumOff val="60000"/>
                        </a:schemeClr>
                      </a:solidFill>
                      <a:prstDash val="sysDash"/>
                      <a:round/>
                      <a:headEnd type="none" w="med" len="med"/>
                      <a:tailEnd type="none" w="med" len="med"/>
                    </a:lnL>
                    <a:lnR w="9525" cap="flat" cmpd="sng" algn="ctr">
                      <a:solidFill>
                        <a:schemeClr val="tx2"/>
                      </a:solidFill>
                      <a:prstDash val="solid"/>
                      <a:round/>
                      <a:headEnd type="none" w="med" len="med"/>
                      <a:tailEnd type="none" w="med" len="med"/>
                    </a:lnR>
                    <a:lnT w="6350" cap="flat" cmpd="sng" algn="ctr">
                      <a:solidFill>
                        <a:schemeClr val="tx1">
                          <a:lumMod val="40000"/>
                          <a:lumOff val="60000"/>
                        </a:schemeClr>
                      </a:solidFill>
                      <a:prstDash val="sysDash"/>
                      <a:round/>
                      <a:headEnd type="none" w="med" len="med"/>
                      <a:tailEnd type="none" w="med" len="med"/>
                    </a:lnT>
                    <a:lnB w="9525" cap="flat" cmpd="sng" algn="ctr">
                      <a:solidFill>
                        <a:schemeClr val="tx2"/>
                      </a:solidFill>
                      <a:prstDash val="solid"/>
                      <a:round/>
                      <a:headEnd type="none" w="med" len="med"/>
                      <a:tailEnd type="none" w="med" len="med"/>
                    </a:lnB>
                    <a:solidFill>
                      <a:srgbClr val="DAF2D0"/>
                    </a:solidFill>
                  </a:tcPr>
                </a:tc>
                <a:extLst>
                  <a:ext uri="{0D108BD9-81ED-4DB2-BD59-A6C34878D82A}">
                    <a16:rowId xmlns:a16="http://schemas.microsoft.com/office/drawing/2014/main" val="3167275796"/>
                  </a:ext>
                </a:extLst>
              </a:tr>
            </a:tbl>
          </a:graphicData>
        </a:graphic>
      </p:graphicFrame>
      <p:sp>
        <p:nvSpPr>
          <p:cNvPr id="6" name="TextBox 5">
            <a:extLst>
              <a:ext uri="{FF2B5EF4-FFF2-40B4-BE49-F238E27FC236}">
                <a16:creationId xmlns:a16="http://schemas.microsoft.com/office/drawing/2014/main" id="{0B39F12C-E04B-F6B3-6C0A-823E1CB632FF}"/>
              </a:ext>
            </a:extLst>
          </p:cNvPr>
          <p:cNvSpPr txBox="1"/>
          <p:nvPr/>
        </p:nvSpPr>
        <p:spPr>
          <a:xfrm>
            <a:off x="311150" y="4053695"/>
            <a:ext cx="10062560" cy="1585049"/>
          </a:xfrm>
          <a:prstGeom prst="rect">
            <a:avLst/>
          </a:prstGeom>
          <a:noFill/>
        </p:spPr>
        <p:txBody>
          <a:bodyPr wrap="square">
            <a:spAutoFit/>
          </a:bodyPr>
          <a:lstStyle/>
          <a:p>
            <a:pPr>
              <a:spcBef>
                <a:spcPts val="600"/>
              </a:spcBef>
            </a:pPr>
            <a:r>
              <a:rPr lang="en-US" sz="1400" b="1"/>
              <a:t>Business Rationale: Referrals represent true transfer of care or escalation</a:t>
            </a:r>
            <a:r>
              <a:rPr lang="en-US" sz="1400"/>
              <a:t>, not routine follow‑up or shared management </a:t>
            </a:r>
            <a:br>
              <a:rPr lang="en-US" sz="1400"/>
            </a:br>
            <a:r>
              <a:rPr lang="en-US" sz="900" i="1"/>
              <a:t>(Logic is applied</a:t>
            </a:r>
            <a:r>
              <a:rPr lang="en-US" sz="900" b="1" i="1"/>
              <a:t> </a:t>
            </a:r>
            <a:r>
              <a:rPr lang="en-US" sz="900" i="1"/>
              <a:t>conservatively</a:t>
            </a:r>
            <a:r>
              <a:rPr lang="en-US" sz="900" b="1" i="1"/>
              <a:t> </a:t>
            </a:r>
            <a:r>
              <a:rPr lang="en-US" sz="900" i="1"/>
              <a:t>to ensure the referral network reflects real‑world patient hand‑offs and physician decision‑making, not claims noise)</a:t>
            </a:r>
          </a:p>
          <a:p>
            <a:pPr marL="628650" lvl="1" indent="-171450">
              <a:spcBef>
                <a:spcPts val="600"/>
              </a:spcBef>
              <a:buFont typeface="Arial" panose="020B0604020202020204" pitchFamily="34" charset="0"/>
              <a:buChar char="•"/>
            </a:pPr>
            <a:r>
              <a:rPr lang="en-US" sz="1400" b="1"/>
              <a:t>Specialty tier upgrades </a:t>
            </a:r>
            <a:r>
              <a:rPr lang="en-US" sz="1400"/>
              <a:t>(e.g., PCP → Neuro/Sleep) are classified as referrals as they reflect escalation in clinical responsibility</a:t>
            </a:r>
          </a:p>
          <a:p>
            <a:pPr marL="628650" lvl="1" indent="-171450">
              <a:spcBef>
                <a:spcPts val="600"/>
              </a:spcBef>
              <a:buFont typeface="Arial" panose="020B0604020202020204" pitchFamily="34" charset="0"/>
              <a:buChar char="•"/>
            </a:pPr>
            <a:r>
              <a:rPr lang="en-US" sz="1400" b="1"/>
              <a:t>Introduction of new clinical value</a:t>
            </a:r>
            <a:r>
              <a:rPr lang="en-US" sz="1400"/>
              <a:t>—first NT diagnosis, treatment initiation or change, or first diagnostic test—is treated as a referral, even within the same specialty tier</a:t>
            </a:r>
          </a:p>
          <a:p>
            <a:pPr marL="628650" lvl="1" indent="-171450">
              <a:spcBef>
                <a:spcPts val="600"/>
              </a:spcBef>
              <a:buFont typeface="Arial" panose="020B0604020202020204" pitchFamily="34" charset="0"/>
              <a:buChar char="•"/>
            </a:pPr>
            <a:r>
              <a:rPr lang="en-US" sz="1400" b="1"/>
              <a:t>Repeated or ongoing activities </a:t>
            </a:r>
            <a:r>
              <a:rPr lang="en-US" sz="1400"/>
              <a:t>(same diagnosis, same test, same treatment) are excluded to avoid inflating referral volumes</a:t>
            </a:r>
          </a:p>
        </p:txBody>
      </p:sp>
    </p:spTree>
    <p:extLst>
      <p:ext uri="{BB962C8B-B14F-4D97-AF65-F5344CB8AC3E}">
        <p14:creationId xmlns:p14="http://schemas.microsoft.com/office/powerpoint/2010/main" val="462443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E1A4-D905-BAC3-7710-BFC6C518CD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3C09DA1-DF10-8A49-1C17-6FAEF579E7F5}"/>
              </a:ext>
            </a:extLst>
          </p:cNvPr>
          <p:cNvSpPr>
            <a:spLocks noGrp="1"/>
          </p:cNvSpPr>
          <p:nvPr>
            <p:ph type="ctrTitle"/>
          </p:nvPr>
        </p:nvSpPr>
        <p:spPr/>
        <p:txBody>
          <a:bodyPr/>
          <a:lstStyle/>
          <a:p>
            <a:r>
              <a:rPr lang="en-US" dirty="0"/>
              <a:t>Diagnosis Journey</a:t>
            </a:r>
          </a:p>
        </p:txBody>
      </p:sp>
      <p:sp>
        <p:nvSpPr>
          <p:cNvPr id="4" name="Slide Number Placeholder 3">
            <a:extLst>
              <a:ext uri="{FF2B5EF4-FFF2-40B4-BE49-F238E27FC236}">
                <a16:creationId xmlns:a16="http://schemas.microsoft.com/office/drawing/2014/main" id="{26D982BE-2A08-0161-7A4A-D2F7B2E7A266}"/>
              </a:ext>
            </a:extLst>
          </p:cNvPr>
          <p:cNvSpPr>
            <a:spLocks noGrp="1"/>
          </p:cNvSpPr>
          <p:nvPr>
            <p:ph type="sldNum" sz="quarter" idx="4294967295"/>
          </p:nvPr>
        </p:nvSpPr>
        <p:spPr>
          <a:xfrm>
            <a:off x="0" y="6489700"/>
            <a:ext cx="295275" cy="230188"/>
          </a:xfrm>
        </p:spPr>
        <p:txBody>
          <a:bodyPr/>
          <a:lstStyle/>
          <a:p>
            <a:fld id="{4B88BF55-9D8F-47B8-9CAA-91D4F95E55A3}" type="slidenum">
              <a:rPr lang="en-US" smtClean="0"/>
              <a:t>12</a:t>
            </a:fld>
            <a:endParaRPr lang="en-US"/>
          </a:p>
        </p:txBody>
      </p:sp>
    </p:spTree>
    <p:extLst>
      <p:ext uri="{BB962C8B-B14F-4D97-AF65-F5344CB8AC3E}">
        <p14:creationId xmlns:p14="http://schemas.microsoft.com/office/powerpoint/2010/main" val="2568443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3916B-3940-0A5C-B437-6133E2D6E640}"/>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167E468-6FBA-24D3-EF39-E87660CEA75E}"/>
              </a:ext>
            </a:extLst>
          </p:cNvPr>
          <p:cNvGrpSpPr/>
          <p:nvPr/>
        </p:nvGrpSpPr>
        <p:grpSpPr>
          <a:xfrm rot="10800000">
            <a:off x="6815246" y="2035371"/>
            <a:ext cx="1636325" cy="1238544"/>
            <a:chOff x="3750553" y="2147794"/>
            <a:chExt cx="1636325" cy="1392185"/>
          </a:xfrm>
        </p:grpSpPr>
        <p:sp>
          <p:nvSpPr>
            <p:cNvPr id="24" name="Wave 23">
              <a:extLst>
                <a:ext uri="{FF2B5EF4-FFF2-40B4-BE49-F238E27FC236}">
                  <a16:creationId xmlns:a16="http://schemas.microsoft.com/office/drawing/2014/main" id="{86CA0D00-64E7-E4B4-F28F-AFE34F23D6F1}"/>
                </a:ext>
              </a:extLst>
            </p:cNvPr>
            <p:cNvSpPr/>
            <p:nvPr/>
          </p:nvSpPr>
          <p:spPr>
            <a:xfrm flipH="1">
              <a:off x="3993053" y="214779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26" name="Wave 25">
              <a:extLst>
                <a:ext uri="{FF2B5EF4-FFF2-40B4-BE49-F238E27FC236}">
                  <a16:creationId xmlns:a16="http://schemas.microsoft.com/office/drawing/2014/main" id="{14BADE10-C40F-5D32-B7E5-434AA9FA25C4}"/>
                </a:ext>
              </a:extLst>
            </p:cNvPr>
            <p:cNvSpPr/>
            <p:nvPr/>
          </p:nvSpPr>
          <p:spPr>
            <a:xfrm rot="20593520" flipH="1">
              <a:off x="3750553" y="2680749"/>
              <a:ext cx="1410304" cy="859230"/>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38" name="Rectangle 37">
            <a:extLst>
              <a:ext uri="{FF2B5EF4-FFF2-40B4-BE49-F238E27FC236}">
                <a16:creationId xmlns:a16="http://schemas.microsoft.com/office/drawing/2014/main" id="{F9207111-D44B-498B-99D6-EED35C091E01}"/>
              </a:ext>
            </a:extLst>
          </p:cNvPr>
          <p:cNvSpPr/>
          <p:nvPr/>
        </p:nvSpPr>
        <p:spPr>
          <a:xfrm>
            <a:off x="683712" y="1309157"/>
            <a:ext cx="10823242" cy="315585"/>
          </a:xfrm>
          <a:prstGeom prst="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sz="1400" b="1">
                <a:solidFill>
                  <a:schemeClr val="bg1"/>
                </a:solidFill>
              </a:rPr>
              <a:t>Specialty Distribution at NT Diagnosis </a:t>
            </a:r>
          </a:p>
        </p:txBody>
      </p:sp>
      <p:sp>
        <p:nvSpPr>
          <p:cNvPr id="55" name="Wave 54">
            <a:extLst>
              <a:ext uri="{FF2B5EF4-FFF2-40B4-BE49-F238E27FC236}">
                <a16:creationId xmlns:a16="http://schemas.microsoft.com/office/drawing/2014/main" id="{1DA9E612-D174-BB98-D697-077D0F731FE8}"/>
              </a:ext>
            </a:extLst>
          </p:cNvPr>
          <p:cNvSpPr/>
          <p:nvPr/>
        </p:nvSpPr>
        <p:spPr>
          <a:xfrm rot="21077994">
            <a:off x="6795851" y="5056969"/>
            <a:ext cx="1421959"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4" name="Title 3">
            <a:extLst>
              <a:ext uri="{FF2B5EF4-FFF2-40B4-BE49-F238E27FC236}">
                <a16:creationId xmlns:a16="http://schemas.microsoft.com/office/drawing/2014/main" id="{8F847756-8611-4DF5-E7A4-5475F71A47BC}"/>
              </a:ext>
            </a:extLst>
          </p:cNvPr>
          <p:cNvSpPr>
            <a:spLocks noGrp="1"/>
          </p:cNvSpPr>
          <p:nvPr>
            <p:ph type="title"/>
          </p:nvPr>
        </p:nvSpPr>
        <p:spPr>
          <a:xfrm>
            <a:off x="606078" y="161605"/>
            <a:ext cx="10145341" cy="685801"/>
          </a:xfrm>
        </p:spPr>
        <p:txBody>
          <a:bodyPr>
            <a:noAutofit/>
          </a:bodyPr>
          <a:lstStyle/>
          <a:p>
            <a:r>
              <a:rPr lang="en-US" sz="2000"/>
              <a:t>NT1 diagnosis is anchored in PCP-led pathways, while post-diagnosis care disperses across specialist networks driven by referrals</a:t>
            </a:r>
            <a:endParaRPr lang="en-IN" sz="2000"/>
          </a:p>
        </p:txBody>
      </p:sp>
      <p:graphicFrame>
        <p:nvGraphicFramePr>
          <p:cNvPr id="69" name="Chart 68">
            <a:extLst>
              <a:ext uri="{FF2B5EF4-FFF2-40B4-BE49-F238E27FC236}">
                <a16:creationId xmlns:a16="http://schemas.microsoft.com/office/drawing/2014/main" id="{3C3D0595-645F-15DD-BB63-49F7288EE232}"/>
              </a:ext>
            </a:extLst>
          </p:cNvPr>
          <p:cNvGraphicFramePr/>
          <p:nvPr/>
        </p:nvGraphicFramePr>
        <p:xfrm>
          <a:off x="5210577" y="1636575"/>
          <a:ext cx="1760227" cy="5089524"/>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Box 29">
            <a:extLst>
              <a:ext uri="{FF2B5EF4-FFF2-40B4-BE49-F238E27FC236}">
                <a16:creationId xmlns:a16="http://schemas.microsoft.com/office/drawing/2014/main" id="{595562B3-5655-C896-3013-9B85239891B5}"/>
              </a:ext>
            </a:extLst>
          </p:cNvPr>
          <p:cNvSpPr txBox="1"/>
          <p:nvPr/>
        </p:nvSpPr>
        <p:spPr>
          <a:xfrm>
            <a:off x="5937906" y="1760486"/>
            <a:ext cx="483395" cy="246221"/>
          </a:xfrm>
          <a:prstGeom prst="rect">
            <a:avLst/>
          </a:prstGeom>
          <a:noFill/>
        </p:spPr>
        <p:txBody>
          <a:bodyPr wrap="square" rtlCol="0">
            <a:spAutoFit/>
          </a:bodyPr>
          <a:lstStyle/>
          <a:p>
            <a:r>
              <a:rPr lang="en-IN" sz="1000" b="1">
                <a:solidFill>
                  <a:srgbClr val="7030A0"/>
                </a:solidFill>
              </a:rPr>
              <a:t>PCP</a:t>
            </a:r>
          </a:p>
        </p:txBody>
      </p:sp>
      <p:sp>
        <p:nvSpPr>
          <p:cNvPr id="32" name="TextBox 31">
            <a:extLst>
              <a:ext uri="{FF2B5EF4-FFF2-40B4-BE49-F238E27FC236}">
                <a16:creationId xmlns:a16="http://schemas.microsoft.com/office/drawing/2014/main" id="{426497C6-987C-7661-E81A-887D05087A12}"/>
              </a:ext>
            </a:extLst>
          </p:cNvPr>
          <p:cNvSpPr txBox="1"/>
          <p:nvPr/>
        </p:nvSpPr>
        <p:spPr>
          <a:xfrm>
            <a:off x="5402537" y="4322729"/>
            <a:ext cx="1414465" cy="153888"/>
          </a:xfrm>
          <a:prstGeom prst="rect">
            <a:avLst/>
          </a:prstGeom>
          <a:noFill/>
        </p:spPr>
        <p:txBody>
          <a:bodyPr wrap="square" lIns="0" tIns="0" rIns="0" bIns="0" rtlCol="0">
            <a:spAutoFit/>
          </a:bodyPr>
          <a:lstStyle/>
          <a:p>
            <a:pPr algn="ctr"/>
            <a:r>
              <a:rPr lang="en-IN" sz="1000" b="1">
                <a:solidFill>
                  <a:srgbClr val="7D8394"/>
                </a:solidFill>
              </a:rPr>
              <a:t>Neuro/Psych</a:t>
            </a:r>
          </a:p>
        </p:txBody>
      </p:sp>
      <p:sp>
        <p:nvSpPr>
          <p:cNvPr id="33" name="TextBox 32">
            <a:extLst>
              <a:ext uri="{FF2B5EF4-FFF2-40B4-BE49-F238E27FC236}">
                <a16:creationId xmlns:a16="http://schemas.microsoft.com/office/drawing/2014/main" id="{9441C3E6-08EA-AA47-83AC-5CC9132EBE8C}"/>
              </a:ext>
            </a:extLst>
          </p:cNvPr>
          <p:cNvSpPr txBox="1"/>
          <p:nvPr/>
        </p:nvSpPr>
        <p:spPr>
          <a:xfrm>
            <a:off x="5568690" y="4925988"/>
            <a:ext cx="1044000" cy="153888"/>
          </a:xfrm>
          <a:prstGeom prst="rect">
            <a:avLst/>
          </a:prstGeom>
          <a:noFill/>
        </p:spPr>
        <p:txBody>
          <a:bodyPr wrap="square" lIns="0" tIns="0" rIns="0" bIns="0" rtlCol="0">
            <a:spAutoFit/>
          </a:bodyPr>
          <a:lstStyle/>
          <a:p>
            <a:pPr algn="ctr"/>
            <a:r>
              <a:rPr lang="en-IN" sz="1000" b="1">
                <a:solidFill>
                  <a:schemeClr val="accent5">
                    <a:lumMod val="50000"/>
                  </a:schemeClr>
                </a:solidFill>
              </a:rPr>
              <a:t>Pulmonologist</a:t>
            </a:r>
          </a:p>
        </p:txBody>
      </p:sp>
      <p:sp>
        <p:nvSpPr>
          <p:cNvPr id="34" name="TextBox 33">
            <a:extLst>
              <a:ext uri="{FF2B5EF4-FFF2-40B4-BE49-F238E27FC236}">
                <a16:creationId xmlns:a16="http://schemas.microsoft.com/office/drawing/2014/main" id="{93A5269B-C98B-F49D-9CD8-9DCAFD2BB9A1}"/>
              </a:ext>
            </a:extLst>
          </p:cNvPr>
          <p:cNvSpPr txBox="1"/>
          <p:nvPr/>
        </p:nvSpPr>
        <p:spPr>
          <a:xfrm>
            <a:off x="5773983" y="5443137"/>
            <a:ext cx="633414" cy="153888"/>
          </a:xfrm>
          <a:prstGeom prst="rect">
            <a:avLst/>
          </a:prstGeom>
          <a:noFill/>
        </p:spPr>
        <p:txBody>
          <a:bodyPr wrap="square" lIns="0" tIns="0" rIns="0" bIns="0" rtlCol="0">
            <a:spAutoFit/>
          </a:bodyPr>
          <a:lstStyle/>
          <a:p>
            <a:pPr algn="ctr"/>
            <a:r>
              <a:rPr lang="en-IN" sz="1000" b="1">
                <a:solidFill>
                  <a:schemeClr val="accent3"/>
                </a:solidFill>
              </a:rPr>
              <a:t>Other</a:t>
            </a:r>
          </a:p>
        </p:txBody>
      </p:sp>
      <p:sp>
        <p:nvSpPr>
          <p:cNvPr id="35" name="TextBox 34">
            <a:extLst>
              <a:ext uri="{FF2B5EF4-FFF2-40B4-BE49-F238E27FC236}">
                <a16:creationId xmlns:a16="http://schemas.microsoft.com/office/drawing/2014/main" id="{33AD0502-07F6-A589-CA24-39C660FC8E44}"/>
              </a:ext>
            </a:extLst>
          </p:cNvPr>
          <p:cNvSpPr txBox="1"/>
          <p:nvPr/>
        </p:nvSpPr>
        <p:spPr>
          <a:xfrm>
            <a:off x="5568690" y="5926242"/>
            <a:ext cx="1044000" cy="153888"/>
          </a:xfrm>
          <a:prstGeom prst="rect">
            <a:avLst/>
          </a:prstGeom>
          <a:noFill/>
        </p:spPr>
        <p:txBody>
          <a:bodyPr wrap="square" lIns="0" tIns="0" rIns="0" bIns="0" rtlCol="0">
            <a:spAutoFit/>
          </a:bodyPr>
          <a:lstStyle/>
          <a:p>
            <a:pPr algn="ctr"/>
            <a:r>
              <a:rPr lang="en-IN" sz="1000" b="1">
                <a:solidFill>
                  <a:schemeClr val="accent2"/>
                </a:solidFill>
              </a:rPr>
              <a:t>NPPA</a:t>
            </a:r>
          </a:p>
        </p:txBody>
      </p:sp>
      <p:sp>
        <p:nvSpPr>
          <p:cNvPr id="51" name="Text Placeholder 5">
            <a:extLst>
              <a:ext uri="{FF2B5EF4-FFF2-40B4-BE49-F238E27FC236}">
                <a16:creationId xmlns:a16="http://schemas.microsoft.com/office/drawing/2014/main" id="{723C8B62-916A-181D-1A78-464FA0B448A1}"/>
              </a:ext>
            </a:extLst>
          </p:cNvPr>
          <p:cNvSpPr txBox="1">
            <a:spLocks/>
          </p:cNvSpPr>
          <p:nvPr/>
        </p:nvSpPr>
        <p:spPr>
          <a:xfrm>
            <a:off x="606078" y="6616599"/>
            <a:ext cx="6968348" cy="196131"/>
          </a:xfrm>
          <a:prstGeom prst="rect">
            <a:avLst/>
          </a:prstGeom>
        </p:spPr>
        <p:txBody>
          <a:bodyPr vert="horz" wrap="none" lIns="0" tIns="0" rIns="0" bIns="72000" numCol="1" rtlCol="0" anchor="t">
            <a:noAutofit/>
          </a:bodyPr>
          <a:lstStyle>
            <a:lvl1pPr marL="0" indent="0" algn="l" defTabSz="914150" rtl="0" eaLnBrk="1" latinLnBrk="0" hangingPunct="1">
              <a:lnSpc>
                <a:spcPts val="1600"/>
              </a:lnSpc>
              <a:spcBef>
                <a:spcPts val="0"/>
              </a:spcBef>
              <a:spcAft>
                <a:spcPts val="600"/>
              </a:spcAft>
              <a:buClr>
                <a:srgbClr val="4C4948"/>
              </a:buClr>
              <a:buFont typeface="Arial" panose="020B0604020202020204" pitchFamily="34" charset="0"/>
              <a:buNone/>
              <a:defRPr kumimoji="1" sz="800" b="0" i="0" kern="1200" baseline="0">
                <a:solidFill>
                  <a:schemeClr val="accent3"/>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IN" i="1"/>
              <a:t>1. Last HCP of the pathway may or may not be same as the diagnosing HCP</a:t>
            </a:r>
          </a:p>
        </p:txBody>
      </p:sp>
      <p:sp>
        <p:nvSpPr>
          <p:cNvPr id="58" name="TextBox 57">
            <a:extLst>
              <a:ext uri="{FF2B5EF4-FFF2-40B4-BE49-F238E27FC236}">
                <a16:creationId xmlns:a16="http://schemas.microsoft.com/office/drawing/2014/main" id="{6721FD46-8517-04E5-DC4B-06875DD813B0}"/>
              </a:ext>
            </a:extLst>
          </p:cNvPr>
          <p:cNvSpPr txBox="1"/>
          <p:nvPr/>
        </p:nvSpPr>
        <p:spPr>
          <a:xfrm>
            <a:off x="5483187" y="6561666"/>
            <a:ext cx="1011916" cy="138499"/>
          </a:xfrm>
          <a:prstGeom prst="rect">
            <a:avLst/>
          </a:prstGeom>
          <a:noFill/>
        </p:spPr>
        <p:txBody>
          <a:bodyPr wrap="square" lIns="0" tIns="0" rIns="0" bIns="0" rtlCol="0">
            <a:spAutoFit/>
          </a:bodyPr>
          <a:lstStyle/>
          <a:p>
            <a:pPr algn="r"/>
            <a:r>
              <a:rPr lang="en-IN" sz="900" b="1" i="1"/>
              <a:t>n=32K Patients</a:t>
            </a:r>
          </a:p>
        </p:txBody>
      </p:sp>
      <p:sp>
        <p:nvSpPr>
          <p:cNvPr id="15" name="TextBox 14">
            <a:extLst>
              <a:ext uri="{FF2B5EF4-FFF2-40B4-BE49-F238E27FC236}">
                <a16:creationId xmlns:a16="http://schemas.microsoft.com/office/drawing/2014/main" id="{9D47C8F1-C0EB-A1E5-E359-B4C8AE35637C}"/>
              </a:ext>
            </a:extLst>
          </p:cNvPr>
          <p:cNvSpPr txBox="1"/>
          <p:nvPr/>
        </p:nvSpPr>
        <p:spPr>
          <a:xfrm>
            <a:off x="5576204" y="3346151"/>
            <a:ext cx="1102972" cy="153888"/>
          </a:xfrm>
          <a:prstGeom prst="rect">
            <a:avLst/>
          </a:prstGeom>
          <a:noFill/>
        </p:spPr>
        <p:txBody>
          <a:bodyPr wrap="square" lIns="0" tIns="0" rIns="0" bIns="0" rtlCol="0">
            <a:spAutoFit/>
          </a:bodyPr>
          <a:lstStyle/>
          <a:p>
            <a:pPr algn="ctr"/>
            <a:r>
              <a:rPr lang="en-IN" sz="1000" b="1">
                <a:solidFill>
                  <a:srgbClr val="E75055"/>
                </a:solidFill>
              </a:rPr>
              <a:t>Sleep Specialist</a:t>
            </a:r>
          </a:p>
        </p:txBody>
      </p:sp>
      <p:sp>
        <p:nvSpPr>
          <p:cNvPr id="25" name="Wave 24">
            <a:extLst>
              <a:ext uri="{FF2B5EF4-FFF2-40B4-BE49-F238E27FC236}">
                <a16:creationId xmlns:a16="http://schemas.microsoft.com/office/drawing/2014/main" id="{54A07A37-E72E-2FDF-0FD0-0E8395607322}"/>
              </a:ext>
            </a:extLst>
          </p:cNvPr>
          <p:cNvSpPr/>
          <p:nvPr/>
        </p:nvSpPr>
        <p:spPr>
          <a:xfrm flipH="1">
            <a:off x="3989632" y="5056685"/>
            <a:ext cx="1393825"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6" name="Wave 35">
            <a:extLst>
              <a:ext uri="{FF2B5EF4-FFF2-40B4-BE49-F238E27FC236}">
                <a16:creationId xmlns:a16="http://schemas.microsoft.com/office/drawing/2014/main" id="{675335F2-7C5B-4A2E-A5EE-7843BF5696E9}"/>
              </a:ext>
            </a:extLst>
          </p:cNvPr>
          <p:cNvSpPr/>
          <p:nvPr/>
        </p:nvSpPr>
        <p:spPr>
          <a:xfrm flipH="1">
            <a:off x="4009337" y="5626683"/>
            <a:ext cx="1393825" cy="79441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44" name="Group 43">
            <a:extLst>
              <a:ext uri="{FF2B5EF4-FFF2-40B4-BE49-F238E27FC236}">
                <a16:creationId xmlns:a16="http://schemas.microsoft.com/office/drawing/2014/main" id="{1705C451-1027-97F7-5BD8-871AEFB7F609}"/>
              </a:ext>
            </a:extLst>
          </p:cNvPr>
          <p:cNvGrpSpPr/>
          <p:nvPr/>
        </p:nvGrpSpPr>
        <p:grpSpPr>
          <a:xfrm>
            <a:off x="4097992" y="1691515"/>
            <a:ext cx="1587237" cy="138499"/>
            <a:chOff x="3676278" y="1691515"/>
            <a:chExt cx="1587237" cy="138499"/>
          </a:xfrm>
        </p:grpSpPr>
        <p:cxnSp>
          <p:nvCxnSpPr>
            <p:cNvPr id="39" name="Straight Arrow Connector 38">
              <a:extLst>
                <a:ext uri="{FF2B5EF4-FFF2-40B4-BE49-F238E27FC236}">
                  <a16:creationId xmlns:a16="http://schemas.microsoft.com/office/drawing/2014/main" id="{8B386565-BAFE-C337-233C-B9FC6585CE57}"/>
                </a:ext>
              </a:extLst>
            </p:cNvPr>
            <p:cNvCxnSpPr>
              <a:cxnSpLocks/>
            </p:cNvCxnSpPr>
            <p:nvPr/>
          </p:nvCxnSpPr>
          <p:spPr>
            <a:xfrm flipH="1">
              <a:off x="3676278"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C13A82E-04B1-708B-099E-66BA73ECDF59}"/>
                </a:ext>
              </a:extLst>
            </p:cNvPr>
            <p:cNvSpPr txBox="1"/>
            <p:nvPr/>
          </p:nvSpPr>
          <p:spPr>
            <a:xfrm>
              <a:off x="4074594" y="1691515"/>
              <a:ext cx="790604" cy="138499"/>
            </a:xfrm>
            <a:prstGeom prst="rect">
              <a:avLst/>
            </a:prstGeom>
            <a:solidFill>
              <a:schemeClr val="bg1"/>
            </a:solidFill>
          </p:spPr>
          <p:txBody>
            <a:bodyPr wrap="square" lIns="0" tIns="0" rIns="0" bIns="0" rtlCol="0">
              <a:spAutoFit/>
            </a:bodyPr>
            <a:lstStyle/>
            <a:p>
              <a:pPr algn="ctr"/>
              <a:r>
                <a:rPr lang="en-IN" sz="900" b="1" i="1"/>
                <a:t>Pre-diagnosis</a:t>
              </a:r>
            </a:p>
          </p:txBody>
        </p:sp>
      </p:grpSp>
      <p:cxnSp>
        <p:nvCxnSpPr>
          <p:cNvPr id="42" name="Straight Arrow Connector 41">
            <a:extLst>
              <a:ext uri="{FF2B5EF4-FFF2-40B4-BE49-F238E27FC236}">
                <a16:creationId xmlns:a16="http://schemas.microsoft.com/office/drawing/2014/main" id="{228F9EC2-3A40-702A-2869-5169E853DBC6}"/>
              </a:ext>
            </a:extLst>
          </p:cNvPr>
          <p:cNvCxnSpPr>
            <a:cxnSpLocks/>
          </p:cNvCxnSpPr>
          <p:nvPr/>
        </p:nvCxnSpPr>
        <p:spPr>
          <a:xfrm>
            <a:off x="6459630"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BD5F1E25-9C37-57F6-01B0-44831A26675B}"/>
              </a:ext>
            </a:extLst>
          </p:cNvPr>
          <p:cNvSpPr txBox="1"/>
          <p:nvPr/>
        </p:nvSpPr>
        <p:spPr>
          <a:xfrm>
            <a:off x="6931894" y="1691237"/>
            <a:ext cx="790604" cy="138499"/>
          </a:xfrm>
          <a:prstGeom prst="rect">
            <a:avLst/>
          </a:prstGeom>
          <a:solidFill>
            <a:schemeClr val="bg1"/>
          </a:solidFill>
        </p:spPr>
        <p:txBody>
          <a:bodyPr wrap="square" lIns="0" tIns="0" rIns="0" bIns="0" rtlCol="0">
            <a:spAutoFit/>
          </a:bodyPr>
          <a:lstStyle/>
          <a:p>
            <a:pPr algn="ctr"/>
            <a:r>
              <a:rPr lang="en-IN" sz="900" b="1" i="1"/>
              <a:t>Post-diagnosis</a:t>
            </a:r>
          </a:p>
        </p:txBody>
      </p:sp>
      <p:sp>
        <p:nvSpPr>
          <p:cNvPr id="45" name="Rectangle 44">
            <a:extLst>
              <a:ext uri="{FF2B5EF4-FFF2-40B4-BE49-F238E27FC236}">
                <a16:creationId xmlns:a16="http://schemas.microsoft.com/office/drawing/2014/main" id="{87DD8BFE-5407-EE7E-B3B2-2166C29D3476}"/>
              </a:ext>
            </a:extLst>
          </p:cNvPr>
          <p:cNvSpPr/>
          <p:nvPr/>
        </p:nvSpPr>
        <p:spPr>
          <a:xfrm>
            <a:off x="9649117" y="970281"/>
            <a:ext cx="108000" cy="1080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With Referral</a:t>
            </a:r>
          </a:p>
        </p:txBody>
      </p:sp>
      <p:sp>
        <p:nvSpPr>
          <p:cNvPr id="46" name="Rectangle 45">
            <a:extLst>
              <a:ext uri="{FF2B5EF4-FFF2-40B4-BE49-F238E27FC236}">
                <a16:creationId xmlns:a16="http://schemas.microsoft.com/office/drawing/2014/main" id="{AEA74455-5A47-04DC-3FEA-57A0784D3283}"/>
              </a:ext>
            </a:extLst>
          </p:cNvPr>
          <p:cNvSpPr/>
          <p:nvPr/>
        </p:nvSpPr>
        <p:spPr>
          <a:xfrm>
            <a:off x="10880047" y="970281"/>
            <a:ext cx="108000" cy="108000"/>
          </a:xfrm>
          <a:prstGeom prst="rect">
            <a:avLst/>
          </a:prstGeom>
          <a:pattFill prst="pct20">
            <a:fgClr>
              <a:schemeClr val="accent1"/>
            </a:fgClr>
            <a:bgClr>
              <a:schemeClr val="bg1"/>
            </a:bgClr>
          </a:patt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No Referral</a:t>
            </a:r>
          </a:p>
        </p:txBody>
      </p:sp>
      <p:grpSp>
        <p:nvGrpSpPr>
          <p:cNvPr id="20" name="Group 19">
            <a:extLst>
              <a:ext uri="{FF2B5EF4-FFF2-40B4-BE49-F238E27FC236}">
                <a16:creationId xmlns:a16="http://schemas.microsoft.com/office/drawing/2014/main" id="{157C7FC4-5E82-2F37-D6A9-0B49D32077C1}"/>
              </a:ext>
            </a:extLst>
          </p:cNvPr>
          <p:cNvGrpSpPr/>
          <p:nvPr/>
        </p:nvGrpSpPr>
        <p:grpSpPr>
          <a:xfrm>
            <a:off x="3959844" y="2043770"/>
            <a:ext cx="1435913" cy="1233688"/>
            <a:chOff x="3959844" y="2043770"/>
            <a:chExt cx="1435913" cy="1233688"/>
          </a:xfrm>
        </p:grpSpPr>
        <p:sp>
          <p:nvSpPr>
            <p:cNvPr id="18" name="Wave 17">
              <a:extLst>
                <a:ext uri="{FF2B5EF4-FFF2-40B4-BE49-F238E27FC236}">
                  <a16:creationId xmlns:a16="http://schemas.microsoft.com/office/drawing/2014/main" id="{BCEC2A2C-BF69-73AD-3694-CA2380F62F5F}"/>
                </a:ext>
              </a:extLst>
            </p:cNvPr>
            <p:cNvSpPr/>
            <p:nvPr/>
          </p:nvSpPr>
          <p:spPr>
            <a:xfrm flipH="1">
              <a:off x="4001932" y="214865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8" name="Wave 7">
              <a:extLst>
                <a:ext uri="{FF2B5EF4-FFF2-40B4-BE49-F238E27FC236}">
                  <a16:creationId xmlns:a16="http://schemas.microsoft.com/office/drawing/2014/main" id="{67C69968-22B1-1A94-9D2A-9FAFF5392FAB}"/>
                </a:ext>
              </a:extLst>
            </p:cNvPr>
            <p:cNvSpPr/>
            <p:nvPr/>
          </p:nvSpPr>
          <p:spPr>
            <a:xfrm rot="835438" flipH="1">
              <a:off x="3959844" y="2043770"/>
              <a:ext cx="1410304" cy="437604"/>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6" name="Group 5">
            <a:extLst>
              <a:ext uri="{FF2B5EF4-FFF2-40B4-BE49-F238E27FC236}">
                <a16:creationId xmlns:a16="http://schemas.microsoft.com/office/drawing/2014/main" id="{E288FB23-4E75-BAD0-44CA-E6CB282764BD}"/>
              </a:ext>
            </a:extLst>
          </p:cNvPr>
          <p:cNvGrpSpPr/>
          <p:nvPr/>
        </p:nvGrpSpPr>
        <p:grpSpPr>
          <a:xfrm>
            <a:off x="3769656" y="3310549"/>
            <a:ext cx="1613799" cy="1092768"/>
            <a:chOff x="3769656" y="3310549"/>
            <a:chExt cx="1613799" cy="1092768"/>
          </a:xfrm>
        </p:grpSpPr>
        <p:sp>
          <p:nvSpPr>
            <p:cNvPr id="21" name="Wave 20">
              <a:extLst>
                <a:ext uri="{FF2B5EF4-FFF2-40B4-BE49-F238E27FC236}">
                  <a16:creationId xmlns:a16="http://schemas.microsoft.com/office/drawing/2014/main" id="{C4661BA7-B186-9AA8-72F8-5C9660804B5E}"/>
                </a:ext>
              </a:extLst>
            </p:cNvPr>
            <p:cNvSpPr/>
            <p:nvPr/>
          </p:nvSpPr>
          <p:spPr>
            <a:xfrm flipH="1">
              <a:off x="3989630" y="3500038"/>
              <a:ext cx="1393825" cy="820591"/>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9" name="Wave 8">
              <a:extLst>
                <a:ext uri="{FF2B5EF4-FFF2-40B4-BE49-F238E27FC236}">
                  <a16:creationId xmlns:a16="http://schemas.microsoft.com/office/drawing/2014/main" id="{522D02D8-2DA9-4A65-9A25-0CE76CAB754E}"/>
                </a:ext>
              </a:extLst>
            </p:cNvPr>
            <p:cNvSpPr/>
            <p:nvPr/>
          </p:nvSpPr>
          <p:spPr>
            <a:xfrm rot="835438" flipH="1">
              <a:off x="3937450" y="3310549"/>
              <a:ext cx="1410304" cy="551518"/>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1" name="Wave 10">
              <a:extLst>
                <a:ext uri="{FF2B5EF4-FFF2-40B4-BE49-F238E27FC236}">
                  <a16:creationId xmlns:a16="http://schemas.microsoft.com/office/drawing/2014/main" id="{88C52835-BB5E-BFF9-733E-FA4A879B17F6}"/>
                </a:ext>
              </a:extLst>
            </p:cNvPr>
            <p:cNvSpPr/>
            <p:nvPr/>
          </p:nvSpPr>
          <p:spPr>
            <a:xfrm rot="10094973" flipH="1">
              <a:off x="3769656" y="3843885"/>
              <a:ext cx="1273470" cy="559432"/>
            </a:xfrm>
            <a:prstGeom prst="wave">
              <a:avLst>
                <a:gd name="adj1" fmla="val 20000"/>
                <a:gd name="adj2" fmla="val -139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aphicFrame>
        <p:nvGraphicFramePr>
          <p:cNvPr id="10" name="Table 9">
            <a:extLst>
              <a:ext uri="{FF2B5EF4-FFF2-40B4-BE49-F238E27FC236}">
                <a16:creationId xmlns:a16="http://schemas.microsoft.com/office/drawing/2014/main" id="{03F86163-8C30-836E-51C9-6BCA35890688}"/>
              </a:ext>
            </a:extLst>
          </p:cNvPr>
          <p:cNvGraphicFramePr>
            <a:graphicFrameLocks noGrp="1"/>
          </p:cNvGraphicFramePr>
          <p:nvPr/>
        </p:nvGraphicFramePr>
        <p:xfrm>
          <a:off x="683712" y="1636575"/>
          <a:ext cx="3318221" cy="4705227"/>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a:t>
                      </a:r>
                      <a:r>
                        <a:rPr lang="en-IN" sz="1050" b="1" baseline="30000">
                          <a:solidFill>
                            <a:schemeClr val="tx1">
                              <a:lumMod val="50000"/>
                            </a:schemeClr>
                          </a:solidFill>
                        </a:rPr>
                        <a:t>1</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 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8517">
                <a:tc>
                  <a:txBody>
                    <a:bodyPr/>
                    <a:lstStyle/>
                    <a:p>
                      <a:pPr algn="r"/>
                      <a:r>
                        <a:rPr lang="en-IN" sz="1050"/>
                        <a:t>PCP</a:t>
                      </a:r>
                      <a:r>
                        <a:rPr lang="en-IN" sz="1050">
                          <a:sym typeface="Wingdings" panose="05000000000000000000" pitchFamily="2" charset="2"/>
                        </a:rPr>
                        <a:t></a:t>
                      </a:r>
                      <a:endParaRPr lang="en-IN" sz="1050"/>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23%</a:t>
                      </a:r>
                    </a:p>
                  </a:txBody>
                  <a:tcPr marL="72000" marR="72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56545257"/>
                  </a:ext>
                </a:extLst>
              </a:tr>
              <a:tr h="326501">
                <a:tc>
                  <a:txBody>
                    <a:bodyPr/>
                    <a:lstStyle/>
                    <a:p>
                      <a:pPr algn="r" fontAlgn="b">
                        <a:buNone/>
                      </a:pP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58927620"/>
                  </a:ext>
                </a:extLst>
              </a:tr>
              <a:tr h="326501">
                <a:tc>
                  <a:txBody>
                    <a:bodyPr/>
                    <a:lstStyle/>
                    <a:p>
                      <a:pPr algn="r" fontAlgn="b">
                        <a:buNone/>
                      </a:pPr>
                      <a:r>
                        <a:rPr lang="en-IN" sz="1100" b="0" i="0" u="none" strike="noStrike">
                          <a:solidFill>
                            <a:srgbClr val="000000"/>
                          </a:solidFill>
                          <a:effectLst/>
                          <a:latin typeface="+mn-lt"/>
                        </a:rPr>
                        <a:t>PCP </a:t>
                      </a:r>
                      <a:r>
                        <a:rPr lang="en-IN" sz="1100">
                          <a:sym typeface="Wingdings" panose="05000000000000000000" pitchFamily="2" charset="2"/>
                        </a:rPr>
                        <a:t> </a:t>
                      </a: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445006373"/>
                  </a:ext>
                </a:extLst>
              </a:tr>
              <a:tr h="326501">
                <a:tc>
                  <a:txBody>
                    <a:bodyPr/>
                    <a:lstStyle/>
                    <a:p>
                      <a:pPr algn="r" fontAlgn="b">
                        <a:buNone/>
                      </a:pPr>
                      <a:r>
                        <a:rPr lang="en-IN" sz="1100" b="0" i="0" u="none" strike="noStrike">
                          <a:solidFill>
                            <a:srgbClr val="000000"/>
                          </a:solidFill>
                          <a:effectLst/>
                          <a:latin typeface="+mn-lt"/>
                        </a:rPr>
                        <a:t>Other</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98352905"/>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465381658"/>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953117120"/>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t>12%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160788466"/>
                  </a:ext>
                </a:extLst>
              </a:tr>
              <a:tr h="308869">
                <a:tc>
                  <a:txBody>
                    <a:bodyPr/>
                    <a:lstStyle/>
                    <a:p>
                      <a:pPr algn="r" fontAlgn="b">
                        <a:buNone/>
                      </a:pPr>
                      <a:r>
                        <a:rPr lang="en-IN" sz="1050" b="0" i="0" u="none" strike="noStrike">
                          <a:solidFill>
                            <a:srgbClr val="000000"/>
                          </a:solidFill>
                          <a:effectLst/>
                          <a:latin typeface="+mn-lt"/>
                        </a:rPr>
                        <a:t>Neuro/Psych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666415997"/>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Pulmonologist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22%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487683544"/>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2759851288"/>
                  </a:ext>
                </a:extLst>
              </a:tr>
            </a:tbl>
          </a:graphicData>
        </a:graphic>
      </p:graphicFrame>
      <p:grpSp>
        <p:nvGrpSpPr>
          <p:cNvPr id="27" name="Group 26">
            <a:extLst>
              <a:ext uri="{FF2B5EF4-FFF2-40B4-BE49-F238E27FC236}">
                <a16:creationId xmlns:a16="http://schemas.microsoft.com/office/drawing/2014/main" id="{783DCE20-9DF8-B21D-EFD4-AFAB1D9A095D}"/>
              </a:ext>
            </a:extLst>
          </p:cNvPr>
          <p:cNvGrpSpPr/>
          <p:nvPr/>
        </p:nvGrpSpPr>
        <p:grpSpPr>
          <a:xfrm>
            <a:off x="3941336" y="4466975"/>
            <a:ext cx="1442121" cy="565567"/>
            <a:chOff x="3941336" y="4466975"/>
            <a:chExt cx="1442121" cy="565567"/>
          </a:xfrm>
        </p:grpSpPr>
        <p:sp>
          <p:nvSpPr>
            <p:cNvPr id="22" name="Wave 21">
              <a:extLst>
                <a:ext uri="{FF2B5EF4-FFF2-40B4-BE49-F238E27FC236}">
                  <a16:creationId xmlns:a16="http://schemas.microsoft.com/office/drawing/2014/main" id="{8A82E8D8-287F-9185-6158-D4438A76CAD4}"/>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2" name="Wave 11">
              <a:extLst>
                <a:ext uri="{FF2B5EF4-FFF2-40B4-BE49-F238E27FC236}">
                  <a16:creationId xmlns:a16="http://schemas.microsoft.com/office/drawing/2014/main" id="{3A473BC8-4852-A2F9-3E6F-EBB19BFB5828}"/>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13" name="Wave 12">
            <a:extLst>
              <a:ext uri="{FF2B5EF4-FFF2-40B4-BE49-F238E27FC236}">
                <a16:creationId xmlns:a16="http://schemas.microsoft.com/office/drawing/2014/main" id="{524E05D7-60A6-D070-0382-A4C0D0A9F52C}"/>
              </a:ext>
            </a:extLst>
          </p:cNvPr>
          <p:cNvSpPr/>
          <p:nvPr/>
        </p:nvSpPr>
        <p:spPr>
          <a:xfrm rot="10094973" flipH="1">
            <a:off x="3953261" y="5228635"/>
            <a:ext cx="1469516" cy="359292"/>
          </a:xfrm>
          <a:prstGeom prst="wave">
            <a:avLst>
              <a:gd name="adj1" fmla="val 9945"/>
              <a:gd name="adj2" fmla="val 2241"/>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7" name="Group 6">
            <a:extLst>
              <a:ext uri="{FF2B5EF4-FFF2-40B4-BE49-F238E27FC236}">
                <a16:creationId xmlns:a16="http://schemas.microsoft.com/office/drawing/2014/main" id="{B891EE0E-5C74-D516-6D8E-316505078068}"/>
              </a:ext>
            </a:extLst>
          </p:cNvPr>
          <p:cNvGrpSpPr/>
          <p:nvPr/>
        </p:nvGrpSpPr>
        <p:grpSpPr>
          <a:xfrm rot="10800000">
            <a:off x="6815242" y="3518279"/>
            <a:ext cx="1719519" cy="958218"/>
            <a:chOff x="3800146" y="3199975"/>
            <a:chExt cx="1575761" cy="1381922"/>
          </a:xfrm>
        </p:grpSpPr>
        <p:sp>
          <p:nvSpPr>
            <p:cNvPr id="16" name="Wave 15">
              <a:extLst>
                <a:ext uri="{FF2B5EF4-FFF2-40B4-BE49-F238E27FC236}">
                  <a16:creationId xmlns:a16="http://schemas.microsoft.com/office/drawing/2014/main" id="{BCD586C2-69E0-24A4-33D5-FBC7F40A501B}"/>
                </a:ext>
              </a:extLst>
            </p:cNvPr>
            <p:cNvSpPr/>
            <p:nvPr/>
          </p:nvSpPr>
          <p:spPr>
            <a:xfrm flipH="1">
              <a:off x="3902833" y="3459843"/>
              <a:ext cx="1473074" cy="702345"/>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7" name="Wave 16">
              <a:extLst>
                <a:ext uri="{FF2B5EF4-FFF2-40B4-BE49-F238E27FC236}">
                  <a16:creationId xmlns:a16="http://schemas.microsoft.com/office/drawing/2014/main" id="{E2F902B8-A15D-8E69-48D4-71BACEB2F633}"/>
                </a:ext>
              </a:extLst>
            </p:cNvPr>
            <p:cNvSpPr/>
            <p:nvPr/>
          </p:nvSpPr>
          <p:spPr>
            <a:xfrm rot="835438" flipH="1">
              <a:off x="3893476" y="3199975"/>
              <a:ext cx="1410304" cy="748982"/>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48" name="Wave 47">
              <a:extLst>
                <a:ext uri="{FF2B5EF4-FFF2-40B4-BE49-F238E27FC236}">
                  <a16:creationId xmlns:a16="http://schemas.microsoft.com/office/drawing/2014/main" id="{1B4D7007-3354-B94E-EE21-A63D07B66451}"/>
                </a:ext>
              </a:extLst>
            </p:cNvPr>
            <p:cNvSpPr/>
            <p:nvPr/>
          </p:nvSpPr>
          <p:spPr>
            <a:xfrm rot="8523627" flipH="1">
              <a:off x="3800146" y="3949595"/>
              <a:ext cx="1294861" cy="632302"/>
            </a:xfrm>
            <a:prstGeom prst="wave">
              <a:avLst>
                <a:gd name="adj1" fmla="val 9782"/>
                <a:gd name="adj2" fmla="val -1404"/>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29" name="Group 28">
            <a:extLst>
              <a:ext uri="{FF2B5EF4-FFF2-40B4-BE49-F238E27FC236}">
                <a16:creationId xmlns:a16="http://schemas.microsoft.com/office/drawing/2014/main" id="{1F191038-6A4B-C757-08EB-E524D5AC6A0F}"/>
              </a:ext>
            </a:extLst>
          </p:cNvPr>
          <p:cNvGrpSpPr/>
          <p:nvPr/>
        </p:nvGrpSpPr>
        <p:grpSpPr>
          <a:xfrm rot="10800000">
            <a:off x="6815245" y="4586853"/>
            <a:ext cx="1411645" cy="392517"/>
            <a:chOff x="3941336" y="4466975"/>
            <a:chExt cx="1442121" cy="565567"/>
          </a:xfrm>
        </p:grpSpPr>
        <p:sp>
          <p:nvSpPr>
            <p:cNvPr id="31" name="Wave 30">
              <a:extLst>
                <a:ext uri="{FF2B5EF4-FFF2-40B4-BE49-F238E27FC236}">
                  <a16:creationId xmlns:a16="http://schemas.microsoft.com/office/drawing/2014/main" id="{89EE9FCE-DE6C-98CF-2709-C6E5B69789D9}"/>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7" name="Wave 36">
              <a:extLst>
                <a:ext uri="{FF2B5EF4-FFF2-40B4-BE49-F238E27FC236}">
                  <a16:creationId xmlns:a16="http://schemas.microsoft.com/office/drawing/2014/main" id="{726D2C3A-21EC-6AC2-89D6-F9F3DE067198}"/>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2" name="Wave 61">
              <a:extLst>
                <a:ext uri="{FF2B5EF4-FFF2-40B4-BE49-F238E27FC236}">
                  <a16:creationId xmlns:a16="http://schemas.microsoft.com/office/drawing/2014/main" id="{F366EED2-7066-71A0-2124-65F0A8EBE842}"/>
                </a:ext>
              </a:extLst>
            </p:cNvPr>
            <p:cNvSpPr/>
            <p:nvPr/>
          </p:nvSpPr>
          <p:spPr>
            <a:xfrm rot="532549" flipH="1">
              <a:off x="3979495" y="4506391"/>
              <a:ext cx="1393824" cy="320447"/>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40" name="Wave 39">
            <a:extLst>
              <a:ext uri="{FF2B5EF4-FFF2-40B4-BE49-F238E27FC236}">
                <a16:creationId xmlns:a16="http://schemas.microsoft.com/office/drawing/2014/main" id="{355F39BE-D7DA-96BF-4E33-650F62F7655C}"/>
              </a:ext>
            </a:extLst>
          </p:cNvPr>
          <p:cNvSpPr/>
          <p:nvPr/>
        </p:nvSpPr>
        <p:spPr>
          <a:xfrm rot="664712">
            <a:off x="6792774" y="5292499"/>
            <a:ext cx="1465033" cy="284697"/>
          </a:xfrm>
          <a:prstGeom prst="wave">
            <a:avLst>
              <a:gd name="adj1" fmla="val 20000"/>
              <a:gd name="adj2" fmla="val 1768"/>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aphicFrame>
        <p:nvGraphicFramePr>
          <p:cNvPr id="14" name="Table 13">
            <a:extLst>
              <a:ext uri="{FF2B5EF4-FFF2-40B4-BE49-F238E27FC236}">
                <a16:creationId xmlns:a16="http://schemas.microsoft.com/office/drawing/2014/main" id="{BA91EBF8-B2E9-A5D3-7A82-FED431E28B2A}"/>
              </a:ext>
            </a:extLst>
          </p:cNvPr>
          <p:cNvGraphicFramePr>
            <a:graphicFrameLocks noGrp="1"/>
          </p:cNvGraphicFramePr>
          <p:nvPr/>
        </p:nvGraphicFramePr>
        <p:xfrm>
          <a:off x="8188733" y="1636575"/>
          <a:ext cx="3318221" cy="4705221"/>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 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14%</a:t>
                      </a:r>
                    </a:p>
                  </a:txBody>
                  <a:tcPr marL="72000" marR="36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5654525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589276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Other</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445006373"/>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98352905"/>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20%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4653816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12%</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9531171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Other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1607884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66641599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15%</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Pulmonologist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16%</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Pulmonologist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487683544"/>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2759851288"/>
                  </a:ext>
                </a:extLst>
              </a:tr>
            </a:tbl>
          </a:graphicData>
        </a:graphic>
      </p:graphicFrame>
      <p:sp>
        <p:nvSpPr>
          <p:cNvPr id="47" name="Wave 46">
            <a:extLst>
              <a:ext uri="{FF2B5EF4-FFF2-40B4-BE49-F238E27FC236}">
                <a16:creationId xmlns:a16="http://schemas.microsoft.com/office/drawing/2014/main" id="{42FC39B3-60B8-A1C5-CD3F-06B1E24643AD}"/>
              </a:ext>
            </a:extLst>
          </p:cNvPr>
          <p:cNvSpPr/>
          <p:nvPr/>
        </p:nvSpPr>
        <p:spPr>
          <a:xfrm flipH="1">
            <a:off x="6815243" y="5715299"/>
            <a:ext cx="1373487" cy="60965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66" name="Group 65">
            <a:extLst>
              <a:ext uri="{FF2B5EF4-FFF2-40B4-BE49-F238E27FC236}">
                <a16:creationId xmlns:a16="http://schemas.microsoft.com/office/drawing/2014/main" id="{B51D33C1-BAB0-56C8-177A-30BBB8DA16D4}"/>
              </a:ext>
            </a:extLst>
          </p:cNvPr>
          <p:cNvGrpSpPr/>
          <p:nvPr/>
        </p:nvGrpSpPr>
        <p:grpSpPr>
          <a:xfrm>
            <a:off x="114481" y="2596321"/>
            <a:ext cx="1436821" cy="1527280"/>
            <a:chOff x="76514" y="2937074"/>
            <a:chExt cx="1519641" cy="1208922"/>
          </a:xfrm>
        </p:grpSpPr>
        <p:sp>
          <p:nvSpPr>
            <p:cNvPr id="49" name="Speech Bubble: Rectangle with Corners Rounded 48">
              <a:extLst>
                <a:ext uri="{FF2B5EF4-FFF2-40B4-BE49-F238E27FC236}">
                  <a16:creationId xmlns:a16="http://schemas.microsoft.com/office/drawing/2014/main" id="{041D56DB-CBFA-008F-B6D8-5A276FC7CF96}"/>
                </a:ext>
              </a:extLst>
            </p:cNvPr>
            <p:cNvSpPr/>
            <p:nvPr/>
          </p:nvSpPr>
          <p:spPr>
            <a:xfrm>
              <a:off x="76514" y="2937074"/>
              <a:ext cx="1474166" cy="1208922"/>
            </a:xfrm>
            <a:prstGeom prst="wedgeRoundRectCallout">
              <a:avLst>
                <a:gd name="adj1" fmla="val 72108"/>
                <a:gd name="adj2" fmla="val -529"/>
                <a:gd name="adj3" fmla="val 16667"/>
              </a:avLst>
            </a:prstGeom>
            <a:solidFill>
              <a:srgbClr val="FFFFC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sz="2800"/>
            </a:p>
          </p:txBody>
        </p:sp>
        <p:sp>
          <p:nvSpPr>
            <p:cNvPr id="50" name="TextBox 49">
              <a:extLst>
                <a:ext uri="{FF2B5EF4-FFF2-40B4-BE49-F238E27FC236}">
                  <a16:creationId xmlns:a16="http://schemas.microsoft.com/office/drawing/2014/main" id="{40344E0A-F4B6-2E55-0086-40E6457C9886}"/>
                </a:ext>
              </a:extLst>
            </p:cNvPr>
            <p:cNvSpPr txBox="1"/>
            <p:nvPr/>
          </p:nvSpPr>
          <p:spPr>
            <a:xfrm>
              <a:off x="202330" y="2976614"/>
              <a:ext cx="1393825" cy="1169382"/>
            </a:xfrm>
            <a:prstGeom prst="rect">
              <a:avLst/>
            </a:prstGeom>
            <a:noFill/>
          </p:spPr>
          <p:txBody>
            <a:bodyPr wrap="square" rtlCol="0">
              <a:spAutoFit/>
            </a:bodyPr>
            <a:lstStyle/>
            <a:p>
              <a:r>
                <a:rPr lang="en-IN" sz="1000" i="1"/>
                <a:t>These HCPs are involved in some relevant referral activity in the pre-diagnosis period (for relevant tests, misdiagnosis journey or pre-diagnosis treatment journey)</a:t>
              </a:r>
            </a:p>
          </p:txBody>
        </p:sp>
      </p:grpSp>
      <p:sp>
        <p:nvSpPr>
          <p:cNvPr id="61" name="Rectangle 60">
            <a:extLst>
              <a:ext uri="{FF2B5EF4-FFF2-40B4-BE49-F238E27FC236}">
                <a16:creationId xmlns:a16="http://schemas.microsoft.com/office/drawing/2014/main" id="{F33D0C2C-9572-66E3-27F6-0EBECE8B219E}"/>
              </a:ext>
            </a:extLst>
          </p:cNvPr>
          <p:cNvSpPr/>
          <p:nvPr/>
        </p:nvSpPr>
        <p:spPr>
          <a:xfrm>
            <a:off x="7940642" y="3500038"/>
            <a:ext cx="250452" cy="469919"/>
          </a:xfrm>
          <a:prstGeom prst="rect">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4" name="Rectangle 63">
            <a:extLst>
              <a:ext uri="{FF2B5EF4-FFF2-40B4-BE49-F238E27FC236}">
                <a16:creationId xmlns:a16="http://schemas.microsoft.com/office/drawing/2014/main" id="{35F4511F-236D-6CB1-2A48-6DE832CCEF29}"/>
              </a:ext>
            </a:extLst>
          </p:cNvPr>
          <p:cNvSpPr/>
          <p:nvPr/>
        </p:nvSpPr>
        <p:spPr>
          <a:xfrm>
            <a:off x="8061107" y="5408281"/>
            <a:ext cx="131776" cy="131136"/>
          </a:xfrm>
          <a:prstGeom prst="rect">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5" name="Rectangle 64">
            <a:extLst>
              <a:ext uri="{FF2B5EF4-FFF2-40B4-BE49-F238E27FC236}">
                <a16:creationId xmlns:a16="http://schemas.microsoft.com/office/drawing/2014/main" id="{3C6A1AC4-B870-F01B-5BFC-09CCF7780E3D}"/>
              </a:ext>
            </a:extLst>
          </p:cNvPr>
          <p:cNvSpPr/>
          <p:nvPr/>
        </p:nvSpPr>
        <p:spPr>
          <a:xfrm>
            <a:off x="7735198" y="5281774"/>
            <a:ext cx="456950" cy="251836"/>
          </a:xfrm>
          <a:prstGeom prst="rect">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 name="Slide Number Placeholder 4">
            <a:extLst>
              <a:ext uri="{FF2B5EF4-FFF2-40B4-BE49-F238E27FC236}">
                <a16:creationId xmlns:a16="http://schemas.microsoft.com/office/drawing/2014/main" id="{EEBB039C-8E6A-FD80-E6EF-A47E99A97170}"/>
              </a:ext>
            </a:extLst>
          </p:cNvPr>
          <p:cNvSpPr>
            <a:spLocks noGrp="1"/>
          </p:cNvSpPr>
          <p:nvPr>
            <p:ph type="sldNum" sz="quarter" idx="4"/>
          </p:nvPr>
        </p:nvSpPr>
        <p:spPr>
          <a:xfrm>
            <a:off x="311150" y="6523001"/>
            <a:ext cx="294928" cy="196131"/>
          </a:xfrm>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13</a:t>
            </a:fld>
            <a:endParaRPr kumimoji="0" lang="ja-JP" altLang="en-US" sz="800" b="1" i="0" u="none" strike="noStrike" kern="1200" cap="none" spc="0" normalizeH="0" baseline="0" noProof="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endParaRPr>
          </a:p>
        </p:txBody>
      </p:sp>
    </p:spTree>
    <p:extLst>
      <p:ext uri="{BB962C8B-B14F-4D97-AF65-F5344CB8AC3E}">
        <p14:creationId xmlns:p14="http://schemas.microsoft.com/office/powerpoint/2010/main" val="1345856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5BAEB-C746-74F9-19A4-252EA6EEA8C3}"/>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44482DDA-AFF1-066C-011E-417D1F9BF52B}"/>
              </a:ext>
            </a:extLst>
          </p:cNvPr>
          <p:cNvGrpSpPr/>
          <p:nvPr/>
        </p:nvGrpSpPr>
        <p:grpSpPr>
          <a:xfrm rot="10800000">
            <a:off x="6815246" y="2035371"/>
            <a:ext cx="1636325" cy="1238544"/>
            <a:chOff x="3750553" y="2147794"/>
            <a:chExt cx="1636325" cy="1392185"/>
          </a:xfrm>
        </p:grpSpPr>
        <p:sp>
          <p:nvSpPr>
            <p:cNvPr id="24" name="Wave 23">
              <a:extLst>
                <a:ext uri="{FF2B5EF4-FFF2-40B4-BE49-F238E27FC236}">
                  <a16:creationId xmlns:a16="http://schemas.microsoft.com/office/drawing/2014/main" id="{293F7062-C7FB-A3C2-0428-839FF4575566}"/>
                </a:ext>
              </a:extLst>
            </p:cNvPr>
            <p:cNvSpPr/>
            <p:nvPr/>
          </p:nvSpPr>
          <p:spPr>
            <a:xfrm flipH="1">
              <a:off x="3993053" y="214779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26" name="Wave 25">
              <a:extLst>
                <a:ext uri="{FF2B5EF4-FFF2-40B4-BE49-F238E27FC236}">
                  <a16:creationId xmlns:a16="http://schemas.microsoft.com/office/drawing/2014/main" id="{8F43EA50-5F81-B14B-C595-FB61ABE82CCC}"/>
                </a:ext>
              </a:extLst>
            </p:cNvPr>
            <p:cNvSpPr/>
            <p:nvPr/>
          </p:nvSpPr>
          <p:spPr>
            <a:xfrm rot="20593520" flipH="1">
              <a:off x="3750553" y="2680749"/>
              <a:ext cx="1410304" cy="859230"/>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38" name="Rectangle 37">
            <a:extLst>
              <a:ext uri="{FF2B5EF4-FFF2-40B4-BE49-F238E27FC236}">
                <a16:creationId xmlns:a16="http://schemas.microsoft.com/office/drawing/2014/main" id="{6D42237F-9111-A7D4-FE2A-BA51439B7A1B}"/>
              </a:ext>
            </a:extLst>
          </p:cNvPr>
          <p:cNvSpPr/>
          <p:nvPr/>
        </p:nvSpPr>
        <p:spPr>
          <a:xfrm>
            <a:off x="683712" y="1309157"/>
            <a:ext cx="10823242" cy="315585"/>
          </a:xfrm>
          <a:prstGeom prst="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sz="1400" b="1">
                <a:solidFill>
                  <a:schemeClr val="bg1"/>
                </a:solidFill>
              </a:rPr>
              <a:t>Spec Distribution at NT Diagnosis 				</a:t>
            </a:r>
          </a:p>
        </p:txBody>
      </p:sp>
      <p:sp>
        <p:nvSpPr>
          <p:cNvPr id="55" name="Wave 54">
            <a:extLst>
              <a:ext uri="{FF2B5EF4-FFF2-40B4-BE49-F238E27FC236}">
                <a16:creationId xmlns:a16="http://schemas.microsoft.com/office/drawing/2014/main" id="{0F12EE37-C866-1F3A-D158-026A8244BBB9}"/>
              </a:ext>
            </a:extLst>
          </p:cNvPr>
          <p:cNvSpPr/>
          <p:nvPr/>
        </p:nvSpPr>
        <p:spPr>
          <a:xfrm>
            <a:off x="6769788" y="5093515"/>
            <a:ext cx="1421959"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4" name="Title 3">
            <a:extLst>
              <a:ext uri="{FF2B5EF4-FFF2-40B4-BE49-F238E27FC236}">
                <a16:creationId xmlns:a16="http://schemas.microsoft.com/office/drawing/2014/main" id="{EBD88565-E968-F785-AC14-B38CBAFD90BB}"/>
              </a:ext>
            </a:extLst>
          </p:cNvPr>
          <p:cNvSpPr>
            <a:spLocks noGrp="1"/>
          </p:cNvSpPr>
          <p:nvPr>
            <p:ph type="title"/>
          </p:nvPr>
        </p:nvSpPr>
        <p:spPr>
          <a:xfrm>
            <a:off x="606078" y="161605"/>
            <a:ext cx="10145341" cy="685801"/>
          </a:xfrm>
        </p:spPr>
        <p:txBody>
          <a:bodyPr>
            <a:noAutofit/>
          </a:bodyPr>
          <a:lstStyle/>
          <a:p>
            <a:r>
              <a:rPr lang="en-US" sz="2000"/>
              <a:t>PCPs act as the central coordinators in the pre-diagnosis journey, directing patients across specialties through referral pathways</a:t>
            </a:r>
            <a:endParaRPr lang="en-IN" sz="2000"/>
          </a:p>
        </p:txBody>
      </p:sp>
      <p:graphicFrame>
        <p:nvGraphicFramePr>
          <p:cNvPr id="69" name="Chart 68">
            <a:extLst>
              <a:ext uri="{FF2B5EF4-FFF2-40B4-BE49-F238E27FC236}">
                <a16:creationId xmlns:a16="http://schemas.microsoft.com/office/drawing/2014/main" id="{CED0EEBE-8941-6669-2AF2-087D983FDA57}"/>
              </a:ext>
            </a:extLst>
          </p:cNvPr>
          <p:cNvGraphicFramePr/>
          <p:nvPr/>
        </p:nvGraphicFramePr>
        <p:xfrm>
          <a:off x="5210577" y="1636575"/>
          <a:ext cx="1760227" cy="5089524"/>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Box 29">
            <a:extLst>
              <a:ext uri="{FF2B5EF4-FFF2-40B4-BE49-F238E27FC236}">
                <a16:creationId xmlns:a16="http://schemas.microsoft.com/office/drawing/2014/main" id="{265356CA-74B5-CF7F-3D2C-30DA44EFAA90}"/>
              </a:ext>
            </a:extLst>
          </p:cNvPr>
          <p:cNvSpPr txBox="1"/>
          <p:nvPr/>
        </p:nvSpPr>
        <p:spPr>
          <a:xfrm>
            <a:off x="5354912" y="1731911"/>
            <a:ext cx="483395" cy="246221"/>
          </a:xfrm>
          <a:prstGeom prst="rect">
            <a:avLst/>
          </a:prstGeom>
          <a:noFill/>
        </p:spPr>
        <p:txBody>
          <a:bodyPr wrap="square" rtlCol="0">
            <a:spAutoFit/>
          </a:bodyPr>
          <a:lstStyle/>
          <a:p>
            <a:r>
              <a:rPr lang="en-IN" sz="1000" b="1">
                <a:solidFill>
                  <a:srgbClr val="7030A0"/>
                </a:solidFill>
              </a:rPr>
              <a:t>PCP</a:t>
            </a:r>
          </a:p>
        </p:txBody>
      </p:sp>
      <p:sp>
        <p:nvSpPr>
          <p:cNvPr id="32" name="TextBox 31">
            <a:extLst>
              <a:ext uri="{FF2B5EF4-FFF2-40B4-BE49-F238E27FC236}">
                <a16:creationId xmlns:a16="http://schemas.microsoft.com/office/drawing/2014/main" id="{15B2EF87-64EF-49CA-12E5-36E71B81BA22}"/>
              </a:ext>
            </a:extLst>
          </p:cNvPr>
          <p:cNvSpPr txBox="1"/>
          <p:nvPr/>
        </p:nvSpPr>
        <p:spPr>
          <a:xfrm>
            <a:off x="5354912" y="4294154"/>
            <a:ext cx="1414465" cy="153888"/>
          </a:xfrm>
          <a:prstGeom prst="rect">
            <a:avLst/>
          </a:prstGeom>
          <a:noFill/>
        </p:spPr>
        <p:txBody>
          <a:bodyPr wrap="square" lIns="0" tIns="0" rIns="0" bIns="0" rtlCol="0">
            <a:spAutoFit/>
          </a:bodyPr>
          <a:lstStyle/>
          <a:p>
            <a:r>
              <a:rPr lang="en-IN" sz="1000" b="1">
                <a:solidFill>
                  <a:srgbClr val="7D8394"/>
                </a:solidFill>
              </a:rPr>
              <a:t>Neuro/Psych</a:t>
            </a:r>
          </a:p>
        </p:txBody>
      </p:sp>
      <p:sp>
        <p:nvSpPr>
          <p:cNvPr id="33" name="TextBox 32">
            <a:extLst>
              <a:ext uri="{FF2B5EF4-FFF2-40B4-BE49-F238E27FC236}">
                <a16:creationId xmlns:a16="http://schemas.microsoft.com/office/drawing/2014/main" id="{6151A743-2943-D605-D580-3111D4BD9E5F}"/>
              </a:ext>
            </a:extLst>
          </p:cNvPr>
          <p:cNvSpPr txBox="1"/>
          <p:nvPr/>
        </p:nvSpPr>
        <p:spPr>
          <a:xfrm>
            <a:off x="5354912" y="4897413"/>
            <a:ext cx="1044000" cy="153888"/>
          </a:xfrm>
          <a:prstGeom prst="rect">
            <a:avLst/>
          </a:prstGeom>
          <a:noFill/>
        </p:spPr>
        <p:txBody>
          <a:bodyPr wrap="square" lIns="0" tIns="0" rIns="0" bIns="0" rtlCol="0">
            <a:spAutoFit/>
          </a:bodyPr>
          <a:lstStyle/>
          <a:p>
            <a:r>
              <a:rPr lang="en-IN" sz="1000" b="1">
                <a:solidFill>
                  <a:schemeClr val="accent5">
                    <a:lumMod val="50000"/>
                  </a:schemeClr>
                </a:solidFill>
              </a:rPr>
              <a:t>Pulmonologist</a:t>
            </a:r>
          </a:p>
        </p:txBody>
      </p:sp>
      <p:sp>
        <p:nvSpPr>
          <p:cNvPr id="34" name="TextBox 33">
            <a:extLst>
              <a:ext uri="{FF2B5EF4-FFF2-40B4-BE49-F238E27FC236}">
                <a16:creationId xmlns:a16="http://schemas.microsoft.com/office/drawing/2014/main" id="{1577EC19-ADDF-DA0C-A2DC-86242141B994}"/>
              </a:ext>
            </a:extLst>
          </p:cNvPr>
          <p:cNvSpPr txBox="1"/>
          <p:nvPr/>
        </p:nvSpPr>
        <p:spPr>
          <a:xfrm>
            <a:off x="5354912" y="5414562"/>
            <a:ext cx="633414" cy="153888"/>
          </a:xfrm>
          <a:prstGeom prst="rect">
            <a:avLst/>
          </a:prstGeom>
          <a:noFill/>
        </p:spPr>
        <p:txBody>
          <a:bodyPr wrap="square" lIns="0" tIns="0" rIns="0" bIns="0" rtlCol="0">
            <a:spAutoFit/>
          </a:bodyPr>
          <a:lstStyle/>
          <a:p>
            <a:r>
              <a:rPr lang="en-IN" sz="1000" b="1">
                <a:solidFill>
                  <a:schemeClr val="accent3"/>
                </a:solidFill>
              </a:rPr>
              <a:t>Other</a:t>
            </a:r>
          </a:p>
        </p:txBody>
      </p:sp>
      <p:sp>
        <p:nvSpPr>
          <p:cNvPr id="35" name="TextBox 34">
            <a:extLst>
              <a:ext uri="{FF2B5EF4-FFF2-40B4-BE49-F238E27FC236}">
                <a16:creationId xmlns:a16="http://schemas.microsoft.com/office/drawing/2014/main" id="{815A68F0-2A8E-B070-34D4-3DA14DCAC570}"/>
              </a:ext>
            </a:extLst>
          </p:cNvPr>
          <p:cNvSpPr txBox="1"/>
          <p:nvPr/>
        </p:nvSpPr>
        <p:spPr>
          <a:xfrm>
            <a:off x="5354912" y="5897667"/>
            <a:ext cx="1044000" cy="153888"/>
          </a:xfrm>
          <a:prstGeom prst="rect">
            <a:avLst/>
          </a:prstGeom>
          <a:noFill/>
        </p:spPr>
        <p:txBody>
          <a:bodyPr wrap="square" lIns="0" tIns="0" rIns="0" bIns="0" rtlCol="0">
            <a:spAutoFit/>
          </a:bodyPr>
          <a:lstStyle/>
          <a:p>
            <a:r>
              <a:rPr lang="en-IN" sz="1000" b="1">
                <a:solidFill>
                  <a:schemeClr val="accent2"/>
                </a:solidFill>
              </a:rPr>
              <a:t>NPPA</a:t>
            </a:r>
          </a:p>
        </p:txBody>
      </p:sp>
      <p:sp>
        <p:nvSpPr>
          <p:cNvPr id="51" name="Text Placeholder 5">
            <a:extLst>
              <a:ext uri="{FF2B5EF4-FFF2-40B4-BE49-F238E27FC236}">
                <a16:creationId xmlns:a16="http://schemas.microsoft.com/office/drawing/2014/main" id="{3CAC5B39-4DED-F496-1753-078DB8D034D0}"/>
              </a:ext>
            </a:extLst>
          </p:cNvPr>
          <p:cNvSpPr txBox="1">
            <a:spLocks/>
          </p:cNvSpPr>
          <p:nvPr/>
        </p:nvSpPr>
        <p:spPr>
          <a:xfrm>
            <a:off x="606078" y="6616599"/>
            <a:ext cx="6968348" cy="196131"/>
          </a:xfrm>
          <a:prstGeom prst="rect">
            <a:avLst/>
          </a:prstGeom>
        </p:spPr>
        <p:txBody>
          <a:bodyPr vert="horz" wrap="none" lIns="0" tIns="0" rIns="0" bIns="72000" numCol="1" rtlCol="0" anchor="t">
            <a:noAutofit/>
          </a:bodyPr>
          <a:lstStyle>
            <a:lvl1pPr marL="0" indent="0" algn="l" defTabSz="914150" rtl="0" eaLnBrk="1" latinLnBrk="0" hangingPunct="1">
              <a:lnSpc>
                <a:spcPts val="1600"/>
              </a:lnSpc>
              <a:spcBef>
                <a:spcPts val="0"/>
              </a:spcBef>
              <a:spcAft>
                <a:spcPts val="600"/>
              </a:spcAft>
              <a:buClr>
                <a:srgbClr val="4C4948"/>
              </a:buClr>
              <a:buFont typeface="Arial" panose="020B0604020202020204" pitchFamily="34" charset="0"/>
              <a:buNone/>
              <a:defRPr kumimoji="1" sz="800" b="0" i="0" kern="1200" baseline="0">
                <a:solidFill>
                  <a:schemeClr val="accent3"/>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IN" i="1"/>
              <a:t>1. Last HCP of the pathway may or may not be same as the diagnosing HCP</a:t>
            </a:r>
          </a:p>
        </p:txBody>
      </p:sp>
      <p:sp>
        <p:nvSpPr>
          <p:cNvPr id="58" name="TextBox 57">
            <a:extLst>
              <a:ext uri="{FF2B5EF4-FFF2-40B4-BE49-F238E27FC236}">
                <a16:creationId xmlns:a16="http://schemas.microsoft.com/office/drawing/2014/main" id="{4D1948BA-AA9B-F0A3-D719-0862F123F3D5}"/>
              </a:ext>
            </a:extLst>
          </p:cNvPr>
          <p:cNvSpPr txBox="1"/>
          <p:nvPr/>
        </p:nvSpPr>
        <p:spPr>
          <a:xfrm>
            <a:off x="5483187" y="6561666"/>
            <a:ext cx="1011916" cy="138499"/>
          </a:xfrm>
          <a:prstGeom prst="rect">
            <a:avLst/>
          </a:prstGeom>
          <a:noFill/>
        </p:spPr>
        <p:txBody>
          <a:bodyPr wrap="square" lIns="0" tIns="0" rIns="0" bIns="0" rtlCol="0">
            <a:spAutoFit/>
          </a:bodyPr>
          <a:lstStyle/>
          <a:p>
            <a:pPr algn="r"/>
            <a:r>
              <a:rPr lang="en-IN" sz="900" b="1" i="1"/>
              <a:t>n=32K Patients</a:t>
            </a:r>
          </a:p>
        </p:txBody>
      </p:sp>
      <p:sp>
        <p:nvSpPr>
          <p:cNvPr id="15" name="TextBox 14">
            <a:extLst>
              <a:ext uri="{FF2B5EF4-FFF2-40B4-BE49-F238E27FC236}">
                <a16:creationId xmlns:a16="http://schemas.microsoft.com/office/drawing/2014/main" id="{72E9874B-46B1-5CBC-C341-D2B62D69B7DE}"/>
              </a:ext>
            </a:extLst>
          </p:cNvPr>
          <p:cNvSpPr txBox="1"/>
          <p:nvPr/>
        </p:nvSpPr>
        <p:spPr>
          <a:xfrm>
            <a:off x="5354912" y="3317576"/>
            <a:ext cx="1102972" cy="153888"/>
          </a:xfrm>
          <a:prstGeom prst="rect">
            <a:avLst/>
          </a:prstGeom>
          <a:noFill/>
        </p:spPr>
        <p:txBody>
          <a:bodyPr wrap="square" lIns="0" tIns="0" rIns="0" bIns="0" rtlCol="0">
            <a:spAutoFit/>
          </a:bodyPr>
          <a:lstStyle/>
          <a:p>
            <a:r>
              <a:rPr lang="en-IN" sz="1000" b="1">
                <a:solidFill>
                  <a:srgbClr val="E75055"/>
                </a:solidFill>
              </a:rPr>
              <a:t>Sleep Specialist</a:t>
            </a:r>
          </a:p>
        </p:txBody>
      </p:sp>
      <p:sp>
        <p:nvSpPr>
          <p:cNvPr id="25" name="Wave 24">
            <a:extLst>
              <a:ext uri="{FF2B5EF4-FFF2-40B4-BE49-F238E27FC236}">
                <a16:creationId xmlns:a16="http://schemas.microsoft.com/office/drawing/2014/main" id="{9902AEFB-036F-FC6F-DC5D-86AC0EFE3C4F}"/>
              </a:ext>
            </a:extLst>
          </p:cNvPr>
          <p:cNvSpPr/>
          <p:nvPr/>
        </p:nvSpPr>
        <p:spPr>
          <a:xfrm flipH="1">
            <a:off x="3989632" y="5056685"/>
            <a:ext cx="1393825"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6" name="Wave 35">
            <a:extLst>
              <a:ext uri="{FF2B5EF4-FFF2-40B4-BE49-F238E27FC236}">
                <a16:creationId xmlns:a16="http://schemas.microsoft.com/office/drawing/2014/main" id="{F48A127A-637F-1616-2BEF-19217CAEE73B}"/>
              </a:ext>
            </a:extLst>
          </p:cNvPr>
          <p:cNvSpPr/>
          <p:nvPr/>
        </p:nvSpPr>
        <p:spPr>
          <a:xfrm flipH="1">
            <a:off x="4009337" y="5626683"/>
            <a:ext cx="1374118" cy="79441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44" name="Group 43">
            <a:extLst>
              <a:ext uri="{FF2B5EF4-FFF2-40B4-BE49-F238E27FC236}">
                <a16:creationId xmlns:a16="http://schemas.microsoft.com/office/drawing/2014/main" id="{C9842496-9A95-0F0A-208D-0FC6AD4A81B5}"/>
              </a:ext>
            </a:extLst>
          </p:cNvPr>
          <p:cNvGrpSpPr/>
          <p:nvPr/>
        </p:nvGrpSpPr>
        <p:grpSpPr>
          <a:xfrm>
            <a:off x="4097992" y="1691515"/>
            <a:ext cx="1587237" cy="138499"/>
            <a:chOff x="3676278" y="1691515"/>
            <a:chExt cx="1587237" cy="138499"/>
          </a:xfrm>
        </p:grpSpPr>
        <p:cxnSp>
          <p:nvCxnSpPr>
            <p:cNvPr id="39" name="Straight Arrow Connector 38">
              <a:extLst>
                <a:ext uri="{FF2B5EF4-FFF2-40B4-BE49-F238E27FC236}">
                  <a16:creationId xmlns:a16="http://schemas.microsoft.com/office/drawing/2014/main" id="{8AB6AC14-ED3C-81B2-ABB1-7726976B623E}"/>
                </a:ext>
              </a:extLst>
            </p:cNvPr>
            <p:cNvCxnSpPr>
              <a:cxnSpLocks/>
            </p:cNvCxnSpPr>
            <p:nvPr/>
          </p:nvCxnSpPr>
          <p:spPr>
            <a:xfrm flipH="1">
              <a:off x="3676278"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A72301C-1D73-F5BC-142A-F7815DBCFE8C}"/>
                </a:ext>
              </a:extLst>
            </p:cNvPr>
            <p:cNvSpPr txBox="1"/>
            <p:nvPr/>
          </p:nvSpPr>
          <p:spPr>
            <a:xfrm>
              <a:off x="4074594" y="1691515"/>
              <a:ext cx="790604" cy="138499"/>
            </a:xfrm>
            <a:prstGeom prst="rect">
              <a:avLst/>
            </a:prstGeom>
            <a:solidFill>
              <a:schemeClr val="bg1"/>
            </a:solidFill>
          </p:spPr>
          <p:txBody>
            <a:bodyPr wrap="square" lIns="0" tIns="0" rIns="0" bIns="0" rtlCol="0">
              <a:spAutoFit/>
            </a:bodyPr>
            <a:lstStyle/>
            <a:p>
              <a:pPr algn="ctr"/>
              <a:r>
                <a:rPr lang="en-IN" sz="900" b="1" i="1"/>
                <a:t>Pre-diagnosis</a:t>
              </a:r>
            </a:p>
          </p:txBody>
        </p:sp>
      </p:grpSp>
      <p:cxnSp>
        <p:nvCxnSpPr>
          <p:cNvPr id="42" name="Straight Arrow Connector 41">
            <a:extLst>
              <a:ext uri="{FF2B5EF4-FFF2-40B4-BE49-F238E27FC236}">
                <a16:creationId xmlns:a16="http://schemas.microsoft.com/office/drawing/2014/main" id="{A39CECE2-E8B1-1275-509C-A368EEFF64EB}"/>
              </a:ext>
            </a:extLst>
          </p:cNvPr>
          <p:cNvCxnSpPr>
            <a:cxnSpLocks/>
          </p:cNvCxnSpPr>
          <p:nvPr/>
        </p:nvCxnSpPr>
        <p:spPr>
          <a:xfrm>
            <a:off x="6459630"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0B2278F-4D69-3BAE-434D-C48C290043D6}"/>
              </a:ext>
            </a:extLst>
          </p:cNvPr>
          <p:cNvSpPr txBox="1"/>
          <p:nvPr/>
        </p:nvSpPr>
        <p:spPr>
          <a:xfrm>
            <a:off x="6931894" y="1691237"/>
            <a:ext cx="790604" cy="138499"/>
          </a:xfrm>
          <a:prstGeom prst="rect">
            <a:avLst/>
          </a:prstGeom>
          <a:solidFill>
            <a:schemeClr val="bg1"/>
          </a:solidFill>
        </p:spPr>
        <p:txBody>
          <a:bodyPr wrap="square" lIns="0" tIns="0" rIns="0" bIns="0" rtlCol="0">
            <a:spAutoFit/>
          </a:bodyPr>
          <a:lstStyle/>
          <a:p>
            <a:pPr algn="ctr"/>
            <a:r>
              <a:rPr lang="en-IN" sz="900" b="1" i="1"/>
              <a:t>Post-diagnosis</a:t>
            </a:r>
          </a:p>
        </p:txBody>
      </p:sp>
      <p:sp>
        <p:nvSpPr>
          <p:cNvPr id="45" name="Rectangle 44">
            <a:extLst>
              <a:ext uri="{FF2B5EF4-FFF2-40B4-BE49-F238E27FC236}">
                <a16:creationId xmlns:a16="http://schemas.microsoft.com/office/drawing/2014/main" id="{323D8E53-2B45-4EE4-00D1-B1149AC880F1}"/>
              </a:ext>
            </a:extLst>
          </p:cNvPr>
          <p:cNvSpPr/>
          <p:nvPr/>
        </p:nvSpPr>
        <p:spPr>
          <a:xfrm>
            <a:off x="9649117" y="970281"/>
            <a:ext cx="108000" cy="1080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With Referral</a:t>
            </a:r>
          </a:p>
        </p:txBody>
      </p:sp>
      <p:sp>
        <p:nvSpPr>
          <p:cNvPr id="46" name="Rectangle 45">
            <a:extLst>
              <a:ext uri="{FF2B5EF4-FFF2-40B4-BE49-F238E27FC236}">
                <a16:creationId xmlns:a16="http://schemas.microsoft.com/office/drawing/2014/main" id="{8A4C39F1-A020-4AFD-8377-BFF4B687674F}"/>
              </a:ext>
            </a:extLst>
          </p:cNvPr>
          <p:cNvSpPr/>
          <p:nvPr/>
        </p:nvSpPr>
        <p:spPr>
          <a:xfrm>
            <a:off x="10880047" y="970281"/>
            <a:ext cx="108000" cy="108000"/>
          </a:xfrm>
          <a:prstGeom prst="rect">
            <a:avLst/>
          </a:prstGeom>
          <a:pattFill prst="pct20">
            <a:fgClr>
              <a:schemeClr val="accent1"/>
            </a:fgClr>
            <a:bgClr>
              <a:schemeClr val="bg1"/>
            </a:bgClr>
          </a:patt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No Referral</a:t>
            </a:r>
          </a:p>
        </p:txBody>
      </p:sp>
      <p:grpSp>
        <p:nvGrpSpPr>
          <p:cNvPr id="20" name="Group 19">
            <a:extLst>
              <a:ext uri="{FF2B5EF4-FFF2-40B4-BE49-F238E27FC236}">
                <a16:creationId xmlns:a16="http://schemas.microsoft.com/office/drawing/2014/main" id="{E22D4D04-79CF-B594-7090-6B0417166DBE}"/>
              </a:ext>
            </a:extLst>
          </p:cNvPr>
          <p:cNvGrpSpPr/>
          <p:nvPr/>
        </p:nvGrpSpPr>
        <p:grpSpPr>
          <a:xfrm>
            <a:off x="3959844" y="2043770"/>
            <a:ext cx="1435913" cy="1233688"/>
            <a:chOff x="3959844" y="2043770"/>
            <a:chExt cx="1435913" cy="1233688"/>
          </a:xfrm>
        </p:grpSpPr>
        <p:sp>
          <p:nvSpPr>
            <p:cNvPr id="18" name="Wave 17">
              <a:extLst>
                <a:ext uri="{FF2B5EF4-FFF2-40B4-BE49-F238E27FC236}">
                  <a16:creationId xmlns:a16="http://schemas.microsoft.com/office/drawing/2014/main" id="{D7F1E7DE-4090-71CA-F63C-DE1806F7D910}"/>
                </a:ext>
              </a:extLst>
            </p:cNvPr>
            <p:cNvSpPr/>
            <p:nvPr/>
          </p:nvSpPr>
          <p:spPr>
            <a:xfrm flipH="1">
              <a:off x="4001932" y="214865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8" name="Wave 7">
              <a:extLst>
                <a:ext uri="{FF2B5EF4-FFF2-40B4-BE49-F238E27FC236}">
                  <a16:creationId xmlns:a16="http://schemas.microsoft.com/office/drawing/2014/main" id="{3E861D70-709B-0A55-A5E3-314DF558755B}"/>
                </a:ext>
              </a:extLst>
            </p:cNvPr>
            <p:cNvSpPr/>
            <p:nvPr/>
          </p:nvSpPr>
          <p:spPr>
            <a:xfrm rot="835438" flipH="1">
              <a:off x="3959844" y="2043770"/>
              <a:ext cx="1410304" cy="437604"/>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6" name="Group 5">
            <a:extLst>
              <a:ext uri="{FF2B5EF4-FFF2-40B4-BE49-F238E27FC236}">
                <a16:creationId xmlns:a16="http://schemas.microsoft.com/office/drawing/2014/main" id="{7911D191-5F82-2DB9-634F-AAB40BD32A1B}"/>
              </a:ext>
            </a:extLst>
          </p:cNvPr>
          <p:cNvGrpSpPr/>
          <p:nvPr/>
        </p:nvGrpSpPr>
        <p:grpSpPr>
          <a:xfrm>
            <a:off x="3769656" y="3310549"/>
            <a:ext cx="1613799" cy="1092768"/>
            <a:chOff x="3769656" y="3310549"/>
            <a:chExt cx="1613799" cy="1092768"/>
          </a:xfrm>
        </p:grpSpPr>
        <p:sp>
          <p:nvSpPr>
            <p:cNvPr id="21" name="Wave 20">
              <a:extLst>
                <a:ext uri="{FF2B5EF4-FFF2-40B4-BE49-F238E27FC236}">
                  <a16:creationId xmlns:a16="http://schemas.microsoft.com/office/drawing/2014/main" id="{23EDE187-10B4-A42E-9EDB-B095CFD4A32D}"/>
                </a:ext>
              </a:extLst>
            </p:cNvPr>
            <p:cNvSpPr/>
            <p:nvPr/>
          </p:nvSpPr>
          <p:spPr>
            <a:xfrm flipH="1">
              <a:off x="3989630" y="3500038"/>
              <a:ext cx="1393825" cy="820591"/>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9" name="Wave 8">
              <a:extLst>
                <a:ext uri="{FF2B5EF4-FFF2-40B4-BE49-F238E27FC236}">
                  <a16:creationId xmlns:a16="http://schemas.microsoft.com/office/drawing/2014/main" id="{7B2E1A48-C5C2-0EE5-1A48-98A2912D88A1}"/>
                </a:ext>
              </a:extLst>
            </p:cNvPr>
            <p:cNvSpPr/>
            <p:nvPr/>
          </p:nvSpPr>
          <p:spPr>
            <a:xfrm rot="835438" flipH="1">
              <a:off x="3937450" y="3310549"/>
              <a:ext cx="1410304" cy="551518"/>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1" name="Wave 10">
              <a:extLst>
                <a:ext uri="{FF2B5EF4-FFF2-40B4-BE49-F238E27FC236}">
                  <a16:creationId xmlns:a16="http://schemas.microsoft.com/office/drawing/2014/main" id="{7D61AF80-E4C8-73FA-C0C2-1C5651055FE0}"/>
                </a:ext>
              </a:extLst>
            </p:cNvPr>
            <p:cNvSpPr/>
            <p:nvPr/>
          </p:nvSpPr>
          <p:spPr>
            <a:xfrm rot="10094973" flipH="1">
              <a:off x="3769656" y="3843885"/>
              <a:ext cx="1273470" cy="559432"/>
            </a:xfrm>
            <a:prstGeom prst="wave">
              <a:avLst>
                <a:gd name="adj1" fmla="val 20000"/>
                <a:gd name="adj2" fmla="val -139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aphicFrame>
        <p:nvGraphicFramePr>
          <p:cNvPr id="10" name="Table 9">
            <a:extLst>
              <a:ext uri="{FF2B5EF4-FFF2-40B4-BE49-F238E27FC236}">
                <a16:creationId xmlns:a16="http://schemas.microsoft.com/office/drawing/2014/main" id="{A4CE9EAF-88CF-3226-5FA7-0E56D9F0D1D2}"/>
              </a:ext>
            </a:extLst>
          </p:cNvPr>
          <p:cNvGraphicFramePr>
            <a:graphicFrameLocks noGrp="1"/>
          </p:cNvGraphicFramePr>
          <p:nvPr/>
        </p:nvGraphicFramePr>
        <p:xfrm>
          <a:off x="683712" y="1636575"/>
          <a:ext cx="3318221" cy="4705227"/>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Pathways1</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8517">
                <a:tc>
                  <a:txBody>
                    <a:bodyPr/>
                    <a:lstStyle/>
                    <a:p>
                      <a:pPr algn="r"/>
                      <a:r>
                        <a:rPr lang="en-IN" sz="1050"/>
                        <a:t>PCP</a:t>
                      </a:r>
                      <a:r>
                        <a:rPr lang="en-IN" sz="1050">
                          <a:sym typeface="Wingdings" panose="05000000000000000000" pitchFamily="2" charset="2"/>
                        </a:rPr>
                        <a:t></a:t>
                      </a:r>
                      <a:endParaRPr lang="en-IN" sz="1050"/>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23%</a:t>
                      </a:r>
                    </a:p>
                  </a:txBody>
                  <a:tcPr marL="72000" marR="72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56545257"/>
                  </a:ext>
                </a:extLst>
              </a:tr>
              <a:tr h="326501">
                <a:tc>
                  <a:txBody>
                    <a:bodyPr/>
                    <a:lstStyle/>
                    <a:p>
                      <a:pPr algn="r" fontAlgn="b">
                        <a:buNone/>
                      </a:pP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58927620"/>
                  </a:ext>
                </a:extLst>
              </a:tr>
              <a:tr h="326501">
                <a:tc>
                  <a:txBody>
                    <a:bodyPr/>
                    <a:lstStyle/>
                    <a:p>
                      <a:pPr algn="r" fontAlgn="b">
                        <a:buNone/>
                      </a:pPr>
                      <a:r>
                        <a:rPr lang="en-IN" sz="1100" b="0" i="0" u="none" strike="noStrike">
                          <a:solidFill>
                            <a:srgbClr val="000000"/>
                          </a:solidFill>
                          <a:effectLst/>
                          <a:latin typeface="+mn-lt"/>
                        </a:rPr>
                        <a:t>PCP </a:t>
                      </a:r>
                      <a:r>
                        <a:rPr lang="en-IN" sz="1100">
                          <a:sym typeface="Wingdings" panose="05000000000000000000" pitchFamily="2" charset="2"/>
                        </a:rPr>
                        <a:t> </a:t>
                      </a: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445006373"/>
                  </a:ext>
                </a:extLst>
              </a:tr>
              <a:tr h="326501">
                <a:tc>
                  <a:txBody>
                    <a:bodyPr/>
                    <a:lstStyle/>
                    <a:p>
                      <a:pPr algn="r" fontAlgn="b">
                        <a:buNone/>
                      </a:pPr>
                      <a:r>
                        <a:rPr lang="en-IN" sz="1100" b="0" i="0" u="none" strike="noStrike">
                          <a:solidFill>
                            <a:srgbClr val="000000"/>
                          </a:solidFill>
                          <a:effectLst/>
                          <a:latin typeface="+mn-lt"/>
                        </a:rPr>
                        <a:t>Other</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98352905"/>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2465381658"/>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2953117120"/>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12%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3160788466"/>
                  </a:ext>
                </a:extLst>
              </a:tr>
              <a:tr h="308869">
                <a:tc>
                  <a:txBody>
                    <a:bodyPr/>
                    <a:lstStyle/>
                    <a:p>
                      <a:pPr algn="r" fontAlgn="b">
                        <a:buNone/>
                      </a:pPr>
                      <a:r>
                        <a:rPr lang="en-IN" sz="1050" b="0" i="0" u="none" strike="noStrike">
                          <a:solidFill>
                            <a:srgbClr val="000000"/>
                          </a:solidFill>
                          <a:effectLst/>
                          <a:latin typeface="+mn-lt"/>
                        </a:rPr>
                        <a:t>Neuro/Psych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3666415997"/>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Pulmonologist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22%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487683544"/>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2759851288"/>
                  </a:ext>
                </a:extLst>
              </a:tr>
            </a:tbl>
          </a:graphicData>
        </a:graphic>
      </p:graphicFrame>
      <p:grpSp>
        <p:nvGrpSpPr>
          <p:cNvPr id="27" name="Group 26">
            <a:extLst>
              <a:ext uri="{FF2B5EF4-FFF2-40B4-BE49-F238E27FC236}">
                <a16:creationId xmlns:a16="http://schemas.microsoft.com/office/drawing/2014/main" id="{5DC0689F-7C29-379C-1BD7-1FB5A4EAD4AF}"/>
              </a:ext>
            </a:extLst>
          </p:cNvPr>
          <p:cNvGrpSpPr/>
          <p:nvPr/>
        </p:nvGrpSpPr>
        <p:grpSpPr>
          <a:xfrm>
            <a:off x="3941336" y="4466975"/>
            <a:ext cx="1442121" cy="565567"/>
            <a:chOff x="3941336" y="4466975"/>
            <a:chExt cx="1442121" cy="565567"/>
          </a:xfrm>
        </p:grpSpPr>
        <p:sp>
          <p:nvSpPr>
            <p:cNvPr id="22" name="Wave 21">
              <a:extLst>
                <a:ext uri="{FF2B5EF4-FFF2-40B4-BE49-F238E27FC236}">
                  <a16:creationId xmlns:a16="http://schemas.microsoft.com/office/drawing/2014/main" id="{43F10890-667C-A723-E6C2-5C326D5A862A}"/>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2" name="Wave 11">
              <a:extLst>
                <a:ext uri="{FF2B5EF4-FFF2-40B4-BE49-F238E27FC236}">
                  <a16:creationId xmlns:a16="http://schemas.microsoft.com/office/drawing/2014/main" id="{F0A59E68-9D8B-84C3-6D88-73F4EE34FE4F}"/>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13" name="Wave 12">
            <a:extLst>
              <a:ext uri="{FF2B5EF4-FFF2-40B4-BE49-F238E27FC236}">
                <a16:creationId xmlns:a16="http://schemas.microsoft.com/office/drawing/2014/main" id="{3A1126A4-F9C4-AC7D-E22F-B81C78CF01D6}"/>
              </a:ext>
            </a:extLst>
          </p:cNvPr>
          <p:cNvSpPr/>
          <p:nvPr/>
        </p:nvSpPr>
        <p:spPr>
          <a:xfrm rot="10094973" flipH="1">
            <a:off x="3953261" y="5228635"/>
            <a:ext cx="1469516" cy="359292"/>
          </a:xfrm>
          <a:prstGeom prst="wave">
            <a:avLst>
              <a:gd name="adj1" fmla="val 9945"/>
              <a:gd name="adj2" fmla="val 2241"/>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7" name="Group 6">
            <a:extLst>
              <a:ext uri="{FF2B5EF4-FFF2-40B4-BE49-F238E27FC236}">
                <a16:creationId xmlns:a16="http://schemas.microsoft.com/office/drawing/2014/main" id="{8FA6BAD8-C7D2-0E1D-0B98-9447ED3A41BE}"/>
              </a:ext>
            </a:extLst>
          </p:cNvPr>
          <p:cNvGrpSpPr/>
          <p:nvPr/>
        </p:nvGrpSpPr>
        <p:grpSpPr>
          <a:xfrm rot="10800000">
            <a:off x="6769785" y="3449647"/>
            <a:ext cx="1766488" cy="973463"/>
            <a:chOff x="3795550" y="3199975"/>
            <a:chExt cx="1587906" cy="1454947"/>
          </a:xfrm>
        </p:grpSpPr>
        <p:sp>
          <p:nvSpPr>
            <p:cNvPr id="16" name="Wave 15">
              <a:extLst>
                <a:ext uri="{FF2B5EF4-FFF2-40B4-BE49-F238E27FC236}">
                  <a16:creationId xmlns:a16="http://schemas.microsoft.com/office/drawing/2014/main" id="{1FFF2045-71D4-CF0C-7D44-A1A53630E22B}"/>
                </a:ext>
              </a:extLst>
            </p:cNvPr>
            <p:cNvSpPr/>
            <p:nvPr/>
          </p:nvSpPr>
          <p:spPr>
            <a:xfrm flipH="1">
              <a:off x="3910382" y="3500039"/>
              <a:ext cx="1473074" cy="976242"/>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7" name="Wave 16">
              <a:extLst>
                <a:ext uri="{FF2B5EF4-FFF2-40B4-BE49-F238E27FC236}">
                  <a16:creationId xmlns:a16="http://schemas.microsoft.com/office/drawing/2014/main" id="{9BD8FD62-49BA-679E-1D2C-EAC42883B147}"/>
                </a:ext>
              </a:extLst>
            </p:cNvPr>
            <p:cNvSpPr/>
            <p:nvPr/>
          </p:nvSpPr>
          <p:spPr>
            <a:xfrm rot="835438" flipH="1">
              <a:off x="3893475" y="3199975"/>
              <a:ext cx="1410304" cy="748982"/>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48" name="Wave 47">
              <a:extLst>
                <a:ext uri="{FF2B5EF4-FFF2-40B4-BE49-F238E27FC236}">
                  <a16:creationId xmlns:a16="http://schemas.microsoft.com/office/drawing/2014/main" id="{A917F1A5-EA54-BF5F-327A-0B72A97F0BCF}"/>
                </a:ext>
              </a:extLst>
            </p:cNvPr>
            <p:cNvSpPr/>
            <p:nvPr/>
          </p:nvSpPr>
          <p:spPr>
            <a:xfrm rot="8790076" flipH="1">
              <a:off x="3795550" y="4022620"/>
              <a:ext cx="1294861" cy="632302"/>
            </a:xfrm>
            <a:prstGeom prst="wave">
              <a:avLst>
                <a:gd name="adj1" fmla="val 9782"/>
                <a:gd name="adj2" fmla="val -1404"/>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29" name="Group 28">
            <a:extLst>
              <a:ext uri="{FF2B5EF4-FFF2-40B4-BE49-F238E27FC236}">
                <a16:creationId xmlns:a16="http://schemas.microsoft.com/office/drawing/2014/main" id="{9093D18C-71C1-F187-4C44-498F98105B92}"/>
              </a:ext>
            </a:extLst>
          </p:cNvPr>
          <p:cNvGrpSpPr/>
          <p:nvPr/>
        </p:nvGrpSpPr>
        <p:grpSpPr>
          <a:xfrm rot="10800000">
            <a:off x="6782953" y="4531549"/>
            <a:ext cx="1442121" cy="515529"/>
            <a:chOff x="3941336" y="4466975"/>
            <a:chExt cx="1442121" cy="565567"/>
          </a:xfrm>
        </p:grpSpPr>
        <p:sp>
          <p:nvSpPr>
            <p:cNvPr id="31" name="Wave 30">
              <a:extLst>
                <a:ext uri="{FF2B5EF4-FFF2-40B4-BE49-F238E27FC236}">
                  <a16:creationId xmlns:a16="http://schemas.microsoft.com/office/drawing/2014/main" id="{4F86DFA1-F8EE-4CD8-ED1A-4882454A9597}"/>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7" name="Wave 36">
              <a:extLst>
                <a:ext uri="{FF2B5EF4-FFF2-40B4-BE49-F238E27FC236}">
                  <a16:creationId xmlns:a16="http://schemas.microsoft.com/office/drawing/2014/main" id="{393C6C80-B6DD-D22F-978D-5840C8E06A7D}"/>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40" name="Wave 39">
            <a:extLst>
              <a:ext uri="{FF2B5EF4-FFF2-40B4-BE49-F238E27FC236}">
                <a16:creationId xmlns:a16="http://schemas.microsoft.com/office/drawing/2014/main" id="{944B3608-0BF6-BD72-1507-1696E37D7D89}"/>
              </a:ext>
            </a:extLst>
          </p:cNvPr>
          <p:cNvSpPr/>
          <p:nvPr/>
        </p:nvSpPr>
        <p:spPr>
          <a:xfrm rot="664712">
            <a:off x="6806887" y="5264608"/>
            <a:ext cx="1465033" cy="342562"/>
          </a:xfrm>
          <a:prstGeom prst="wave">
            <a:avLst>
              <a:gd name="adj1" fmla="val 20000"/>
              <a:gd name="adj2" fmla="val 1768"/>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aphicFrame>
        <p:nvGraphicFramePr>
          <p:cNvPr id="14" name="Table 13">
            <a:extLst>
              <a:ext uri="{FF2B5EF4-FFF2-40B4-BE49-F238E27FC236}">
                <a16:creationId xmlns:a16="http://schemas.microsoft.com/office/drawing/2014/main" id="{16358CD1-0CB7-F749-DD07-4CCAB25B1DC0}"/>
              </a:ext>
            </a:extLst>
          </p:cNvPr>
          <p:cNvGraphicFramePr>
            <a:graphicFrameLocks noGrp="1"/>
          </p:cNvGraphicFramePr>
          <p:nvPr/>
        </p:nvGraphicFramePr>
        <p:xfrm>
          <a:off x="8188733" y="1636575"/>
          <a:ext cx="3318221" cy="4705221"/>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14%</a:t>
                      </a:r>
                    </a:p>
                  </a:txBody>
                  <a:tcPr marL="72000" marR="36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5654525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589276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Other</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445006373"/>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98352905"/>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20%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4653816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12%</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9531171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Other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1607884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66641599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15%</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Pulmonologist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16%</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Pulmonologist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487683544"/>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2759851288"/>
                  </a:ext>
                </a:extLst>
              </a:tr>
            </a:tbl>
          </a:graphicData>
        </a:graphic>
      </p:graphicFrame>
      <p:sp>
        <p:nvSpPr>
          <p:cNvPr id="47" name="Wave 46">
            <a:extLst>
              <a:ext uri="{FF2B5EF4-FFF2-40B4-BE49-F238E27FC236}">
                <a16:creationId xmlns:a16="http://schemas.microsoft.com/office/drawing/2014/main" id="{26F4E2C8-F6A4-1180-AC6B-FE8B909EB3FB}"/>
              </a:ext>
            </a:extLst>
          </p:cNvPr>
          <p:cNvSpPr/>
          <p:nvPr/>
        </p:nvSpPr>
        <p:spPr>
          <a:xfrm flipH="1">
            <a:off x="6794908" y="5682940"/>
            <a:ext cx="1393825" cy="79441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2" name="Rectangle: Rounded Corners 1">
            <a:extLst>
              <a:ext uri="{FF2B5EF4-FFF2-40B4-BE49-F238E27FC236}">
                <a16:creationId xmlns:a16="http://schemas.microsoft.com/office/drawing/2014/main" id="{440D1BE4-5F5C-1413-0B92-446A07A95D6C}"/>
              </a:ext>
            </a:extLst>
          </p:cNvPr>
          <p:cNvSpPr/>
          <p:nvPr/>
        </p:nvSpPr>
        <p:spPr>
          <a:xfrm>
            <a:off x="6179704" y="1201157"/>
            <a:ext cx="5486216" cy="5360507"/>
          </a:xfrm>
          <a:prstGeom prst="roundRect">
            <a:avLst>
              <a:gd name="adj" fmla="val 3435"/>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 name="Rectangle: Rounded Corners 2">
            <a:extLst>
              <a:ext uri="{FF2B5EF4-FFF2-40B4-BE49-F238E27FC236}">
                <a16:creationId xmlns:a16="http://schemas.microsoft.com/office/drawing/2014/main" id="{08792E5C-8546-1EA9-D946-668006000A02}"/>
              </a:ext>
            </a:extLst>
          </p:cNvPr>
          <p:cNvSpPr/>
          <p:nvPr/>
        </p:nvSpPr>
        <p:spPr>
          <a:xfrm>
            <a:off x="6342959" y="1516124"/>
            <a:ext cx="5137824" cy="4813893"/>
          </a:xfrm>
          <a:prstGeom prst="roundRect">
            <a:avLst>
              <a:gd name="adj" fmla="val 3290"/>
            </a:avLst>
          </a:prstGeom>
          <a:solidFill>
            <a:schemeClr val="bg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5" name="TextBox 4">
            <a:extLst>
              <a:ext uri="{FF2B5EF4-FFF2-40B4-BE49-F238E27FC236}">
                <a16:creationId xmlns:a16="http://schemas.microsoft.com/office/drawing/2014/main" id="{8BD1B6BE-9CA9-C686-3849-3D7FB76699B4}"/>
              </a:ext>
            </a:extLst>
          </p:cNvPr>
          <p:cNvSpPr txBox="1"/>
          <p:nvPr/>
        </p:nvSpPr>
        <p:spPr>
          <a:xfrm>
            <a:off x="7485155" y="1766858"/>
            <a:ext cx="3032522" cy="369332"/>
          </a:xfrm>
          <a:prstGeom prst="rect">
            <a:avLst/>
          </a:prstGeom>
          <a:noFill/>
        </p:spPr>
        <p:txBody>
          <a:bodyPr wrap="square" rtlCol="0">
            <a:spAutoFit/>
          </a:bodyPr>
          <a:lstStyle/>
          <a:p>
            <a:pPr algn="ctr"/>
            <a:r>
              <a:rPr lang="en-IN" b="1"/>
              <a:t>Key Insights</a:t>
            </a:r>
          </a:p>
        </p:txBody>
      </p:sp>
      <p:sp>
        <p:nvSpPr>
          <p:cNvPr id="19" name="TextBox 18">
            <a:extLst>
              <a:ext uri="{FF2B5EF4-FFF2-40B4-BE49-F238E27FC236}">
                <a16:creationId xmlns:a16="http://schemas.microsoft.com/office/drawing/2014/main" id="{C30F97AD-842E-04C3-D65E-08DF8287D062}"/>
              </a:ext>
            </a:extLst>
          </p:cNvPr>
          <p:cNvSpPr txBox="1"/>
          <p:nvPr/>
        </p:nvSpPr>
        <p:spPr>
          <a:xfrm>
            <a:off x="6446114" y="2286035"/>
            <a:ext cx="4865014" cy="3108543"/>
          </a:xfrm>
          <a:prstGeom prst="rect">
            <a:avLst/>
          </a:prstGeom>
          <a:noFill/>
        </p:spPr>
        <p:txBody>
          <a:bodyPr wrap="square" rtlCol="0">
            <a:spAutoFit/>
          </a:bodyPr>
          <a:lstStyle/>
          <a:p>
            <a:pPr marL="285750" indent="-285750">
              <a:buFont typeface="Arial" panose="020B0604020202020204" pitchFamily="34" charset="0"/>
              <a:buChar char="•"/>
            </a:pPr>
            <a:r>
              <a:rPr lang="en-US" sz="1400" b="1"/>
              <a:t>PCPs are the primary entry point - </a:t>
            </a:r>
            <a:r>
              <a:rPr lang="en-US" sz="1400"/>
              <a:t>~37% of patients have their first NT1 diagnosis claim associated with a PCP, making them the most common initial touchpoint.</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Sleep specialists are the second key diagnosing specialty - </a:t>
            </a:r>
            <a:r>
              <a:rPr lang="en-US" sz="1400"/>
              <a:t>Referrals most commonly flow from PCP → Sleep Specialist, highlighting this as the dominant pathway to diagnosis.</a:t>
            </a:r>
          </a:p>
          <a:p>
            <a:pPr marL="285750" indent="-285750">
              <a:buFont typeface="Arial" panose="020B0604020202020204" pitchFamily="34" charset="0"/>
              <a:buChar char="•"/>
            </a:pPr>
            <a:endParaRPr lang="en-US" sz="1400" b="1"/>
          </a:p>
          <a:p>
            <a:pPr marL="285750" indent="-285750">
              <a:buFont typeface="Arial" panose="020B0604020202020204" pitchFamily="34" charset="0"/>
              <a:buChar char="•"/>
            </a:pPr>
            <a:r>
              <a:rPr lang="en-US" sz="1400" b="1"/>
              <a:t>Referrals play a critical role pre-diagnosis </a:t>
            </a:r>
            <a:r>
              <a:rPr lang="en-US" sz="1400"/>
              <a:t>- ~80% of patients had at least one referral before receiving an NT1 diagnosis.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PCPs anchor the referral journey - </a:t>
            </a:r>
            <a:r>
              <a:rPr lang="en-US" sz="1400"/>
              <a:t>Among patients with referrals, PCPs are the most consistent and central coordinators, appearing frequently across referral pathways.</a:t>
            </a:r>
            <a:endParaRPr lang="en-IN" sz="1400"/>
          </a:p>
        </p:txBody>
      </p:sp>
      <p:sp>
        <p:nvSpPr>
          <p:cNvPr id="28" name="Slide Number Placeholder 4">
            <a:extLst>
              <a:ext uri="{FF2B5EF4-FFF2-40B4-BE49-F238E27FC236}">
                <a16:creationId xmlns:a16="http://schemas.microsoft.com/office/drawing/2014/main" id="{02582EDF-D071-158D-58D3-74B394EC14EF}"/>
              </a:ext>
            </a:extLst>
          </p:cNvPr>
          <p:cNvSpPr>
            <a:spLocks noGrp="1"/>
          </p:cNvSpPr>
          <p:nvPr>
            <p:ph type="sldNum" sz="quarter" idx="4"/>
          </p:nvPr>
        </p:nvSpPr>
        <p:spPr>
          <a:xfrm>
            <a:off x="311150" y="6523001"/>
            <a:ext cx="294928" cy="196131"/>
          </a:xfrm>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14</a:t>
            </a:fld>
            <a:endParaRPr kumimoji="0" lang="ja-JP" altLang="en-US" sz="800" b="1" i="0" u="none" strike="noStrike" kern="1200" cap="none" spc="0" normalizeH="0" baseline="0" noProof="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endParaRPr>
          </a:p>
        </p:txBody>
      </p:sp>
    </p:spTree>
    <p:extLst>
      <p:ext uri="{BB962C8B-B14F-4D97-AF65-F5344CB8AC3E}">
        <p14:creationId xmlns:p14="http://schemas.microsoft.com/office/powerpoint/2010/main" val="3763928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47FAB-7747-B651-1373-C44F50F8A42B}"/>
            </a:ext>
          </a:extLst>
        </p:cNvPr>
        <p:cNvGrpSpPr/>
        <p:nvPr/>
      </p:nvGrpSpPr>
      <p:grpSpPr>
        <a:xfrm>
          <a:off x="0" y="0"/>
          <a:ext cx="0" cy="0"/>
          <a:chOff x="0" y="0"/>
          <a:chExt cx="0" cy="0"/>
        </a:xfrm>
      </p:grpSpPr>
      <p:sp>
        <p:nvSpPr>
          <p:cNvPr id="70" name="Wave 69">
            <a:extLst>
              <a:ext uri="{FF2B5EF4-FFF2-40B4-BE49-F238E27FC236}">
                <a16:creationId xmlns:a16="http://schemas.microsoft.com/office/drawing/2014/main" id="{6C0EEA81-D409-A1E6-28A4-CED4DB10B26A}"/>
              </a:ext>
            </a:extLst>
          </p:cNvPr>
          <p:cNvSpPr/>
          <p:nvPr/>
        </p:nvSpPr>
        <p:spPr>
          <a:xfrm flipH="1">
            <a:off x="6815243" y="5715299"/>
            <a:ext cx="1373487" cy="60965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2" name="Wave 61">
            <a:extLst>
              <a:ext uri="{FF2B5EF4-FFF2-40B4-BE49-F238E27FC236}">
                <a16:creationId xmlns:a16="http://schemas.microsoft.com/office/drawing/2014/main" id="{184C66F8-170B-71D3-6C38-2A3B5836F33E}"/>
              </a:ext>
            </a:extLst>
          </p:cNvPr>
          <p:cNvSpPr/>
          <p:nvPr/>
        </p:nvSpPr>
        <p:spPr>
          <a:xfrm rot="21077994">
            <a:off x="6795851" y="5056969"/>
            <a:ext cx="1421959"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8" name="Wave 67">
            <a:extLst>
              <a:ext uri="{FF2B5EF4-FFF2-40B4-BE49-F238E27FC236}">
                <a16:creationId xmlns:a16="http://schemas.microsoft.com/office/drawing/2014/main" id="{49E47B75-8143-4412-E0B0-CE8AFE7544F4}"/>
              </a:ext>
            </a:extLst>
          </p:cNvPr>
          <p:cNvSpPr/>
          <p:nvPr/>
        </p:nvSpPr>
        <p:spPr>
          <a:xfrm rot="664712">
            <a:off x="6792774" y="5292499"/>
            <a:ext cx="1465033" cy="284697"/>
          </a:xfrm>
          <a:prstGeom prst="wave">
            <a:avLst>
              <a:gd name="adj1" fmla="val 20000"/>
              <a:gd name="adj2" fmla="val 1768"/>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2" name="Rectangle 71">
            <a:extLst>
              <a:ext uri="{FF2B5EF4-FFF2-40B4-BE49-F238E27FC236}">
                <a16:creationId xmlns:a16="http://schemas.microsoft.com/office/drawing/2014/main" id="{56A7D828-C81E-4ED0-FB8B-7D2FB334F04A}"/>
              </a:ext>
            </a:extLst>
          </p:cNvPr>
          <p:cNvSpPr/>
          <p:nvPr/>
        </p:nvSpPr>
        <p:spPr>
          <a:xfrm>
            <a:off x="8061107" y="5408281"/>
            <a:ext cx="131776" cy="131136"/>
          </a:xfrm>
          <a:prstGeom prst="rect">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3" name="Rectangle 72">
            <a:extLst>
              <a:ext uri="{FF2B5EF4-FFF2-40B4-BE49-F238E27FC236}">
                <a16:creationId xmlns:a16="http://schemas.microsoft.com/office/drawing/2014/main" id="{BA4299BD-D893-7473-7FF3-094ED90905C3}"/>
              </a:ext>
            </a:extLst>
          </p:cNvPr>
          <p:cNvSpPr/>
          <p:nvPr/>
        </p:nvSpPr>
        <p:spPr>
          <a:xfrm>
            <a:off x="7735198" y="5281774"/>
            <a:ext cx="456950" cy="251836"/>
          </a:xfrm>
          <a:prstGeom prst="rect">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74" name="Group 73">
            <a:extLst>
              <a:ext uri="{FF2B5EF4-FFF2-40B4-BE49-F238E27FC236}">
                <a16:creationId xmlns:a16="http://schemas.microsoft.com/office/drawing/2014/main" id="{1A1AB3CE-E16D-00CE-A847-1644EED2DBC0}"/>
              </a:ext>
            </a:extLst>
          </p:cNvPr>
          <p:cNvGrpSpPr/>
          <p:nvPr/>
        </p:nvGrpSpPr>
        <p:grpSpPr>
          <a:xfrm rot="10800000">
            <a:off x="6815242" y="3518277"/>
            <a:ext cx="1719519" cy="924604"/>
            <a:chOff x="3800146" y="3199975"/>
            <a:chExt cx="1575761" cy="1381922"/>
          </a:xfrm>
        </p:grpSpPr>
        <p:sp>
          <p:nvSpPr>
            <p:cNvPr id="75" name="Wave 74">
              <a:extLst>
                <a:ext uri="{FF2B5EF4-FFF2-40B4-BE49-F238E27FC236}">
                  <a16:creationId xmlns:a16="http://schemas.microsoft.com/office/drawing/2014/main" id="{58D4A596-0963-CB62-1A98-B38E76EA28B6}"/>
                </a:ext>
              </a:extLst>
            </p:cNvPr>
            <p:cNvSpPr/>
            <p:nvPr/>
          </p:nvSpPr>
          <p:spPr>
            <a:xfrm flipH="1">
              <a:off x="3902833" y="3459843"/>
              <a:ext cx="1473074" cy="702345"/>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6" name="Wave 75">
              <a:extLst>
                <a:ext uri="{FF2B5EF4-FFF2-40B4-BE49-F238E27FC236}">
                  <a16:creationId xmlns:a16="http://schemas.microsoft.com/office/drawing/2014/main" id="{610E36D1-2E54-3D32-305C-70C60055B0E5}"/>
                </a:ext>
              </a:extLst>
            </p:cNvPr>
            <p:cNvSpPr/>
            <p:nvPr/>
          </p:nvSpPr>
          <p:spPr>
            <a:xfrm rot="835438" flipH="1">
              <a:off x="3893476" y="3199975"/>
              <a:ext cx="1410304" cy="748982"/>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7" name="Wave 76">
              <a:extLst>
                <a:ext uri="{FF2B5EF4-FFF2-40B4-BE49-F238E27FC236}">
                  <a16:creationId xmlns:a16="http://schemas.microsoft.com/office/drawing/2014/main" id="{9FC13A7B-A594-4D18-2698-044AE5EBB03C}"/>
                </a:ext>
              </a:extLst>
            </p:cNvPr>
            <p:cNvSpPr/>
            <p:nvPr/>
          </p:nvSpPr>
          <p:spPr>
            <a:xfrm rot="8523627" flipH="1">
              <a:off x="3800146" y="3949595"/>
              <a:ext cx="1294861" cy="632302"/>
            </a:xfrm>
            <a:prstGeom prst="wave">
              <a:avLst>
                <a:gd name="adj1" fmla="val 9782"/>
                <a:gd name="adj2" fmla="val -1404"/>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59" name="Group 58">
            <a:extLst>
              <a:ext uri="{FF2B5EF4-FFF2-40B4-BE49-F238E27FC236}">
                <a16:creationId xmlns:a16="http://schemas.microsoft.com/office/drawing/2014/main" id="{2D3E3D83-23E6-2198-2431-1776F1149818}"/>
              </a:ext>
            </a:extLst>
          </p:cNvPr>
          <p:cNvGrpSpPr/>
          <p:nvPr/>
        </p:nvGrpSpPr>
        <p:grpSpPr>
          <a:xfrm rot="10800000">
            <a:off x="6815246" y="2035371"/>
            <a:ext cx="1636325" cy="1238544"/>
            <a:chOff x="3750553" y="2147794"/>
            <a:chExt cx="1636325" cy="1392185"/>
          </a:xfrm>
        </p:grpSpPr>
        <p:sp>
          <p:nvSpPr>
            <p:cNvPr id="60" name="Wave 59">
              <a:extLst>
                <a:ext uri="{FF2B5EF4-FFF2-40B4-BE49-F238E27FC236}">
                  <a16:creationId xmlns:a16="http://schemas.microsoft.com/office/drawing/2014/main" id="{14371041-BC1A-7815-B678-1465CA177A9B}"/>
                </a:ext>
              </a:extLst>
            </p:cNvPr>
            <p:cNvSpPr/>
            <p:nvPr/>
          </p:nvSpPr>
          <p:spPr>
            <a:xfrm flipH="1">
              <a:off x="3993053" y="214779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1" name="Wave 60">
              <a:extLst>
                <a:ext uri="{FF2B5EF4-FFF2-40B4-BE49-F238E27FC236}">
                  <a16:creationId xmlns:a16="http://schemas.microsoft.com/office/drawing/2014/main" id="{2403EF2E-9D1C-D620-FF93-47C8167B0FFC}"/>
                </a:ext>
              </a:extLst>
            </p:cNvPr>
            <p:cNvSpPr/>
            <p:nvPr/>
          </p:nvSpPr>
          <p:spPr>
            <a:xfrm rot="20593520" flipH="1">
              <a:off x="3750553" y="2680749"/>
              <a:ext cx="1410304" cy="859230"/>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38" name="Rectangle 37">
            <a:extLst>
              <a:ext uri="{FF2B5EF4-FFF2-40B4-BE49-F238E27FC236}">
                <a16:creationId xmlns:a16="http://schemas.microsoft.com/office/drawing/2014/main" id="{885C26C7-9CDE-CC6F-4C77-75C23EFCE453}"/>
              </a:ext>
            </a:extLst>
          </p:cNvPr>
          <p:cNvSpPr/>
          <p:nvPr/>
        </p:nvSpPr>
        <p:spPr>
          <a:xfrm>
            <a:off x="683712" y="1309157"/>
            <a:ext cx="10823242" cy="315585"/>
          </a:xfrm>
          <a:prstGeom prst="rect">
            <a:avLst/>
          </a:prstGeom>
          <a:solidFill>
            <a:schemeClr val="tx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sz="1400" b="1">
                <a:solidFill>
                  <a:schemeClr val="bg1"/>
                </a:solidFill>
              </a:rPr>
              <a:t>						Spec Distribution at NT Diagnosis 				</a:t>
            </a:r>
          </a:p>
        </p:txBody>
      </p:sp>
      <p:sp>
        <p:nvSpPr>
          <p:cNvPr id="4" name="Title 3">
            <a:extLst>
              <a:ext uri="{FF2B5EF4-FFF2-40B4-BE49-F238E27FC236}">
                <a16:creationId xmlns:a16="http://schemas.microsoft.com/office/drawing/2014/main" id="{7C6A623C-0AC7-BC1B-90C0-44DBAA586BEF}"/>
              </a:ext>
            </a:extLst>
          </p:cNvPr>
          <p:cNvSpPr>
            <a:spLocks noGrp="1"/>
          </p:cNvSpPr>
          <p:nvPr>
            <p:ph type="title"/>
          </p:nvPr>
        </p:nvSpPr>
        <p:spPr>
          <a:xfrm>
            <a:off x="606078" y="161605"/>
            <a:ext cx="10145341" cy="685801"/>
          </a:xfrm>
        </p:spPr>
        <p:txBody>
          <a:bodyPr>
            <a:noAutofit/>
          </a:bodyPr>
          <a:lstStyle/>
          <a:p>
            <a:r>
              <a:rPr lang="en-US" sz="2000"/>
              <a:t>Post-diagnosis management shifts to specialists, with referral pathways enabling continued care beyond the diagnosing HCP</a:t>
            </a:r>
            <a:endParaRPr lang="en-IN" sz="2000"/>
          </a:p>
        </p:txBody>
      </p:sp>
      <p:graphicFrame>
        <p:nvGraphicFramePr>
          <p:cNvPr id="69" name="Chart 68">
            <a:extLst>
              <a:ext uri="{FF2B5EF4-FFF2-40B4-BE49-F238E27FC236}">
                <a16:creationId xmlns:a16="http://schemas.microsoft.com/office/drawing/2014/main" id="{390BAB14-CE7A-BC82-DD1F-50DB7BA2EF13}"/>
              </a:ext>
            </a:extLst>
          </p:cNvPr>
          <p:cNvGraphicFramePr/>
          <p:nvPr/>
        </p:nvGraphicFramePr>
        <p:xfrm>
          <a:off x="5210577" y="1636575"/>
          <a:ext cx="1760227" cy="5089524"/>
        </p:xfrm>
        <a:graphic>
          <a:graphicData uri="http://schemas.openxmlformats.org/drawingml/2006/chart">
            <c:chart xmlns:c="http://schemas.openxmlformats.org/drawingml/2006/chart" xmlns:r="http://schemas.openxmlformats.org/officeDocument/2006/relationships" r:id="rId3"/>
          </a:graphicData>
        </a:graphic>
      </p:graphicFrame>
      <p:sp>
        <p:nvSpPr>
          <p:cNvPr id="51" name="Text Placeholder 5">
            <a:extLst>
              <a:ext uri="{FF2B5EF4-FFF2-40B4-BE49-F238E27FC236}">
                <a16:creationId xmlns:a16="http://schemas.microsoft.com/office/drawing/2014/main" id="{C61B483E-1825-6BE6-CD28-62CC827657BA}"/>
              </a:ext>
            </a:extLst>
          </p:cNvPr>
          <p:cNvSpPr txBox="1">
            <a:spLocks/>
          </p:cNvSpPr>
          <p:nvPr/>
        </p:nvSpPr>
        <p:spPr>
          <a:xfrm>
            <a:off x="606078" y="6616599"/>
            <a:ext cx="6968348" cy="196131"/>
          </a:xfrm>
          <a:prstGeom prst="rect">
            <a:avLst/>
          </a:prstGeom>
        </p:spPr>
        <p:txBody>
          <a:bodyPr vert="horz" wrap="none" lIns="0" tIns="0" rIns="0" bIns="72000" numCol="1" rtlCol="0" anchor="t">
            <a:noAutofit/>
          </a:bodyPr>
          <a:lstStyle>
            <a:lvl1pPr marL="0" indent="0" algn="l" defTabSz="914150" rtl="0" eaLnBrk="1" latinLnBrk="0" hangingPunct="1">
              <a:lnSpc>
                <a:spcPts val="1600"/>
              </a:lnSpc>
              <a:spcBef>
                <a:spcPts val="0"/>
              </a:spcBef>
              <a:spcAft>
                <a:spcPts val="600"/>
              </a:spcAft>
              <a:buClr>
                <a:srgbClr val="4C4948"/>
              </a:buClr>
              <a:buFont typeface="Arial" panose="020B0604020202020204" pitchFamily="34" charset="0"/>
              <a:buNone/>
              <a:defRPr kumimoji="1" sz="800" b="0" i="0" kern="1200" baseline="0">
                <a:solidFill>
                  <a:schemeClr val="accent3"/>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IN" i="1"/>
              <a:t>1. Last HCP of the pathway may or may not be same as the diagnosing HCP</a:t>
            </a:r>
          </a:p>
        </p:txBody>
      </p:sp>
      <p:sp>
        <p:nvSpPr>
          <p:cNvPr id="58" name="TextBox 57">
            <a:extLst>
              <a:ext uri="{FF2B5EF4-FFF2-40B4-BE49-F238E27FC236}">
                <a16:creationId xmlns:a16="http://schemas.microsoft.com/office/drawing/2014/main" id="{DAF3F745-4145-28FE-61A3-D5B789AC3837}"/>
              </a:ext>
            </a:extLst>
          </p:cNvPr>
          <p:cNvSpPr txBox="1"/>
          <p:nvPr/>
        </p:nvSpPr>
        <p:spPr>
          <a:xfrm>
            <a:off x="5483187" y="6561666"/>
            <a:ext cx="1011916" cy="138499"/>
          </a:xfrm>
          <a:prstGeom prst="rect">
            <a:avLst/>
          </a:prstGeom>
          <a:noFill/>
        </p:spPr>
        <p:txBody>
          <a:bodyPr wrap="square" lIns="0" tIns="0" rIns="0" bIns="0" rtlCol="0">
            <a:spAutoFit/>
          </a:bodyPr>
          <a:lstStyle/>
          <a:p>
            <a:pPr algn="r"/>
            <a:r>
              <a:rPr lang="en-IN" sz="900" b="1" i="1"/>
              <a:t>n=32K Patients</a:t>
            </a:r>
          </a:p>
        </p:txBody>
      </p:sp>
      <p:sp>
        <p:nvSpPr>
          <p:cNvPr id="25" name="Wave 24">
            <a:extLst>
              <a:ext uri="{FF2B5EF4-FFF2-40B4-BE49-F238E27FC236}">
                <a16:creationId xmlns:a16="http://schemas.microsoft.com/office/drawing/2014/main" id="{8BF86181-9589-0DC8-10EE-8C80D04DB8F7}"/>
              </a:ext>
            </a:extLst>
          </p:cNvPr>
          <p:cNvSpPr/>
          <p:nvPr/>
        </p:nvSpPr>
        <p:spPr>
          <a:xfrm flipH="1">
            <a:off x="3989632" y="5056685"/>
            <a:ext cx="1393825" cy="450178"/>
          </a:xfrm>
          <a:prstGeom prst="wave">
            <a:avLst>
              <a:gd name="adj1" fmla="val 20000"/>
              <a:gd name="adj2" fmla="val 0"/>
            </a:avLst>
          </a:prstGeom>
          <a:solidFill>
            <a:srgbClr val="E2EAEE">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36" name="Wave 35">
            <a:extLst>
              <a:ext uri="{FF2B5EF4-FFF2-40B4-BE49-F238E27FC236}">
                <a16:creationId xmlns:a16="http://schemas.microsoft.com/office/drawing/2014/main" id="{EA9DE4B2-B504-489B-BF74-D8AE1D312032}"/>
              </a:ext>
            </a:extLst>
          </p:cNvPr>
          <p:cNvSpPr/>
          <p:nvPr/>
        </p:nvSpPr>
        <p:spPr>
          <a:xfrm flipH="1">
            <a:off x="4009337" y="5626683"/>
            <a:ext cx="1393825" cy="794411"/>
          </a:xfrm>
          <a:prstGeom prst="wave">
            <a:avLst>
              <a:gd name="adj1" fmla="val 6811"/>
              <a:gd name="adj2" fmla="val 0"/>
            </a:avLst>
          </a:prstGeom>
          <a:gradFill>
            <a:gsLst>
              <a:gs pos="39000">
                <a:srgbClr val="EFF0F2">
                  <a:alpha val="58000"/>
                </a:srgbClr>
              </a:gs>
              <a:gs pos="100000">
                <a:srgbClr val="FCE9E9">
                  <a:alpha val="37000"/>
                </a:srgbClr>
              </a:gs>
            </a:gsLst>
            <a:lin ang="5400000" scaled="1"/>
          </a:gra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nvGrpSpPr>
          <p:cNvPr id="44" name="Group 43">
            <a:extLst>
              <a:ext uri="{FF2B5EF4-FFF2-40B4-BE49-F238E27FC236}">
                <a16:creationId xmlns:a16="http://schemas.microsoft.com/office/drawing/2014/main" id="{28C3EB79-AAEF-74BF-75F2-B905B7DE8005}"/>
              </a:ext>
            </a:extLst>
          </p:cNvPr>
          <p:cNvGrpSpPr/>
          <p:nvPr/>
        </p:nvGrpSpPr>
        <p:grpSpPr>
          <a:xfrm>
            <a:off x="4097992" y="1691515"/>
            <a:ext cx="1587237" cy="138499"/>
            <a:chOff x="3676278" y="1691515"/>
            <a:chExt cx="1587237" cy="138499"/>
          </a:xfrm>
        </p:grpSpPr>
        <p:cxnSp>
          <p:nvCxnSpPr>
            <p:cNvPr id="39" name="Straight Arrow Connector 38">
              <a:extLst>
                <a:ext uri="{FF2B5EF4-FFF2-40B4-BE49-F238E27FC236}">
                  <a16:creationId xmlns:a16="http://schemas.microsoft.com/office/drawing/2014/main" id="{DEA064D4-5A08-D1AF-C4C6-931D4CC5D4E4}"/>
                </a:ext>
              </a:extLst>
            </p:cNvPr>
            <p:cNvCxnSpPr>
              <a:cxnSpLocks/>
            </p:cNvCxnSpPr>
            <p:nvPr/>
          </p:nvCxnSpPr>
          <p:spPr>
            <a:xfrm flipH="1">
              <a:off x="3676278" y="1760487"/>
              <a:ext cx="1587237" cy="0"/>
            </a:xfrm>
            <a:prstGeom prst="straightConnector1">
              <a:avLst/>
            </a:pr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9CC78B3-189C-4DAE-5AA1-0E6F510BC1A3}"/>
                </a:ext>
              </a:extLst>
            </p:cNvPr>
            <p:cNvSpPr txBox="1"/>
            <p:nvPr/>
          </p:nvSpPr>
          <p:spPr>
            <a:xfrm>
              <a:off x="4074594" y="1691515"/>
              <a:ext cx="790604" cy="138499"/>
            </a:xfrm>
            <a:prstGeom prst="rect">
              <a:avLst/>
            </a:prstGeom>
            <a:solidFill>
              <a:schemeClr val="bg1"/>
            </a:solidFill>
          </p:spPr>
          <p:txBody>
            <a:bodyPr wrap="square" lIns="0" tIns="0" rIns="0" bIns="0" rtlCol="0">
              <a:spAutoFit/>
            </a:bodyPr>
            <a:lstStyle/>
            <a:p>
              <a:pPr algn="ctr"/>
              <a:r>
                <a:rPr lang="en-IN" sz="900" b="1" i="1"/>
                <a:t>Pre-diagnosis</a:t>
              </a:r>
            </a:p>
          </p:txBody>
        </p:sp>
      </p:grpSp>
      <p:sp>
        <p:nvSpPr>
          <p:cNvPr id="45" name="Rectangle 44">
            <a:extLst>
              <a:ext uri="{FF2B5EF4-FFF2-40B4-BE49-F238E27FC236}">
                <a16:creationId xmlns:a16="http://schemas.microsoft.com/office/drawing/2014/main" id="{0E5FE857-9105-1D8B-AE82-EEF58E301DB7}"/>
              </a:ext>
            </a:extLst>
          </p:cNvPr>
          <p:cNvSpPr/>
          <p:nvPr/>
        </p:nvSpPr>
        <p:spPr>
          <a:xfrm>
            <a:off x="9649117" y="970281"/>
            <a:ext cx="108000" cy="1080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With Referral</a:t>
            </a:r>
          </a:p>
        </p:txBody>
      </p:sp>
      <p:sp>
        <p:nvSpPr>
          <p:cNvPr id="46" name="Rectangle 45">
            <a:extLst>
              <a:ext uri="{FF2B5EF4-FFF2-40B4-BE49-F238E27FC236}">
                <a16:creationId xmlns:a16="http://schemas.microsoft.com/office/drawing/2014/main" id="{F4AEB3D7-ED60-B8B0-9266-B95C7684288E}"/>
              </a:ext>
            </a:extLst>
          </p:cNvPr>
          <p:cNvSpPr/>
          <p:nvPr/>
        </p:nvSpPr>
        <p:spPr>
          <a:xfrm>
            <a:off x="10880047" y="970281"/>
            <a:ext cx="108000" cy="108000"/>
          </a:xfrm>
          <a:prstGeom prst="rect">
            <a:avLst/>
          </a:prstGeom>
          <a:pattFill prst="pct20">
            <a:fgClr>
              <a:schemeClr val="accent1"/>
            </a:fgClr>
            <a:bgClr>
              <a:schemeClr val="bg1"/>
            </a:bgClr>
          </a:pattFill>
          <a:ln w="28575">
            <a:noFill/>
          </a:ln>
        </p:spPr>
        <p:style>
          <a:lnRef idx="1">
            <a:schemeClr val="accent1"/>
          </a:lnRef>
          <a:fillRef idx="0">
            <a:schemeClr val="accent1"/>
          </a:fillRef>
          <a:effectRef idx="0">
            <a:schemeClr val="accent1"/>
          </a:effectRef>
          <a:fontRef idx="minor">
            <a:schemeClr val="tx1"/>
          </a:fontRef>
        </p:style>
        <p:txBody>
          <a:bodyPr wrap="none" lIns="360000" rtlCol="0" anchor="ctr"/>
          <a:lstStyle/>
          <a:p>
            <a:r>
              <a:rPr lang="en-IN" sz="1200"/>
              <a:t>No Referral</a:t>
            </a:r>
          </a:p>
        </p:txBody>
      </p:sp>
      <p:grpSp>
        <p:nvGrpSpPr>
          <p:cNvPr id="20" name="Group 19">
            <a:extLst>
              <a:ext uri="{FF2B5EF4-FFF2-40B4-BE49-F238E27FC236}">
                <a16:creationId xmlns:a16="http://schemas.microsoft.com/office/drawing/2014/main" id="{0F744610-08ED-23CA-EA17-6428D8DFFB94}"/>
              </a:ext>
            </a:extLst>
          </p:cNvPr>
          <p:cNvGrpSpPr/>
          <p:nvPr/>
        </p:nvGrpSpPr>
        <p:grpSpPr>
          <a:xfrm>
            <a:off x="3959844" y="2043770"/>
            <a:ext cx="1435913" cy="1233688"/>
            <a:chOff x="3959844" y="2043770"/>
            <a:chExt cx="1435913" cy="1233688"/>
          </a:xfrm>
        </p:grpSpPr>
        <p:sp>
          <p:nvSpPr>
            <p:cNvPr id="18" name="Wave 17">
              <a:extLst>
                <a:ext uri="{FF2B5EF4-FFF2-40B4-BE49-F238E27FC236}">
                  <a16:creationId xmlns:a16="http://schemas.microsoft.com/office/drawing/2014/main" id="{39A138E8-3FBE-D12C-15F1-96A3F994BCC7}"/>
                </a:ext>
              </a:extLst>
            </p:cNvPr>
            <p:cNvSpPr/>
            <p:nvPr/>
          </p:nvSpPr>
          <p:spPr>
            <a:xfrm flipH="1">
              <a:off x="4001932" y="2148654"/>
              <a:ext cx="1393825" cy="1128804"/>
            </a:xfrm>
            <a:prstGeom prst="wave">
              <a:avLst>
                <a:gd name="adj1" fmla="val 8006"/>
                <a:gd name="adj2" fmla="val 0"/>
              </a:avLst>
            </a:prstGeom>
            <a:solidFill>
              <a:srgbClr val="EEE2F7">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8" name="Wave 7">
              <a:extLst>
                <a:ext uri="{FF2B5EF4-FFF2-40B4-BE49-F238E27FC236}">
                  <a16:creationId xmlns:a16="http://schemas.microsoft.com/office/drawing/2014/main" id="{9F2D62B9-6A77-08DE-8E9D-B4624C0E6B48}"/>
                </a:ext>
              </a:extLst>
            </p:cNvPr>
            <p:cNvSpPr/>
            <p:nvPr/>
          </p:nvSpPr>
          <p:spPr>
            <a:xfrm rot="835438" flipH="1">
              <a:off x="3959844" y="2043770"/>
              <a:ext cx="1410304" cy="437604"/>
            </a:xfrm>
            <a:prstGeom prst="wave">
              <a:avLst>
                <a:gd name="adj1" fmla="val 20000"/>
                <a:gd name="adj2" fmla="val -1971"/>
              </a:avLst>
            </a:prstGeom>
            <a:solidFill>
              <a:srgbClr val="F5EEFA"/>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pSp>
        <p:nvGrpSpPr>
          <p:cNvPr id="6" name="Group 5">
            <a:extLst>
              <a:ext uri="{FF2B5EF4-FFF2-40B4-BE49-F238E27FC236}">
                <a16:creationId xmlns:a16="http://schemas.microsoft.com/office/drawing/2014/main" id="{5172B9D5-5738-C8C3-AA29-B8E99220825C}"/>
              </a:ext>
            </a:extLst>
          </p:cNvPr>
          <p:cNvGrpSpPr/>
          <p:nvPr/>
        </p:nvGrpSpPr>
        <p:grpSpPr>
          <a:xfrm>
            <a:off x="3769656" y="3310549"/>
            <a:ext cx="1613799" cy="1092768"/>
            <a:chOff x="3769656" y="3310549"/>
            <a:chExt cx="1613799" cy="1092768"/>
          </a:xfrm>
        </p:grpSpPr>
        <p:sp>
          <p:nvSpPr>
            <p:cNvPr id="21" name="Wave 20">
              <a:extLst>
                <a:ext uri="{FF2B5EF4-FFF2-40B4-BE49-F238E27FC236}">
                  <a16:creationId xmlns:a16="http://schemas.microsoft.com/office/drawing/2014/main" id="{CA3E85F7-6D88-BAD2-7571-9CC234FD1112}"/>
                </a:ext>
              </a:extLst>
            </p:cNvPr>
            <p:cNvSpPr/>
            <p:nvPr/>
          </p:nvSpPr>
          <p:spPr>
            <a:xfrm flipH="1">
              <a:off x="3989630" y="3500038"/>
              <a:ext cx="1393825" cy="820591"/>
            </a:xfrm>
            <a:prstGeom prst="wave">
              <a:avLst>
                <a:gd name="adj1" fmla="val 12500"/>
                <a:gd name="adj2" fmla="val 0"/>
              </a:avLst>
            </a:prstGeom>
            <a:solidFill>
              <a:srgbClr val="FBE5E5">
                <a:alpha val="6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9" name="Wave 8">
              <a:extLst>
                <a:ext uri="{FF2B5EF4-FFF2-40B4-BE49-F238E27FC236}">
                  <a16:creationId xmlns:a16="http://schemas.microsoft.com/office/drawing/2014/main" id="{2573CB82-1600-3F4B-C178-8FA91F626960}"/>
                </a:ext>
              </a:extLst>
            </p:cNvPr>
            <p:cNvSpPr/>
            <p:nvPr/>
          </p:nvSpPr>
          <p:spPr>
            <a:xfrm rot="835438" flipH="1">
              <a:off x="3937450" y="3310549"/>
              <a:ext cx="1410304" cy="551518"/>
            </a:xfrm>
            <a:prstGeom prst="wave">
              <a:avLst>
                <a:gd name="adj1" fmla="val 20000"/>
                <a:gd name="adj2" fmla="val -197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1" name="Wave 10">
              <a:extLst>
                <a:ext uri="{FF2B5EF4-FFF2-40B4-BE49-F238E27FC236}">
                  <a16:creationId xmlns:a16="http://schemas.microsoft.com/office/drawing/2014/main" id="{D14714AE-0B50-03A7-3D0F-2A66F4284E75}"/>
                </a:ext>
              </a:extLst>
            </p:cNvPr>
            <p:cNvSpPr/>
            <p:nvPr/>
          </p:nvSpPr>
          <p:spPr>
            <a:xfrm rot="10094973" flipH="1">
              <a:off x="3769656" y="3843885"/>
              <a:ext cx="1273470" cy="559432"/>
            </a:xfrm>
            <a:prstGeom prst="wave">
              <a:avLst>
                <a:gd name="adj1" fmla="val 20000"/>
                <a:gd name="adj2" fmla="val -1391"/>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graphicFrame>
        <p:nvGraphicFramePr>
          <p:cNvPr id="10" name="Table 9">
            <a:extLst>
              <a:ext uri="{FF2B5EF4-FFF2-40B4-BE49-F238E27FC236}">
                <a16:creationId xmlns:a16="http://schemas.microsoft.com/office/drawing/2014/main" id="{43A4491F-D029-FB12-5A75-678C4CF43752}"/>
              </a:ext>
            </a:extLst>
          </p:cNvPr>
          <p:cNvGraphicFramePr>
            <a:graphicFrameLocks noGrp="1"/>
          </p:cNvGraphicFramePr>
          <p:nvPr/>
        </p:nvGraphicFramePr>
        <p:xfrm>
          <a:off x="683712" y="1636575"/>
          <a:ext cx="3318221" cy="4705227"/>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Pathways1</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8517">
                <a:tc>
                  <a:txBody>
                    <a:bodyPr/>
                    <a:lstStyle/>
                    <a:p>
                      <a:pPr algn="r"/>
                      <a:r>
                        <a:rPr lang="en-IN" sz="1050"/>
                        <a:t>PCP</a:t>
                      </a:r>
                      <a:r>
                        <a:rPr lang="en-IN" sz="1050">
                          <a:sym typeface="Wingdings" panose="05000000000000000000" pitchFamily="2" charset="2"/>
                        </a:rPr>
                        <a:t></a:t>
                      </a:r>
                      <a:endParaRPr lang="en-IN" sz="1050"/>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23%</a:t>
                      </a:r>
                    </a:p>
                  </a:txBody>
                  <a:tcPr marL="72000" marR="72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56545257"/>
                  </a:ext>
                </a:extLst>
              </a:tr>
              <a:tr h="326501">
                <a:tc>
                  <a:txBody>
                    <a:bodyPr/>
                    <a:lstStyle/>
                    <a:p>
                      <a:pPr algn="r" fontAlgn="b">
                        <a:buNone/>
                      </a:pP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58927620"/>
                  </a:ext>
                </a:extLst>
              </a:tr>
              <a:tr h="326501">
                <a:tc>
                  <a:txBody>
                    <a:bodyPr/>
                    <a:lstStyle/>
                    <a:p>
                      <a:pPr algn="r" fontAlgn="b">
                        <a:buNone/>
                      </a:pPr>
                      <a:r>
                        <a:rPr lang="en-IN" sz="1100" b="0" i="0" u="none" strike="noStrike">
                          <a:solidFill>
                            <a:srgbClr val="000000"/>
                          </a:solidFill>
                          <a:effectLst/>
                          <a:latin typeface="+mn-lt"/>
                        </a:rPr>
                        <a:t>PCP </a:t>
                      </a:r>
                      <a:r>
                        <a:rPr lang="en-IN" sz="1100">
                          <a:sym typeface="Wingdings" panose="05000000000000000000" pitchFamily="2" charset="2"/>
                        </a:rPr>
                        <a:t> </a:t>
                      </a:r>
                      <a:r>
                        <a:rPr lang="en-IN" sz="1100" b="0" i="0" u="none" strike="noStrike">
                          <a:solidFill>
                            <a:srgbClr val="000000"/>
                          </a:solidFill>
                          <a:effectLst/>
                          <a:latin typeface="+mn-lt"/>
                        </a:rPr>
                        <a:t>Neuro/Psych</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1445006373"/>
                  </a:ext>
                </a:extLst>
              </a:tr>
              <a:tr h="326501">
                <a:tc>
                  <a:txBody>
                    <a:bodyPr/>
                    <a:lstStyle/>
                    <a:p>
                      <a:pPr algn="r" fontAlgn="b">
                        <a:buNone/>
                      </a:pPr>
                      <a:r>
                        <a:rPr lang="en-IN" sz="1100" b="0" i="0" u="none" strike="noStrike">
                          <a:solidFill>
                            <a:srgbClr val="000000"/>
                          </a:solidFill>
                          <a:effectLst/>
                          <a:latin typeface="+mn-lt"/>
                        </a:rPr>
                        <a:t>Other</a:t>
                      </a:r>
                      <a:r>
                        <a:rPr lang="en-IN" sz="1100">
                          <a:sym typeface="Wingdings" panose="05000000000000000000" pitchFamily="2" charset="2"/>
                        </a:rPr>
                        <a:t></a:t>
                      </a:r>
                      <a:endParaRPr lang="en-IN" sz="110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tc>
                  <a:txBody>
                    <a:bodyPr/>
                    <a:lstStyle/>
                    <a:p>
                      <a:pPr algn="ctr"/>
                      <a:r>
                        <a:rPr lang="en-IN" sz="1050"/>
                        <a:t>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2CFF1">
                        <a:alpha val="60000"/>
                      </a:srgbClr>
                    </a:solidFill>
                  </a:tcPr>
                </a:tc>
                <a:extLst>
                  <a:ext uri="{0D108BD9-81ED-4DB2-BD59-A6C34878D82A}">
                    <a16:rowId xmlns:a16="http://schemas.microsoft.com/office/drawing/2014/main" val="2598352905"/>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2465381658"/>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2953117120"/>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12%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3160788466"/>
                  </a:ext>
                </a:extLst>
              </a:tr>
              <a:tr h="308869">
                <a:tc>
                  <a:txBody>
                    <a:bodyPr/>
                    <a:lstStyle/>
                    <a:p>
                      <a:pPr algn="r" fontAlgn="b">
                        <a:buNone/>
                      </a:pPr>
                      <a:r>
                        <a:rPr lang="en-IN" sz="1050" b="0" i="0" u="none" strike="noStrike">
                          <a:solidFill>
                            <a:srgbClr val="000000"/>
                          </a:solidFill>
                          <a:effectLst/>
                          <a:latin typeface="+mn-lt"/>
                        </a:rPr>
                        <a:t>Neuro/Psych </a:t>
                      </a:r>
                      <a:r>
                        <a:rPr lang="en-IN" sz="1050">
                          <a:sym typeface="Wingdings" panose="05000000000000000000" pitchFamily="2" charset="2"/>
                        </a:rPr>
                        <a:t> </a:t>
                      </a:r>
                      <a:r>
                        <a:rPr lang="en-IN" sz="1050" b="0" i="0" u="none" strike="noStrike">
                          <a:solidFill>
                            <a:srgbClr val="000000"/>
                          </a:solidFill>
                          <a:effectLst/>
                          <a:latin typeface="+mn-lt"/>
                        </a:rPr>
                        <a:t>Sleep Specialist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tc>
                  <a:txBody>
                    <a:bodyPr/>
                    <a:lstStyle/>
                    <a:p>
                      <a:pPr algn="ctr"/>
                      <a:r>
                        <a:rPr lang="en-IN" sz="1000"/>
                        <a:t>7%</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60000"/>
                      </a:schemeClr>
                    </a:solidFill>
                  </a:tcPr>
                </a:tc>
                <a:extLst>
                  <a:ext uri="{0D108BD9-81ED-4DB2-BD59-A6C34878D82A}">
                    <a16:rowId xmlns:a16="http://schemas.microsoft.com/office/drawing/2014/main" val="3666415997"/>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t>20%</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08869">
                <a:tc>
                  <a:txBody>
                    <a:bodyPr/>
                    <a:lstStyle/>
                    <a:p>
                      <a:pPr algn="r" fontAlgn="b">
                        <a:buNone/>
                      </a:pPr>
                      <a:r>
                        <a:rPr lang="en-IN" sz="1050" b="0" i="0" u="none" strike="noStrike">
                          <a:solidFill>
                            <a:srgbClr val="000000"/>
                          </a:solidFill>
                          <a:effectLst/>
                          <a:latin typeface="+mn-lt"/>
                        </a:rPr>
                        <a:t>PCP </a:t>
                      </a:r>
                      <a:r>
                        <a:rPr lang="en-IN" sz="1050">
                          <a:sym typeface="Wingdings" panose="05000000000000000000" pitchFamily="2" charset="2"/>
                        </a:rPr>
                        <a:t> </a:t>
                      </a:r>
                      <a:r>
                        <a:rPr lang="en-IN" sz="1050" b="0" i="0" u="none" strike="noStrike">
                          <a:solidFill>
                            <a:srgbClr val="000000"/>
                          </a:solidFill>
                          <a:effectLst/>
                          <a:latin typeface="+mn-lt"/>
                        </a:rPr>
                        <a:t>Pulmonologist</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t>16%</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08869">
                <a:tc>
                  <a:txBody>
                    <a:bodyPr/>
                    <a:lstStyle/>
                    <a:p>
                      <a:pPr algn="r" fontAlgn="b">
                        <a:buNone/>
                      </a:pPr>
                      <a:r>
                        <a:rPr lang="en-IN" sz="1050" b="0" i="0" u="none" strike="noStrike">
                          <a:solidFill>
                            <a:srgbClr val="000000"/>
                          </a:solidFill>
                          <a:effectLst/>
                          <a:latin typeface="+mn-lt"/>
                        </a:rPr>
                        <a:t>PCP</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22%</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487683544"/>
                  </a:ext>
                </a:extLst>
              </a:tr>
              <a:tr h="308869">
                <a:tc>
                  <a:txBody>
                    <a:bodyPr/>
                    <a:lstStyle/>
                    <a:p>
                      <a:pPr algn="r" fontAlgn="b">
                        <a:buNone/>
                      </a:pPr>
                      <a:r>
                        <a:rPr lang="en-IN" sz="1050" b="0" i="0" u="none" strike="noStrike">
                          <a:solidFill>
                            <a:srgbClr val="000000"/>
                          </a:solidFill>
                          <a:effectLst/>
                          <a:latin typeface="+mn-lt"/>
                        </a:rPr>
                        <a:t>Neuro/Psych</a:t>
                      </a:r>
                      <a:r>
                        <a:rPr lang="en-IN" sz="1050">
                          <a:sym typeface="Wingdings" panose="05000000000000000000" pitchFamily="2" charset="2"/>
                        </a:rPr>
                        <a:t></a:t>
                      </a:r>
                      <a:endParaRPr lang="en-IN" sz="1050" b="0" i="0" u="none" strike="noStrike">
                        <a:solidFill>
                          <a:srgbClr val="000000"/>
                        </a:solidFill>
                        <a:effectLst/>
                        <a:latin typeface="+mn-lt"/>
                      </a:endParaRP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tc>
                  <a:txBody>
                    <a:bodyPr/>
                    <a:lstStyle/>
                    <a:p>
                      <a:pPr algn="ctr"/>
                      <a:r>
                        <a:rPr lang="en-IN" sz="1050"/>
                        <a:t>9%</a:t>
                      </a:r>
                    </a:p>
                  </a:txBody>
                  <a:tcPr marL="72000" marR="72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a:gsLst>
                        <a:gs pos="57000">
                          <a:srgbClr val="EFF0F2">
                            <a:alpha val="58000"/>
                          </a:srgbClr>
                        </a:gs>
                        <a:gs pos="100000">
                          <a:srgbClr val="FCE9E9">
                            <a:alpha val="37000"/>
                          </a:srgbClr>
                        </a:gs>
                      </a:gsLst>
                      <a:lin ang="5400000" scaled="1"/>
                    </a:gradFill>
                  </a:tcPr>
                </a:tc>
                <a:extLst>
                  <a:ext uri="{0D108BD9-81ED-4DB2-BD59-A6C34878D82A}">
                    <a16:rowId xmlns:a16="http://schemas.microsoft.com/office/drawing/2014/main" val="2759851288"/>
                  </a:ext>
                </a:extLst>
              </a:tr>
            </a:tbl>
          </a:graphicData>
        </a:graphic>
      </p:graphicFrame>
      <p:grpSp>
        <p:nvGrpSpPr>
          <p:cNvPr id="27" name="Group 26">
            <a:extLst>
              <a:ext uri="{FF2B5EF4-FFF2-40B4-BE49-F238E27FC236}">
                <a16:creationId xmlns:a16="http://schemas.microsoft.com/office/drawing/2014/main" id="{32C2648B-D2B1-0AA8-3CA9-17CEBAA76DF2}"/>
              </a:ext>
            </a:extLst>
          </p:cNvPr>
          <p:cNvGrpSpPr/>
          <p:nvPr/>
        </p:nvGrpSpPr>
        <p:grpSpPr>
          <a:xfrm>
            <a:off x="3941336" y="4466975"/>
            <a:ext cx="1442121" cy="565567"/>
            <a:chOff x="3941336" y="4466975"/>
            <a:chExt cx="1442121" cy="565567"/>
          </a:xfrm>
        </p:grpSpPr>
        <p:sp>
          <p:nvSpPr>
            <p:cNvPr id="22" name="Wave 21">
              <a:extLst>
                <a:ext uri="{FF2B5EF4-FFF2-40B4-BE49-F238E27FC236}">
                  <a16:creationId xmlns:a16="http://schemas.microsoft.com/office/drawing/2014/main" id="{BBB65EAF-43ED-1D5D-18CC-7B4DF4495F21}"/>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12" name="Wave 11">
              <a:extLst>
                <a:ext uri="{FF2B5EF4-FFF2-40B4-BE49-F238E27FC236}">
                  <a16:creationId xmlns:a16="http://schemas.microsoft.com/office/drawing/2014/main" id="{A58D1592-835B-9E49-AF6E-D6B0B6D6B715}"/>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13" name="Wave 12">
            <a:extLst>
              <a:ext uri="{FF2B5EF4-FFF2-40B4-BE49-F238E27FC236}">
                <a16:creationId xmlns:a16="http://schemas.microsoft.com/office/drawing/2014/main" id="{0E36584F-961F-8998-BF05-B4CA0060A7D7}"/>
              </a:ext>
            </a:extLst>
          </p:cNvPr>
          <p:cNvSpPr/>
          <p:nvPr/>
        </p:nvSpPr>
        <p:spPr>
          <a:xfrm rot="10094973" flipH="1">
            <a:off x="3953261" y="5228635"/>
            <a:ext cx="1469516" cy="359292"/>
          </a:xfrm>
          <a:prstGeom prst="wave">
            <a:avLst>
              <a:gd name="adj1" fmla="val 9945"/>
              <a:gd name="adj2" fmla="val 2241"/>
            </a:avLst>
          </a:prstGeom>
          <a:solidFill>
            <a:srgbClr val="EEF2F5"/>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aphicFrame>
        <p:nvGraphicFramePr>
          <p:cNvPr id="14" name="Table 13">
            <a:extLst>
              <a:ext uri="{FF2B5EF4-FFF2-40B4-BE49-F238E27FC236}">
                <a16:creationId xmlns:a16="http://schemas.microsoft.com/office/drawing/2014/main" id="{D70CF658-B703-3BFE-8806-1CA295CBB094}"/>
              </a:ext>
            </a:extLst>
          </p:cNvPr>
          <p:cNvGraphicFramePr>
            <a:graphicFrameLocks noGrp="1"/>
          </p:cNvGraphicFramePr>
          <p:nvPr/>
        </p:nvGraphicFramePr>
        <p:xfrm>
          <a:off x="8188733" y="1636575"/>
          <a:ext cx="3318221" cy="4705221"/>
        </p:xfrm>
        <a:graphic>
          <a:graphicData uri="http://schemas.openxmlformats.org/drawingml/2006/table">
            <a:tbl>
              <a:tblPr>
                <a:tableStyleId>{5C22544A-7EE6-4342-B048-85BDC9FD1C3A}</a:tableStyleId>
              </a:tblPr>
              <a:tblGrid>
                <a:gridCol w="2435479">
                  <a:extLst>
                    <a:ext uri="{9D8B030D-6E8A-4147-A177-3AD203B41FA5}">
                      <a16:colId xmlns:a16="http://schemas.microsoft.com/office/drawing/2014/main" val="3529452416"/>
                    </a:ext>
                  </a:extLst>
                </a:gridCol>
                <a:gridCol w="882742">
                  <a:extLst>
                    <a:ext uri="{9D8B030D-6E8A-4147-A177-3AD203B41FA5}">
                      <a16:colId xmlns:a16="http://schemas.microsoft.com/office/drawing/2014/main" val="9731493"/>
                    </a:ext>
                  </a:extLst>
                </a:gridCol>
              </a:tblGrid>
              <a:tr h="318517">
                <a:tc>
                  <a:txBody>
                    <a:bodyPr/>
                    <a:lstStyle/>
                    <a:p>
                      <a:pPr algn="r"/>
                      <a:r>
                        <a:rPr lang="en-IN" sz="1050" b="1">
                          <a:solidFill>
                            <a:schemeClr val="tx1">
                              <a:lumMod val="50000"/>
                            </a:schemeClr>
                          </a:solidFill>
                        </a:rPr>
                        <a:t>Top Pathways</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ctr"/>
                      <a:r>
                        <a:rPr lang="en-IN" sz="1050" b="1">
                          <a:solidFill>
                            <a:schemeClr val="tx1">
                              <a:lumMod val="50000"/>
                            </a:schemeClr>
                          </a:solidFill>
                        </a:rPr>
                        <a:t>%Patients</a:t>
                      </a:r>
                    </a:p>
                  </a:txBody>
                  <a:tcPr anchor="ctr">
                    <a:lnL w="12700" cap="flat" cmpd="sng" algn="ctr">
                      <a:solidFill>
                        <a:schemeClr val="bg1"/>
                      </a:solidFill>
                      <a:prstDash val="solid"/>
                      <a:round/>
                      <a:headEnd type="none" w="med" len="med"/>
                      <a:tailEnd type="none" w="med" len="med"/>
                    </a:lnL>
                    <a:lnR w="12700" cmpd="sng">
                      <a:noFill/>
                    </a:lnR>
                    <a:lnT w="12700" cmpd="sng">
                      <a:noFill/>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234490291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14%</a:t>
                      </a:r>
                    </a:p>
                  </a:txBody>
                  <a:tcPr marL="72000" marR="36000" marT="72000" marB="72000" anchor="ctr">
                    <a:lnL w="12700" cap="flat" cmpd="sng" algn="ctr">
                      <a:solidFill>
                        <a:schemeClr val="bg1"/>
                      </a:solidFill>
                      <a:prstDash val="solid"/>
                      <a:round/>
                      <a:headEnd type="none" w="med" len="med"/>
                      <a:tailEnd type="none" w="med" len="med"/>
                    </a:lnL>
                    <a:lnR w="12700" cmpd="sng">
                      <a:noFill/>
                    </a:lnR>
                    <a:lnT w="6350" cap="flat" cmpd="sng" algn="ctr">
                      <a:noFill/>
                      <a:prstDash val="sysDash"/>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5654525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10%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589276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Other</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1445006373"/>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EEFA"/>
                    </a:solidFill>
                  </a:tcPr>
                </a:tc>
                <a:extLst>
                  <a:ext uri="{0D108BD9-81ED-4DB2-BD59-A6C34878D82A}">
                    <a16:rowId xmlns:a16="http://schemas.microsoft.com/office/drawing/2014/main" val="2598352905"/>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20%</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4653816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12%</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2953117120"/>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Other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1607884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Sleep Specialist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tc>
                  <a:txBody>
                    <a:bodyPr/>
                    <a:lstStyle/>
                    <a:p>
                      <a:pPr algn="ctr"/>
                      <a:r>
                        <a:rPr lang="en-IN" sz="1000">
                          <a:solidFill>
                            <a:schemeClr val="tx1">
                              <a:lumMod val="50000"/>
                            </a:schemeClr>
                          </a:solidFill>
                        </a:rPr>
                        <a:t>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BE5E5"/>
                    </a:solidFill>
                  </a:tcPr>
                </a:tc>
                <a:extLst>
                  <a:ext uri="{0D108BD9-81ED-4DB2-BD59-A6C34878D82A}">
                    <a16:rowId xmlns:a16="http://schemas.microsoft.com/office/drawing/2014/main" val="3666415997"/>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17%</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021685966"/>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tc>
                  <a:txBody>
                    <a:bodyPr/>
                    <a:lstStyle/>
                    <a:p>
                      <a:pPr algn="ctr"/>
                      <a:r>
                        <a:rPr lang="en-IN" sz="1050">
                          <a:solidFill>
                            <a:schemeClr val="tx1">
                              <a:lumMod val="50000"/>
                            </a:schemeClr>
                          </a:solidFill>
                        </a:rPr>
                        <a:t>15%</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5000"/>
                      </a:schemeClr>
                    </a:solidFill>
                  </a:tcPr>
                </a:tc>
                <a:extLst>
                  <a:ext uri="{0D108BD9-81ED-4DB2-BD59-A6C34878D82A}">
                    <a16:rowId xmlns:a16="http://schemas.microsoft.com/office/drawing/2014/main" val="294995075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Pulmonologist</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16%</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2147205979"/>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Pulmonologist </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tc>
                  <a:txBody>
                    <a:bodyPr/>
                    <a:lstStyle/>
                    <a:p>
                      <a:pPr algn="ctr"/>
                      <a:r>
                        <a:rPr lang="en-IN" sz="1050">
                          <a:solidFill>
                            <a:schemeClr val="tx1">
                              <a:lumMod val="50000"/>
                            </a:schemeClr>
                          </a:solidFill>
                        </a:rPr>
                        <a:t>9%</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90000"/>
                        <a:alpha val="60000"/>
                      </a:schemeClr>
                    </a:solidFill>
                  </a:tcPr>
                </a:tc>
                <a:extLst>
                  <a:ext uri="{0D108BD9-81ED-4DB2-BD59-A6C34878D82A}">
                    <a16:rowId xmlns:a16="http://schemas.microsoft.com/office/drawing/2014/main" val="438007148"/>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 </a:t>
                      </a:r>
                      <a:r>
                        <a:rPr lang="en-IN" sz="1050" b="0" i="0" u="none" strike="noStrike">
                          <a:solidFill>
                            <a:schemeClr val="tx1">
                              <a:lumMod val="50000"/>
                            </a:schemeClr>
                          </a:solidFill>
                          <a:effectLst/>
                          <a:latin typeface="+mn-lt"/>
                        </a:rPr>
                        <a:t>Neuro/Psych</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487683544"/>
                  </a:ext>
                </a:extLst>
              </a:tr>
              <a:tr h="313336">
                <a:tc>
                  <a:txBody>
                    <a:bodyPr/>
                    <a:lstStyle/>
                    <a:p>
                      <a:pPr algn="r" fontAlgn="b">
                        <a:buNone/>
                      </a:pP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NPPA</a:t>
                      </a:r>
                      <a:r>
                        <a:rPr lang="en-IN" sz="1050">
                          <a:solidFill>
                            <a:schemeClr val="tx1">
                              <a:lumMod val="50000"/>
                            </a:schemeClr>
                          </a:solidFill>
                          <a:sym typeface="Wingdings" panose="05000000000000000000" pitchFamily="2" charset="2"/>
                        </a:rPr>
                        <a:t></a:t>
                      </a:r>
                      <a:r>
                        <a:rPr lang="en-IN" sz="1050" b="0" i="0" u="none" strike="noStrike">
                          <a:solidFill>
                            <a:schemeClr val="tx1">
                              <a:lumMod val="50000"/>
                            </a:schemeClr>
                          </a:solidFill>
                          <a:effectLst/>
                          <a:latin typeface="+mn-lt"/>
                        </a:rPr>
                        <a:t>PCP</a:t>
                      </a:r>
                    </a:p>
                  </a:txBody>
                  <a:tcPr marL="72000" marR="72000" marT="72000" marB="7200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tc>
                  <a:txBody>
                    <a:bodyPr/>
                    <a:lstStyle/>
                    <a:p>
                      <a:pPr algn="ctr"/>
                      <a:r>
                        <a:rPr lang="en-IN" sz="1050">
                          <a:solidFill>
                            <a:schemeClr val="tx1">
                              <a:lumMod val="50000"/>
                            </a:schemeClr>
                          </a:solidFill>
                        </a:rPr>
                        <a:t>8%</a:t>
                      </a:r>
                    </a:p>
                  </a:txBody>
                  <a:tcPr marL="72000" marR="36000" marT="72000" marB="72000"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gradFill flip="none" rotWithShape="1">
                      <a:gsLst>
                        <a:gs pos="100000">
                          <a:schemeClr val="accent1">
                            <a:lumMod val="5000"/>
                            <a:lumOff val="95000"/>
                          </a:schemeClr>
                        </a:gs>
                        <a:gs pos="52000">
                          <a:srgbClr val="EFF0F2"/>
                        </a:gs>
                      </a:gsLst>
                      <a:lin ang="5400000" scaled="0"/>
                      <a:tileRect/>
                    </a:gradFill>
                  </a:tcPr>
                </a:tc>
                <a:extLst>
                  <a:ext uri="{0D108BD9-81ED-4DB2-BD59-A6C34878D82A}">
                    <a16:rowId xmlns:a16="http://schemas.microsoft.com/office/drawing/2014/main" val="2759851288"/>
                  </a:ext>
                </a:extLst>
              </a:tr>
            </a:tbl>
          </a:graphicData>
        </a:graphic>
      </p:graphicFrame>
      <p:sp>
        <p:nvSpPr>
          <p:cNvPr id="32" name="TextBox 31">
            <a:extLst>
              <a:ext uri="{FF2B5EF4-FFF2-40B4-BE49-F238E27FC236}">
                <a16:creationId xmlns:a16="http://schemas.microsoft.com/office/drawing/2014/main" id="{7F74E9E6-7F0E-9A73-7B9A-E7433A1BC180}"/>
              </a:ext>
            </a:extLst>
          </p:cNvPr>
          <p:cNvSpPr txBox="1"/>
          <p:nvPr/>
        </p:nvSpPr>
        <p:spPr>
          <a:xfrm>
            <a:off x="5488262" y="4303779"/>
            <a:ext cx="1414465" cy="153888"/>
          </a:xfrm>
          <a:prstGeom prst="rect">
            <a:avLst/>
          </a:prstGeom>
          <a:noFill/>
        </p:spPr>
        <p:txBody>
          <a:bodyPr wrap="square" lIns="0" tIns="0" rIns="0" bIns="0" rtlCol="0">
            <a:spAutoFit/>
          </a:bodyPr>
          <a:lstStyle/>
          <a:p>
            <a:pPr algn="r"/>
            <a:r>
              <a:rPr lang="en-IN" sz="1000" b="1">
                <a:solidFill>
                  <a:srgbClr val="7D8394"/>
                </a:solidFill>
              </a:rPr>
              <a:t>Neuro/Psych</a:t>
            </a:r>
          </a:p>
        </p:txBody>
      </p:sp>
      <p:sp>
        <p:nvSpPr>
          <p:cNvPr id="33" name="TextBox 32">
            <a:extLst>
              <a:ext uri="{FF2B5EF4-FFF2-40B4-BE49-F238E27FC236}">
                <a16:creationId xmlns:a16="http://schemas.microsoft.com/office/drawing/2014/main" id="{3F2E9D12-E701-79C9-E7F9-01E82634A645}"/>
              </a:ext>
            </a:extLst>
          </p:cNvPr>
          <p:cNvSpPr txBox="1"/>
          <p:nvPr/>
        </p:nvSpPr>
        <p:spPr>
          <a:xfrm>
            <a:off x="5858727" y="4926288"/>
            <a:ext cx="1044000" cy="153888"/>
          </a:xfrm>
          <a:prstGeom prst="rect">
            <a:avLst/>
          </a:prstGeom>
          <a:noFill/>
        </p:spPr>
        <p:txBody>
          <a:bodyPr wrap="square" lIns="0" tIns="0" rIns="0" bIns="0" rtlCol="0">
            <a:spAutoFit/>
          </a:bodyPr>
          <a:lstStyle/>
          <a:p>
            <a:pPr algn="r"/>
            <a:r>
              <a:rPr lang="en-IN" sz="1000" b="1">
                <a:solidFill>
                  <a:schemeClr val="accent5">
                    <a:lumMod val="50000"/>
                  </a:schemeClr>
                </a:solidFill>
              </a:rPr>
              <a:t>Pulmonologist</a:t>
            </a:r>
          </a:p>
        </p:txBody>
      </p:sp>
      <p:sp>
        <p:nvSpPr>
          <p:cNvPr id="34" name="TextBox 33">
            <a:extLst>
              <a:ext uri="{FF2B5EF4-FFF2-40B4-BE49-F238E27FC236}">
                <a16:creationId xmlns:a16="http://schemas.microsoft.com/office/drawing/2014/main" id="{B543FB51-3093-D433-5E77-928134427445}"/>
              </a:ext>
            </a:extLst>
          </p:cNvPr>
          <p:cNvSpPr txBox="1"/>
          <p:nvPr/>
        </p:nvSpPr>
        <p:spPr>
          <a:xfrm>
            <a:off x="6269313" y="5443437"/>
            <a:ext cx="633414" cy="153888"/>
          </a:xfrm>
          <a:prstGeom prst="rect">
            <a:avLst/>
          </a:prstGeom>
          <a:noFill/>
        </p:spPr>
        <p:txBody>
          <a:bodyPr wrap="square" lIns="0" tIns="0" rIns="0" bIns="0" rtlCol="0">
            <a:spAutoFit/>
          </a:bodyPr>
          <a:lstStyle/>
          <a:p>
            <a:pPr algn="r"/>
            <a:r>
              <a:rPr lang="en-IN" sz="1000" b="1">
                <a:solidFill>
                  <a:schemeClr val="accent3"/>
                </a:solidFill>
              </a:rPr>
              <a:t>Other</a:t>
            </a:r>
          </a:p>
        </p:txBody>
      </p:sp>
      <p:sp>
        <p:nvSpPr>
          <p:cNvPr id="35" name="TextBox 34">
            <a:extLst>
              <a:ext uri="{FF2B5EF4-FFF2-40B4-BE49-F238E27FC236}">
                <a16:creationId xmlns:a16="http://schemas.microsoft.com/office/drawing/2014/main" id="{46601891-C63B-1BDA-AACA-79292DE95081}"/>
              </a:ext>
            </a:extLst>
          </p:cNvPr>
          <p:cNvSpPr txBox="1"/>
          <p:nvPr/>
        </p:nvSpPr>
        <p:spPr>
          <a:xfrm>
            <a:off x="5858727" y="5926542"/>
            <a:ext cx="1044000" cy="153888"/>
          </a:xfrm>
          <a:prstGeom prst="rect">
            <a:avLst/>
          </a:prstGeom>
          <a:noFill/>
        </p:spPr>
        <p:txBody>
          <a:bodyPr wrap="square" lIns="0" tIns="0" rIns="0" bIns="0" rtlCol="0">
            <a:spAutoFit/>
          </a:bodyPr>
          <a:lstStyle/>
          <a:p>
            <a:pPr algn="r"/>
            <a:r>
              <a:rPr lang="en-IN" sz="1000" b="1">
                <a:solidFill>
                  <a:schemeClr val="accent2"/>
                </a:solidFill>
              </a:rPr>
              <a:t>NPPA</a:t>
            </a:r>
          </a:p>
        </p:txBody>
      </p:sp>
      <p:sp>
        <p:nvSpPr>
          <p:cNvPr id="15" name="TextBox 14">
            <a:extLst>
              <a:ext uri="{FF2B5EF4-FFF2-40B4-BE49-F238E27FC236}">
                <a16:creationId xmlns:a16="http://schemas.microsoft.com/office/drawing/2014/main" id="{14BF0105-3DA8-BDC9-9CE7-DCED064DF4BE}"/>
              </a:ext>
            </a:extLst>
          </p:cNvPr>
          <p:cNvSpPr txBox="1"/>
          <p:nvPr/>
        </p:nvSpPr>
        <p:spPr>
          <a:xfrm>
            <a:off x="5799755" y="3346451"/>
            <a:ext cx="1102972" cy="153888"/>
          </a:xfrm>
          <a:prstGeom prst="rect">
            <a:avLst/>
          </a:prstGeom>
          <a:noFill/>
        </p:spPr>
        <p:txBody>
          <a:bodyPr wrap="square" lIns="0" tIns="0" rIns="0" bIns="0" rtlCol="0">
            <a:spAutoFit/>
          </a:bodyPr>
          <a:lstStyle/>
          <a:p>
            <a:pPr algn="r"/>
            <a:r>
              <a:rPr lang="en-IN" sz="1000" b="1">
                <a:solidFill>
                  <a:srgbClr val="E75055"/>
                </a:solidFill>
              </a:rPr>
              <a:t>Sleep Specialist</a:t>
            </a:r>
          </a:p>
        </p:txBody>
      </p:sp>
      <p:sp>
        <p:nvSpPr>
          <p:cNvPr id="53" name="Rectangle: Rounded Corners 52">
            <a:extLst>
              <a:ext uri="{FF2B5EF4-FFF2-40B4-BE49-F238E27FC236}">
                <a16:creationId xmlns:a16="http://schemas.microsoft.com/office/drawing/2014/main" id="{AE96E07F-2797-02F3-2242-11477DA3B2EB}"/>
              </a:ext>
            </a:extLst>
          </p:cNvPr>
          <p:cNvSpPr/>
          <p:nvPr/>
        </p:nvSpPr>
        <p:spPr>
          <a:xfrm>
            <a:off x="606078" y="1228625"/>
            <a:ext cx="5486216" cy="5360507"/>
          </a:xfrm>
          <a:prstGeom prst="roundRect">
            <a:avLst>
              <a:gd name="adj" fmla="val 3435"/>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54" name="Rectangle: Rounded Corners 53">
            <a:extLst>
              <a:ext uri="{FF2B5EF4-FFF2-40B4-BE49-F238E27FC236}">
                <a16:creationId xmlns:a16="http://schemas.microsoft.com/office/drawing/2014/main" id="{6AF5E661-11C4-778F-30B9-ECEDA538636D}"/>
              </a:ext>
            </a:extLst>
          </p:cNvPr>
          <p:cNvSpPr/>
          <p:nvPr/>
        </p:nvSpPr>
        <p:spPr>
          <a:xfrm>
            <a:off x="769333" y="1543592"/>
            <a:ext cx="5137824" cy="4813893"/>
          </a:xfrm>
          <a:prstGeom prst="roundRect">
            <a:avLst>
              <a:gd name="adj" fmla="val 3290"/>
            </a:avLst>
          </a:prstGeom>
          <a:solidFill>
            <a:schemeClr val="bg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56" name="TextBox 55">
            <a:extLst>
              <a:ext uri="{FF2B5EF4-FFF2-40B4-BE49-F238E27FC236}">
                <a16:creationId xmlns:a16="http://schemas.microsoft.com/office/drawing/2014/main" id="{E1B422FD-4FF4-054F-95EA-9245F3283E7F}"/>
              </a:ext>
            </a:extLst>
          </p:cNvPr>
          <p:cNvSpPr txBox="1"/>
          <p:nvPr/>
        </p:nvSpPr>
        <p:spPr>
          <a:xfrm>
            <a:off x="1911529" y="1794326"/>
            <a:ext cx="3032522" cy="369332"/>
          </a:xfrm>
          <a:prstGeom prst="rect">
            <a:avLst/>
          </a:prstGeom>
          <a:noFill/>
        </p:spPr>
        <p:txBody>
          <a:bodyPr wrap="square" rtlCol="0">
            <a:spAutoFit/>
          </a:bodyPr>
          <a:lstStyle/>
          <a:p>
            <a:pPr algn="ctr"/>
            <a:r>
              <a:rPr lang="en-IN" b="1"/>
              <a:t>Key Insights</a:t>
            </a:r>
          </a:p>
        </p:txBody>
      </p:sp>
      <p:sp>
        <p:nvSpPr>
          <p:cNvPr id="57" name="TextBox 56">
            <a:extLst>
              <a:ext uri="{FF2B5EF4-FFF2-40B4-BE49-F238E27FC236}">
                <a16:creationId xmlns:a16="http://schemas.microsoft.com/office/drawing/2014/main" id="{71CCED1E-B8B9-80EF-6567-38E22262FE2F}"/>
              </a:ext>
            </a:extLst>
          </p:cNvPr>
          <p:cNvSpPr txBox="1"/>
          <p:nvPr/>
        </p:nvSpPr>
        <p:spPr>
          <a:xfrm>
            <a:off x="886968" y="2400681"/>
            <a:ext cx="4980863" cy="3493264"/>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400" b="1"/>
              <a:t>Post-diagnosis care is largely referral-driven - </a:t>
            </a:r>
            <a:r>
              <a:rPr lang="en-US" sz="1400"/>
              <a:t>~60% of patients transition to NT1-relevant specialists (e.g., Sleep Specialists) for ongoing management, treatment, and testing.</a:t>
            </a:r>
          </a:p>
          <a:p>
            <a:pPr marL="285750" indent="-285750">
              <a:spcBef>
                <a:spcPts val="600"/>
              </a:spcBef>
              <a:buFont typeface="Arial" panose="020B0604020202020204" pitchFamily="34" charset="0"/>
              <a:buChar char="•"/>
            </a:pPr>
            <a:r>
              <a:rPr lang="en-US" sz="1400" b="1"/>
              <a:t>Sleep specialists are the primary destination post-diagnosis - </a:t>
            </a:r>
            <a:r>
              <a:rPr lang="en-US" sz="1400"/>
              <a:t>The most common pathways involve referrals into Sleep Specialists from PCPs and other specialties.</a:t>
            </a:r>
          </a:p>
          <a:p>
            <a:pPr marL="285750" indent="-285750">
              <a:spcBef>
                <a:spcPts val="600"/>
              </a:spcBef>
              <a:buFont typeface="Arial" panose="020B0604020202020204" pitchFamily="34" charset="0"/>
              <a:buChar char="•"/>
            </a:pPr>
            <a:r>
              <a:rPr lang="en-US" sz="1400" b="1"/>
              <a:t>~40% of patients do not have a recorded referral post-diagnosis. This group includes a mix of care patterns:</a:t>
            </a:r>
          </a:p>
          <a:p>
            <a:pPr marL="742950" lvl="1" indent="-285750">
              <a:spcBef>
                <a:spcPts val="600"/>
              </a:spcBef>
              <a:buFont typeface="Arial" panose="020B0604020202020204" pitchFamily="34" charset="0"/>
              <a:buChar char="•"/>
            </a:pPr>
            <a:r>
              <a:rPr lang="en-US" sz="1400"/>
              <a:t>~30% continue care across multiple HCPs without a formal referral (e.g., second opinions or direct visits)</a:t>
            </a:r>
          </a:p>
          <a:p>
            <a:pPr marL="742950" lvl="1" indent="-285750">
              <a:spcBef>
                <a:spcPts val="600"/>
              </a:spcBef>
              <a:buFont typeface="Arial" panose="020B0604020202020204" pitchFamily="34" charset="0"/>
              <a:buChar char="•"/>
            </a:pPr>
            <a:r>
              <a:rPr lang="en-US" sz="1400"/>
              <a:t>~5% remain with the diagnosing HCP for ongoing management</a:t>
            </a:r>
          </a:p>
          <a:p>
            <a:pPr marL="742950" lvl="1" indent="-285750">
              <a:spcBef>
                <a:spcPts val="600"/>
              </a:spcBef>
              <a:buFont typeface="Arial" panose="020B0604020202020204" pitchFamily="34" charset="0"/>
              <a:buChar char="•"/>
            </a:pPr>
            <a:r>
              <a:rPr lang="en-US" sz="1400"/>
              <a:t>~5% are recently diagnosed with limited follow-up visibility</a:t>
            </a:r>
            <a:endParaRPr lang="en-IN" sz="1400"/>
          </a:p>
        </p:txBody>
      </p:sp>
      <p:sp>
        <p:nvSpPr>
          <p:cNvPr id="63" name="TextBox 62">
            <a:extLst>
              <a:ext uri="{FF2B5EF4-FFF2-40B4-BE49-F238E27FC236}">
                <a16:creationId xmlns:a16="http://schemas.microsoft.com/office/drawing/2014/main" id="{6BCF4F32-E83C-E4EE-C40A-0EFC4AFCBCE3}"/>
              </a:ext>
            </a:extLst>
          </p:cNvPr>
          <p:cNvSpPr txBox="1"/>
          <p:nvPr/>
        </p:nvSpPr>
        <p:spPr>
          <a:xfrm>
            <a:off x="6931894" y="1691237"/>
            <a:ext cx="790604" cy="138499"/>
          </a:xfrm>
          <a:prstGeom prst="rect">
            <a:avLst/>
          </a:prstGeom>
          <a:solidFill>
            <a:schemeClr val="bg1"/>
          </a:solidFill>
        </p:spPr>
        <p:txBody>
          <a:bodyPr wrap="square" lIns="0" tIns="0" rIns="0" bIns="0" rtlCol="0">
            <a:spAutoFit/>
          </a:bodyPr>
          <a:lstStyle/>
          <a:p>
            <a:pPr algn="ctr"/>
            <a:r>
              <a:rPr lang="en-IN" sz="900" b="1" i="1"/>
              <a:t>Post-diagnosis</a:t>
            </a:r>
          </a:p>
        </p:txBody>
      </p:sp>
      <p:grpSp>
        <p:nvGrpSpPr>
          <p:cNvPr id="64" name="Group 63">
            <a:extLst>
              <a:ext uri="{FF2B5EF4-FFF2-40B4-BE49-F238E27FC236}">
                <a16:creationId xmlns:a16="http://schemas.microsoft.com/office/drawing/2014/main" id="{504062C9-5F59-71A1-843B-D8910B7A9043}"/>
              </a:ext>
            </a:extLst>
          </p:cNvPr>
          <p:cNvGrpSpPr/>
          <p:nvPr/>
        </p:nvGrpSpPr>
        <p:grpSpPr>
          <a:xfrm rot="10800000">
            <a:off x="6815245" y="4586853"/>
            <a:ext cx="1411645" cy="392517"/>
            <a:chOff x="3941336" y="4466975"/>
            <a:chExt cx="1442121" cy="565567"/>
          </a:xfrm>
        </p:grpSpPr>
        <p:sp>
          <p:nvSpPr>
            <p:cNvPr id="65" name="Wave 64">
              <a:extLst>
                <a:ext uri="{FF2B5EF4-FFF2-40B4-BE49-F238E27FC236}">
                  <a16:creationId xmlns:a16="http://schemas.microsoft.com/office/drawing/2014/main" id="{BE334F9D-EE73-3429-0691-2B916D984EF7}"/>
                </a:ext>
              </a:extLst>
            </p:cNvPr>
            <p:cNvSpPr/>
            <p:nvPr/>
          </p:nvSpPr>
          <p:spPr>
            <a:xfrm flipH="1">
              <a:off x="3989633" y="4466975"/>
              <a:ext cx="1393824" cy="515530"/>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6" name="Wave 65">
              <a:extLst>
                <a:ext uri="{FF2B5EF4-FFF2-40B4-BE49-F238E27FC236}">
                  <a16:creationId xmlns:a16="http://schemas.microsoft.com/office/drawing/2014/main" id="{604650BF-A5E8-8B93-E44B-07C9822163AE}"/>
                </a:ext>
              </a:extLst>
            </p:cNvPr>
            <p:cNvSpPr/>
            <p:nvPr/>
          </p:nvSpPr>
          <p:spPr>
            <a:xfrm rot="10094973" flipH="1">
              <a:off x="3941336" y="4606210"/>
              <a:ext cx="1273470" cy="426332"/>
            </a:xfrm>
            <a:prstGeom prst="wave">
              <a:avLst>
                <a:gd name="adj1" fmla="val 9945"/>
                <a:gd name="adj2" fmla="val 2241"/>
              </a:avLst>
            </a:prstGeom>
            <a:solidFill>
              <a:srgbClr val="F9F9F9"/>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67" name="Wave 66">
              <a:extLst>
                <a:ext uri="{FF2B5EF4-FFF2-40B4-BE49-F238E27FC236}">
                  <a16:creationId xmlns:a16="http://schemas.microsoft.com/office/drawing/2014/main" id="{36B289EA-982E-BB7F-3FE9-EF45EA15FF49}"/>
                </a:ext>
              </a:extLst>
            </p:cNvPr>
            <p:cNvSpPr/>
            <p:nvPr/>
          </p:nvSpPr>
          <p:spPr>
            <a:xfrm rot="532549" flipH="1">
              <a:off x="3979495" y="4506391"/>
              <a:ext cx="1393824" cy="320447"/>
            </a:xfrm>
            <a:prstGeom prst="wave">
              <a:avLst>
                <a:gd name="adj1" fmla="val 10053"/>
                <a:gd name="adj2" fmla="val 0"/>
              </a:avLst>
            </a:prstGeom>
            <a:solidFill>
              <a:srgbClr val="F8F8F8">
                <a:alpha val="83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grpSp>
      <p:sp>
        <p:nvSpPr>
          <p:cNvPr id="71" name="Rectangle 70">
            <a:extLst>
              <a:ext uri="{FF2B5EF4-FFF2-40B4-BE49-F238E27FC236}">
                <a16:creationId xmlns:a16="http://schemas.microsoft.com/office/drawing/2014/main" id="{FEBA926C-04B9-3F67-3142-07ECA0AFF442}"/>
              </a:ext>
            </a:extLst>
          </p:cNvPr>
          <p:cNvSpPr/>
          <p:nvPr/>
        </p:nvSpPr>
        <p:spPr>
          <a:xfrm>
            <a:off x="7940642" y="3500038"/>
            <a:ext cx="250452" cy="469919"/>
          </a:xfrm>
          <a:prstGeom prst="rect">
            <a:avLst/>
          </a:prstGeom>
          <a:solidFill>
            <a:srgbClr val="FDEFE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IN"/>
          </a:p>
        </p:txBody>
      </p:sp>
      <p:sp>
        <p:nvSpPr>
          <p:cNvPr id="78" name="TextBox 77">
            <a:extLst>
              <a:ext uri="{FF2B5EF4-FFF2-40B4-BE49-F238E27FC236}">
                <a16:creationId xmlns:a16="http://schemas.microsoft.com/office/drawing/2014/main" id="{EB8208A3-E9EA-B3D4-260A-7BDDA7ED1EE6}"/>
              </a:ext>
            </a:extLst>
          </p:cNvPr>
          <p:cNvSpPr txBox="1"/>
          <p:nvPr/>
        </p:nvSpPr>
        <p:spPr>
          <a:xfrm>
            <a:off x="6226443" y="1769716"/>
            <a:ext cx="483395" cy="246221"/>
          </a:xfrm>
          <a:prstGeom prst="rect">
            <a:avLst/>
          </a:prstGeom>
          <a:noFill/>
        </p:spPr>
        <p:txBody>
          <a:bodyPr wrap="square" rtlCol="0">
            <a:spAutoFit/>
          </a:bodyPr>
          <a:lstStyle/>
          <a:p>
            <a:r>
              <a:rPr lang="en-IN" sz="1000" b="1">
                <a:solidFill>
                  <a:srgbClr val="7030A0"/>
                </a:solidFill>
              </a:rPr>
              <a:t>PCP</a:t>
            </a:r>
          </a:p>
        </p:txBody>
      </p:sp>
      <p:sp>
        <p:nvSpPr>
          <p:cNvPr id="2" name="Slide Number Placeholder 4">
            <a:extLst>
              <a:ext uri="{FF2B5EF4-FFF2-40B4-BE49-F238E27FC236}">
                <a16:creationId xmlns:a16="http://schemas.microsoft.com/office/drawing/2014/main" id="{A683DA07-7CD4-E5B9-9D16-51EB2F532471}"/>
              </a:ext>
            </a:extLst>
          </p:cNvPr>
          <p:cNvSpPr>
            <a:spLocks noGrp="1"/>
          </p:cNvSpPr>
          <p:nvPr>
            <p:ph type="sldNum" sz="quarter" idx="4"/>
          </p:nvPr>
        </p:nvSpPr>
        <p:spPr>
          <a:xfrm>
            <a:off x="311150" y="6523001"/>
            <a:ext cx="294928" cy="196131"/>
          </a:xfrm>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15</a:t>
            </a:fld>
            <a:endParaRPr kumimoji="0" lang="ja-JP" altLang="en-US" sz="800" b="1" i="0" u="none" strike="noStrike" kern="1200" cap="none" spc="0" normalizeH="0" baseline="0" noProof="0">
              <a:ln>
                <a:noFill/>
              </a:ln>
              <a:solidFill>
                <a:srgbClr val="34373F"/>
              </a:solidFill>
              <a:effectLst/>
              <a:uLnTx/>
              <a:uFillTx/>
              <a:latin typeface="Calibri" panose="020F0502020204030204" pitchFamily="34" charset="0"/>
              <a:ea typeface="メイリオ" pitchFamily="50" charset="-128"/>
              <a:cs typeface="Calibri" panose="020F0502020204030204" pitchFamily="34" charset="0"/>
            </a:endParaRPr>
          </a:p>
        </p:txBody>
      </p:sp>
    </p:spTree>
    <p:extLst>
      <p:ext uri="{BB962C8B-B14F-4D97-AF65-F5344CB8AC3E}">
        <p14:creationId xmlns:p14="http://schemas.microsoft.com/office/powerpoint/2010/main" val="4185394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2AA12-D8CF-0D28-9107-28070079E53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56FB0F-238D-8124-9461-95916ECC8D4C}"/>
              </a:ext>
            </a:extLst>
          </p:cNvPr>
          <p:cNvSpPr>
            <a:spLocks noGrp="1"/>
          </p:cNvSpPr>
          <p:nvPr>
            <p:ph type="ctrTitle"/>
          </p:nvPr>
        </p:nvSpPr>
        <p:spPr>
          <a:xfrm>
            <a:off x="1194730" y="2303030"/>
            <a:ext cx="5080564" cy="2279130"/>
          </a:xfrm>
        </p:spPr>
        <p:txBody>
          <a:bodyPr/>
          <a:lstStyle/>
          <a:p>
            <a:r>
              <a:rPr lang="en-US" dirty="0"/>
              <a:t>Referral Network Analysis</a:t>
            </a:r>
          </a:p>
        </p:txBody>
      </p:sp>
      <p:sp>
        <p:nvSpPr>
          <p:cNvPr id="4" name="Slide Number Placeholder 3">
            <a:extLst>
              <a:ext uri="{FF2B5EF4-FFF2-40B4-BE49-F238E27FC236}">
                <a16:creationId xmlns:a16="http://schemas.microsoft.com/office/drawing/2014/main" id="{3E3BD2A9-325F-DD9F-5A73-D6D7E3BF99C9}"/>
              </a:ext>
            </a:extLst>
          </p:cNvPr>
          <p:cNvSpPr>
            <a:spLocks noGrp="1"/>
          </p:cNvSpPr>
          <p:nvPr>
            <p:ph type="sldNum" sz="quarter" idx="4294967295"/>
          </p:nvPr>
        </p:nvSpPr>
        <p:spPr>
          <a:xfrm>
            <a:off x="0" y="6489700"/>
            <a:ext cx="295275" cy="230188"/>
          </a:xfrm>
        </p:spPr>
        <p:txBody>
          <a:bodyPr/>
          <a:lstStyle/>
          <a:p>
            <a:fld id="{4B88BF55-9D8F-47B8-9CAA-91D4F95E55A3}" type="slidenum">
              <a:rPr lang="en-US" smtClean="0"/>
              <a:t>16</a:t>
            </a:fld>
            <a:endParaRPr lang="en-US"/>
          </a:p>
        </p:txBody>
      </p:sp>
    </p:spTree>
    <p:extLst>
      <p:ext uri="{BB962C8B-B14F-4D97-AF65-F5344CB8AC3E}">
        <p14:creationId xmlns:p14="http://schemas.microsoft.com/office/powerpoint/2010/main" val="538422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FF214-CC73-8F2A-266D-6573422F2FA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AC28E5F-5593-754C-558C-739558E81C9C}"/>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a:t>Executive Summary </a:t>
            </a:r>
            <a:r>
              <a:rPr kumimoji="1" lang="en-US" sz="2000"/>
              <a:t>| </a:t>
            </a:r>
            <a:r>
              <a:rPr kumimoji="1" lang="en-US" sz="2000" i="1"/>
              <a:t>Referral Network Overview</a:t>
            </a:r>
          </a:p>
        </p:txBody>
      </p:sp>
      <p:sp>
        <p:nvSpPr>
          <p:cNvPr id="16" name="TextBox 15">
            <a:extLst>
              <a:ext uri="{FF2B5EF4-FFF2-40B4-BE49-F238E27FC236}">
                <a16:creationId xmlns:a16="http://schemas.microsoft.com/office/drawing/2014/main" id="{5D90A026-5F61-DFE8-AA29-928B809CF28E}"/>
              </a:ext>
            </a:extLst>
          </p:cNvPr>
          <p:cNvSpPr txBox="1"/>
          <p:nvPr/>
        </p:nvSpPr>
        <p:spPr>
          <a:xfrm>
            <a:off x="7939333" y="1073855"/>
            <a:ext cx="4138366"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Preliminary Recommendations</a:t>
            </a:r>
            <a:endParaRPr lang="en-IN"/>
          </a:p>
        </p:txBody>
      </p:sp>
      <p:sp>
        <p:nvSpPr>
          <p:cNvPr id="19" name="TextBox 18">
            <a:extLst>
              <a:ext uri="{FF2B5EF4-FFF2-40B4-BE49-F238E27FC236}">
                <a16:creationId xmlns:a16="http://schemas.microsoft.com/office/drawing/2014/main" id="{88B52B02-2839-FC1D-3A28-995607679664}"/>
              </a:ext>
            </a:extLst>
          </p:cNvPr>
          <p:cNvSpPr txBox="1"/>
          <p:nvPr/>
        </p:nvSpPr>
        <p:spPr>
          <a:xfrm>
            <a:off x="1705707" y="1073855"/>
            <a:ext cx="5932051"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Insights</a:t>
            </a:r>
            <a:endParaRPr lang="en-IN"/>
          </a:p>
        </p:txBody>
      </p:sp>
      <p:sp>
        <p:nvSpPr>
          <p:cNvPr id="2" name="Rectangle 1">
            <a:extLst>
              <a:ext uri="{FF2B5EF4-FFF2-40B4-BE49-F238E27FC236}">
                <a16:creationId xmlns:a16="http://schemas.microsoft.com/office/drawing/2014/main" id="{330CD310-5940-D262-47C3-918DC3FF96EE}"/>
              </a:ext>
            </a:extLst>
          </p:cNvPr>
          <p:cNvSpPr/>
          <p:nvPr/>
        </p:nvSpPr>
        <p:spPr>
          <a:xfrm>
            <a:off x="1705708" y="1480078"/>
            <a:ext cx="5932051" cy="153180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dirty="0">
                <a:solidFill>
                  <a:srgbClr val="34373F"/>
                </a:solidFill>
              </a:rPr>
              <a:t>Of the 299k HCPs interacting with NT patients, 67k are active in referrals and </a:t>
            </a:r>
            <a:r>
              <a:rPr lang="en-US" sz="1200" b="1" dirty="0">
                <a:solidFill>
                  <a:srgbClr val="34373F"/>
                </a:solidFill>
              </a:rPr>
              <a:t>a core 3.1k hold an established, recurring role within the referral network, accounting for 53% of decile 5-10 target coverage.</a:t>
            </a:r>
            <a:endParaRPr lang="en-US" sz="1200" dirty="0">
              <a:solidFill>
                <a:srgbClr val="34373F"/>
              </a:solidFill>
            </a:endParaRPr>
          </a:p>
          <a:p>
            <a:pPr marL="285750" lvl="0" indent="-285750">
              <a:spcBef>
                <a:spcPts val="600"/>
              </a:spcBef>
              <a:buFont typeface="Arial" panose="020B0604020202020204" pitchFamily="34" charset="0"/>
              <a:buChar char="•"/>
              <a:defRPr/>
            </a:pPr>
            <a:r>
              <a:rPr lang="en-US" sz="1200" dirty="0">
                <a:solidFill>
                  <a:srgbClr val="34373F"/>
                </a:solidFill>
              </a:rPr>
              <a:t>This group is primary led by Sleep Specialists (28%), PCPs (21%), and Pulmonologists (19%).</a:t>
            </a:r>
            <a:endParaRPr lang="en-US" sz="1200" b="1" dirty="0">
              <a:solidFill>
                <a:srgbClr val="34373F"/>
              </a:solidFill>
            </a:endParaRPr>
          </a:p>
          <a:p>
            <a:pPr marL="285750" lvl="0" indent="-285750">
              <a:spcBef>
                <a:spcPts val="600"/>
              </a:spcBef>
              <a:buFont typeface="Arial" panose="020B0604020202020204" pitchFamily="34" charset="0"/>
              <a:buChar char="•"/>
              <a:defRPr/>
            </a:pPr>
            <a:r>
              <a:rPr lang="en-US" sz="1200" dirty="0">
                <a:solidFill>
                  <a:srgbClr val="34373F"/>
                </a:solidFill>
              </a:rPr>
              <a:t>The 3.1k core is geographically concentrated in Ohio, Michigan, and Texas, with sparser representation across central and southern markets.</a:t>
            </a:r>
          </a:p>
        </p:txBody>
      </p:sp>
      <p:grpSp>
        <p:nvGrpSpPr>
          <p:cNvPr id="14" name="Group 13">
            <a:extLst>
              <a:ext uri="{FF2B5EF4-FFF2-40B4-BE49-F238E27FC236}">
                <a16:creationId xmlns:a16="http://schemas.microsoft.com/office/drawing/2014/main" id="{6752DF0D-DCAC-56E1-9E89-CB6A354842E6}"/>
              </a:ext>
            </a:extLst>
          </p:cNvPr>
          <p:cNvGrpSpPr/>
          <p:nvPr/>
        </p:nvGrpSpPr>
        <p:grpSpPr>
          <a:xfrm>
            <a:off x="1" y="1807330"/>
            <a:ext cx="1617784" cy="877305"/>
            <a:chOff x="1" y="1807330"/>
            <a:chExt cx="1617784" cy="877305"/>
          </a:xfrm>
        </p:grpSpPr>
        <p:sp>
          <p:nvSpPr>
            <p:cNvPr id="7" name="Title 1">
              <a:extLst>
                <a:ext uri="{FF2B5EF4-FFF2-40B4-BE49-F238E27FC236}">
                  <a16:creationId xmlns:a16="http://schemas.microsoft.com/office/drawing/2014/main" id="{505A9638-B320-1896-E766-3DF392A6B167}"/>
                </a:ext>
              </a:extLst>
            </p:cNvPr>
            <p:cNvSpPr txBox="1">
              <a:spLocks/>
            </p:cNvSpPr>
            <p:nvPr/>
          </p:nvSpPr>
          <p:spPr>
            <a:xfrm>
              <a:off x="373521" y="1908225"/>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9" name="Title 1">
              <a:extLst>
                <a:ext uri="{FF2B5EF4-FFF2-40B4-BE49-F238E27FC236}">
                  <a16:creationId xmlns:a16="http://schemas.microsoft.com/office/drawing/2014/main" id="{C0BC0F37-3F89-4EBC-61B2-71429A7409EF}"/>
                </a:ext>
              </a:extLst>
            </p:cNvPr>
            <p:cNvSpPr txBox="1">
              <a:spLocks/>
            </p:cNvSpPr>
            <p:nvPr/>
          </p:nvSpPr>
          <p:spPr>
            <a:xfrm>
              <a:off x="1" y="1807330"/>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Network Structure</a:t>
              </a:r>
            </a:p>
          </p:txBody>
        </p:sp>
      </p:grpSp>
      <p:sp>
        <p:nvSpPr>
          <p:cNvPr id="10" name="Rectangle 9">
            <a:extLst>
              <a:ext uri="{FF2B5EF4-FFF2-40B4-BE49-F238E27FC236}">
                <a16:creationId xmlns:a16="http://schemas.microsoft.com/office/drawing/2014/main" id="{2ADEFEA6-729D-74E9-E699-292D54DB65DB}"/>
              </a:ext>
            </a:extLst>
          </p:cNvPr>
          <p:cNvSpPr/>
          <p:nvPr/>
        </p:nvSpPr>
        <p:spPr>
          <a:xfrm>
            <a:off x="7939333" y="1480076"/>
            <a:ext cx="4138367" cy="5306206"/>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indent="-285750">
              <a:spcBef>
                <a:spcPts val="300"/>
              </a:spcBef>
              <a:buFont typeface="Arial" panose="020B0604020202020204" pitchFamily="34" charset="0"/>
              <a:buChar char="•"/>
            </a:pPr>
            <a:r>
              <a:rPr lang="en-US" sz="1200" b="1" dirty="0">
                <a:solidFill>
                  <a:schemeClr val="tx1"/>
                </a:solidFill>
                <a:ea typeface="League Spartan" charset="0"/>
                <a:cs typeface="Poppins" pitchFamily="2" charset="77"/>
              </a:rPr>
              <a:t>Super </a:t>
            </a:r>
            <a:r>
              <a:rPr lang="en-US" sz="1200" b="1" dirty="0" err="1">
                <a:solidFill>
                  <a:schemeClr val="tx1"/>
                </a:solidFill>
                <a:ea typeface="League Spartan" charset="0"/>
                <a:cs typeface="Poppins" pitchFamily="2" charset="77"/>
              </a:rPr>
              <a:t>Diagnosers</a:t>
            </a:r>
            <a:r>
              <a:rPr lang="en-US" sz="1200" b="1" dirty="0">
                <a:solidFill>
                  <a:schemeClr val="tx1"/>
                </a:solidFill>
                <a:ea typeface="League Spartan" charset="0"/>
                <a:cs typeface="Poppins" pitchFamily="2" charset="77"/>
              </a:rPr>
              <a:t> </a:t>
            </a:r>
            <a:r>
              <a:rPr lang="en-US" sz="1200" dirty="0">
                <a:solidFill>
                  <a:schemeClr val="tx1"/>
                </a:solidFill>
                <a:ea typeface="League Spartan" charset="0"/>
                <a:cs typeface="Poppins" pitchFamily="2" charset="77"/>
              </a:rPr>
              <a:t>and </a:t>
            </a:r>
            <a:r>
              <a:rPr lang="en-US" sz="1200" b="1" dirty="0">
                <a:solidFill>
                  <a:schemeClr val="tx1"/>
                </a:solidFill>
                <a:ea typeface="League Spartan" charset="0"/>
                <a:cs typeface="Poppins" pitchFamily="2" charset="77"/>
              </a:rPr>
              <a:t>Super Treaters</a:t>
            </a:r>
            <a:r>
              <a:rPr lang="en-US" sz="1200" dirty="0">
                <a:solidFill>
                  <a:schemeClr val="tx1"/>
                </a:solidFill>
                <a:ea typeface="League Spartan" charset="0"/>
                <a:cs typeface="Poppins" pitchFamily="2" charset="77"/>
              </a:rPr>
              <a:t> should be the primary conversion targets at launch given their high NT patient volumes and central role within the referral network. </a:t>
            </a:r>
          </a:p>
          <a:p>
            <a:pPr marL="509588" lvl="1" indent="-222250">
              <a:spcBef>
                <a:spcPts val="300"/>
              </a:spcBef>
              <a:buFont typeface="Arial" panose="020B0604020202020204" pitchFamily="34" charset="0"/>
              <a:buChar char="•"/>
            </a:pPr>
            <a:r>
              <a:rPr lang="en-US" sz="1200" dirty="0">
                <a:solidFill>
                  <a:schemeClr val="tx1"/>
                </a:solidFill>
                <a:ea typeface="League Spartan" charset="0"/>
                <a:cs typeface="Poppins" pitchFamily="2" charset="77"/>
              </a:rPr>
              <a:t>Early engagement should focus on mechanism differentiation, clinical benefits, and identifying appropriate patients for </a:t>
            </a:r>
            <a:r>
              <a:rPr lang="en-US" sz="1200" dirty="0" err="1">
                <a:solidFill>
                  <a:schemeClr val="tx1"/>
                </a:solidFill>
                <a:ea typeface="League Spartan" charset="0"/>
                <a:cs typeface="Poppins" pitchFamily="2" charset="77"/>
              </a:rPr>
              <a:t>oveporexton</a:t>
            </a:r>
            <a:r>
              <a:rPr lang="en-US" sz="1200" dirty="0">
                <a:solidFill>
                  <a:schemeClr val="tx1"/>
                </a:solidFill>
                <a:ea typeface="League Spartan" charset="0"/>
                <a:cs typeface="Poppins" pitchFamily="2" charset="77"/>
              </a:rPr>
              <a:t> treatment.</a:t>
            </a:r>
          </a:p>
          <a:p>
            <a:pPr marL="285750" indent="-285750">
              <a:spcBef>
                <a:spcPts val="300"/>
              </a:spcBef>
              <a:buFont typeface="Arial" panose="020B0604020202020204" pitchFamily="34" charset="0"/>
              <a:buChar char="•"/>
            </a:pPr>
            <a:r>
              <a:rPr lang="en-US" sz="1200" b="1" dirty="0">
                <a:solidFill>
                  <a:schemeClr val="tx1"/>
                </a:solidFill>
                <a:ea typeface="League Spartan" charset="0"/>
                <a:cs typeface="Poppins" pitchFamily="2" charset="77"/>
              </a:rPr>
              <a:t>Bridgers</a:t>
            </a:r>
            <a:r>
              <a:rPr lang="en-US" sz="1200" dirty="0">
                <a:solidFill>
                  <a:schemeClr val="tx1"/>
                </a:solidFill>
                <a:ea typeface="League Spartan" charset="0"/>
                <a:cs typeface="Poppins" pitchFamily="2" charset="77"/>
              </a:rPr>
              <a:t> can play an important role in expanding referral flow across the broader NT1 ecosystem by connecting community HCPs to key diagnosing and treating centers.</a:t>
            </a:r>
          </a:p>
          <a:p>
            <a:pPr marL="511175" lvl="1" indent="-223838">
              <a:spcBef>
                <a:spcPts val="300"/>
              </a:spcBef>
              <a:buFont typeface="Arial" panose="020B0604020202020204" pitchFamily="34" charset="0"/>
              <a:buChar char="•"/>
            </a:pPr>
            <a:r>
              <a:rPr lang="en-US" sz="1200" dirty="0">
                <a:solidFill>
                  <a:schemeClr val="tx1"/>
                </a:solidFill>
                <a:ea typeface="League Spartan" charset="0"/>
                <a:cs typeface="Poppins" pitchFamily="2" charset="77"/>
              </a:rPr>
              <a:t>Targeted education around referral pathways, patient identification, and care coordination can help scale adoption beyond the initial anchor accounts.</a:t>
            </a:r>
          </a:p>
          <a:p>
            <a:pPr marL="285750" indent="-285750">
              <a:spcBef>
                <a:spcPts val="300"/>
              </a:spcBef>
              <a:buFont typeface="Arial" panose="020B0604020202020204" pitchFamily="34" charset="0"/>
              <a:buChar char="•"/>
            </a:pPr>
            <a:r>
              <a:rPr lang="en-US" sz="1200" b="1" dirty="0">
                <a:solidFill>
                  <a:schemeClr val="tx1"/>
                </a:solidFill>
                <a:ea typeface="League Spartan" charset="0"/>
                <a:cs typeface="Poppins" pitchFamily="2" charset="77"/>
              </a:rPr>
              <a:t>Key Influencers </a:t>
            </a:r>
            <a:r>
              <a:rPr lang="en-US" sz="1200" dirty="0">
                <a:solidFill>
                  <a:schemeClr val="tx1"/>
                </a:solidFill>
                <a:ea typeface="League Spartan" charset="0"/>
                <a:cs typeface="Poppins" pitchFamily="2" charset="77"/>
              </a:rPr>
              <a:t>should be activated closer to launch to drive peer-to-peer awareness and broader network adoption. </a:t>
            </a:r>
          </a:p>
          <a:p>
            <a:pPr marL="511175" lvl="1" indent="-223838">
              <a:spcBef>
                <a:spcPts val="300"/>
              </a:spcBef>
              <a:buFont typeface="Arial" panose="020B0604020202020204" pitchFamily="34" charset="0"/>
              <a:buChar char="•"/>
            </a:pPr>
            <a:r>
              <a:rPr lang="en-US" sz="1200" dirty="0">
                <a:solidFill>
                  <a:schemeClr val="tx1"/>
                </a:solidFill>
                <a:ea typeface="League Spartan" charset="0"/>
                <a:cs typeface="Poppins" pitchFamily="2" charset="77"/>
              </a:rPr>
              <a:t>Given their strong cross-network connectivity, early conversion within this group can accelerate confidence and uptake across a wider HCP base without requiring broad-based outreach.</a:t>
            </a:r>
          </a:p>
          <a:p>
            <a:pPr marL="285750" indent="-285750">
              <a:spcBef>
                <a:spcPts val="300"/>
              </a:spcBef>
              <a:buFont typeface="Arial" panose="020B0604020202020204" pitchFamily="34" charset="0"/>
              <a:buChar char="•"/>
            </a:pPr>
            <a:r>
              <a:rPr lang="en-US" sz="1200" b="1" dirty="0">
                <a:solidFill>
                  <a:schemeClr val="tx1"/>
                </a:solidFill>
                <a:ea typeface="League Spartan" charset="0"/>
                <a:cs typeface="Poppins" pitchFamily="2" charset="77"/>
              </a:rPr>
              <a:t>Super Referrers</a:t>
            </a:r>
            <a:r>
              <a:rPr lang="en-US" sz="1200" dirty="0">
                <a:solidFill>
                  <a:schemeClr val="tx1"/>
                </a:solidFill>
                <a:ea typeface="League Spartan" charset="0"/>
                <a:cs typeface="Poppins" pitchFamily="2" charset="77"/>
              </a:rPr>
              <a:t> should remain consistently engaged post-launch to sustain referral momentum into the NT1 treatment pathway. </a:t>
            </a:r>
          </a:p>
          <a:p>
            <a:pPr marL="511175" lvl="1" indent="-223838">
              <a:spcBef>
                <a:spcPts val="300"/>
              </a:spcBef>
              <a:buFont typeface="Arial" panose="020B0604020202020204" pitchFamily="34" charset="0"/>
              <a:buChar char="•"/>
            </a:pPr>
            <a:r>
              <a:rPr lang="en-US" sz="1200" dirty="0">
                <a:solidFill>
                  <a:schemeClr val="tx1"/>
                </a:solidFill>
                <a:ea typeface="League Spartan" charset="0"/>
                <a:cs typeface="Poppins" pitchFamily="2" charset="77"/>
              </a:rPr>
              <a:t>Reinforcing referral triggers, treatment awareness, and center connectivity can help maintain long-term patient flow into the ecosystem.</a:t>
            </a:r>
            <a:endParaRPr lang="en-US" sz="1200" dirty="0">
              <a:solidFill>
                <a:srgbClr val="34373F"/>
              </a:solidFill>
              <a:ea typeface="League Spartan" charset="0"/>
              <a:cs typeface="Poppins" pitchFamily="2" charset="77"/>
            </a:endParaRPr>
          </a:p>
        </p:txBody>
      </p:sp>
      <p:sp>
        <p:nvSpPr>
          <p:cNvPr id="11" name="Rectangle 10">
            <a:extLst>
              <a:ext uri="{FF2B5EF4-FFF2-40B4-BE49-F238E27FC236}">
                <a16:creationId xmlns:a16="http://schemas.microsoft.com/office/drawing/2014/main" id="{D8F169F6-3F92-E234-995C-6DBFD99AE467}"/>
              </a:ext>
            </a:extLst>
          </p:cNvPr>
          <p:cNvSpPr/>
          <p:nvPr/>
        </p:nvSpPr>
        <p:spPr>
          <a:xfrm>
            <a:off x="1705708" y="3429000"/>
            <a:ext cx="5932051" cy="2488702"/>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b="1" dirty="0">
                <a:solidFill>
                  <a:srgbClr val="34373F"/>
                </a:solidFill>
              </a:rPr>
              <a:t>Super </a:t>
            </a:r>
            <a:r>
              <a:rPr lang="en-US" sz="1200" b="1" dirty="0" err="1">
                <a:solidFill>
                  <a:srgbClr val="34373F"/>
                </a:solidFill>
              </a:rPr>
              <a:t>Diagnosers</a:t>
            </a:r>
            <a:r>
              <a:rPr lang="en-US" sz="1200" dirty="0">
                <a:solidFill>
                  <a:srgbClr val="34373F"/>
                </a:solidFill>
              </a:rPr>
              <a:t> (n=717) and </a:t>
            </a:r>
            <a:r>
              <a:rPr lang="en-US" sz="1200" b="1" dirty="0">
                <a:solidFill>
                  <a:srgbClr val="34373F"/>
                </a:solidFill>
              </a:rPr>
              <a:t>Super Treaters </a:t>
            </a:r>
            <a:r>
              <a:rPr lang="en-US" sz="1200" dirty="0">
                <a:solidFill>
                  <a:srgbClr val="34373F"/>
                </a:solidFill>
              </a:rPr>
              <a:t>(n=315) are the </a:t>
            </a:r>
            <a:r>
              <a:rPr lang="en-US" sz="1200" b="1" dirty="0">
                <a:solidFill>
                  <a:srgbClr val="34373F"/>
                </a:solidFill>
              </a:rPr>
              <a:t>clinical anchors of the network</a:t>
            </a:r>
            <a:r>
              <a:rPr lang="en-US" sz="1200" dirty="0">
                <a:solidFill>
                  <a:srgbClr val="34373F"/>
                </a:solidFill>
              </a:rPr>
              <a:t>, concentrated in Sleep Medicine and Pulmonology/Neurology, managing NT patient volumes 16x and 7x the market average respectively. Both </a:t>
            </a:r>
            <a:r>
              <a:rPr lang="en-US" sz="1200" b="1" dirty="0">
                <a:solidFill>
                  <a:srgbClr val="34373F"/>
                </a:solidFill>
              </a:rPr>
              <a:t>skew strongly toward the Innovator attitudinal segment</a:t>
            </a:r>
            <a:r>
              <a:rPr lang="en-US" sz="1200" dirty="0">
                <a:solidFill>
                  <a:srgbClr val="34373F"/>
                </a:solidFill>
              </a:rPr>
              <a:t> (73–75%)</a:t>
            </a:r>
          </a:p>
          <a:p>
            <a:pPr marL="285750" lvl="0" indent="-285750">
              <a:spcBef>
                <a:spcPts val="600"/>
              </a:spcBef>
              <a:buFont typeface="Arial" panose="020B0604020202020204" pitchFamily="34" charset="0"/>
              <a:buChar char="•"/>
              <a:defRPr/>
            </a:pPr>
            <a:r>
              <a:rPr lang="en-US" sz="1200" dirty="0">
                <a:solidFill>
                  <a:srgbClr val="34373F"/>
                </a:solidFill>
              </a:rPr>
              <a:t>A key group of HCPs act as </a:t>
            </a:r>
            <a:r>
              <a:rPr lang="en-US" sz="1200" b="1" dirty="0">
                <a:solidFill>
                  <a:srgbClr val="34373F"/>
                </a:solidFill>
              </a:rPr>
              <a:t>Bridgers</a:t>
            </a:r>
            <a:r>
              <a:rPr lang="en-US" sz="1200" dirty="0">
                <a:solidFill>
                  <a:srgbClr val="34373F"/>
                </a:solidFill>
              </a:rPr>
              <a:t> (n=280) directing patients from the broader HCP universe to these clinical anchors, ensuring patients </a:t>
            </a:r>
            <a:r>
              <a:rPr lang="en-US" sz="1200" b="1" dirty="0">
                <a:solidFill>
                  <a:srgbClr val="34373F"/>
                </a:solidFill>
              </a:rPr>
              <a:t>receive appropriate care immediately post referral</a:t>
            </a:r>
            <a:r>
              <a:rPr lang="en-US" sz="1200" dirty="0">
                <a:solidFill>
                  <a:srgbClr val="34373F"/>
                </a:solidFill>
              </a:rPr>
              <a:t>. </a:t>
            </a:r>
          </a:p>
          <a:p>
            <a:pPr marL="285750" lvl="0" indent="-285750">
              <a:spcBef>
                <a:spcPts val="600"/>
              </a:spcBef>
              <a:buFont typeface="Arial" panose="020B0604020202020204" pitchFamily="34" charset="0"/>
              <a:buChar char="•"/>
              <a:defRPr/>
            </a:pPr>
            <a:r>
              <a:rPr lang="en-US" sz="1200" b="1" dirty="0">
                <a:solidFill>
                  <a:srgbClr val="34373F"/>
                </a:solidFill>
              </a:rPr>
              <a:t>Key Influencers</a:t>
            </a:r>
            <a:r>
              <a:rPr lang="en-US" sz="1200" dirty="0">
                <a:solidFill>
                  <a:srgbClr val="34373F"/>
                </a:solidFill>
              </a:rPr>
              <a:t> (n=1,271) </a:t>
            </a:r>
            <a:r>
              <a:rPr lang="en-US" sz="1200" b="1" dirty="0">
                <a:solidFill>
                  <a:srgbClr val="34373F"/>
                </a:solidFill>
              </a:rPr>
              <a:t>are the most cross-connected HCPs</a:t>
            </a:r>
            <a:r>
              <a:rPr lang="en-US" sz="1200" dirty="0">
                <a:solidFill>
                  <a:srgbClr val="34373F"/>
                </a:solidFill>
              </a:rPr>
              <a:t>, managing ~9 NT patients per HCP (Top 90</a:t>
            </a:r>
            <a:r>
              <a:rPr lang="en-US" sz="1200" baseline="30000" dirty="0">
                <a:solidFill>
                  <a:srgbClr val="34373F"/>
                </a:solidFill>
              </a:rPr>
              <a:t>th</a:t>
            </a:r>
            <a:r>
              <a:rPr lang="en-US" sz="1200" dirty="0">
                <a:solidFill>
                  <a:srgbClr val="34373F"/>
                </a:solidFill>
              </a:rPr>
              <a:t> Percentile) and connecting various parts of the referral network.</a:t>
            </a:r>
          </a:p>
          <a:p>
            <a:pPr marL="285750" lvl="0" indent="-285750">
              <a:spcBef>
                <a:spcPts val="600"/>
              </a:spcBef>
              <a:buFont typeface="Arial" panose="020B0604020202020204" pitchFamily="34" charset="0"/>
              <a:buChar char="•"/>
              <a:defRPr/>
            </a:pPr>
            <a:r>
              <a:rPr lang="en-US" sz="1200" b="1" dirty="0">
                <a:solidFill>
                  <a:srgbClr val="34373F"/>
                </a:solidFill>
              </a:rPr>
              <a:t>549 Super Referrers consistently forward patients toward the NT1 care pathway</a:t>
            </a:r>
            <a:r>
              <a:rPr lang="en-US" sz="1200" dirty="0">
                <a:solidFill>
                  <a:srgbClr val="34373F"/>
                </a:solidFill>
              </a:rPr>
              <a:t> and are PCP-dominant (53%).</a:t>
            </a:r>
          </a:p>
        </p:txBody>
      </p:sp>
      <p:grpSp>
        <p:nvGrpSpPr>
          <p:cNvPr id="6" name="Group 5">
            <a:extLst>
              <a:ext uri="{FF2B5EF4-FFF2-40B4-BE49-F238E27FC236}">
                <a16:creationId xmlns:a16="http://schemas.microsoft.com/office/drawing/2014/main" id="{5FD85633-BF7A-86E6-F0D7-6794E1E5ED2F}"/>
              </a:ext>
            </a:extLst>
          </p:cNvPr>
          <p:cNvGrpSpPr/>
          <p:nvPr/>
        </p:nvGrpSpPr>
        <p:grpSpPr>
          <a:xfrm>
            <a:off x="1" y="4234699"/>
            <a:ext cx="1617784" cy="877305"/>
            <a:chOff x="1" y="3589709"/>
            <a:chExt cx="1617784" cy="877305"/>
          </a:xfrm>
        </p:grpSpPr>
        <p:sp>
          <p:nvSpPr>
            <p:cNvPr id="12" name="Title 1">
              <a:extLst>
                <a:ext uri="{FF2B5EF4-FFF2-40B4-BE49-F238E27FC236}">
                  <a16:creationId xmlns:a16="http://schemas.microsoft.com/office/drawing/2014/main" id="{AFE4D095-92EB-AC6F-7FFC-0BACCBD5CA6D}"/>
                </a:ext>
              </a:extLst>
            </p:cNvPr>
            <p:cNvSpPr txBox="1">
              <a:spLocks/>
            </p:cNvSpPr>
            <p:nvPr/>
          </p:nvSpPr>
          <p:spPr>
            <a:xfrm>
              <a:off x="373521" y="3690604"/>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BF5B8DE8-85C8-7460-4E23-9AF3B2E0B813}"/>
                </a:ext>
              </a:extLst>
            </p:cNvPr>
            <p:cNvSpPr txBox="1">
              <a:spLocks/>
            </p:cNvSpPr>
            <p:nvPr/>
          </p:nvSpPr>
          <p:spPr>
            <a:xfrm>
              <a:off x="1" y="3589709"/>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HCP Roles Within the Network</a:t>
              </a:r>
            </a:p>
          </p:txBody>
        </p:sp>
      </p:grpSp>
      <p:sp>
        <p:nvSpPr>
          <p:cNvPr id="5" name="Freeform 949">
            <a:extLst>
              <a:ext uri="{FF2B5EF4-FFF2-40B4-BE49-F238E27FC236}">
                <a16:creationId xmlns:a16="http://schemas.microsoft.com/office/drawing/2014/main" id="{BF0C22B6-22B5-33C7-1C6B-0FE034338AAF}"/>
              </a:ext>
            </a:extLst>
          </p:cNvPr>
          <p:cNvSpPr>
            <a:spLocks noChangeAspect="1" noChangeArrowheads="1"/>
          </p:cNvSpPr>
          <p:nvPr/>
        </p:nvSpPr>
        <p:spPr bwMode="auto">
          <a:xfrm>
            <a:off x="511004" y="246723"/>
            <a:ext cx="487475" cy="497225"/>
          </a:xfrm>
          <a:custGeom>
            <a:avLst/>
            <a:gdLst>
              <a:gd name="T0" fmla="*/ 873075 w 291288"/>
              <a:gd name="T1" fmla="*/ 2795955 h 291739"/>
              <a:gd name="T2" fmla="*/ 825138 w 291288"/>
              <a:gd name="T3" fmla="*/ 3109255 h 291739"/>
              <a:gd name="T4" fmla="*/ 1567832 w 291288"/>
              <a:gd name="T5" fmla="*/ 3109255 h 291739"/>
              <a:gd name="T6" fmla="*/ 1567832 w 291288"/>
              <a:gd name="T7" fmla="*/ 2795955 h 291739"/>
              <a:gd name="T8" fmla="*/ 932966 w 291288"/>
              <a:gd name="T9" fmla="*/ 2427114 h 291739"/>
              <a:gd name="T10" fmla="*/ 889032 w 291288"/>
              <a:gd name="T11" fmla="*/ 2696803 h 291739"/>
              <a:gd name="T12" fmla="*/ 1615749 w 291288"/>
              <a:gd name="T13" fmla="*/ 2696803 h 291739"/>
              <a:gd name="T14" fmla="*/ 1663649 w 291288"/>
              <a:gd name="T15" fmla="*/ 2748367 h 291739"/>
              <a:gd name="T16" fmla="*/ 1663649 w 291288"/>
              <a:gd name="T17" fmla="*/ 3109255 h 291739"/>
              <a:gd name="T18" fmla="*/ 2973334 w 291288"/>
              <a:gd name="T19" fmla="*/ 3109255 h 291739"/>
              <a:gd name="T20" fmla="*/ 1603782 w 291288"/>
              <a:gd name="T21" fmla="*/ 2427114 h 291739"/>
              <a:gd name="T22" fmla="*/ 322044 w 291288"/>
              <a:gd name="T23" fmla="*/ 2427114 h 291739"/>
              <a:gd name="T24" fmla="*/ 114416 w 291288"/>
              <a:gd name="T25" fmla="*/ 3109255 h 291739"/>
              <a:gd name="T26" fmla="*/ 725308 w 291288"/>
              <a:gd name="T27" fmla="*/ 3109255 h 291739"/>
              <a:gd name="T28" fmla="*/ 837119 w 291288"/>
              <a:gd name="T29" fmla="*/ 2427114 h 291739"/>
              <a:gd name="T30" fmla="*/ 2861559 w 291288"/>
              <a:gd name="T31" fmla="*/ 2268491 h 291739"/>
              <a:gd name="T32" fmla="*/ 2178738 w 291288"/>
              <a:gd name="T33" fmla="*/ 2609551 h 291739"/>
              <a:gd name="T34" fmla="*/ 3101105 w 291288"/>
              <a:gd name="T35" fmla="*/ 3065636 h 291739"/>
              <a:gd name="T36" fmla="*/ 2090912 w 291288"/>
              <a:gd name="T37" fmla="*/ 1911559 h 291739"/>
              <a:gd name="T38" fmla="*/ 1695617 w 291288"/>
              <a:gd name="T39" fmla="*/ 2367632 h 291739"/>
              <a:gd name="T40" fmla="*/ 2070956 w 291288"/>
              <a:gd name="T41" fmla="*/ 2550070 h 291739"/>
              <a:gd name="T42" fmla="*/ 2833573 w 291288"/>
              <a:gd name="T43" fmla="*/ 2173303 h 291739"/>
              <a:gd name="T44" fmla="*/ 2753701 w 291288"/>
              <a:gd name="T45" fmla="*/ 1911559 h 291739"/>
              <a:gd name="T46" fmla="*/ 1020803 w 291288"/>
              <a:gd name="T47" fmla="*/ 1911559 h 291739"/>
              <a:gd name="T48" fmla="*/ 952932 w 291288"/>
              <a:gd name="T49" fmla="*/ 2331935 h 291739"/>
              <a:gd name="T50" fmla="*/ 1495937 w 291288"/>
              <a:gd name="T51" fmla="*/ 2331935 h 291739"/>
              <a:gd name="T52" fmla="*/ 1140594 w 291288"/>
              <a:gd name="T53" fmla="*/ 1911559 h 291739"/>
              <a:gd name="T54" fmla="*/ 477753 w 291288"/>
              <a:gd name="T55" fmla="*/ 1911559 h 291739"/>
              <a:gd name="T56" fmla="*/ 349984 w 291288"/>
              <a:gd name="T57" fmla="*/ 2331935 h 291739"/>
              <a:gd name="T58" fmla="*/ 853117 w 291288"/>
              <a:gd name="T59" fmla="*/ 2331935 h 291739"/>
              <a:gd name="T60" fmla="*/ 920988 w 291288"/>
              <a:gd name="T61" fmla="*/ 1911559 h 291739"/>
              <a:gd name="T62" fmla="*/ 1615749 w 291288"/>
              <a:gd name="T63" fmla="*/ 566600 h 291739"/>
              <a:gd name="T64" fmla="*/ 1277311 w 291288"/>
              <a:gd name="T65" fmla="*/ 907845 h 291739"/>
              <a:gd name="T66" fmla="*/ 1615749 w 291288"/>
              <a:gd name="T67" fmla="*/ 1245099 h 291739"/>
              <a:gd name="T68" fmla="*/ 1954201 w 291288"/>
              <a:gd name="T69" fmla="*/ 907845 h 291739"/>
              <a:gd name="T70" fmla="*/ 1615749 w 291288"/>
              <a:gd name="T71" fmla="*/ 566600 h 291739"/>
              <a:gd name="T72" fmla="*/ 1615749 w 291288"/>
              <a:gd name="T73" fmla="*/ 471356 h 291739"/>
              <a:gd name="T74" fmla="*/ 2053733 w 291288"/>
              <a:gd name="T75" fmla="*/ 907845 h 291739"/>
              <a:gd name="T76" fmla="*/ 1615749 w 291288"/>
              <a:gd name="T77" fmla="*/ 1340336 h 291739"/>
              <a:gd name="T78" fmla="*/ 1177757 w 291288"/>
              <a:gd name="T79" fmla="*/ 907845 h 291739"/>
              <a:gd name="T80" fmla="*/ 1615749 w 291288"/>
              <a:gd name="T81" fmla="*/ 471356 h 291739"/>
              <a:gd name="T82" fmla="*/ 1615749 w 291288"/>
              <a:gd name="T83" fmla="*/ 95201 h 291739"/>
              <a:gd name="T84" fmla="*/ 809176 w 291288"/>
              <a:gd name="T85" fmla="*/ 896289 h 291739"/>
              <a:gd name="T86" fmla="*/ 1615749 w 291288"/>
              <a:gd name="T87" fmla="*/ 2312106 h 291739"/>
              <a:gd name="T88" fmla="*/ 2418321 w 291288"/>
              <a:gd name="T89" fmla="*/ 896289 h 291739"/>
              <a:gd name="T90" fmla="*/ 1615749 w 291288"/>
              <a:gd name="T91" fmla="*/ 95201 h 291739"/>
              <a:gd name="T92" fmla="*/ 1615749 w 291288"/>
              <a:gd name="T93" fmla="*/ 0 h 291739"/>
              <a:gd name="T94" fmla="*/ 2514142 w 291288"/>
              <a:gd name="T95" fmla="*/ 896289 h 291739"/>
              <a:gd name="T96" fmla="*/ 2154774 w 291288"/>
              <a:gd name="T97" fmla="*/ 1812402 h 291739"/>
              <a:gd name="T98" fmla="*/ 2789634 w 291288"/>
              <a:gd name="T99" fmla="*/ 1812402 h 291739"/>
              <a:gd name="T100" fmla="*/ 2833573 w 291288"/>
              <a:gd name="T101" fmla="*/ 1848099 h 291739"/>
              <a:gd name="T102" fmla="*/ 3224882 w 291288"/>
              <a:gd name="T103" fmla="*/ 3140984 h 291739"/>
              <a:gd name="T104" fmla="*/ 3220897 w 291288"/>
              <a:gd name="T105" fmla="*/ 3188573 h 291739"/>
              <a:gd name="T106" fmla="*/ 3180961 w 291288"/>
              <a:gd name="T107" fmla="*/ 3208396 h 291739"/>
              <a:gd name="T108" fmla="*/ 46558 w 291288"/>
              <a:gd name="T109" fmla="*/ 3208396 h 291739"/>
              <a:gd name="T110" fmla="*/ 6633 w 291288"/>
              <a:gd name="T111" fmla="*/ 3188573 h 291739"/>
              <a:gd name="T112" fmla="*/ 2641 w 291288"/>
              <a:gd name="T113" fmla="*/ 3140984 h 291739"/>
              <a:gd name="T114" fmla="*/ 393917 w 291288"/>
              <a:gd name="T115" fmla="*/ 1848099 h 291739"/>
              <a:gd name="T116" fmla="*/ 441828 w 291288"/>
              <a:gd name="T117" fmla="*/ 1812402 h 291739"/>
              <a:gd name="T118" fmla="*/ 1068706 w 291288"/>
              <a:gd name="T119" fmla="*/ 1812402 h 291739"/>
              <a:gd name="T120" fmla="*/ 713343 w 291288"/>
              <a:gd name="T121" fmla="*/ 896289 h 291739"/>
              <a:gd name="T122" fmla="*/ 1615749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chemeClr val="tx1"/>
          </a:solidFill>
          <a:ln>
            <a:noFill/>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BE588B7-F114-6A51-01E8-D74F4F94BF14}"/>
              </a:ext>
            </a:extLst>
          </p:cNvPr>
          <p:cNvSpPr txBox="1"/>
          <p:nvPr/>
        </p:nvSpPr>
        <p:spPr>
          <a:xfrm>
            <a:off x="114300" y="6246569"/>
            <a:ext cx="7825033" cy="415498"/>
          </a:xfrm>
          <a:prstGeom prst="rect">
            <a:avLst/>
          </a:prstGeom>
          <a:noFill/>
        </p:spPr>
        <p:txBody>
          <a:bodyPr wrap="square" rtlCol="0">
            <a:spAutoFit/>
          </a:bodyPr>
          <a:lstStyle/>
          <a:p>
            <a:r>
              <a:rPr lang="en-US" sz="1050" dirty="0"/>
              <a:t>Interactive Dashboard:  </a:t>
            </a:r>
            <a:r>
              <a:rPr lang="en-US" sz="1050" dirty="0">
                <a:hlinkClick r:id="rId2"/>
              </a:rPr>
              <a:t>https://us-east-1.online.tableau.com/t/usbutakeda/views/NT1ReferralNetworkDashboard/HCPNetwork</a:t>
            </a:r>
            <a:endParaRPr lang="en-US" sz="1050" dirty="0"/>
          </a:p>
          <a:p>
            <a:endParaRPr lang="en-US" sz="1050" dirty="0"/>
          </a:p>
        </p:txBody>
      </p:sp>
    </p:spTree>
    <p:extLst>
      <p:ext uri="{BB962C8B-B14F-4D97-AF65-F5344CB8AC3E}">
        <p14:creationId xmlns:p14="http://schemas.microsoft.com/office/powerpoint/2010/main" val="30131158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3E589D3-7A6F-AD24-F29A-A9592435881C}"/>
              </a:ext>
            </a:extLst>
          </p:cNvPr>
          <p:cNvSpPr/>
          <p:nvPr/>
        </p:nvSpPr>
        <p:spPr>
          <a:xfrm>
            <a:off x="0" y="1900519"/>
            <a:ext cx="12192000" cy="4957482"/>
          </a:xfrm>
          <a:prstGeom prst="rect">
            <a:avLst/>
          </a:prstGeom>
          <a:solidFill>
            <a:schemeClr val="accent5"/>
          </a:solidFill>
          <a:ln w="12700" cap="flat" cmpd="sng" algn="ctr">
            <a:noFill/>
            <a:prstDash val="solid"/>
            <a:miter lim="800000"/>
          </a:ln>
          <a:effectLst/>
        </p:spPr>
        <p:txBody>
          <a:bodyPr lIns="91440" tIns="9144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1" u="none" strike="noStrike" kern="0" cap="none" spc="0" normalizeH="0" baseline="0" noProof="0">
              <a:ln>
                <a:noFill/>
              </a:ln>
              <a:effectLst/>
              <a:uLnTx/>
              <a:uFillTx/>
              <a:latin typeface="Calibri" panose="020F0502020204030204"/>
              <a:ea typeface="+mn-ea"/>
              <a:cs typeface="Arial" panose="020B0604020202020204" pitchFamily="34" charset="0"/>
            </a:endParaRPr>
          </a:p>
        </p:txBody>
      </p:sp>
      <p:sp>
        <p:nvSpPr>
          <p:cNvPr id="4" name="Title 3">
            <a:extLst>
              <a:ext uri="{FF2B5EF4-FFF2-40B4-BE49-F238E27FC236}">
                <a16:creationId xmlns:a16="http://schemas.microsoft.com/office/drawing/2014/main" id="{F66929C9-22B2-3358-78AA-C04EDF4AD4F2}"/>
              </a:ext>
            </a:extLst>
          </p:cNvPr>
          <p:cNvSpPr>
            <a:spLocks noGrp="1"/>
          </p:cNvSpPr>
          <p:nvPr>
            <p:ph type="title"/>
          </p:nvPr>
        </p:nvSpPr>
        <p:spPr/>
        <p:txBody>
          <a:bodyPr>
            <a:normAutofit fontScale="90000"/>
          </a:bodyPr>
          <a:lstStyle/>
          <a:p>
            <a:r>
              <a:rPr lang="en-US"/>
              <a:t>As a first step, the tagged referral data was transformed into a weighted network graph and analyzed using network intelligence algorithms to identify key HCP personas</a:t>
            </a:r>
          </a:p>
        </p:txBody>
      </p:sp>
      <p:sp>
        <p:nvSpPr>
          <p:cNvPr id="5" name="Slide Number Placeholder 4">
            <a:extLst>
              <a:ext uri="{FF2B5EF4-FFF2-40B4-BE49-F238E27FC236}">
                <a16:creationId xmlns:a16="http://schemas.microsoft.com/office/drawing/2014/main" id="{9440516A-7441-010A-91B4-BBEA55B091D0}"/>
              </a:ext>
            </a:extLst>
          </p:cNvPr>
          <p:cNvSpPr>
            <a:spLocks noGrp="1"/>
          </p:cNvSpPr>
          <p:nvPr>
            <p:ph type="sldNum" sz="quarter" idx="4"/>
          </p:nvPr>
        </p:nvSpPr>
        <p:spPr/>
        <p:txBody>
          <a:bodyPr/>
          <a:lstStyle/>
          <a:p>
            <a:pPr defTabSz="1218810"/>
            <a:fld id="{E9B57936-92EF-4126-AE48-1D9D36D15E98}" type="slidenum">
              <a:rPr lang="ja-JP" altLang="en-US" smtClean="0"/>
              <a:pPr defTabSz="1218810"/>
              <a:t>18</a:t>
            </a:fld>
            <a:endParaRPr lang="ja-JP" altLang="en-US"/>
          </a:p>
        </p:txBody>
      </p:sp>
      <p:sp>
        <p:nvSpPr>
          <p:cNvPr id="9" name="TextBox 8">
            <a:extLst>
              <a:ext uri="{FF2B5EF4-FFF2-40B4-BE49-F238E27FC236}">
                <a16:creationId xmlns:a16="http://schemas.microsoft.com/office/drawing/2014/main" id="{F39495E1-9294-6E46-867C-D6197845E407}"/>
              </a:ext>
            </a:extLst>
          </p:cNvPr>
          <p:cNvSpPr txBox="1"/>
          <p:nvPr/>
        </p:nvSpPr>
        <p:spPr>
          <a:xfrm>
            <a:off x="1449184" y="2611196"/>
            <a:ext cx="9949294" cy="1338828"/>
          </a:xfrm>
          <a:prstGeom prst="rect">
            <a:avLst/>
          </a:prstGeom>
          <a:noFill/>
        </p:spPr>
        <p:txBody>
          <a:bodyPr wrap="square" lIns="0" tIns="0" rIns="0" bIns="0" rtlCol="0">
            <a:spAutoFit/>
          </a:bodyPr>
          <a:lstStyle/>
          <a:p>
            <a:pPr marL="228600" marR="0" lvl="0" indent="-228600" defTabSz="914400" eaLnBrk="1" fontAlgn="auto" latinLnBrk="0" hangingPunct="1">
              <a:lnSpc>
                <a:spcPct val="100000"/>
              </a:lnSpc>
              <a:spcBef>
                <a:spcPts val="300"/>
              </a:spcBef>
              <a:spcAft>
                <a:spcPts val="300"/>
              </a:spcAft>
              <a:buClr>
                <a:srgbClr val="34373F"/>
              </a:buClr>
              <a:buSzPct val="110000"/>
              <a:buFont typeface="+mj-lt"/>
              <a:buAutoNum type="arabicPeriod"/>
              <a:tabLst/>
              <a:defRPr/>
            </a:pPr>
            <a:r>
              <a:rPr lang="en-US" sz="1200" b="1">
                <a:latin typeface="+mj-lt"/>
              </a:rPr>
              <a:t>HCP Referral Relationships: </a:t>
            </a:r>
            <a:r>
              <a:rPr lang="en-US" sz="1200">
                <a:latin typeface="+mj-lt"/>
              </a:rPr>
              <a:t>Identify the way HCPs within the universe interact with each other through patient hand-offs to ascertain what qualifies as referrals vs what might be disjointed interactions.</a:t>
            </a:r>
          </a:p>
          <a:p>
            <a:pPr marL="228600" marR="0" lvl="0" indent="-228600" defTabSz="914400" eaLnBrk="1" fontAlgn="auto" latinLnBrk="0" hangingPunct="1">
              <a:lnSpc>
                <a:spcPct val="100000"/>
              </a:lnSpc>
              <a:spcBef>
                <a:spcPts val="300"/>
              </a:spcBef>
              <a:spcAft>
                <a:spcPts val="300"/>
              </a:spcAft>
              <a:buClr>
                <a:srgbClr val="34373F"/>
              </a:buClr>
              <a:buSzPct val="110000"/>
              <a:buFont typeface="+mj-lt"/>
              <a:buAutoNum type="arabicPeriod"/>
              <a:tabLst/>
              <a:defRPr/>
            </a:pPr>
            <a:r>
              <a:rPr lang="en-US" sz="1200" b="1">
                <a:latin typeface="+mj-lt"/>
              </a:rPr>
              <a:t>NT1 Referral Network Graph</a:t>
            </a:r>
            <a:r>
              <a:rPr lang="en-US" sz="1200">
                <a:latin typeface="+mj-lt"/>
              </a:rPr>
              <a:t>: Establish the provider-patient-provider transitions through their the NT1 journey and surface the established referral routes within the market.</a:t>
            </a:r>
          </a:p>
          <a:p>
            <a:pPr marL="228600" marR="0" lvl="0" indent="-228600" defTabSz="914400" eaLnBrk="1" fontAlgn="auto" latinLnBrk="0" hangingPunct="1">
              <a:lnSpc>
                <a:spcPct val="100000"/>
              </a:lnSpc>
              <a:spcBef>
                <a:spcPts val="300"/>
              </a:spcBef>
              <a:spcAft>
                <a:spcPts val="300"/>
              </a:spcAft>
              <a:buClr>
                <a:srgbClr val="34373F"/>
              </a:buClr>
              <a:buSzPct val="110000"/>
              <a:buFont typeface="+mj-lt"/>
              <a:buAutoNum type="arabicPeriod"/>
              <a:tabLst/>
              <a:defRPr/>
            </a:pPr>
            <a:r>
              <a:rPr lang="en-US" sz="1200" b="1">
                <a:latin typeface="+mj-lt"/>
              </a:rPr>
              <a:t>HCP Personas</a:t>
            </a:r>
            <a:r>
              <a:rPr lang="en-US" sz="1200">
                <a:latin typeface="+mj-lt"/>
              </a:rPr>
              <a:t>: Isolate and tag the HCPs who play an influential and distinct role in the NT1 patients’ referral journey persistently.</a:t>
            </a:r>
          </a:p>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endParaRPr lang="en-US" sz="1200">
              <a:latin typeface="+mj-lt"/>
            </a:endParaRPr>
          </a:p>
        </p:txBody>
      </p:sp>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F7710386-48C6-29A8-142E-A80E0A44ADD7}"/>
                  </a:ext>
                </a:extLst>
              </p:cNvPr>
              <p:cNvGraphicFramePr>
                <a:graphicFrameLocks noChangeAspect="1"/>
              </p:cNvGraphicFramePr>
              <p:nvPr/>
            </p:nvGraphicFramePr>
            <p:xfrm>
              <a:off x="1790700" y="4220942"/>
              <a:ext cx="4064000" cy="2286000"/>
            </p:xfrm>
            <a:graphic>
              <a:graphicData uri="http://schemas.microsoft.com/office/powerpoint/2016/slidezoom">
                <pslz:sldZm>
                  <pslz:sldZmObj sldId="2145707075" cId="2585623934">
                    <pslz:zmPr id="{14E5E714-3FAA-4F98-B9F3-C3052B170D6F}" returnToParent="0" transitionDur="1000">
                      <p166:blipFill xmlns:p166="http://schemas.microsoft.com/office/powerpoint/2016/6/main">
                        <a:blip r:embed="rId3"/>
                        <a:stretch>
                          <a:fillRect/>
                        </a:stretch>
                      </p166:blipFill>
                      <p166:spPr xmlns:p166="http://schemas.microsoft.com/office/powerpoint/2016/6/main">
                        <a:xfrm>
                          <a:off x="0" y="0"/>
                          <a:ext cx="4064000" cy="2286000"/>
                        </a:xfrm>
                        <a:prstGeom prst="rect">
                          <a:avLst/>
                        </a:prstGeom>
                        <a:ln w="3175">
                          <a:solidFill>
                            <a:prstClr val="ltGray"/>
                          </a:solidFill>
                        </a:ln>
                      </p166:spPr>
                    </pslz:zmPr>
                  </pslz:sldZmObj>
                </pslz:sldZm>
              </a:graphicData>
            </a:graphic>
          </p:graphicFrame>
        </mc:Choice>
        <mc:Fallback xmlns="">
          <p:pic>
            <p:nvPicPr>
              <p:cNvPr id="15" name="Slide Zoom 14">
                <a:hlinkClick r:id="rId4" action="ppaction://hlinksldjump"/>
                <a:extLst>
                  <a:ext uri="{FF2B5EF4-FFF2-40B4-BE49-F238E27FC236}">
                    <a16:creationId xmlns:a16="http://schemas.microsoft.com/office/drawing/2014/main" id="{F7710386-48C6-29A8-142E-A80E0A44ADD7}"/>
                  </a:ext>
                </a:extLst>
              </p:cNvPr>
              <p:cNvPicPr>
                <a:picLocks noGrp="1" noRot="1" noChangeAspect="1" noMove="1" noResize="1" noEditPoints="1" noAdjustHandles="1" noChangeArrowheads="1" noChangeShapeType="1"/>
              </p:cNvPicPr>
              <p:nvPr/>
            </p:nvPicPr>
            <p:blipFill>
              <a:blip r:embed="rId5"/>
              <a:stretch>
                <a:fillRect/>
              </a:stretch>
            </p:blipFill>
            <p:spPr>
              <a:xfrm>
                <a:off x="1790700" y="4220942"/>
                <a:ext cx="4064000" cy="2286000"/>
              </a:xfrm>
              <a:prstGeom prst="rect">
                <a:avLst/>
              </a:prstGeom>
              <a:ln w="3175">
                <a:solidFill>
                  <a:prstClr val="ltGray"/>
                </a:solidFill>
              </a:ln>
            </p:spPr>
          </p:pic>
        </mc:Fallback>
      </mc:AlternateContent>
      <p:grpSp>
        <p:nvGrpSpPr>
          <p:cNvPr id="18" name="Group 17">
            <a:extLst>
              <a:ext uri="{FF2B5EF4-FFF2-40B4-BE49-F238E27FC236}">
                <a16:creationId xmlns:a16="http://schemas.microsoft.com/office/drawing/2014/main" id="{8051B786-A206-C0D7-E48F-ADC8D608E467}"/>
              </a:ext>
            </a:extLst>
          </p:cNvPr>
          <p:cNvGrpSpPr/>
          <p:nvPr/>
        </p:nvGrpSpPr>
        <p:grpSpPr>
          <a:xfrm>
            <a:off x="4152900" y="1233488"/>
            <a:ext cx="4171950" cy="501069"/>
            <a:chOff x="4152900" y="1233488"/>
            <a:chExt cx="4171950" cy="501069"/>
          </a:xfrm>
        </p:grpSpPr>
        <p:sp>
          <p:nvSpPr>
            <p:cNvPr id="17" name="Rectangle: Top Corners Rounded 16">
              <a:extLst>
                <a:ext uri="{FF2B5EF4-FFF2-40B4-BE49-F238E27FC236}">
                  <a16:creationId xmlns:a16="http://schemas.microsoft.com/office/drawing/2014/main" id="{C0E5E186-CA6B-EE09-BE82-214A4DE6C588}"/>
                </a:ext>
              </a:extLst>
            </p:cNvPr>
            <p:cNvSpPr/>
            <p:nvPr/>
          </p:nvSpPr>
          <p:spPr>
            <a:xfrm>
              <a:off x="4152900" y="1282120"/>
              <a:ext cx="4171950" cy="452437"/>
            </a:xfrm>
            <a:prstGeom prst="round2SameRect">
              <a:avLst>
                <a:gd name="adj1" fmla="val 0"/>
                <a:gd name="adj2" fmla="val 21895"/>
              </a:avLst>
            </a:prstGeom>
            <a:solidFill>
              <a:schemeClr val="accent5">
                <a:lumMod val="2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16" name="Rectangle: Top Corners Rounded 15">
              <a:extLst>
                <a:ext uri="{FF2B5EF4-FFF2-40B4-BE49-F238E27FC236}">
                  <a16:creationId xmlns:a16="http://schemas.microsoft.com/office/drawing/2014/main" id="{DC55CF61-CDF7-7FC7-E72B-7D1A6B862561}"/>
                </a:ext>
              </a:extLst>
            </p:cNvPr>
            <p:cNvSpPr/>
            <p:nvPr/>
          </p:nvSpPr>
          <p:spPr>
            <a:xfrm>
              <a:off x="4152900" y="1233488"/>
              <a:ext cx="4171950" cy="452437"/>
            </a:xfrm>
            <a:prstGeom prst="round2SameRect">
              <a:avLst>
                <a:gd name="adj1" fmla="val 0"/>
                <a:gd name="adj2" fmla="val 21895"/>
              </a:avLst>
            </a:prstGeom>
            <a:solidFill>
              <a:schemeClr val="accent5">
                <a:lumMod val="5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a:solidFill>
                    <a:schemeClr val="bg1"/>
                  </a:solidFill>
                </a:rPr>
                <a:t>Referral Network Overview</a:t>
              </a:r>
            </a:p>
          </p:txBody>
        </p:sp>
      </p:grpSp>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D528BBE8-1888-D31B-D9CB-58940F00DB0B}"/>
                  </a:ext>
                </a:extLst>
              </p:cNvPr>
              <p:cNvGraphicFramePr>
                <a:graphicFrameLocks noChangeAspect="1"/>
              </p:cNvGraphicFramePr>
              <p:nvPr/>
            </p:nvGraphicFramePr>
            <p:xfrm>
              <a:off x="7462916" y="4220942"/>
              <a:ext cx="4056888" cy="2282000"/>
            </p:xfrm>
            <a:graphic>
              <a:graphicData uri="http://schemas.microsoft.com/office/powerpoint/2016/slidezoom">
                <pslz:sldZm>
                  <pslz:sldZmObj sldId="2145707099" cId="4270929345">
                    <pslz:zmPr id="{07FFB501-D3AA-42E7-9C65-5A375CC246BC}" returnToParent="0" transitionDur="1000">
                      <p166:blipFill xmlns:p166="http://schemas.microsoft.com/office/powerpoint/2016/6/main">
                        <a:blip r:embed="rId6"/>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xmlns="">
          <p:pic>
            <p:nvPicPr>
              <p:cNvPr id="14" name="Slide Zoom 13">
                <a:hlinkClick r:id="rId7" action="ppaction://hlinksldjump"/>
                <a:extLst>
                  <a:ext uri="{FF2B5EF4-FFF2-40B4-BE49-F238E27FC236}">
                    <a16:creationId xmlns:a16="http://schemas.microsoft.com/office/drawing/2014/main" id="{D528BBE8-1888-D31B-D9CB-58940F00DB0B}"/>
                  </a:ext>
                </a:extLst>
              </p:cNvPr>
              <p:cNvPicPr>
                <a:picLocks noGrp="1" noRot="1" noChangeAspect="1" noMove="1" noResize="1" noEditPoints="1" noAdjustHandles="1" noChangeArrowheads="1" noChangeShapeType="1"/>
              </p:cNvPicPr>
              <p:nvPr/>
            </p:nvPicPr>
            <p:blipFill>
              <a:blip r:embed="rId8"/>
              <a:stretch>
                <a:fillRect/>
              </a:stretch>
            </p:blipFill>
            <p:spPr>
              <a:xfrm>
                <a:off x="7462916" y="4220942"/>
                <a:ext cx="4056888" cy="2282000"/>
              </a:xfrm>
              <a:prstGeom prst="rect">
                <a:avLst/>
              </a:prstGeom>
              <a:ln w="3175">
                <a:solidFill>
                  <a:prstClr val="ltGray"/>
                </a:solidFill>
              </a:ln>
            </p:spPr>
          </p:pic>
        </mc:Fallback>
      </mc:AlternateContent>
      <p:grpSp>
        <p:nvGrpSpPr>
          <p:cNvPr id="23" name="Group 22">
            <a:extLst>
              <a:ext uri="{FF2B5EF4-FFF2-40B4-BE49-F238E27FC236}">
                <a16:creationId xmlns:a16="http://schemas.microsoft.com/office/drawing/2014/main" id="{F9E28C6B-87D6-B171-A411-DB96295CAD1A}"/>
              </a:ext>
            </a:extLst>
          </p:cNvPr>
          <p:cNvGrpSpPr/>
          <p:nvPr/>
        </p:nvGrpSpPr>
        <p:grpSpPr>
          <a:xfrm>
            <a:off x="0" y="1480078"/>
            <a:ext cx="2384577" cy="877305"/>
            <a:chOff x="0" y="1480078"/>
            <a:chExt cx="2384577" cy="877305"/>
          </a:xfrm>
        </p:grpSpPr>
        <p:sp>
          <p:nvSpPr>
            <p:cNvPr id="21" name="Title 1">
              <a:extLst>
                <a:ext uri="{FF2B5EF4-FFF2-40B4-BE49-F238E27FC236}">
                  <a16:creationId xmlns:a16="http://schemas.microsoft.com/office/drawing/2014/main" id="{7FAD17B7-A62A-FE6D-7ECA-DC7E4443DA11}"/>
                </a:ext>
              </a:extLst>
            </p:cNvPr>
            <p:cNvSpPr txBox="1">
              <a:spLocks/>
            </p:cNvSpPr>
            <p:nvPr/>
          </p:nvSpPr>
          <p:spPr>
            <a:xfrm>
              <a:off x="373521" y="1580973"/>
              <a:ext cx="2011056" cy="675514"/>
            </a:xfrm>
            <a:prstGeom prst="homePlate">
              <a:avLst>
                <a:gd name="adj" fmla="val 12882"/>
              </a:avLst>
            </a:prstGeom>
            <a:solidFill>
              <a:schemeClr val="accent5">
                <a:lumMod val="7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2" name="Title 1">
              <a:extLst>
                <a:ext uri="{FF2B5EF4-FFF2-40B4-BE49-F238E27FC236}">
                  <a16:creationId xmlns:a16="http://schemas.microsoft.com/office/drawing/2014/main" id="{F02E4A62-2FDB-B108-2487-2B0D268E0400}"/>
                </a:ext>
              </a:extLst>
            </p:cNvPr>
            <p:cNvSpPr txBox="1">
              <a:spLocks/>
            </p:cNvSpPr>
            <p:nvPr/>
          </p:nvSpPr>
          <p:spPr>
            <a:xfrm>
              <a:off x="0" y="1480078"/>
              <a:ext cx="2273617" cy="877305"/>
            </a:xfrm>
            <a:prstGeom prst="homePlate">
              <a:avLst>
                <a:gd name="adj" fmla="val 12882"/>
              </a:avLst>
            </a:prstGeom>
            <a:solidFill>
              <a:schemeClr val="accent5">
                <a:lumMod val="50000"/>
              </a:schemeClr>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a:ln>
                    <a:noFill/>
                  </a:ln>
                  <a:solidFill>
                    <a:prstClr val="white"/>
                  </a:solidFill>
                  <a:effectLst/>
                  <a:uLnTx/>
                  <a:uFillTx/>
                  <a:latin typeface="+mj-lt"/>
                  <a:ea typeface="+mj-ea"/>
                  <a:cs typeface="Arial" panose="020B0604020202020204" pitchFamily="34" charset="0"/>
                </a:rPr>
                <a:t>Key Analysis</a:t>
              </a:r>
            </a:p>
          </p:txBody>
        </p:sp>
      </p:grpSp>
    </p:spTree>
    <p:extLst>
      <p:ext uri="{BB962C8B-B14F-4D97-AF65-F5344CB8AC3E}">
        <p14:creationId xmlns:p14="http://schemas.microsoft.com/office/powerpoint/2010/main" val="71385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FF097-72DB-DBCD-A740-E151A2D12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EEEC9-7D84-C755-3211-BAC1170A83A5}"/>
              </a:ext>
            </a:extLst>
          </p:cNvPr>
          <p:cNvSpPr>
            <a:spLocks noGrp="1"/>
          </p:cNvSpPr>
          <p:nvPr>
            <p:ph type="title"/>
          </p:nvPr>
        </p:nvSpPr>
        <p:spPr/>
        <p:txBody>
          <a:bodyPr>
            <a:noAutofit/>
          </a:bodyPr>
          <a:lstStyle/>
          <a:p>
            <a:r>
              <a:rPr lang="en-US" sz="2000">
                <a:latin typeface="Calibri"/>
                <a:ea typeface="メイリオ"/>
                <a:cs typeface="Calibri"/>
              </a:rPr>
              <a:t>The NT1 referral network is highly concentrated with a distinct group of HCPs forming its established core</a:t>
            </a:r>
            <a:endParaRPr lang="en-US" sz="2000"/>
          </a:p>
        </p:txBody>
      </p:sp>
      <p:sp>
        <p:nvSpPr>
          <p:cNvPr id="5" name="Text Placeholder 4">
            <a:extLst>
              <a:ext uri="{FF2B5EF4-FFF2-40B4-BE49-F238E27FC236}">
                <a16:creationId xmlns:a16="http://schemas.microsoft.com/office/drawing/2014/main" id="{2ACA6B5E-9910-AFAB-C9E2-AE51E88B96BF}"/>
              </a:ext>
            </a:extLst>
          </p:cNvPr>
          <p:cNvSpPr>
            <a:spLocks noGrp="1"/>
          </p:cNvSpPr>
          <p:nvPr>
            <p:ph type="body" sz="quarter" idx="16"/>
          </p:nvPr>
        </p:nvSpPr>
        <p:spPr>
          <a:xfrm>
            <a:off x="606078" y="6651476"/>
            <a:ext cx="6968348" cy="205613"/>
          </a:xfrm>
        </p:spPr>
        <p:txBody>
          <a:bodyPr/>
          <a:lstStyle/>
          <a:p>
            <a:r>
              <a:rPr lang="en-US"/>
              <a:t>* Observation period varies by patient with each patient having 6 years of lookback and </a:t>
            </a:r>
            <a:r>
              <a:rPr lang="en-US" err="1"/>
              <a:t>atleast</a:t>
            </a:r>
            <a:r>
              <a:rPr lang="en-US"/>
              <a:t> 4 years of </a:t>
            </a:r>
            <a:r>
              <a:rPr lang="en-US" err="1"/>
              <a:t>lookforward</a:t>
            </a:r>
            <a:r>
              <a:rPr lang="en-US"/>
              <a:t> between 2016-2025</a:t>
            </a:r>
          </a:p>
        </p:txBody>
      </p:sp>
      <p:sp>
        <p:nvSpPr>
          <p:cNvPr id="25" name="Oval 24">
            <a:extLst>
              <a:ext uri="{FF2B5EF4-FFF2-40B4-BE49-F238E27FC236}">
                <a16:creationId xmlns:a16="http://schemas.microsoft.com/office/drawing/2014/main" id="{64BF9056-40C9-1CBE-AE5C-5092D307CD83}"/>
              </a:ext>
            </a:extLst>
          </p:cNvPr>
          <p:cNvSpPr/>
          <p:nvPr/>
        </p:nvSpPr>
        <p:spPr>
          <a:xfrm>
            <a:off x="90255" y="1308019"/>
            <a:ext cx="4734391" cy="4734391"/>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 name="Oval 25">
            <a:extLst>
              <a:ext uri="{FF2B5EF4-FFF2-40B4-BE49-F238E27FC236}">
                <a16:creationId xmlns:a16="http://schemas.microsoft.com/office/drawing/2014/main" id="{07CED553-3EBD-63BA-6EF8-4D55E68A13DE}"/>
              </a:ext>
            </a:extLst>
          </p:cNvPr>
          <p:cNvSpPr/>
          <p:nvPr/>
        </p:nvSpPr>
        <p:spPr>
          <a:xfrm>
            <a:off x="511330" y="2150169"/>
            <a:ext cx="3892241" cy="38922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 name="Oval 26">
            <a:extLst>
              <a:ext uri="{FF2B5EF4-FFF2-40B4-BE49-F238E27FC236}">
                <a16:creationId xmlns:a16="http://schemas.microsoft.com/office/drawing/2014/main" id="{D3E6F202-57D2-5A24-C1C4-0CA12AF8AE86}"/>
              </a:ext>
            </a:extLst>
          </p:cNvPr>
          <p:cNvSpPr/>
          <p:nvPr/>
        </p:nvSpPr>
        <p:spPr>
          <a:xfrm>
            <a:off x="989146" y="3105802"/>
            <a:ext cx="2936608" cy="29366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Rectangle 20">
            <a:extLst>
              <a:ext uri="{FF2B5EF4-FFF2-40B4-BE49-F238E27FC236}">
                <a16:creationId xmlns:a16="http://schemas.microsoft.com/office/drawing/2014/main" id="{F5DD9FFD-A7B4-1A6D-69DA-5B64214665CA}"/>
              </a:ext>
            </a:extLst>
          </p:cNvPr>
          <p:cNvSpPr/>
          <p:nvPr/>
        </p:nvSpPr>
        <p:spPr>
          <a:xfrm>
            <a:off x="1213786" y="1476735"/>
            <a:ext cx="2487328"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29</a:t>
            </a: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9</a:t>
            </a:r>
            <a:r>
              <a:rPr kumimoji="0" 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K</a:t>
            </a:r>
            <a:br>
              <a:rPr kumimoji="0" lang="en-US" sz="14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HCPs interacting</a:t>
            </a: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with</a:t>
            </a: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NT Patients for Relevant Activities</a:t>
            </a:r>
            <a:endParaRPr kumimoji="0" lang="en-US" sz="14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22" name="Rectangle 21">
            <a:extLst>
              <a:ext uri="{FF2B5EF4-FFF2-40B4-BE49-F238E27FC236}">
                <a16:creationId xmlns:a16="http://schemas.microsoft.com/office/drawing/2014/main" id="{04F11A64-7CE3-EFFD-F229-0270D05CAB5D}"/>
              </a:ext>
            </a:extLst>
          </p:cNvPr>
          <p:cNvSpPr/>
          <p:nvPr/>
        </p:nvSpPr>
        <p:spPr>
          <a:xfrm>
            <a:off x="1308948" y="2432368"/>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179K</a:t>
            </a:r>
            <a:br>
              <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HCPs with NT referral history</a:t>
            </a:r>
            <a:endPar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4B06361E-8A59-E4C5-1B21-E9A3F4DC392D}"/>
              </a:ext>
            </a:extLst>
          </p:cNvPr>
          <p:cNvSpPr/>
          <p:nvPr/>
        </p:nvSpPr>
        <p:spPr>
          <a:xfrm>
            <a:off x="1308948" y="4313775"/>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67K</a:t>
            </a:r>
            <a:br>
              <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HCPs actively involved in NT referrals</a:t>
            </a:r>
            <a:endPar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84BD7042-5A56-DBD1-D7E2-62A44ABAC17D}"/>
              </a:ext>
            </a:extLst>
          </p:cNvPr>
          <p:cNvSpPr/>
          <p:nvPr/>
        </p:nvSpPr>
        <p:spPr>
          <a:xfrm>
            <a:off x="0" y="6245774"/>
            <a:ext cx="12191998" cy="407951"/>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400" b="1">
                <a:solidFill>
                  <a:schemeClr val="bg1"/>
                </a:solidFill>
              </a:rPr>
              <a:t>Understanding who these concentrated sub-cohort of HCPs are and how they're connected will help unlock strategic opportunity</a:t>
            </a:r>
          </a:p>
        </p:txBody>
      </p:sp>
      <p:grpSp>
        <p:nvGrpSpPr>
          <p:cNvPr id="7" name="Group 6">
            <a:extLst>
              <a:ext uri="{FF2B5EF4-FFF2-40B4-BE49-F238E27FC236}">
                <a16:creationId xmlns:a16="http://schemas.microsoft.com/office/drawing/2014/main" id="{2922E271-5207-4AD5-0257-B5C00A716654}"/>
              </a:ext>
            </a:extLst>
          </p:cNvPr>
          <p:cNvGrpSpPr/>
          <p:nvPr/>
        </p:nvGrpSpPr>
        <p:grpSpPr>
          <a:xfrm>
            <a:off x="6544598" y="858227"/>
            <a:ext cx="3558626" cy="3148438"/>
            <a:chOff x="6544598" y="1578489"/>
            <a:chExt cx="3558626" cy="3148438"/>
          </a:xfrm>
        </p:grpSpPr>
        <p:graphicFrame>
          <p:nvGraphicFramePr>
            <p:cNvPr id="8" name="Chart 7">
              <a:extLst>
                <a:ext uri="{FF2B5EF4-FFF2-40B4-BE49-F238E27FC236}">
                  <a16:creationId xmlns:a16="http://schemas.microsoft.com/office/drawing/2014/main" id="{800B40E0-93A5-A795-CF8A-793061A82F5E}"/>
                </a:ext>
              </a:extLst>
            </p:cNvPr>
            <p:cNvGraphicFramePr/>
            <p:nvPr/>
          </p:nvGraphicFramePr>
          <p:xfrm>
            <a:off x="6544598" y="1578489"/>
            <a:ext cx="3558626" cy="3148438"/>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968F077F-1D88-07FE-3DA0-60907BD25B8C}"/>
                </a:ext>
              </a:extLst>
            </p:cNvPr>
            <p:cNvSpPr/>
            <p:nvPr/>
          </p:nvSpPr>
          <p:spPr>
            <a:xfrm>
              <a:off x="7175409" y="2892377"/>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1400" b="1">
                  <a:solidFill>
                    <a:schemeClr val="tx1"/>
                  </a:solidFill>
                  <a:latin typeface="Arial" panose="020B0604020202020204" pitchFamily="34" charset="0"/>
                  <a:cs typeface="Arial" panose="020B0604020202020204" pitchFamily="34" charset="0"/>
                </a:rPr>
                <a:t>67K</a:t>
              </a:r>
              <a:br>
                <a:rPr lang="en-US" sz="1050" b="1">
                  <a:solidFill>
                    <a:schemeClr val="tx1"/>
                  </a:solidFill>
                  <a:latin typeface="Arial" panose="020B0604020202020204" pitchFamily="34" charset="0"/>
                  <a:cs typeface="Arial" panose="020B0604020202020204" pitchFamily="34" charset="0"/>
                </a:rPr>
              </a:br>
              <a:r>
                <a:rPr lang="en-US" sz="1000" b="1">
                  <a:solidFill>
                    <a:schemeClr val="tx1"/>
                  </a:solidFill>
                  <a:latin typeface="Arial" panose="020B0604020202020204" pitchFamily="34" charset="0"/>
                  <a:cs typeface="Arial" panose="020B0604020202020204" pitchFamily="34" charset="0"/>
                </a:rPr>
                <a:t>HCPs actively involved </a:t>
              </a:r>
              <a:br>
                <a:rPr lang="en-US" sz="1000" b="1">
                  <a:solidFill>
                    <a:schemeClr val="tx1"/>
                  </a:solidFill>
                  <a:latin typeface="Arial" panose="020B0604020202020204" pitchFamily="34" charset="0"/>
                  <a:cs typeface="Arial" panose="020B0604020202020204" pitchFamily="34" charset="0"/>
                </a:rPr>
              </a:br>
              <a:r>
                <a:rPr lang="en-US" sz="1000" b="1">
                  <a:solidFill>
                    <a:schemeClr val="tx1"/>
                  </a:solidFill>
                  <a:latin typeface="Arial" panose="020B0604020202020204" pitchFamily="34" charset="0"/>
                  <a:cs typeface="Arial" panose="020B0604020202020204" pitchFamily="34" charset="0"/>
                </a:rPr>
                <a:t>in NT referrals</a:t>
              </a:r>
              <a:endParaRPr lang="en-US" sz="1050" b="1">
                <a:solidFill>
                  <a:schemeClr val="tx1"/>
                </a:solidFill>
                <a:latin typeface="Arial" panose="020B0604020202020204" pitchFamily="34" charset="0"/>
                <a:cs typeface="Arial" panose="020B0604020202020204" pitchFamily="34" charset="0"/>
              </a:endParaRPr>
            </a:p>
          </p:txBody>
        </p:sp>
      </p:grpSp>
      <p:cxnSp>
        <p:nvCxnSpPr>
          <p:cNvPr id="9" name="Connector: Elbow 8">
            <a:extLst>
              <a:ext uri="{FF2B5EF4-FFF2-40B4-BE49-F238E27FC236}">
                <a16:creationId xmlns:a16="http://schemas.microsoft.com/office/drawing/2014/main" id="{B7E67311-1F7C-5762-7991-3F2C5FD68E21}"/>
              </a:ext>
            </a:extLst>
          </p:cNvPr>
          <p:cNvCxnSpPr>
            <a:cxnSpLocks/>
            <a:stCxn id="27" idx="6"/>
          </p:cNvCxnSpPr>
          <p:nvPr/>
        </p:nvCxnSpPr>
        <p:spPr>
          <a:xfrm flipV="1">
            <a:off x="3925754" y="2432446"/>
            <a:ext cx="2618844" cy="2141660"/>
          </a:xfrm>
          <a:prstGeom prst="bentConnector3">
            <a:avLst>
              <a:gd name="adj1" fmla="val 50000"/>
            </a:avLst>
          </a:prstGeom>
          <a:ln>
            <a:solidFill>
              <a:schemeClr val="bg2">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2029AA6A-9B2E-D65B-11C8-9657638B482B}"/>
              </a:ext>
            </a:extLst>
          </p:cNvPr>
          <p:cNvGraphicFramePr>
            <a:graphicFrameLocks noGrp="1"/>
          </p:cNvGraphicFramePr>
          <p:nvPr/>
        </p:nvGraphicFramePr>
        <p:xfrm>
          <a:off x="5980388" y="4017487"/>
          <a:ext cx="5486400" cy="1828800"/>
        </p:xfrm>
        <a:graphic>
          <a:graphicData uri="http://schemas.openxmlformats.org/drawingml/2006/table">
            <a:tbl>
              <a:tblPr firstRow="1" bandRow="1">
                <a:tableStyleId>{69CF1AB2-1976-4502-BF36-3FF5EA218861}</a:tableStyleId>
              </a:tblPr>
              <a:tblGrid>
                <a:gridCol w="1554480">
                  <a:extLst>
                    <a:ext uri="{9D8B030D-6E8A-4147-A177-3AD203B41FA5}">
                      <a16:colId xmlns:a16="http://schemas.microsoft.com/office/drawing/2014/main" val="904371047"/>
                    </a:ext>
                  </a:extLst>
                </a:gridCol>
                <a:gridCol w="3931920">
                  <a:extLst>
                    <a:ext uri="{9D8B030D-6E8A-4147-A177-3AD203B41FA5}">
                      <a16:colId xmlns:a16="http://schemas.microsoft.com/office/drawing/2014/main" val="1152697607"/>
                    </a:ext>
                  </a:extLst>
                </a:gridCol>
              </a:tblGrid>
              <a:tr h="370840">
                <a:tc>
                  <a:txBody>
                    <a:bodyPr/>
                    <a:lstStyle/>
                    <a:p>
                      <a:r>
                        <a:rPr lang="en-US" sz="1200" b="1">
                          <a:solidFill>
                            <a:schemeClr val="bg1"/>
                          </a:solidFill>
                        </a:rPr>
                        <a:t>Key Personas</a:t>
                      </a:r>
                      <a:br>
                        <a:rPr lang="en-US" sz="1200" b="1">
                          <a:solidFill>
                            <a:schemeClr val="bg1"/>
                          </a:solidFill>
                        </a:rPr>
                      </a:br>
                      <a:r>
                        <a:rPr lang="en-US" sz="1100" b="0" i="1">
                          <a:solidFill>
                            <a:schemeClr val="bg1"/>
                          </a:solidFill>
                        </a:rPr>
                        <a:t>(n=3132)</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1242A"/>
                    </a:solidFill>
                  </a:tcPr>
                </a:tc>
                <a:tc>
                  <a:txBody>
                    <a:bodyPr/>
                    <a:lstStyle/>
                    <a:p>
                      <a:r>
                        <a:rPr lang="en-US" sz="1200" b="0"/>
                        <a:t>HCPs with an established and strategic role in the NT1 referral network</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9946589"/>
                  </a:ext>
                </a:extLst>
              </a:tr>
              <a:tr h="370840">
                <a:tc>
                  <a:txBody>
                    <a:bodyPr/>
                    <a:lstStyle/>
                    <a:p>
                      <a:r>
                        <a:rPr lang="en-US" sz="1200" b="1">
                          <a:solidFill>
                            <a:schemeClr val="bg1"/>
                          </a:solidFill>
                        </a:rPr>
                        <a:t>Leakage HCPs</a:t>
                      </a:r>
                      <a:br>
                        <a:rPr lang="en-US" sz="1200" b="1">
                          <a:solidFill>
                            <a:schemeClr val="bg1"/>
                          </a:solidFill>
                        </a:rPr>
                      </a:br>
                      <a:r>
                        <a:rPr lang="en-US" sz="1100" b="0" i="1">
                          <a:solidFill>
                            <a:schemeClr val="bg1"/>
                          </a:solidFill>
                        </a:rPr>
                        <a:t>(n=5023)</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A6A6A6"/>
                    </a:solidFill>
                  </a:tcPr>
                </a:tc>
                <a:tc>
                  <a:txBody>
                    <a:bodyPr/>
                    <a:lstStyle/>
                    <a:p>
                      <a:r>
                        <a:rPr lang="en-US" sz="1200"/>
                        <a:t>HCPs who are acting as a sink point with no further referrals, NT1 treatments or Diagnosis for patients</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8837448"/>
                  </a:ext>
                </a:extLst>
              </a:tr>
              <a:tr h="370840">
                <a:tc>
                  <a:txBody>
                    <a:bodyPr/>
                    <a:lstStyle/>
                    <a:p>
                      <a:r>
                        <a:rPr lang="en-US" sz="1200" b="1">
                          <a:solidFill>
                            <a:schemeClr val="bg1"/>
                          </a:solidFill>
                        </a:rPr>
                        <a:t>Auxiliary Personas</a:t>
                      </a:r>
                    </a:p>
                    <a:p>
                      <a:r>
                        <a:rPr lang="en-US" sz="1100" b="0" i="1">
                          <a:solidFill>
                            <a:schemeClr val="bg1"/>
                          </a:solidFill>
                        </a:rPr>
                        <a:t>(n=46,097)</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34373F"/>
                    </a:solidFill>
                  </a:tcPr>
                </a:tc>
                <a:tc>
                  <a:txBody>
                    <a:bodyPr/>
                    <a:lstStyle/>
                    <a:p>
                      <a:r>
                        <a:rPr lang="en-US" sz="1200"/>
                        <a:t>HCPs with aligned referral roles but limited strategic presence within the NT1 ecosystem</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9901554"/>
                  </a:ext>
                </a:extLst>
              </a:tr>
              <a:tr h="370840">
                <a:tc>
                  <a:txBody>
                    <a:bodyPr/>
                    <a:lstStyle/>
                    <a:p>
                      <a:r>
                        <a:rPr lang="en-US" sz="1200" b="1"/>
                        <a:t>Undifferentiated HCPs </a:t>
                      </a:r>
                      <a:r>
                        <a:rPr lang="en-US" sz="1100" b="0" i="1"/>
                        <a:t>(n=13,313)</a:t>
                      </a:r>
                      <a:endParaRPr lang="en-US" sz="1200" b="0" i="1"/>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r>
                        <a:rPr lang="en-US" sz="1200"/>
                        <a:t>HCPs present within the NT1 referral network but without a defined strategic or functional role in referral management.</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654856747"/>
                  </a:ext>
                </a:extLst>
              </a:tr>
            </a:tbl>
          </a:graphicData>
        </a:graphic>
      </p:graphicFrame>
    </p:spTree>
    <p:extLst>
      <p:ext uri="{BB962C8B-B14F-4D97-AF65-F5344CB8AC3E}">
        <p14:creationId xmlns:p14="http://schemas.microsoft.com/office/powerpoint/2010/main" val="2585623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95E5D-C6ED-814B-777D-FF2E37763BEB}"/>
            </a:ext>
          </a:extLst>
        </p:cNvPr>
        <p:cNvGrpSpPr/>
        <p:nvPr/>
      </p:nvGrpSpPr>
      <p:grpSpPr>
        <a:xfrm>
          <a:off x="0" y="0"/>
          <a:ext cx="0" cy="0"/>
          <a:chOff x="0" y="0"/>
          <a:chExt cx="0" cy="0"/>
        </a:xfrm>
      </p:grpSpPr>
      <p:cxnSp>
        <p:nvCxnSpPr>
          <p:cNvPr id="35" name="Straight Arrow Connector 34">
            <a:extLst>
              <a:ext uri="{FF2B5EF4-FFF2-40B4-BE49-F238E27FC236}">
                <a16:creationId xmlns:a16="http://schemas.microsoft.com/office/drawing/2014/main" id="{8ECFE205-EBAE-EA72-AD80-0D5A79007893}"/>
              </a:ext>
            </a:extLst>
          </p:cNvPr>
          <p:cNvCxnSpPr>
            <a:cxnSpLocks/>
            <a:stCxn id="5" idx="1"/>
            <a:endCxn id="9" idx="3"/>
          </p:cNvCxnSpPr>
          <p:nvPr/>
        </p:nvCxnSpPr>
        <p:spPr>
          <a:xfrm>
            <a:off x="687410" y="2020372"/>
            <a:ext cx="10831196"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45F3BA94-8413-8485-1B99-D682CD3052A7}"/>
              </a:ext>
            </a:extLst>
          </p:cNvPr>
          <p:cNvSpPr>
            <a:spLocks noGrp="1"/>
          </p:cNvSpPr>
          <p:nvPr>
            <p:ph type="title"/>
          </p:nvPr>
        </p:nvSpPr>
        <p:spPr>
          <a:xfrm>
            <a:off x="615603" y="161605"/>
            <a:ext cx="9940253" cy="685801"/>
          </a:xfrm>
        </p:spPr>
        <p:txBody>
          <a:bodyPr>
            <a:noAutofit/>
          </a:bodyPr>
          <a:lstStyle/>
          <a:p>
            <a:r>
              <a:rPr lang="en-US" sz="2000" noProof="0">
                <a:latin typeface="+mj-lt"/>
              </a:rPr>
              <a:t>These HCP personas capture the distinct roles patients encounter as they navigate the NT1 referral network from initial symptoms to eventual treatment</a:t>
            </a:r>
          </a:p>
        </p:txBody>
      </p:sp>
      <p:sp>
        <p:nvSpPr>
          <p:cNvPr id="39" name="Slide Number Placeholder 4">
            <a:extLst>
              <a:ext uri="{FF2B5EF4-FFF2-40B4-BE49-F238E27FC236}">
                <a16:creationId xmlns:a16="http://schemas.microsoft.com/office/drawing/2014/main" id="{3FFA458A-F23A-4E01-E5A6-DCB8A32D94A2}"/>
              </a:ext>
            </a:extLst>
          </p:cNvPr>
          <p:cNvSpPr>
            <a:spLocks noGrp="1"/>
          </p:cNvSpPr>
          <p:nvPr>
            <p:ph type="sldNum" sz="quarter" idx="4"/>
          </p:nvPr>
        </p:nvSpPr>
        <p:spPr>
          <a:xfrm>
            <a:off x="311150" y="6523001"/>
            <a:ext cx="294928" cy="196131"/>
          </a:xfrm>
        </p:spPr>
        <p:txBody>
          <a:bodyPr/>
          <a:lstStyle/>
          <a:p>
            <a:pPr defTabSz="1218810"/>
            <a:fld id="{E9B57936-92EF-4126-AE48-1D9D36D15E98}" type="slidenum">
              <a:rPr lang="ja-JP" altLang="en-US" smtClean="0"/>
              <a:pPr defTabSz="1218810"/>
              <a:t>20</a:t>
            </a:fld>
            <a:endParaRPr lang="ja-JP" altLang="en-US"/>
          </a:p>
        </p:txBody>
      </p:sp>
      <p:sp>
        <p:nvSpPr>
          <p:cNvPr id="40" name="Rectangle 39">
            <a:extLst>
              <a:ext uri="{FF2B5EF4-FFF2-40B4-BE49-F238E27FC236}">
                <a16:creationId xmlns:a16="http://schemas.microsoft.com/office/drawing/2014/main" id="{7F412E9D-1CCC-EFEB-2E68-89FB7FF39D4B}"/>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b="1" dirty="0">
                <a:solidFill>
                  <a:schemeClr val="accent1"/>
                </a:solidFill>
              </a:rPr>
              <a:t>A single HCP can have multiple personas; However, for a 1:1 tagging we have used the one they most often showcase</a:t>
            </a:r>
          </a:p>
          <a:p>
            <a:r>
              <a:rPr kumimoji="1" lang="en-US" sz="800" dirty="0"/>
              <a:t>All interacted patient volumes are based on the identified NT patient cohort throughout their journey, including pre-diagnosis </a:t>
            </a:r>
          </a:p>
          <a:p>
            <a:r>
              <a:rPr kumimoji="1" lang="en-US" sz="800" dirty="0"/>
              <a:t>All insights shown here are interim and subject to change post validation across all the dependent KBQs currently under analysis</a:t>
            </a:r>
          </a:p>
        </p:txBody>
      </p:sp>
      <p:sp>
        <p:nvSpPr>
          <p:cNvPr id="5" name="Pentagon 3">
            <a:extLst>
              <a:ext uri="{FF2B5EF4-FFF2-40B4-BE49-F238E27FC236}">
                <a16:creationId xmlns:a16="http://schemas.microsoft.com/office/drawing/2014/main" id="{D030EDDE-E88F-4B61-545F-AFF67F6DB381}"/>
              </a:ext>
            </a:extLst>
          </p:cNvPr>
          <p:cNvSpPr/>
          <p:nvPr/>
        </p:nvSpPr>
        <p:spPr>
          <a:xfrm>
            <a:off x="687410" y="1887042"/>
            <a:ext cx="2039674" cy="26665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ea typeface="League Spartan" charset="0"/>
                <a:cs typeface="Poppins" pitchFamily="2" charset="77"/>
              </a:rPr>
              <a:t>Super Referrers</a:t>
            </a:r>
          </a:p>
        </p:txBody>
      </p:sp>
      <p:sp>
        <p:nvSpPr>
          <p:cNvPr id="15" name="Subtitle 2">
            <a:extLst>
              <a:ext uri="{FF2B5EF4-FFF2-40B4-BE49-F238E27FC236}">
                <a16:creationId xmlns:a16="http://schemas.microsoft.com/office/drawing/2014/main" id="{6DBD0C05-65B6-4B63-0A5B-FEC41E2755B8}"/>
              </a:ext>
            </a:extLst>
          </p:cNvPr>
          <p:cNvSpPr txBox="1">
            <a:spLocks/>
          </p:cNvSpPr>
          <p:nvPr/>
        </p:nvSpPr>
        <p:spPr>
          <a:xfrm>
            <a:off x="783672" y="2192095"/>
            <a:ext cx="1847149" cy="600164"/>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200" noProof="0">
                <a:solidFill>
                  <a:schemeClr val="tx1"/>
                </a:solidFill>
                <a:latin typeface="+mj-lt"/>
                <a:ea typeface="League Spartan" charset="0"/>
                <a:cs typeface="Poppins" pitchFamily="2" charset="77"/>
              </a:rPr>
              <a:t>HCPs actively </a:t>
            </a:r>
            <a:r>
              <a:rPr lang="en-US" sz="1200" b="1" noProof="0">
                <a:solidFill>
                  <a:schemeClr val="tx1"/>
                </a:solidFill>
                <a:latin typeface="+mj-lt"/>
                <a:ea typeface="League Spartan" charset="0"/>
                <a:cs typeface="Poppins" pitchFamily="2" charset="77"/>
              </a:rPr>
              <a:t>redirecting patients to other HCPs</a:t>
            </a:r>
            <a:r>
              <a:rPr lang="en-US" sz="1200" noProof="0">
                <a:solidFill>
                  <a:schemeClr val="tx1"/>
                </a:solidFill>
                <a:latin typeface="+mj-lt"/>
                <a:ea typeface="League Spartan" charset="0"/>
                <a:cs typeface="Poppins" pitchFamily="2" charset="77"/>
              </a:rPr>
              <a:t> in their referral network</a:t>
            </a:r>
            <a:endParaRPr lang="en-US" sz="1200" noProof="0">
              <a:solidFill>
                <a:schemeClr val="tx1"/>
              </a:solidFill>
              <a:latin typeface="+mj-lt"/>
              <a:ea typeface="Lato Light" panose="020F0502020204030203" pitchFamily="34" charset="0"/>
              <a:cs typeface="Mukta ExtraLight" panose="020B0000000000000000" pitchFamily="34" charset="77"/>
            </a:endParaRPr>
          </a:p>
        </p:txBody>
      </p:sp>
      <p:grpSp>
        <p:nvGrpSpPr>
          <p:cNvPr id="23" name="Group 22">
            <a:extLst>
              <a:ext uri="{FF2B5EF4-FFF2-40B4-BE49-F238E27FC236}">
                <a16:creationId xmlns:a16="http://schemas.microsoft.com/office/drawing/2014/main" id="{BAF19045-3A7C-C323-E273-FDDCA8CB69AE}"/>
              </a:ext>
            </a:extLst>
          </p:cNvPr>
          <p:cNvGrpSpPr/>
          <p:nvPr/>
        </p:nvGrpSpPr>
        <p:grpSpPr>
          <a:xfrm>
            <a:off x="1464931" y="1235641"/>
            <a:ext cx="484632" cy="484631"/>
            <a:chOff x="10962044" y="4875330"/>
            <a:chExt cx="338329" cy="338059"/>
          </a:xfrm>
          <a:solidFill>
            <a:srgbClr val="002060"/>
          </a:solidFill>
        </p:grpSpPr>
        <p:sp>
          <p:nvSpPr>
            <p:cNvPr id="24" name="Freeform: Shape 23">
              <a:extLst>
                <a:ext uri="{FF2B5EF4-FFF2-40B4-BE49-F238E27FC236}">
                  <a16:creationId xmlns:a16="http://schemas.microsoft.com/office/drawing/2014/main" id="{95C1FC37-9F97-32E2-E9C1-234791B36A9C}"/>
                </a:ext>
              </a:extLst>
            </p:cNvPr>
            <p:cNvSpPr/>
            <p:nvPr/>
          </p:nvSpPr>
          <p:spPr>
            <a:xfrm>
              <a:off x="10962044" y="4956914"/>
              <a:ext cx="208190" cy="256475"/>
            </a:xfrm>
            <a:custGeom>
              <a:avLst/>
              <a:gdLst>
                <a:gd name="connsiteX0" fmla="*/ 1567960 w 2326195"/>
                <a:gd name="connsiteY0" fmla="*/ 1192881 h 2865702"/>
                <a:gd name="connsiteX1" fmla="*/ 1626748 w 2326195"/>
                <a:gd name="connsiteY1" fmla="*/ 1095398 h 2865702"/>
                <a:gd name="connsiteX2" fmla="*/ 1628981 w 2326195"/>
                <a:gd name="connsiteY2" fmla="*/ 1090933 h 2865702"/>
                <a:gd name="connsiteX3" fmla="*/ 1658002 w 2326195"/>
                <a:gd name="connsiteY3" fmla="*/ 1033634 h 2865702"/>
                <a:gd name="connsiteX4" fmla="*/ 1670651 w 2326195"/>
                <a:gd name="connsiteY4" fmla="*/ 1005356 h 2865702"/>
                <a:gd name="connsiteX5" fmla="*/ 1687022 w 2326195"/>
                <a:gd name="connsiteY5" fmla="*/ 967405 h 2865702"/>
                <a:gd name="connsiteX6" fmla="*/ 1704884 w 2326195"/>
                <a:gd name="connsiteY6" fmla="*/ 920523 h 2865702"/>
                <a:gd name="connsiteX7" fmla="*/ 1713814 w 2326195"/>
                <a:gd name="connsiteY7" fmla="*/ 896710 h 2865702"/>
                <a:gd name="connsiteX8" fmla="*/ 1730929 w 2326195"/>
                <a:gd name="connsiteY8" fmla="*/ 840155 h 2865702"/>
                <a:gd name="connsiteX9" fmla="*/ 1736137 w 2326195"/>
                <a:gd name="connsiteY9" fmla="*/ 823040 h 2865702"/>
                <a:gd name="connsiteX10" fmla="*/ 1749533 w 2326195"/>
                <a:gd name="connsiteY10" fmla="*/ 764999 h 2865702"/>
                <a:gd name="connsiteX11" fmla="*/ 1753252 w 2326195"/>
                <a:gd name="connsiteY11" fmla="*/ 748627 h 2865702"/>
                <a:gd name="connsiteX12" fmla="*/ 1761439 w 2326195"/>
                <a:gd name="connsiteY12" fmla="*/ 692071 h 2865702"/>
                <a:gd name="connsiteX13" fmla="*/ 1763672 w 2326195"/>
                <a:gd name="connsiteY13" fmla="*/ 675700 h 2865702"/>
                <a:gd name="connsiteX14" fmla="*/ 1767391 w 2326195"/>
                <a:gd name="connsiteY14" fmla="*/ 607238 h 2865702"/>
                <a:gd name="connsiteX15" fmla="*/ 1160153 w 2326195"/>
                <a:gd name="connsiteY15" fmla="*/ 0 h 2865702"/>
                <a:gd name="connsiteX16" fmla="*/ 552915 w 2326195"/>
                <a:gd name="connsiteY16" fmla="*/ 607238 h 2865702"/>
                <a:gd name="connsiteX17" fmla="*/ 556637 w 2326195"/>
                <a:gd name="connsiteY17" fmla="*/ 675700 h 2865702"/>
                <a:gd name="connsiteX18" fmla="*/ 558870 w 2326195"/>
                <a:gd name="connsiteY18" fmla="*/ 693561 h 2865702"/>
                <a:gd name="connsiteX19" fmla="*/ 567054 w 2326195"/>
                <a:gd name="connsiteY19" fmla="*/ 748627 h 2865702"/>
                <a:gd name="connsiteX20" fmla="*/ 570776 w 2326195"/>
                <a:gd name="connsiteY20" fmla="*/ 767231 h 2865702"/>
                <a:gd name="connsiteX21" fmla="*/ 583425 w 2326195"/>
                <a:gd name="connsiteY21" fmla="*/ 823040 h 2865702"/>
                <a:gd name="connsiteX22" fmla="*/ 589377 w 2326195"/>
                <a:gd name="connsiteY22" fmla="*/ 843130 h 2865702"/>
                <a:gd name="connsiteX23" fmla="*/ 605748 w 2326195"/>
                <a:gd name="connsiteY23" fmla="*/ 896706 h 2865702"/>
                <a:gd name="connsiteX24" fmla="*/ 614679 w 2326195"/>
                <a:gd name="connsiteY24" fmla="*/ 922752 h 2865702"/>
                <a:gd name="connsiteX25" fmla="*/ 631793 w 2326195"/>
                <a:gd name="connsiteY25" fmla="*/ 968144 h 2865702"/>
                <a:gd name="connsiteX26" fmla="*/ 648165 w 2326195"/>
                <a:gd name="connsiteY26" fmla="*/ 1005349 h 2865702"/>
                <a:gd name="connsiteX27" fmla="*/ 661561 w 2326195"/>
                <a:gd name="connsiteY27" fmla="*/ 1034373 h 2865702"/>
                <a:gd name="connsiteX28" fmla="*/ 689092 w 2326195"/>
                <a:gd name="connsiteY28" fmla="*/ 1088696 h 2865702"/>
                <a:gd name="connsiteX29" fmla="*/ 692814 w 2326195"/>
                <a:gd name="connsiteY29" fmla="*/ 1095394 h 2865702"/>
                <a:gd name="connsiteX30" fmla="*/ 752346 w 2326195"/>
                <a:gd name="connsiteY30" fmla="*/ 1193616 h 2865702"/>
                <a:gd name="connsiteX31" fmla="*/ 2232 w 2326195"/>
                <a:gd name="connsiteY31" fmla="*/ 2123066 h 2865702"/>
                <a:gd name="connsiteX32" fmla="*/ 0 w 2326195"/>
                <a:gd name="connsiteY32" fmla="*/ 2190038 h 2865702"/>
                <a:gd name="connsiteX33" fmla="*/ 0 w 2326195"/>
                <a:gd name="connsiteY33" fmla="*/ 2865703 h 2865702"/>
                <a:gd name="connsiteX34" fmla="*/ 2326196 w 2326195"/>
                <a:gd name="connsiteY34" fmla="*/ 2865703 h 2865702"/>
                <a:gd name="connsiteX35" fmla="*/ 2326196 w 2326195"/>
                <a:gd name="connsiteY35" fmla="*/ 2190038 h 2865702"/>
                <a:gd name="connsiteX36" fmla="*/ 2323963 w 2326195"/>
                <a:gd name="connsiteY36" fmla="*/ 2121576 h 2865702"/>
                <a:gd name="connsiteX37" fmla="*/ 1567907 w 2326195"/>
                <a:gd name="connsiteY37" fmla="*/ 1192888 h 2865702"/>
                <a:gd name="connsiteX38" fmla="*/ 1159414 w 2326195"/>
                <a:gd name="connsiteY38" fmla="*/ 122804 h 2865702"/>
                <a:gd name="connsiteX39" fmla="*/ 1644579 w 2326195"/>
                <a:gd name="connsiteY39" fmla="*/ 607969 h 2865702"/>
                <a:gd name="connsiteX40" fmla="*/ 1640857 w 2326195"/>
                <a:gd name="connsiteY40" fmla="*/ 670476 h 2865702"/>
                <a:gd name="connsiteX41" fmla="*/ 1637138 w 2326195"/>
                <a:gd name="connsiteY41" fmla="*/ 700244 h 2865702"/>
                <a:gd name="connsiteX42" fmla="*/ 1631930 w 2326195"/>
                <a:gd name="connsiteY42" fmla="*/ 732983 h 2865702"/>
                <a:gd name="connsiteX43" fmla="*/ 1623742 w 2326195"/>
                <a:gd name="connsiteY43" fmla="*/ 773910 h 2865702"/>
                <a:gd name="connsiteX44" fmla="*/ 1620024 w 2326195"/>
                <a:gd name="connsiteY44" fmla="*/ 789539 h 2865702"/>
                <a:gd name="connsiteX45" fmla="*/ 1565701 w 2326195"/>
                <a:gd name="connsiteY45" fmla="*/ 948042 h 2865702"/>
                <a:gd name="connsiteX46" fmla="*/ 1557513 w 2326195"/>
                <a:gd name="connsiteY46" fmla="*/ 966647 h 2865702"/>
                <a:gd name="connsiteX47" fmla="*/ 1538166 w 2326195"/>
                <a:gd name="connsiteY47" fmla="*/ 1006831 h 2865702"/>
                <a:gd name="connsiteX48" fmla="*/ 1521051 w 2326195"/>
                <a:gd name="connsiteY48" fmla="*/ 1039574 h 2865702"/>
                <a:gd name="connsiteX49" fmla="*/ 1505423 w 2326195"/>
                <a:gd name="connsiteY49" fmla="*/ 1067848 h 2865702"/>
                <a:gd name="connsiteX50" fmla="*/ 1419846 w 2326195"/>
                <a:gd name="connsiteY50" fmla="*/ 1188400 h 2865702"/>
                <a:gd name="connsiteX51" fmla="*/ 1160884 w 2326195"/>
                <a:gd name="connsiteY51" fmla="*/ 1337226 h 2865702"/>
                <a:gd name="connsiteX52" fmla="*/ 904155 w 2326195"/>
                <a:gd name="connsiteY52" fmla="*/ 1190629 h 2865702"/>
                <a:gd name="connsiteX53" fmla="*/ 776162 w 2326195"/>
                <a:gd name="connsiteY53" fmla="*/ 991198 h 2865702"/>
                <a:gd name="connsiteX54" fmla="*/ 773186 w 2326195"/>
                <a:gd name="connsiteY54" fmla="*/ 985247 h 2865702"/>
                <a:gd name="connsiteX55" fmla="*/ 741933 w 2326195"/>
                <a:gd name="connsiteY55" fmla="*/ 913810 h 2865702"/>
                <a:gd name="connsiteX56" fmla="*/ 740443 w 2326195"/>
                <a:gd name="connsiteY56" fmla="*/ 910834 h 2865702"/>
                <a:gd name="connsiteX57" fmla="*/ 713655 w 2326195"/>
                <a:gd name="connsiteY57" fmla="*/ 833445 h 2865702"/>
                <a:gd name="connsiteX58" fmla="*/ 712912 w 2326195"/>
                <a:gd name="connsiteY58" fmla="*/ 831955 h 2865702"/>
                <a:gd name="connsiteX59" fmla="*/ 695051 w 2326195"/>
                <a:gd name="connsiteY59" fmla="*/ 764240 h 2865702"/>
                <a:gd name="connsiteX60" fmla="*/ 690589 w 2326195"/>
                <a:gd name="connsiteY60" fmla="*/ 743403 h 2865702"/>
                <a:gd name="connsiteX61" fmla="*/ 682402 w 2326195"/>
                <a:gd name="connsiteY61" fmla="*/ 693546 h 2865702"/>
                <a:gd name="connsiteX62" fmla="*/ 679426 w 2326195"/>
                <a:gd name="connsiteY62" fmla="*/ 672713 h 2865702"/>
                <a:gd name="connsiteX63" fmla="*/ 675704 w 2326195"/>
                <a:gd name="connsiteY63" fmla="*/ 608716 h 2865702"/>
                <a:gd name="connsiteX64" fmla="*/ 1159383 w 2326195"/>
                <a:gd name="connsiteY64" fmla="*/ 122789 h 2865702"/>
                <a:gd name="connsiteX65" fmla="*/ 1325358 w 2326195"/>
                <a:gd name="connsiteY65" fmla="*/ 1416109 h 2865702"/>
                <a:gd name="connsiteX66" fmla="*/ 1159414 w 2326195"/>
                <a:gd name="connsiteY66" fmla="*/ 1844733 h 2865702"/>
                <a:gd name="connsiteX67" fmla="*/ 993469 w 2326195"/>
                <a:gd name="connsiteY67" fmla="*/ 1416870 h 2865702"/>
                <a:gd name="connsiteX68" fmla="*/ 1158667 w 2326195"/>
                <a:gd name="connsiteY68" fmla="*/ 1459287 h 2865702"/>
                <a:gd name="connsiteX69" fmla="*/ 1325354 w 2326195"/>
                <a:gd name="connsiteY69" fmla="*/ 1416128 h 2865702"/>
                <a:gd name="connsiteX70" fmla="*/ 2204173 w 2326195"/>
                <a:gd name="connsiteY70" fmla="*/ 2745151 h 2865702"/>
                <a:gd name="connsiteX71" fmla="*/ 122084 w 2326195"/>
                <a:gd name="connsiteY71" fmla="*/ 2745151 h 2865702"/>
                <a:gd name="connsiteX72" fmla="*/ 122084 w 2326195"/>
                <a:gd name="connsiteY72" fmla="*/ 2191520 h 2865702"/>
                <a:gd name="connsiteX73" fmla="*/ 123572 w 2326195"/>
                <a:gd name="connsiteY73" fmla="*/ 2131246 h 2865702"/>
                <a:gd name="connsiteX74" fmla="*/ 819356 w 2326195"/>
                <a:gd name="connsiteY74" fmla="*/ 1303752 h 2865702"/>
                <a:gd name="connsiteX75" fmla="*/ 1158682 w 2326195"/>
                <a:gd name="connsiteY75" fmla="*/ 2182566 h 2865702"/>
                <a:gd name="connsiteX76" fmla="*/ 1500241 w 2326195"/>
                <a:gd name="connsiteY76" fmla="*/ 1301504 h 2865702"/>
                <a:gd name="connsiteX77" fmla="*/ 2201967 w 2326195"/>
                <a:gd name="connsiteY77" fmla="*/ 2130483 h 2865702"/>
                <a:gd name="connsiteX78" fmla="*/ 2203453 w 2326195"/>
                <a:gd name="connsiteY78" fmla="*/ 2191504 h 2865702"/>
                <a:gd name="connsiteX79" fmla="*/ 2203453 w 2326195"/>
                <a:gd name="connsiteY79" fmla="*/ 2745135 h 286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326195" h="2865702">
                  <a:moveTo>
                    <a:pt x="1567960" y="1192881"/>
                  </a:moveTo>
                  <a:cubicBezTo>
                    <a:pt x="1588797" y="1162370"/>
                    <a:pt x="1608144" y="1129627"/>
                    <a:pt x="1626748" y="1095398"/>
                  </a:cubicBezTo>
                  <a:cubicBezTo>
                    <a:pt x="1627491" y="1093908"/>
                    <a:pt x="1628238" y="1092422"/>
                    <a:pt x="1628981" y="1090933"/>
                  </a:cubicBezTo>
                  <a:cubicBezTo>
                    <a:pt x="1639397" y="1072328"/>
                    <a:pt x="1649071" y="1052981"/>
                    <a:pt x="1658002" y="1033634"/>
                  </a:cubicBezTo>
                  <a:cubicBezTo>
                    <a:pt x="1662467" y="1023960"/>
                    <a:pt x="1666932" y="1015030"/>
                    <a:pt x="1670651" y="1005356"/>
                  </a:cubicBezTo>
                  <a:cubicBezTo>
                    <a:pt x="1675863" y="992707"/>
                    <a:pt x="1681814" y="980058"/>
                    <a:pt x="1687022" y="967405"/>
                  </a:cubicBezTo>
                  <a:cubicBezTo>
                    <a:pt x="1693720" y="951780"/>
                    <a:pt x="1698929" y="936151"/>
                    <a:pt x="1704884" y="920523"/>
                  </a:cubicBezTo>
                  <a:cubicBezTo>
                    <a:pt x="1707859" y="912339"/>
                    <a:pt x="1710835" y="904898"/>
                    <a:pt x="1713814" y="896710"/>
                  </a:cubicBezTo>
                  <a:cubicBezTo>
                    <a:pt x="1720509" y="878110"/>
                    <a:pt x="1725721" y="858759"/>
                    <a:pt x="1730929" y="840155"/>
                  </a:cubicBezTo>
                  <a:cubicBezTo>
                    <a:pt x="1732415" y="834203"/>
                    <a:pt x="1734647" y="828248"/>
                    <a:pt x="1736137" y="823040"/>
                  </a:cubicBezTo>
                  <a:cubicBezTo>
                    <a:pt x="1741345" y="803693"/>
                    <a:pt x="1745811" y="784346"/>
                    <a:pt x="1749533" y="764999"/>
                  </a:cubicBezTo>
                  <a:cubicBezTo>
                    <a:pt x="1750276" y="759790"/>
                    <a:pt x="1751766" y="753835"/>
                    <a:pt x="1753252" y="748627"/>
                  </a:cubicBezTo>
                  <a:cubicBezTo>
                    <a:pt x="1756974" y="729280"/>
                    <a:pt x="1759207" y="710676"/>
                    <a:pt x="1761439" y="692071"/>
                  </a:cubicBezTo>
                  <a:cubicBezTo>
                    <a:pt x="1762182" y="686863"/>
                    <a:pt x="1762925" y="680912"/>
                    <a:pt x="1763672" y="675700"/>
                  </a:cubicBezTo>
                  <a:cubicBezTo>
                    <a:pt x="1765901" y="652634"/>
                    <a:pt x="1767391" y="629564"/>
                    <a:pt x="1767391" y="607238"/>
                  </a:cubicBezTo>
                  <a:cubicBezTo>
                    <a:pt x="1767391" y="272373"/>
                    <a:pt x="1495037" y="0"/>
                    <a:pt x="1160153" y="0"/>
                  </a:cubicBezTo>
                  <a:cubicBezTo>
                    <a:pt x="825288" y="0"/>
                    <a:pt x="552915" y="272354"/>
                    <a:pt x="552915" y="607238"/>
                  </a:cubicBezTo>
                  <a:cubicBezTo>
                    <a:pt x="552915" y="629564"/>
                    <a:pt x="554405" y="652630"/>
                    <a:pt x="556637" y="675700"/>
                  </a:cubicBezTo>
                  <a:cubicBezTo>
                    <a:pt x="557380" y="681655"/>
                    <a:pt x="558123" y="687606"/>
                    <a:pt x="558870" y="693561"/>
                  </a:cubicBezTo>
                  <a:cubicBezTo>
                    <a:pt x="561103" y="711419"/>
                    <a:pt x="563331" y="730023"/>
                    <a:pt x="567054" y="748627"/>
                  </a:cubicBezTo>
                  <a:cubicBezTo>
                    <a:pt x="568544" y="754578"/>
                    <a:pt x="570029" y="761276"/>
                    <a:pt x="570776" y="767231"/>
                  </a:cubicBezTo>
                  <a:cubicBezTo>
                    <a:pt x="574495" y="785832"/>
                    <a:pt x="578960" y="804436"/>
                    <a:pt x="583425" y="823040"/>
                  </a:cubicBezTo>
                  <a:cubicBezTo>
                    <a:pt x="584911" y="829734"/>
                    <a:pt x="587144" y="836432"/>
                    <a:pt x="589377" y="843130"/>
                  </a:cubicBezTo>
                  <a:cubicBezTo>
                    <a:pt x="594589" y="860988"/>
                    <a:pt x="599797" y="878849"/>
                    <a:pt x="605748" y="896706"/>
                  </a:cubicBezTo>
                  <a:cubicBezTo>
                    <a:pt x="608728" y="905637"/>
                    <a:pt x="611703" y="913821"/>
                    <a:pt x="614679" y="922752"/>
                  </a:cubicBezTo>
                  <a:cubicBezTo>
                    <a:pt x="619887" y="937633"/>
                    <a:pt x="625842" y="953262"/>
                    <a:pt x="631793" y="968144"/>
                  </a:cubicBezTo>
                  <a:cubicBezTo>
                    <a:pt x="637002" y="980793"/>
                    <a:pt x="642214" y="993442"/>
                    <a:pt x="648165" y="1005349"/>
                  </a:cubicBezTo>
                  <a:cubicBezTo>
                    <a:pt x="652630" y="1015026"/>
                    <a:pt x="657096" y="1024700"/>
                    <a:pt x="661561" y="1034373"/>
                  </a:cubicBezTo>
                  <a:cubicBezTo>
                    <a:pt x="670492" y="1052974"/>
                    <a:pt x="679418" y="1070835"/>
                    <a:pt x="689092" y="1088696"/>
                  </a:cubicBezTo>
                  <a:cubicBezTo>
                    <a:pt x="690582" y="1090929"/>
                    <a:pt x="691325" y="1093161"/>
                    <a:pt x="692814" y="1095394"/>
                  </a:cubicBezTo>
                  <a:cubicBezTo>
                    <a:pt x="711419" y="1129623"/>
                    <a:pt x="731509" y="1163105"/>
                    <a:pt x="752346" y="1193616"/>
                  </a:cubicBezTo>
                  <a:cubicBezTo>
                    <a:pt x="330426" y="1320119"/>
                    <a:pt x="26807" y="1689948"/>
                    <a:pt x="2232" y="2123066"/>
                  </a:cubicBezTo>
                  <a:cubicBezTo>
                    <a:pt x="744" y="2145392"/>
                    <a:pt x="0" y="2167715"/>
                    <a:pt x="0" y="2190038"/>
                  </a:cubicBezTo>
                  <a:lnTo>
                    <a:pt x="0" y="2865703"/>
                  </a:lnTo>
                  <a:lnTo>
                    <a:pt x="2326196" y="2865703"/>
                  </a:lnTo>
                  <a:lnTo>
                    <a:pt x="2326196" y="2190038"/>
                  </a:lnTo>
                  <a:cubicBezTo>
                    <a:pt x="2326196" y="2166972"/>
                    <a:pt x="2325453" y="2144645"/>
                    <a:pt x="2323963" y="2121576"/>
                  </a:cubicBezTo>
                  <a:cubicBezTo>
                    <a:pt x="2298661" y="1687731"/>
                    <a:pt x="1992821" y="1317170"/>
                    <a:pt x="1567907" y="1192888"/>
                  </a:cubicBezTo>
                  <a:close/>
                  <a:moveTo>
                    <a:pt x="1159414" y="122804"/>
                  </a:moveTo>
                  <a:cubicBezTo>
                    <a:pt x="1427302" y="122804"/>
                    <a:pt x="1644579" y="340839"/>
                    <a:pt x="1644579" y="607969"/>
                  </a:cubicBezTo>
                  <a:cubicBezTo>
                    <a:pt x="1644579" y="628060"/>
                    <a:pt x="1643089" y="648896"/>
                    <a:pt x="1640857" y="670476"/>
                  </a:cubicBezTo>
                  <a:cubicBezTo>
                    <a:pt x="1640114" y="680150"/>
                    <a:pt x="1638628" y="689823"/>
                    <a:pt x="1637138" y="700244"/>
                  </a:cubicBezTo>
                  <a:cubicBezTo>
                    <a:pt x="1635648" y="710660"/>
                    <a:pt x="1633416" y="721824"/>
                    <a:pt x="1631930" y="732983"/>
                  </a:cubicBezTo>
                  <a:cubicBezTo>
                    <a:pt x="1629697" y="746379"/>
                    <a:pt x="1626718" y="759775"/>
                    <a:pt x="1623742" y="773910"/>
                  </a:cubicBezTo>
                  <a:cubicBezTo>
                    <a:pt x="1622256" y="779118"/>
                    <a:pt x="1620767" y="784330"/>
                    <a:pt x="1620024" y="789539"/>
                  </a:cubicBezTo>
                  <a:cubicBezTo>
                    <a:pt x="1606628" y="841629"/>
                    <a:pt x="1588023" y="895205"/>
                    <a:pt x="1565701" y="948042"/>
                  </a:cubicBezTo>
                  <a:cubicBezTo>
                    <a:pt x="1562721" y="953994"/>
                    <a:pt x="1560492" y="960692"/>
                    <a:pt x="1557513" y="966647"/>
                  </a:cubicBezTo>
                  <a:cubicBezTo>
                    <a:pt x="1551562" y="980039"/>
                    <a:pt x="1544864" y="993435"/>
                    <a:pt x="1538166" y="1006831"/>
                  </a:cubicBezTo>
                  <a:cubicBezTo>
                    <a:pt x="1532957" y="1017990"/>
                    <a:pt x="1527006" y="1028411"/>
                    <a:pt x="1521051" y="1039574"/>
                  </a:cubicBezTo>
                  <a:cubicBezTo>
                    <a:pt x="1515843" y="1049247"/>
                    <a:pt x="1510635" y="1058921"/>
                    <a:pt x="1505423" y="1067848"/>
                  </a:cubicBezTo>
                  <a:cubicBezTo>
                    <a:pt x="1479381" y="1111750"/>
                    <a:pt x="1451100" y="1152681"/>
                    <a:pt x="1419846" y="1188400"/>
                  </a:cubicBezTo>
                  <a:cubicBezTo>
                    <a:pt x="1343943" y="1277699"/>
                    <a:pt x="1254648" y="1337226"/>
                    <a:pt x="1160884" y="1337226"/>
                  </a:cubicBezTo>
                  <a:cubicBezTo>
                    <a:pt x="1067867" y="1337226"/>
                    <a:pt x="980058" y="1278438"/>
                    <a:pt x="904155" y="1190629"/>
                  </a:cubicBezTo>
                  <a:cubicBezTo>
                    <a:pt x="855787" y="1134820"/>
                    <a:pt x="812627" y="1065615"/>
                    <a:pt x="776162" y="991198"/>
                  </a:cubicBezTo>
                  <a:cubicBezTo>
                    <a:pt x="775419" y="988966"/>
                    <a:pt x="773929" y="987480"/>
                    <a:pt x="773186" y="985247"/>
                  </a:cubicBezTo>
                  <a:cubicBezTo>
                    <a:pt x="762023" y="961435"/>
                    <a:pt x="751606" y="937622"/>
                    <a:pt x="741933" y="913810"/>
                  </a:cubicBezTo>
                  <a:cubicBezTo>
                    <a:pt x="741190" y="913067"/>
                    <a:pt x="741190" y="911577"/>
                    <a:pt x="740443" y="910834"/>
                  </a:cubicBezTo>
                  <a:cubicBezTo>
                    <a:pt x="730027" y="885532"/>
                    <a:pt x="721096" y="859487"/>
                    <a:pt x="713655" y="833445"/>
                  </a:cubicBezTo>
                  <a:cubicBezTo>
                    <a:pt x="713655" y="832698"/>
                    <a:pt x="713655" y="831955"/>
                    <a:pt x="712912" y="831955"/>
                  </a:cubicBezTo>
                  <a:cubicBezTo>
                    <a:pt x="706214" y="808886"/>
                    <a:pt x="700263" y="786563"/>
                    <a:pt x="695051" y="764240"/>
                  </a:cubicBezTo>
                  <a:cubicBezTo>
                    <a:pt x="693565" y="757542"/>
                    <a:pt x="692075" y="750101"/>
                    <a:pt x="690589" y="743403"/>
                  </a:cubicBezTo>
                  <a:cubicBezTo>
                    <a:pt x="686867" y="726289"/>
                    <a:pt x="684634" y="709917"/>
                    <a:pt x="682402" y="693546"/>
                  </a:cubicBezTo>
                  <a:cubicBezTo>
                    <a:pt x="681659" y="686848"/>
                    <a:pt x="680169" y="679407"/>
                    <a:pt x="679426" y="672713"/>
                  </a:cubicBezTo>
                  <a:cubicBezTo>
                    <a:pt x="677193" y="650386"/>
                    <a:pt x="675704" y="628810"/>
                    <a:pt x="675704" y="608716"/>
                  </a:cubicBezTo>
                  <a:cubicBezTo>
                    <a:pt x="673471" y="340827"/>
                    <a:pt x="891506" y="122789"/>
                    <a:pt x="1159383" y="122789"/>
                  </a:cubicBezTo>
                  <a:close/>
                  <a:moveTo>
                    <a:pt x="1325358" y="1416109"/>
                  </a:moveTo>
                  <a:lnTo>
                    <a:pt x="1159414" y="1844733"/>
                  </a:lnTo>
                  <a:lnTo>
                    <a:pt x="993469" y="1416870"/>
                  </a:lnTo>
                  <a:cubicBezTo>
                    <a:pt x="1046302" y="1443659"/>
                    <a:pt x="1101368" y="1459287"/>
                    <a:pt x="1158667" y="1459287"/>
                  </a:cubicBezTo>
                  <a:cubicBezTo>
                    <a:pt x="1216708" y="1459287"/>
                    <a:pt x="1272521" y="1443659"/>
                    <a:pt x="1325354" y="1416128"/>
                  </a:cubicBezTo>
                  <a:close/>
                  <a:moveTo>
                    <a:pt x="2204173" y="2745151"/>
                  </a:moveTo>
                  <a:lnTo>
                    <a:pt x="122084" y="2745151"/>
                  </a:lnTo>
                  <a:lnTo>
                    <a:pt x="122084" y="2191520"/>
                  </a:lnTo>
                  <a:cubicBezTo>
                    <a:pt x="122084" y="2171430"/>
                    <a:pt x="122828" y="2151336"/>
                    <a:pt x="123572" y="2131246"/>
                  </a:cubicBezTo>
                  <a:cubicBezTo>
                    <a:pt x="145896" y="1739082"/>
                    <a:pt x="429414" y="1405707"/>
                    <a:pt x="819356" y="1303752"/>
                  </a:cubicBezTo>
                  <a:lnTo>
                    <a:pt x="1158682" y="2182566"/>
                  </a:lnTo>
                  <a:lnTo>
                    <a:pt x="1500241" y="1301504"/>
                  </a:lnTo>
                  <a:cubicBezTo>
                    <a:pt x="1893128" y="1401962"/>
                    <a:pt x="2178878" y="1735348"/>
                    <a:pt x="2201967" y="2130483"/>
                  </a:cubicBezTo>
                  <a:cubicBezTo>
                    <a:pt x="2203453" y="2150574"/>
                    <a:pt x="2203453" y="2171411"/>
                    <a:pt x="2203453" y="2191504"/>
                  </a:cubicBezTo>
                  <a:lnTo>
                    <a:pt x="2203453" y="2745135"/>
                  </a:lnTo>
                  <a:close/>
                </a:path>
              </a:pathLst>
            </a:custGeom>
            <a:grpFill/>
            <a:ln w="38100" cap="flat">
              <a:noFill/>
              <a:prstDash val="solid"/>
              <a:miter/>
            </a:ln>
          </p:spPr>
          <p:txBody>
            <a:bodyPr rtlCol="0" anchor="ctr"/>
            <a:lstStyle/>
            <a:p>
              <a:endParaRPr lang="en-US" noProof="0"/>
            </a:p>
          </p:txBody>
        </p:sp>
        <p:sp>
          <p:nvSpPr>
            <p:cNvPr id="25" name="Freeform: Shape 24">
              <a:extLst>
                <a:ext uri="{FF2B5EF4-FFF2-40B4-BE49-F238E27FC236}">
                  <a16:creationId xmlns:a16="http://schemas.microsoft.com/office/drawing/2014/main" id="{2DF25B0D-1A30-68FC-3C9A-03C8527D6E73}"/>
                </a:ext>
              </a:extLst>
            </p:cNvPr>
            <p:cNvSpPr/>
            <p:nvPr/>
          </p:nvSpPr>
          <p:spPr>
            <a:xfrm>
              <a:off x="11136738" y="4875330"/>
              <a:ext cx="163635" cy="154177"/>
            </a:xfrm>
            <a:custGeom>
              <a:avLst/>
              <a:gdLst>
                <a:gd name="connsiteX0" fmla="*/ 1466705 w 1828361"/>
                <a:gd name="connsiteY0" fmla="*/ 0 h 1722681"/>
                <a:gd name="connsiteX1" fmla="*/ 361653 w 1828361"/>
                <a:gd name="connsiteY1" fmla="*/ 0 h 1722681"/>
                <a:gd name="connsiteX2" fmla="*/ 0 w 1828361"/>
                <a:gd name="connsiteY2" fmla="*/ 361653 h 1722681"/>
                <a:gd name="connsiteX3" fmla="*/ 0 w 1828361"/>
                <a:gd name="connsiteY3" fmla="*/ 857983 h 1722681"/>
                <a:gd name="connsiteX4" fmla="*/ 300632 w 1828361"/>
                <a:gd name="connsiteY4" fmla="*/ 1214428 h 1722681"/>
                <a:gd name="connsiteX5" fmla="*/ 305840 w 1828361"/>
                <a:gd name="connsiteY5" fmla="*/ 1722682 h 1722681"/>
                <a:gd name="connsiteX6" fmla="*/ 880312 w 1828361"/>
                <a:gd name="connsiteY6" fmla="*/ 1219647 h 1722681"/>
                <a:gd name="connsiteX7" fmla="*/ 1466709 w 1828361"/>
                <a:gd name="connsiteY7" fmla="*/ 1219647 h 1722681"/>
                <a:gd name="connsiteX8" fmla="*/ 1828362 w 1828361"/>
                <a:gd name="connsiteY8" fmla="*/ 857995 h 1722681"/>
                <a:gd name="connsiteX9" fmla="*/ 1828362 w 1828361"/>
                <a:gd name="connsiteY9" fmla="*/ 361664 h 1722681"/>
                <a:gd name="connsiteX10" fmla="*/ 1466709 w 1828361"/>
                <a:gd name="connsiteY10" fmla="*/ 11 h 1722681"/>
                <a:gd name="connsiteX11" fmla="*/ 1706320 w 1828361"/>
                <a:gd name="connsiteY11" fmla="*/ 858014 h 1722681"/>
                <a:gd name="connsiteX12" fmla="*/ 1466705 w 1828361"/>
                <a:gd name="connsiteY12" fmla="*/ 1097628 h 1722681"/>
                <a:gd name="connsiteX13" fmla="*/ 834169 w 1828361"/>
                <a:gd name="connsiteY13" fmla="*/ 1097628 h 1722681"/>
                <a:gd name="connsiteX14" fmla="*/ 424899 w 1828361"/>
                <a:gd name="connsiteY14" fmla="*/ 1456306 h 1722681"/>
                <a:gd name="connsiteX15" fmla="*/ 421176 w 1828361"/>
                <a:gd name="connsiteY15" fmla="*/ 1097628 h 1722681"/>
                <a:gd name="connsiteX16" fmla="*/ 360902 w 1828361"/>
                <a:gd name="connsiteY16" fmla="*/ 1097628 h 1722681"/>
                <a:gd name="connsiteX17" fmla="*/ 121288 w 1828361"/>
                <a:gd name="connsiteY17" fmla="*/ 858014 h 1722681"/>
                <a:gd name="connsiteX18" fmla="*/ 121288 w 1828361"/>
                <a:gd name="connsiteY18" fmla="*/ 361683 h 1722681"/>
                <a:gd name="connsiteX19" fmla="*/ 360902 w 1828361"/>
                <a:gd name="connsiteY19" fmla="*/ 122069 h 1722681"/>
                <a:gd name="connsiteX20" fmla="*/ 1466679 w 1828361"/>
                <a:gd name="connsiteY20" fmla="*/ 122069 h 1722681"/>
                <a:gd name="connsiteX21" fmla="*/ 1706293 w 1828361"/>
                <a:gd name="connsiteY21" fmla="*/ 361683 h 172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8361" h="1722681">
                  <a:moveTo>
                    <a:pt x="1466705" y="0"/>
                  </a:moveTo>
                  <a:lnTo>
                    <a:pt x="361653" y="0"/>
                  </a:lnTo>
                  <a:cubicBezTo>
                    <a:pt x="162222" y="0"/>
                    <a:pt x="0" y="162222"/>
                    <a:pt x="0" y="361653"/>
                  </a:cubicBezTo>
                  <a:lnTo>
                    <a:pt x="0" y="857983"/>
                  </a:lnTo>
                  <a:cubicBezTo>
                    <a:pt x="0" y="1036577"/>
                    <a:pt x="130226" y="1185407"/>
                    <a:pt x="300632" y="1214428"/>
                  </a:cubicBezTo>
                  <a:lnTo>
                    <a:pt x="305840" y="1722682"/>
                  </a:lnTo>
                  <a:lnTo>
                    <a:pt x="880312" y="1219647"/>
                  </a:lnTo>
                  <a:lnTo>
                    <a:pt x="1466709" y="1219647"/>
                  </a:lnTo>
                  <a:cubicBezTo>
                    <a:pt x="1666140" y="1219647"/>
                    <a:pt x="1828362" y="1057425"/>
                    <a:pt x="1828362" y="857995"/>
                  </a:cubicBezTo>
                  <a:lnTo>
                    <a:pt x="1828362" y="361664"/>
                  </a:lnTo>
                  <a:cubicBezTo>
                    <a:pt x="1828362" y="162234"/>
                    <a:pt x="1666140" y="11"/>
                    <a:pt x="1466709" y="11"/>
                  </a:cubicBezTo>
                  <a:close/>
                  <a:moveTo>
                    <a:pt x="1706320" y="858014"/>
                  </a:moveTo>
                  <a:cubicBezTo>
                    <a:pt x="1706320" y="989725"/>
                    <a:pt x="1599164" y="1097628"/>
                    <a:pt x="1466705" y="1097628"/>
                  </a:cubicBezTo>
                  <a:lnTo>
                    <a:pt x="834169" y="1097628"/>
                  </a:lnTo>
                  <a:lnTo>
                    <a:pt x="424899" y="1456306"/>
                  </a:lnTo>
                  <a:lnTo>
                    <a:pt x="421176" y="1097628"/>
                  </a:lnTo>
                  <a:lnTo>
                    <a:pt x="360902" y="1097628"/>
                  </a:lnTo>
                  <a:cubicBezTo>
                    <a:pt x="229191" y="1097628"/>
                    <a:pt x="121288" y="990472"/>
                    <a:pt x="121288" y="858014"/>
                  </a:cubicBezTo>
                  <a:lnTo>
                    <a:pt x="121288" y="361683"/>
                  </a:lnTo>
                  <a:cubicBezTo>
                    <a:pt x="121288" y="229972"/>
                    <a:pt x="228444" y="122069"/>
                    <a:pt x="360902" y="122069"/>
                  </a:cubicBezTo>
                  <a:lnTo>
                    <a:pt x="1466679" y="122069"/>
                  </a:lnTo>
                  <a:cubicBezTo>
                    <a:pt x="1598390" y="122069"/>
                    <a:pt x="1706293" y="229225"/>
                    <a:pt x="1706293" y="361683"/>
                  </a:cubicBezTo>
                  <a:close/>
                </a:path>
              </a:pathLst>
            </a:custGeom>
            <a:grpFill/>
            <a:ln w="38100" cap="flat">
              <a:noFill/>
              <a:prstDash val="solid"/>
              <a:miter/>
            </a:ln>
          </p:spPr>
          <p:txBody>
            <a:bodyPr rtlCol="0" anchor="ctr"/>
            <a:lstStyle/>
            <a:p>
              <a:endParaRPr lang="en-US" noProof="0"/>
            </a:p>
          </p:txBody>
        </p:sp>
        <p:sp>
          <p:nvSpPr>
            <p:cNvPr id="26" name="Freeform: Shape 25">
              <a:extLst>
                <a:ext uri="{FF2B5EF4-FFF2-40B4-BE49-F238E27FC236}">
                  <a16:creationId xmlns:a16="http://schemas.microsoft.com/office/drawing/2014/main" id="{7713C4F5-147D-B06B-9880-62AC1328E25C}"/>
                </a:ext>
              </a:extLst>
            </p:cNvPr>
            <p:cNvSpPr/>
            <p:nvPr/>
          </p:nvSpPr>
          <p:spPr>
            <a:xfrm>
              <a:off x="11093116" y="5137133"/>
              <a:ext cx="49085" cy="10922"/>
            </a:xfrm>
            <a:custGeom>
              <a:avLst/>
              <a:gdLst>
                <a:gd name="connsiteX0" fmla="*/ 0 w 548449"/>
                <a:gd name="connsiteY0" fmla="*/ 0 h 122037"/>
                <a:gd name="connsiteX1" fmla="*/ 548450 w 548449"/>
                <a:gd name="connsiteY1" fmla="*/ 0 h 122037"/>
                <a:gd name="connsiteX2" fmla="*/ 548450 w 548449"/>
                <a:gd name="connsiteY2" fmla="*/ 122038 h 122037"/>
                <a:gd name="connsiteX3" fmla="*/ 0 w 548449"/>
                <a:gd name="connsiteY3" fmla="*/ 122038 h 122037"/>
              </a:gdLst>
              <a:ahLst/>
              <a:cxnLst>
                <a:cxn ang="0">
                  <a:pos x="connsiteX0" y="connsiteY0"/>
                </a:cxn>
                <a:cxn ang="0">
                  <a:pos x="connsiteX1" y="connsiteY1"/>
                </a:cxn>
                <a:cxn ang="0">
                  <a:pos x="connsiteX2" y="connsiteY2"/>
                </a:cxn>
                <a:cxn ang="0">
                  <a:pos x="connsiteX3" y="connsiteY3"/>
                </a:cxn>
              </a:cxnLst>
              <a:rect l="l" t="t" r="r" b="b"/>
              <a:pathLst>
                <a:path w="548449" h="122037">
                  <a:moveTo>
                    <a:pt x="0" y="0"/>
                  </a:moveTo>
                  <a:lnTo>
                    <a:pt x="548450" y="0"/>
                  </a:lnTo>
                  <a:lnTo>
                    <a:pt x="548450" y="122038"/>
                  </a:lnTo>
                  <a:lnTo>
                    <a:pt x="0" y="122038"/>
                  </a:lnTo>
                  <a:close/>
                </a:path>
              </a:pathLst>
            </a:custGeom>
            <a:grpFill/>
            <a:ln w="38100" cap="flat">
              <a:noFill/>
              <a:prstDash val="solid"/>
              <a:miter/>
            </a:ln>
          </p:spPr>
          <p:txBody>
            <a:bodyPr rtlCol="0" anchor="ctr"/>
            <a:lstStyle/>
            <a:p>
              <a:endParaRPr lang="en-US" noProof="0"/>
            </a:p>
          </p:txBody>
        </p:sp>
        <p:sp>
          <p:nvSpPr>
            <p:cNvPr id="27" name="Freeform: Shape 26">
              <a:extLst>
                <a:ext uri="{FF2B5EF4-FFF2-40B4-BE49-F238E27FC236}">
                  <a16:creationId xmlns:a16="http://schemas.microsoft.com/office/drawing/2014/main" id="{B61BB5EA-F372-C3CF-AE2C-7E0688D49060}"/>
                </a:ext>
              </a:extLst>
            </p:cNvPr>
            <p:cNvSpPr/>
            <p:nvPr/>
          </p:nvSpPr>
          <p:spPr>
            <a:xfrm>
              <a:off x="11166244" y="4908097"/>
              <a:ext cx="39160" cy="38161"/>
            </a:xfrm>
            <a:custGeom>
              <a:avLst/>
              <a:gdLst>
                <a:gd name="connsiteX0" fmla="*/ 385462 w 437551"/>
                <a:gd name="connsiteY0" fmla="*/ 66229 h 426392"/>
                <a:gd name="connsiteX1" fmla="*/ 279795 w 437551"/>
                <a:gd name="connsiteY1" fmla="*/ 116087 h 426392"/>
                <a:gd name="connsiteX2" fmla="*/ 279795 w 437551"/>
                <a:gd name="connsiteY2" fmla="*/ 0 h 426392"/>
                <a:gd name="connsiteX3" fmla="*/ 157757 w 437551"/>
                <a:gd name="connsiteY3" fmla="*/ 0 h 426392"/>
                <a:gd name="connsiteX4" fmla="*/ 157757 w 437551"/>
                <a:gd name="connsiteY4" fmla="*/ 116087 h 426392"/>
                <a:gd name="connsiteX5" fmla="*/ 52833 w 437551"/>
                <a:gd name="connsiteY5" fmla="*/ 66229 h 426392"/>
                <a:gd name="connsiteX6" fmla="*/ 0 w 437551"/>
                <a:gd name="connsiteY6" fmla="*/ 176361 h 426392"/>
                <a:gd name="connsiteX7" fmla="*/ 77389 w 437551"/>
                <a:gd name="connsiteY7" fmla="*/ 212823 h 426392"/>
                <a:gd name="connsiteX8" fmla="*/ 0 w 437551"/>
                <a:gd name="connsiteY8" fmla="*/ 250031 h 426392"/>
                <a:gd name="connsiteX9" fmla="*/ 52833 w 437551"/>
                <a:gd name="connsiteY9" fmla="*/ 360163 h 426392"/>
                <a:gd name="connsiteX10" fmla="*/ 157757 w 437551"/>
                <a:gd name="connsiteY10" fmla="*/ 309562 h 426392"/>
                <a:gd name="connsiteX11" fmla="*/ 157757 w 437551"/>
                <a:gd name="connsiteY11" fmla="*/ 426392 h 426392"/>
                <a:gd name="connsiteX12" fmla="*/ 279795 w 437551"/>
                <a:gd name="connsiteY12" fmla="*/ 426392 h 426392"/>
                <a:gd name="connsiteX13" fmla="*/ 279795 w 437551"/>
                <a:gd name="connsiteY13" fmla="*/ 309562 h 426392"/>
                <a:gd name="connsiteX14" fmla="*/ 385462 w 437551"/>
                <a:gd name="connsiteY14" fmla="*/ 360163 h 426392"/>
                <a:gd name="connsiteX15" fmla="*/ 437552 w 437551"/>
                <a:gd name="connsiteY15" fmla="*/ 250031 h 426392"/>
                <a:gd name="connsiteX16" fmla="*/ 360163 w 437551"/>
                <a:gd name="connsiteY16" fmla="*/ 212823 h 426392"/>
                <a:gd name="connsiteX17" fmla="*/ 437552 w 437551"/>
                <a:gd name="connsiteY17" fmla="*/ 176361 h 42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7551" h="426392">
                  <a:moveTo>
                    <a:pt x="385462" y="66229"/>
                  </a:moveTo>
                  <a:lnTo>
                    <a:pt x="279795" y="116087"/>
                  </a:lnTo>
                  <a:lnTo>
                    <a:pt x="279795" y="0"/>
                  </a:lnTo>
                  <a:lnTo>
                    <a:pt x="157757" y="0"/>
                  </a:lnTo>
                  <a:lnTo>
                    <a:pt x="157757" y="116087"/>
                  </a:lnTo>
                  <a:lnTo>
                    <a:pt x="52833" y="66229"/>
                  </a:lnTo>
                  <a:lnTo>
                    <a:pt x="0" y="176361"/>
                  </a:lnTo>
                  <a:lnTo>
                    <a:pt x="77389" y="212823"/>
                  </a:lnTo>
                  <a:lnTo>
                    <a:pt x="0" y="250031"/>
                  </a:lnTo>
                  <a:lnTo>
                    <a:pt x="52833" y="360163"/>
                  </a:lnTo>
                  <a:lnTo>
                    <a:pt x="157757" y="309562"/>
                  </a:lnTo>
                  <a:lnTo>
                    <a:pt x="157757" y="426392"/>
                  </a:lnTo>
                  <a:lnTo>
                    <a:pt x="279795" y="426392"/>
                  </a:lnTo>
                  <a:lnTo>
                    <a:pt x="279795" y="309562"/>
                  </a:lnTo>
                  <a:lnTo>
                    <a:pt x="385462" y="360163"/>
                  </a:lnTo>
                  <a:lnTo>
                    <a:pt x="437552" y="250031"/>
                  </a:lnTo>
                  <a:lnTo>
                    <a:pt x="360163" y="212823"/>
                  </a:lnTo>
                  <a:lnTo>
                    <a:pt x="437552" y="176361"/>
                  </a:lnTo>
                  <a:close/>
                </a:path>
              </a:pathLst>
            </a:custGeom>
            <a:grpFill/>
            <a:ln w="38100" cap="flat">
              <a:noFill/>
              <a:prstDash val="solid"/>
              <a:miter/>
            </a:ln>
          </p:spPr>
          <p:txBody>
            <a:bodyPr rtlCol="0" anchor="ctr"/>
            <a:lstStyle/>
            <a:p>
              <a:endParaRPr lang="en-US" noProof="0"/>
            </a:p>
          </p:txBody>
        </p:sp>
        <p:sp>
          <p:nvSpPr>
            <p:cNvPr id="28" name="Freeform: Shape 27">
              <a:extLst>
                <a:ext uri="{FF2B5EF4-FFF2-40B4-BE49-F238E27FC236}">
                  <a16:creationId xmlns:a16="http://schemas.microsoft.com/office/drawing/2014/main" id="{289AA598-C7A6-0290-003A-3AA280F89FFE}"/>
                </a:ext>
              </a:extLst>
            </p:cNvPr>
            <p:cNvSpPr/>
            <p:nvPr/>
          </p:nvSpPr>
          <p:spPr>
            <a:xfrm>
              <a:off x="11231709" y="4908097"/>
              <a:ext cx="39160" cy="38161"/>
            </a:xfrm>
            <a:custGeom>
              <a:avLst/>
              <a:gdLst>
                <a:gd name="connsiteX0" fmla="*/ 384719 w 437552"/>
                <a:gd name="connsiteY0" fmla="*/ 66229 h 426392"/>
                <a:gd name="connsiteX1" fmla="*/ 279795 w 437552"/>
                <a:gd name="connsiteY1" fmla="*/ 116087 h 426392"/>
                <a:gd name="connsiteX2" fmla="*/ 279795 w 437552"/>
                <a:gd name="connsiteY2" fmla="*/ 0 h 426392"/>
                <a:gd name="connsiteX3" fmla="*/ 157757 w 437552"/>
                <a:gd name="connsiteY3" fmla="*/ 0 h 426392"/>
                <a:gd name="connsiteX4" fmla="*/ 157757 w 437552"/>
                <a:gd name="connsiteY4" fmla="*/ 116087 h 426392"/>
                <a:gd name="connsiteX5" fmla="*/ 52833 w 437552"/>
                <a:gd name="connsiteY5" fmla="*/ 66229 h 426392"/>
                <a:gd name="connsiteX6" fmla="*/ 0 w 437552"/>
                <a:gd name="connsiteY6" fmla="*/ 176361 h 426392"/>
                <a:gd name="connsiteX7" fmla="*/ 77389 w 437552"/>
                <a:gd name="connsiteY7" fmla="*/ 212823 h 426392"/>
                <a:gd name="connsiteX8" fmla="*/ 0 w 437552"/>
                <a:gd name="connsiteY8" fmla="*/ 250031 h 426392"/>
                <a:gd name="connsiteX9" fmla="*/ 52833 w 437552"/>
                <a:gd name="connsiteY9" fmla="*/ 360163 h 426392"/>
                <a:gd name="connsiteX10" fmla="*/ 157757 w 437552"/>
                <a:gd name="connsiteY10" fmla="*/ 309562 h 426392"/>
                <a:gd name="connsiteX11" fmla="*/ 157757 w 437552"/>
                <a:gd name="connsiteY11" fmla="*/ 426392 h 426392"/>
                <a:gd name="connsiteX12" fmla="*/ 279795 w 437552"/>
                <a:gd name="connsiteY12" fmla="*/ 426392 h 426392"/>
                <a:gd name="connsiteX13" fmla="*/ 279795 w 437552"/>
                <a:gd name="connsiteY13" fmla="*/ 309562 h 426392"/>
                <a:gd name="connsiteX14" fmla="*/ 384719 w 437552"/>
                <a:gd name="connsiteY14" fmla="*/ 360163 h 426392"/>
                <a:gd name="connsiteX15" fmla="*/ 437552 w 437552"/>
                <a:gd name="connsiteY15" fmla="*/ 250031 h 426392"/>
                <a:gd name="connsiteX16" fmla="*/ 360163 w 437552"/>
                <a:gd name="connsiteY16" fmla="*/ 212823 h 426392"/>
                <a:gd name="connsiteX17" fmla="*/ 437552 w 437552"/>
                <a:gd name="connsiteY17" fmla="*/ 176361 h 42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7552" h="426392">
                  <a:moveTo>
                    <a:pt x="384719" y="66229"/>
                  </a:moveTo>
                  <a:lnTo>
                    <a:pt x="279795" y="116087"/>
                  </a:lnTo>
                  <a:lnTo>
                    <a:pt x="279795" y="0"/>
                  </a:lnTo>
                  <a:lnTo>
                    <a:pt x="157757" y="0"/>
                  </a:lnTo>
                  <a:lnTo>
                    <a:pt x="157757" y="116087"/>
                  </a:lnTo>
                  <a:lnTo>
                    <a:pt x="52833" y="66229"/>
                  </a:lnTo>
                  <a:lnTo>
                    <a:pt x="0" y="176361"/>
                  </a:lnTo>
                  <a:lnTo>
                    <a:pt x="77389" y="212823"/>
                  </a:lnTo>
                  <a:lnTo>
                    <a:pt x="0" y="250031"/>
                  </a:lnTo>
                  <a:lnTo>
                    <a:pt x="52833" y="360163"/>
                  </a:lnTo>
                  <a:lnTo>
                    <a:pt x="157757" y="309562"/>
                  </a:lnTo>
                  <a:lnTo>
                    <a:pt x="157757" y="426392"/>
                  </a:lnTo>
                  <a:lnTo>
                    <a:pt x="279795" y="426392"/>
                  </a:lnTo>
                  <a:lnTo>
                    <a:pt x="279795" y="309562"/>
                  </a:lnTo>
                  <a:lnTo>
                    <a:pt x="384719" y="360163"/>
                  </a:lnTo>
                  <a:lnTo>
                    <a:pt x="437552" y="250031"/>
                  </a:lnTo>
                  <a:lnTo>
                    <a:pt x="360163" y="212823"/>
                  </a:lnTo>
                  <a:lnTo>
                    <a:pt x="437552" y="176361"/>
                  </a:lnTo>
                  <a:close/>
                </a:path>
              </a:pathLst>
            </a:custGeom>
            <a:grpFill/>
            <a:ln w="38100" cap="flat">
              <a:noFill/>
              <a:prstDash val="solid"/>
              <a:miter/>
            </a:ln>
          </p:spPr>
          <p:txBody>
            <a:bodyPr rtlCol="0" anchor="ctr"/>
            <a:lstStyle/>
            <a:p>
              <a:endParaRPr lang="en-US" noProof="0"/>
            </a:p>
          </p:txBody>
        </p:sp>
      </p:grpSp>
      <p:sp>
        <p:nvSpPr>
          <p:cNvPr id="55" name="Pentagon 3">
            <a:extLst>
              <a:ext uri="{FF2B5EF4-FFF2-40B4-BE49-F238E27FC236}">
                <a16:creationId xmlns:a16="http://schemas.microsoft.com/office/drawing/2014/main" id="{36F9B5A8-B1FB-E584-0276-1D5244D2B57C}"/>
              </a:ext>
            </a:extLst>
          </p:cNvPr>
          <p:cNvSpPr/>
          <p:nvPr/>
        </p:nvSpPr>
        <p:spPr>
          <a:xfrm>
            <a:off x="675981"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Referral Strength</a:t>
            </a:r>
            <a:r>
              <a:rPr lang="en-US" sz="1050" noProof="0">
                <a:solidFill>
                  <a:schemeClr val="tx1"/>
                </a:solidFill>
                <a:latin typeface="+mj-lt"/>
                <a:ea typeface="League Spartan" charset="0"/>
                <a:cs typeface="Poppins" pitchFamily="2" charset="77"/>
              </a:rPr>
              <a:t>: </a:t>
            </a:r>
            <a:r>
              <a:rPr lang="en-US" sz="1050" u="sng" noProof="0">
                <a:solidFill>
                  <a:schemeClr val="tx1"/>
                </a:solidFill>
                <a:latin typeface="+mj-lt"/>
                <a:ea typeface="League Spartan" charset="0"/>
                <a:cs typeface="Poppins" pitchFamily="2" charset="77"/>
              </a:rPr>
              <a:t>Weighted outdegree</a:t>
            </a:r>
            <a:r>
              <a:rPr lang="en-US" sz="1050" noProof="0">
                <a:solidFill>
                  <a:schemeClr val="tx1"/>
                </a:solidFill>
                <a:latin typeface="+mj-lt"/>
                <a:ea typeface="League Spartan" charset="0"/>
                <a:cs typeface="Poppins" pitchFamily="2" charset="77"/>
              </a:rPr>
              <a:t> </a:t>
            </a:r>
            <a:r>
              <a:rPr lang="en-US" sz="1050" u="sng" noProof="0">
                <a:solidFill>
                  <a:schemeClr val="tx1"/>
                </a:solidFill>
                <a:latin typeface="+mj-lt"/>
                <a:ea typeface="League Spartan" charset="0"/>
                <a:cs typeface="Poppins" pitchFamily="2" charset="77"/>
              </a:rPr>
              <a:t>&gt;</a:t>
            </a:r>
            <a:r>
              <a:rPr lang="en-US" sz="1050" noProof="0">
                <a:solidFill>
                  <a:schemeClr val="tx1"/>
                </a:solidFill>
                <a:latin typeface="+mj-lt"/>
                <a:ea typeface="League Spartan" charset="0"/>
                <a:cs typeface="Poppins" pitchFamily="2" charset="77"/>
              </a:rPr>
              <a:t> 90</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 and </a:t>
            </a:r>
            <a:r>
              <a:rPr lang="en-US" sz="1050" u="sng" noProof="0">
                <a:solidFill>
                  <a:schemeClr val="tx1"/>
                </a:solidFill>
                <a:latin typeface="+mj-lt"/>
                <a:ea typeface="League Spartan" charset="0"/>
                <a:cs typeface="Poppins" pitchFamily="2" charset="77"/>
              </a:rPr>
              <a:t>Weighted indegree</a:t>
            </a:r>
            <a:r>
              <a:rPr lang="en-US" sz="1050" noProof="0">
                <a:solidFill>
                  <a:schemeClr val="tx1"/>
                </a:solidFill>
                <a:latin typeface="+mj-lt"/>
                <a:ea typeface="League Spartan" charset="0"/>
                <a:cs typeface="Poppins" pitchFamily="2" charset="77"/>
              </a:rPr>
              <a:t> </a:t>
            </a:r>
            <a:r>
              <a:rPr lang="en-US" sz="1050" u="sng" noProof="0">
                <a:solidFill>
                  <a:schemeClr val="tx1"/>
                </a:solidFill>
                <a:latin typeface="+mj-lt"/>
                <a:ea typeface="League Spartan" charset="0"/>
                <a:cs typeface="Poppins" pitchFamily="2" charset="77"/>
              </a:rPr>
              <a:t>&lt;</a:t>
            </a:r>
            <a:r>
              <a:rPr lang="en-US" sz="1050" noProof="0">
                <a:solidFill>
                  <a:schemeClr val="tx1"/>
                </a:solidFill>
                <a:latin typeface="+mj-lt"/>
                <a:ea typeface="League Spartan" charset="0"/>
                <a:cs typeface="Poppins" pitchFamily="2" charset="77"/>
              </a:rPr>
              <a:t> 10</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schemeClr val="tx1"/>
                </a:solidFill>
                <a:effectLst/>
                <a:uLnTx/>
                <a:uFillTx/>
                <a:latin typeface="Calibri" panose="020F0502020204030204"/>
                <a:ea typeface="League Spartan" charset="0"/>
                <a:cs typeface="Poppins" pitchFamily="2" charset="77"/>
              </a:rPr>
              <a:t>Patient Volume</a:t>
            </a:r>
            <a:r>
              <a:rPr kumimoji="0" lang="en-US" sz="1050" b="0" i="0" u="none" strike="noStrike" kern="1200" cap="none" spc="0" normalizeH="0" baseline="0" noProof="0">
                <a:ln>
                  <a:noFill/>
                </a:ln>
                <a:solidFill>
                  <a:schemeClr val="tx1"/>
                </a:solidFill>
                <a:effectLst/>
                <a:uLnTx/>
                <a:uFillTx/>
                <a:latin typeface="Calibri" panose="020F0502020204030204"/>
                <a:ea typeface="League Spartan" charset="0"/>
                <a:cs typeface="Poppins" pitchFamily="2" charset="77"/>
              </a:rPr>
              <a:t>: Interacted patient volume ≥ ~90th Percentile</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schemeClr val="tx1"/>
                </a:solidFill>
                <a:effectLst/>
                <a:uLnTx/>
                <a:uFillTx/>
                <a:latin typeface="Calibri" panose="020F0502020204030204"/>
                <a:ea typeface="League Spartan" charset="0"/>
                <a:cs typeface="Poppins" pitchFamily="2" charset="77"/>
              </a:rPr>
              <a:t>Referral Activity:</a:t>
            </a:r>
            <a:r>
              <a:rPr kumimoji="0" lang="en-US" sz="1050" b="0" i="0" u="none" strike="noStrike" kern="1200" cap="none" spc="0" normalizeH="0" baseline="0" noProof="0">
                <a:ln>
                  <a:noFill/>
                </a:ln>
                <a:solidFill>
                  <a:schemeClr val="tx1"/>
                </a:solidFill>
                <a:effectLst/>
                <a:uLnTx/>
                <a:uFillTx/>
                <a:latin typeface="Calibri" panose="020F0502020204030204"/>
                <a:ea typeface="League Spartan" charset="0"/>
                <a:cs typeface="Poppins" pitchFamily="2" charset="77"/>
              </a:rPr>
              <a:t> Referral activity with 2+ patients</a:t>
            </a:r>
          </a:p>
        </p:txBody>
      </p:sp>
      <p:sp>
        <p:nvSpPr>
          <p:cNvPr id="56" name="Pentagon 3">
            <a:extLst>
              <a:ext uri="{FF2B5EF4-FFF2-40B4-BE49-F238E27FC236}">
                <a16:creationId xmlns:a16="http://schemas.microsoft.com/office/drawing/2014/main" id="{D9C1DA62-4424-66FC-4ABF-D37185D7FB2C}"/>
              </a:ext>
            </a:extLst>
          </p:cNvPr>
          <p:cNvSpPr/>
          <p:nvPr/>
        </p:nvSpPr>
        <p:spPr>
          <a:xfrm>
            <a:off x="675980" y="3114816"/>
            <a:ext cx="45719" cy="182880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7" name="Chevron 5">
            <a:extLst>
              <a:ext uri="{FF2B5EF4-FFF2-40B4-BE49-F238E27FC236}">
                <a16:creationId xmlns:a16="http://schemas.microsoft.com/office/drawing/2014/main" id="{8277A0CA-532D-DD5F-3293-BB914F0DD9C6}"/>
              </a:ext>
            </a:extLst>
          </p:cNvPr>
          <p:cNvSpPr/>
          <p:nvPr/>
        </p:nvSpPr>
        <p:spPr>
          <a:xfrm>
            <a:off x="5083171" y="1887042"/>
            <a:ext cx="2039674" cy="26665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cs typeface="Poppins" pitchFamily="2" charset="77"/>
              </a:rPr>
              <a:t>Bridgers</a:t>
            </a:r>
          </a:p>
        </p:txBody>
      </p:sp>
      <p:sp>
        <p:nvSpPr>
          <p:cNvPr id="14" name="Freeform 949">
            <a:extLst>
              <a:ext uri="{FF2B5EF4-FFF2-40B4-BE49-F238E27FC236}">
                <a16:creationId xmlns:a16="http://schemas.microsoft.com/office/drawing/2014/main" id="{ACBEE9AF-BF8C-5AC4-5A68-5141C45AE4FB}"/>
              </a:ext>
            </a:extLst>
          </p:cNvPr>
          <p:cNvSpPr>
            <a:spLocks noChangeAspect="1" noChangeArrowheads="1"/>
          </p:cNvSpPr>
          <p:nvPr/>
        </p:nvSpPr>
        <p:spPr bwMode="auto">
          <a:xfrm>
            <a:off x="5859271" y="1233488"/>
            <a:ext cx="487475" cy="488939"/>
          </a:xfrm>
          <a:custGeom>
            <a:avLst/>
            <a:gdLst>
              <a:gd name="T0" fmla="*/ 873075 w 291288"/>
              <a:gd name="T1" fmla="*/ 2795955 h 291739"/>
              <a:gd name="T2" fmla="*/ 825138 w 291288"/>
              <a:gd name="T3" fmla="*/ 3109255 h 291739"/>
              <a:gd name="T4" fmla="*/ 1567832 w 291288"/>
              <a:gd name="T5" fmla="*/ 3109255 h 291739"/>
              <a:gd name="T6" fmla="*/ 1567832 w 291288"/>
              <a:gd name="T7" fmla="*/ 2795955 h 291739"/>
              <a:gd name="T8" fmla="*/ 932966 w 291288"/>
              <a:gd name="T9" fmla="*/ 2427114 h 291739"/>
              <a:gd name="T10" fmla="*/ 889032 w 291288"/>
              <a:gd name="T11" fmla="*/ 2696803 h 291739"/>
              <a:gd name="T12" fmla="*/ 1615749 w 291288"/>
              <a:gd name="T13" fmla="*/ 2696803 h 291739"/>
              <a:gd name="T14" fmla="*/ 1663649 w 291288"/>
              <a:gd name="T15" fmla="*/ 2748367 h 291739"/>
              <a:gd name="T16" fmla="*/ 1663649 w 291288"/>
              <a:gd name="T17" fmla="*/ 3109255 h 291739"/>
              <a:gd name="T18" fmla="*/ 2973334 w 291288"/>
              <a:gd name="T19" fmla="*/ 3109255 h 291739"/>
              <a:gd name="T20" fmla="*/ 1603782 w 291288"/>
              <a:gd name="T21" fmla="*/ 2427114 h 291739"/>
              <a:gd name="T22" fmla="*/ 322044 w 291288"/>
              <a:gd name="T23" fmla="*/ 2427114 h 291739"/>
              <a:gd name="T24" fmla="*/ 114416 w 291288"/>
              <a:gd name="T25" fmla="*/ 3109255 h 291739"/>
              <a:gd name="T26" fmla="*/ 725308 w 291288"/>
              <a:gd name="T27" fmla="*/ 3109255 h 291739"/>
              <a:gd name="T28" fmla="*/ 837119 w 291288"/>
              <a:gd name="T29" fmla="*/ 2427114 h 291739"/>
              <a:gd name="T30" fmla="*/ 2861559 w 291288"/>
              <a:gd name="T31" fmla="*/ 2268491 h 291739"/>
              <a:gd name="T32" fmla="*/ 2178738 w 291288"/>
              <a:gd name="T33" fmla="*/ 2609551 h 291739"/>
              <a:gd name="T34" fmla="*/ 3101105 w 291288"/>
              <a:gd name="T35" fmla="*/ 3065636 h 291739"/>
              <a:gd name="T36" fmla="*/ 2090912 w 291288"/>
              <a:gd name="T37" fmla="*/ 1911559 h 291739"/>
              <a:gd name="T38" fmla="*/ 1695617 w 291288"/>
              <a:gd name="T39" fmla="*/ 2367632 h 291739"/>
              <a:gd name="T40" fmla="*/ 2070956 w 291288"/>
              <a:gd name="T41" fmla="*/ 2550070 h 291739"/>
              <a:gd name="T42" fmla="*/ 2833573 w 291288"/>
              <a:gd name="T43" fmla="*/ 2173303 h 291739"/>
              <a:gd name="T44" fmla="*/ 2753701 w 291288"/>
              <a:gd name="T45" fmla="*/ 1911559 h 291739"/>
              <a:gd name="T46" fmla="*/ 1020803 w 291288"/>
              <a:gd name="T47" fmla="*/ 1911559 h 291739"/>
              <a:gd name="T48" fmla="*/ 952932 w 291288"/>
              <a:gd name="T49" fmla="*/ 2331935 h 291739"/>
              <a:gd name="T50" fmla="*/ 1495937 w 291288"/>
              <a:gd name="T51" fmla="*/ 2331935 h 291739"/>
              <a:gd name="T52" fmla="*/ 1140594 w 291288"/>
              <a:gd name="T53" fmla="*/ 1911559 h 291739"/>
              <a:gd name="T54" fmla="*/ 477753 w 291288"/>
              <a:gd name="T55" fmla="*/ 1911559 h 291739"/>
              <a:gd name="T56" fmla="*/ 349984 w 291288"/>
              <a:gd name="T57" fmla="*/ 2331935 h 291739"/>
              <a:gd name="T58" fmla="*/ 853117 w 291288"/>
              <a:gd name="T59" fmla="*/ 2331935 h 291739"/>
              <a:gd name="T60" fmla="*/ 920988 w 291288"/>
              <a:gd name="T61" fmla="*/ 1911559 h 291739"/>
              <a:gd name="T62" fmla="*/ 1615749 w 291288"/>
              <a:gd name="T63" fmla="*/ 566600 h 291739"/>
              <a:gd name="T64" fmla="*/ 1277311 w 291288"/>
              <a:gd name="T65" fmla="*/ 907845 h 291739"/>
              <a:gd name="T66" fmla="*/ 1615749 w 291288"/>
              <a:gd name="T67" fmla="*/ 1245099 h 291739"/>
              <a:gd name="T68" fmla="*/ 1954201 w 291288"/>
              <a:gd name="T69" fmla="*/ 907845 h 291739"/>
              <a:gd name="T70" fmla="*/ 1615749 w 291288"/>
              <a:gd name="T71" fmla="*/ 566600 h 291739"/>
              <a:gd name="T72" fmla="*/ 1615749 w 291288"/>
              <a:gd name="T73" fmla="*/ 471356 h 291739"/>
              <a:gd name="T74" fmla="*/ 2053733 w 291288"/>
              <a:gd name="T75" fmla="*/ 907845 h 291739"/>
              <a:gd name="T76" fmla="*/ 1615749 w 291288"/>
              <a:gd name="T77" fmla="*/ 1340336 h 291739"/>
              <a:gd name="T78" fmla="*/ 1177757 w 291288"/>
              <a:gd name="T79" fmla="*/ 907845 h 291739"/>
              <a:gd name="T80" fmla="*/ 1615749 w 291288"/>
              <a:gd name="T81" fmla="*/ 471356 h 291739"/>
              <a:gd name="T82" fmla="*/ 1615749 w 291288"/>
              <a:gd name="T83" fmla="*/ 95201 h 291739"/>
              <a:gd name="T84" fmla="*/ 809176 w 291288"/>
              <a:gd name="T85" fmla="*/ 896289 h 291739"/>
              <a:gd name="T86" fmla="*/ 1615749 w 291288"/>
              <a:gd name="T87" fmla="*/ 2312106 h 291739"/>
              <a:gd name="T88" fmla="*/ 2418321 w 291288"/>
              <a:gd name="T89" fmla="*/ 896289 h 291739"/>
              <a:gd name="T90" fmla="*/ 1615749 w 291288"/>
              <a:gd name="T91" fmla="*/ 95201 h 291739"/>
              <a:gd name="T92" fmla="*/ 1615749 w 291288"/>
              <a:gd name="T93" fmla="*/ 0 h 291739"/>
              <a:gd name="T94" fmla="*/ 2514142 w 291288"/>
              <a:gd name="T95" fmla="*/ 896289 h 291739"/>
              <a:gd name="T96" fmla="*/ 2154774 w 291288"/>
              <a:gd name="T97" fmla="*/ 1812402 h 291739"/>
              <a:gd name="T98" fmla="*/ 2789634 w 291288"/>
              <a:gd name="T99" fmla="*/ 1812402 h 291739"/>
              <a:gd name="T100" fmla="*/ 2833573 w 291288"/>
              <a:gd name="T101" fmla="*/ 1848099 h 291739"/>
              <a:gd name="T102" fmla="*/ 3224882 w 291288"/>
              <a:gd name="T103" fmla="*/ 3140984 h 291739"/>
              <a:gd name="T104" fmla="*/ 3220897 w 291288"/>
              <a:gd name="T105" fmla="*/ 3188573 h 291739"/>
              <a:gd name="T106" fmla="*/ 3180961 w 291288"/>
              <a:gd name="T107" fmla="*/ 3208396 h 291739"/>
              <a:gd name="T108" fmla="*/ 46558 w 291288"/>
              <a:gd name="T109" fmla="*/ 3208396 h 291739"/>
              <a:gd name="T110" fmla="*/ 6633 w 291288"/>
              <a:gd name="T111" fmla="*/ 3188573 h 291739"/>
              <a:gd name="T112" fmla="*/ 2641 w 291288"/>
              <a:gd name="T113" fmla="*/ 3140984 h 291739"/>
              <a:gd name="T114" fmla="*/ 393917 w 291288"/>
              <a:gd name="T115" fmla="*/ 1848099 h 291739"/>
              <a:gd name="T116" fmla="*/ 441828 w 291288"/>
              <a:gd name="T117" fmla="*/ 1812402 h 291739"/>
              <a:gd name="T118" fmla="*/ 1068706 w 291288"/>
              <a:gd name="T119" fmla="*/ 1812402 h 291739"/>
              <a:gd name="T120" fmla="*/ 713343 w 291288"/>
              <a:gd name="T121" fmla="*/ 896289 h 291739"/>
              <a:gd name="T122" fmla="*/ 1615749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rgbClr val="CC9B00"/>
          </a:solidFill>
          <a:ln>
            <a:noFill/>
          </a:ln>
          <a:effectLst/>
        </p:spPr>
        <p:txBody>
          <a:bodyPr anchor="ctr"/>
          <a:lstStyle/>
          <a:p>
            <a:endParaRPr lang="en-US" sz="900" noProof="0">
              <a:latin typeface="+mj-lt"/>
            </a:endParaRPr>
          </a:p>
        </p:txBody>
      </p:sp>
      <p:sp>
        <p:nvSpPr>
          <p:cNvPr id="17" name="Subtitle 2">
            <a:extLst>
              <a:ext uri="{FF2B5EF4-FFF2-40B4-BE49-F238E27FC236}">
                <a16:creationId xmlns:a16="http://schemas.microsoft.com/office/drawing/2014/main" id="{DFB08387-871D-4E97-8D7A-6E943B0C34BE}"/>
              </a:ext>
            </a:extLst>
          </p:cNvPr>
          <p:cNvSpPr txBox="1">
            <a:spLocks/>
          </p:cNvSpPr>
          <p:nvPr/>
        </p:nvSpPr>
        <p:spPr>
          <a:xfrm>
            <a:off x="5179434" y="2164519"/>
            <a:ext cx="1847149" cy="600164"/>
          </a:xfrm>
          <a:prstGeom prst="rect">
            <a:avLst/>
          </a:prstGeom>
        </p:spPr>
        <p:txBody>
          <a:bodyPr vert="horz" wrap="square" lIns="45720" tIns="22860" rIns="0" bIns="22860" rtlCol="0" anchor="t">
            <a:spAutoFit/>
          </a:bodyPr>
          <a:lstStyle>
            <a:defPPr>
              <a:defRPr lang="en-US"/>
            </a:defPPr>
            <a:lvl1pPr indent="0" defTabSz="1087636">
              <a:lnSpc>
                <a:spcPts val="1750"/>
              </a:lnSpc>
              <a:spcBef>
                <a:spcPct val="20000"/>
              </a:spcBef>
              <a:buFont typeface="Arial"/>
              <a:buNone/>
              <a:defRPr sz="1200">
                <a:latin typeface="+mj-lt"/>
                <a:ea typeface="League Spartan" charset="0"/>
                <a:cs typeface="Poppins" pitchFamily="2"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nSpc>
                <a:spcPct val="100000"/>
              </a:lnSpc>
            </a:pPr>
            <a:r>
              <a:rPr lang="en-US" noProof="0"/>
              <a:t>Key HCP </a:t>
            </a:r>
            <a:r>
              <a:rPr lang="en-US" b="1" noProof="0"/>
              <a:t>redirecting the patient to the targeted HCPs</a:t>
            </a:r>
            <a:r>
              <a:rPr lang="en-US" noProof="0"/>
              <a:t> for NT1 diagnosis or referrals</a:t>
            </a:r>
          </a:p>
        </p:txBody>
      </p:sp>
      <p:sp>
        <p:nvSpPr>
          <p:cNvPr id="51" name="Pentagon 3">
            <a:extLst>
              <a:ext uri="{FF2B5EF4-FFF2-40B4-BE49-F238E27FC236}">
                <a16:creationId xmlns:a16="http://schemas.microsoft.com/office/drawing/2014/main" id="{A78E9A75-EC1D-073D-1C2C-51C04C4AFD9E}"/>
              </a:ext>
            </a:extLst>
          </p:cNvPr>
          <p:cNvSpPr/>
          <p:nvPr/>
        </p:nvSpPr>
        <p:spPr>
          <a:xfrm>
            <a:off x="5071741"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Network Influence: </a:t>
            </a:r>
            <a:r>
              <a:rPr lang="en-US" sz="1050" noProof="0">
                <a:solidFill>
                  <a:schemeClr val="tx1"/>
                </a:solidFill>
                <a:latin typeface="+mj-lt"/>
                <a:ea typeface="League Spartan" charset="0"/>
                <a:cs typeface="Poppins" pitchFamily="2" charset="77"/>
              </a:rPr>
              <a:t>Top ~15% </a:t>
            </a:r>
            <a:r>
              <a:rPr lang="en-US" sz="1050" u="sng" noProof="0">
                <a:solidFill>
                  <a:schemeClr val="tx1"/>
                </a:solidFill>
                <a:latin typeface="+mj-lt"/>
                <a:ea typeface="League Spartan" charset="0"/>
                <a:cs typeface="Poppins" pitchFamily="2" charset="77"/>
              </a:rPr>
              <a:t>betweenness subset centrality</a:t>
            </a:r>
          </a:p>
          <a:p>
            <a:pPr marL="114300" indent="-114300">
              <a:buFont typeface="Arial" panose="020B0604020202020204" pitchFamily="34" charset="0"/>
              <a:buChar char="•"/>
            </a:pPr>
            <a:r>
              <a:rPr lang="en-US" sz="1050" b="1">
                <a:solidFill>
                  <a:schemeClr val="tx1"/>
                </a:solidFill>
                <a:latin typeface="+mj-lt"/>
                <a:ea typeface="League Spartan" charset="0"/>
                <a:cs typeface="Poppins" pitchFamily="2" charset="77"/>
              </a:rPr>
              <a:t>Rerouting Intensity:</a:t>
            </a:r>
            <a:r>
              <a:rPr lang="en-US" sz="1050">
                <a:solidFill>
                  <a:schemeClr val="tx1"/>
                </a:solidFill>
                <a:latin typeface="+mj-lt"/>
                <a:ea typeface="League Spartan" charset="0"/>
                <a:cs typeface="Poppins" pitchFamily="2" charset="77"/>
              </a:rPr>
              <a:t> Min. 2 patients referred out</a:t>
            </a:r>
            <a:endParaRPr lang="en-US" sz="1050" noProof="0">
              <a:solidFill>
                <a:schemeClr val="tx1"/>
              </a:solidFill>
              <a:latin typeface="+mj-lt"/>
              <a:ea typeface="League Spartan" charset="0"/>
              <a:cs typeface="Poppins" pitchFamily="2" charset="77"/>
            </a:endParaRPr>
          </a:p>
          <a:p>
            <a:r>
              <a:rPr lang="en-US" sz="1050" i="1">
                <a:solidFill>
                  <a:schemeClr val="tx1"/>
                </a:solidFill>
                <a:latin typeface="+mj-lt"/>
                <a:ea typeface="League Spartan" charset="0"/>
                <a:cs typeface="Poppins" pitchFamily="2" charset="77"/>
              </a:rPr>
              <a:t>OR</a:t>
            </a:r>
            <a:endParaRPr lang="en-US" sz="1050" i="1" noProof="0">
              <a:solidFill>
                <a:schemeClr val="tx1"/>
              </a:solidFill>
              <a:latin typeface="+mj-lt"/>
              <a:ea typeface="League Spartan" charset="0"/>
              <a:cs typeface="Poppins" pitchFamily="2" charset="77"/>
            </a:endParaRP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Rerouting Value</a:t>
            </a:r>
            <a:r>
              <a:rPr lang="en-US" sz="1050" noProof="0">
                <a:solidFill>
                  <a:schemeClr val="tx1"/>
                </a:solidFill>
                <a:latin typeface="+mj-lt"/>
                <a:ea typeface="League Spartan" charset="0"/>
                <a:cs typeface="Poppins" pitchFamily="2" charset="77"/>
              </a:rPr>
              <a:t>: 25%+ patients received NT Dx/Tx immediately post referral (min n=3)</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Connection Strength</a:t>
            </a:r>
            <a:r>
              <a:rPr lang="en-US" sz="1050" noProof="0">
                <a:solidFill>
                  <a:schemeClr val="tx1"/>
                </a:solidFill>
                <a:latin typeface="+mj-lt"/>
                <a:ea typeface="League Spartan" charset="0"/>
                <a:cs typeface="Poppins" pitchFamily="2" charset="77"/>
              </a:rPr>
              <a:t>: Inbound Referral Connections with ≥ 2 unique HCPs</a:t>
            </a:r>
          </a:p>
        </p:txBody>
      </p:sp>
      <p:sp>
        <p:nvSpPr>
          <p:cNvPr id="52" name="Pentagon 3">
            <a:extLst>
              <a:ext uri="{FF2B5EF4-FFF2-40B4-BE49-F238E27FC236}">
                <a16:creationId xmlns:a16="http://schemas.microsoft.com/office/drawing/2014/main" id="{7329D9E0-BE94-F37C-C74C-9E3731AC22ED}"/>
              </a:ext>
            </a:extLst>
          </p:cNvPr>
          <p:cNvSpPr/>
          <p:nvPr/>
        </p:nvSpPr>
        <p:spPr>
          <a:xfrm>
            <a:off x="5071741" y="3114816"/>
            <a:ext cx="45719" cy="1828800"/>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8" name="Chevron 6">
            <a:extLst>
              <a:ext uri="{FF2B5EF4-FFF2-40B4-BE49-F238E27FC236}">
                <a16:creationId xmlns:a16="http://schemas.microsoft.com/office/drawing/2014/main" id="{7D467CEC-8255-C388-3D3B-DF4A4AD00791}"/>
              </a:ext>
            </a:extLst>
          </p:cNvPr>
          <p:cNvSpPr/>
          <p:nvPr/>
        </p:nvSpPr>
        <p:spPr>
          <a:xfrm>
            <a:off x="7281051" y="1887042"/>
            <a:ext cx="2039674" cy="26665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cs typeface="Poppins" pitchFamily="2" charset="77"/>
              </a:rPr>
              <a:t>Super </a:t>
            </a:r>
            <a:r>
              <a:rPr lang="en-US" sz="1400" b="1" noProof="0" err="1">
                <a:solidFill>
                  <a:schemeClr val="bg1"/>
                </a:solidFill>
                <a:latin typeface="+mj-lt"/>
                <a:cs typeface="Poppins" pitchFamily="2" charset="77"/>
              </a:rPr>
              <a:t>Diagnosers</a:t>
            </a:r>
            <a:endParaRPr lang="en-US" sz="1400" b="1" noProof="0">
              <a:solidFill>
                <a:schemeClr val="bg1"/>
              </a:solidFill>
              <a:latin typeface="+mj-lt"/>
              <a:cs typeface="Poppins" pitchFamily="2" charset="77"/>
            </a:endParaRPr>
          </a:p>
        </p:txBody>
      </p:sp>
      <p:sp>
        <p:nvSpPr>
          <p:cNvPr id="18" name="Subtitle 2">
            <a:extLst>
              <a:ext uri="{FF2B5EF4-FFF2-40B4-BE49-F238E27FC236}">
                <a16:creationId xmlns:a16="http://schemas.microsoft.com/office/drawing/2014/main" id="{4C585F2C-3A36-0B56-5E42-C4BB91D03360}"/>
              </a:ext>
            </a:extLst>
          </p:cNvPr>
          <p:cNvSpPr txBox="1">
            <a:spLocks/>
          </p:cNvSpPr>
          <p:nvPr/>
        </p:nvSpPr>
        <p:spPr>
          <a:xfrm>
            <a:off x="7377314" y="2164519"/>
            <a:ext cx="1847149" cy="600164"/>
          </a:xfrm>
          <a:prstGeom prst="rect">
            <a:avLst/>
          </a:prstGeom>
        </p:spPr>
        <p:txBody>
          <a:bodyPr vert="horz" wrap="square" lIns="45720" tIns="22860" rIns="45720" bIns="22860" rtlCol="0" anchor="t">
            <a:spAutoFit/>
          </a:bodyPr>
          <a:lstStyle>
            <a:defPPr>
              <a:defRPr lang="en-US"/>
            </a:defPPr>
            <a:lvl1pPr indent="0" defTabSz="1087636">
              <a:lnSpc>
                <a:spcPts val="1750"/>
              </a:lnSpc>
              <a:spcBef>
                <a:spcPct val="20000"/>
              </a:spcBef>
              <a:buFont typeface="Arial"/>
              <a:buNone/>
              <a:defRPr sz="1200">
                <a:latin typeface="+mj-lt"/>
                <a:ea typeface="League Spartan" charset="0"/>
                <a:cs typeface="Poppins" pitchFamily="2"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nSpc>
                <a:spcPct val="100000"/>
              </a:lnSpc>
            </a:pPr>
            <a:r>
              <a:rPr lang="en-US" noProof="0"/>
              <a:t>Consistently </a:t>
            </a:r>
            <a:r>
              <a:rPr lang="en-US" b="1" noProof="0"/>
              <a:t>seeing and diagnosing</a:t>
            </a:r>
            <a:r>
              <a:rPr lang="en-US" noProof="0"/>
              <a:t> a high-volume of patients with NT1</a:t>
            </a:r>
          </a:p>
        </p:txBody>
      </p:sp>
      <p:sp>
        <p:nvSpPr>
          <p:cNvPr id="20" name="Freeform: Shape 19">
            <a:extLst>
              <a:ext uri="{FF2B5EF4-FFF2-40B4-BE49-F238E27FC236}">
                <a16:creationId xmlns:a16="http://schemas.microsoft.com/office/drawing/2014/main" id="{BEF8F9EB-4F4A-C057-C633-C764342D37F9}"/>
              </a:ext>
            </a:extLst>
          </p:cNvPr>
          <p:cNvSpPr>
            <a:spLocks noChangeAspect="1"/>
          </p:cNvSpPr>
          <p:nvPr/>
        </p:nvSpPr>
        <p:spPr>
          <a:xfrm>
            <a:off x="8050049" y="1249357"/>
            <a:ext cx="501678" cy="457200"/>
          </a:xfrm>
          <a:custGeom>
            <a:avLst/>
            <a:gdLst>
              <a:gd name="connsiteX0" fmla="*/ 168967 w 856359"/>
              <a:gd name="connsiteY0" fmla="*/ 125369 h 803463"/>
              <a:gd name="connsiteX1" fmla="*/ 138059 w 856359"/>
              <a:gd name="connsiteY1" fmla="*/ 120931 h 803463"/>
              <a:gd name="connsiteX2" fmla="*/ 104654 w 856359"/>
              <a:gd name="connsiteY2" fmla="*/ 141743 h 803463"/>
              <a:gd name="connsiteX3" fmla="*/ 104645 w 856359"/>
              <a:gd name="connsiteY3" fmla="*/ 141762 h 803463"/>
              <a:gd name="connsiteX4" fmla="*/ 95720 w 856359"/>
              <a:gd name="connsiteY4" fmla="*/ 180205 h 803463"/>
              <a:gd name="connsiteX5" fmla="*/ 109903 w 856359"/>
              <a:gd name="connsiteY5" fmla="*/ 207970 h 803463"/>
              <a:gd name="connsiteX6" fmla="*/ 168967 w 856359"/>
              <a:gd name="connsiteY6" fmla="*/ 125369 h 803463"/>
              <a:gd name="connsiteX7" fmla="*/ 168967 w 856359"/>
              <a:gd name="connsiteY7" fmla="*/ 125369 h 803463"/>
              <a:gd name="connsiteX8" fmla="*/ 594049 w 856359"/>
              <a:gd name="connsiteY8" fmla="*/ 131246 h 803463"/>
              <a:gd name="connsiteX9" fmla="*/ 655218 w 856359"/>
              <a:gd name="connsiteY9" fmla="*/ 131246 h 803463"/>
              <a:gd name="connsiteX10" fmla="*/ 663962 w 856359"/>
              <a:gd name="connsiteY10" fmla="*/ 139990 h 803463"/>
              <a:gd name="connsiteX11" fmla="*/ 663962 w 856359"/>
              <a:gd name="connsiteY11" fmla="*/ 192425 h 803463"/>
              <a:gd name="connsiteX12" fmla="*/ 716340 w 856359"/>
              <a:gd name="connsiteY12" fmla="*/ 192425 h 803463"/>
              <a:gd name="connsiteX13" fmla="*/ 725084 w 856359"/>
              <a:gd name="connsiteY13" fmla="*/ 201160 h 803463"/>
              <a:gd name="connsiteX14" fmla="*/ 725084 w 856359"/>
              <a:gd name="connsiteY14" fmla="*/ 262282 h 803463"/>
              <a:gd name="connsiteX15" fmla="*/ 716340 w 856359"/>
              <a:gd name="connsiteY15" fmla="*/ 271026 h 803463"/>
              <a:gd name="connsiteX16" fmla="*/ 663962 w 856359"/>
              <a:gd name="connsiteY16" fmla="*/ 271026 h 803463"/>
              <a:gd name="connsiteX17" fmla="*/ 663962 w 856359"/>
              <a:gd name="connsiteY17" fmla="*/ 323461 h 803463"/>
              <a:gd name="connsiteX18" fmla="*/ 655218 w 856359"/>
              <a:gd name="connsiteY18" fmla="*/ 332205 h 803463"/>
              <a:gd name="connsiteX19" fmla="*/ 594049 w 856359"/>
              <a:gd name="connsiteY19" fmla="*/ 332205 h 803463"/>
              <a:gd name="connsiteX20" fmla="*/ 585315 w 856359"/>
              <a:gd name="connsiteY20" fmla="*/ 323461 h 803463"/>
              <a:gd name="connsiteX21" fmla="*/ 585315 w 856359"/>
              <a:gd name="connsiteY21" fmla="*/ 271026 h 803463"/>
              <a:gd name="connsiteX22" fmla="*/ 532927 w 856359"/>
              <a:gd name="connsiteY22" fmla="*/ 271026 h 803463"/>
              <a:gd name="connsiteX23" fmla="*/ 524183 w 856359"/>
              <a:gd name="connsiteY23" fmla="*/ 262282 h 803463"/>
              <a:gd name="connsiteX24" fmla="*/ 524183 w 856359"/>
              <a:gd name="connsiteY24" fmla="*/ 201160 h 803463"/>
              <a:gd name="connsiteX25" fmla="*/ 532927 w 856359"/>
              <a:gd name="connsiteY25" fmla="*/ 192425 h 803463"/>
              <a:gd name="connsiteX26" fmla="*/ 585315 w 856359"/>
              <a:gd name="connsiteY26" fmla="*/ 192425 h 803463"/>
              <a:gd name="connsiteX27" fmla="*/ 585315 w 856359"/>
              <a:gd name="connsiteY27" fmla="*/ 139981 h 803463"/>
              <a:gd name="connsiteX28" fmla="*/ 594049 w 856359"/>
              <a:gd name="connsiteY28" fmla="*/ 131246 h 803463"/>
              <a:gd name="connsiteX29" fmla="*/ 594049 w 856359"/>
              <a:gd name="connsiteY29" fmla="*/ 131246 h 803463"/>
              <a:gd name="connsiteX30" fmla="*/ 646484 w 856359"/>
              <a:gd name="connsiteY30" fmla="*/ 148725 h 803463"/>
              <a:gd name="connsiteX31" fmla="*/ 602783 w 856359"/>
              <a:gd name="connsiteY31" fmla="*/ 148725 h 803463"/>
              <a:gd name="connsiteX32" fmla="*/ 602783 w 856359"/>
              <a:gd name="connsiteY32" fmla="*/ 201160 h 803463"/>
              <a:gd name="connsiteX33" fmla="*/ 594049 w 856359"/>
              <a:gd name="connsiteY33" fmla="*/ 209894 h 803463"/>
              <a:gd name="connsiteX34" fmla="*/ 541661 w 856359"/>
              <a:gd name="connsiteY34" fmla="*/ 209894 h 803463"/>
              <a:gd name="connsiteX35" fmla="*/ 541661 w 856359"/>
              <a:gd name="connsiteY35" fmla="*/ 253538 h 803463"/>
              <a:gd name="connsiteX36" fmla="*/ 594049 w 856359"/>
              <a:gd name="connsiteY36" fmla="*/ 253538 h 803463"/>
              <a:gd name="connsiteX37" fmla="*/ 602783 w 856359"/>
              <a:gd name="connsiteY37" fmla="*/ 262272 h 803463"/>
              <a:gd name="connsiteX38" fmla="*/ 602783 w 856359"/>
              <a:gd name="connsiteY38" fmla="*/ 314707 h 803463"/>
              <a:gd name="connsiteX39" fmla="*/ 646484 w 856359"/>
              <a:gd name="connsiteY39" fmla="*/ 314707 h 803463"/>
              <a:gd name="connsiteX40" fmla="*/ 646484 w 856359"/>
              <a:gd name="connsiteY40" fmla="*/ 262282 h 803463"/>
              <a:gd name="connsiteX41" fmla="*/ 655218 w 856359"/>
              <a:gd name="connsiteY41" fmla="*/ 253547 h 803463"/>
              <a:gd name="connsiteX42" fmla="*/ 707606 w 856359"/>
              <a:gd name="connsiteY42" fmla="*/ 253547 h 803463"/>
              <a:gd name="connsiteX43" fmla="*/ 707606 w 856359"/>
              <a:gd name="connsiteY43" fmla="*/ 209894 h 803463"/>
              <a:gd name="connsiteX44" fmla="*/ 655218 w 856359"/>
              <a:gd name="connsiteY44" fmla="*/ 209894 h 803463"/>
              <a:gd name="connsiteX45" fmla="*/ 646484 w 856359"/>
              <a:gd name="connsiteY45" fmla="*/ 201160 h 803463"/>
              <a:gd name="connsiteX46" fmla="*/ 646484 w 856359"/>
              <a:gd name="connsiteY46" fmla="*/ 148725 h 803463"/>
              <a:gd name="connsiteX47" fmla="*/ 646484 w 856359"/>
              <a:gd name="connsiteY47" fmla="*/ 148725 h 803463"/>
              <a:gd name="connsiteX48" fmla="*/ 240900 w 856359"/>
              <a:gd name="connsiteY48" fmla="*/ 503931 h 803463"/>
              <a:gd name="connsiteX49" fmla="*/ 270237 w 856359"/>
              <a:gd name="connsiteY49" fmla="*/ 516085 h 803463"/>
              <a:gd name="connsiteX50" fmla="*/ 282391 w 856359"/>
              <a:gd name="connsiteY50" fmla="*/ 545422 h 803463"/>
              <a:gd name="connsiteX51" fmla="*/ 270237 w 856359"/>
              <a:gd name="connsiteY51" fmla="*/ 574759 h 803463"/>
              <a:gd name="connsiteX52" fmla="*/ 240900 w 856359"/>
              <a:gd name="connsiteY52" fmla="*/ 586913 h 803463"/>
              <a:gd name="connsiteX53" fmla="*/ 211563 w 856359"/>
              <a:gd name="connsiteY53" fmla="*/ 574759 h 803463"/>
              <a:gd name="connsiteX54" fmla="*/ 199409 w 856359"/>
              <a:gd name="connsiteY54" fmla="*/ 545422 h 803463"/>
              <a:gd name="connsiteX55" fmla="*/ 211563 w 856359"/>
              <a:gd name="connsiteY55" fmla="*/ 516085 h 803463"/>
              <a:gd name="connsiteX56" fmla="*/ 240900 w 856359"/>
              <a:gd name="connsiteY56" fmla="*/ 503931 h 803463"/>
              <a:gd name="connsiteX57" fmla="*/ 240900 w 856359"/>
              <a:gd name="connsiteY57" fmla="*/ 503931 h 803463"/>
              <a:gd name="connsiteX58" fmla="*/ 257883 w 856359"/>
              <a:gd name="connsiteY58" fmla="*/ 528448 h 803463"/>
              <a:gd name="connsiteX59" fmla="*/ 240900 w 856359"/>
              <a:gd name="connsiteY59" fmla="*/ 521419 h 803463"/>
              <a:gd name="connsiteX60" fmla="*/ 223917 w 856359"/>
              <a:gd name="connsiteY60" fmla="*/ 528448 h 803463"/>
              <a:gd name="connsiteX61" fmla="*/ 216887 w 856359"/>
              <a:gd name="connsiteY61" fmla="*/ 545431 h 803463"/>
              <a:gd name="connsiteX62" fmla="*/ 223917 w 856359"/>
              <a:gd name="connsiteY62" fmla="*/ 562414 h 803463"/>
              <a:gd name="connsiteX63" fmla="*/ 240900 w 856359"/>
              <a:gd name="connsiteY63" fmla="*/ 569444 h 803463"/>
              <a:gd name="connsiteX64" fmla="*/ 257883 w 856359"/>
              <a:gd name="connsiteY64" fmla="*/ 562414 h 803463"/>
              <a:gd name="connsiteX65" fmla="*/ 264913 w 856359"/>
              <a:gd name="connsiteY65" fmla="*/ 545431 h 803463"/>
              <a:gd name="connsiteX66" fmla="*/ 257883 w 856359"/>
              <a:gd name="connsiteY66" fmla="*/ 528448 h 803463"/>
              <a:gd name="connsiteX67" fmla="*/ 257883 w 856359"/>
              <a:gd name="connsiteY67" fmla="*/ 528448 h 803463"/>
              <a:gd name="connsiteX68" fmla="*/ 332026 w 856359"/>
              <a:gd name="connsiteY68" fmla="*/ 568768 h 803463"/>
              <a:gd name="connsiteX69" fmla="*/ 289144 w 856359"/>
              <a:gd name="connsiteY69" fmla="*/ 586532 h 803463"/>
              <a:gd name="connsiteX70" fmla="*/ 271380 w 856359"/>
              <a:gd name="connsiteY70" fmla="*/ 629413 h 803463"/>
              <a:gd name="connsiteX71" fmla="*/ 289144 w 856359"/>
              <a:gd name="connsiteY71" fmla="*/ 672295 h 803463"/>
              <a:gd name="connsiteX72" fmla="*/ 332026 w 856359"/>
              <a:gd name="connsiteY72" fmla="*/ 690059 h 803463"/>
              <a:gd name="connsiteX73" fmla="*/ 374907 w 856359"/>
              <a:gd name="connsiteY73" fmla="*/ 672295 h 803463"/>
              <a:gd name="connsiteX74" fmla="*/ 392671 w 856359"/>
              <a:gd name="connsiteY74" fmla="*/ 629413 h 803463"/>
              <a:gd name="connsiteX75" fmla="*/ 374907 w 856359"/>
              <a:gd name="connsiteY75" fmla="*/ 586532 h 803463"/>
              <a:gd name="connsiteX76" fmla="*/ 332026 w 856359"/>
              <a:gd name="connsiteY76" fmla="*/ 568768 h 803463"/>
              <a:gd name="connsiteX77" fmla="*/ 332026 w 856359"/>
              <a:gd name="connsiteY77" fmla="*/ 568768 h 803463"/>
              <a:gd name="connsiteX78" fmla="*/ 362544 w 856359"/>
              <a:gd name="connsiteY78" fmla="*/ 598886 h 803463"/>
              <a:gd name="connsiteX79" fmla="*/ 375183 w 856359"/>
              <a:gd name="connsiteY79" fmla="*/ 629404 h 803463"/>
              <a:gd name="connsiteX80" fmla="*/ 362544 w 856359"/>
              <a:gd name="connsiteY80" fmla="*/ 659922 h 803463"/>
              <a:gd name="connsiteX81" fmla="*/ 332026 w 856359"/>
              <a:gd name="connsiteY81" fmla="*/ 672562 h 803463"/>
              <a:gd name="connsiteX82" fmla="*/ 301508 w 856359"/>
              <a:gd name="connsiteY82" fmla="*/ 659922 h 803463"/>
              <a:gd name="connsiteX83" fmla="*/ 288868 w 856359"/>
              <a:gd name="connsiteY83" fmla="*/ 629404 h 803463"/>
              <a:gd name="connsiteX84" fmla="*/ 301508 w 856359"/>
              <a:gd name="connsiteY84" fmla="*/ 598886 h 803463"/>
              <a:gd name="connsiteX85" fmla="*/ 332026 w 856359"/>
              <a:gd name="connsiteY85" fmla="*/ 586246 h 803463"/>
              <a:gd name="connsiteX86" fmla="*/ 362544 w 856359"/>
              <a:gd name="connsiteY86" fmla="*/ 598886 h 803463"/>
              <a:gd name="connsiteX87" fmla="*/ 362544 w 856359"/>
              <a:gd name="connsiteY87" fmla="*/ 598886 h 803463"/>
              <a:gd name="connsiteX88" fmla="*/ 175492 w 856359"/>
              <a:gd name="connsiteY88" fmla="*/ 595466 h 803463"/>
              <a:gd name="connsiteX89" fmla="*/ 230927 w 856359"/>
              <a:gd name="connsiteY89" fmla="*/ 618431 h 803463"/>
              <a:gd name="connsiteX90" fmla="*/ 253892 w 856359"/>
              <a:gd name="connsiteY90" fmla="*/ 673866 h 803463"/>
              <a:gd name="connsiteX91" fmla="*/ 230927 w 856359"/>
              <a:gd name="connsiteY91" fmla="*/ 729302 h 803463"/>
              <a:gd name="connsiteX92" fmla="*/ 175492 w 856359"/>
              <a:gd name="connsiteY92" fmla="*/ 752267 h 803463"/>
              <a:gd name="connsiteX93" fmla="*/ 120056 w 856359"/>
              <a:gd name="connsiteY93" fmla="*/ 729302 h 803463"/>
              <a:gd name="connsiteX94" fmla="*/ 97092 w 856359"/>
              <a:gd name="connsiteY94" fmla="*/ 673866 h 803463"/>
              <a:gd name="connsiteX95" fmla="*/ 120056 w 856359"/>
              <a:gd name="connsiteY95" fmla="*/ 618431 h 803463"/>
              <a:gd name="connsiteX96" fmla="*/ 175492 w 856359"/>
              <a:gd name="connsiteY96" fmla="*/ 595466 h 803463"/>
              <a:gd name="connsiteX97" fmla="*/ 175492 w 856359"/>
              <a:gd name="connsiteY97" fmla="*/ 595466 h 803463"/>
              <a:gd name="connsiteX98" fmla="*/ 218564 w 856359"/>
              <a:gd name="connsiteY98" fmla="*/ 630785 h 803463"/>
              <a:gd name="connsiteX99" fmla="*/ 175482 w 856359"/>
              <a:gd name="connsiteY99" fmla="*/ 612945 h 803463"/>
              <a:gd name="connsiteX100" fmla="*/ 132410 w 856359"/>
              <a:gd name="connsiteY100" fmla="*/ 630785 h 803463"/>
              <a:gd name="connsiteX101" fmla="*/ 114570 w 856359"/>
              <a:gd name="connsiteY101" fmla="*/ 673857 h 803463"/>
              <a:gd name="connsiteX102" fmla="*/ 132410 w 856359"/>
              <a:gd name="connsiteY102" fmla="*/ 716939 h 803463"/>
              <a:gd name="connsiteX103" fmla="*/ 175482 w 856359"/>
              <a:gd name="connsiteY103" fmla="*/ 734779 h 803463"/>
              <a:gd name="connsiteX104" fmla="*/ 218564 w 856359"/>
              <a:gd name="connsiteY104" fmla="*/ 716939 h 803463"/>
              <a:gd name="connsiteX105" fmla="*/ 236404 w 856359"/>
              <a:gd name="connsiteY105" fmla="*/ 673857 h 803463"/>
              <a:gd name="connsiteX106" fmla="*/ 218564 w 856359"/>
              <a:gd name="connsiteY106" fmla="*/ 630785 h 803463"/>
              <a:gd name="connsiteX107" fmla="*/ 218564 w 856359"/>
              <a:gd name="connsiteY107" fmla="*/ 630785 h 803463"/>
              <a:gd name="connsiteX108" fmla="*/ 332102 w 856359"/>
              <a:gd name="connsiteY108" fmla="*/ 342168 h 803463"/>
              <a:gd name="connsiteX109" fmla="*/ 352971 w 856359"/>
              <a:gd name="connsiteY109" fmla="*/ 333338 h 803463"/>
              <a:gd name="connsiteX110" fmla="*/ 361801 w 856359"/>
              <a:gd name="connsiteY110" fmla="*/ 312088 h 803463"/>
              <a:gd name="connsiteX111" fmla="*/ 352971 w 856359"/>
              <a:gd name="connsiteY111" fmla="*/ 290838 h 803463"/>
              <a:gd name="connsiteX112" fmla="*/ 331721 w 856359"/>
              <a:gd name="connsiteY112" fmla="*/ 282008 h 803463"/>
              <a:gd name="connsiteX113" fmla="*/ 163243 w 856359"/>
              <a:gd name="connsiteY113" fmla="*/ 282008 h 803463"/>
              <a:gd name="connsiteX114" fmla="*/ 141992 w 856359"/>
              <a:gd name="connsiteY114" fmla="*/ 290838 h 803463"/>
              <a:gd name="connsiteX115" fmla="*/ 133163 w 856359"/>
              <a:gd name="connsiteY115" fmla="*/ 312088 h 803463"/>
              <a:gd name="connsiteX116" fmla="*/ 141992 w 856359"/>
              <a:gd name="connsiteY116" fmla="*/ 333338 h 803463"/>
              <a:gd name="connsiteX117" fmla="*/ 162862 w 856359"/>
              <a:gd name="connsiteY117" fmla="*/ 342168 h 803463"/>
              <a:gd name="connsiteX118" fmla="*/ 162862 w 856359"/>
              <a:gd name="connsiteY118" fmla="*/ 381277 h 803463"/>
              <a:gd name="connsiteX119" fmla="*/ 162185 w 856359"/>
              <a:gd name="connsiteY119" fmla="*/ 389393 h 803463"/>
              <a:gd name="connsiteX120" fmla="*/ 160090 w 856359"/>
              <a:gd name="connsiteY120" fmla="*/ 395851 h 803463"/>
              <a:gd name="connsiteX121" fmla="*/ 159776 w 856359"/>
              <a:gd name="connsiteY121" fmla="*/ 396422 h 803463"/>
              <a:gd name="connsiteX122" fmla="*/ 6880 w 856359"/>
              <a:gd name="connsiteY122" fmla="*/ 702394 h 803463"/>
              <a:gd name="connsiteX123" fmla="*/ 6909 w 856359"/>
              <a:gd name="connsiteY123" fmla="*/ 702403 h 803463"/>
              <a:gd name="connsiteX124" fmla="*/ 222 w 856359"/>
              <a:gd name="connsiteY124" fmla="*/ 736703 h 803463"/>
              <a:gd name="connsiteX125" fmla="*/ 12310 w 856359"/>
              <a:gd name="connsiteY125" fmla="*/ 770869 h 803463"/>
              <a:gd name="connsiteX126" fmla="*/ 38151 w 856359"/>
              <a:gd name="connsiteY126" fmla="*/ 794996 h 803463"/>
              <a:gd name="connsiteX127" fmla="*/ 72412 w 856359"/>
              <a:gd name="connsiteY127" fmla="*/ 803464 h 803463"/>
              <a:gd name="connsiteX128" fmla="*/ 440735 w 856359"/>
              <a:gd name="connsiteY128" fmla="*/ 803464 h 803463"/>
              <a:gd name="connsiteX129" fmla="*/ 475729 w 856359"/>
              <a:gd name="connsiteY129" fmla="*/ 794586 h 803463"/>
              <a:gd name="connsiteX130" fmla="*/ 501714 w 856359"/>
              <a:gd name="connsiteY130" fmla="*/ 769536 h 803463"/>
              <a:gd name="connsiteX131" fmla="*/ 512658 w 856359"/>
              <a:gd name="connsiteY131" fmla="*/ 735122 h 803463"/>
              <a:gd name="connsiteX132" fmla="*/ 505066 w 856359"/>
              <a:gd name="connsiteY132" fmla="*/ 699851 h 803463"/>
              <a:gd name="connsiteX133" fmla="*/ 505066 w 856359"/>
              <a:gd name="connsiteY133" fmla="*/ 699851 h 803463"/>
              <a:gd name="connsiteX134" fmla="*/ 504866 w 856359"/>
              <a:gd name="connsiteY134" fmla="*/ 699470 h 803463"/>
              <a:gd name="connsiteX135" fmla="*/ 335864 w 856359"/>
              <a:gd name="connsiteY135" fmla="*/ 396879 h 803463"/>
              <a:gd name="connsiteX136" fmla="*/ 332950 w 856359"/>
              <a:gd name="connsiteY136" fmla="*/ 389164 h 803463"/>
              <a:gd name="connsiteX137" fmla="*/ 332102 w 856359"/>
              <a:gd name="connsiteY137" fmla="*/ 380182 h 803463"/>
              <a:gd name="connsiteX138" fmla="*/ 332102 w 856359"/>
              <a:gd name="connsiteY138" fmla="*/ 342168 h 803463"/>
              <a:gd name="connsiteX139" fmla="*/ 332102 w 856359"/>
              <a:gd name="connsiteY139" fmla="*/ 342168 h 803463"/>
              <a:gd name="connsiteX140" fmla="*/ 180331 w 856359"/>
              <a:gd name="connsiteY140" fmla="*/ 342168 h 803463"/>
              <a:gd name="connsiteX141" fmla="*/ 180331 w 856359"/>
              <a:gd name="connsiteY141" fmla="*/ 381277 h 803463"/>
              <a:gd name="connsiteX142" fmla="*/ 179311 w 856359"/>
              <a:gd name="connsiteY142" fmla="*/ 392746 h 803463"/>
              <a:gd name="connsiteX143" fmla="*/ 175730 w 856359"/>
              <a:gd name="connsiteY143" fmla="*/ 403490 h 803463"/>
              <a:gd name="connsiteX144" fmla="*/ 175416 w 856359"/>
              <a:gd name="connsiteY144" fmla="*/ 404214 h 803463"/>
              <a:gd name="connsiteX145" fmla="*/ 22520 w 856359"/>
              <a:gd name="connsiteY145" fmla="*/ 710176 h 803463"/>
              <a:gd name="connsiteX146" fmla="*/ 22492 w 856359"/>
              <a:gd name="connsiteY146" fmla="*/ 710166 h 803463"/>
              <a:gd name="connsiteX147" fmla="*/ 22482 w 856359"/>
              <a:gd name="connsiteY147" fmla="*/ 710176 h 803463"/>
              <a:gd name="connsiteX148" fmla="*/ 17624 w 856359"/>
              <a:gd name="connsiteY148" fmla="*/ 735341 h 803463"/>
              <a:gd name="connsiteX149" fmla="*/ 26911 w 856359"/>
              <a:gd name="connsiteY149" fmla="*/ 761392 h 803463"/>
              <a:gd name="connsiteX150" fmla="*/ 46409 w 856359"/>
              <a:gd name="connsiteY150" fmla="*/ 779642 h 803463"/>
              <a:gd name="connsiteX151" fmla="*/ 72412 w 856359"/>
              <a:gd name="connsiteY151" fmla="*/ 785985 h 803463"/>
              <a:gd name="connsiteX152" fmla="*/ 440735 w 856359"/>
              <a:gd name="connsiteY152" fmla="*/ 785985 h 803463"/>
              <a:gd name="connsiteX153" fmla="*/ 467262 w 856359"/>
              <a:gd name="connsiteY153" fmla="*/ 779365 h 803463"/>
              <a:gd name="connsiteX154" fmla="*/ 486893 w 856359"/>
              <a:gd name="connsiteY154" fmla="*/ 760325 h 803463"/>
              <a:gd name="connsiteX155" fmla="*/ 495246 w 856359"/>
              <a:gd name="connsiteY155" fmla="*/ 734303 h 803463"/>
              <a:gd name="connsiteX156" fmla="*/ 489464 w 856359"/>
              <a:gd name="connsiteY156" fmla="*/ 707642 h 803463"/>
              <a:gd name="connsiteX157" fmla="*/ 320634 w 856359"/>
              <a:gd name="connsiteY157" fmla="*/ 405347 h 803463"/>
              <a:gd name="connsiteX158" fmla="*/ 315881 w 856359"/>
              <a:gd name="connsiteY158" fmla="*/ 392860 h 803463"/>
              <a:gd name="connsiteX159" fmla="*/ 314624 w 856359"/>
              <a:gd name="connsiteY159" fmla="*/ 380192 h 803463"/>
              <a:gd name="connsiteX160" fmla="*/ 314624 w 856359"/>
              <a:gd name="connsiteY160" fmla="*/ 342168 h 803463"/>
              <a:gd name="connsiteX161" fmla="*/ 180331 w 856359"/>
              <a:gd name="connsiteY161" fmla="*/ 342168 h 803463"/>
              <a:gd name="connsiteX162" fmla="*/ 180331 w 856359"/>
              <a:gd name="connsiteY162" fmla="*/ 342168 h 803463"/>
              <a:gd name="connsiteX163" fmla="*/ 331721 w 856359"/>
              <a:gd name="connsiteY163" fmla="*/ 299486 h 803463"/>
              <a:gd name="connsiteX164" fmla="*/ 340617 w 856359"/>
              <a:gd name="connsiteY164" fmla="*/ 303192 h 803463"/>
              <a:gd name="connsiteX165" fmla="*/ 344322 w 856359"/>
              <a:gd name="connsiteY165" fmla="*/ 312088 h 803463"/>
              <a:gd name="connsiteX166" fmla="*/ 340617 w 856359"/>
              <a:gd name="connsiteY166" fmla="*/ 320984 h 803463"/>
              <a:gd name="connsiteX167" fmla="*/ 331721 w 856359"/>
              <a:gd name="connsiteY167" fmla="*/ 324689 h 803463"/>
              <a:gd name="connsiteX168" fmla="*/ 323367 w 856359"/>
              <a:gd name="connsiteY168" fmla="*/ 324689 h 803463"/>
              <a:gd name="connsiteX169" fmla="*/ 171596 w 856359"/>
              <a:gd name="connsiteY169" fmla="*/ 324689 h 803463"/>
              <a:gd name="connsiteX170" fmla="*/ 163243 w 856359"/>
              <a:gd name="connsiteY170" fmla="*/ 324689 h 803463"/>
              <a:gd name="connsiteX171" fmla="*/ 154346 w 856359"/>
              <a:gd name="connsiteY171" fmla="*/ 320984 h 803463"/>
              <a:gd name="connsiteX172" fmla="*/ 150632 w 856359"/>
              <a:gd name="connsiteY172" fmla="*/ 312088 h 803463"/>
              <a:gd name="connsiteX173" fmla="*/ 154346 w 856359"/>
              <a:gd name="connsiteY173" fmla="*/ 303192 h 803463"/>
              <a:gd name="connsiteX174" fmla="*/ 163243 w 856359"/>
              <a:gd name="connsiteY174" fmla="*/ 299486 h 803463"/>
              <a:gd name="connsiteX175" fmla="*/ 331721 w 856359"/>
              <a:gd name="connsiteY175" fmla="*/ 299486 h 803463"/>
              <a:gd name="connsiteX176" fmla="*/ 331721 w 856359"/>
              <a:gd name="connsiteY176" fmla="*/ 299486 h 803463"/>
              <a:gd name="connsiteX177" fmla="*/ 682098 w 856359"/>
              <a:gd name="connsiteY177" fmla="*/ 456258 h 803463"/>
              <a:gd name="connsiteX178" fmla="*/ 790626 w 856359"/>
              <a:gd name="connsiteY178" fmla="*/ 393422 h 803463"/>
              <a:gd name="connsiteX179" fmla="*/ 856339 w 856359"/>
              <a:gd name="connsiteY179" fmla="*/ 228706 h 803463"/>
              <a:gd name="connsiteX180" fmla="*/ 786330 w 856359"/>
              <a:gd name="connsiteY180" fmla="*/ 65733 h 803463"/>
              <a:gd name="connsiteX181" fmla="*/ 621614 w 856359"/>
              <a:gd name="connsiteY181" fmla="*/ 20 h 803463"/>
              <a:gd name="connsiteX182" fmla="*/ 458632 w 856359"/>
              <a:gd name="connsiteY182" fmla="*/ 70029 h 803463"/>
              <a:gd name="connsiteX183" fmla="*/ 392919 w 856359"/>
              <a:gd name="connsiteY183" fmla="*/ 234745 h 803463"/>
              <a:gd name="connsiteX184" fmla="*/ 462918 w 856359"/>
              <a:gd name="connsiteY184" fmla="*/ 397718 h 803463"/>
              <a:gd name="connsiteX185" fmla="*/ 568874 w 856359"/>
              <a:gd name="connsiteY185" fmla="*/ 456706 h 803463"/>
              <a:gd name="connsiteX186" fmla="*/ 569151 w 856359"/>
              <a:gd name="connsiteY186" fmla="*/ 540012 h 803463"/>
              <a:gd name="connsiteX187" fmla="*/ 559959 w 856359"/>
              <a:gd name="connsiteY187" fmla="*/ 545698 h 803463"/>
              <a:gd name="connsiteX188" fmla="*/ 544862 w 856359"/>
              <a:gd name="connsiteY188" fmla="*/ 574749 h 803463"/>
              <a:gd name="connsiteX189" fmla="*/ 543586 w 856359"/>
              <a:gd name="connsiteY189" fmla="*/ 762792 h 803463"/>
              <a:gd name="connsiteX190" fmla="*/ 558206 w 856359"/>
              <a:gd name="connsiteY190" fmla="*/ 791834 h 803463"/>
              <a:gd name="connsiteX191" fmla="*/ 591363 w 856359"/>
              <a:gd name="connsiteY191" fmla="*/ 803178 h 803463"/>
              <a:gd name="connsiteX192" fmla="*/ 656295 w 856359"/>
              <a:gd name="connsiteY192" fmla="*/ 803454 h 803463"/>
              <a:gd name="connsiteX193" fmla="*/ 689756 w 856359"/>
              <a:gd name="connsiteY193" fmla="*/ 792453 h 803463"/>
              <a:gd name="connsiteX194" fmla="*/ 704844 w 856359"/>
              <a:gd name="connsiteY194" fmla="*/ 763411 h 803463"/>
              <a:gd name="connsiteX195" fmla="*/ 706111 w 856359"/>
              <a:gd name="connsiteY195" fmla="*/ 576235 h 803463"/>
              <a:gd name="connsiteX196" fmla="*/ 706149 w 856359"/>
              <a:gd name="connsiteY196" fmla="*/ 575407 h 803463"/>
              <a:gd name="connsiteX197" fmla="*/ 706149 w 856359"/>
              <a:gd name="connsiteY197" fmla="*/ 575368 h 803463"/>
              <a:gd name="connsiteX198" fmla="*/ 706120 w 856359"/>
              <a:gd name="connsiteY198" fmla="*/ 575368 h 803463"/>
              <a:gd name="connsiteX199" fmla="*/ 691490 w 856359"/>
              <a:gd name="connsiteY199" fmla="*/ 546327 h 803463"/>
              <a:gd name="connsiteX200" fmla="*/ 682384 w 856359"/>
              <a:gd name="connsiteY200" fmla="*/ 540536 h 803463"/>
              <a:gd name="connsiteX201" fmla="*/ 682098 w 856359"/>
              <a:gd name="connsiteY201" fmla="*/ 456258 h 803463"/>
              <a:gd name="connsiteX202" fmla="*/ 682098 w 856359"/>
              <a:gd name="connsiteY202" fmla="*/ 456258 h 803463"/>
              <a:gd name="connsiteX203" fmla="*/ 625786 w 856359"/>
              <a:gd name="connsiteY203" fmla="*/ 552232 h 803463"/>
              <a:gd name="connsiteX204" fmla="*/ 658152 w 856359"/>
              <a:gd name="connsiteY204" fmla="*/ 552366 h 803463"/>
              <a:gd name="connsiteX205" fmla="*/ 658219 w 856359"/>
              <a:gd name="connsiteY205" fmla="*/ 552366 h 803463"/>
              <a:gd name="connsiteX206" fmla="*/ 680498 w 856359"/>
              <a:gd name="connsiteY206" fmla="*/ 559814 h 803463"/>
              <a:gd name="connsiteX207" fmla="*/ 688708 w 856359"/>
              <a:gd name="connsiteY207" fmla="*/ 575302 h 803463"/>
              <a:gd name="connsiteX208" fmla="*/ 688708 w 856359"/>
              <a:gd name="connsiteY208" fmla="*/ 575330 h 803463"/>
              <a:gd name="connsiteX209" fmla="*/ 688670 w 856359"/>
              <a:gd name="connsiteY209" fmla="*/ 575330 h 803463"/>
              <a:gd name="connsiteX210" fmla="*/ 688670 w 856359"/>
              <a:gd name="connsiteY210" fmla="*/ 575368 h 803463"/>
              <a:gd name="connsiteX211" fmla="*/ 688699 w 856359"/>
              <a:gd name="connsiteY211" fmla="*/ 576083 h 803463"/>
              <a:gd name="connsiteX212" fmla="*/ 687432 w 856359"/>
              <a:gd name="connsiteY212" fmla="*/ 763306 h 803463"/>
              <a:gd name="connsiteX213" fmla="*/ 678964 w 856359"/>
              <a:gd name="connsiteY213" fmla="*/ 778699 h 803463"/>
              <a:gd name="connsiteX214" fmla="*/ 656362 w 856359"/>
              <a:gd name="connsiteY214" fmla="*/ 786014 h 803463"/>
              <a:gd name="connsiteX215" fmla="*/ 591439 w 856359"/>
              <a:gd name="connsiteY215" fmla="*/ 785738 h 803463"/>
              <a:gd name="connsiteX216" fmla="*/ 569198 w 856359"/>
              <a:gd name="connsiteY216" fmla="*/ 778289 h 803463"/>
              <a:gd name="connsiteX217" fmla="*/ 560997 w 856359"/>
              <a:gd name="connsiteY217" fmla="*/ 762830 h 803463"/>
              <a:gd name="connsiteX218" fmla="*/ 562274 w 856359"/>
              <a:gd name="connsiteY218" fmla="*/ 574797 h 803463"/>
              <a:gd name="connsiteX219" fmla="*/ 570751 w 856359"/>
              <a:gd name="connsiteY219" fmla="*/ 559405 h 803463"/>
              <a:gd name="connsiteX220" fmla="*/ 588248 w 856359"/>
              <a:gd name="connsiteY220" fmla="*/ 552394 h 803463"/>
              <a:gd name="connsiteX221" fmla="*/ 625786 w 856359"/>
              <a:gd name="connsiteY221" fmla="*/ 552232 h 803463"/>
              <a:gd name="connsiteX222" fmla="*/ 625786 w 856359"/>
              <a:gd name="connsiteY222" fmla="*/ 552232 h 803463"/>
              <a:gd name="connsiteX223" fmla="*/ 586305 w 856359"/>
              <a:gd name="connsiteY223" fmla="*/ 460297 h 803463"/>
              <a:gd name="connsiteX224" fmla="*/ 627644 w 856359"/>
              <a:gd name="connsiteY224" fmla="*/ 463431 h 803463"/>
              <a:gd name="connsiteX225" fmla="*/ 664696 w 856359"/>
              <a:gd name="connsiteY225" fmla="*/ 459992 h 803463"/>
              <a:gd name="connsiteX226" fmla="*/ 664944 w 856359"/>
              <a:gd name="connsiteY226" fmla="*/ 534659 h 803463"/>
              <a:gd name="connsiteX227" fmla="*/ 625796 w 856359"/>
              <a:gd name="connsiteY227" fmla="*/ 534830 h 803463"/>
              <a:gd name="connsiteX228" fmla="*/ 593411 w 856359"/>
              <a:gd name="connsiteY228" fmla="*/ 534697 h 803463"/>
              <a:gd name="connsiteX229" fmla="*/ 587229 w 856359"/>
              <a:gd name="connsiteY229" fmla="*/ 535001 h 803463"/>
              <a:gd name="connsiteX230" fmla="*/ 586553 w 856359"/>
              <a:gd name="connsiteY230" fmla="*/ 535001 h 803463"/>
              <a:gd name="connsiteX231" fmla="*/ 586305 w 856359"/>
              <a:gd name="connsiteY231" fmla="*/ 460297 h 803463"/>
              <a:gd name="connsiteX232" fmla="*/ 586305 w 856359"/>
              <a:gd name="connsiteY232" fmla="*/ 460297 h 803463"/>
              <a:gd name="connsiteX233" fmla="*/ 622624 w 856359"/>
              <a:gd name="connsiteY233" fmla="*/ 69572 h 803463"/>
              <a:gd name="connsiteX234" fmla="*/ 622624 w 856359"/>
              <a:gd name="connsiteY234" fmla="*/ 69610 h 803463"/>
              <a:gd name="connsiteX235" fmla="*/ 622519 w 856359"/>
              <a:gd name="connsiteY235" fmla="*/ 69610 h 803463"/>
              <a:gd name="connsiteX236" fmla="*/ 508486 w 856359"/>
              <a:gd name="connsiteY236" fmla="*/ 118588 h 803463"/>
              <a:gd name="connsiteX237" fmla="*/ 462509 w 856359"/>
              <a:gd name="connsiteY237" fmla="*/ 233021 h 803463"/>
              <a:gd name="connsiteX238" fmla="*/ 462480 w 856359"/>
              <a:gd name="connsiteY238" fmla="*/ 233726 h 803463"/>
              <a:gd name="connsiteX239" fmla="*/ 462518 w 856359"/>
              <a:gd name="connsiteY239" fmla="*/ 233726 h 803463"/>
              <a:gd name="connsiteX240" fmla="*/ 462518 w 856359"/>
              <a:gd name="connsiteY240" fmla="*/ 233830 h 803463"/>
              <a:gd name="connsiteX241" fmla="*/ 511496 w 856359"/>
              <a:gd name="connsiteY241" fmla="*/ 347864 h 803463"/>
              <a:gd name="connsiteX242" fmla="*/ 626739 w 856359"/>
              <a:gd name="connsiteY242" fmla="*/ 393841 h 803463"/>
              <a:gd name="connsiteX243" fmla="*/ 740772 w 856359"/>
              <a:gd name="connsiteY243" fmla="*/ 344863 h 803463"/>
              <a:gd name="connsiteX244" fmla="*/ 786749 w 856359"/>
              <a:gd name="connsiteY244" fmla="*/ 230430 h 803463"/>
              <a:gd name="connsiteX245" fmla="*/ 786778 w 856359"/>
              <a:gd name="connsiteY245" fmla="*/ 229716 h 803463"/>
              <a:gd name="connsiteX246" fmla="*/ 786749 w 856359"/>
              <a:gd name="connsiteY246" fmla="*/ 229716 h 803463"/>
              <a:gd name="connsiteX247" fmla="*/ 786749 w 856359"/>
              <a:gd name="connsiteY247" fmla="*/ 229611 h 803463"/>
              <a:gd name="connsiteX248" fmla="*/ 737772 w 856359"/>
              <a:gd name="connsiteY248" fmla="*/ 115578 h 803463"/>
              <a:gd name="connsiteX249" fmla="*/ 623338 w 856359"/>
              <a:gd name="connsiteY249" fmla="*/ 69600 h 803463"/>
              <a:gd name="connsiteX250" fmla="*/ 622624 w 856359"/>
              <a:gd name="connsiteY250" fmla="*/ 69572 h 803463"/>
              <a:gd name="connsiteX251" fmla="*/ 622624 w 856359"/>
              <a:gd name="connsiteY251" fmla="*/ 69572 h 803463"/>
              <a:gd name="connsiteX252" fmla="*/ 622633 w 856359"/>
              <a:gd name="connsiteY252" fmla="*/ 87050 h 803463"/>
              <a:gd name="connsiteX253" fmla="*/ 622633 w 856359"/>
              <a:gd name="connsiteY253" fmla="*/ 87022 h 803463"/>
              <a:gd name="connsiteX254" fmla="*/ 520992 w 856359"/>
              <a:gd name="connsiteY254" fmla="*/ 130741 h 803463"/>
              <a:gd name="connsiteX255" fmla="*/ 479930 w 856359"/>
              <a:gd name="connsiteY255" fmla="*/ 232907 h 803463"/>
              <a:gd name="connsiteX256" fmla="*/ 479968 w 856359"/>
              <a:gd name="connsiteY256" fmla="*/ 233726 h 803463"/>
              <a:gd name="connsiteX257" fmla="*/ 479939 w 856359"/>
              <a:gd name="connsiteY257" fmla="*/ 233726 h 803463"/>
              <a:gd name="connsiteX258" fmla="*/ 523659 w 856359"/>
              <a:gd name="connsiteY258" fmla="*/ 335367 h 803463"/>
              <a:gd name="connsiteX259" fmla="*/ 626548 w 856359"/>
              <a:gd name="connsiteY259" fmla="*/ 376420 h 803463"/>
              <a:gd name="connsiteX260" fmla="*/ 728294 w 856359"/>
              <a:gd name="connsiteY260" fmla="*/ 332700 h 803463"/>
              <a:gd name="connsiteX261" fmla="*/ 769357 w 856359"/>
              <a:gd name="connsiteY261" fmla="*/ 230535 h 803463"/>
              <a:gd name="connsiteX262" fmla="*/ 769318 w 856359"/>
              <a:gd name="connsiteY262" fmla="*/ 229706 h 803463"/>
              <a:gd name="connsiteX263" fmla="*/ 769347 w 856359"/>
              <a:gd name="connsiteY263" fmla="*/ 229706 h 803463"/>
              <a:gd name="connsiteX264" fmla="*/ 725627 w 856359"/>
              <a:gd name="connsiteY264" fmla="*/ 128065 h 803463"/>
              <a:gd name="connsiteX265" fmla="*/ 623462 w 856359"/>
              <a:gd name="connsiteY265" fmla="*/ 87003 h 803463"/>
              <a:gd name="connsiteX266" fmla="*/ 622633 w 856359"/>
              <a:gd name="connsiteY266" fmla="*/ 87050 h 803463"/>
              <a:gd name="connsiteX267" fmla="*/ 622633 w 856359"/>
              <a:gd name="connsiteY267" fmla="*/ 87050 h 803463"/>
              <a:gd name="connsiteX268" fmla="*/ 774186 w 856359"/>
              <a:gd name="connsiteY268" fmla="*/ 78221 h 803463"/>
              <a:gd name="connsiteX269" fmla="*/ 621824 w 856359"/>
              <a:gd name="connsiteY269" fmla="*/ 17422 h 803463"/>
              <a:gd name="connsiteX270" fmla="*/ 471138 w 856359"/>
              <a:gd name="connsiteY270" fmla="*/ 82173 h 803463"/>
              <a:gd name="connsiteX271" fmla="*/ 410340 w 856359"/>
              <a:gd name="connsiteY271" fmla="*/ 234535 h 803463"/>
              <a:gd name="connsiteX272" fmla="*/ 475091 w 856359"/>
              <a:gd name="connsiteY272" fmla="*/ 385221 h 803463"/>
              <a:gd name="connsiteX273" fmla="*/ 627453 w 856359"/>
              <a:gd name="connsiteY273" fmla="*/ 446019 h 803463"/>
              <a:gd name="connsiteX274" fmla="*/ 778139 w 856359"/>
              <a:gd name="connsiteY274" fmla="*/ 381268 h 803463"/>
              <a:gd name="connsiteX275" fmla="*/ 838937 w 856359"/>
              <a:gd name="connsiteY275" fmla="*/ 228906 h 803463"/>
              <a:gd name="connsiteX276" fmla="*/ 774186 w 856359"/>
              <a:gd name="connsiteY276" fmla="*/ 78221 h 803463"/>
              <a:gd name="connsiteX277" fmla="*/ 774186 w 856359"/>
              <a:gd name="connsiteY277" fmla="*/ 78221 h 803463"/>
              <a:gd name="connsiteX278" fmla="*/ 256026 w 856359"/>
              <a:gd name="connsiteY278" fmla="*/ 127293 h 803463"/>
              <a:gd name="connsiteX279" fmla="*/ 256054 w 856359"/>
              <a:gd name="connsiteY279" fmla="*/ 127274 h 803463"/>
              <a:gd name="connsiteX280" fmla="*/ 256073 w 856359"/>
              <a:gd name="connsiteY280" fmla="*/ 127265 h 803463"/>
              <a:gd name="connsiteX281" fmla="*/ 304632 w 856359"/>
              <a:gd name="connsiteY281" fmla="*/ 97204 h 803463"/>
              <a:gd name="connsiteX282" fmla="*/ 306013 w 856359"/>
              <a:gd name="connsiteY282" fmla="*/ 96356 h 803463"/>
              <a:gd name="connsiteX283" fmla="*/ 340703 w 856359"/>
              <a:gd name="connsiteY283" fmla="*/ 91041 h 803463"/>
              <a:gd name="connsiteX284" fmla="*/ 369430 w 856359"/>
              <a:gd name="connsiteY284" fmla="*/ 111282 h 803463"/>
              <a:gd name="connsiteX285" fmla="*/ 370326 w 856359"/>
              <a:gd name="connsiteY285" fmla="*/ 112739 h 803463"/>
              <a:gd name="connsiteX286" fmla="*/ 375641 w 856359"/>
              <a:gd name="connsiteY286" fmla="*/ 147439 h 803463"/>
              <a:gd name="connsiteX287" fmla="*/ 354667 w 856359"/>
              <a:gd name="connsiteY287" fmla="*/ 176623 h 803463"/>
              <a:gd name="connsiteX288" fmla="*/ 305460 w 856359"/>
              <a:gd name="connsiteY288" fmla="*/ 207084 h 803463"/>
              <a:gd name="connsiteX289" fmla="*/ 305441 w 856359"/>
              <a:gd name="connsiteY289" fmla="*/ 207094 h 803463"/>
              <a:gd name="connsiteX290" fmla="*/ 305432 w 856359"/>
              <a:gd name="connsiteY290" fmla="*/ 207103 h 803463"/>
              <a:gd name="connsiteX291" fmla="*/ 256873 w 856359"/>
              <a:gd name="connsiteY291" fmla="*/ 237164 h 803463"/>
              <a:gd name="connsiteX292" fmla="*/ 255492 w 856359"/>
              <a:gd name="connsiteY292" fmla="*/ 238002 h 803463"/>
              <a:gd name="connsiteX293" fmla="*/ 220802 w 856359"/>
              <a:gd name="connsiteY293" fmla="*/ 243317 h 803463"/>
              <a:gd name="connsiteX294" fmla="*/ 192237 w 856359"/>
              <a:gd name="connsiteY294" fmla="*/ 223315 h 803463"/>
              <a:gd name="connsiteX295" fmla="*/ 157785 w 856359"/>
              <a:gd name="connsiteY295" fmla="*/ 239717 h 803463"/>
              <a:gd name="connsiteX296" fmla="*/ 106436 w 856359"/>
              <a:gd name="connsiteY296" fmla="*/ 227792 h 803463"/>
              <a:gd name="connsiteX297" fmla="*/ 106436 w 856359"/>
              <a:gd name="connsiteY297" fmla="*/ 227792 h 803463"/>
              <a:gd name="connsiteX298" fmla="*/ 78508 w 856359"/>
              <a:gd name="connsiteY298" fmla="*/ 182977 h 803463"/>
              <a:gd name="connsiteX299" fmla="*/ 90434 w 856359"/>
              <a:gd name="connsiteY299" fmla="*/ 131627 h 803463"/>
              <a:gd name="connsiteX300" fmla="*/ 135249 w 856359"/>
              <a:gd name="connsiteY300" fmla="*/ 103700 h 803463"/>
              <a:gd name="connsiteX301" fmla="*/ 186579 w 856359"/>
              <a:gd name="connsiteY301" fmla="*/ 115616 h 803463"/>
              <a:gd name="connsiteX302" fmla="*/ 186588 w 856359"/>
              <a:gd name="connsiteY302" fmla="*/ 115625 h 803463"/>
              <a:gd name="connsiteX303" fmla="*/ 186588 w 856359"/>
              <a:gd name="connsiteY303" fmla="*/ 115625 h 803463"/>
              <a:gd name="connsiteX304" fmla="*/ 186598 w 856359"/>
              <a:gd name="connsiteY304" fmla="*/ 115635 h 803463"/>
              <a:gd name="connsiteX305" fmla="*/ 186598 w 856359"/>
              <a:gd name="connsiteY305" fmla="*/ 115635 h 803463"/>
              <a:gd name="connsiteX306" fmla="*/ 213077 w 856359"/>
              <a:gd name="connsiteY306" fmla="*/ 153849 h 803463"/>
              <a:gd name="connsiteX307" fmla="*/ 256026 w 856359"/>
              <a:gd name="connsiteY307" fmla="*/ 127293 h 803463"/>
              <a:gd name="connsiteX308" fmla="*/ 256026 w 856359"/>
              <a:gd name="connsiteY308" fmla="*/ 127293 h 803463"/>
              <a:gd name="connsiteX309" fmla="*/ 272609 w 856359"/>
              <a:gd name="connsiteY309" fmla="*/ 137514 h 803463"/>
              <a:gd name="connsiteX310" fmla="*/ 303689 w 856359"/>
              <a:gd name="connsiteY310" fmla="*/ 187720 h 803463"/>
              <a:gd name="connsiteX311" fmla="*/ 345513 w 856359"/>
              <a:gd name="connsiteY311" fmla="*/ 161831 h 803463"/>
              <a:gd name="connsiteX312" fmla="*/ 358629 w 856359"/>
              <a:gd name="connsiteY312" fmla="*/ 143495 h 803463"/>
              <a:gd name="connsiteX313" fmla="*/ 355067 w 856359"/>
              <a:gd name="connsiteY313" fmla="*/ 121188 h 803463"/>
              <a:gd name="connsiteX314" fmla="*/ 355057 w 856359"/>
              <a:gd name="connsiteY314" fmla="*/ 121178 h 803463"/>
              <a:gd name="connsiteX315" fmla="*/ 336722 w 856359"/>
              <a:gd name="connsiteY315" fmla="*/ 108062 h 803463"/>
              <a:gd name="connsiteX316" fmla="*/ 314414 w 856359"/>
              <a:gd name="connsiteY316" fmla="*/ 111634 h 803463"/>
              <a:gd name="connsiteX317" fmla="*/ 272609 w 856359"/>
              <a:gd name="connsiteY317" fmla="*/ 137514 h 803463"/>
              <a:gd name="connsiteX318" fmla="*/ 272609 w 856359"/>
              <a:gd name="connsiteY318" fmla="*/ 137514 h 803463"/>
              <a:gd name="connsiteX319" fmla="*/ 288887 w 856359"/>
              <a:gd name="connsiteY319" fmla="*/ 196883 h 803463"/>
              <a:gd name="connsiteX320" fmla="*/ 257807 w 856359"/>
              <a:gd name="connsiteY320" fmla="*/ 146677 h 803463"/>
              <a:gd name="connsiteX321" fmla="*/ 215973 w 856359"/>
              <a:gd name="connsiteY321" fmla="*/ 172566 h 803463"/>
              <a:gd name="connsiteX322" fmla="*/ 215449 w 856359"/>
              <a:gd name="connsiteY322" fmla="*/ 172909 h 803463"/>
              <a:gd name="connsiteX323" fmla="*/ 204362 w 856359"/>
              <a:gd name="connsiteY323" fmla="*/ 209218 h 803463"/>
              <a:gd name="connsiteX324" fmla="*/ 204476 w 856359"/>
              <a:gd name="connsiteY324" fmla="*/ 209494 h 803463"/>
              <a:gd name="connsiteX325" fmla="*/ 206410 w 856359"/>
              <a:gd name="connsiteY325" fmla="*/ 213199 h 803463"/>
              <a:gd name="connsiteX326" fmla="*/ 206420 w 856359"/>
              <a:gd name="connsiteY326" fmla="*/ 213209 h 803463"/>
              <a:gd name="connsiteX327" fmla="*/ 224755 w 856359"/>
              <a:gd name="connsiteY327" fmla="*/ 226325 h 803463"/>
              <a:gd name="connsiteX328" fmla="*/ 247063 w 856359"/>
              <a:gd name="connsiteY328" fmla="*/ 222762 h 803463"/>
              <a:gd name="connsiteX329" fmla="*/ 288887 w 856359"/>
              <a:gd name="connsiteY329" fmla="*/ 196883 h 803463"/>
              <a:gd name="connsiteX330" fmla="*/ 288887 w 856359"/>
              <a:gd name="connsiteY330" fmla="*/ 196883 h 803463"/>
              <a:gd name="connsiteX331" fmla="*/ 124076 w 856359"/>
              <a:gd name="connsiteY331" fmla="*/ 218095 h 803463"/>
              <a:gd name="connsiteX332" fmla="*/ 183150 w 856359"/>
              <a:gd name="connsiteY332" fmla="*/ 135504 h 803463"/>
              <a:gd name="connsiteX333" fmla="*/ 197333 w 856359"/>
              <a:gd name="connsiteY333" fmla="*/ 163269 h 803463"/>
              <a:gd name="connsiteX334" fmla="*/ 188770 w 856359"/>
              <a:gd name="connsiteY334" fmla="*/ 201207 h 803463"/>
              <a:gd name="connsiteX335" fmla="*/ 188065 w 856359"/>
              <a:gd name="connsiteY335" fmla="*/ 202188 h 803463"/>
              <a:gd name="connsiteX336" fmla="*/ 154994 w 856359"/>
              <a:gd name="connsiteY336" fmla="*/ 222534 h 803463"/>
              <a:gd name="connsiteX337" fmla="*/ 124076 w 856359"/>
              <a:gd name="connsiteY337" fmla="*/ 218095 h 80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Lst>
            <a:rect l="l" t="t" r="r" b="b"/>
            <a:pathLst>
              <a:path w="856359" h="803463">
                <a:moveTo>
                  <a:pt x="168967" y="125369"/>
                </a:moveTo>
                <a:cubicBezTo>
                  <a:pt x="159166" y="120616"/>
                  <a:pt x="148355" y="119216"/>
                  <a:pt x="138059" y="120931"/>
                </a:cubicBezTo>
                <a:cubicBezTo>
                  <a:pt x="125076" y="123083"/>
                  <a:pt x="112913" y="130189"/>
                  <a:pt x="104654" y="141743"/>
                </a:cubicBezTo>
                <a:lnTo>
                  <a:pt x="104645" y="141762"/>
                </a:lnTo>
                <a:cubicBezTo>
                  <a:pt x="96368" y="153335"/>
                  <a:pt x="93558" y="167184"/>
                  <a:pt x="95720" y="180205"/>
                </a:cubicBezTo>
                <a:cubicBezTo>
                  <a:pt x="97425" y="190482"/>
                  <a:pt x="102235" y="200245"/>
                  <a:pt x="109903" y="207970"/>
                </a:cubicBezTo>
                <a:lnTo>
                  <a:pt x="168967" y="125369"/>
                </a:lnTo>
                <a:lnTo>
                  <a:pt x="168967" y="125369"/>
                </a:lnTo>
                <a:close/>
                <a:moveTo>
                  <a:pt x="594049" y="131246"/>
                </a:moveTo>
                <a:lnTo>
                  <a:pt x="655218" y="131246"/>
                </a:lnTo>
                <a:cubicBezTo>
                  <a:pt x="660048" y="131246"/>
                  <a:pt x="663962" y="135161"/>
                  <a:pt x="663962" y="139990"/>
                </a:cubicBezTo>
                <a:lnTo>
                  <a:pt x="663962" y="192425"/>
                </a:lnTo>
                <a:lnTo>
                  <a:pt x="716340" y="192425"/>
                </a:lnTo>
                <a:cubicBezTo>
                  <a:pt x="721170" y="192425"/>
                  <a:pt x="725084" y="196340"/>
                  <a:pt x="725084" y="201160"/>
                </a:cubicBezTo>
                <a:lnTo>
                  <a:pt x="725084" y="262282"/>
                </a:lnTo>
                <a:cubicBezTo>
                  <a:pt x="725084" y="267111"/>
                  <a:pt x="721170" y="271026"/>
                  <a:pt x="716340" y="271026"/>
                </a:cubicBezTo>
                <a:lnTo>
                  <a:pt x="663962" y="271026"/>
                </a:lnTo>
                <a:lnTo>
                  <a:pt x="663962" y="323461"/>
                </a:lnTo>
                <a:cubicBezTo>
                  <a:pt x="663962" y="328290"/>
                  <a:pt x="660048" y="332205"/>
                  <a:pt x="655218" y="332205"/>
                </a:cubicBezTo>
                <a:lnTo>
                  <a:pt x="594049" y="332205"/>
                </a:lnTo>
                <a:cubicBezTo>
                  <a:pt x="589220" y="332205"/>
                  <a:pt x="585315" y="328290"/>
                  <a:pt x="585315" y="323461"/>
                </a:cubicBezTo>
                <a:lnTo>
                  <a:pt x="585315" y="271026"/>
                </a:lnTo>
                <a:lnTo>
                  <a:pt x="532927" y="271026"/>
                </a:lnTo>
                <a:cubicBezTo>
                  <a:pt x="528098" y="271026"/>
                  <a:pt x="524183" y="267111"/>
                  <a:pt x="524183" y="262282"/>
                </a:cubicBezTo>
                <a:lnTo>
                  <a:pt x="524183" y="201160"/>
                </a:lnTo>
                <a:cubicBezTo>
                  <a:pt x="524183" y="196331"/>
                  <a:pt x="528098" y="192425"/>
                  <a:pt x="532927" y="192425"/>
                </a:cubicBezTo>
                <a:lnTo>
                  <a:pt x="585315" y="192425"/>
                </a:lnTo>
                <a:lnTo>
                  <a:pt x="585315" y="139981"/>
                </a:lnTo>
                <a:cubicBezTo>
                  <a:pt x="585305" y="135161"/>
                  <a:pt x="589220" y="131246"/>
                  <a:pt x="594049" y="131246"/>
                </a:cubicBezTo>
                <a:lnTo>
                  <a:pt x="594049" y="131246"/>
                </a:lnTo>
                <a:close/>
                <a:moveTo>
                  <a:pt x="646484" y="148725"/>
                </a:moveTo>
                <a:lnTo>
                  <a:pt x="602783" y="148725"/>
                </a:lnTo>
                <a:lnTo>
                  <a:pt x="602783" y="201160"/>
                </a:lnTo>
                <a:cubicBezTo>
                  <a:pt x="602783" y="205989"/>
                  <a:pt x="598869" y="209894"/>
                  <a:pt x="594049" y="209894"/>
                </a:cubicBezTo>
                <a:lnTo>
                  <a:pt x="541661" y="209894"/>
                </a:lnTo>
                <a:lnTo>
                  <a:pt x="541661" y="253538"/>
                </a:lnTo>
                <a:lnTo>
                  <a:pt x="594049" y="253538"/>
                </a:lnTo>
                <a:cubicBezTo>
                  <a:pt x="598878" y="253538"/>
                  <a:pt x="602783" y="257452"/>
                  <a:pt x="602783" y="262272"/>
                </a:cubicBezTo>
                <a:lnTo>
                  <a:pt x="602783" y="314707"/>
                </a:lnTo>
                <a:lnTo>
                  <a:pt x="646484" y="314707"/>
                </a:lnTo>
                <a:lnTo>
                  <a:pt x="646484" y="262282"/>
                </a:lnTo>
                <a:cubicBezTo>
                  <a:pt x="646484" y="257452"/>
                  <a:pt x="650399" y="253547"/>
                  <a:pt x="655218" y="253547"/>
                </a:cubicBezTo>
                <a:lnTo>
                  <a:pt x="707606" y="253547"/>
                </a:lnTo>
                <a:lnTo>
                  <a:pt x="707606" y="209894"/>
                </a:lnTo>
                <a:lnTo>
                  <a:pt x="655218" y="209894"/>
                </a:lnTo>
                <a:cubicBezTo>
                  <a:pt x="650389" y="209894"/>
                  <a:pt x="646484" y="205979"/>
                  <a:pt x="646484" y="201160"/>
                </a:cubicBezTo>
                <a:lnTo>
                  <a:pt x="646484" y="148725"/>
                </a:lnTo>
                <a:lnTo>
                  <a:pt x="646484" y="148725"/>
                </a:lnTo>
                <a:close/>
                <a:moveTo>
                  <a:pt x="240900" y="503931"/>
                </a:moveTo>
                <a:cubicBezTo>
                  <a:pt x="252359" y="503931"/>
                  <a:pt x="262731" y="508579"/>
                  <a:pt x="270237" y="516085"/>
                </a:cubicBezTo>
                <a:cubicBezTo>
                  <a:pt x="277743" y="523590"/>
                  <a:pt x="282391" y="533963"/>
                  <a:pt x="282391" y="545422"/>
                </a:cubicBezTo>
                <a:cubicBezTo>
                  <a:pt x="282391" y="556880"/>
                  <a:pt x="277743" y="567253"/>
                  <a:pt x="270237" y="574759"/>
                </a:cubicBezTo>
                <a:cubicBezTo>
                  <a:pt x="262731" y="582265"/>
                  <a:pt x="252359" y="586913"/>
                  <a:pt x="240900" y="586913"/>
                </a:cubicBezTo>
                <a:cubicBezTo>
                  <a:pt x="229441" y="586913"/>
                  <a:pt x="219069" y="582265"/>
                  <a:pt x="211563" y="574759"/>
                </a:cubicBezTo>
                <a:cubicBezTo>
                  <a:pt x="204057" y="567253"/>
                  <a:pt x="199409" y="556880"/>
                  <a:pt x="199409" y="545422"/>
                </a:cubicBezTo>
                <a:cubicBezTo>
                  <a:pt x="199409" y="533963"/>
                  <a:pt x="204057" y="523590"/>
                  <a:pt x="211563" y="516085"/>
                </a:cubicBezTo>
                <a:cubicBezTo>
                  <a:pt x="219069" y="508579"/>
                  <a:pt x="229441" y="503931"/>
                  <a:pt x="240900" y="503931"/>
                </a:cubicBezTo>
                <a:lnTo>
                  <a:pt x="240900" y="503931"/>
                </a:lnTo>
                <a:close/>
                <a:moveTo>
                  <a:pt x="257883" y="528448"/>
                </a:moveTo>
                <a:cubicBezTo>
                  <a:pt x="253540" y="524105"/>
                  <a:pt x="247529" y="521419"/>
                  <a:pt x="240900" y="521419"/>
                </a:cubicBezTo>
                <a:cubicBezTo>
                  <a:pt x="234271" y="521419"/>
                  <a:pt x="228260" y="524105"/>
                  <a:pt x="223917" y="528448"/>
                </a:cubicBezTo>
                <a:cubicBezTo>
                  <a:pt x="219574" y="532792"/>
                  <a:pt x="216887" y="538792"/>
                  <a:pt x="216887" y="545431"/>
                </a:cubicBezTo>
                <a:cubicBezTo>
                  <a:pt x="216887" y="552061"/>
                  <a:pt x="219574" y="558071"/>
                  <a:pt x="223917" y="562414"/>
                </a:cubicBezTo>
                <a:cubicBezTo>
                  <a:pt x="228260" y="566758"/>
                  <a:pt x="234271" y="569444"/>
                  <a:pt x="240900" y="569444"/>
                </a:cubicBezTo>
                <a:cubicBezTo>
                  <a:pt x="247529" y="569444"/>
                  <a:pt x="253540" y="566758"/>
                  <a:pt x="257883" y="562414"/>
                </a:cubicBezTo>
                <a:cubicBezTo>
                  <a:pt x="262227" y="558071"/>
                  <a:pt x="264913" y="552061"/>
                  <a:pt x="264913" y="545431"/>
                </a:cubicBezTo>
                <a:cubicBezTo>
                  <a:pt x="264913" y="538792"/>
                  <a:pt x="262227" y="532792"/>
                  <a:pt x="257883" y="528448"/>
                </a:cubicBezTo>
                <a:lnTo>
                  <a:pt x="257883" y="528448"/>
                </a:lnTo>
                <a:close/>
                <a:moveTo>
                  <a:pt x="332026" y="568768"/>
                </a:moveTo>
                <a:cubicBezTo>
                  <a:pt x="315281" y="568768"/>
                  <a:pt x="300117" y="575559"/>
                  <a:pt x="289144" y="586532"/>
                </a:cubicBezTo>
                <a:cubicBezTo>
                  <a:pt x="278171" y="597505"/>
                  <a:pt x="271380" y="612668"/>
                  <a:pt x="271380" y="629413"/>
                </a:cubicBezTo>
                <a:cubicBezTo>
                  <a:pt x="271380" y="646158"/>
                  <a:pt x="278171" y="661322"/>
                  <a:pt x="289144" y="672295"/>
                </a:cubicBezTo>
                <a:cubicBezTo>
                  <a:pt x="300117" y="683268"/>
                  <a:pt x="315281" y="690059"/>
                  <a:pt x="332026" y="690059"/>
                </a:cubicBezTo>
                <a:cubicBezTo>
                  <a:pt x="348771" y="690059"/>
                  <a:pt x="363934" y="683268"/>
                  <a:pt x="374907" y="672295"/>
                </a:cubicBezTo>
                <a:cubicBezTo>
                  <a:pt x="385880" y="661322"/>
                  <a:pt x="392671" y="646158"/>
                  <a:pt x="392671" y="629413"/>
                </a:cubicBezTo>
                <a:cubicBezTo>
                  <a:pt x="392671" y="612668"/>
                  <a:pt x="385880" y="597505"/>
                  <a:pt x="374907" y="586532"/>
                </a:cubicBezTo>
                <a:cubicBezTo>
                  <a:pt x="363925" y="575559"/>
                  <a:pt x="348771" y="568768"/>
                  <a:pt x="332026" y="568768"/>
                </a:cubicBezTo>
                <a:lnTo>
                  <a:pt x="332026" y="568768"/>
                </a:lnTo>
                <a:close/>
                <a:moveTo>
                  <a:pt x="362544" y="598886"/>
                </a:moveTo>
                <a:cubicBezTo>
                  <a:pt x="370354" y="606696"/>
                  <a:pt x="375183" y="617488"/>
                  <a:pt x="375183" y="629404"/>
                </a:cubicBezTo>
                <a:cubicBezTo>
                  <a:pt x="375183" y="641320"/>
                  <a:pt x="370354" y="652111"/>
                  <a:pt x="362544" y="659922"/>
                </a:cubicBezTo>
                <a:cubicBezTo>
                  <a:pt x="354733" y="667732"/>
                  <a:pt x="343941" y="672562"/>
                  <a:pt x="332026" y="672562"/>
                </a:cubicBezTo>
                <a:cubicBezTo>
                  <a:pt x="320110" y="672562"/>
                  <a:pt x="309318" y="667732"/>
                  <a:pt x="301508" y="659922"/>
                </a:cubicBezTo>
                <a:cubicBezTo>
                  <a:pt x="293697" y="652111"/>
                  <a:pt x="288868" y="641320"/>
                  <a:pt x="288868" y="629404"/>
                </a:cubicBezTo>
                <a:cubicBezTo>
                  <a:pt x="288868" y="617478"/>
                  <a:pt x="293697" y="606696"/>
                  <a:pt x="301508" y="598886"/>
                </a:cubicBezTo>
                <a:cubicBezTo>
                  <a:pt x="309318" y="591075"/>
                  <a:pt x="320110" y="586246"/>
                  <a:pt x="332026" y="586246"/>
                </a:cubicBezTo>
                <a:cubicBezTo>
                  <a:pt x="343941" y="586246"/>
                  <a:pt x="354733" y="591075"/>
                  <a:pt x="362544" y="598886"/>
                </a:cubicBezTo>
                <a:lnTo>
                  <a:pt x="362544" y="598886"/>
                </a:lnTo>
                <a:close/>
                <a:moveTo>
                  <a:pt x="175492" y="595466"/>
                </a:moveTo>
                <a:cubicBezTo>
                  <a:pt x="197142" y="595466"/>
                  <a:pt x="216735" y="604239"/>
                  <a:pt x="230927" y="618431"/>
                </a:cubicBezTo>
                <a:cubicBezTo>
                  <a:pt x="245110" y="632623"/>
                  <a:pt x="253892" y="652216"/>
                  <a:pt x="253892" y="673866"/>
                </a:cubicBezTo>
                <a:cubicBezTo>
                  <a:pt x="253892" y="695517"/>
                  <a:pt x="245120" y="715110"/>
                  <a:pt x="230927" y="729302"/>
                </a:cubicBezTo>
                <a:cubicBezTo>
                  <a:pt x="216735" y="743494"/>
                  <a:pt x="197142" y="752267"/>
                  <a:pt x="175492" y="752267"/>
                </a:cubicBezTo>
                <a:cubicBezTo>
                  <a:pt x="153851" y="752267"/>
                  <a:pt x="134249" y="743494"/>
                  <a:pt x="120056" y="729302"/>
                </a:cubicBezTo>
                <a:cubicBezTo>
                  <a:pt x="105874" y="715119"/>
                  <a:pt x="97092" y="695517"/>
                  <a:pt x="97092" y="673866"/>
                </a:cubicBezTo>
                <a:cubicBezTo>
                  <a:pt x="97092" y="652226"/>
                  <a:pt x="105874" y="632623"/>
                  <a:pt x="120056" y="618431"/>
                </a:cubicBezTo>
                <a:cubicBezTo>
                  <a:pt x="134239" y="604248"/>
                  <a:pt x="153842" y="595466"/>
                  <a:pt x="175492" y="595466"/>
                </a:cubicBezTo>
                <a:lnTo>
                  <a:pt x="175492" y="595466"/>
                </a:lnTo>
                <a:close/>
                <a:moveTo>
                  <a:pt x="218564" y="630785"/>
                </a:moveTo>
                <a:cubicBezTo>
                  <a:pt x="207543" y="619764"/>
                  <a:pt x="192313" y="612945"/>
                  <a:pt x="175482" y="612945"/>
                </a:cubicBezTo>
                <a:cubicBezTo>
                  <a:pt x="158652" y="612945"/>
                  <a:pt x="143431" y="619764"/>
                  <a:pt x="132410" y="630785"/>
                </a:cubicBezTo>
                <a:cubicBezTo>
                  <a:pt x="121390" y="641805"/>
                  <a:pt x="114570" y="657036"/>
                  <a:pt x="114570" y="673857"/>
                </a:cubicBezTo>
                <a:cubicBezTo>
                  <a:pt x="114570" y="690678"/>
                  <a:pt x="121390" y="705909"/>
                  <a:pt x="132410" y="716939"/>
                </a:cubicBezTo>
                <a:cubicBezTo>
                  <a:pt x="143431" y="727959"/>
                  <a:pt x="158661" y="734779"/>
                  <a:pt x="175482" y="734779"/>
                </a:cubicBezTo>
                <a:cubicBezTo>
                  <a:pt x="192303" y="734779"/>
                  <a:pt x="207534" y="727959"/>
                  <a:pt x="218564" y="716939"/>
                </a:cubicBezTo>
                <a:cubicBezTo>
                  <a:pt x="229584" y="705918"/>
                  <a:pt x="236404" y="690688"/>
                  <a:pt x="236404" y="673857"/>
                </a:cubicBezTo>
                <a:cubicBezTo>
                  <a:pt x="236404" y="657036"/>
                  <a:pt x="229594" y="641805"/>
                  <a:pt x="218564" y="630785"/>
                </a:cubicBezTo>
                <a:lnTo>
                  <a:pt x="218564" y="630785"/>
                </a:lnTo>
                <a:close/>
                <a:moveTo>
                  <a:pt x="332102" y="342168"/>
                </a:moveTo>
                <a:cubicBezTo>
                  <a:pt x="340236" y="342063"/>
                  <a:pt x="347609" y="338701"/>
                  <a:pt x="352971" y="333338"/>
                </a:cubicBezTo>
                <a:cubicBezTo>
                  <a:pt x="358419" y="327890"/>
                  <a:pt x="361801" y="320365"/>
                  <a:pt x="361801" y="312088"/>
                </a:cubicBezTo>
                <a:cubicBezTo>
                  <a:pt x="361801" y="303811"/>
                  <a:pt x="358419" y="296286"/>
                  <a:pt x="352971" y="290838"/>
                </a:cubicBezTo>
                <a:cubicBezTo>
                  <a:pt x="347523" y="285389"/>
                  <a:pt x="339998" y="282008"/>
                  <a:pt x="331721" y="282008"/>
                </a:cubicBezTo>
                <a:lnTo>
                  <a:pt x="163243" y="282008"/>
                </a:lnTo>
                <a:cubicBezTo>
                  <a:pt x="154965" y="282008"/>
                  <a:pt x="147441" y="285389"/>
                  <a:pt x="141992" y="290838"/>
                </a:cubicBezTo>
                <a:cubicBezTo>
                  <a:pt x="136544" y="296286"/>
                  <a:pt x="133163" y="303811"/>
                  <a:pt x="133163" y="312088"/>
                </a:cubicBezTo>
                <a:cubicBezTo>
                  <a:pt x="133163" y="320365"/>
                  <a:pt x="136544" y="327890"/>
                  <a:pt x="141992" y="333338"/>
                </a:cubicBezTo>
                <a:cubicBezTo>
                  <a:pt x="147355" y="338701"/>
                  <a:pt x="154727" y="342063"/>
                  <a:pt x="162862" y="342168"/>
                </a:cubicBezTo>
                <a:lnTo>
                  <a:pt x="162862" y="381277"/>
                </a:lnTo>
                <a:cubicBezTo>
                  <a:pt x="162862" y="384211"/>
                  <a:pt x="162671" y="386897"/>
                  <a:pt x="162185" y="389393"/>
                </a:cubicBezTo>
                <a:cubicBezTo>
                  <a:pt x="161747" y="391631"/>
                  <a:pt x="161071" y="393765"/>
                  <a:pt x="160090" y="395851"/>
                </a:cubicBezTo>
                <a:cubicBezTo>
                  <a:pt x="159976" y="396032"/>
                  <a:pt x="159880" y="396222"/>
                  <a:pt x="159776" y="396422"/>
                </a:cubicBezTo>
                <a:lnTo>
                  <a:pt x="6880" y="702394"/>
                </a:lnTo>
                <a:lnTo>
                  <a:pt x="6909" y="702403"/>
                </a:lnTo>
                <a:cubicBezTo>
                  <a:pt x="1356" y="713519"/>
                  <a:pt x="-730" y="725206"/>
                  <a:pt x="222" y="736703"/>
                </a:cubicBezTo>
                <a:cubicBezTo>
                  <a:pt x="1194" y="748590"/>
                  <a:pt x="5394" y="760268"/>
                  <a:pt x="12310" y="770869"/>
                </a:cubicBezTo>
                <a:cubicBezTo>
                  <a:pt x="19120" y="781308"/>
                  <a:pt x="27921" y="789452"/>
                  <a:pt x="38151" y="794996"/>
                </a:cubicBezTo>
                <a:cubicBezTo>
                  <a:pt x="48390" y="800539"/>
                  <a:pt x="59992" y="803464"/>
                  <a:pt x="72412" y="803464"/>
                </a:cubicBezTo>
                <a:lnTo>
                  <a:pt x="440735" y="803464"/>
                </a:lnTo>
                <a:cubicBezTo>
                  <a:pt x="453431" y="803464"/>
                  <a:pt x="465300" y="800387"/>
                  <a:pt x="475729" y="794586"/>
                </a:cubicBezTo>
                <a:cubicBezTo>
                  <a:pt x="486140" y="788795"/>
                  <a:pt x="495008" y="780327"/>
                  <a:pt x="501714" y="769536"/>
                </a:cubicBezTo>
                <a:cubicBezTo>
                  <a:pt x="508419" y="758725"/>
                  <a:pt x="512086" y="747018"/>
                  <a:pt x="512658" y="735122"/>
                </a:cubicBezTo>
                <a:cubicBezTo>
                  <a:pt x="513229" y="723244"/>
                  <a:pt x="510715" y="711252"/>
                  <a:pt x="505066" y="699851"/>
                </a:cubicBezTo>
                <a:lnTo>
                  <a:pt x="505066" y="699851"/>
                </a:lnTo>
                <a:lnTo>
                  <a:pt x="504866" y="699470"/>
                </a:lnTo>
                <a:lnTo>
                  <a:pt x="335864" y="396879"/>
                </a:lnTo>
                <a:cubicBezTo>
                  <a:pt x="334464" y="394374"/>
                  <a:pt x="333540" y="391831"/>
                  <a:pt x="332950" y="389164"/>
                </a:cubicBezTo>
                <a:cubicBezTo>
                  <a:pt x="332340" y="386383"/>
                  <a:pt x="332102" y="383411"/>
                  <a:pt x="332102" y="380182"/>
                </a:cubicBezTo>
                <a:lnTo>
                  <a:pt x="332102" y="342168"/>
                </a:lnTo>
                <a:lnTo>
                  <a:pt x="332102" y="342168"/>
                </a:lnTo>
                <a:close/>
                <a:moveTo>
                  <a:pt x="180331" y="342168"/>
                </a:moveTo>
                <a:lnTo>
                  <a:pt x="180331" y="381277"/>
                </a:lnTo>
                <a:cubicBezTo>
                  <a:pt x="180331" y="385221"/>
                  <a:pt x="180045" y="388983"/>
                  <a:pt x="179311" y="392746"/>
                </a:cubicBezTo>
                <a:cubicBezTo>
                  <a:pt x="178607" y="396327"/>
                  <a:pt x="177464" y="399861"/>
                  <a:pt x="175730" y="403490"/>
                </a:cubicBezTo>
                <a:cubicBezTo>
                  <a:pt x="175635" y="403728"/>
                  <a:pt x="175530" y="403976"/>
                  <a:pt x="175416" y="404214"/>
                </a:cubicBezTo>
                <a:lnTo>
                  <a:pt x="22520" y="710176"/>
                </a:lnTo>
                <a:lnTo>
                  <a:pt x="22492" y="710166"/>
                </a:lnTo>
                <a:lnTo>
                  <a:pt x="22482" y="710176"/>
                </a:lnTo>
                <a:cubicBezTo>
                  <a:pt x="18444" y="718262"/>
                  <a:pt x="16929" y="726845"/>
                  <a:pt x="17624" y="735341"/>
                </a:cubicBezTo>
                <a:cubicBezTo>
                  <a:pt x="18358" y="744313"/>
                  <a:pt x="21587" y="753219"/>
                  <a:pt x="26911" y="761392"/>
                </a:cubicBezTo>
                <a:cubicBezTo>
                  <a:pt x="32093" y="769326"/>
                  <a:pt x="38722" y="775479"/>
                  <a:pt x="46409" y="779642"/>
                </a:cubicBezTo>
                <a:cubicBezTo>
                  <a:pt x="54086" y="783804"/>
                  <a:pt x="62887" y="785985"/>
                  <a:pt x="72412" y="785985"/>
                </a:cubicBezTo>
                <a:lnTo>
                  <a:pt x="440735" y="785985"/>
                </a:lnTo>
                <a:cubicBezTo>
                  <a:pt x="450488" y="785985"/>
                  <a:pt x="459480" y="783690"/>
                  <a:pt x="467262" y="779365"/>
                </a:cubicBezTo>
                <a:cubicBezTo>
                  <a:pt x="475063" y="775022"/>
                  <a:pt x="481759" y="768593"/>
                  <a:pt x="486893" y="760325"/>
                </a:cubicBezTo>
                <a:cubicBezTo>
                  <a:pt x="492017" y="752067"/>
                  <a:pt x="494808" y="743218"/>
                  <a:pt x="495246" y="734303"/>
                </a:cubicBezTo>
                <a:cubicBezTo>
                  <a:pt x="495675" y="725397"/>
                  <a:pt x="493751" y="716329"/>
                  <a:pt x="489464" y="707642"/>
                </a:cubicBezTo>
                <a:lnTo>
                  <a:pt x="320634" y="405347"/>
                </a:lnTo>
                <a:cubicBezTo>
                  <a:pt x="318329" y="401213"/>
                  <a:pt x="316814" y="397099"/>
                  <a:pt x="315881" y="392860"/>
                </a:cubicBezTo>
                <a:cubicBezTo>
                  <a:pt x="314976" y="388736"/>
                  <a:pt x="314624" y="384564"/>
                  <a:pt x="314624" y="380192"/>
                </a:cubicBezTo>
                <a:lnTo>
                  <a:pt x="314624" y="342168"/>
                </a:lnTo>
                <a:lnTo>
                  <a:pt x="180331" y="342168"/>
                </a:lnTo>
                <a:lnTo>
                  <a:pt x="180331" y="342168"/>
                </a:lnTo>
                <a:close/>
                <a:moveTo>
                  <a:pt x="331721" y="299486"/>
                </a:moveTo>
                <a:cubicBezTo>
                  <a:pt x="335178" y="299486"/>
                  <a:pt x="338331" y="300906"/>
                  <a:pt x="340617" y="303192"/>
                </a:cubicBezTo>
                <a:cubicBezTo>
                  <a:pt x="342903" y="305478"/>
                  <a:pt x="344322" y="308630"/>
                  <a:pt x="344322" y="312088"/>
                </a:cubicBezTo>
                <a:cubicBezTo>
                  <a:pt x="344322" y="315545"/>
                  <a:pt x="342903" y="318698"/>
                  <a:pt x="340617" y="320984"/>
                </a:cubicBezTo>
                <a:cubicBezTo>
                  <a:pt x="338331" y="323270"/>
                  <a:pt x="335178" y="324689"/>
                  <a:pt x="331721" y="324689"/>
                </a:cubicBezTo>
                <a:lnTo>
                  <a:pt x="323367" y="324689"/>
                </a:lnTo>
                <a:lnTo>
                  <a:pt x="171596" y="324689"/>
                </a:lnTo>
                <a:lnTo>
                  <a:pt x="163243" y="324689"/>
                </a:lnTo>
                <a:cubicBezTo>
                  <a:pt x="159785" y="324689"/>
                  <a:pt x="156632" y="323270"/>
                  <a:pt x="154346" y="320984"/>
                </a:cubicBezTo>
                <a:cubicBezTo>
                  <a:pt x="152060" y="318698"/>
                  <a:pt x="150632" y="315545"/>
                  <a:pt x="150632" y="312088"/>
                </a:cubicBezTo>
                <a:cubicBezTo>
                  <a:pt x="150632" y="308630"/>
                  <a:pt x="152051" y="305478"/>
                  <a:pt x="154346" y="303192"/>
                </a:cubicBezTo>
                <a:cubicBezTo>
                  <a:pt x="156632" y="300906"/>
                  <a:pt x="159785" y="299486"/>
                  <a:pt x="163243" y="299486"/>
                </a:cubicBezTo>
                <a:lnTo>
                  <a:pt x="331721" y="299486"/>
                </a:lnTo>
                <a:lnTo>
                  <a:pt x="331721" y="299486"/>
                </a:lnTo>
                <a:close/>
                <a:moveTo>
                  <a:pt x="682098" y="456258"/>
                </a:moveTo>
                <a:cubicBezTo>
                  <a:pt x="724056" y="445562"/>
                  <a:pt x="761394" y="423426"/>
                  <a:pt x="790626" y="393422"/>
                </a:cubicBezTo>
                <a:cubicBezTo>
                  <a:pt x="832003" y="350950"/>
                  <a:pt x="857177" y="292685"/>
                  <a:pt x="856339" y="228706"/>
                </a:cubicBezTo>
                <a:cubicBezTo>
                  <a:pt x="855501" y="164708"/>
                  <a:pt x="828812" y="107110"/>
                  <a:pt x="786330" y="65733"/>
                </a:cubicBezTo>
                <a:cubicBezTo>
                  <a:pt x="743858" y="24357"/>
                  <a:pt x="685594" y="-818"/>
                  <a:pt x="621614" y="20"/>
                </a:cubicBezTo>
                <a:cubicBezTo>
                  <a:pt x="557616" y="858"/>
                  <a:pt x="500018" y="27548"/>
                  <a:pt x="458632" y="70029"/>
                </a:cubicBezTo>
                <a:cubicBezTo>
                  <a:pt x="417255" y="112501"/>
                  <a:pt x="392081" y="170765"/>
                  <a:pt x="392919" y="234745"/>
                </a:cubicBezTo>
                <a:cubicBezTo>
                  <a:pt x="393757" y="298743"/>
                  <a:pt x="420446" y="356341"/>
                  <a:pt x="462918" y="397718"/>
                </a:cubicBezTo>
                <a:cubicBezTo>
                  <a:pt x="491931" y="425988"/>
                  <a:pt x="528326" y="446686"/>
                  <a:pt x="568874" y="456706"/>
                </a:cubicBezTo>
                <a:lnTo>
                  <a:pt x="569151" y="540012"/>
                </a:lnTo>
                <a:cubicBezTo>
                  <a:pt x="565807" y="541602"/>
                  <a:pt x="562721" y="543517"/>
                  <a:pt x="559959" y="545698"/>
                </a:cubicBezTo>
                <a:cubicBezTo>
                  <a:pt x="550720" y="552975"/>
                  <a:pt x="544938" y="563253"/>
                  <a:pt x="544862" y="574749"/>
                </a:cubicBezTo>
                <a:lnTo>
                  <a:pt x="543586" y="762792"/>
                </a:lnTo>
                <a:cubicBezTo>
                  <a:pt x="543538" y="774222"/>
                  <a:pt x="549129" y="784490"/>
                  <a:pt x="558206" y="791834"/>
                </a:cubicBezTo>
                <a:cubicBezTo>
                  <a:pt x="566750" y="798758"/>
                  <a:pt x="578485" y="803092"/>
                  <a:pt x="591363" y="803178"/>
                </a:cubicBezTo>
                <a:cubicBezTo>
                  <a:pt x="612956" y="803492"/>
                  <a:pt x="634683" y="803359"/>
                  <a:pt x="656295" y="803454"/>
                </a:cubicBezTo>
                <a:cubicBezTo>
                  <a:pt x="669211" y="803511"/>
                  <a:pt x="681079" y="799292"/>
                  <a:pt x="689756" y="792453"/>
                </a:cubicBezTo>
                <a:cubicBezTo>
                  <a:pt x="698995" y="785166"/>
                  <a:pt x="704777" y="774898"/>
                  <a:pt x="704844" y="763411"/>
                </a:cubicBezTo>
                <a:lnTo>
                  <a:pt x="706111" y="576235"/>
                </a:lnTo>
                <a:cubicBezTo>
                  <a:pt x="706139" y="575959"/>
                  <a:pt x="706149" y="575683"/>
                  <a:pt x="706149" y="575407"/>
                </a:cubicBezTo>
                <a:lnTo>
                  <a:pt x="706149" y="575368"/>
                </a:lnTo>
                <a:lnTo>
                  <a:pt x="706120" y="575368"/>
                </a:lnTo>
                <a:cubicBezTo>
                  <a:pt x="706158" y="563938"/>
                  <a:pt x="700558" y="553670"/>
                  <a:pt x="691490" y="546327"/>
                </a:cubicBezTo>
                <a:cubicBezTo>
                  <a:pt x="688756" y="544117"/>
                  <a:pt x="685699" y="542164"/>
                  <a:pt x="682384" y="540536"/>
                </a:cubicBezTo>
                <a:lnTo>
                  <a:pt x="682098" y="456258"/>
                </a:lnTo>
                <a:lnTo>
                  <a:pt x="682098" y="456258"/>
                </a:lnTo>
                <a:close/>
                <a:moveTo>
                  <a:pt x="625786" y="552232"/>
                </a:moveTo>
                <a:lnTo>
                  <a:pt x="658152" y="552366"/>
                </a:lnTo>
                <a:lnTo>
                  <a:pt x="658219" y="552366"/>
                </a:lnTo>
                <a:cubicBezTo>
                  <a:pt x="667010" y="552413"/>
                  <a:pt x="674878" y="555261"/>
                  <a:pt x="680498" y="559814"/>
                </a:cubicBezTo>
                <a:cubicBezTo>
                  <a:pt x="685594" y="563938"/>
                  <a:pt x="688737" y="569434"/>
                  <a:pt x="688708" y="575302"/>
                </a:cubicBezTo>
                <a:lnTo>
                  <a:pt x="688708" y="575330"/>
                </a:lnTo>
                <a:lnTo>
                  <a:pt x="688670" y="575330"/>
                </a:lnTo>
                <a:lnTo>
                  <a:pt x="688670" y="575368"/>
                </a:lnTo>
                <a:cubicBezTo>
                  <a:pt x="688670" y="575607"/>
                  <a:pt x="688680" y="575845"/>
                  <a:pt x="688699" y="576083"/>
                </a:cubicBezTo>
                <a:lnTo>
                  <a:pt x="687432" y="763306"/>
                </a:lnTo>
                <a:cubicBezTo>
                  <a:pt x="687403" y="769145"/>
                  <a:pt x="684155" y="774612"/>
                  <a:pt x="678964" y="778699"/>
                </a:cubicBezTo>
                <a:cubicBezTo>
                  <a:pt x="673192" y="783252"/>
                  <a:pt x="665182" y="786052"/>
                  <a:pt x="656362" y="786014"/>
                </a:cubicBezTo>
                <a:cubicBezTo>
                  <a:pt x="634721" y="785919"/>
                  <a:pt x="613070" y="785852"/>
                  <a:pt x="591439" y="785738"/>
                </a:cubicBezTo>
                <a:cubicBezTo>
                  <a:pt x="582676" y="785680"/>
                  <a:pt x="574808" y="782832"/>
                  <a:pt x="569198" y="778289"/>
                </a:cubicBezTo>
                <a:cubicBezTo>
                  <a:pt x="564112" y="774165"/>
                  <a:pt x="560978" y="768688"/>
                  <a:pt x="560997" y="762830"/>
                </a:cubicBezTo>
                <a:lnTo>
                  <a:pt x="562274" y="574797"/>
                </a:lnTo>
                <a:cubicBezTo>
                  <a:pt x="562312" y="568958"/>
                  <a:pt x="565560" y="563491"/>
                  <a:pt x="570751" y="559405"/>
                </a:cubicBezTo>
                <a:cubicBezTo>
                  <a:pt x="575389" y="555747"/>
                  <a:pt x="581466" y="553223"/>
                  <a:pt x="588248" y="552394"/>
                </a:cubicBezTo>
                <a:lnTo>
                  <a:pt x="625786" y="552232"/>
                </a:lnTo>
                <a:lnTo>
                  <a:pt x="625786" y="552232"/>
                </a:lnTo>
                <a:close/>
                <a:moveTo>
                  <a:pt x="586305" y="460297"/>
                </a:moveTo>
                <a:cubicBezTo>
                  <a:pt x="599735" y="462535"/>
                  <a:pt x="613556" y="463612"/>
                  <a:pt x="627644" y="463431"/>
                </a:cubicBezTo>
                <a:cubicBezTo>
                  <a:pt x="640274" y="463269"/>
                  <a:pt x="652647" y="462088"/>
                  <a:pt x="664696" y="459992"/>
                </a:cubicBezTo>
                <a:lnTo>
                  <a:pt x="664944" y="534659"/>
                </a:lnTo>
                <a:lnTo>
                  <a:pt x="625796" y="534830"/>
                </a:lnTo>
                <a:lnTo>
                  <a:pt x="593411" y="534697"/>
                </a:lnTo>
                <a:cubicBezTo>
                  <a:pt x="591325" y="534687"/>
                  <a:pt x="589258" y="534792"/>
                  <a:pt x="587229" y="535001"/>
                </a:cubicBezTo>
                <a:lnTo>
                  <a:pt x="586553" y="535001"/>
                </a:lnTo>
                <a:lnTo>
                  <a:pt x="586305" y="460297"/>
                </a:lnTo>
                <a:lnTo>
                  <a:pt x="586305" y="460297"/>
                </a:lnTo>
                <a:close/>
                <a:moveTo>
                  <a:pt x="622624" y="69572"/>
                </a:moveTo>
                <a:lnTo>
                  <a:pt x="622624" y="69610"/>
                </a:lnTo>
                <a:lnTo>
                  <a:pt x="622519" y="69610"/>
                </a:lnTo>
                <a:cubicBezTo>
                  <a:pt x="577733" y="70191"/>
                  <a:pt x="537432" y="88870"/>
                  <a:pt x="508486" y="118588"/>
                </a:cubicBezTo>
                <a:cubicBezTo>
                  <a:pt x="479720" y="148125"/>
                  <a:pt x="462147" y="188568"/>
                  <a:pt x="462509" y="233021"/>
                </a:cubicBezTo>
                <a:cubicBezTo>
                  <a:pt x="462490" y="233249"/>
                  <a:pt x="462480" y="233488"/>
                  <a:pt x="462480" y="233726"/>
                </a:cubicBezTo>
                <a:lnTo>
                  <a:pt x="462518" y="233726"/>
                </a:lnTo>
                <a:lnTo>
                  <a:pt x="462518" y="233830"/>
                </a:lnTo>
                <a:cubicBezTo>
                  <a:pt x="463099" y="278608"/>
                  <a:pt x="481778" y="318917"/>
                  <a:pt x="511496" y="347864"/>
                </a:cubicBezTo>
                <a:cubicBezTo>
                  <a:pt x="541204" y="376810"/>
                  <a:pt x="581971" y="394422"/>
                  <a:pt x="626739" y="393841"/>
                </a:cubicBezTo>
                <a:cubicBezTo>
                  <a:pt x="671525" y="393250"/>
                  <a:pt x="711826" y="374581"/>
                  <a:pt x="740772" y="344863"/>
                </a:cubicBezTo>
                <a:cubicBezTo>
                  <a:pt x="769547" y="315336"/>
                  <a:pt x="787111" y="274883"/>
                  <a:pt x="786749" y="230430"/>
                </a:cubicBezTo>
                <a:cubicBezTo>
                  <a:pt x="786768" y="230192"/>
                  <a:pt x="786778" y="229963"/>
                  <a:pt x="786778" y="229716"/>
                </a:cubicBezTo>
                <a:lnTo>
                  <a:pt x="786749" y="229716"/>
                </a:lnTo>
                <a:lnTo>
                  <a:pt x="786749" y="229611"/>
                </a:lnTo>
                <a:cubicBezTo>
                  <a:pt x="786159" y="184834"/>
                  <a:pt x="767490" y="144534"/>
                  <a:pt x="737772" y="115578"/>
                </a:cubicBezTo>
                <a:cubicBezTo>
                  <a:pt x="708235" y="86803"/>
                  <a:pt x="667791" y="69238"/>
                  <a:pt x="623338" y="69600"/>
                </a:cubicBezTo>
                <a:cubicBezTo>
                  <a:pt x="623110" y="69581"/>
                  <a:pt x="622872" y="69572"/>
                  <a:pt x="622624" y="69572"/>
                </a:cubicBezTo>
                <a:lnTo>
                  <a:pt x="622624" y="69572"/>
                </a:lnTo>
                <a:close/>
                <a:moveTo>
                  <a:pt x="622633" y="87050"/>
                </a:moveTo>
                <a:lnTo>
                  <a:pt x="622633" y="87022"/>
                </a:lnTo>
                <a:cubicBezTo>
                  <a:pt x="582733" y="87574"/>
                  <a:pt x="546814" y="104233"/>
                  <a:pt x="520992" y="130741"/>
                </a:cubicBezTo>
                <a:cubicBezTo>
                  <a:pt x="495294" y="157116"/>
                  <a:pt x="479606" y="193235"/>
                  <a:pt x="479930" y="232907"/>
                </a:cubicBezTo>
                <a:cubicBezTo>
                  <a:pt x="479958" y="233173"/>
                  <a:pt x="479968" y="233449"/>
                  <a:pt x="479968" y="233726"/>
                </a:cubicBezTo>
                <a:lnTo>
                  <a:pt x="479939" y="233726"/>
                </a:lnTo>
                <a:cubicBezTo>
                  <a:pt x="480492" y="273626"/>
                  <a:pt x="497151" y="309545"/>
                  <a:pt x="523659" y="335367"/>
                </a:cubicBezTo>
                <a:cubicBezTo>
                  <a:pt x="550196" y="361218"/>
                  <a:pt x="586591" y="376944"/>
                  <a:pt x="626548" y="376420"/>
                </a:cubicBezTo>
                <a:cubicBezTo>
                  <a:pt x="666496" y="375896"/>
                  <a:pt x="702443" y="359227"/>
                  <a:pt x="728294" y="332700"/>
                </a:cubicBezTo>
                <a:cubicBezTo>
                  <a:pt x="753993" y="306325"/>
                  <a:pt x="769680" y="270206"/>
                  <a:pt x="769357" y="230535"/>
                </a:cubicBezTo>
                <a:cubicBezTo>
                  <a:pt x="769328" y="230259"/>
                  <a:pt x="769318" y="229992"/>
                  <a:pt x="769318" y="229706"/>
                </a:cubicBezTo>
                <a:lnTo>
                  <a:pt x="769347" y="229706"/>
                </a:lnTo>
                <a:cubicBezTo>
                  <a:pt x="768795" y="189806"/>
                  <a:pt x="752135" y="153887"/>
                  <a:pt x="725627" y="128065"/>
                </a:cubicBezTo>
                <a:cubicBezTo>
                  <a:pt x="699253" y="102366"/>
                  <a:pt x="663134" y="86679"/>
                  <a:pt x="623462" y="87003"/>
                </a:cubicBezTo>
                <a:cubicBezTo>
                  <a:pt x="623186" y="87031"/>
                  <a:pt x="622910" y="87050"/>
                  <a:pt x="622633" y="87050"/>
                </a:cubicBezTo>
                <a:lnTo>
                  <a:pt x="622633" y="87050"/>
                </a:lnTo>
                <a:close/>
                <a:moveTo>
                  <a:pt x="774186" y="78221"/>
                </a:moveTo>
                <a:cubicBezTo>
                  <a:pt x="734886" y="39940"/>
                  <a:pt x="680993" y="16651"/>
                  <a:pt x="621824" y="17422"/>
                </a:cubicBezTo>
                <a:cubicBezTo>
                  <a:pt x="562664" y="18194"/>
                  <a:pt x="509410" y="42883"/>
                  <a:pt x="471138" y="82173"/>
                </a:cubicBezTo>
                <a:cubicBezTo>
                  <a:pt x="432857" y="121464"/>
                  <a:pt x="409569" y="175356"/>
                  <a:pt x="410340" y="234535"/>
                </a:cubicBezTo>
                <a:cubicBezTo>
                  <a:pt x="411112" y="293695"/>
                  <a:pt x="435801" y="346949"/>
                  <a:pt x="475091" y="385221"/>
                </a:cubicBezTo>
                <a:cubicBezTo>
                  <a:pt x="514382" y="423502"/>
                  <a:pt x="568274" y="446790"/>
                  <a:pt x="627453" y="446019"/>
                </a:cubicBezTo>
                <a:cubicBezTo>
                  <a:pt x="686613" y="445247"/>
                  <a:pt x="739867" y="420559"/>
                  <a:pt x="778139" y="381268"/>
                </a:cubicBezTo>
                <a:cubicBezTo>
                  <a:pt x="816420" y="341977"/>
                  <a:pt x="839708" y="288085"/>
                  <a:pt x="838937" y="228906"/>
                </a:cubicBezTo>
                <a:cubicBezTo>
                  <a:pt x="838156" y="169746"/>
                  <a:pt x="813467" y="116492"/>
                  <a:pt x="774186" y="78221"/>
                </a:cubicBezTo>
                <a:lnTo>
                  <a:pt x="774186" y="78221"/>
                </a:lnTo>
                <a:close/>
                <a:moveTo>
                  <a:pt x="256026" y="127293"/>
                </a:moveTo>
                <a:lnTo>
                  <a:pt x="256054" y="127274"/>
                </a:lnTo>
                <a:lnTo>
                  <a:pt x="256073" y="127265"/>
                </a:lnTo>
                <a:lnTo>
                  <a:pt x="304632" y="97204"/>
                </a:lnTo>
                <a:cubicBezTo>
                  <a:pt x="305070" y="96871"/>
                  <a:pt x="305527" y="96594"/>
                  <a:pt x="306013" y="96356"/>
                </a:cubicBezTo>
                <a:cubicBezTo>
                  <a:pt x="316843" y="89917"/>
                  <a:pt x="329283" y="88355"/>
                  <a:pt x="340703" y="91041"/>
                </a:cubicBezTo>
                <a:cubicBezTo>
                  <a:pt x="352152" y="93737"/>
                  <a:pt x="362601" y="100690"/>
                  <a:pt x="369430" y="111282"/>
                </a:cubicBezTo>
                <a:cubicBezTo>
                  <a:pt x="369783" y="111739"/>
                  <a:pt x="370078" y="112234"/>
                  <a:pt x="370326" y="112739"/>
                </a:cubicBezTo>
                <a:cubicBezTo>
                  <a:pt x="376765" y="123569"/>
                  <a:pt x="378327" y="136009"/>
                  <a:pt x="375641" y="147439"/>
                </a:cubicBezTo>
                <a:cubicBezTo>
                  <a:pt x="372888" y="159145"/>
                  <a:pt x="365678" y="169813"/>
                  <a:pt x="354667" y="176623"/>
                </a:cubicBezTo>
                <a:lnTo>
                  <a:pt x="305460" y="207084"/>
                </a:lnTo>
                <a:lnTo>
                  <a:pt x="305441" y="207094"/>
                </a:lnTo>
                <a:lnTo>
                  <a:pt x="305432" y="207103"/>
                </a:lnTo>
                <a:lnTo>
                  <a:pt x="256873" y="237164"/>
                </a:lnTo>
                <a:cubicBezTo>
                  <a:pt x="256435" y="237488"/>
                  <a:pt x="255978" y="237774"/>
                  <a:pt x="255492" y="238002"/>
                </a:cubicBezTo>
                <a:cubicBezTo>
                  <a:pt x="244662" y="244441"/>
                  <a:pt x="232223" y="246003"/>
                  <a:pt x="220802" y="243317"/>
                </a:cubicBezTo>
                <a:cubicBezTo>
                  <a:pt x="209448" y="240650"/>
                  <a:pt x="199066" y="233773"/>
                  <a:pt x="192237" y="223315"/>
                </a:cubicBezTo>
                <a:cubicBezTo>
                  <a:pt x="182359" y="232078"/>
                  <a:pt x="170358" y="237631"/>
                  <a:pt x="157785" y="239717"/>
                </a:cubicBezTo>
                <a:cubicBezTo>
                  <a:pt x="140402" y="242603"/>
                  <a:pt x="121914" y="238850"/>
                  <a:pt x="106436" y="227792"/>
                </a:cubicBezTo>
                <a:lnTo>
                  <a:pt x="106436" y="227792"/>
                </a:lnTo>
                <a:cubicBezTo>
                  <a:pt x="90938" y="216705"/>
                  <a:pt x="81404" y="200388"/>
                  <a:pt x="78508" y="182977"/>
                </a:cubicBezTo>
                <a:cubicBezTo>
                  <a:pt x="75622" y="165593"/>
                  <a:pt x="79375" y="147105"/>
                  <a:pt x="90434" y="131627"/>
                </a:cubicBezTo>
                <a:cubicBezTo>
                  <a:pt x="101521" y="116130"/>
                  <a:pt x="117837" y="106596"/>
                  <a:pt x="135249" y="103700"/>
                </a:cubicBezTo>
                <a:cubicBezTo>
                  <a:pt x="152632" y="100814"/>
                  <a:pt x="171110" y="104557"/>
                  <a:pt x="186579" y="115616"/>
                </a:cubicBezTo>
                <a:lnTo>
                  <a:pt x="186588" y="115625"/>
                </a:lnTo>
                <a:lnTo>
                  <a:pt x="186588" y="115625"/>
                </a:lnTo>
                <a:lnTo>
                  <a:pt x="186598" y="115635"/>
                </a:lnTo>
                <a:lnTo>
                  <a:pt x="186598" y="115635"/>
                </a:lnTo>
                <a:cubicBezTo>
                  <a:pt x="200114" y="125303"/>
                  <a:pt x="209096" y="138952"/>
                  <a:pt x="213077" y="153849"/>
                </a:cubicBezTo>
                <a:lnTo>
                  <a:pt x="256026" y="127293"/>
                </a:lnTo>
                <a:lnTo>
                  <a:pt x="256026" y="127293"/>
                </a:lnTo>
                <a:close/>
                <a:moveTo>
                  <a:pt x="272609" y="137514"/>
                </a:moveTo>
                <a:lnTo>
                  <a:pt x="303689" y="187720"/>
                </a:lnTo>
                <a:lnTo>
                  <a:pt x="345513" y="161831"/>
                </a:lnTo>
                <a:cubicBezTo>
                  <a:pt x="352381" y="157573"/>
                  <a:pt x="356895" y="150868"/>
                  <a:pt x="358629" y="143495"/>
                </a:cubicBezTo>
                <a:cubicBezTo>
                  <a:pt x="360372" y="136104"/>
                  <a:pt x="359324" y="128074"/>
                  <a:pt x="355067" y="121188"/>
                </a:cubicBezTo>
                <a:lnTo>
                  <a:pt x="355057" y="121178"/>
                </a:lnTo>
                <a:cubicBezTo>
                  <a:pt x="350799" y="114311"/>
                  <a:pt x="344094" y="109796"/>
                  <a:pt x="336722" y="108062"/>
                </a:cubicBezTo>
                <a:cubicBezTo>
                  <a:pt x="329330" y="106329"/>
                  <a:pt x="321301" y="107367"/>
                  <a:pt x="314414" y="111634"/>
                </a:cubicBezTo>
                <a:lnTo>
                  <a:pt x="272609" y="137514"/>
                </a:lnTo>
                <a:lnTo>
                  <a:pt x="272609" y="137514"/>
                </a:lnTo>
                <a:close/>
                <a:moveTo>
                  <a:pt x="288887" y="196883"/>
                </a:moveTo>
                <a:lnTo>
                  <a:pt x="257807" y="146677"/>
                </a:lnTo>
                <a:lnTo>
                  <a:pt x="215973" y="172566"/>
                </a:lnTo>
                <a:cubicBezTo>
                  <a:pt x="215859" y="172632"/>
                  <a:pt x="215687" y="172747"/>
                  <a:pt x="215449" y="172909"/>
                </a:cubicBezTo>
                <a:cubicBezTo>
                  <a:pt x="215249" y="185434"/>
                  <a:pt x="211630" y="198026"/>
                  <a:pt x="204362" y="209218"/>
                </a:cubicBezTo>
                <a:lnTo>
                  <a:pt x="204476" y="209494"/>
                </a:lnTo>
                <a:cubicBezTo>
                  <a:pt x="205038" y="210780"/>
                  <a:pt x="205686" y="212028"/>
                  <a:pt x="206410" y="213199"/>
                </a:cubicBezTo>
                <a:lnTo>
                  <a:pt x="206420" y="213209"/>
                </a:lnTo>
                <a:cubicBezTo>
                  <a:pt x="210677" y="220076"/>
                  <a:pt x="217383" y="224591"/>
                  <a:pt x="224755" y="226325"/>
                </a:cubicBezTo>
                <a:cubicBezTo>
                  <a:pt x="232147" y="228068"/>
                  <a:pt x="240186" y="227020"/>
                  <a:pt x="247063" y="222762"/>
                </a:cubicBezTo>
                <a:lnTo>
                  <a:pt x="288887" y="196883"/>
                </a:lnTo>
                <a:lnTo>
                  <a:pt x="288887" y="196883"/>
                </a:lnTo>
                <a:close/>
                <a:moveTo>
                  <a:pt x="124076" y="218095"/>
                </a:moveTo>
                <a:lnTo>
                  <a:pt x="183150" y="135504"/>
                </a:lnTo>
                <a:cubicBezTo>
                  <a:pt x="190808" y="143229"/>
                  <a:pt x="195628" y="152992"/>
                  <a:pt x="197333" y="163269"/>
                </a:cubicBezTo>
                <a:cubicBezTo>
                  <a:pt x="199466" y="176099"/>
                  <a:pt x="196771" y="189730"/>
                  <a:pt x="188770" y="201207"/>
                </a:cubicBezTo>
                <a:cubicBezTo>
                  <a:pt x="188503" y="201522"/>
                  <a:pt x="188274" y="201846"/>
                  <a:pt x="188065" y="202188"/>
                </a:cubicBezTo>
                <a:cubicBezTo>
                  <a:pt x="179807" y="213466"/>
                  <a:pt x="167805" y="220410"/>
                  <a:pt x="154994" y="222534"/>
                </a:cubicBezTo>
                <a:cubicBezTo>
                  <a:pt x="144688" y="224248"/>
                  <a:pt x="133868" y="222848"/>
                  <a:pt x="124076" y="218095"/>
                </a:cubicBezTo>
                <a:close/>
              </a:path>
            </a:pathLst>
          </a:custGeom>
          <a:solidFill>
            <a:srgbClr val="00823B"/>
          </a:solidFill>
          <a:ln w="9525" cap="flat">
            <a:noFill/>
            <a:prstDash val="solid"/>
            <a:miter/>
          </a:ln>
        </p:spPr>
        <p:txBody>
          <a:bodyPr rtlCol="0" anchor="ctr"/>
          <a:lstStyle/>
          <a:p>
            <a:endParaRPr lang="en-US" noProof="0"/>
          </a:p>
        </p:txBody>
      </p:sp>
      <p:sp>
        <p:nvSpPr>
          <p:cNvPr id="48" name="Pentagon 3">
            <a:extLst>
              <a:ext uri="{FF2B5EF4-FFF2-40B4-BE49-F238E27FC236}">
                <a16:creationId xmlns:a16="http://schemas.microsoft.com/office/drawing/2014/main" id="{57CB66F8-E01F-C792-9228-1421DEF36E09}"/>
              </a:ext>
            </a:extLst>
          </p:cNvPr>
          <p:cNvSpPr/>
          <p:nvPr/>
        </p:nvSpPr>
        <p:spPr>
          <a:xfrm>
            <a:off x="7269622"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Network Influence: </a:t>
            </a:r>
            <a:r>
              <a:rPr lang="en-US" sz="1050" noProof="0">
                <a:solidFill>
                  <a:schemeClr val="tx1"/>
                </a:solidFill>
                <a:latin typeface="+mj-lt"/>
                <a:ea typeface="League Spartan" charset="0"/>
                <a:cs typeface="Poppins" pitchFamily="2" charset="77"/>
              </a:rPr>
              <a:t>Top 10% </a:t>
            </a:r>
            <a:r>
              <a:rPr lang="en-US" sz="1050" u="sng" noProof="0">
                <a:solidFill>
                  <a:schemeClr val="tx1"/>
                </a:solidFill>
                <a:latin typeface="+mj-lt"/>
                <a:ea typeface="League Spartan" charset="0"/>
                <a:cs typeface="Poppins" pitchFamily="2" charset="77"/>
              </a:rPr>
              <a:t>weighted indegree</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Diagnosing Intensity</a:t>
            </a:r>
            <a:r>
              <a:rPr lang="en-US" sz="1050" noProof="0">
                <a:solidFill>
                  <a:schemeClr val="tx1"/>
                </a:solidFill>
                <a:latin typeface="+mj-lt"/>
                <a:ea typeface="League Spartan" charset="0"/>
                <a:cs typeface="Poppins" pitchFamily="2" charset="77"/>
              </a:rPr>
              <a:t>: First NT diagnosing volume ≥ 95</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 </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Patient Volume</a:t>
            </a:r>
            <a:r>
              <a:rPr lang="en-US" sz="1050" noProof="0">
                <a:solidFill>
                  <a:schemeClr val="tx1"/>
                </a:solidFill>
                <a:latin typeface="+mj-lt"/>
                <a:ea typeface="League Spartan" charset="0"/>
                <a:cs typeface="Poppins" pitchFamily="2" charset="77"/>
              </a:rPr>
              <a:t>: Interacted patient volume ≥ 90th Percentile</a:t>
            </a:r>
          </a:p>
        </p:txBody>
      </p:sp>
      <p:sp>
        <p:nvSpPr>
          <p:cNvPr id="49" name="Pentagon 3">
            <a:extLst>
              <a:ext uri="{FF2B5EF4-FFF2-40B4-BE49-F238E27FC236}">
                <a16:creationId xmlns:a16="http://schemas.microsoft.com/office/drawing/2014/main" id="{FB6F68E0-7A08-9A2E-5F68-27A0DEC6E5A7}"/>
              </a:ext>
            </a:extLst>
          </p:cNvPr>
          <p:cNvSpPr/>
          <p:nvPr/>
        </p:nvSpPr>
        <p:spPr>
          <a:xfrm>
            <a:off x="7269621" y="3114816"/>
            <a:ext cx="45719" cy="18288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9" name="Chevron 7">
            <a:extLst>
              <a:ext uri="{FF2B5EF4-FFF2-40B4-BE49-F238E27FC236}">
                <a16:creationId xmlns:a16="http://schemas.microsoft.com/office/drawing/2014/main" id="{1DA22740-A6A9-C53D-2246-B6E97AC65D51}"/>
              </a:ext>
            </a:extLst>
          </p:cNvPr>
          <p:cNvSpPr/>
          <p:nvPr/>
        </p:nvSpPr>
        <p:spPr>
          <a:xfrm>
            <a:off x="9478932" y="1887042"/>
            <a:ext cx="2039674" cy="266659"/>
          </a:xfrm>
          <a:prstGeom prst="roundRect">
            <a:avLst/>
          </a:prstGeom>
          <a:solidFill>
            <a:srgbClr val="E12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cs typeface="Poppins" pitchFamily="2" charset="77"/>
              </a:rPr>
              <a:t>Super Treaters</a:t>
            </a:r>
          </a:p>
        </p:txBody>
      </p:sp>
      <p:sp>
        <p:nvSpPr>
          <p:cNvPr id="19" name="Subtitle 2">
            <a:extLst>
              <a:ext uri="{FF2B5EF4-FFF2-40B4-BE49-F238E27FC236}">
                <a16:creationId xmlns:a16="http://schemas.microsoft.com/office/drawing/2014/main" id="{D6F758D2-108D-5519-D538-8804F20D0740}"/>
              </a:ext>
            </a:extLst>
          </p:cNvPr>
          <p:cNvSpPr txBox="1">
            <a:spLocks/>
          </p:cNvSpPr>
          <p:nvPr/>
        </p:nvSpPr>
        <p:spPr>
          <a:xfrm>
            <a:off x="9575195" y="2164519"/>
            <a:ext cx="1847149" cy="600164"/>
          </a:xfrm>
          <a:prstGeom prst="rect">
            <a:avLst/>
          </a:prstGeom>
        </p:spPr>
        <p:txBody>
          <a:bodyPr vert="horz" wrap="square" lIns="45720" tIns="22860" rIns="45720" bIns="22860" rtlCol="0" anchor="t">
            <a:spAutoFit/>
          </a:bodyPr>
          <a:lstStyle>
            <a:defPPr>
              <a:defRPr lang="en-US"/>
            </a:defPPr>
            <a:lvl1pPr indent="0" defTabSz="1087636">
              <a:lnSpc>
                <a:spcPts val="1750"/>
              </a:lnSpc>
              <a:spcBef>
                <a:spcPct val="20000"/>
              </a:spcBef>
              <a:buFont typeface="Arial"/>
              <a:buNone/>
              <a:defRPr sz="1200">
                <a:latin typeface="+mj-lt"/>
                <a:ea typeface="League Spartan" charset="0"/>
                <a:cs typeface="Poppins" pitchFamily="2"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nSpc>
                <a:spcPct val="100000"/>
              </a:lnSpc>
            </a:pPr>
            <a:r>
              <a:rPr lang="en-US" b="1" noProof="0"/>
              <a:t>Managing NT1 relevant treatment</a:t>
            </a:r>
            <a:r>
              <a:rPr lang="en-US" noProof="0"/>
              <a:t> for a high-volume of patients</a:t>
            </a:r>
          </a:p>
        </p:txBody>
      </p:sp>
      <p:sp>
        <p:nvSpPr>
          <p:cNvPr id="22" name="Freeform: Shape 21">
            <a:extLst>
              <a:ext uri="{FF2B5EF4-FFF2-40B4-BE49-F238E27FC236}">
                <a16:creationId xmlns:a16="http://schemas.microsoft.com/office/drawing/2014/main" id="{22D7B1A4-03FA-F79B-593C-36E8272A4767}"/>
              </a:ext>
            </a:extLst>
          </p:cNvPr>
          <p:cNvSpPr>
            <a:spLocks/>
          </p:cNvSpPr>
          <p:nvPr/>
        </p:nvSpPr>
        <p:spPr>
          <a:xfrm>
            <a:off x="10270169" y="1235641"/>
            <a:ext cx="457200" cy="484632"/>
          </a:xfrm>
          <a:custGeom>
            <a:avLst/>
            <a:gdLst>
              <a:gd name="connsiteX0" fmla="*/ 396088 w 738558"/>
              <a:gd name="connsiteY0" fmla="*/ 706745 h 857250"/>
              <a:gd name="connsiteX1" fmla="*/ 395754 w 738558"/>
              <a:gd name="connsiteY1" fmla="*/ 722490 h 857250"/>
              <a:gd name="connsiteX2" fmla="*/ 368703 w 738558"/>
              <a:gd name="connsiteY2" fmla="*/ 748417 h 857250"/>
              <a:gd name="connsiteX3" fmla="*/ 360998 w 738558"/>
              <a:gd name="connsiteY3" fmla="*/ 751513 h 857250"/>
              <a:gd name="connsiteX4" fmla="*/ 360188 w 738558"/>
              <a:gd name="connsiteY4" fmla="*/ 751484 h 857250"/>
              <a:gd name="connsiteX5" fmla="*/ 352206 w 738558"/>
              <a:gd name="connsiteY5" fmla="*/ 747217 h 857250"/>
              <a:gd name="connsiteX6" fmla="*/ 341700 w 738558"/>
              <a:gd name="connsiteY6" fmla="*/ 733711 h 857250"/>
              <a:gd name="connsiteX7" fmla="*/ 343653 w 738558"/>
              <a:gd name="connsiteY7" fmla="*/ 718090 h 857250"/>
              <a:gd name="connsiteX8" fmla="*/ 359273 w 738558"/>
              <a:gd name="connsiteY8" fmla="*/ 720042 h 857250"/>
              <a:gd name="connsiteX9" fmla="*/ 362198 w 738558"/>
              <a:gd name="connsiteY9" fmla="*/ 723805 h 857250"/>
              <a:gd name="connsiteX10" fmla="*/ 380333 w 738558"/>
              <a:gd name="connsiteY10" fmla="*/ 706422 h 857250"/>
              <a:gd name="connsiteX11" fmla="*/ 396088 w 738558"/>
              <a:gd name="connsiteY11" fmla="*/ 706745 h 857250"/>
              <a:gd name="connsiteX12" fmla="*/ 380048 w 738558"/>
              <a:gd name="connsiteY12" fmla="*/ 269157 h 857250"/>
              <a:gd name="connsiteX13" fmla="*/ 372285 w 738558"/>
              <a:gd name="connsiteY13" fmla="*/ 328689 h 857250"/>
              <a:gd name="connsiteX14" fmla="*/ 280111 w 738558"/>
              <a:gd name="connsiteY14" fmla="*/ 488337 h 857250"/>
              <a:gd name="connsiteX15" fmla="*/ 212017 w 738558"/>
              <a:gd name="connsiteY15" fmla="*/ 527561 h 857250"/>
              <a:gd name="connsiteX16" fmla="*/ 172917 w 738558"/>
              <a:gd name="connsiteY16" fmla="*/ 517065 h 857250"/>
              <a:gd name="connsiteX17" fmla="*/ 144189 w 738558"/>
              <a:gd name="connsiteY17" fmla="*/ 409861 h 857250"/>
              <a:gd name="connsiteX18" fmla="*/ 236363 w 738558"/>
              <a:gd name="connsiteY18" fmla="*/ 250212 h 857250"/>
              <a:gd name="connsiteX19" fmla="*/ 343557 w 738558"/>
              <a:gd name="connsiteY19" fmla="*/ 221485 h 857250"/>
              <a:gd name="connsiteX20" fmla="*/ 380048 w 738558"/>
              <a:gd name="connsiteY20" fmla="*/ 269157 h 857250"/>
              <a:gd name="connsiteX21" fmla="*/ 304162 w 738558"/>
              <a:gd name="connsiteY21" fmla="*/ 402155 h 857250"/>
              <a:gd name="connsiteX22" fmla="*/ 206826 w 738558"/>
              <a:gd name="connsiteY22" fmla="*/ 345910 h 857250"/>
              <a:gd name="connsiteX23" fmla="*/ 163478 w 738558"/>
              <a:gd name="connsiteY23" fmla="*/ 420986 h 857250"/>
              <a:gd name="connsiteX24" fmla="*/ 157944 w 738558"/>
              <a:gd name="connsiteY24" fmla="*/ 463620 h 857250"/>
              <a:gd name="connsiteX25" fmla="*/ 184052 w 738558"/>
              <a:gd name="connsiteY25" fmla="*/ 497767 h 857250"/>
              <a:gd name="connsiteX26" fmla="*/ 260833 w 738558"/>
              <a:gd name="connsiteY26" fmla="*/ 477193 h 857250"/>
              <a:gd name="connsiteX27" fmla="*/ 304162 w 738558"/>
              <a:gd name="connsiteY27" fmla="*/ 402155 h 857250"/>
              <a:gd name="connsiteX28" fmla="*/ 332432 w 738558"/>
              <a:gd name="connsiteY28" fmla="*/ 240773 h 857250"/>
              <a:gd name="connsiteX29" fmla="*/ 337995 w 738558"/>
              <a:gd name="connsiteY29" fmla="*/ 231134 h 857250"/>
              <a:gd name="connsiteX30" fmla="*/ 332432 w 738558"/>
              <a:gd name="connsiteY30" fmla="*/ 240773 h 857250"/>
              <a:gd name="connsiteX31" fmla="*/ 304419 w 738558"/>
              <a:gd name="connsiteY31" fmla="*/ 233258 h 857250"/>
              <a:gd name="connsiteX32" fmla="*/ 255641 w 738558"/>
              <a:gd name="connsiteY32" fmla="*/ 261347 h 857250"/>
              <a:gd name="connsiteX33" fmla="*/ 217980 w 738558"/>
              <a:gd name="connsiteY33" fmla="*/ 326584 h 857250"/>
              <a:gd name="connsiteX34" fmla="*/ 315316 w 738558"/>
              <a:gd name="connsiteY34" fmla="*/ 382829 h 857250"/>
              <a:gd name="connsiteX35" fmla="*/ 353006 w 738558"/>
              <a:gd name="connsiteY35" fmla="*/ 317554 h 857250"/>
              <a:gd name="connsiteX36" fmla="*/ 332432 w 738558"/>
              <a:gd name="connsiteY36" fmla="*/ 240773 h 857250"/>
              <a:gd name="connsiteX37" fmla="*/ 331584 w 738558"/>
              <a:gd name="connsiteY37" fmla="*/ 250574 h 857250"/>
              <a:gd name="connsiteX38" fmla="*/ 293494 w 738558"/>
              <a:gd name="connsiteY38" fmla="*/ 242964 h 857250"/>
              <a:gd name="connsiteX39" fmla="*/ 259852 w 738558"/>
              <a:gd name="connsiteY39" fmla="*/ 268834 h 857250"/>
              <a:gd name="connsiteX40" fmla="*/ 264128 w 738558"/>
              <a:gd name="connsiteY40" fmla="*/ 283988 h 857250"/>
              <a:gd name="connsiteX41" fmla="*/ 269557 w 738558"/>
              <a:gd name="connsiteY41" fmla="*/ 285407 h 857250"/>
              <a:gd name="connsiteX42" fmla="*/ 279283 w 738558"/>
              <a:gd name="connsiteY42" fmla="*/ 279711 h 857250"/>
              <a:gd name="connsiteX43" fmla="*/ 298447 w 738558"/>
              <a:gd name="connsiteY43" fmla="*/ 264671 h 857250"/>
              <a:gd name="connsiteX44" fmla="*/ 318802 w 738558"/>
              <a:gd name="connsiteY44" fmla="*/ 268796 h 857250"/>
              <a:gd name="connsiteX45" fmla="*/ 334308 w 738558"/>
              <a:gd name="connsiteY45" fmla="*/ 266081 h 857250"/>
              <a:gd name="connsiteX46" fmla="*/ 331584 w 738558"/>
              <a:gd name="connsiteY46" fmla="*/ 250574 h 857250"/>
              <a:gd name="connsiteX47" fmla="*/ 387658 w 738558"/>
              <a:gd name="connsiteY47" fmla="*/ 347434 h 857250"/>
              <a:gd name="connsiteX48" fmla="*/ 475555 w 738558"/>
              <a:gd name="connsiteY48" fmla="*/ 326384 h 857250"/>
              <a:gd name="connsiteX49" fmla="*/ 539515 w 738558"/>
              <a:gd name="connsiteY49" fmla="*/ 332394 h 857250"/>
              <a:gd name="connsiteX50" fmla="*/ 539944 w 738558"/>
              <a:gd name="connsiteY50" fmla="*/ 332508 h 857250"/>
              <a:gd name="connsiteX51" fmla="*/ 589940 w 738558"/>
              <a:gd name="connsiteY51" fmla="*/ 357321 h 857250"/>
              <a:gd name="connsiteX52" fmla="*/ 604818 w 738558"/>
              <a:gd name="connsiteY52" fmla="*/ 389172 h 857250"/>
              <a:gd name="connsiteX53" fmla="*/ 604818 w 738558"/>
              <a:gd name="connsiteY53" fmla="*/ 438093 h 857250"/>
              <a:gd name="connsiteX54" fmla="*/ 476736 w 738558"/>
              <a:gd name="connsiteY54" fmla="*/ 510483 h 857250"/>
              <a:gd name="connsiteX55" fmla="*/ 476126 w 738558"/>
              <a:gd name="connsiteY55" fmla="*/ 510502 h 857250"/>
              <a:gd name="connsiteX56" fmla="*/ 472850 w 738558"/>
              <a:gd name="connsiteY56" fmla="*/ 510521 h 857250"/>
              <a:gd name="connsiteX57" fmla="*/ 361045 w 738558"/>
              <a:gd name="connsiteY57" fmla="*/ 478479 h 857250"/>
              <a:gd name="connsiteX58" fmla="*/ 347186 w 738558"/>
              <a:gd name="connsiteY58" fmla="*/ 447456 h 857250"/>
              <a:gd name="connsiteX59" fmla="*/ 347186 w 738558"/>
              <a:gd name="connsiteY59" fmla="*/ 398526 h 857250"/>
              <a:gd name="connsiteX60" fmla="*/ 387658 w 738558"/>
              <a:gd name="connsiteY60" fmla="*/ 347434 h 857250"/>
              <a:gd name="connsiteX61" fmla="*/ 582549 w 738558"/>
              <a:gd name="connsiteY61" fmla="*/ 438074 h 857250"/>
              <a:gd name="connsiteX62" fmla="*/ 582549 w 738558"/>
              <a:gd name="connsiteY62" fmla="*/ 428568 h 857250"/>
              <a:gd name="connsiteX63" fmla="*/ 564337 w 738558"/>
              <a:gd name="connsiteY63" fmla="*/ 440246 h 857250"/>
              <a:gd name="connsiteX64" fmla="*/ 476441 w 738558"/>
              <a:gd name="connsiteY64" fmla="*/ 461296 h 857250"/>
              <a:gd name="connsiteX65" fmla="*/ 466134 w 738558"/>
              <a:gd name="connsiteY65" fmla="*/ 461505 h 857250"/>
              <a:gd name="connsiteX66" fmla="*/ 402250 w 738558"/>
              <a:gd name="connsiteY66" fmla="*/ 452399 h 857250"/>
              <a:gd name="connsiteX67" fmla="*/ 402184 w 738558"/>
              <a:gd name="connsiteY67" fmla="*/ 452380 h 857250"/>
              <a:gd name="connsiteX68" fmla="*/ 369456 w 738558"/>
              <a:gd name="connsiteY68" fmla="*/ 436521 h 857250"/>
              <a:gd name="connsiteX69" fmla="*/ 369456 w 738558"/>
              <a:gd name="connsiteY69" fmla="*/ 447446 h 857250"/>
              <a:gd name="connsiteX70" fmla="*/ 376695 w 738558"/>
              <a:gd name="connsiteY70" fmla="*/ 462629 h 857250"/>
              <a:gd name="connsiteX71" fmla="*/ 475555 w 738558"/>
              <a:gd name="connsiteY71" fmla="*/ 488232 h 857250"/>
              <a:gd name="connsiteX72" fmla="*/ 582549 w 738558"/>
              <a:gd name="connsiteY72" fmla="*/ 438074 h 857250"/>
              <a:gd name="connsiteX73" fmla="*/ 574510 w 738558"/>
              <a:gd name="connsiteY73" fmla="*/ 373361 h 857250"/>
              <a:gd name="connsiteX74" fmla="*/ 539439 w 738558"/>
              <a:gd name="connsiteY74" fmla="*/ 355368 h 857250"/>
              <a:gd name="connsiteX75" fmla="*/ 431549 w 738558"/>
              <a:gd name="connsiteY75" fmla="*/ 436521 h 857250"/>
              <a:gd name="connsiteX76" fmla="*/ 475555 w 738558"/>
              <a:gd name="connsiteY76" fmla="*/ 439045 h 857250"/>
              <a:gd name="connsiteX77" fmla="*/ 582549 w 738558"/>
              <a:gd name="connsiteY77" fmla="*/ 389153 h 857250"/>
              <a:gd name="connsiteX78" fmla="*/ 574510 w 738558"/>
              <a:gd name="connsiteY78" fmla="*/ 373361 h 857250"/>
              <a:gd name="connsiteX79" fmla="*/ 369446 w 738558"/>
              <a:gd name="connsiteY79" fmla="*/ 398526 h 857250"/>
              <a:gd name="connsiteX80" fmla="*/ 377485 w 738558"/>
              <a:gd name="connsiteY80" fmla="*/ 414318 h 857250"/>
              <a:gd name="connsiteX81" fmla="*/ 403851 w 738558"/>
              <a:gd name="connsiteY81" fmla="*/ 429492 h 857250"/>
              <a:gd name="connsiteX82" fmla="*/ 509892 w 738558"/>
              <a:gd name="connsiteY82" fmla="*/ 349729 h 857250"/>
              <a:gd name="connsiteX83" fmla="*/ 476441 w 738558"/>
              <a:gd name="connsiteY83" fmla="*/ 348634 h 857250"/>
              <a:gd name="connsiteX84" fmla="*/ 369446 w 738558"/>
              <a:gd name="connsiteY84" fmla="*/ 398526 h 857250"/>
              <a:gd name="connsiteX85" fmla="*/ 499110 w 738558"/>
              <a:gd name="connsiteY85" fmla="*/ 715061 h 857250"/>
              <a:gd name="connsiteX86" fmla="*/ 499110 w 738558"/>
              <a:gd name="connsiteY86" fmla="*/ 739769 h 857250"/>
              <a:gd name="connsiteX87" fmla="*/ 482327 w 738558"/>
              <a:gd name="connsiteY87" fmla="*/ 758676 h 857250"/>
              <a:gd name="connsiteX88" fmla="*/ 462858 w 738558"/>
              <a:gd name="connsiteY88" fmla="*/ 761009 h 857250"/>
              <a:gd name="connsiteX89" fmla="*/ 459200 w 738558"/>
              <a:gd name="connsiteY89" fmla="*/ 769830 h 857250"/>
              <a:gd name="connsiteX90" fmla="*/ 471326 w 738558"/>
              <a:gd name="connsiteY90" fmla="*/ 785251 h 857250"/>
              <a:gd name="connsiteX91" fmla="*/ 469821 w 738558"/>
              <a:gd name="connsiteY91" fmla="*/ 810492 h 857250"/>
              <a:gd name="connsiteX92" fmla="*/ 452352 w 738558"/>
              <a:gd name="connsiteY92" fmla="*/ 827961 h 857250"/>
              <a:gd name="connsiteX93" fmla="*/ 427120 w 738558"/>
              <a:gd name="connsiteY93" fmla="*/ 829466 h 857250"/>
              <a:gd name="connsiteX94" fmla="*/ 411690 w 738558"/>
              <a:gd name="connsiteY94" fmla="*/ 817340 h 857250"/>
              <a:gd name="connsiteX95" fmla="*/ 402879 w 738558"/>
              <a:gd name="connsiteY95" fmla="*/ 820998 h 857250"/>
              <a:gd name="connsiteX96" fmla="*/ 400545 w 738558"/>
              <a:gd name="connsiteY96" fmla="*/ 840476 h 857250"/>
              <a:gd name="connsiteX97" fmla="*/ 381629 w 738558"/>
              <a:gd name="connsiteY97" fmla="*/ 857250 h 857250"/>
              <a:gd name="connsiteX98" fmla="*/ 356930 w 738558"/>
              <a:gd name="connsiteY98" fmla="*/ 857250 h 857250"/>
              <a:gd name="connsiteX99" fmla="*/ 338023 w 738558"/>
              <a:gd name="connsiteY99" fmla="*/ 840467 h 857250"/>
              <a:gd name="connsiteX100" fmla="*/ 335690 w 738558"/>
              <a:gd name="connsiteY100" fmla="*/ 820988 h 857250"/>
              <a:gd name="connsiteX101" fmla="*/ 326869 w 738558"/>
              <a:gd name="connsiteY101" fmla="*/ 817331 h 857250"/>
              <a:gd name="connsiteX102" fmla="*/ 311439 w 738558"/>
              <a:gd name="connsiteY102" fmla="*/ 829456 h 857250"/>
              <a:gd name="connsiteX103" fmla="*/ 286198 w 738558"/>
              <a:gd name="connsiteY103" fmla="*/ 827951 h 857250"/>
              <a:gd name="connsiteX104" fmla="*/ 268729 w 738558"/>
              <a:gd name="connsiteY104" fmla="*/ 810482 h 857250"/>
              <a:gd name="connsiteX105" fmla="*/ 267224 w 738558"/>
              <a:gd name="connsiteY105" fmla="*/ 785241 h 857250"/>
              <a:gd name="connsiteX106" fmla="*/ 279349 w 738558"/>
              <a:gd name="connsiteY106" fmla="*/ 769811 h 857250"/>
              <a:gd name="connsiteX107" fmla="*/ 275692 w 738558"/>
              <a:gd name="connsiteY107" fmla="*/ 761000 h 857250"/>
              <a:gd name="connsiteX108" fmla="*/ 256213 w 738558"/>
              <a:gd name="connsiteY108" fmla="*/ 758666 h 857250"/>
              <a:gd name="connsiteX109" fmla="*/ 239430 w 738558"/>
              <a:gd name="connsiteY109" fmla="*/ 739759 h 857250"/>
              <a:gd name="connsiteX110" fmla="*/ 239430 w 738558"/>
              <a:gd name="connsiteY110" fmla="*/ 715051 h 857250"/>
              <a:gd name="connsiteX111" fmla="*/ 256203 w 738558"/>
              <a:gd name="connsiteY111" fmla="*/ 696144 h 857250"/>
              <a:gd name="connsiteX112" fmla="*/ 275682 w 738558"/>
              <a:gd name="connsiteY112" fmla="*/ 693811 h 857250"/>
              <a:gd name="connsiteX113" fmla="*/ 279340 w 738558"/>
              <a:gd name="connsiteY113" fmla="*/ 684990 h 857250"/>
              <a:gd name="connsiteX114" fmla="*/ 267214 w 738558"/>
              <a:gd name="connsiteY114" fmla="*/ 669560 h 857250"/>
              <a:gd name="connsiteX115" fmla="*/ 268719 w 738558"/>
              <a:gd name="connsiteY115" fmla="*/ 644319 h 857250"/>
              <a:gd name="connsiteX116" fmla="*/ 286188 w 738558"/>
              <a:gd name="connsiteY116" fmla="*/ 626850 h 857250"/>
              <a:gd name="connsiteX117" fmla="*/ 311420 w 738558"/>
              <a:gd name="connsiteY117" fmla="*/ 625335 h 857250"/>
              <a:gd name="connsiteX118" fmla="*/ 326850 w 738558"/>
              <a:gd name="connsiteY118" fmla="*/ 637461 h 857250"/>
              <a:gd name="connsiteX119" fmla="*/ 335661 w 738558"/>
              <a:gd name="connsiteY119" fmla="*/ 633803 h 857250"/>
              <a:gd name="connsiteX120" fmla="*/ 337995 w 738558"/>
              <a:gd name="connsiteY120" fmla="*/ 614324 h 857250"/>
              <a:gd name="connsiteX121" fmla="*/ 356902 w 738558"/>
              <a:gd name="connsiteY121" fmla="*/ 597541 h 857250"/>
              <a:gd name="connsiteX122" fmla="*/ 381600 w 738558"/>
              <a:gd name="connsiteY122" fmla="*/ 597541 h 857250"/>
              <a:gd name="connsiteX123" fmla="*/ 400507 w 738558"/>
              <a:gd name="connsiteY123" fmla="*/ 614324 h 857250"/>
              <a:gd name="connsiteX124" fmla="*/ 402841 w 738558"/>
              <a:gd name="connsiteY124" fmla="*/ 633803 h 857250"/>
              <a:gd name="connsiteX125" fmla="*/ 411661 w 738558"/>
              <a:gd name="connsiteY125" fmla="*/ 637461 h 857250"/>
              <a:gd name="connsiteX126" fmla="*/ 427091 w 738558"/>
              <a:gd name="connsiteY126" fmla="*/ 625335 h 857250"/>
              <a:gd name="connsiteX127" fmla="*/ 452333 w 738558"/>
              <a:gd name="connsiteY127" fmla="*/ 626840 h 857250"/>
              <a:gd name="connsiteX128" fmla="*/ 469802 w 738558"/>
              <a:gd name="connsiteY128" fmla="*/ 644309 h 857250"/>
              <a:gd name="connsiteX129" fmla="*/ 471307 w 738558"/>
              <a:gd name="connsiteY129" fmla="*/ 669541 h 857250"/>
              <a:gd name="connsiteX130" fmla="*/ 459181 w 738558"/>
              <a:gd name="connsiteY130" fmla="*/ 684971 h 857250"/>
              <a:gd name="connsiteX131" fmla="*/ 462839 w 738558"/>
              <a:gd name="connsiteY131" fmla="*/ 693782 h 857250"/>
              <a:gd name="connsiteX132" fmla="*/ 482317 w 738558"/>
              <a:gd name="connsiteY132" fmla="*/ 696116 h 857250"/>
              <a:gd name="connsiteX133" fmla="*/ 499110 w 738558"/>
              <a:gd name="connsiteY133" fmla="*/ 715061 h 857250"/>
              <a:gd name="connsiteX134" fmla="*/ 476850 w 738558"/>
              <a:gd name="connsiteY134" fmla="*/ 717918 h 857250"/>
              <a:gd name="connsiteX135" fmla="*/ 458210 w 738558"/>
              <a:gd name="connsiteY135" fmla="*/ 715680 h 857250"/>
              <a:gd name="connsiteX136" fmla="*/ 442427 w 738558"/>
              <a:gd name="connsiteY136" fmla="*/ 702840 h 857250"/>
              <a:gd name="connsiteX137" fmla="*/ 438379 w 738558"/>
              <a:gd name="connsiteY137" fmla="*/ 693087 h 857250"/>
              <a:gd name="connsiteX138" fmla="*/ 440455 w 738558"/>
              <a:gd name="connsiteY138" fmla="*/ 672827 h 857250"/>
              <a:gd name="connsiteX139" fmla="*/ 452066 w 738558"/>
              <a:gd name="connsiteY139" fmla="*/ 658054 h 857250"/>
              <a:gd name="connsiteX140" fmla="*/ 438636 w 738558"/>
              <a:gd name="connsiteY140" fmla="*/ 644623 h 857250"/>
              <a:gd name="connsiteX141" fmla="*/ 423872 w 738558"/>
              <a:gd name="connsiteY141" fmla="*/ 656225 h 857250"/>
              <a:gd name="connsiteX142" fmla="*/ 403612 w 738558"/>
              <a:gd name="connsiteY142" fmla="*/ 658301 h 857250"/>
              <a:gd name="connsiteX143" fmla="*/ 393859 w 738558"/>
              <a:gd name="connsiteY143" fmla="*/ 654263 h 857250"/>
              <a:gd name="connsiteX144" fmla="*/ 381010 w 738558"/>
              <a:gd name="connsiteY144" fmla="*/ 638470 h 857250"/>
              <a:gd name="connsiteX145" fmla="*/ 378781 w 738558"/>
              <a:gd name="connsiteY145" fmla="*/ 619839 h 857250"/>
              <a:gd name="connsiteX146" fmla="*/ 359788 w 738558"/>
              <a:gd name="connsiteY146" fmla="*/ 619839 h 857250"/>
              <a:gd name="connsiteX147" fmla="*/ 357549 w 738558"/>
              <a:gd name="connsiteY147" fmla="*/ 638480 h 857250"/>
              <a:gd name="connsiteX148" fmla="*/ 344710 w 738558"/>
              <a:gd name="connsiteY148" fmla="*/ 654272 h 857250"/>
              <a:gd name="connsiteX149" fmla="*/ 334956 w 738558"/>
              <a:gd name="connsiteY149" fmla="*/ 658311 h 857250"/>
              <a:gd name="connsiteX150" fmla="*/ 314696 w 738558"/>
              <a:gd name="connsiteY150" fmla="*/ 656244 h 857250"/>
              <a:gd name="connsiteX151" fmla="*/ 299933 w 738558"/>
              <a:gd name="connsiteY151" fmla="*/ 644633 h 857250"/>
              <a:gd name="connsiteX152" fmla="*/ 286503 w 738558"/>
              <a:gd name="connsiteY152" fmla="*/ 658063 h 857250"/>
              <a:gd name="connsiteX153" fmla="*/ 298104 w 738558"/>
              <a:gd name="connsiteY153" fmla="*/ 672827 h 857250"/>
              <a:gd name="connsiteX154" fmla="*/ 300180 w 738558"/>
              <a:gd name="connsiteY154" fmla="*/ 693087 h 857250"/>
              <a:gd name="connsiteX155" fmla="*/ 296142 w 738558"/>
              <a:gd name="connsiteY155" fmla="*/ 702840 h 857250"/>
              <a:gd name="connsiteX156" fmla="*/ 280359 w 738558"/>
              <a:gd name="connsiteY156" fmla="*/ 715689 h 857250"/>
              <a:gd name="connsiteX157" fmla="*/ 261718 w 738558"/>
              <a:gd name="connsiteY157" fmla="*/ 717928 h 857250"/>
              <a:gd name="connsiteX158" fmla="*/ 261718 w 738558"/>
              <a:gd name="connsiteY158" fmla="*/ 736921 h 857250"/>
              <a:gd name="connsiteX159" fmla="*/ 280359 w 738558"/>
              <a:gd name="connsiteY159" fmla="*/ 739159 h 857250"/>
              <a:gd name="connsiteX160" fmla="*/ 296142 w 738558"/>
              <a:gd name="connsiteY160" fmla="*/ 751999 h 857250"/>
              <a:gd name="connsiteX161" fmla="*/ 300190 w 738558"/>
              <a:gd name="connsiteY161" fmla="*/ 761743 h 857250"/>
              <a:gd name="connsiteX162" fmla="*/ 298113 w 738558"/>
              <a:gd name="connsiteY162" fmla="*/ 782003 h 857250"/>
              <a:gd name="connsiteX163" fmla="*/ 286512 w 738558"/>
              <a:gd name="connsiteY163" fmla="*/ 796766 h 857250"/>
              <a:gd name="connsiteX164" fmla="*/ 299942 w 738558"/>
              <a:gd name="connsiteY164" fmla="*/ 810197 h 857250"/>
              <a:gd name="connsiteX165" fmla="*/ 314706 w 738558"/>
              <a:gd name="connsiteY165" fmla="*/ 798595 h 857250"/>
              <a:gd name="connsiteX166" fmla="*/ 334966 w 738558"/>
              <a:gd name="connsiteY166" fmla="*/ 796519 h 857250"/>
              <a:gd name="connsiteX167" fmla="*/ 344719 w 738558"/>
              <a:gd name="connsiteY167" fmla="*/ 800557 h 857250"/>
              <a:gd name="connsiteX168" fmla="*/ 357569 w 738558"/>
              <a:gd name="connsiteY168" fmla="*/ 816350 h 857250"/>
              <a:gd name="connsiteX169" fmla="*/ 359807 w 738558"/>
              <a:gd name="connsiteY169" fmla="*/ 834990 h 857250"/>
              <a:gd name="connsiteX170" fmla="*/ 378800 w 738558"/>
              <a:gd name="connsiteY170" fmla="*/ 834990 h 857250"/>
              <a:gd name="connsiteX171" fmla="*/ 381029 w 738558"/>
              <a:gd name="connsiteY171" fmla="*/ 816350 h 857250"/>
              <a:gd name="connsiteX172" fmla="*/ 393868 w 738558"/>
              <a:gd name="connsiteY172" fmla="*/ 800557 h 857250"/>
              <a:gd name="connsiteX173" fmla="*/ 403622 w 738558"/>
              <a:gd name="connsiteY173" fmla="*/ 796509 h 857250"/>
              <a:gd name="connsiteX174" fmla="*/ 423882 w 738558"/>
              <a:gd name="connsiteY174" fmla="*/ 798586 h 857250"/>
              <a:gd name="connsiteX175" fmla="*/ 438645 w 738558"/>
              <a:gd name="connsiteY175" fmla="*/ 810187 h 857250"/>
              <a:gd name="connsiteX176" fmla="*/ 452076 w 738558"/>
              <a:gd name="connsiteY176" fmla="*/ 796757 h 857250"/>
              <a:gd name="connsiteX177" fmla="*/ 440474 w 738558"/>
              <a:gd name="connsiteY177" fmla="*/ 781993 h 857250"/>
              <a:gd name="connsiteX178" fmla="*/ 438398 w 738558"/>
              <a:gd name="connsiteY178" fmla="*/ 761733 h 857250"/>
              <a:gd name="connsiteX179" fmla="*/ 442446 w 738558"/>
              <a:gd name="connsiteY179" fmla="*/ 751980 h 857250"/>
              <a:gd name="connsiteX180" fmla="*/ 458238 w 738558"/>
              <a:gd name="connsiteY180" fmla="*/ 739130 h 857250"/>
              <a:gd name="connsiteX181" fmla="*/ 476869 w 738558"/>
              <a:gd name="connsiteY181" fmla="*/ 736892 h 857250"/>
              <a:gd name="connsiteX182" fmla="*/ 476869 w 738558"/>
              <a:gd name="connsiteY182" fmla="*/ 717918 h 857250"/>
              <a:gd name="connsiteX183" fmla="*/ 433511 w 738558"/>
              <a:gd name="connsiteY183" fmla="*/ 727415 h 857250"/>
              <a:gd name="connsiteX184" fmla="*/ 369275 w 738558"/>
              <a:gd name="connsiteY184" fmla="*/ 791651 h 857250"/>
              <a:gd name="connsiteX185" fmla="*/ 305038 w 738558"/>
              <a:gd name="connsiteY185" fmla="*/ 727415 h 857250"/>
              <a:gd name="connsiteX186" fmla="*/ 369275 w 738558"/>
              <a:gd name="connsiteY186" fmla="*/ 663178 h 857250"/>
              <a:gd name="connsiteX187" fmla="*/ 433511 w 738558"/>
              <a:gd name="connsiteY187" fmla="*/ 727415 h 857250"/>
              <a:gd name="connsiteX188" fmla="*/ 411242 w 738558"/>
              <a:gd name="connsiteY188" fmla="*/ 727415 h 857250"/>
              <a:gd name="connsiteX189" fmla="*/ 369275 w 738558"/>
              <a:gd name="connsiteY189" fmla="*/ 685448 h 857250"/>
              <a:gd name="connsiteX190" fmla="*/ 327308 w 738558"/>
              <a:gd name="connsiteY190" fmla="*/ 727415 h 857250"/>
              <a:gd name="connsiteX191" fmla="*/ 369275 w 738558"/>
              <a:gd name="connsiteY191" fmla="*/ 769382 h 857250"/>
              <a:gd name="connsiteX192" fmla="*/ 411242 w 738558"/>
              <a:gd name="connsiteY192" fmla="*/ 727415 h 857250"/>
              <a:gd name="connsiteX193" fmla="*/ 369275 w 738558"/>
              <a:gd name="connsiteY193" fmla="*/ 0 h 857250"/>
              <a:gd name="connsiteX194" fmla="*/ 0 w 738558"/>
              <a:gd name="connsiteY194" fmla="*/ 369275 h 857250"/>
              <a:gd name="connsiteX195" fmla="*/ 58055 w 738558"/>
              <a:gd name="connsiteY195" fmla="*/ 568119 h 857250"/>
              <a:gd name="connsiteX196" fmla="*/ 208740 w 738558"/>
              <a:gd name="connsiteY196" fmla="*/ 701916 h 857250"/>
              <a:gd name="connsiteX197" fmla="*/ 213579 w 738558"/>
              <a:gd name="connsiteY197" fmla="*/ 703031 h 857250"/>
              <a:gd name="connsiteX198" fmla="*/ 223609 w 738558"/>
              <a:gd name="connsiteY198" fmla="*/ 696744 h 857250"/>
              <a:gd name="connsiteX199" fmla="*/ 218427 w 738558"/>
              <a:gd name="connsiteY199" fmla="*/ 681876 h 857250"/>
              <a:gd name="connsiteX200" fmla="*/ 22260 w 738558"/>
              <a:gd name="connsiteY200" fmla="*/ 369275 h 857250"/>
              <a:gd name="connsiteX201" fmla="*/ 369275 w 738558"/>
              <a:gd name="connsiteY201" fmla="*/ 22269 h 857250"/>
              <a:gd name="connsiteX202" fmla="*/ 716280 w 738558"/>
              <a:gd name="connsiteY202" fmla="*/ 369275 h 857250"/>
              <a:gd name="connsiteX203" fmla="*/ 558175 w 738558"/>
              <a:gd name="connsiteY203" fmla="*/ 660502 h 857250"/>
              <a:gd name="connsiteX204" fmla="*/ 561384 w 738558"/>
              <a:gd name="connsiteY204" fmla="*/ 655472 h 857250"/>
              <a:gd name="connsiteX205" fmla="*/ 557984 w 738558"/>
              <a:gd name="connsiteY205" fmla="*/ 640099 h 857250"/>
              <a:gd name="connsiteX206" fmla="*/ 542611 w 738558"/>
              <a:gd name="connsiteY206" fmla="*/ 643499 h 857250"/>
              <a:gd name="connsiteX207" fmla="*/ 515579 w 738558"/>
              <a:gd name="connsiteY207" fmla="*/ 685914 h 857250"/>
              <a:gd name="connsiteX208" fmla="*/ 515341 w 738558"/>
              <a:gd name="connsiteY208" fmla="*/ 697487 h 857250"/>
              <a:gd name="connsiteX209" fmla="*/ 525504 w 738558"/>
              <a:gd name="connsiteY209" fmla="*/ 703021 h 857250"/>
              <a:gd name="connsiteX210" fmla="*/ 575739 w 738558"/>
              <a:gd name="connsiteY210" fmla="*/ 700602 h 857250"/>
              <a:gd name="connsiteX211" fmla="*/ 586321 w 738558"/>
              <a:gd name="connsiteY211" fmla="*/ 688943 h 857250"/>
              <a:gd name="connsiteX212" fmla="*/ 574662 w 738558"/>
              <a:gd name="connsiteY212" fmla="*/ 678361 h 857250"/>
              <a:gd name="connsiteX213" fmla="*/ 571176 w 738558"/>
              <a:gd name="connsiteY213" fmla="*/ 678532 h 857250"/>
              <a:gd name="connsiteX214" fmla="*/ 680990 w 738558"/>
              <a:gd name="connsiteY214" fmla="*/ 567357 h 857250"/>
              <a:gd name="connsiteX215" fmla="*/ 738559 w 738558"/>
              <a:gd name="connsiteY215" fmla="*/ 369275 h 857250"/>
              <a:gd name="connsiteX216" fmla="*/ 369275 w 738558"/>
              <a:gd name="connsiteY216"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738558" h="857250">
                <a:moveTo>
                  <a:pt x="396088" y="706745"/>
                </a:moveTo>
                <a:cubicBezTo>
                  <a:pt x="400345" y="711184"/>
                  <a:pt x="400193" y="718233"/>
                  <a:pt x="395754" y="722490"/>
                </a:cubicBezTo>
                <a:lnTo>
                  <a:pt x="368703" y="748417"/>
                </a:lnTo>
                <a:cubicBezTo>
                  <a:pt x="366627" y="750408"/>
                  <a:pt x="363865" y="751513"/>
                  <a:pt x="360998" y="751513"/>
                </a:cubicBezTo>
                <a:cubicBezTo>
                  <a:pt x="360731" y="751513"/>
                  <a:pt x="360455" y="751504"/>
                  <a:pt x="360188" y="751484"/>
                </a:cubicBezTo>
                <a:cubicBezTo>
                  <a:pt x="357045" y="751256"/>
                  <a:pt x="354149" y="749703"/>
                  <a:pt x="352206" y="747217"/>
                </a:cubicBezTo>
                <a:lnTo>
                  <a:pt x="341700" y="733711"/>
                </a:lnTo>
                <a:cubicBezTo>
                  <a:pt x="337928" y="728863"/>
                  <a:pt x="338795" y="721862"/>
                  <a:pt x="343653" y="718090"/>
                </a:cubicBezTo>
                <a:cubicBezTo>
                  <a:pt x="348510" y="714318"/>
                  <a:pt x="355502" y="715194"/>
                  <a:pt x="359273" y="720042"/>
                </a:cubicBezTo>
                <a:lnTo>
                  <a:pt x="362198" y="723805"/>
                </a:lnTo>
                <a:lnTo>
                  <a:pt x="380333" y="706422"/>
                </a:lnTo>
                <a:cubicBezTo>
                  <a:pt x="384791" y="702154"/>
                  <a:pt x="391839" y="702307"/>
                  <a:pt x="396088" y="706745"/>
                </a:cubicBezTo>
                <a:close/>
                <a:moveTo>
                  <a:pt x="380048" y="269157"/>
                </a:moveTo>
                <a:cubicBezTo>
                  <a:pt x="385486" y="289455"/>
                  <a:pt x="382734" y="310591"/>
                  <a:pt x="372285" y="328689"/>
                </a:cubicBezTo>
                <a:lnTo>
                  <a:pt x="280111" y="488337"/>
                </a:lnTo>
                <a:cubicBezTo>
                  <a:pt x="265595" y="513483"/>
                  <a:pt x="239154" y="527552"/>
                  <a:pt x="212017" y="527561"/>
                </a:cubicBezTo>
                <a:cubicBezTo>
                  <a:pt x="198711" y="527561"/>
                  <a:pt x="185242" y="524180"/>
                  <a:pt x="172917" y="517065"/>
                </a:cubicBezTo>
                <a:cubicBezTo>
                  <a:pt x="135446" y="495424"/>
                  <a:pt x="122558" y="447342"/>
                  <a:pt x="144189" y="409861"/>
                </a:cubicBezTo>
                <a:lnTo>
                  <a:pt x="236363" y="250212"/>
                </a:lnTo>
                <a:cubicBezTo>
                  <a:pt x="258004" y="212741"/>
                  <a:pt x="306086" y="199854"/>
                  <a:pt x="343557" y="221485"/>
                </a:cubicBezTo>
                <a:cubicBezTo>
                  <a:pt x="361655" y="231934"/>
                  <a:pt x="374609" y="248860"/>
                  <a:pt x="380048" y="269157"/>
                </a:cubicBezTo>
                <a:close/>
                <a:moveTo>
                  <a:pt x="304162" y="402155"/>
                </a:moveTo>
                <a:cubicBezTo>
                  <a:pt x="272996" y="381152"/>
                  <a:pt x="240344" y="362283"/>
                  <a:pt x="206826" y="345910"/>
                </a:cubicBezTo>
                <a:lnTo>
                  <a:pt x="163478" y="420986"/>
                </a:lnTo>
                <a:cubicBezTo>
                  <a:pt x="156010" y="433921"/>
                  <a:pt x="154038" y="449066"/>
                  <a:pt x="157944" y="463620"/>
                </a:cubicBezTo>
                <a:cubicBezTo>
                  <a:pt x="161839" y="478174"/>
                  <a:pt x="171117" y="490299"/>
                  <a:pt x="184052" y="497767"/>
                </a:cubicBezTo>
                <a:cubicBezTo>
                  <a:pt x="210893" y="513264"/>
                  <a:pt x="245335" y="504034"/>
                  <a:pt x="260833" y="477193"/>
                </a:cubicBezTo>
                <a:lnTo>
                  <a:pt x="304162" y="402155"/>
                </a:lnTo>
                <a:close/>
                <a:moveTo>
                  <a:pt x="332432" y="240773"/>
                </a:moveTo>
                <a:lnTo>
                  <a:pt x="337995" y="231134"/>
                </a:lnTo>
                <a:lnTo>
                  <a:pt x="332432" y="240773"/>
                </a:lnTo>
                <a:cubicBezTo>
                  <a:pt x="323602" y="235677"/>
                  <a:pt x="313954" y="233258"/>
                  <a:pt x="304419" y="233258"/>
                </a:cubicBezTo>
                <a:cubicBezTo>
                  <a:pt x="284979" y="233258"/>
                  <a:pt x="266043" y="243335"/>
                  <a:pt x="255641" y="261347"/>
                </a:cubicBezTo>
                <a:lnTo>
                  <a:pt x="217980" y="326584"/>
                </a:lnTo>
                <a:cubicBezTo>
                  <a:pt x="251470" y="343024"/>
                  <a:pt x="284121" y="361883"/>
                  <a:pt x="315316" y="382829"/>
                </a:cubicBezTo>
                <a:lnTo>
                  <a:pt x="353006" y="317554"/>
                </a:lnTo>
                <a:cubicBezTo>
                  <a:pt x="368503" y="290713"/>
                  <a:pt x="359273" y="256270"/>
                  <a:pt x="332432" y="240773"/>
                </a:cubicBezTo>
                <a:close/>
                <a:moveTo>
                  <a:pt x="331584" y="250574"/>
                </a:moveTo>
                <a:cubicBezTo>
                  <a:pt x="320288" y="242640"/>
                  <a:pt x="306762" y="239935"/>
                  <a:pt x="293494" y="242964"/>
                </a:cubicBezTo>
                <a:cubicBezTo>
                  <a:pt x="279540" y="246145"/>
                  <a:pt x="267272" y="255575"/>
                  <a:pt x="259852" y="268834"/>
                </a:cubicBezTo>
                <a:cubicBezTo>
                  <a:pt x="256851" y="274196"/>
                  <a:pt x="258756" y="280978"/>
                  <a:pt x="264128" y="283988"/>
                </a:cubicBezTo>
                <a:cubicBezTo>
                  <a:pt x="265852" y="284950"/>
                  <a:pt x="267719" y="285407"/>
                  <a:pt x="269557" y="285407"/>
                </a:cubicBezTo>
                <a:cubicBezTo>
                  <a:pt x="273453" y="285407"/>
                  <a:pt x="277244" y="283359"/>
                  <a:pt x="279283" y="279711"/>
                </a:cubicBezTo>
                <a:cubicBezTo>
                  <a:pt x="283702" y="271824"/>
                  <a:pt x="290503" y="266481"/>
                  <a:pt x="298447" y="264671"/>
                </a:cubicBezTo>
                <a:cubicBezTo>
                  <a:pt x="305495" y="263061"/>
                  <a:pt x="312725" y="264528"/>
                  <a:pt x="318802" y="268796"/>
                </a:cubicBezTo>
                <a:cubicBezTo>
                  <a:pt x="323831" y="272329"/>
                  <a:pt x="330775" y="271110"/>
                  <a:pt x="334308" y="266081"/>
                </a:cubicBezTo>
                <a:cubicBezTo>
                  <a:pt x="337833" y="261052"/>
                  <a:pt x="336614" y="254108"/>
                  <a:pt x="331584" y="250574"/>
                </a:cubicBezTo>
                <a:close/>
                <a:moveTo>
                  <a:pt x="387658" y="347434"/>
                </a:moveTo>
                <a:cubicBezTo>
                  <a:pt x="411309" y="335175"/>
                  <a:pt x="442522" y="327698"/>
                  <a:pt x="475555" y="326384"/>
                </a:cubicBezTo>
                <a:cubicBezTo>
                  <a:pt x="498558" y="325469"/>
                  <a:pt x="520475" y="327631"/>
                  <a:pt x="539515" y="332394"/>
                </a:cubicBezTo>
                <a:cubicBezTo>
                  <a:pt x="539658" y="332423"/>
                  <a:pt x="539801" y="332470"/>
                  <a:pt x="539944" y="332508"/>
                </a:cubicBezTo>
                <a:cubicBezTo>
                  <a:pt x="560994" y="337823"/>
                  <a:pt x="578491" y="346310"/>
                  <a:pt x="589940" y="357321"/>
                </a:cubicBezTo>
                <a:cubicBezTo>
                  <a:pt x="599675" y="366674"/>
                  <a:pt x="604818" y="377685"/>
                  <a:pt x="604818" y="389172"/>
                </a:cubicBezTo>
                <a:lnTo>
                  <a:pt x="604818" y="438093"/>
                </a:lnTo>
                <a:cubicBezTo>
                  <a:pt x="604818" y="481898"/>
                  <a:pt x="538429" y="506320"/>
                  <a:pt x="476736" y="510483"/>
                </a:cubicBezTo>
                <a:cubicBezTo>
                  <a:pt x="476536" y="510502"/>
                  <a:pt x="476326" y="510502"/>
                  <a:pt x="476126" y="510502"/>
                </a:cubicBezTo>
                <a:cubicBezTo>
                  <a:pt x="475040" y="510521"/>
                  <a:pt x="473945" y="510521"/>
                  <a:pt x="472850" y="510521"/>
                </a:cubicBezTo>
                <a:cubicBezTo>
                  <a:pt x="433864" y="510521"/>
                  <a:pt x="385010" y="502158"/>
                  <a:pt x="361045" y="478479"/>
                </a:cubicBezTo>
                <a:cubicBezTo>
                  <a:pt x="351977" y="469516"/>
                  <a:pt x="347186" y="458791"/>
                  <a:pt x="347186" y="447456"/>
                </a:cubicBezTo>
                <a:lnTo>
                  <a:pt x="347186" y="398526"/>
                </a:lnTo>
                <a:cubicBezTo>
                  <a:pt x="347177" y="379114"/>
                  <a:pt x="361559" y="360969"/>
                  <a:pt x="387658" y="347434"/>
                </a:cubicBezTo>
                <a:close/>
                <a:moveTo>
                  <a:pt x="582549" y="438074"/>
                </a:moveTo>
                <a:lnTo>
                  <a:pt x="582549" y="428568"/>
                </a:lnTo>
                <a:cubicBezTo>
                  <a:pt x="577329" y="432740"/>
                  <a:pt x="571262" y="436664"/>
                  <a:pt x="564337" y="440246"/>
                </a:cubicBezTo>
                <a:cubicBezTo>
                  <a:pt x="540687" y="452504"/>
                  <a:pt x="509473" y="459981"/>
                  <a:pt x="476441" y="461296"/>
                </a:cubicBezTo>
                <a:cubicBezTo>
                  <a:pt x="472983" y="461429"/>
                  <a:pt x="469535" y="461505"/>
                  <a:pt x="466134" y="461505"/>
                </a:cubicBezTo>
                <a:cubicBezTo>
                  <a:pt x="442722" y="461505"/>
                  <a:pt x="420757" y="458286"/>
                  <a:pt x="402250" y="452399"/>
                </a:cubicBezTo>
                <a:cubicBezTo>
                  <a:pt x="402231" y="452390"/>
                  <a:pt x="402203" y="452390"/>
                  <a:pt x="402184" y="452380"/>
                </a:cubicBezTo>
                <a:cubicBezTo>
                  <a:pt x="389411" y="448313"/>
                  <a:pt x="378285" y="442960"/>
                  <a:pt x="369456" y="436521"/>
                </a:cubicBezTo>
                <a:lnTo>
                  <a:pt x="369456" y="447446"/>
                </a:lnTo>
                <a:cubicBezTo>
                  <a:pt x="369456" y="452847"/>
                  <a:pt x="371827" y="457819"/>
                  <a:pt x="376695" y="462629"/>
                </a:cubicBezTo>
                <a:cubicBezTo>
                  <a:pt x="392687" y="478431"/>
                  <a:pt x="432397" y="488709"/>
                  <a:pt x="475555" y="488232"/>
                </a:cubicBezTo>
                <a:cubicBezTo>
                  <a:pt x="534581" y="484184"/>
                  <a:pt x="582549" y="461715"/>
                  <a:pt x="582549" y="438074"/>
                </a:cubicBezTo>
                <a:close/>
                <a:moveTo>
                  <a:pt x="574510" y="373361"/>
                </a:moveTo>
                <a:cubicBezTo>
                  <a:pt x="566623" y="365789"/>
                  <a:pt x="554384" y="359654"/>
                  <a:pt x="539439" y="355368"/>
                </a:cubicBezTo>
                <a:lnTo>
                  <a:pt x="431549" y="436521"/>
                </a:lnTo>
                <a:cubicBezTo>
                  <a:pt x="445151" y="438741"/>
                  <a:pt x="460105" y="439664"/>
                  <a:pt x="475555" y="439045"/>
                </a:cubicBezTo>
                <a:cubicBezTo>
                  <a:pt x="538610" y="436540"/>
                  <a:pt x="582549" y="410737"/>
                  <a:pt x="582549" y="389153"/>
                </a:cubicBezTo>
                <a:cubicBezTo>
                  <a:pt x="582549" y="383800"/>
                  <a:pt x="579844" y="378485"/>
                  <a:pt x="574510" y="373361"/>
                </a:cubicBezTo>
                <a:close/>
                <a:moveTo>
                  <a:pt x="369446" y="398526"/>
                </a:moveTo>
                <a:cubicBezTo>
                  <a:pt x="369446" y="403879"/>
                  <a:pt x="372151" y="409194"/>
                  <a:pt x="377485" y="414318"/>
                </a:cubicBezTo>
                <a:cubicBezTo>
                  <a:pt x="383781" y="420367"/>
                  <a:pt x="392849" y="425491"/>
                  <a:pt x="403851" y="429492"/>
                </a:cubicBezTo>
                <a:lnTo>
                  <a:pt x="509892" y="349729"/>
                </a:lnTo>
                <a:cubicBezTo>
                  <a:pt x="499253" y="348577"/>
                  <a:pt x="487985" y="348177"/>
                  <a:pt x="476441" y="348634"/>
                </a:cubicBezTo>
                <a:cubicBezTo>
                  <a:pt x="413385" y="351139"/>
                  <a:pt x="369446" y="376942"/>
                  <a:pt x="369446" y="398526"/>
                </a:cubicBezTo>
                <a:close/>
                <a:moveTo>
                  <a:pt x="499110" y="715061"/>
                </a:moveTo>
                <a:lnTo>
                  <a:pt x="499110" y="739769"/>
                </a:lnTo>
                <a:cubicBezTo>
                  <a:pt x="499110" y="749408"/>
                  <a:pt x="491890" y="757533"/>
                  <a:pt x="482327" y="758676"/>
                </a:cubicBezTo>
                <a:lnTo>
                  <a:pt x="462858" y="761009"/>
                </a:lnTo>
                <a:cubicBezTo>
                  <a:pt x="461782" y="764000"/>
                  <a:pt x="460562" y="766953"/>
                  <a:pt x="459200" y="769830"/>
                </a:cubicBezTo>
                <a:lnTo>
                  <a:pt x="471326" y="785251"/>
                </a:lnTo>
                <a:cubicBezTo>
                  <a:pt x="477279" y="792823"/>
                  <a:pt x="476631" y="803672"/>
                  <a:pt x="469821" y="810492"/>
                </a:cubicBezTo>
                <a:lnTo>
                  <a:pt x="452352" y="827961"/>
                </a:lnTo>
                <a:cubicBezTo>
                  <a:pt x="445541" y="834771"/>
                  <a:pt x="434692" y="835419"/>
                  <a:pt x="427120" y="829466"/>
                </a:cubicBezTo>
                <a:lnTo>
                  <a:pt x="411690" y="817340"/>
                </a:lnTo>
                <a:cubicBezTo>
                  <a:pt x="408813" y="818693"/>
                  <a:pt x="405870" y="819922"/>
                  <a:pt x="402879" y="820998"/>
                </a:cubicBezTo>
                <a:lnTo>
                  <a:pt x="400545" y="840476"/>
                </a:lnTo>
                <a:cubicBezTo>
                  <a:pt x="399393" y="850040"/>
                  <a:pt x="391258" y="857250"/>
                  <a:pt x="381629" y="857250"/>
                </a:cubicBezTo>
                <a:lnTo>
                  <a:pt x="356930" y="857250"/>
                </a:lnTo>
                <a:cubicBezTo>
                  <a:pt x="347291" y="857250"/>
                  <a:pt x="339166" y="850040"/>
                  <a:pt x="338023" y="840467"/>
                </a:cubicBezTo>
                <a:lnTo>
                  <a:pt x="335690" y="820988"/>
                </a:lnTo>
                <a:cubicBezTo>
                  <a:pt x="332699" y="819912"/>
                  <a:pt x="329746" y="818693"/>
                  <a:pt x="326869" y="817331"/>
                </a:cubicBezTo>
                <a:lnTo>
                  <a:pt x="311439" y="829456"/>
                </a:lnTo>
                <a:cubicBezTo>
                  <a:pt x="303857" y="835409"/>
                  <a:pt x="293008" y="834762"/>
                  <a:pt x="286198" y="827951"/>
                </a:cubicBezTo>
                <a:lnTo>
                  <a:pt x="268729" y="810482"/>
                </a:lnTo>
                <a:cubicBezTo>
                  <a:pt x="261918" y="803672"/>
                  <a:pt x="261271" y="792823"/>
                  <a:pt x="267224" y="785241"/>
                </a:cubicBezTo>
                <a:lnTo>
                  <a:pt x="279349" y="769811"/>
                </a:lnTo>
                <a:cubicBezTo>
                  <a:pt x="277997" y="766943"/>
                  <a:pt x="276768" y="763991"/>
                  <a:pt x="275692" y="761000"/>
                </a:cubicBezTo>
                <a:lnTo>
                  <a:pt x="256213" y="758666"/>
                </a:lnTo>
                <a:cubicBezTo>
                  <a:pt x="246650" y="757523"/>
                  <a:pt x="239430" y="749389"/>
                  <a:pt x="239430" y="739759"/>
                </a:cubicBezTo>
                <a:lnTo>
                  <a:pt x="239430" y="715051"/>
                </a:lnTo>
                <a:cubicBezTo>
                  <a:pt x="239430" y="705422"/>
                  <a:pt x="246640" y="697287"/>
                  <a:pt x="256203" y="696144"/>
                </a:cubicBezTo>
                <a:lnTo>
                  <a:pt x="275682" y="693811"/>
                </a:lnTo>
                <a:cubicBezTo>
                  <a:pt x="276758" y="690820"/>
                  <a:pt x="277978" y="687877"/>
                  <a:pt x="279340" y="684990"/>
                </a:cubicBezTo>
                <a:lnTo>
                  <a:pt x="267214" y="669560"/>
                </a:lnTo>
                <a:cubicBezTo>
                  <a:pt x="261261" y="661988"/>
                  <a:pt x="261909" y="651139"/>
                  <a:pt x="268719" y="644319"/>
                </a:cubicBezTo>
                <a:lnTo>
                  <a:pt x="286188" y="626850"/>
                </a:lnTo>
                <a:cubicBezTo>
                  <a:pt x="292999" y="620039"/>
                  <a:pt x="303848" y="619392"/>
                  <a:pt x="311420" y="625335"/>
                </a:cubicBezTo>
                <a:lnTo>
                  <a:pt x="326850" y="637461"/>
                </a:lnTo>
                <a:cubicBezTo>
                  <a:pt x="329727" y="636108"/>
                  <a:pt x="332680" y="634879"/>
                  <a:pt x="335661" y="633803"/>
                </a:cubicBezTo>
                <a:lnTo>
                  <a:pt x="337995" y="614324"/>
                </a:lnTo>
                <a:cubicBezTo>
                  <a:pt x="339138" y="604761"/>
                  <a:pt x="347272" y="597541"/>
                  <a:pt x="356902" y="597541"/>
                </a:cubicBezTo>
                <a:lnTo>
                  <a:pt x="381600" y="597541"/>
                </a:lnTo>
                <a:cubicBezTo>
                  <a:pt x="391239" y="597541"/>
                  <a:pt x="399364" y="604752"/>
                  <a:pt x="400507" y="614324"/>
                </a:cubicBezTo>
                <a:lnTo>
                  <a:pt x="402841" y="633803"/>
                </a:lnTo>
                <a:cubicBezTo>
                  <a:pt x="405832" y="634879"/>
                  <a:pt x="408784" y="636099"/>
                  <a:pt x="411661" y="637461"/>
                </a:cubicBezTo>
                <a:lnTo>
                  <a:pt x="427091" y="625335"/>
                </a:lnTo>
                <a:cubicBezTo>
                  <a:pt x="434664" y="619382"/>
                  <a:pt x="445513" y="620030"/>
                  <a:pt x="452333" y="626840"/>
                </a:cubicBezTo>
                <a:lnTo>
                  <a:pt x="469802" y="644309"/>
                </a:lnTo>
                <a:cubicBezTo>
                  <a:pt x="476612" y="651120"/>
                  <a:pt x="477260" y="661968"/>
                  <a:pt x="471307" y="669541"/>
                </a:cubicBezTo>
                <a:lnTo>
                  <a:pt x="459181" y="684971"/>
                </a:lnTo>
                <a:cubicBezTo>
                  <a:pt x="460534" y="687848"/>
                  <a:pt x="461762" y="690791"/>
                  <a:pt x="462839" y="693782"/>
                </a:cubicBezTo>
                <a:lnTo>
                  <a:pt x="482317" y="696116"/>
                </a:lnTo>
                <a:cubicBezTo>
                  <a:pt x="491900" y="697297"/>
                  <a:pt x="499110" y="705431"/>
                  <a:pt x="499110" y="715061"/>
                </a:cubicBezTo>
                <a:close/>
                <a:moveTo>
                  <a:pt x="476850" y="717918"/>
                </a:moveTo>
                <a:lnTo>
                  <a:pt x="458210" y="715680"/>
                </a:lnTo>
                <a:cubicBezTo>
                  <a:pt x="450837" y="714804"/>
                  <a:pt x="444789" y="709879"/>
                  <a:pt x="442427" y="702840"/>
                </a:cubicBezTo>
                <a:cubicBezTo>
                  <a:pt x="441312" y="699516"/>
                  <a:pt x="439950" y="696239"/>
                  <a:pt x="438379" y="693087"/>
                </a:cubicBezTo>
                <a:cubicBezTo>
                  <a:pt x="435064" y="686429"/>
                  <a:pt x="435864" y="678666"/>
                  <a:pt x="440455" y="672827"/>
                </a:cubicBezTo>
                <a:lnTo>
                  <a:pt x="452066" y="658054"/>
                </a:lnTo>
                <a:lnTo>
                  <a:pt x="438636" y="644623"/>
                </a:lnTo>
                <a:lnTo>
                  <a:pt x="423872" y="656225"/>
                </a:lnTo>
                <a:cubicBezTo>
                  <a:pt x="418033" y="660816"/>
                  <a:pt x="410270" y="661616"/>
                  <a:pt x="403612" y="658301"/>
                </a:cubicBezTo>
                <a:cubicBezTo>
                  <a:pt x="400460" y="656730"/>
                  <a:pt x="397183" y="655377"/>
                  <a:pt x="393859" y="654263"/>
                </a:cubicBezTo>
                <a:cubicBezTo>
                  <a:pt x="386810" y="651901"/>
                  <a:pt x="381895" y="645843"/>
                  <a:pt x="381010" y="638470"/>
                </a:cubicBezTo>
                <a:lnTo>
                  <a:pt x="378781" y="619839"/>
                </a:lnTo>
                <a:lnTo>
                  <a:pt x="359788" y="619839"/>
                </a:lnTo>
                <a:lnTo>
                  <a:pt x="357549" y="638480"/>
                </a:lnTo>
                <a:cubicBezTo>
                  <a:pt x="356664" y="645852"/>
                  <a:pt x="351749" y="651901"/>
                  <a:pt x="344710" y="654272"/>
                </a:cubicBezTo>
                <a:cubicBezTo>
                  <a:pt x="341386" y="655387"/>
                  <a:pt x="338109" y="656749"/>
                  <a:pt x="334956" y="658311"/>
                </a:cubicBezTo>
                <a:cubicBezTo>
                  <a:pt x="328298" y="661626"/>
                  <a:pt x="320535" y="660835"/>
                  <a:pt x="314696" y="656244"/>
                </a:cubicBezTo>
                <a:lnTo>
                  <a:pt x="299933" y="644633"/>
                </a:lnTo>
                <a:lnTo>
                  <a:pt x="286503" y="658063"/>
                </a:lnTo>
                <a:lnTo>
                  <a:pt x="298104" y="672827"/>
                </a:lnTo>
                <a:cubicBezTo>
                  <a:pt x="302695" y="678675"/>
                  <a:pt x="303495" y="686438"/>
                  <a:pt x="300180" y="693087"/>
                </a:cubicBezTo>
                <a:cubicBezTo>
                  <a:pt x="298609" y="696239"/>
                  <a:pt x="297256" y="699516"/>
                  <a:pt x="296142" y="702840"/>
                </a:cubicBezTo>
                <a:cubicBezTo>
                  <a:pt x="293770" y="709879"/>
                  <a:pt x="287722" y="714804"/>
                  <a:pt x="280359" y="715689"/>
                </a:cubicBezTo>
                <a:lnTo>
                  <a:pt x="261718" y="717928"/>
                </a:lnTo>
                <a:lnTo>
                  <a:pt x="261718" y="736921"/>
                </a:lnTo>
                <a:lnTo>
                  <a:pt x="280359" y="739159"/>
                </a:lnTo>
                <a:cubicBezTo>
                  <a:pt x="287731" y="740045"/>
                  <a:pt x="293780" y="744969"/>
                  <a:pt x="296142" y="751999"/>
                </a:cubicBezTo>
                <a:cubicBezTo>
                  <a:pt x="297256" y="755323"/>
                  <a:pt x="298618" y="758609"/>
                  <a:pt x="300190" y="761743"/>
                </a:cubicBezTo>
                <a:cubicBezTo>
                  <a:pt x="303505" y="768401"/>
                  <a:pt x="302705" y="776164"/>
                  <a:pt x="298113" y="782003"/>
                </a:cubicBezTo>
                <a:lnTo>
                  <a:pt x="286512" y="796766"/>
                </a:lnTo>
                <a:lnTo>
                  <a:pt x="299942" y="810197"/>
                </a:lnTo>
                <a:lnTo>
                  <a:pt x="314706" y="798595"/>
                </a:lnTo>
                <a:cubicBezTo>
                  <a:pt x="320545" y="794004"/>
                  <a:pt x="328308" y="793204"/>
                  <a:pt x="334966" y="796519"/>
                </a:cubicBezTo>
                <a:cubicBezTo>
                  <a:pt x="338109" y="798090"/>
                  <a:pt x="341395" y="799443"/>
                  <a:pt x="344719" y="800557"/>
                </a:cubicBezTo>
                <a:cubicBezTo>
                  <a:pt x="351758" y="802919"/>
                  <a:pt x="356683" y="808977"/>
                  <a:pt x="357569" y="816350"/>
                </a:cubicBezTo>
                <a:lnTo>
                  <a:pt x="359807" y="834990"/>
                </a:lnTo>
                <a:lnTo>
                  <a:pt x="378800" y="834990"/>
                </a:lnTo>
                <a:lnTo>
                  <a:pt x="381029" y="816350"/>
                </a:lnTo>
                <a:cubicBezTo>
                  <a:pt x="381914" y="808977"/>
                  <a:pt x="386839" y="802929"/>
                  <a:pt x="393868" y="800557"/>
                </a:cubicBezTo>
                <a:cubicBezTo>
                  <a:pt x="397193" y="799443"/>
                  <a:pt x="400469" y="798081"/>
                  <a:pt x="403622" y="796509"/>
                </a:cubicBezTo>
                <a:cubicBezTo>
                  <a:pt x="410280" y="793194"/>
                  <a:pt x="418043" y="793995"/>
                  <a:pt x="423882" y="798586"/>
                </a:cubicBezTo>
                <a:lnTo>
                  <a:pt x="438645" y="810187"/>
                </a:lnTo>
                <a:lnTo>
                  <a:pt x="452076" y="796757"/>
                </a:lnTo>
                <a:lnTo>
                  <a:pt x="440474" y="781993"/>
                </a:lnTo>
                <a:cubicBezTo>
                  <a:pt x="435883" y="776154"/>
                  <a:pt x="435083" y="768391"/>
                  <a:pt x="438398" y="761733"/>
                </a:cubicBezTo>
                <a:cubicBezTo>
                  <a:pt x="439969" y="758590"/>
                  <a:pt x="441322" y="755304"/>
                  <a:pt x="442446" y="751980"/>
                </a:cubicBezTo>
                <a:cubicBezTo>
                  <a:pt x="444808" y="744941"/>
                  <a:pt x="450866" y="740016"/>
                  <a:pt x="458238" y="739130"/>
                </a:cubicBezTo>
                <a:lnTo>
                  <a:pt x="476869" y="736892"/>
                </a:lnTo>
                <a:lnTo>
                  <a:pt x="476869" y="717918"/>
                </a:lnTo>
                <a:close/>
                <a:moveTo>
                  <a:pt x="433511" y="727415"/>
                </a:moveTo>
                <a:cubicBezTo>
                  <a:pt x="433511" y="762838"/>
                  <a:pt x="404698" y="791651"/>
                  <a:pt x="369275" y="791651"/>
                </a:cubicBezTo>
                <a:cubicBezTo>
                  <a:pt x="333851" y="791651"/>
                  <a:pt x="305038" y="762838"/>
                  <a:pt x="305038" y="727415"/>
                </a:cubicBezTo>
                <a:cubicBezTo>
                  <a:pt x="305038" y="691991"/>
                  <a:pt x="333851" y="663178"/>
                  <a:pt x="369275" y="663178"/>
                </a:cubicBezTo>
                <a:cubicBezTo>
                  <a:pt x="404698" y="663178"/>
                  <a:pt x="433511" y="691991"/>
                  <a:pt x="433511" y="727415"/>
                </a:cubicBezTo>
                <a:close/>
                <a:moveTo>
                  <a:pt x="411242" y="727415"/>
                </a:moveTo>
                <a:cubicBezTo>
                  <a:pt x="411242" y="704269"/>
                  <a:pt x="392411" y="685448"/>
                  <a:pt x="369275" y="685448"/>
                </a:cubicBezTo>
                <a:cubicBezTo>
                  <a:pt x="346139" y="685448"/>
                  <a:pt x="327308" y="704279"/>
                  <a:pt x="327308" y="727415"/>
                </a:cubicBezTo>
                <a:cubicBezTo>
                  <a:pt x="327308" y="750561"/>
                  <a:pt x="346139" y="769382"/>
                  <a:pt x="369275" y="769382"/>
                </a:cubicBezTo>
                <a:cubicBezTo>
                  <a:pt x="392411" y="769382"/>
                  <a:pt x="411242" y="750561"/>
                  <a:pt x="411242" y="727415"/>
                </a:cubicBezTo>
                <a:close/>
                <a:moveTo>
                  <a:pt x="369275" y="0"/>
                </a:moveTo>
                <a:cubicBezTo>
                  <a:pt x="165659" y="0"/>
                  <a:pt x="0" y="165659"/>
                  <a:pt x="0" y="369275"/>
                </a:cubicBezTo>
                <a:cubicBezTo>
                  <a:pt x="0" y="440036"/>
                  <a:pt x="20079" y="508797"/>
                  <a:pt x="58055" y="568119"/>
                </a:cubicBezTo>
                <a:cubicBezTo>
                  <a:pt x="95031" y="625869"/>
                  <a:pt x="147133" y="672141"/>
                  <a:pt x="208740" y="701916"/>
                </a:cubicBezTo>
                <a:cubicBezTo>
                  <a:pt x="210302" y="702669"/>
                  <a:pt x="211950" y="703031"/>
                  <a:pt x="213579" y="703031"/>
                </a:cubicBezTo>
                <a:cubicBezTo>
                  <a:pt x="217713" y="703031"/>
                  <a:pt x="221685" y="700716"/>
                  <a:pt x="223609" y="696744"/>
                </a:cubicBezTo>
                <a:cubicBezTo>
                  <a:pt x="226285" y="691210"/>
                  <a:pt x="223971" y="684552"/>
                  <a:pt x="218427" y="681876"/>
                </a:cubicBezTo>
                <a:cubicBezTo>
                  <a:pt x="99260" y="624269"/>
                  <a:pt x="22260" y="501558"/>
                  <a:pt x="22260" y="369275"/>
                </a:cubicBezTo>
                <a:cubicBezTo>
                  <a:pt x="22269" y="177937"/>
                  <a:pt x="177937" y="22269"/>
                  <a:pt x="369275" y="22269"/>
                </a:cubicBezTo>
                <a:cubicBezTo>
                  <a:pt x="560613" y="22269"/>
                  <a:pt x="716280" y="177937"/>
                  <a:pt x="716280" y="369275"/>
                </a:cubicBezTo>
                <a:cubicBezTo>
                  <a:pt x="716280" y="488737"/>
                  <a:pt x="656644" y="596922"/>
                  <a:pt x="558175" y="660502"/>
                </a:cubicBezTo>
                <a:lnTo>
                  <a:pt x="561384" y="655472"/>
                </a:lnTo>
                <a:cubicBezTo>
                  <a:pt x="564690" y="650291"/>
                  <a:pt x="563166" y="643404"/>
                  <a:pt x="557984" y="640099"/>
                </a:cubicBezTo>
                <a:cubicBezTo>
                  <a:pt x="552802" y="636794"/>
                  <a:pt x="545916" y="638318"/>
                  <a:pt x="542611" y="643499"/>
                </a:cubicBezTo>
                <a:lnTo>
                  <a:pt x="515579" y="685914"/>
                </a:lnTo>
                <a:cubicBezTo>
                  <a:pt x="513340" y="689420"/>
                  <a:pt x="513245" y="693887"/>
                  <a:pt x="515341" y="697487"/>
                </a:cubicBezTo>
                <a:cubicBezTo>
                  <a:pt x="517427" y="701088"/>
                  <a:pt x="521341" y="703221"/>
                  <a:pt x="525504" y="703021"/>
                </a:cubicBezTo>
                <a:lnTo>
                  <a:pt x="575739" y="700602"/>
                </a:lnTo>
                <a:cubicBezTo>
                  <a:pt x="581882" y="700307"/>
                  <a:pt x="586616" y="695087"/>
                  <a:pt x="586321" y="688943"/>
                </a:cubicBezTo>
                <a:cubicBezTo>
                  <a:pt x="586026" y="682800"/>
                  <a:pt x="580815" y="678056"/>
                  <a:pt x="574662" y="678361"/>
                </a:cubicBezTo>
                <a:lnTo>
                  <a:pt x="571176" y="678532"/>
                </a:lnTo>
                <a:cubicBezTo>
                  <a:pt x="615096" y="649824"/>
                  <a:pt x="652567" y="611991"/>
                  <a:pt x="680990" y="567357"/>
                </a:cubicBezTo>
                <a:cubicBezTo>
                  <a:pt x="718652" y="508216"/>
                  <a:pt x="738559" y="439722"/>
                  <a:pt x="738559" y="369275"/>
                </a:cubicBezTo>
                <a:cubicBezTo>
                  <a:pt x="738549" y="165659"/>
                  <a:pt x="572891" y="0"/>
                  <a:pt x="369275" y="0"/>
                </a:cubicBezTo>
                <a:close/>
              </a:path>
            </a:pathLst>
          </a:custGeom>
          <a:solidFill>
            <a:srgbClr val="ED7C7F"/>
          </a:solidFill>
          <a:ln w="9525" cap="flat">
            <a:noFill/>
            <a:prstDash val="solid"/>
            <a:miter/>
          </a:ln>
        </p:spPr>
        <p:txBody>
          <a:bodyPr rtlCol="0" anchor="ctr"/>
          <a:lstStyle/>
          <a:p>
            <a:endParaRPr lang="en-US" noProof="0"/>
          </a:p>
        </p:txBody>
      </p:sp>
      <p:sp>
        <p:nvSpPr>
          <p:cNvPr id="37" name="Pentagon 3">
            <a:extLst>
              <a:ext uri="{FF2B5EF4-FFF2-40B4-BE49-F238E27FC236}">
                <a16:creationId xmlns:a16="http://schemas.microsoft.com/office/drawing/2014/main" id="{4540BA2E-A2B7-34D0-7629-ED9D44FCEDB2}"/>
              </a:ext>
            </a:extLst>
          </p:cNvPr>
          <p:cNvSpPr/>
          <p:nvPr/>
        </p:nvSpPr>
        <p:spPr>
          <a:xfrm>
            <a:off x="9467503"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Network Influence: </a:t>
            </a:r>
            <a:r>
              <a:rPr lang="en-US" sz="1050" noProof="0">
                <a:solidFill>
                  <a:schemeClr val="tx1"/>
                </a:solidFill>
                <a:latin typeface="+mj-lt"/>
                <a:ea typeface="League Spartan" charset="0"/>
                <a:cs typeface="Poppins" pitchFamily="2" charset="77"/>
              </a:rPr>
              <a:t>Top 10% </a:t>
            </a:r>
            <a:r>
              <a:rPr lang="en-US" sz="1050" u="sng" noProof="0">
                <a:solidFill>
                  <a:schemeClr val="tx1"/>
                </a:solidFill>
                <a:latin typeface="+mj-lt"/>
                <a:ea typeface="League Spartan" charset="0"/>
                <a:cs typeface="Poppins" pitchFamily="2" charset="77"/>
              </a:rPr>
              <a:t>weighted indegree</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Treatment Intensity</a:t>
            </a:r>
            <a:r>
              <a:rPr lang="en-US" sz="1050" noProof="0">
                <a:solidFill>
                  <a:schemeClr val="tx1"/>
                </a:solidFill>
                <a:latin typeface="+mj-lt"/>
                <a:ea typeface="League Spartan" charset="0"/>
                <a:cs typeface="Poppins" pitchFamily="2" charset="77"/>
              </a:rPr>
              <a:t>: NT-treated patient volume &gt; 95</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 </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Patient Volume</a:t>
            </a:r>
            <a:r>
              <a:rPr lang="en-US" sz="1050" noProof="0">
                <a:solidFill>
                  <a:schemeClr val="tx1"/>
                </a:solidFill>
                <a:latin typeface="+mj-lt"/>
                <a:ea typeface="League Spartan" charset="0"/>
                <a:cs typeface="Poppins" pitchFamily="2" charset="77"/>
              </a:rPr>
              <a:t>: Interacted patient volume ≥ 90</a:t>
            </a:r>
            <a:r>
              <a:rPr lang="en-US" sz="1050" baseline="30000" noProof="0">
                <a:solidFill>
                  <a:schemeClr val="tx1"/>
                </a:solidFill>
                <a:latin typeface="+mj-lt"/>
                <a:ea typeface="League Spartan" charset="0"/>
                <a:cs typeface="Poppins" pitchFamily="2" charset="77"/>
              </a:rPr>
              <a:t>th</a:t>
            </a:r>
            <a:r>
              <a:rPr lang="en-US" sz="1050" noProof="0">
                <a:solidFill>
                  <a:schemeClr val="tx1"/>
                </a:solidFill>
                <a:latin typeface="+mj-lt"/>
                <a:ea typeface="League Spartan" charset="0"/>
                <a:cs typeface="Poppins" pitchFamily="2" charset="77"/>
              </a:rPr>
              <a:t> Percentile</a:t>
            </a:r>
          </a:p>
        </p:txBody>
      </p:sp>
      <p:sp>
        <p:nvSpPr>
          <p:cNvPr id="36" name="Pentagon 3">
            <a:extLst>
              <a:ext uri="{FF2B5EF4-FFF2-40B4-BE49-F238E27FC236}">
                <a16:creationId xmlns:a16="http://schemas.microsoft.com/office/drawing/2014/main" id="{2DCC1AB4-81FD-5162-4D14-BD0B25470F8E}"/>
              </a:ext>
            </a:extLst>
          </p:cNvPr>
          <p:cNvSpPr/>
          <p:nvPr/>
        </p:nvSpPr>
        <p:spPr>
          <a:xfrm>
            <a:off x="9467502" y="3114816"/>
            <a:ext cx="45719" cy="1828800"/>
          </a:xfrm>
          <a:prstGeom prst="roundRect">
            <a:avLst/>
          </a:prstGeom>
          <a:solidFill>
            <a:srgbClr val="E12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6" name="Chevron 4">
            <a:extLst>
              <a:ext uri="{FF2B5EF4-FFF2-40B4-BE49-F238E27FC236}">
                <a16:creationId xmlns:a16="http://schemas.microsoft.com/office/drawing/2014/main" id="{A9010524-F2AE-E635-515B-05A7DA944BA4}"/>
              </a:ext>
            </a:extLst>
          </p:cNvPr>
          <p:cNvSpPr/>
          <p:nvPr/>
        </p:nvSpPr>
        <p:spPr>
          <a:xfrm>
            <a:off x="2885290" y="1887042"/>
            <a:ext cx="2039674" cy="26665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mj-lt"/>
                <a:cs typeface="Poppins" pitchFamily="2" charset="77"/>
              </a:rPr>
              <a:t>Key Influencers</a:t>
            </a:r>
          </a:p>
        </p:txBody>
      </p:sp>
      <p:sp>
        <p:nvSpPr>
          <p:cNvPr id="12" name="Freeform 945">
            <a:extLst>
              <a:ext uri="{FF2B5EF4-FFF2-40B4-BE49-F238E27FC236}">
                <a16:creationId xmlns:a16="http://schemas.microsoft.com/office/drawing/2014/main" id="{8047D4B6-B9D7-F0AE-778C-31BC5E1F4E9E}"/>
              </a:ext>
            </a:extLst>
          </p:cNvPr>
          <p:cNvSpPr>
            <a:spLocks noChangeAspect="1" noChangeArrowheads="1"/>
          </p:cNvSpPr>
          <p:nvPr/>
        </p:nvSpPr>
        <p:spPr bwMode="auto">
          <a:xfrm>
            <a:off x="3709698" y="1234952"/>
            <a:ext cx="390858" cy="486011"/>
          </a:xfrm>
          <a:custGeom>
            <a:avLst/>
            <a:gdLst>
              <a:gd name="T0" fmla="*/ 632245 w 232462"/>
              <a:gd name="T1" fmla="*/ 3076609 h 289974"/>
              <a:gd name="T2" fmla="*/ 1993938 w 232462"/>
              <a:gd name="T3" fmla="*/ 3076609 h 289974"/>
              <a:gd name="T4" fmla="*/ 2091190 w 232462"/>
              <a:gd name="T5" fmla="*/ 2375186 h 289974"/>
              <a:gd name="T6" fmla="*/ 2038519 w 232462"/>
              <a:gd name="T7" fmla="*/ 3199466 h 289974"/>
              <a:gd name="T8" fmla="*/ 603868 w 232462"/>
              <a:gd name="T9" fmla="*/ 3195485 h 289974"/>
              <a:gd name="T10" fmla="*/ 534968 w 232462"/>
              <a:gd name="T11" fmla="*/ 2375186 h 289974"/>
              <a:gd name="T12" fmla="*/ 1193690 w 232462"/>
              <a:gd name="T13" fmla="*/ 1084957 h 289974"/>
              <a:gd name="T14" fmla="*/ 1084413 w 232462"/>
              <a:gd name="T15" fmla="*/ 1332847 h 289974"/>
              <a:gd name="T16" fmla="*/ 1290835 w 232462"/>
              <a:gd name="T17" fmla="*/ 1516759 h 289974"/>
              <a:gd name="T18" fmla="*/ 1529635 w 232462"/>
              <a:gd name="T19" fmla="*/ 1376818 h 289974"/>
              <a:gd name="T20" fmla="*/ 1468921 w 232462"/>
              <a:gd name="T21" fmla="*/ 1108951 h 289974"/>
              <a:gd name="T22" fmla="*/ 1270596 w 232462"/>
              <a:gd name="T23" fmla="*/ 713128 h 289974"/>
              <a:gd name="T24" fmla="*/ 1849413 w 232462"/>
              <a:gd name="T25" fmla="*/ 1064956 h 289974"/>
              <a:gd name="T26" fmla="*/ 1630824 w 232462"/>
              <a:gd name="T27" fmla="*/ 1384830 h 289974"/>
              <a:gd name="T28" fmla="*/ 1618692 w 232462"/>
              <a:gd name="T29" fmla="*/ 1772641 h 289974"/>
              <a:gd name="T30" fmla="*/ 987257 w 232462"/>
              <a:gd name="T31" fmla="*/ 1776636 h 289974"/>
              <a:gd name="T32" fmla="*/ 995349 w 232462"/>
              <a:gd name="T33" fmla="*/ 1384830 h 289974"/>
              <a:gd name="T34" fmla="*/ 776770 w 232462"/>
              <a:gd name="T35" fmla="*/ 1064956 h 289974"/>
              <a:gd name="T36" fmla="*/ 1306159 w 232462"/>
              <a:gd name="T37" fmla="*/ 482625 h 289974"/>
              <a:gd name="T38" fmla="*/ 2119160 w 232462"/>
              <a:gd name="T39" fmla="*/ 1276673 h 289974"/>
              <a:gd name="T40" fmla="*/ 2216743 w 232462"/>
              <a:gd name="T41" fmla="*/ 1276673 h 289974"/>
              <a:gd name="T42" fmla="*/ 1306159 w 232462"/>
              <a:gd name="T43" fmla="*/ 383378 h 289974"/>
              <a:gd name="T44" fmla="*/ 1083222 w 232462"/>
              <a:gd name="T45" fmla="*/ 251380 h 289974"/>
              <a:gd name="T46" fmla="*/ 700781 w 232462"/>
              <a:gd name="T47" fmla="*/ 417639 h 289974"/>
              <a:gd name="T48" fmla="*/ 407860 w 232462"/>
              <a:gd name="T49" fmla="*/ 710574 h 289974"/>
              <a:gd name="T50" fmla="*/ 253257 w 232462"/>
              <a:gd name="T51" fmla="*/ 1090626 h 289974"/>
              <a:gd name="T52" fmla="*/ 261393 w 232462"/>
              <a:gd name="T53" fmla="*/ 1498350 h 289974"/>
              <a:gd name="T54" fmla="*/ 428191 w 232462"/>
              <a:gd name="T55" fmla="*/ 1874447 h 289974"/>
              <a:gd name="T56" fmla="*/ 733337 w 232462"/>
              <a:gd name="T57" fmla="*/ 2159477 h 289974"/>
              <a:gd name="T58" fmla="*/ 1095420 w 232462"/>
              <a:gd name="T59" fmla="*/ 2298020 h 289974"/>
              <a:gd name="T60" fmla="*/ 1506329 w 232462"/>
              <a:gd name="T61" fmla="*/ 2309889 h 289974"/>
              <a:gd name="T62" fmla="*/ 1896907 w 232462"/>
              <a:gd name="T63" fmla="*/ 2159477 h 289974"/>
              <a:gd name="T64" fmla="*/ 2197968 w 232462"/>
              <a:gd name="T65" fmla="*/ 1874447 h 289974"/>
              <a:gd name="T66" fmla="*/ 2368839 w 232462"/>
              <a:gd name="T67" fmla="*/ 1498350 h 289974"/>
              <a:gd name="T68" fmla="*/ 2372910 w 232462"/>
              <a:gd name="T69" fmla="*/ 1090626 h 289974"/>
              <a:gd name="T70" fmla="*/ 2222381 w 232462"/>
              <a:gd name="T71" fmla="*/ 710574 h 289974"/>
              <a:gd name="T72" fmla="*/ 1929440 w 232462"/>
              <a:gd name="T73" fmla="*/ 417639 h 289974"/>
              <a:gd name="T74" fmla="*/ 1546995 w 232462"/>
              <a:gd name="T75" fmla="*/ 251380 h 289974"/>
              <a:gd name="T76" fmla="*/ 1282577 w 232462"/>
              <a:gd name="T77" fmla="*/ 5940 h 289974"/>
              <a:gd name="T78" fmla="*/ 1787059 w 232462"/>
              <a:gd name="T79" fmla="*/ 93038 h 289974"/>
              <a:gd name="T80" fmla="*/ 2214256 w 232462"/>
              <a:gd name="T81" fmla="*/ 358253 h 289974"/>
              <a:gd name="T82" fmla="*/ 2507166 w 232462"/>
              <a:gd name="T83" fmla="*/ 762044 h 289974"/>
              <a:gd name="T84" fmla="*/ 2617013 w 232462"/>
              <a:gd name="T85" fmla="*/ 1245006 h 289974"/>
              <a:gd name="T86" fmla="*/ 2531574 w 232462"/>
              <a:gd name="T87" fmla="*/ 1735895 h 289974"/>
              <a:gd name="T88" fmla="*/ 2258976 w 232462"/>
              <a:gd name="T89" fmla="*/ 2151533 h 289974"/>
              <a:gd name="T90" fmla="*/ 1839944 w 232462"/>
              <a:gd name="T91" fmla="*/ 2436573 h 289974"/>
              <a:gd name="T92" fmla="*/ 1343589 w 232462"/>
              <a:gd name="T93" fmla="*/ 2543461 h 289974"/>
              <a:gd name="T94" fmla="*/ 1083222 w 232462"/>
              <a:gd name="T95" fmla="*/ 2400937 h 289974"/>
              <a:gd name="T96" fmla="*/ 660104 w 232462"/>
              <a:gd name="T97" fmla="*/ 2226766 h 289974"/>
              <a:gd name="T98" fmla="*/ 334636 w 232462"/>
              <a:gd name="T99" fmla="*/ 1910073 h 289974"/>
              <a:gd name="T100" fmla="*/ 159692 w 232462"/>
              <a:gd name="T101" fmla="*/ 1498350 h 289974"/>
              <a:gd name="T102" fmla="*/ 159692 w 232462"/>
              <a:gd name="T103" fmla="*/ 1051026 h 289974"/>
              <a:gd name="T104" fmla="*/ 334636 w 232462"/>
              <a:gd name="T105" fmla="*/ 639327 h 289974"/>
              <a:gd name="T106" fmla="*/ 660104 w 232462"/>
              <a:gd name="T107" fmla="*/ 322629 h 289974"/>
              <a:gd name="T108" fmla="*/ 1083222 w 232462"/>
              <a:gd name="T109" fmla="*/ 152424 h 2899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62" h="289974">
                <a:moveTo>
                  <a:pt x="51660" y="210958"/>
                </a:moveTo>
                <a:cubicBezTo>
                  <a:pt x="54171" y="210958"/>
                  <a:pt x="55965" y="212754"/>
                  <a:pt x="55965" y="215268"/>
                </a:cubicBezTo>
                <a:lnTo>
                  <a:pt x="55965" y="278840"/>
                </a:lnTo>
                <a:lnTo>
                  <a:pt x="114438" y="251903"/>
                </a:lnTo>
                <a:cubicBezTo>
                  <a:pt x="115514" y="251543"/>
                  <a:pt x="116949" y="251543"/>
                  <a:pt x="118025" y="251903"/>
                </a:cubicBezTo>
                <a:lnTo>
                  <a:pt x="176499" y="278840"/>
                </a:lnTo>
                <a:lnTo>
                  <a:pt x="176499" y="215268"/>
                </a:lnTo>
                <a:cubicBezTo>
                  <a:pt x="176499" y="212754"/>
                  <a:pt x="178292" y="210958"/>
                  <a:pt x="180445" y="210958"/>
                </a:cubicBezTo>
                <a:cubicBezTo>
                  <a:pt x="182956" y="210958"/>
                  <a:pt x="185108" y="212754"/>
                  <a:pt x="185108" y="215268"/>
                </a:cubicBezTo>
                <a:lnTo>
                  <a:pt x="185108" y="285305"/>
                </a:lnTo>
                <a:cubicBezTo>
                  <a:pt x="185108" y="287101"/>
                  <a:pt x="184391" y="288537"/>
                  <a:pt x="182956" y="289256"/>
                </a:cubicBezTo>
                <a:cubicBezTo>
                  <a:pt x="182239" y="289615"/>
                  <a:pt x="181521" y="289974"/>
                  <a:pt x="180445" y="289974"/>
                </a:cubicBezTo>
                <a:cubicBezTo>
                  <a:pt x="180086" y="289974"/>
                  <a:pt x="179369" y="289974"/>
                  <a:pt x="178651" y="289615"/>
                </a:cubicBezTo>
                <a:lnTo>
                  <a:pt x="116232" y="260882"/>
                </a:lnTo>
                <a:lnTo>
                  <a:pt x="53453" y="289615"/>
                </a:lnTo>
                <a:cubicBezTo>
                  <a:pt x="52377" y="289974"/>
                  <a:pt x="50584" y="289974"/>
                  <a:pt x="49149" y="289256"/>
                </a:cubicBezTo>
                <a:cubicBezTo>
                  <a:pt x="48072" y="288537"/>
                  <a:pt x="47355" y="287101"/>
                  <a:pt x="47355" y="285305"/>
                </a:cubicBezTo>
                <a:lnTo>
                  <a:pt x="47355" y="215268"/>
                </a:lnTo>
                <a:cubicBezTo>
                  <a:pt x="47355" y="212754"/>
                  <a:pt x="49149" y="210958"/>
                  <a:pt x="51660" y="210958"/>
                </a:cubicBezTo>
                <a:close/>
                <a:moveTo>
                  <a:pt x="116411" y="76590"/>
                </a:moveTo>
                <a:lnTo>
                  <a:pt x="105662" y="98332"/>
                </a:lnTo>
                <a:cubicBezTo>
                  <a:pt x="104946" y="99419"/>
                  <a:pt x="104229" y="100143"/>
                  <a:pt x="102438" y="100506"/>
                </a:cubicBezTo>
                <a:lnTo>
                  <a:pt x="79149" y="103767"/>
                </a:lnTo>
                <a:lnTo>
                  <a:pt x="95989" y="120798"/>
                </a:lnTo>
                <a:cubicBezTo>
                  <a:pt x="97063" y="121885"/>
                  <a:pt x="97422" y="123335"/>
                  <a:pt x="97422" y="124784"/>
                </a:cubicBezTo>
                <a:lnTo>
                  <a:pt x="93480" y="148338"/>
                </a:lnTo>
                <a:lnTo>
                  <a:pt x="114261" y="137467"/>
                </a:lnTo>
                <a:cubicBezTo>
                  <a:pt x="115695" y="136380"/>
                  <a:pt x="117128" y="136380"/>
                  <a:pt x="118203" y="137467"/>
                </a:cubicBezTo>
                <a:lnTo>
                  <a:pt x="139342" y="148338"/>
                </a:lnTo>
                <a:lnTo>
                  <a:pt x="135401" y="124784"/>
                </a:lnTo>
                <a:cubicBezTo>
                  <a:pt x="135042" y="123335"/>
                  <a:pt x="135401" y="121885"/>
                  <a:pt x="136834" y="120798"/>
                </a:cubicBezTo>
                <a:lnTo>
                  <a:pt x="153673" y="103767"/>
                </a:lnTo>
                <a:lnTo>
                  <a:pt x="130026" y="100506"/>
                </a:lnTo>
                <a:cubicBezTo>
                  <a:pt x="128593" y="100143"/>
                  <a:pt x="127518" y="99419"/>
                  <a:pt x="127160" y="98332"/>
                </a:cubicBezTo>
                <a:lnTo>
                  <a:pt x="116411" y="76590"/>
                </a:lnTo>
                <a:close/>
                <a:moveTo>
                  <a:pt x="112470" y="64632"/>
                </a:moveTo>
                <a:cubicBezTo>
                  <a:pt x="113903" y="61733"/>
                  <a:pt x="118919" y="61733"/>
                  <a:pt x="120352" y="64632"/>
                </a:cubicBezTo>
                <a:lnTo>
                  <a:pt x="133609" y="92171"/>
                </a:lnTo>
                <a:lnTo>
                  <a:pt x="163706" y="96520"/>
                </a:lnTo>
                <a:cubicBezTo>
                  <a:pt x="165497" y="96520"/>
                  <a:pt x="166930" y="97969"/>
                  <a:pt x="167289" y="99419"/>
                </a:cubicBezTo>
                <a:cubicBezTo>
                  <a:pt x="167647" y="101231"/>
                  <a:pt x="167289" y="103042"/>
                  <a:pt x="166214" y="104129"/>
                </a:cubicBezTo>
                <a:lnTo>
                  <a:pt x="144358" y="125509"/>
                </a:lnTo>
                <a:lnTo>
                  <a:pt x="149732" y="155947"/>
                </a:lnTo>
                <a:cubicBezTo>
                  <a:pt x="149732" y="157759"/>
                  <a:pt x="149374" y="159208"/>
                  <a:pt x="147941" y="160296"/>
                </a:cubicBezTo>
                <a:cubicBezTo>
                  <a:pt x="146508" y="161383"/>
                  <a:pt x="144716" y="161383"/>
                  <a:pt x="143283" y="160658"/>
                </a:cubicBezTo>
                <a:lnTo>
                  <a:pt x="116411" y="146163"/>
                </a:lnTo>
                <a:lnTo>
                  <a:pt x="89539" y="160658"/>
                </a:lnTo>
                <a:cubicBezTo>
                  <a:pt x="88823" y="160658"/>
                  <a:pt x="88106" y="161020"/>
                  <a:pt x="87390" y="161020"/>
                </a:cubicBezTo>
                <a:cubicBezTo>
                  <a:pt x="86673" y="161020"/>
                  <a:pt x="85598" y="160658"/>
                  <a:pt x="84881" y="160296"/>
                </a:cubicBezTo>
                <a:cubicBezTo>
                  <a:pt x="83448" y="159208"/>
                  <a:pt x="82732" y="157759"/>
                  <a:pt x="83090" y="155947"/>
                </a:cubicBezTo>
                <a:lnTo>
                  <a:pt x="88106" y="125509"/>
                </a:lnTo>
                <a:lnTo>
                  <a:pt x="66250" y="104129"/>
                </a:lnTo>
                <a:cubicBezTo>
                  <a:pt x="65175" y="103042"/>
                  <a:pt x="64817" y="101231"/>
                  <a:pt x="65175" y="99419"/>
                </a:cubicBezTo>
                <a:cubicBezTo>
                  <a:pt x="65892" y="97969"/>
                  <a:pt x="67325" y="96520"/>
                  <a:pt x="68758" y="96520"/>
                </a:cubicBezTo>
                <a:lnTo>
                  <a:pt x="98855" y="92171"/>
                </a:lnTo>
                <a:lnTo>
                  <a:pt x="112470" y="64632"/>
                </a:lnTo>
                <a:close/>
                <a:moveTo>
                  <a:pt x="115618" y="43741"/>
                </a:moveTo>
                <a:cubicBezTo>
                  <a:pt x="76036" y="43741"/>
                  <a:pt x="43651" y="76126"/>
                  <a:pt x="43651" y="115708"/>
                </a:cubicBezTo>
                <a:cubicBezTo>
                  <a:pt x="43651" y="155289"/>
                  <a:pt x="76036" y="187674"/>
                  <a:pt x="115618" y="187674"/>
                </a:cubicBezTo>
                <a:cubicBezTo>
                  <a:pt x="155199" y="187674"/>
                  <a:pt x="187584" y="155289"/>
                  <a:pt x="187584" y="115708"/>
                </a:cubicBezTo>
                <a:cubicBezTo>
                  <a:pt x="187584" y="76126"/>
                  <a:pt x="155199" y="43741"/>
                  <a:pt x="115618" y="43741"/>
                </a:cubicBezTo>
                <a:close/>
                <a:moveTo>
                  <a:pt x="115618" y="34745"/>
                </a:moveTo>
                <a:cubicBezTo>
                  <a:pt x="159877" y="34745"/>
                  <a:pt x="196220" y="71088"/>
                  <a:pt x="196220" y="115708"/>
                </a:cubicBezTo>
                <a:cubicBezTo>
                  <a:pt x="196220" y="159967"/>
                  <a:pt x="159877" y="196310"/>
                  <a:pt x="115618" y="196310"/>
                </a:cubicBezTo>
                <a:cubicBezTo>
                  <a:pt x="70998" y="196310"/>
                  <a:pt x="34655" y="159967"/>
                  <a:pt x="34655" y="115708"/>
                </a:cubicBezTo>
                <a:cubicBezTo>
                  <a:pt x="34655" y="71088"/>
                  <a:pt x="70998" y="34745"/>
                  <a:pt x="115618" y="34745"/>
                </a:cubicBezTo>
                <a:close/>
                <a:moveTo>
                  <a:pt x="116411" y="9866"/>
                </a:moveTo>
                <a:lnTo>
                  <a:pt x="99485" y="22065"/>
                </a:lnTo>
                <a:cubicBezTo>
                  <a:pt x="98405" y="22782"/>
                  <a:pt x="97324" y="23141"/>
                  <a:pt x="95884" y="22782"/>
                </a:cubicBezTo>
                <a:lnTo>
                  <a:pt x="75717" y="17759"/>
                </a:lnTo>
                <a:lnTo>
                  <a:pt x="64913" y="35698"/>
                </a:lnTo>
                <a:cubicBezTo>
                  <a:pt x="64193" y="36775"/>
                  <a:pt x="63112" y="37492"/>
                  <a:pt x="62032" y="37851"/>
                </a:cubicBezTo>
                <a:lnTo>
                  <a:pt x="41144" y="40721"/>
                </a:lnTo>
                <a:lnTo>
                  <a:pt x="37903" y="61531"/>
                </a:lnTo>
                <a:cubicBezTo>
                  <a:pt x="37903" y="62607"/>
                  <a:pt x="37183" y="63684"/>
                  <a:pt x="36103" y="64401"/>
                </a:cubicBezTo>
                <a:lnTo>
                  <a:pt x="18096" y="75165"/>
                </a:lnTo>
                <a:lnTo>
                  <a:pt x="23138" y="95257"/>
                </a:lnTo>
                <a:cubicBezTo>
                  <a:pt x="23498" y="96333"/>
                  <a:pt x="23138" y="97768"/>
                  <a:pt x="22418" y="98845"/>
                </a:cubicBezTo>
                <a:lnTo>
                  <a:pt x="10174" y="115708"/>
                </a:lnTo>
                <a:lnTo>
                  <a:pt x="22418" y="132212"/>
                </a:lnTo>
                <a:cubicBezTo>
                  <a:pt x="23138" y="133288"/>
                  <a:pt x="23498" y="134723"/>
                  <a:pt x="23138" y="135799"/>
                </a:cubicBezTo>
                <a:lnTo>
                  <a:pt x="18096" y="156250"/>
                </a:lnTo>
                <a:lnTo>
                  <a:pt x="36103" y="167014"/>
                </a:lnTo>
                <a:cubicBezTo>
                  <a:pt x="37183" y="167731"/>
                  <a:pt x="37903" y="168449"/>
                  <a:pt x="37903" y="169884"/>
                </a:cubicBezTo>
                <a:lnTo>
                  <a:pt x="41144" y="190335"/>
                </a:lnTo>
                <a:lnTo>
                  <a:pt x="62032" y="193564"/>
                </a:lnTo>
                <a:cubicBezTo>
                  <a:pt x="63112" y="193564"/>
                  <a:pt x="64193" y="194640"/>
                  <a:pt x="64913" y="195717"/>
                </a:cubicBezTo>
                <a:lnTo>
                  <a:pt x="75717" y="213656"/>
                </a:lnTo>
                <a:lnTo>
                  <a:pt x="95884" y="208274"/>
                </a:lnTo>
                <a:cubicBezTo>
                  <a:pt x="96244" y="208274"/>
                  <a:pt x="96604" y="208274"/>
                  <a:pt x="96964" y="208274"/>
                </a:cubicBezTo>
                <a:cubicBezTo>
                  <a:pt x="97685" y="208274"/>
                  <a:pt x="98765" y="208633"/>
                  <a:pt x="99485" y="209350"/>
                </a:cubicBezTo>
                <a:lnTo>
                  <a:pt x="116411" y="221549"/>
                </a:lnTo>
                <a:lnTo>
                  <a:pt x="133337" y="209350"/>
                </a:lnTo>
                <a:cubicBezTo>
                  <a:pt x="134417" y="208274"/>
                  <a:pt x="135498" y="208274"/>
                  <a:pt x="136938" y="208274"/>
                </a:cubicBezTo>
                <a:lnTo>
                  <a:pt x="157105" y="213656"/>
                </a:lnTo>
                <a:lnTo>
                  <a:pt x="167909" y="195717"/>
                </a:lnTo>
                <a:cubicBezTo>
                  <a:pt x="168629" y="194640"/>
                  <a:pt x="169710" y="193564"/>
                  <a:pt x="170790" y="193564"/>
                </a:cubicBezTo>
                <a:lnTo>
                  <a:pt x="191678" y="190335"/>
                </a:lnTo>
                <a:lnTo>
                  <a:pt x="194559" y="169884"/>
                </a:lnTo>
                <a:cubicBezTo>
                  <a:pt x="194559" y="168449"/>
                  <a:pt x="195639" y="167731"/>
                  <a:pt x="196719" y="167014"/>
                </a:cubicBezTo>
                <a:lnTo>
                  <a:pt x="214726" y="156250"/>
                </a:lnTo>
                <a:lnTo>
                  <a:pt x="209684" y="135799"/>
                </a:lnTo>
                <a:cubicBezTo>
                  <a:pt x="209324" y="134723"/>
                  <a:pt x="209684" y="133288"/>
                  <a:pt x="210044" y="132212"/>
                </a:cubicBezTo>
                <a:lnTo>
                  <a:pt x="222648" y="115708"/>
                </a:lnTo>
                <a:lnTo>
                  <a:pt x="210044" y="98845"/>
                </a:lnTo>
                <a:cubicBezTo>
                  <a:pt x="209684" y="97768"/>
                  <a:pt x="209324" y="96333"/>
                  <a:pt x="209684" y="95257"/>
                </a:cubicBezTo>
                <a:lnTo>
                  <a:pt x="214726" y="75165"/>
                </a:lnTo>
                <a:lnTo>
                  <a:pt x="196719" y="64401"/>
                </a:lnTo>
                <a:cubicBezTo>
                  <a:pt x="195639" y="63684"/>
                  <a:pt x="194559" y="62607"/>
                  <a:pt x="194559" y="61531"/>
                </a:cubicBezTo>
                <a:lnTo>
                  <a:pt x="191678" y="40721"/>
                </a:lnTo>
                <a:lnTo>
                  <a:pt x="170790" y="37851"/>
                </a:lnTo>
                <a:cubicBezTo>
                  <a:pt x="169710" y="37492"/>
                  <a:pt x="168629" y="36775"/>
                  <a:pt x="167909" y="35698"/>
                </a:cubicBezTo>
                <a:lnTo>
                  <a:pt x="157105" y="17759"/>
                </a:lnTo>
                <a:lnTo>
                  <a:pt x="136938" y="22782"/>
                </a:lnTo>
                <a:cubicBezTo>
                  <a:pt x="135498" y="23141"/>
                  <a:pt x="134417" y="22782"/>
                  <a:pt x="133337" y="22065"/>
                </a:cubicBezTo>
                <a:lnTo>
                  <a:pt x="116411" y="9866"/>
                </a:lnTo>
                <a:close/>
                <a:moveTo>
                  <a:pt x="113530" y="538"/>
                </a:moveTo>
                <a:cubicBezTo>
                  <a:pt x="115331" y="-180"/>
                  <a:pt x="117492" y="-180"/>
                  <a:pt x="118932" y="538"/>
                </a:cubicBezTo>
                <a:lnTo>
                  <a:pt x="136938" y="13813"/>
                </a:lnTo>
                <a:lnTo>
                  <a:pt x="158186" y="8431"/>
                </a:lnTo>
                <a:cubicBezTo>
                  <a:pt x="159986" y="8072"/>
                  <a:pt x="161787" y="8790"/>
                  <a:pt x="162867" y="10225"/>
                </a:cubicBezTo>
                <a:lnTo>
                  <a:pt x="174392" y="29240"/>
                </a:lnTo>
                <a:lnTo>
                  <a:pt x="195999" y="32469"/>
                </a:lnTo>
                <a:cubicBezTo>
                  <a:pt x="197800" y="32828"/>
                  <a:pt x="199240" y="34263"/>
                  <a:pt x="199960" y="36416"/>
                </a:cubicBezTo>
                <a:lnTo>
                  <a:pt x="202842" y="57943"/>
                </a:lnTo>
                <a:lnTo>
                  <a:pt x="221928" y="69066"/>
                </a:lnTo>
                <a:cubicBezTo>
                  <a:pt x="223369" y="70142"/>
                  <a:pt x="224449" y="72295"/>
                  <a:pt x="224089" y="74088"/>
                </a:cubicBezTo>
                <a:lnTo>
                  <a:pt x="218687" y="95257"/>
                </a:lnTo>
                <a:lnTo>
                  <a:pt x="231652" y="112837"/>
                </a:lnTo>
                <a:cubicBezTo>
                  <a:pt x="232732" y="114631"/>
                  <a:pt x="232732" y="116784"/>
                  <a:pt x="231652" y="118219"/>
                </a:cubicBezTo>
                <a:lnTo>
                  <a:pt x="218687" y="135799"/>
                </a:lnTo>
                <a:lnTo>
                  <a:pt x="224089" y="157327"/>
                </a:lnTo>
                <a:cubicBezTo>
                  <a:pt x="224449" y="159121"/>
                  <a:pt x="223369" y="160914"/>
                  <a:pt x="221928" y="161991"/>
                </a:cubicBezTo>
                <a:lnTo>
                  <a:pt x="202842" y="173113"/>
                </a:lnTo>
                <a:lnTo>
                  <a:pt x="199960" y="194999"/>
                </a:lnTo>
                <a:cubicBezTo>
                  <a:pt x="199240" y="196793"/>
                  <a:pt x="197800" y="198587"/>
                  <a:pt x="195999" y="198587"/>
                </a:cubicBezTo>
                <a:lnTo>
                  <a:pt x="174392" y="201816"/>
                </a:lnTo>
                <a:lnTo>
                  <a:pt x="162867" y="220831"/>
                </a:lnTo>
                <a:cubicBezTo>
                  <a:pt x="161787" y="222267"/>
                  <a:pt x="159986" y="222984"/>
                  <a:pt x="158186" y="222625"/>
                </a:cubicBezTo>
                <a:lnTo>
                  <a:pt x="136938" y="217602"/>
                </a:lnTo>
                <a:lnTo>
                  <a:pt x="118932" y="230519"/>
                </a:lnTo>
                <a:cubicBezTo>
                  <a:pt x="118212" y="231236"/>
                  <a:pt x="117131" y="231236"/>
                  <a:pt x="116411" y="231236"/>
                </a:cubicBezTo>
                <a:cubicBezTo>
                  <a:pt x="115331" y="231236"/>
                  <a:pt x="114610" y="231236"/>
                  <a:pt x="113530" y="230519"/>
                </a:cubicBezTo>
                <a:lnTo>
                  <a:pt x="95884" y="217602"/>
                </a:lnTo>
                <a:lnTo>
                  <a:pt x="74636" y="222625"/>
                </a:lnTo>
                <a:cubicBezTo>
                  <a:pt x="72836" y="222984"/>
                  <a:pt x="70675" y="222267"/>
                  <a:pt x="69595" y="220831"/>
                </a:cubicBezTo>
                <a:lnTo>
                  <a:pt x="58431" y="201816"/>
                </a:lnTo>
                <a:lnTo>
                  <a:pt x="36823" y="198587"/>
                </a:lnTo>
                <a:cubicBezTo>
                  <a:pt x="35022" y="198587"/>
                  <a:pt x="33222" y="196793"/>
                  <a:pt x="32862" y="194999"/>
                </a:cubicBezTo>
                <a:lnTo>
                  <a:pt x="29620" y="173113"/>
                </a:lnTo>
                <a:lnTo>
                  <a:pt x="10534" y="161991"/>
                </a:lnTo>
                <a:cubicBezTo>
                  <a:pt x="9093" y="160914"/>
                  <a:pt x="8373" y="159121"/>
                  <a:pt x="8733" y="157327"/>
                </a:cubicBezTo>
                <a:lnTo>
                  <a:pt x="14135" y="135799"/>
                </a:lnTo>
                <a:lnTo>
                  <a:pt x="810" y="118219"/>
                </a:lnTo>
                <a:cubicBezTo>
                  <a:pt x="-270" y="116784"/>
                  <a:pt x="-270" y="114631"/>
                  <a:pt x="810" y="112837"/>
                </a:cubicBezTo>
                <a:lnTo>
                  <a:pt x="14135" y="95257"/>
                </a:lnTo>
                <a:lnTo>
                  <a:pt x="8733" y="74088"/>
                </a:lnTo>
                <a:cubicBezTo>
                  <a:pt x="8373" y="72295"/>
                  <a:pt x="9093" y="70142"/>
                  <a:pt x="10534" y="69066"/>
                </a:cubicBezTo>
                <a:lnTo>
                  <a:pt x="29620" y="57943"/>
                </a:lnTo>
                <a:lnTo>
                  <a:pt x="32862" y="36416"/>
                </a:lnTo>
                <a:cubicBezTo>
                  <a:pt x="33222" y="34263"/>
                  <a:pt x="35022" y="32828"/>
                  <a:pt x="36823" y="32469"/>
                </a:cubicBezTo>
                <a:lnTo>
                  <a:pt x="58431" y="29240"/>
                </a:lnTo>
                <a:lnTo>
                  <a:pt x="69595" y="10225"/>
                </a:lnTo>
                <a:cubicBezTo>
                  <a:pt x="70675" y="8790"/>
                  <a:pt x="72836" y="8072"/>
                  <a:pt x="74636" y="8431"/>
                </a:cubicBezTo>
                <a:lnTo>
                  <a:pt x="95884" y="13813"/>
                </a:lnTo>
                <a:lnTo>
                  <a:pt x="113530" y="538"/>
                </a:lnTo>
                <a:close/>
              </a:path>
            </a:pathLst>
          </a:custGeom>
          <a:solidFill>
            <a:srgbClr val="7030A0"/>
          </a:solidFill>
          <a:ln>
            <a:noFill/>
          </a:ln>
          <a:effectLst/>
        </p:spPr>
        <p:txBody>
          <a:bodyPr anchor="ctr"/>
          <a:lstStyle/>
          <a:p>
            <a:endParaRPr lang="en-US" sz="900" noProof="0">
              <a:latin typeface="+mj-lt"/>
            </a:endParaRPr>
          </a:p>
        </p:txBody>
      </p:sp>
      <p:sp>
        <p:nvSpPr>
          <p:cNvPr id="16" name="Subtitle 2">
            <a:extLst>
              <a:ext uri="{FF2B5EF4-FFF2-40B4-BE49-F238E27FC236}">
                <a16:creationId xmlns:a16="http://schemas.microsoft.com/office/drawing/2014/main" id="{98C61398-7E6F-680B-034D-56C435C92847}"/>
              </a:ext>
            </a:extLst>
          </p:cNvPr>
          <p:cNvSpPr txBox="1">
            <a:spLocks/>
          </p:cNvSpPr>
          <p:nvPr/>
        </p:nvSpPr>
        <p:spPr>
          <a:xfrm>
            <a:off x="2981553" y="2164519"/>
            <a:ext cx="1847149" cy="600164"/>
          </a:xfrm>
          <a:prstGeom prst="rect">
            <a:avLst/>
          </a:prstGeom>
        </p:spPr>
        <p:txBody>
          <a:bodyPr vert="horz" wrap="square" lIns="45720" tIns="22860" rIns="45720" bIns="22860" rtlCol="0" anchor="t">
            <a:spAutoFit/>
          </a:bodyPr>
          <a:lstStyle>
            <a:defPPr>
              <a:defRPr lang="en-US"/>
            </a:defPPr>
            <a:lvl1pPr indent="0" defTabSz="1087636">
              <a:lnSpc>
                <a:spcPts val="1750"/>
              </a:lnSpc>
              <a:spcBef>
                <a:spcPct val="20000"/>
              </a:spcBef>
              <a:buFont typeface="Arial"/>
              <a:buNone/>
              <a:defRPr sz="1200">
                <a:latin typeface="+mj-lt"/>
                <a:ea typeface="League Spartan" charset="0"/>
                <a:cs typeface="Poppins" pitchFamily="2"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nSpc>
                <a:spcPct val="100000"/>
              </a:lnSpc>
            </a:pPr>
            <a:r>
              <a:rPr lang="en-US" b="1" noProof="0"/>
              <a:t>Highly connected</a:t>
            </a:r>
            <a:r>
              <a:rPr lang="en-US" noProof="0"/>
              <a:t> HCPs </a:t>
            </a:r>
            <a:r>
              <a:rPr lang="en-US" b="1" noProof="0"/>
              <a:t>managing and redirecting </a:t>
            </a:r>
            <a:r>
              <a:rPr lang="en-US" noProof="0"/>
              <a:t>a</a:t>
            </a:r>
            <a:r>
              <a:rPr lang="en-US" b="1" noProof="0"/>
              <a:t> high-volume </a:t>
            </a:r>
            <a:r>
              <a:rPr lang="en-US" noProof="0"/>
              <a:t>of patients </a:t>
            </a:r>
          </a:p>
        </p:txBody>
      </p:sp>
      <p:sp>
        <p:nvSpPr>
          <p:cNvPr id="63" name="Pentagon 3">
            <a:extLst>
              <a:ext uri="{FF2B5EF4-FFF2-40B4-BE49-F238E27FC236}">
                <a16:creationId xmlns:a16="http://schemas.microsoft.com/office/drawing/2014/main" id="{A5D1097A-F05E-6C0A-3556-A3DB987D21DF}"/>
              </a:ext>
            </a:extLst>
          </p:cNvPr>
          <p:cNvSpPr/>
          <p:nvPr/>
        </p:nvSpPr>
        <p:spPr>
          <a:xfrm>
            <a:off x="2873861" y="3114816"/>
            <a:ext cx="2062534"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Network Influence: </a:t>
            </a:r>
            <a:r>
              <a:rPr lang="en-US" sz="1050" noProof="0">
                <a:solidFill>
                  <a:schemeClr val="tx1"/>
                </a:solidFill>
                <a:latin typeface="+mj-lt"/>
                <a:ea typeface="League Spartan" charset="0"/>
                <a:cs typeface="Poppins" pitchFamily="2" charset="77"/>
              </a:rPr>
              <a:t>Top 10% </a:t>
            </a:r>
            <a:r>
              <a:rPr lang="en-US" sz="1050" u="sng" noProof="0">
                <a:solidFill>
                  <a:schemeClr val="tx1"/>
                </a:solidFill>
                <a:latin typeface="+mj-lt"/>
                <a:ea typeface="League Spartan" charset="0"/>
                <a:cs typeface="Poppins" pitchFamily="2" charset="77"/>
              </a:rPr>
              <a:t>PageRank</a:t>
            </a:r>
          </a:p>
          <a:p>
            <a:r>
              <a:rPr lang="en-US" sz="1050" i="1">
                <a:solidFill>
                  <a:schemeClr val="tx1"/>
                </a:solidFill>
                <a:ea typeface="League Spartan" charset="0"/>
                <a:cs typeface="Poppins" pitchFamily="2" charset="77"/>
              </a:rPr>
              <a:t>OR</a:t>
            </a:r>
            <a:endParaRPr lang="en-US" sz="1050" noProof="0">
              <a:solidFill>
                <a:schemeClr val="tx1"/>
              </a:solidFill>
              <a:latin typeface="+mj-lt"/>
              <a:ea typeface="League Spartan" charset="0"/>
              <a:cs typeface="Poppins" pitchFamily="2" charset="77"/>
            </a:endParaRP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Connection Strength</a:t>
            </a:r>
            <a:r>
              <a:rPr lang="en-US" sz="1050" noProof="0">
                <a:solidFill>
                  <a:schemeClr val="tx1"/>
                </a:solidFill>
                <a:latin typeface="+mj-lt"/>
                <a:ea typeface="League Spartan" charset="0"/>
                <a:cs typeface="Poppins" pitchFamily="2" charset="77"/>
              </a:rPr>
              <a:t>: Unique # of Connected HCPs </a:t>
            </a:r>
            <a:r>
              <a:rPr lang="en-US" sz="1050" u="sng" noProof="0">
                <a:solidFill>
                  <a:schemeClr val="tx1"/>
                </a:solidFill>
                <a:latin typeface="+mj-lt"/>
                <a:ea typeface="League Spartan" charset="0"/>
                <a:cs typeface="Poppins" pitchFamily="2" charset="77"/>
              </a:rPr>
              <a:t>&gt;</a:t>
            </a:r>
            <a:r>
              <a:rPr lang="en-US" sz="1050" noProof="0">
                <a:solidFill>
                  <a:schemeClr val="tx1"/>
                </a:solidFill>
                <a:latin typeface="+mj-lt"/>
                <a:ea typeface="League Spartan" charset="0"/>
                <a:cs typeface="Poppins" pitchFamily="2" charset="77"/>
              </a:rPr>
              <a:t> median</a:t>
            </a:r>
          </a:p>
          <a:p>
            <a:pPr marL="114300" indent="-114300">
              <a:buFont typeface="Arial" panose="020B0604020202020204" pitchFamily="34" charset="0"/>
              <a:buChar char="•"/>
            </a:pPr>
            <a:r>
              <a:rPr lang="en-US" sz="1050" b="1" noProof="0">
                <a:solidFill>
                  <a:schemeClr val="tx1"/>
                </a:solidFill>
                <a:latin typeface="+mj-lt"/>
                <a:ea typeface="League Spartan" charset="0"/>
                <a:cs typeface="Poppins" pitchFamily="2" charset="77"/>
              </a:rPr>
              <a:t>Patient Volume</a:t>
            </a:r>
            <a:r>
              <a:rPr lang="en-US" sz="1050" noProof="0">
                <a:solidFill>
                  <a:schemeClr val="tx1"/>
                </a:solidFill>
                <a:latin typeface="+mj-lt"/>
                <a:ea typeface="League Spartan" charset="0"/>
                <a:cs typeface="Poppins" pitchFamily="2" charset="77"/>
              </a:rPr>
              <a:t>: Interacted patient volume ≥ ~90th Percentile</a:t>
            </a:r>
          </a:p>
        </p:txBody>
      </p:sp>
      <p:sp>
        <p:nvSpPr>
          <p:cNvPr id="64" name="Pentagon 3">
            <a:extLst>
              <a:ext uri="{FF2B5EF4-FFF2-40B4-BE49-F238E27FC236}">
                <a16:creationId xmlns:a16="http://schemas.microsoft.com/office/drawing/2014/main" id="{C0711E9D-1DAD-B3D3-D751-0CF1EE8B8CA0}"/>
              </a:ext>
            </a:extLst>
          </p:cNvPr>
          <p:cNvSpPr/>
          <p:nvPr/>
        </p:nvSpPr>
        <p:spPr>
          <a:xfrm>
            <a:off x="2873860" y="3114816"/>
            <a:ext cx="45719" cy="1828800"/>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solidFill>
              <a:latin typeface="+mj-lt"/>
              <a:ea typeface="League Spartan" charset="0"/>
              <a:cs typeface="Poppins" pitchFamily="2" charset="77"/>
            </a:endParaRPr>
          </a:p>
        </p:txBody>
      </p:sp>
      <p:sp>
        <p:nvSpPr>
          <p:cNvPr id="2" name="Rectangle: Rounded Corners 1">
            <a:extLst>
              <a:ext uri="{FF2B5EF4-FFF2-40B4-BE49-F238E27FC236}">
                <a16:creationId xmlns:a16="http://schemas.microsoft.com/office/drawing/2014/main" id="{D73945FE-6580-637E-F41D-423D7EE7C2EA}"/>
              </a:ext>
            </a:extLst>
          </p:cNvPr>
          <p:cNvSpPr/>
          <p:nvPr/>
        </p:nvSpPr>
        <p:spPr>
          <a:xfrm>
            <a:off x="615603" y="5505403"/>
            <a:ext cx="2122912" cy="598458"/>
          </a:xfrm>
          <a:prstGeom prst="roundRect">
            <a:avLst>
              <a:gd name="adj" fmla="val 7621"/>
            </a:avLst>
          </a:prstGeom>
          <a:solidFill>
            <a:srgbClr val="0070C0">
              <a:alpha val="30000"/>
            </a:srgb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lang="en-US" sz="1200" b="1" dirty="0">
                <a:ea typeface="League Spartan" charset="0"/>
                <a:cs typeface="Poppins" pitchFamily="2" charset="77"/>
              </a:rPr>
              <a:t>Low Value </a:t>
            </a:r>
            <a:r>
              <a:rPr kumimoji="1" lang="en-US" sz="1200" b="1" dirty="0"/>
              <a:t>Referrers</a:t>
            </a:r>
            <a:r>
              <a:rPr kumimoji="1" lang="en-US" sz="1200" dirty="0"/>
              <a:t>: Referred out  at least 1 patient</a:t>
            </a:r>
          </a:p>
        </p:txBody>
      </p:sp>
      <p:sp>
        <p:nvSpPr>
          <p:cNvPr id="21" name="Rectangle: Rounded Corners 20">
            <a:extLst>
              <a:ext uri="{FF2B5EF4-FFF2-40B4-BE49-F238E27FC236}">
                <a16:creationId xmlns:a16="http://schemas.microsoft.com/office/drawing/2014/main" id="{4EF54FB8-71C5-A7A3-0686-4A15A1A12756}"/>
              </a:ext>
            </a:extLst>
          </p:cNvPr>
          <p:cNvSpPr/>
          <p:nvPr/>
        </p:nvSpPr>
        <p:spPr>
          <a:xfrm>
            <a:off x="2835302" y="5505403"/>
            <a:ext cx="2122912" cy="598458"/>
          </a:xfrm>
          <a:prstGeom prst="roundRect">
            <a:avLst>
              <a:gd name="adj" fmla="val 7621"/>
            </a:avLst>
          </a:prstGeom>
          <a:solidFill>
            <a:srgbClr val="7030A0">
              <a:alpha val="30000"/>
            </a:srgb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lang="en-US" sz="1200" b="1" dirty="0">
                <a:ea typeface="League Spartan" charset="0"/>
                <a:cs typeface="Poppins" pitchFamily="2" charset="77"/>
              </a:rPr>
              <a:t>Low Value </a:t>
            </a:r>
            <a:r>
              <a:rPr kumimoji="1" lang="en-US" sz="1200" b="1" dirty="0"/>
              <a:t>Influencers</a:t>
            </a:r>
            <a:r>
              <a:rPr kumimoji="1" lang="en-US" sz="1200" dirty="0"/>
              <a:t>: Referral activity with at least 4 patients</a:t>
            </a:r>
          </a:p>
        </p:txBody>
      </p:sp>
      <p:sp>
        <p:nvSpPr>
          <p:cNvPr id="30" name="Rectangle: Rounded Corners 29">
            <a:extLst>
              <a:ext uri="{FF2B5EF4-FFF2-40B4-BE49-F238E27FC236}">
                <a16:creationId xmlns:a16="http://schemas.microsoft.com/office/drawing/2014/main" id="{02684E62-4627-C921-EA3C-58F22F4AE141}"/>
              </a:ext>
            </a:extLst>
          </p:cNvPr>
          <p:cNvSpPr/>
          <p:nvPr/>
        </p:nvSpPr>
        <p:spPr>
          <a:xfrm>
            <a:off x="7274700" y="5505403"/>
            <a:ext cx="2122912" cy="598458"/>
          </a:xfrm>
          <a:prstGeom prst="roundRect">
            <a:avLst>
              <a:gd name="adj" fmla="val 7621"/>
            </a:avLst>
          </a:prstGeom>
          <a:solidFill>
            <a:srgbClr val="00B050">
              <a:alpha val="30000"/>
            </a:srgb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lang="en-US" sz="1200" b="1" dirty="0">
                <a:ea typeface="League Spartan" charset="0"/>
                <a:cs typeface="Poppins" pitchFamily="2" charset="77"/>
              </a:rPr>
              <a:t>Low Value </a:t>
            </a:r>
            <a:r>
              <a:rPr kumimoji="1" lang="en-US" sz="1200" b="1" dirty="0" err="1"/>
              <a:t>Diagnosers</a:t>
            </a:r>
            <a:r>
              <a:rPr kumimoji="1" lang="en-US" sz="1200" dirty="0"/>
              <a:t>: First NT diagnosing volume ≥ 90th  percentile </a:t>
            </a:r>
          </a:p>
        </p:txBody>
      </p:sp>
      <p:sp>
        <p:nvSpPr>
          <p:cNvPr id="31" name="Rectangle: Rounded Corners 30">
            <a:extLst>
              <a:ext uri="{FF2B5EF4-FFF2-40B4-BE49-F238E27FC236}">
                <a16:creationId xmlns:a16="http://schemas.microsoft.com/office/drawing/2014/main" id="{66E674EA-CA85-AEDD-6609-DE186FA8719B}"/>
              </a:ext>
            </a:extLst>
          </p:cNvPr>
          <p:cNvSpPr/>
          <p:nvPr/>
        </p:nvSpPr>
        <p:spPr>
          <a:xfrm>
            <a:off x="9494400" y="5505403"/>
            <a:ext cx="2122912" cy="598458"/>
          </a:xfrm>
          <a:prstGeom prst="roundRect">
            <a:avLst>
              <a:gd name="adj" fmla="val 7621"/>
            </a:avLst>
          </a:prstGeom>
          <a:solidFill>
            <a:srgbClr val="C00000">
              <a:alpha val="30000"/>
            </a:srgb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lang="en-US" sz="1200" b="1" dirty="0">
                <a:ea typeface="League Spartan" charset="0"/>
                <a:cs typeface="Poppins" pitchFamily="2" charset="77"/>
              </a:rPr>
              <a:t>Low Value </a:t>
            </a:r>
            <a:r>
              <a:rPr kumimoji="1" lang="en-US" sz="1200" b="1" dirty="0"/>
              <a:t>Treaters</a:t>
            </a:r>
            <a:r>
              <a:rPr kumimoji="1" lang="en-US" sz="1200" dirty="0"/>
              <a:t>: NT-treated patient volume </a:t>
            </a:r>
            <a:r>
              <a:rPr kumimoji="1" lang="en-US" sz="1200" u="sng" dirty="0"/>
              <a:t>&gt;</a:t>
            </a:r>
            <a:r>
              <a:rPr kumimoji="1" lang="en-US" sz="1200" dirty="0"/>
              <a:t> 90th  percentile </a:t>
            </a:r>
          </a:p>
        </p:txBody>
      </p:sp>
      <p:sp>
        <p:nvSpPr>
          <p:cNvPr id="3" name="Left Brace 2">
            <a:extLst>
              <a:ext uri="{FF2B5EF4-FFF2-40B4-BE49-F238E27FC236}">
                <a16:creationId xmlns:a16="http://schemas.microsoft.com/office/drawing/2014/main" id="{5CC0E7A4-5C4D-3DF4-33AF-FFEDFFAC3840}"/>
              </a:ext>
            </a:extLst>
          </p:cNvPr>
          <p:cNvSpPr/>
          <p:nvPr/>
        </p:nvSpPr>
        <p:spPr>
          <a:xfrm>
            <a:off x="324575" y="1337321"/>
            <a:ext cx="271773" cy="3703215"/>
          </a:xfrm>
          <a:prstGeom prst="leftBrace">
            <a:avLst/>
          </a:prstGeom>
          <a:ln w="12700">
            <a:solidFill>
              <a:schemeClr val="bg2">
                <a:lumMod val="65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Pentagon 3">
            <a:extLst>
              <a:ext uri="{FF2B5EF4-FFF2-40B4-BE49-F238E27FC236}">
                <a16:creationId xmlns:a16="http://schemas.microsoft.com/office/drawing/2014/main" id="{BB1CEE38-3ECC-FBBF-7FEE-CC8972289EEC}"/>
              </a:ext>
            </a:extLst>
          </p:cNvPr>
          <p:cNvSpPr/>
          <p:nvPr/>
        </p:nvSpPr>
        <p:spPr>
          <a:xfrm rot="16200000">
            <a:off x="-842017" y="3157837"/>
            <a:ext cx="2039674" cy="2666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cap="all" noProof="0">
                <a:solidFill>
                  <a:schemeClr val="tx1"/>
                </a:solidFill>
                <a:latin typeface="+mj-lt"/>
                <a:ea typeface="League Spartan" charset="0"/>
                <a:cs typeface="Poppins" pitchFamily="2" charset="77"/>
              </a:rPr>
              <a:t>Key Personas</a:t>
            </a:r>
          </a:p>
        </p:txBody>
      </p:sp>
      <p:sp>
        <p:nvSpPr>
          <p:cNvPr id="11" name="Left Brace 10">
            <a:extLst>
              <a:ext uri="{FF2B5EF4-FFF2-40B4-BE49-F238E27FC236}">
                <a16:creationId xmlns:a16="http://schemas.microsoft.com/office/drawing/2014/main" id="{200D7784-EFB0-2AB2-BBC3-DA2387CFA4B8}"/>
              </a:ext>
            </a:extLst>
          </p:cNvPr>
          <p:cNvSpPr/>
          <p:nvPr/>
        </p:nvSpPr>
        <p:spPr>
          <a:xfrm>
            <a:off x="324575" y="5404029"/>
            <a:ext cx="271773" cy="801481"/>
          </a:xfrm>
          <a:prstGeom prst="leftBrace">
            <a:avLst/>
          </a:prstGeom>
          <a:ln w="12700">
            <a:solidFill>
              <a:schemeClr val="bg2">
                <a:lumMod val="65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Pentagon 3">
            <a:extLst>
              <a:ext uri="{FF2B5EF4-FFF2-40B4-BE49-F238E27FC236}">
                <a16:creationId xmlns:a16="http://schemas.microsoft.com/office/drawing/2014/main" id="{51EDB377-DF24-2753-ED7A-6DB350FAF661}"/>
              </a:ext>
            </a:extLst>
          </p:cNvPr>
          <p:cNvSpPr/>
          <p:nvPr/>
        </p:nvSpPr>
        <p:spPr>
          <a:xfrm rot="16200000">
            <a:off x="-842017" y="5671304"/>
            <a:ext cx="2039674" cy="2666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cap="all" noProof="0">
                <a:solidFill>
                  <a:schemeClr val="tx1"/>
                </a:solidFill>
                <a:latin typeface="+mj-lt"/>
                <a:ea typeface="League Spartan" charset="0"/>
                <a:cs typeface="Poppins" pitchFamily="2" charset="77"/>
              </a:rPr>
              <a:t>Auxiliary Personas</a:t>
            </a:r>
          </a:p>
        </p:txBody>
      </p:sp>
      <p:cxnSp>
        <p:nvCxnSpPr>
          <p:cNvPr id="41" name="Straight Connector 40">
            <a:extLst>
              <a:ext uri="{FF2B5EF4-FFF2-40B4-BE49-F238E27FC236}">
                <a16:creationId xmlns:a16="http://schemas.microsoft.com/office/drawing/2014/main" id="{2C0E4774-E5AA-E2FD-A575-670B7935DEDC}"/>
              </a:ext>
            </a:extLst>
          </p:cNvPr>
          <p:cNvCxnSpPr>
            <a:cxnSpLocks/>
          </p:cNvCxnSpPr>
          <p:nvPr/>
        </p:nvCxnSpPr>
        <p:spPr>
          <a:xfrm>
            <a:off x="1006265" y="5199233"/>
            <a:ext cx="10179471" cy="0"/>
          </a:xfrm>
          <a:prstGeom prst="line">
            <a:avLst/>
          </a:prstGeom>
          <a:ln w="12700">
            <a:solidFill>
              <a:schemeClr val="bg2">
                <a:lumMod val="6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019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1" grpId="0" animBg="1"/>
      <p:bldP spid="30" grpId="0" animBg="1"/>
      <p:bldP spid="31" grpId="0" animBg="1"/>
      <p:bldP spid="11"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E6A15-B54A-D0C8-CE75-F63533CFC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C56FEE-3353-7B7A-25B9-DBB9CF79858C}"/>
              </a:ext>
            </a:extLst>
          </p:cNvPr>
          <p:cNvSpPr>
            <a:spLocks noGrp="1"/>
          </p:cNvSpPr>
          <p:nvPr>
            <p:ph type="title"/>
          </p:nvPr>
        </p:nvSpPr>
        <p:spPr>
          <a:xfrm>
            <a:off x="606078" y="161605"/>
            <a:ext cx="10014297" cy="685801"/>
          </a:xfrm>
        </p:spPr>
        <p:txBody>
          <a:bodyPr>
            <a:noAutofit/>
          </a:bodyPr>
          <a:lstStyle/>
          <a:p>
            <a:r>
              <a:rPr lang="en-US" sz="2000" dirty="0">
                <a:latin typeface="Calibri"/>
                <a:ea typeface="メイリオ"/>
                <a:cs typeface="Calibri"/>
              </a:rPr>
              <a:t>A small, high-impact cohort of 5% HCPs accounts for a disproportionate share of 62% of top-decile targets in the NT network</a:t>
            </a:r>
          </a:p>
        </p:txBody>
      </p:sp>
      <p:grpSp>
        <p:nvGrpSpPr>
          <p:cNvPr id="87" name="Group 86">
            <a:extLst>
              <a:ext uri="{FF2B5EF4-FFF2-40B4-BE49-F238E27FC236}">
                <a16:creationId xmlns:a16="http://schemas.microsoft.com/office/drawing/2014/main" id="{5F6F65C7-08EA-0DCF-F622-C4F132662ADA}"/>
              </a:ext>
            </a:extLst>
          </p:cNvPr>
          <p:cNvGrpSpPr/>
          <p:nvPr/>
        </p:nvGrpSpPr>
        <p:grpSpPr>
          <a:xfrm>
            <a:off x="435748" y="1803061"/>
            <a:ext cx="4325085" cy="3447613"/>
            <a:chOff x="435748" y="1803061"/>
            <a:chExt cx="4325085" cy="3447613"/>
          </a:xfrm>
        </p:grpSpPr>
        <p:cxnSp>
          <p:nvCxnSpPr>
            <p:cNvPr id="79" name="Straight Arrow Connector 78">
              <a:extLst>
                <a:ext uri="{FF2B5EF4-FFF2-40B4-BE49-F238E27FC236}">
                  <a16:creationId xmlns:a16="http://schemas.microsoft.com/office/drawing/2014/main" id="{3E0CD0B4-F8A0-86E4-B14D-2DA1E3F16DB0}"/>
                </a:ext>
              </a:extLst>
            </p:cNvPr>
            <p:cNvCxnSpPr>
              <a:cxnSpLocks/>
              <a:stCxn id="4" idx="5"/>
              <a:endCxn id="50" idx="1"/>
            </p:cNvCxnSpPr>
            <p:nvPr/>
          </p:nvCxnSpPr>
          <p:spPr>
            <a:xfrm>
              <a:off x="1967202" y="2472521"/>
              <a:ext cx="1084575" cy="1769895"/>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122E4D34-8BDE-27A4-0C37-4FC93DBBE6C6}"/>
                </a:ext>
              </a:extLst>
            </p:cNvPr>
            <p:cNvCxnSpPr>
              <a:cxnSpLocks/>
              <a:stCxn id="6" idx="4"/>
              <a:endCxn id="9" idx="1"/>
            </p:cNvCxnSpPr>
            <p:nvPr/>
          </p:nvCxnSpPr>
          <p:spPr>
            <a:xfrm>
              <a:off x="886466" y="3906095"/>
              <a:ext cx="1364211" cy="855641"/>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4508E12E-26F0-F111-F87F-16D743B0A89B}"/>
                </a:ext>
              </a:extLst>
            </p:cNvPr>
            <p:cNvCxnSpPr>
              <a:cxnSpLocks/>
              <a:stCxn id="9" idx="0"/>
              <a:endCxn id="11" idx="2"/>
            </p:cNvCxnSpPr>
            <p:nvPr/>
          </p:nvCxnSpPr>
          <p:spPr>
            <a:xfrm flipV="1">
              <a:off x="2357588" y="3186528"/>
              <a:ext cx="1517624" cy="1530924"/>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84D6F59-AF6A-93D0-99D8-EE584D4DA6AF}"/>
                </a:ext>
              </a:extLst>
            </p:cNvPr>
            <p:cNvCxnSpPr>
              <a:cxnSpLocks/>
              <a:endCxn id="16" idx="7"/>
            </p:cNvCxnSpPr>
            <p:nvPr/>
          </p:nvCxnSpPr>
          <p:spPr>
            <a:xfrm flipH="1">
              <a:off x="3560064" y="3296411"/>
              <a:ext cx="350122" cy="1337665"/>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FCF74BD3-CA18-BC35-B434-B962270B1134}"/>
                </a:ext>
              </a:extLst>
            </p:cNvPr>
            <p:cNvSpPr>
              <a:spLocks noChangeAspect="1"/>
            </p:cNvSpPr>
            <p:nvPr/>
          </p:nvSpPr>
          <p:spPr>
            <a:xfrm>
              <a:off x="1297742" y="1803061"/>
              <a:ext cx="784321" cy="784321"/>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sz="1200" dirty="0">
                <a:solidFill>
                  <a:schemeClr val="bg1"/>
                </a:solidFill>
              </a:endParaRPr>
            </a:p>
          </p:txBody>
        </p:sp>
        <p:sp>
          <p:nvSpPr>
            <p:cNvPr id="6" name="Oval 5">
              <a:extLst>
                <a:ext uri="{FF2B5EF4-FFF2-40B4-BE49-F238E27FC236}">
                  <a16:creationId xmlns:a16="http://schemas.microsoft.com/office/drawing/2014/main" id="{98F0F7B0-3489-206B-4C4F-8F458C5F8359}"/>
                </a:ext>
              </a:extLst>
            </p:cNvPr>
            <p:cNvSpPr>
              <a:spLocks noChangeAspect="1"/>
            </p:cNvSpPr>
            <p:nvPr/>
          </p:nvSpPr>
          <p:spPr>
            <a:xfrm>
              <a:off x="725043" y="3583249"/>
              <a:ext cx="322846" cy="322846"/>
            </a:xfrm>
            <a:prstGeom prst="ellipse">
              <a:avLst/>
            </a:prstGeom>
            <a:solidFill>
              <a:srgbClr val="E1242A">
                <a:alpha val="4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8" name="Oval 7">
              <a:extLst>
                <a:ext uri="{FF2B5EF4-FFF2-40B4-BE49-F238E27FC236}">
                  <a16:creationId xmlns:a16="http://schemas.microsoft.com/office/drawing/2014/main" id="{71F7CB05-6B7D-F755-B625-E10AA3AB85C5}"/>
                </a:ext>
              </a:extLst>
            </p:cNvPr>
            <p:cNvSpPr>
              <a:spLocks noChangeAspect="1"/>
            </p:cNvSpPr>
            <p:nvPr/>
          </p:nvSpPr>
          <p:spPr>
            <a:xfrm>
              <a:off x="858827" y="4717452"/>
              <a:ext cx="302390" cy="302390"/>
            </a:xfrm>
            <a:prstGeom prst="ellipse">
              <a:avLst/>
            </a:prstGeom>
            <a:solidFill>
              <a:schemeClr val="bg1">
                <a:lumMod val="7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11" name="Oval 10">
              <a:extLst>
                <a:ext uri="{FF2B5EF4-FFF2-40B4-BE49-F238E27FC236}">
                  <a16:creationId xmlns:a16="http://schemas.microsoft.com/office/drawing/2014/main" id="{6731344A-3254-246E-11E8-E06ED5D53020}"/>
                </a:ext>
              </a:extLst>
            </p:cNvPr>
            <p:cNvSpPr>
              <a:spLocks noChangeAspect="1"/>
            </p:cNvSpPr>
            <p:nvPr/>
          </p:nvSpPr>
          <p:spPr>
            <a:xfrm>
              <a:off x="3875212" y="2830018"/>
              <a:ext cx="713019" cy="713019"/>
            </a:xfrm>
            <a:prstGeom prst="ellipse">
              <a:avLst/>
            </a:prstGeom>
            <a:solidFill>
              <a:srgbClr val="00B050"/>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sz="1200" dirty="0">
                <a:solidFill>
                  <a:schemeClr val="bg1"/>
                </a:solidFill>
              </a:endParaRPr>
            </a:p>
          </p:txBody>
        </p:sp>
        <p:cxnSp>
          <p:nvCxnSpPr>
            <p:cNvPr id="13" name="Straight Arrow Connector 12">
              <a:extLst>
                <a:ext uri="{FF2B5EF4-FFF2-40B4-BE49-F238E27FC236}">
                  <a16:creationId xmlns:a16="http://schemas.microsoft.com/office/drawing/2014/main" id="{F5ED3A02-9C8C-2246-3889-51E760B9C171}"/>
                </a:ext>
              </a:extLst>
            </p:cNvPr>
            <p:cNvCxnSpPr>
              <a:cxnSpLocks/>
              <a:stCxn id="11" idx="2"/>
              <a:endCxn id="4" idx="5"/>
            </p:cNvCxnSpPr>
            <p:nvPr/>
          </p:nvCxnSpPr>
          <p:spPr>
            <a:xfrm flipH="1" flipV="1">
              <a:off x="1967202" y="2472521"/>
              <a:ext cx="1908010" cy="71400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9762DF5C-2722-C8B5-960C-FCA8250C119E}"/>
                </a:ext>
              </a:extLst>
            </p:cNvPr>
            <p:cNvSpPr>
              <a:spLocks noChangeAspect="1"/>
            </p:cNvSpPr>
            <p:nvPr/>
          </p:nvSpPr>
          <p:spPr>
            <a:xfrm>
              <a:off x="3144382" y="4562756"/>
              <a:ext cx="487002" cy="487002"/>
            </a:xfrm>
            <a:prstGeom prst="ellipse">
              <a:avLst/>
            </a:prstGeom>
            <a:solidFill>
              <a:srgbClr val="00B050">
                <a:alpha val="4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17" name="TextBox 16">
              <a:extLst>
                <a:ext uri="{FF2B5EF4-FFF2-40B4-BE49-F238E27FC236}">
                  <a16:creationId xmlns:a16="http://schemas.microsoft.com/office/drawing/2014/main" id="{7CDC7E97-0CCE-9DAA-2F7A-D2344E020175}"/>
                </a:ext>
              </a:extLst>
            </p:cNvPr>
            <p:cNvSpPr txBox="1"/>
            <p:nvPr/>
          </p:nvSpPr>
          <p:spPr>
            <a:xfrm>
              <a:off x="2964973" y="5007995"/>
              <a:ext cx="845820" cy="230832"/>
            </a:xfrm>
            <a:prstGeom prst="rect">
              <a:avLst/>
            </a:prstGeom>
            <a:noFill/>
          </p:spPr>
          <p:txBody>
            <a:bodyPr wrap="square" rtlCol="0">
              <a:spAutoFit/>
            </a:bodyPr>
            <a:lstStyle/>
            <a:p>
              <a:pPr algn="ctr"/>
              <a:r>
                <a:rPr lang="en-US" sz="900" b="1" i="1" dirty="0" err="1"/>
                <a:t>Diagnoser</a:t>
              </a:r>
              <a:endParaRPr lang="en-US" sz="900" b="1" i="1" dirty="0"/>
            </a:p>
          </p:txBody>
        </p:sp>
        <p:sp>
          <p:nvSpPr>
            <p:cNvPr id="15" name="Oval 14">
              <a:extLst>
                <a:ext uri="{FF2B5EF4-FFF2-40B4-BE49-F238E27FC236}">
                  <a16:creationId xmlns:a16="http://schemas.microsoft.com/office/drawing/2014/main" id="{A3630DED-81B5-0DAF-00F9-4D2DB84B064A}"/>
                </a:ext>
              </a:extLst>
            </p:cNvPr>
            <p:cNvSpPr>
              <a:spLocks noChangeAspect="1"/>
            </p:cNvSpPr>
            <p:nvPr/>
          </p:nvSpPr>
          <p:spPr>
            <a:xfrm>
              <a:off x="691886" y="2798697"/>
              <a:ext cx="365892" cy="365892"/>
            </a:xfrm>
            <a:prstGeom prst="ellipse">
              <a:avLst/>
            </a:prstGeom>
            <a:solidFill>
              <a:schemeClr val="accent1">
                <a:alpha val="4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20" name="TextBox 19">
              <a:extLst>
                <a:ext uri="{FF2B5EF4-FFF2-40B4-BE49-F238E27FC236}">
                  <a16:creationId xmlns:a16="http://schemas.microsoft.com/office/drawing/2014/main" id="{2020D0B3-03E4-40E6-1B70-782B9C7523E4}"/>
                </a:ext>
              </a:extLst>
            </p:cNvPr>
            <p:cNvSpPr txBox="1"/>
            <p:nvPr/>
          </p:nvSpPr>
          <p:spPr>
            <a:xfrm>
              <a:off x="451922" y="3089585"/>
              <a:ext cx="845820" cy="230832"/>
            </a:xfrm>
            <a:prstGeom prst="rect">
              <a:avLst/>
            </a:prstGeom>
            <a:noFill/>
          </p:spPr>
          <p:txBody>
            <a:bodyPr wrap="square" rtlCol="0">
              <a:spAutoFit/>
            </a:bodyPr>
            <a:lstStyle/>
            <a:p>
              <a:pPr algn="ctr"/>
              <a:r>
                <a:rPr lang="en-US" sz="900" b="1" i="1" dirty="0"/>
                <a:t>Treater</a:t>
              </a:r>
            </a:p>
          </p:txBody>
        </p:sp>
        <p:sp>
          <p:nvSpPr>
            <p:cNvPr id="21" name="TextBox 20">
              <a:extLst>
                <a:ext uri="{FF2B5EF4-FFF2-40B4-BE49-F238E27FC236}">
                  <a16:creationId xmlns:a16="http://schemas.microsoft.com/office/drawing/2014/main" id="{AAE4BCAD-BDF2-EEF6-7AE4-6E05024B0F3A}"/>
                </a:ext>
              </a:extLst>
            </p:cNvPr>
            <p:cNvSpPr txBox="1"/>
            <p:nvPr/>
          </p:nvSpPr>
          <p:spPr>
            <a:xfrm>
              <a:off x="435748" y="5019842"/>
              <a:ext cx="1148548" cy="230832"/>
            </a:xfrm>
            <a:prstGeom prst="rect">
              <a:avLst/>
            </a:prstGeom>
            <a:noFill/>
          </p:spPr>
          <p:txBody>
            <a:bodyPr wrap="square" rtlCol="0">
              <a:spAutoFit/>
            </a:bodyPr>
            <a:lstStyle/>
            <a:p>
              <a:pPr algn="ctr"/>
              <a:r>
                <a:rPr lang="en-US" sz="900" b="1" i="1" dirty="0"/>
                <a:t>Peripheral HCP</a:t>
              </a:r>
            </a:p>
          </p:txBody>
        </p:sp>
        <p:cxnSp>
          <p:nvCxnSpPr>
            <p:cNvPr id="24" name="Straight Arrow Connector 23">
              <a:extLst>
                <a:ext uri="{FF2B5EF4-FFF2-40B4-BE49-F238E27FC236}">
                  <a16:creationId xmlns:a16="http://schemas.microsoft.com/office/drawing/2014/main" id="{3D02A127-91B5-5D59-5C41-338FF1AEB0CC}"/>
                </a:ext>
              </a:extLst>
            </p:cNvPr>
            <p:cNvCxnSpPr>
              <a:cxnSpLocks/>
              <a:stCxn id="14" idx="7"/>
              <a:endCxn id="11" idx="4"/>
            </p:cNvCxnSpPr>
            <p:nvPr/>
          </p:nvCxnSpPr>
          <p:spPr>
            <a:xfrm flipV="1">
              <a:off x="3986864" y="3543037"/>
              <a:ext cx="244858" cy="23799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F75C1D8-B617-DDFF-E5D3-B5F31AE30665}"/>
                </a:ext>
              </a:extLst>
            </p:cNvPr>
            <p:cNvCxnSpPr>
              <a:cxnSpLocks/>
              <a:stCxn id="14" idx="2"/>
              <a:endCxn id="4" idx="5"/>
            </p:cNvCxnSpPr>
            <p:nvPr/>
          </p:nvCxnSpPr>
          <p:spPr>
            <a:xfrm flipH="1" flipV="1">
              <a:off x="1967202" y="2472521"/>
              <a:ext cx="1603980" cy="148069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08038F4-F606-FDB5-AE49-C7D97F6D59EE}"/>
                </a:ext>
              </a:extLst>
            </p:cNvPr>
            <p:cNvSpPr>
              <a:spLocks noChangeAspect="1"/>
            </p:cNvSpPr>
            <p:nvPr/>
          </p:nvSpPr>
          <p:spPr>
            <a:xfrm>
              <a:off x="3571182" y="3709715"/>
              <a:ext cx="487002" cy="487002"/>
            </a:xfrm>
            <a:prstGeom prst="ellipse">
              <a:avLst/>
            </a:prstGeom>
            <a:solidFill>
              <a:srgbClr val="FFC000"/>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32" name="TextBox 31">
              <a:extLst>
                <a:ext uri="{FF2B5EF4-FFF2-40B4-BE49-F238E27FC236}">
                  <a16:creationId xmlns:a16="http://schemas.microsoft.com/office/drawing/2014/main" id="{10BE3B29-C7E4-6507-EA83-C6AE909AED7C}"/>
                </a:ext>
              </a:extLst>
            </p:cNvPr>
            <p:cNvSpPr txBox="1"/>
            <p:nvPr/>
          </p:nvSpPr>
          <p:spPr>
            <a:xfrm>
              <a:off x="3240409" y="4145727"/>
              <a:ext cx="1148548" cy="230832"/>
            </a:xfrm>
            <a:prstGeom prst="rect">
              <a:avLst/>
            </a:prstGeom>
            <a:noFill/>
          </p:spPr>
          <p:txBody>
            <a:bodyPr wrap="square" rtlCol="0">
              <a:spAutoFit/>
            </a:bodyPr>
            <a:lstStyle/>
            <a:p>
              <a:pPr algn="ctr"/>
              <a:r>
                <a:rPr lang="en-US" sz="900" b="1" i="1" dirty="0"/>
                <a:t>Bridgers</a:t>
              </a:r>
            </a:p>
          </p:txBody>
        </p:sp>
        <p:cxnSp>
          <p:nvCxnSpPr>
            <p:cNvPr id="34" name="Straight Arrow Connector 33">
              <a:extLst>
                <a:ext uri="{FF2B5EF4-FFF2-40B4-BE49-F238E27FC236}">
                  <a16:creationId xmlns:a16="http://schemas.microsoft.com/office/drawing/2014/main" id="{61DB916E-ED9F-1D31-188B-BCD71B03C155}"/>
                </a:ext>
              </a:extLst>
            </p:cNvPr>
            <p:cNvCxnSpPr>
              <a:cxnSpLocks/>
              <a:stCxn id="7" idx="4"/>
              <a:endCxn id="15" idx="6"/>
            </p:cNvCxnSpPr>
            <p:nvPr/>
          </p:nvCxnSpPr>
          <p:spPr>
            <a:xfrm flipH="1" flipV="1">
              <a:off x="1057778" y="2981643"/>
              <a:ext cx="1028304" cy="39605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1E0482A-53E6-CD61-F0E8-A4F293BBF369}"/>
                </a:ext>
              </a:extLst>
            </p:cNvPr>
            <p:cNvCxnSpPr>
              <a:cxnSpLocks/>
              <a:stCxn id="7" idx="5"/>
              <a:endCxn id="14" idx="1"/>
            </p:cNvCxnSpPr>
            <p:nvPr/>
          </p:nvCxnSpPr>
          <p:spPr>
            <a:xfrm>
              <a:off x="2215444" y="3324113"/>
              <a:ext cx="1427058" cy="45692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D710E67-A6BF-E83F-93A9-575E75BE5CD1}"/>
                </a:ext>
              </a:extLst>
            </p:cNvPr>
            <p:cNvCxnSpPr>
              <a:cxnSpLocks/>
              <a:stCxn id="7" idx="5"/>
              <a:endCxn id="16" idx="1"/>
            </p:cNvCxnSpPr>
            <p:nvPr/>
          </p:nvCxnSpPr>
          <p:spPr>
            <a:xfrm>
              <a:off x="2215444" y="3324113"/>
              <a:ext cx="1000258" cy="130996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E2975250-AC25-1B42-BC40-2650AE8065F8}"/>
                </a:ext>
              </a:extLst>
            </p:cNvPr>
            <p:cNvSpPr>
              <a:spLocks noChangeAspect="1"/>
            </p:cNvSpPr>
            <p:nvPr/>
          </p:nvSpPr>
          <p:spPr>
            <a:xfrm>
              <a:off x="2206393" y="4717452"/>
              <a:ext cx="302390" cy="302390"/>
            </a:xfrm>
            <a:prstGeom prst="ellipse">
              <a:avLst/>
            </a:prstGeom>
            <a:solidFill>
              <a:srgbClr val="0070C0"/>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43" name="TextBox 42">
              <a:extLst>
                <a:ext uri="{FF2B5EF4-FFF2-40B4-BE49-F238E27FC236}">
                  <a16:creationId xmlns:a16="http://schemas.microsoft.com/office/drawing/2014/main" id="{960CDA63-D096-2571-A01A-4159CF423298}"/>
                </a:ext>
              </a:extLst>
            </p:cNvPr>
            <p:cNvSpPr txBox="1"/>
            <p:nvPr/>
          </p:nvSpPr>
          <p:spPr>
            <a:xfrm>
              <a:off x="1934678" y="5019842"/>
              <a:ext cx="845820" cy="230832"/>
            </a:xfrm>
            <a:prstGeom prst="rect">
              <a:avLst/>
            </a:prstGeom>
            <a:noFill/>
          </p:spPr>
          <p:txBody>
            <a:bodyPr wrap="square" rtlCol="0">
              <a:spAutoFit/>
            </a:bodyPr>
            <a:lstStyle/>
            <a:p>
              <a:pPr algn="ctr"/>
              <a:r>
                <a:rPr lang="en-US" sz="900" b="1" i="1" dirty="0"/>
                <a:t>Referrers</a:t>
              </a:r>
            </a:p>
          </p:txBody>
        </p:sp>
        <p:sp>
          <p:nvSpPr>
            <p:cNvPr id="50" name="Oval 49">
              <a:extLst>
                <a:ext uri="{FF2B5EF4-FFF2-40B4-BE49-F238E27FC236}">
                  <a16:creationId xmlns:a16="http://schemas.microsoft.com/office/drawing/2014/main" id="{3A687519-0691-AFDA-A313-3813972B12E1}"/>
                </a:ext>
              </a:extLst>
            </p:cNvPr>
            <p:cNvSpPr>
              <a:spLocks noChangeAspect="1"/>
            </p:cNvSpPr>
            <p:nvPr/>
          </p:nvSpPr>
          <p:spPr>
            <a:xfrm>
              <a:off x="3004497" y="4195136"/>
              <a:ext cx="322846" cy="322846"/>
            </a:xfrm>
            <a:prstGeom prst="ellipse">
              <a:avLst/>
            </a:prstGeom>
            <a:solidFill>
              <a:srgbClr val="00B0F0">
                <a:alpha val="4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51" name="Oval 50">
              <a:extLst>
                <a:ext uri="{FF2B5EF4-FFF2-40B4-BE49-F238E27FC236}">
                  <a16:creationId xmlns:a16="http://schemas.microsoft.com/office/drawing/2014/main" id="{FD2C0970-3C1F-7689-794F-3A4D663D609E}"/>
                </a:ext>
              </a:extLst>
            </p:cNvPr>
            <p:cNvSpPr>
              <a:spLocks noChangeAspect="1"/>
            </p:cNvSpPr>
            <p:nvPr/>
          </p:nvSpPr>
          <p:spPr>
            <a:xfrm>
              <a:off x="4113002" y="4465727"/>
              <a:ext cx="322846" cy="322846"/>
            </a:xfrm>
            <a:prstGeom prst="ellipse">
              <a:avLst/>
            </a:prstGeom>
            <a:solidFill>
              <a:srgbClr val="002060">
                <a:alpha val="40000"/>
              </a:srgb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cxnSp>
          <p:nvCxnSpPr>
            <p:cNvPr id="52" name="Straight Arrow Connector 51">
              <a:extLst>
                <a:ext uri="{FF2B5EF4-FFF2-40B4-BE49-F238E27FC236}">
                  <a16:creationId xmlns:a16="http://schemas.microsoft.com/office/drawing/2014/main" id="{85FC18AF-F5FD-0405-30AE-8CBBC5D3A90F}"/>
                </a:ext>
              </a:extLst>
            </p:cNvPr>
            <p:cNvCxnSpPr>
              <a:cxnSpLocks/>
              <a:stCxn id="9" idx="0"/>
              <a:endCxn id="33" idx="0"/>
            </p:cNvCxnSpPr>
            <p:nvPr/>
          </p:nvCxnSpPr>
          <p:spPr>
            <a:xfrm flipH="1" flipV="1">
              <a:off x="2086082" y="3377101"/>
              <a:ext cx="271506" cy="134035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DB0E68A-1E88-E505-5E2A-2BAFD5FA6C36}"/>
                </a:ext>
              </a:extLst>
            </p:cNvPr>
            <p:cNvCxnSpPr>
              <a:cxnSpLocks/>
              <a:stCxn id="51" idx="0"/>
            </p:cNvCxnSpPr>
            <p:nvPr/>
          </p:nvCxnSpPr>
          <p:spPr>
            <a:xfrm flipH="1" flipV="1">
              <a:off x="3842897" y="4118143"/>
              <a:ext cx="431528" cy="347584"/>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6A052AE9-78C3-ADF9-CF5A-337127C1B608}"/>
                </a:ext>
              </a:extLst>
            </p:cNvPr>
            <p:cNvCxnSpPr>
              <a:cxnSpLocks/>
              <a:stCxn id="50" idx="0"/>
              <a:endCxn id="14" idx="2"/>
            </p:cNvCxnSpPr>
            <p:nvPr/>
          </p:nvCxnSpPr>
          <p:spPr>
            <a:xfrm flipV="1">
              <a:off x="3165920" y="3953216"/>
              <a:ext cx="405262" cy="241920"/>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57DEEE6-EB2F-CD3D-2521-675207C8A336}"/>
                </a:ext>
              </a:extLst>
            </p:cNvPr>
            <p:cNvCxnSpPr>
              <a:cxnSpLocks/>
              <a:endCxn id="7" idx="3"/>
            </p:cNvCxnSpPr>
            <p:nvPr/>
          </p:nvCxnSpPr>
          <p:spPr>
            <a:xfrm flipV="1">
              <a:off x="899453" y="3324113"/>
              <a:ext cx="1057267" cy="291094"/>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20C63A4-3F70-57EB-6AD0-DA1536CEE140}"/>
                </a:ext>
              </a:extLst>
            </p:cNvPr>
            <p:cNvCxnSpPr>
              <a:cxnSpLocks/>
              <a:stCxn id="9" idx="0"/>
              <a:endCxn id="16" idx="1"/>
            </p:cNvCxnSpPr>
            <p:nvPr/>
          </p:nvCxnSpPr>
          <p:spPr>
            <a:xfrm flipV="1">
              <a:off x="2357588" y="4634076"/>
              <a:ext cx="858114" cy="83376"/>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27DEE464-E3F8-0320-818D-798104AA14EC}"/>
                </a:ext>
              </a:extLst>
            </p:cNvPr>
            <p:cNvCxnSpPr>
              <a:cxnSpLocks/>
              <a:stCxn id="15" idx="6"/>
              <a:endCxn id="7" idx="1"/>
            </p:cNvCxnSpPr>
            <p:nvPr/>
          </p:nvCxnSpPr>
          <p:spPr>
            <a:xfrm>
              <a:off x="1057778" y="2981643"/>
              <a:ext cx="898942" cy="83746"/>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21A48FE-CAC9-CF80-43C1-18BA38A14E35}"/>
                </a:ext>
              </a:extLst>
            </p:cNvPr>
            <p:cNvSpPr txBox="1"/>
            <p:nvPr/>
          </p:nvSpPr>
          <p:spPr>
            <a:xfrm>
              <a:off x="1620881" y="3377101"/>
              <a:ext cx="930402" cy="369332"/>
            </a:xfrm>
            <a:prstGeom prst="rect">
              <a:avLst/>
            </a:prstGeom>
            <a:noFill/>
          </p:spPr>
          <p:txBody>
            <a:bodyPr wrap="square" rtlCol="0">
              <a:spAutoFit/>
            </a:bodyPr>
            <a:lstStyle/>
            <a:p>
              <a:pPr algn="ctr"/>
              <a:r>
                <a:rPr lang="en-US" sz="900" b="1" i="1" dirty="0"/>
                <a:t>Key Influencer</a:t>
              </a:r>
            </a:p>
          </p:txBody>
        </p:sp>
        <p:sp>
          <p:nvSpPr>
            <p:cNvPr id="7" name="Oval 6">
              <a:extLst>
                <a:ext uri="{FF2B5EF4-FFF2-40B4-BE49-F238E27FC236}">
                  <a16:creationId xmlns:a16="http://schemas.microsoft.com/office/drawing/2014/main" id="{B037646A-8573-3EAE-D2AE-8205CBE29846}"/>
                </a:ext>
              </a:extLst>
            </p:cNvPr>
            <p:cNvSpPr>
              <a:spLocks noChangeAspect="1"/>
            </p:cNvSpPr>
            <p:nvPr/>
          </p:nvSpPr>
          <p:spPr>
            <a:xfrm>
              <a:off x="1903136" y="3011805"/>
              <a:ext cx="365892" cy="365892"/>
            </a:xfrm>
            <a:prstGeom prst="ellipse">
              <a:avLst/>
            </a:prstGeom>
            <a:solidFill>
              <a:srgbClr val="4C628F"/>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cxnSp>
          <p:nvCxnSpPr>
            <p:cNvPr id="84" name="Straight Arrow Connector 83">
              <a:extLst>
                <a:ext uri="{FF2B5EF4-FFF2-40B4-BE49-F238E27FC236}">
                  <a16:creationId xmlns:a16="http://schemas.microsoft.com/office/drawing/2014/main" id="{869D3A84-93FB-46E3-62BF-67C794476C48}"/>
                </a:ext>
              </a:extLst>
            </p:cNvPr>
            <p:cNvCxnSpPr>
              <a:cxnSpLocks/>
              <a:stCxn id="7" idx="6"/>
              <a:endCxn id="51" idx="1"/>
            </p:cNvCxnSpPr>
            <p:nvPr/>
          </p:nvCxnSpPr>
          <p:spPr>
            <a:xfrm>
              <a:off x="2269028" y="3194751"/>
              <a:ext cx="1891254" cy="1318256"/>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82EAB669-81DE-979B-41D6-18BAD9A5C81E}"/>
                </a:ext>
              </a:extLst>
            </p:cNvPr>
            <p:cNvSpPr txBox="1"/>
            <p:nvPr/>
          </p:nvSpPr>
          <p:spPr>
            <a:xfrm>
              <a:off x="1290291" y="2542073"/>
              <a:ext cx="845820" cy="230832"/>
            </a:xfrm>
            <a:prstGeom prst="rect">
              <a:avLst/>
            </a:prstGeom>
            <a:noFill/>
          </p:spPr>
          <p:txBody>
            <a:bodyPr wrap="square" rtlCol="0">
              <a:spAutoFit/>
            </a:bodyPr>
            <a:lstStyle/>
            <a:p>
              <a:pPr algn="ctr"/>
              <a:r>
                <a:rPr lang="en-US" sz="900" b="1" i="1" dirty="0"/>
                <a:t>Super Treater</a:t>
              </a:r>
            </a:p>
          </p:txBody>
        </p:sp>
        <p:sp>
          <p:nvSpPr>
            <p:cNvPr id="89" name="TextBox 88">
              <a:extLst>
                <a:ext uri="{FF2B5EF4-FFF2-40B4-BE49-F238E27FC236}">
                  <a16:creationId xmlns:a16="http://schemas.microsoft.com/office/drawing/2014/main" id="{C5CA69CC-4A6C-0033-DD98-0CDB601268D6}"/>
                </a:ext>
              </a:extLst>
            </p:cNvPr>
            <p:cNvSpPr txBox="1"/>
            <p:nvPr/>
          </p:nvSpPr>
          <p:spPr>
            <a:xfrm>
              <a:off x="3715092" y="3579625"/>
              <a:ext cx="1023442" cy="66864"/>
            </a:xfrm>
            <a:prstGeom prst="rect">
              <a:avLst/>
            </a:prstGeom>
            <a:solidFill>
              <a:schemeClr val="bg1"/>
            </a:solidFill>
          </p:spPr>
          <p:txBody>
            <a:bodyPr wrap="square" rtlCol="0" anchor="ctr">
              <a:spAutoFit/>
            </a:bodyPr>
            <a:lstStyle/>
            <a:p>
              <a:pPr algn="ctr"/>
              <a:r>
                <a:rPr lang="en-US" sz="900" b="1" i="1" dirty="0"/>
                <a:t>Super </a:t>
              </a:r>
              <a:r>
                <a:rPr lang="en-US" sz="900" b="1" i="1" dirty="0" err="1"/>
                <a:t>Diagnosers</a:t>
              </a:r>
              <a:endParaRPr lang="en-US" sz="900" b="1" i="1" dirty="0"/>
            </a:p>
          </p:txBody>
        </p:sp>
        <p:sp>
          <p:nvSpPr>
            <p:cNvPr id="91" name="TextBox 90">
              <a:extLst>
                <a:ext uri="{FF2B5EF4-FFF2-40B4-BE49-F238E27FC236}">
                  <a16:creationId xmlns:a16="http://schemas.microsoft.com/office/drawing/2014/main" id="{5EA6E9D2-5956-BD91-387F-F9828AB8FA86}"/>
                </a:ext>
              </a:extLst>
            </p:cNvPr>
            <p:cNvSpPr txBox="1"/>
            <p:nvPr/>
          </p:nvSpPr>
          <p:spPr>
            <a:xfrm>
              <a:off x="3830431" y="4812571"/>
              <a:ext cx="930402" cy="230832"/>
            </a:xfrm>
            <a:prstGeom prst="rect">
              <a:avLst/>
            </a:prstGeom>
            <a:noFill/>
          </p:spPr>
          <p:txBody>
            <a:bodyPr wrap="square" rtlCol="0">
              <a:spAutoFit/>
            </a:bodyPr>
            <a:lstStyle/>
            <a:p>
              <a:pPr algn="ctr"/>
              <a:r>
                <a:rPr lang="en-US" sz="900" b="1" i="1" dirty="0"/>
                <a:t>Influencer</a:t>
              </a:r>
            </a:p>
          </p:txBody>
        </p:sp>
        <p:cxnSp>
          <p:nvCxnSpPr>
            <p:cNvPr id="3" name="Straight Arrow Connector 2">
              <a:extLst>
                <a:ext uri="{FF2B5EF4-FFF2-40B4-BE49-F238E27FC236}">
                  <a16:creationId xmlns:a16="http://schemas.microsoft.com/office/drawing/2014/main" id="{DB4A7BE2-6A02-90B6-674B-1B8A3C65F128}"/>
                </a:ext>
              </a:extLst>
            </p:cNvPr>
            <p:cNvCxnSpPr>
              <a:cxnSpLocks/>
              <a:stCxn id="7" idx="6"/>
              <a:endCxn id="11" idx="2"/>
            </p:cNvCxnSpPr>
            <p:nvPr/>
          </p:nvCxnSpPr>
          <p:spPr>
            <a:xfrm flipV="1">
              <a:off x="2269028" y="3186528"/>
              <a:ext cx="1606184" cy="8223"/>
            </a:xfrm>
            <a:prstGeom prst="straightConnector1">
              <a:avLst/>
            </a:prstGeom>
            <a:ln>
              <a:solidFill>
                <a:schemeClr val="bg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86465774-F82B-21E1-97F5-35CC82362ADD}"/>
              </a:ext>
            </a:extLst>
          </p:cNvPr>
          <p:cNvGrpSpPr/>
          <p:nvPr/>
        </p:nvGrpSpPr>
        <p:grpSpPr>
          <a:xfrm>
            <a:off x="6096000" y="1727704"/>
            <a:ext cx="2062535" cy="373641"/>
            <a:chOff x="656630" y="3472821"/>
            <a:chExt cx="2062535" cy="1383909"/>
          </a:xfrm>
        </p:grpSpPr>
        <p:sp>
          <p:nvSpPr>
            <p:cNvPr id="93" name="Pentagon 3">
              <a:extLst>
                <a:ext uri="{FF2B5EF4-FFF2-40B4-BE49-F238E27FC236}">
                  <a16:creationId xmlns:a16="http://schemas.microsoft.com/office/drawing/2014/main" id="{13F8DD98-8A21-A8BB-9BF7-AB2EC5D22748}"/>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Super Treaters: 0.47% </a:t>
              </a: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(n=315)</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94" name="Pentagon 3">
              <a:extLst>
                <a:ext uri="{FF2B5EF4-FFF2-40B4-BE49-F238E27FC236}">
                  <a16:creationId xmlns:a16="http://schemas.microsoft.com/office/drawing/2014/main" id="{E5A29195-CDD3-22FB-6393-9358B1E6A137}"/>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07" name="Group 106">
            <a:extLst>
              <a:ext uri="{FF2B5EF4-FFF2-40B4-BE49-F238E27FC236}">
                <a16:creationId xmlns:a16="http://schemas.microsoft.com/office/drawing/2014/main" id="{3F194C72-D239-2C79-39D7-CB18617A5A1E}"/>
              </a:ext>
            </a:extLst>
          </p:cNvPr>
          <p:cNvGrpSpPr/>
          <p:nvPr/>
        </p:nvGrpSpPr>
        <p:grpSpPr>
          <a:xfrm>
            <a:off x="9539851" y="1727704"/>
            <a:ext cx="2062535" cy="373641"/>
            <a:chOff x="656630" y="3472821"/>
            <a:chExt cx="2062535" cy="1383909"/>
          </a:xfrm>
        </p:grpSpPr>
        <p:sp>
          <p:nvSpPr>
            <p:cNvPr id="108" name="Pentagon 3">
              <a:extLst>
                <a:ext uri="{FF2B5EF4-FFF2-40B4-BE49-F238E27FC236}">
                  <a16:creationId xmlns:a16="http://schemas.microsoft.com/office/drawing/2014/main" id="{310C34CE-5EB1-B3A8-47A5-E6E2442B3398}"/>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Treaters: 0.43%</a:t>
              </a:r>
              <a:b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br>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(n=286)</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09" name="Pentagon 3">
              <a:extLst>
                <a:ext uri="{FF2B5EF4-FFF2-40B4-BE49-F238E27FC236}">
                  <a16:creationId xmlns:a16="http://schemas.microsoft.com/office/drawing/2014/main" id="{2A8003CE-16C9-8BC7-DB36-DD662B6B12FC}"/>
                </a:ext>
              </a:extLst>
            </p:cNvPr>
            <p:cNvSpPr/>
            <p:nvPr/>
          </p:nvSpPr>
          <p:spPr>
            <a:xfrm>
              <a:off x="656630" y="3472821"/>
              <a:ext cx="45719" cy="1383909"/>
            </a:xfrm>
            <a:prstGeom prst="roundRect">
              <a:avLst/>
            </a:prstGeom>
            <a:solidFill>
              <a:srgbClr val="F3A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10" name="Group 109">
            <a:extLst>
              <a:ext uri="{FF2B5EF4-FFF2-40B4-BE49-F238E27FC236}">
                <a16:creationId xmlns:a16="http://schemas.microsoft.com/office/drawing/2014/main" id="{F48089E0-00F1-0358-755E-EE5FC2C4E4CE}"/>
              </a:ext>
            </a:extLst>
          </p:cNvPr>
          <p:cNvGrpSpPr/>
          <p:nvPr/>
        </p:nvGrpSpPr>
        <p:grpSpPr>
          <a:xfrm>
            <a:off x="6096000" y="2419036"/>
            <a:ext cx="2062535" cy="373641"/>
            <a:chOff x="656630" y="3472821"/>
            <a:chExt cx="2062535" cy="1383909"/>
          </a:xfrm>
        </p:grpSpPr>
        <p:sp>
          <p:nvSpPr>
            <p:cNvPr id="111" name="Pentagon 3">
              <a:extLst>
                <a:ext uri="{FF2B5EF4-FFF2-40B4-BE49-F238E27FC236}">
                  <a16:creationId xmlns:a16="http://schemas.microsoft.com/office/drawing/2014/main" id="{B928831B-6107-CAE0-921F-3AD2D5EAC4F1}"/>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Super </a:t>
              </a:r>
              <a:r>
                <a:rPr kumimoji="0" lang="en-US" sz="1400" b="1" i="0" u="none" strike="noStrike" kern="1200" cap="none" spc="0" normalizeH="0" baseline="0" noProof="0" dirty="0" err="1">
                  <a:ln>
                    <a:noFill/>
                  </a:ln>
                  <a:solidFill>
                    <a:srgbClr val="34373F"/>
                  </a:solidFill>
                  <a:effectLst/>
                  <a:uLnTx/>
                  <a:uFillTx/>
                  <a:latin typeface="Calibri" panose="020F0502020204030204"/>
                  <a:ea typeface="League Spartan" charset="0"/>
                  <a:cs typeface="Poppins" pitchFamily="2" charset="77"/>
                </a:rPr>
                <a:t>Diagnosers</a:t>
              </a: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 1.07%</a:t>
              </a:r>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 (n=717)</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12" name="Pentagon 3">
              <a:extLst>
                <a:ext uri="{FF2B5EF4-FFF2-40B4-BE49-F238E27FC236}">
                  <a16:creationId xmlns:a16="http://schemas.microsoft.com/office/drawing/2014/main" id="{172FB449-A389-475D-E52B-C115BA89B388}"/>
                </a:ext>
              </a:extLst>
            </p:cNvPr>
            <p:cNvSpPr/>
            <p:nvPr/>
          </p:nvSpPr>
          <p:spPr>
            <a:xfrm>
              <a:off x="656630" y="3472821"/>
              <a:ext cx="45719" cy="138390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13" name="Group 112">
            <a:extLst>
              <a:ext uri="{FF2B5EF4-FFF2-40B4-BE49-F238E27FC236}">
                <a16:creationId xmlns:a16="http://schemas.microsoft.com/office/drawing/2014/main" id="{8311CD03-44C1-A043-D975-A26C2E31510D}"/>
              </a:ext>
            </a:extLst>
          </p:cNvPr>
          <p:cNvGrpSpPr/>
          <p:nvPr/>
        </p:nvGrpSpPr>
        <p:grpSpPr>
          <a:xfrm>
            <a:off x="9539851" y="2419036"/>
            <a:ext cx="2062535" cy="373641"/>
            <a:chOff x="656630" y="3472821"/>
            <a:chExt cx="2062535" cy="1383909"/>
          </a:xfrm>
        </p:grpSpPr>
        <p:sp>
          <p:nvSpPr>
            <p:cNvPr id="114" name="Pentagon 3">
              <a:extLst>
                <a:ext uri="{FF2B5EF4-FFF2-40B4-BE49-F238E27FC236}">
                  <a16:creationId xmlns:a16="http://schemas.microsoft.com/office/drawing/2014/main" id="{AC2A0F49-FEC3-B382-4FAB-342FC3513FD3}"/>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err="1">
                  <a:ln>
                    <a:noFill/>
                  </a:ln>
                  <a:solidFill>
                    <a:srgbClr val="34373F"/>
                  </a:solidFill>
                  <a:effectLst/>
                  <a:uLnTx/>
                  <a:uFillTx/>
                  <a:latin typeface="Calibri" panose="020F0502020204030204"/>
                  <a:ea typeface="League Spartan" charset="0"/>
                  <a:cs typeface="Poppins" pitchFamily="2" charset="77"/>
                </a:rPr>
                <a:t>Diagnosers</a:t>
              </a: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 0.64%</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(n=430)</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15" name="Pentagon 3">
              <a:extLst>
                <a:ext uri="{FF2B5EF4-FFF2-40B4-BE49-F238E27FC236}">
                  <a16:creationId xmlns:a16="http://schemas.microsoft.com/office/drawing/2014/main" id="{DD78EEB8-B599-17E1-A5F1-EFB37FB61326}"/>
                </a:ext>
              </a:extLst>
            </p:cNvPr>
            <p:cNvSpPr/>
            <p:nvPr/>
          </p:nvSpPr>
          <p:spPr>
            <a:xfrm>
              <a:off x="656630" y="3472821"/>
              <a:ext cx="45719" cy="1383909"/>
            </a:xfrm>
            <a:prstGeom prst="roundRect">
              <a:avLst/>
            </a:prstGeom>
            <a:solidFill>
              <a:srgbClr val="99DF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16" name="Group 115">
            <a:extLst>
              <a:ext uri="{FF2B5EF4-FFF2-40B4-BE49-F238E27FC236}">
                <a16:creationId xmlns:a16="http://schemas.microsoft.com/office/drawing/2014/main" id="{CAB47506-7A23-3ACF-F40E-25359160D3AC}"/>
              </a:ext>
            </a:extLst>
          </p:cNvPr>
          <p:cNvGrpSpPr/>
          <p:nvPr/>
        </p:nvGrpSpPr>
        <p:grpSpPr>
          <a:xfrm>
            <a:off x="6096000" y="3110368"/>
            <a:ext cx="2062535" cy="373641"/>
            <a:chOff x="656630" y="3472821"/>
            <a:chExt cx="2062535" cy="1383909"/>
          </a:xfrm>
        </p:grpSpPr>
        <p:sp>
          <p:nvSpPr>
            <p:cNvPr id="117" name="Pentagon 3">
              <a:extLst>
                <a:ext uri="{FF2B5EF4-FFF2-40B4-BE49-F238E27FC236}">
                  <a16:creationId xmlns:a16="http://schemas.microsoft.com/office/drawing/2014/main" id="{356931DA-CC66-B694-A591-DB8CB38137A3}"/>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Bridgers: 0.42%</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(n=280)</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18" name="Pentagon 3">
              <a:extLst>
                <a:ext uri="{FF2B5EF4-FFF2-40B4-BE49-F238E27FC236}">
                  <a16:creationId xmlns:a16="http://schemas.microsoft.com/office/drawing/2014/main" id="{207D95FC-837E-96F8-5FA7-D2AB65F159DA}"/>
                </a:ext>
              </a:extLst>
            </p:cNvPr>
            <p:cNvSpPr/>
            <p:nvPr/>
          </p:nvSpPr>
          <p:spPr>
            <a:xfrm>
              <a:off x="656630" y="3472821"/>
              <a:ext cx="45719" cy="138390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22" name="Group 121">
            <a:extLst>
              <a:ext uri="{FF2B5EF4-FFF2-40B4-BE49-F238E27FC236}">
                <a16:creationId xmlns:a16="http://schemas.microsoft.com/office/drawing/2014/main" id="{8752E5C0-BB25-292B-50C3-91975F07B2D1}"/>
              </a:ext>
            </a:extLst>
          </p:cNvPr>
          <p:cNvGrpSpPr/>
          <p:nvPr/>
        </p:nvGrpSpPr>
        <p:grpSpPr>
          <a:xfrm>
            <a:off x="6096000" y="3801700"/>
            <a:ext cx="2062535" cy="373641"/>
            <a:chOff x="656630" y="3472821"/>
            <a:chExt cx="2062535" cy="1383909"/>
          </a:xfrm>
        </p:grpSpPr>
        <p:sp>
          <p:nvSpPr>
            <p:cNvPr id="123" name="Pentagon 3">
              <a:extLst>
                <a:ext uri="{FF2B5EF4-FFF2-40B4-BE49-F238E27FC236}">
                  <a16:creationId xmlns:a16="http://schemas.microsoft.com/office/drawing/2014/main" id="{3B317041-C9C0-8A67-6693-FD28C18643F7}"/>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Key Influencers: 1.9%</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(n=1271)</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24" name="Pentagon 3">
              <a:extLst>
                <a:ext uri="{FF2B5EF4-FFF2-40B4-BE49-F238E27FC236}">
                  <a16:creationId xmlns:a16="http://schemas.microsoft.com/office/drawing/2014/main" id="{CA9667C6-E8A1-5E64-3922-7B635F27BB60}"/>
                </a:ext>
              </a:extLst>
            </p:cNvPr>
            <p:cNvSpPr/>
            <p:nvPr/>
          </p:nvSpPr>
          <p:spPr>
            <a:xfrm>
              <a:off x="656630" y="3472821"/>
              <a:ext cx="45719" cy="138390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25" name="Group 124">
            <a:extLst>
              <a:ext uri="{FF2B5EF4-FFF2-40B4-BE49-F238E27FC236}">
                <a16:creationId xmlns:a16="http://schemas.microsoft.com/office/drawing/2014/main" id="{0AFCD821-926B-C280-66EF-B8FA21551A7B}"/>
              </a:ext>
            </a:extLst>
          </p:cNvPr>
          <p:cNvGrpSpPr/>
          <p:nvPr/>
        </p:nvGrpSpPr>
        <p:grpSpPr>
          <a:xfrm>
            <a:off x="9539851" y="3801700"/>
            <a:ext cx="2062535" cy="373641"/>
            <a:chOff x="656630" y="3472821"/>
            <a:chExt cx="2062535" cy="1383909"/>
          </a:xfrm>
        </p:grpSpPr>
        <p:sp>
          <p:nvSpPr>
            <p:cNvPr id="126" name="Pentagon 3">
              <a:extLst>
                <a:ext uri="{FF2B5EF4-FFF2-40B4-BE49-F238E27FC236}">
                  <a16:creationId xmlns:a16="http://schemas.microsoft.com/office/drawing/2014/main" id="{F1598405-4CCF-A206-FD1A-49AC5A092D42}"/>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Influencers: 0.93%</a:t>
              </a:r>
            </a:p>
            <a:p>
              <a:r>
                <a:rPr kumimoji="0" lang="en-US" sz="1200" b="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(n=628)</a:t>
              </a:r>
              <a:endParaRPr kumimoji="0" lang="en-US" sz="14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endParaRPr>
            </a:p>
          </p:txBody>
        </p:sp>
        <p:sp>
          <p:nvSpPr>
            <p:cNvPr id="127" name="Pentagon 3">
              <a:extLst>
                <a:ext uri="{FF2B5EF4-FFF2-40B4-BE49-F238E27FC236}">
                  <a16:creationId xmlns:a16="http://schemas.microsoft.com/office/drawing/2014/main" id="{EECFF1BC-45A4-AC58-813A-BA45CA2E1D55}"/>
                </a:ext>
              </a:extLst>
            </p:cNvPr>
            <p:cNvSpPr/>
            <p:nvPr/>
          </p:nvSpPr>
          <p:spPr>
            <a:xfrm>
              <a:off x="656630" y="3472821"/>
              <a:ext cx="45719" cy="1383909"/>
            </a:xfrm>
            <a:prstGeom prst="roundRect">
              <a:avLst/>
            </a:prstGeom>
            <a:solidFill>
              <a:srgbClr val="99A6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mj-lt"/>
                <a:ea typeface="League Spartan" charset="0"/>
                <a:cs typeface="Poppins" pitchFamily="2" charset="77"/>
              </a:endParaRPr>
            </a:p>
          </p:txBody>
        </p:sp>
      </p:grpSp>
      <p:grpSp>
        <p:nvGrpSpPr>
          <p:cNvPr id="128" name="Group 127">
            <a:extLst>
              <a:ext uri="{FF2B5EF4-FFF2-40B4-BE49-F238E27FC236}">
                <a16:creationId xmlns:a16="http://schemas.microsoft.com/office/drawing/2014/main" id="{0CF2D5B7-BA71-B8B6-695E-E88390079174}"/>
              </a:ext>
            </a:extLst>
          </p:cNvPr>
          <p:cNvGrpSpPr/>
          <p:nvPr/>
        </p:nvGrpSpPr>
        <p:grpSpPr>
          <a:xfrm>
            <a:off x="6096000" y="4493031"/>
            <a:ext cx="2062535" cy="373641"/>
            <a:chOff x="656630" y="3472821"/>
            <a:chExt cx="2062535" cy="1383909"/>
          </a:xfrm>
        </p:grpSpPr>
        <p:sp>
          <p:nvSpPr>
            <p:cNvPr id="129" name="Pentagon 3">
              <a:extLst>
                <a:ext uri="{FF2B5EF4-FFF2-40B4-BE49-F238E27FC236}">
                  <a16:creationId xmlns:a16="http://schemas.microsoft.com/office/drawing/2014/main" id="{8A824CF8-48E7-FB04-10B2-C6E67FB76EF2}"/>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Super Referrers: 0.82%</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(n=549)</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30" name="Pentagon 3">
              <a:extLst>
                <a:ext uri="{FF2B5EF4-FFF2-40B4-BE49-F238E27FC236}">
                  <a16:creationId xmlns:a16="http://schemas.microsoft.com/office/drawing/2014/main" id="{A33B6697-F80A-FE9B-1A10-F18CAC7A5D8D}"/>
                </a:ext>
              </a:extLst>
            </p:cNvPr>
            <p:cNvSpPr/>
            <p:nvPr/>
          </p:nvSpPr>
          <p:spPr>
            <a:xfrm>
              <a:off x="656630" y="3472821"/>
              <a:ext cx="45719" cy="138390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131" name="Group 130">
            <a:extLst>
              <a:ext uri="{FF2B5EF4-FFF2-40B4-BE49-F238E27FC236}">
                <a16:creationId xmlns:a16="http://schemas.microsoft.com/office/drawing/2014/main" id="{C139A014-9E6B-E0C1-39D2-55E8AF496B5F}"/>
              </a:ext>
            </a:extLst>
          </p:cNvPr>
          <p:cNvGrpSpPr/>
          <p:nvPr/>
        </p:nvGrpSpPr>
        <p:grpSpPr>
          <a:xfrm>
            <a:off x="9539851" y="4493031"/>
            <a:ext cx="2062535" cy="373641"/>
            <a:chOff x="656630" y="3472821"/>
            <a:chExt cx="2062535" cy="1383909"/>
          </a:xfrm>
        </p:grpSpPr>
        <p:sp>
          <p:nvSpPr>
            <p:cNvPr id="132" name="Pentagon 3">
              <a:extLst>
                <a:ext uri="{FF2B5EF4-FFF2-40B4-BE49-F238E27FC236}">
                  <a16:creationId xmlns:a16="http://schemas.microsoft.com/office/drawing/2014/main" id="{8BBF434F-3E1E-607B-B2E9-0FF4479C6B42}"/>
                </a:ext>
              </a:extLst>
            </p:cNvPr>
            <p:cNvSpPr/>
            <p:nvPr/>
          </p:nvSpPr>
          <p:spPr>
            <a:xfrm>
              <a:off x="656631" y="3472821"/>
              <a:ext cx="2062534" cy="1383909"/>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Referrers: 67%</a:t>
              </a:r>
            </a:p>
            <a:p>
              <a:r>
                <a:rPr kumimoji="0" lang="en-US" sz="1200" b="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(n=44,753)</a:t>
              </a:r>
              <a:endPar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33" name="Pentagon 3">
              <a:extLst>
                <a:ext uri="{FF2B5EF4-FFF2-40B4-BE49-F238E27FC236}">
                  <a16:creationId xmlns:a16="http://schemas.microsoft.com/office/drawing/2014/main" id="{02AFCD8D-B485-962B-EEE9-105BA267E224}"/>
                </a:ext>
              </a:extLst>
            </p:cNvPr>
            <p:cNvSpPr/>
            <p:nvPr/>
          </p:nvSpPr>
          <p:spPr>
            <a:xfrm>
              <a:off x="656630" y="3472821"/>
              <a:ext cx="45719" cy="1383909"/>
            </a:xfrm>
            <a:prstGeom prst="roundRect">
              <a:avLst/>
            </a:prstGeom>
            <a:solidFill>
              <a:srgbClr val="F3A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sp>
        <p:nvSpPr>
          <p:cNvPr id="134" name="Rectangle: Rounded Corners 133">
            <a:extLst>
              <a:ext uri="{FF2B5EF4-FFF2-40B4-BE49-F238E27FC236}">
                <a16:creationId xmlns:a16="http://schemas.microsoft.com/office/drawing/2014/main" id="{7D916AA0-7340-94B5-D5A0-DDC23777572B}"/>
              </a:ext>
            </a:extLst>
          </p:cNvPr>
          <p:cNvSpPr/>
          <p:nvPr/>
        </p:nvSpPr>
        <p:spPr>
          <a:xfrm>
            <a:off x="5817375" y="5387787"/>
            <a:ext cx="2737982"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200" b="1" dirty="0"/>
              <a:t>Total HCPs</a:t>
            </a:r>
            <a:r>
              <a:rPr kumimoji="1" lang="en-US" sz="1200" dirty="0"/>
              <a:t>: 3,132 </a:t>
            </a:r>
            <a:r>
              <a:rPr kumimoji="1" lang="en-US" sz="1100" i="1" dirty="0"/>
              <a:t>(5% of the Universe)</a:t>
            </a:r>
          </a:p>
          <a:p>
            <a:pPr>
              <a:spcBef>
                <a:spcPts val="600"/>
              </a:spcBef>
            </a:pPr>
            <a:r>
              <a:rPr kumimoji="1" lang="en-US" sz="1200" b="1" dirty="0"/>
              <a:t>% of Identified Targets Covered</a:t>
            </a:r>
            <a:r>
              <a:rPr kumimoji="1" lang="en-US" sz="1200" b="1" baseline="30000" dirty="0"/>
              <a:t>*</a:t>
            </a:r>
            <a:r>
              <a:rPr kumimoji="1" lang="en-US" sz="1200" b="1" dirty="0"/>
              <a:t>: </a:t>
            </a:r>
            <a:r>
              <a:rPr kumimoji="1" lang="en-US" sz="1200" dirty="0"/>
              <a:t>29%</a:t>
            </a:r>
            <a:r>
              <a:rPr kumimoji="1" lang="en-US" sz="1200" b="1" dirty="0"/>
              <a:t> </a:t>
            </a:r>
          </a:p>
          <a:p>
            <a:pPr>
              <a:spcBef>
                <a:spcPts val="600"/>
              </a:spcBef>
            </a:pPr>
            <a:r>
              <a:rPr kumimoji="1" lang="en-US" sz="1200" b="1" dirty="0"/>
              <a:t>% of Identified Decile 6-10 Targets Covered</a:t>
            </a:r>
            <a:r>
              <a:rPr kumimoji="1" lang="en-US" sz="1200" b="1" baseline="30000" dirty="0"/>
              <a:t>^</a:t>
            </a:r>
            <a:r>
              <a:rPr kumimoji="1" lang="en-US" sz="1200" b="1" dirty="0"/>
              <a:t>: </a:t>
            </a:r>
            <a:r>
              <a:rPr kumimoji="1" lang="en-US" sz="1200" dirty="0"/>
              <a:t>62%</a:t>
            </a:r>
          </a:p>
        </p:txBody>
      </p:sp>
      <p:sp>
        <p:nvSpPr>
          <p:cNvPr id="135" name="Rectangle: Rounded Corners 134">
            <a:extLst>
              <a:ext uri="{FF2B5EF4-FFF2-40B4-BE49-F238E27FC236}">
                <a16:creationId xmlns:a16="http://schemas.microsoft.com/office/drawing/2014/main" id="{04FDACAF-FB2E-759D-970D-E7AF315A98C1}"/>
              </a:ext>
            </a:extLst>
          </p:cNvPr>
          <p:cNvSpPr/>
          <p:nvPr/>
        </p:nvSpPr>
        <p:spPr>
          <a:xfrm>
            <a:off x="9149591" y="5387787"/>
            <a:ext cx="2737982"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en-US" sz="1200" b="1" dirty="0"/>
              <a:t>Total HCPs</a:t>
            </a:r>
            <a:r>
              <a:rPr kumimoji="1" lang="en-US" sz="1200" dirty="0"/>
              <a:t>: 46,097 </a:t>
            </a:r>
            <a:r>
              <a:rPr kumimoji="1" lang="en-US" sz="1100" i="1" dirty="0"/>
              <a:t>(69% of the Universe)</a:t>
            </a:r>
          </a:p>
          <a:p>
            <a:pPr>
              <a:spcBef>
                <a:spcPts val="600"/>
              </a:spcBef>
            </a:pPr>
            <a:r>
              <a:rPr kumimoji="1" lang="en-US" sz="1200" b="1" dirty="0"/>
              <a:t>% of Identified Targets Covered*: </a:t>
            </a:r>
            <a:r>
              <a:rPr kumimoji="1" lang="en-US" sz="1200" dirty="0"/>
              <a:t>46%</a:t>
            </a:r>
            <a:r>
              <a:rPr kumimoji="1" lang="en-US" sz="1200" b="1" dirty="0"/>
              <a:t> </a:t>
            </a:r>
          </a:p>
          <a:p>
            <a:pPr>
              <a:spcBef>
                <a:spcPts val="600"/>
              </a:spcBef>
            </a:pPr>
            <a:r>
              <a:rPr kumimoji="1" lang="en-US" sz="1200" b="1" dirty="0"/>
              <a:t>% of Identified Decile 6-10 Targets Covered^: </a:t>
            </a:r>
            <a:r>
              <a:rPr kumimoji="1" lang="en-US" sz="1200" dirty="0"/>
              <a:t>28%</a:t>
            </a:r>
          </a:p>
        </p:txBody>
      </p:sp>
      <p:sp>
        <p:nvSpPr>
          <p:cNvPr id="10" name="Freeform: Shape 9">
            <a:extLst>
              <a:ext uri="{FF2B5EF4-FFF2-40B4-BE49-F238E27FC236}">
                <a16:creationId xmlns:a16="http://schemas.microsoft.com/office/drawing/2014/main" id="{C394E395-145B-08E1-EC4B-3BBE093BC05B}"/>
              </a:ext>
            </a:extLst>
          </p:cNvPr>
          <p:cNvSpPr/>
          <p:nvPr/>
        </p:nvSpPr>
        <p:spPr>
          <a:xfrm>
            <a:off x="340659" y="1488141"/>
            <a:ext cx="4554070" cy="4329953"/>
          </a:xfrm>
          <a:custGeom>
            <a:avLst/>
            <a:gdLst>
              <a:gd name="csX0" fmla="*/ 806823 w 4554070"/>
              <a:gd name="csY0" fmla="*/ 215153 h 4329953"/>
              <a:gd name="csX1" fmla="*/ 806823 w 4554070"/>
              <a:gd name="csY1" fmla="*/ 215153 h 4329953"/>
              <a:gd name="csX2" fmla="*/ 1111623 w 4554070"/>
              <a:gd name="csY2" fmla="*/ 116541 h 4329953"/>
              <a:gd name="csX3" fmla="*/ 1622612 w 4554070"/>
              <a:gd name="csY3" fmla="*/ 35859 h 4329953"/>
              <a:gd name="csX4" fmla="*/ 2052917 w 4554070"/>
              <a:gd name="csY4" fmla="*/ 0 h 4329953"/>
              <a:gd name="csX5" fmla="*/ 2626659 w 4554070"/>
              <a:gd name="csY5" fmla="*/ 89647 h 4329953"/>
              <a:gd name="csX6" fmla="*/ 2904565 w 4554070"/>
              <a:gd name="csY6" fmla="*/ 224118 h 4329953"/>
              <a:gd name="csX7" fmla="*/ 3048000 w 4554070"/>
              <a:gd name="csY7" fmla="*/ 322730 h 4329953"/>
              <a:gd name="csX8" fmla="*/ 3343835 w 4554070"/>
              <a:gd name="csY8" fmla="*/ 466165 h 4329953"/>
              <a:gd name="csX9" fmla="*/ 3478306 w 4554070"/>
              <a:gd name="csY9" fmla="*/ 582706 h 4329953"/>
              <a:gd name="csX10" fmla="*/ 3514165 w 4554070"/>
              <a:gd name="csY10" fmla="*/ 618565 h 4329953"/>
              <a:gd name="csX11" fmla="*/ 3558988 w 4554070"/>
              <a:gd name="csY11" fmla="*/ 645459 h 4329953"/>
              <a:gd name="csX12" fmla="*/ 3594847 w 4554070"/>
              <a:gd name="csY12" fmla="*/ 672353 h 4329953"/>
              <a:gd name="csX13" fmla="*/ 3648635 w 4554070"/>
              <a:gd name="csY13" fmla="*/ 699247 h 4329953"/>
              <a:gd name="csX14" fmla="*/ 3711388 w 4554070"/>
              <a:gd name="csY14" fmla="*/ 735106 h 4329953"/>
              <a:gd name="csX15" fmla="*/ 3863788 w 4554070"/>
              <a:gd name="csY15" fmla="*/ 851647 h 4329953"/>
              <a:gd name="csX16" fmla="*/ 4043082 w 4554070"/>
              <a:gd name="csY16" fmla="*/ 1066800 h 4329953"/>
              <a:gd name="csX17" fmla="*/ 4087906 w 4554070"/>
              <a:gd name="csY17" fmla="*/ 1129553 h 4329953"/>
              <a:gd name="csX18" fmla="*/ 4141694 w 4554070"/>
              <a:gd name="csY18" fmla="*/ 1183341 h 4329953"/>
              <a:gd name="csX19" fmla="*/ 4231341 w 4554070"/>
              <a:gd name="csY19" fmla="*/ 1290918 h 4329953"/>
              <a:gd name="csX20" fmla="*/ 4276165 w 4554070"/>
              <a:gd name="csY20" fmla="*/ 1344706 h 4329953"/>
              <a:gd name="csX21" fmla="*/ 4410635 w 4554070"/>
              <a:gd name="csY21" fmla="*/ 1550894 h 4329953"/>
              <a:gd name="csX22" fmla="*/ 4473388 w 4554070"/>
              <a:gd name="csY22" fmla="*/ 1721224 h 4329953"/>
              <a:gd name="csX23" fmla="*/ 4527176 w 4554070"/>
              <a:gd name="csY23" fmla="*/ 1810871 h 4329953"/>
              <a:gd name="csX24" fmla="*/ 4527176 w 4554070"/>
              <a:gd name="csY24" fmla="*/ 1819835 h 4329953"/>
              <a:gd name="csX25" fmla="*/ 4554070 w 4554070"/>
              <a:gd name="csY25" fmla="*/ 2492188 h 4329953"/>
              <a:gd name="csX26" fmla="*/ 4123765 w 4554070"/>
              <a:gd name="csY26" fmla="*/ 3792071 h 4329953"/>
              <a:gd name="csX27" fmla="*/ 3836894 w 4554070"/>
              <a:gd name="csY27" fmla="*/ 4034118 h 4329953"/>
              <a:gd name="csX28" fmla="*/ 2438400 w 4554070"/>
              <a:gd name="csY28" fmla="*/ 4329953 h 4329953"/>
              <a:gd name="csX29" fmla="*/ 394447 w 4554070"/>
              <a:gd name="csY29" fmla="*/ 4087906 h 4329953"/>
              <a:gd name="csX30" fmla="*/ 224117 w 4554070"/>
              <a:gd name="csY30" fmla="*/ 3917577 h 4329953"/>
              <a:gd name="csX31" fmla="*/ 71717 w 4554070"/>
              <a:gd name="csY31" fmla="*/ 3720353 h 4329953"/>
              <a:gd name="csX32" fmla="*/ 0 w 4554070"/>
              <a:gd name="csY32" fmla="*/ 3505200 h 4329953"/>
              <a:gd name="csX33" fmla="*/ 8965 w 4554070"/>
              <a:gd name="csY33" fmla="*/ 3307977 h 4329953"/>
              <a:gd name="csX34" fmla="*/ 17929 w 4554070"/>
              <a:gd name="csY34" fmla="*/ 3245224 h 4329953"/>
              <a:gd name="csX35" fmla="*/ 44823 w 4554070"/>
              <a:gd name="csY35" fmla="*/ 3092824 h 4329953"/>
              <a:gd name="csX36" fmla="*/ 53788 w 4554070"/>
              <a:gd name="csY36" fmla="*/ 2779059 h 4329953"/>
              <a:gd name="csX37" fmla="*/ 44823 w 4554070"/>
              <a:gd name="csY37" fmla="*/ 2474259 h 4329953"/>
              <a:gd name="csX38" fmla="*/ 44823 w 4554070"/>
              <a:gd name="csY38" fmla="*/ 2286000 h 4329953"/>
              <a:gd name="csX39" fmla="*/ 107576 w 4554070"/>
              <a:gd name="csY39" fmla="*/ 484094 h 4329953"/>
              <a:gd name="csX40" fmla="*/ 806823 w 4554070"/>
              <a:gd name="csY40" fmla="*/ 215153 h 4329953"/>
              <a:gd name="csX0" fmla="*/ 806823 w 4554070"/>
              <a:gd name="csY0" fmla="*/ 215153 h 4329953"/>
              <a:gd name="csX1" fmla="*/ 806823 w 4554070"/>
              <a:gd name="csY1" fmla="*/ 215153 h 4329953"/>
              <a:gd name="csX2" fmla="*/ 1111623 w 4554070"/>
              <a:gd name="csY2" fmla="*/ 116541 h 4329953"/>
              <a:gd name="csX3" fmla="*/ 1622612 w 4554070"/>
              <a:gd name="csY3" fmla="*/ 35859 h 4329953"/>
              <a:gd name="csX4" fmla="*/ 2052917 w 4554070"/>
              <a:gd name="csY4" fmla="*/ 0 h 4329953"/>
              <a:gd name="csX5" fmla="*/ 2626659 w 4554070"/>
              <a:gd name="csY5" fmla="*/ 89647 h 4329953"/>
              <a:gd name="csX6" fmla="*/ 2904565 w 4554070"/>
              <a:gd name="csY6" fmla="*/ 224118 h 4329953"/>
              <a:gd name="csX7" fmla="*/ 3048000 w 4554070"/>
              <a:gd name="csY7" fmla="*/ 322730 h 4329953"/>
              <a:gd name="csX8" fmla="*/ 3343835 w 4554070"/>
              <a:gd name="csY8" fmla="*/ 466165 h 4329953"/>
              <a:gd name="csX9" fmla="*/ 3478306 w 4554070"/>
              <a:gd name="csY9" fmla="*/ 582706 h 4329953"/>
              <a:gd name="csX10" fmla="*/ 3514165 w 4554070"/>
              <a:gd name="csY10" fmla="*/ 618565 h 4329953"/>
              <a:gd name="csX11" fmla="*/ 3558988 w 4554070"/>
              <a:gd name="csY11" fmla="*/ 645459 h 4329953"/>
              <a:gd name="csX12" fmla="*/ 3594847 w 4554070"/>
              <a:gd name="csY12" fmla="*/ 672353 h 4329953"/>
              <a:gd name="csX13" fmla="*/ 3648635 w 4554070"/>
              <a:gd name="csY13" fmla="*/ 699247 h 4329953"/>
              <a:gd name="csX14" fmla="*/ 3711388 w 4554070"/>
              <a:gd name="csY14" fmla="*/ 735106 h 4329953"/>
              <a:gd name="csX15" fmla="*/ 3863788 w 4554070"/>
              <a:gd name="csY15" fmla="*/ 851647 h 4329953"/>
              <a:gd name="csX16" fmla="*/ 4043082 w 4554070"/>
              <a:gd name="csY16" fmla="*/ 1066800 h 4329953"/>
              <a:gd name="csX17" fmla="*/ 4087906 w 4554070"/>
              <a:gd name="csY17" fmla="*/ 1129553 h 4329953"/>
              <a:gd name="csX18" fmla="*/ 4141694 w 4554070"/>
              <a:gd name="csY18" fmla="*/ 1183341 h 4329953"/>
              <a:gd name="csX19" fmla="*/ 4231341 w 4554070"/>
              <a:gd name="csY19" fmla="*/ 1290918 h 4329953"/>
              <a:gd name="csX20" fmla="*/ 4276165 w 4554070"/>
              <a:gd name="csY20" fmla="*/ 1344706 h 4329953"/>
              <a:gd name="csX21" fmla="*/ 4410635 w 4554070"/>
              <a:gd name="csY21" fmla="*/ 1550894 h 4329953"/>
              <a:gd name="csX22" fmla="*/ 4473388 w 4554070"/>
              <a:gd name="csY22" fmla="*/ 1721224 h 4329953"/>
              <a:gd name="csX23" fmla="*/ 4527176 w 4554070"/>
              <a:gd name="csY23" fmla="*/ 1810871 h 4329953"/>
              <a:gd name="csX24" fmla="*/ 4527176 w 4554070"/>
              <a:gd name="csY24" fmla="*/ 1819835 h 4329953"/>
              <a:gd name="csX25" fmla="*/ 4554070 w 4554070"/>
              <a:gd name="csY25" fmla="*/ 2492188 h 4329953"/>
              <a:gd name="csX26" fmla="*/ 4123765 w 4554070"/>
              <a:gd name="csY26" fmla="*/ 3792071 h 4329953"/>
              <a:gd name="csX27" fmla="*/ 3836894 w 4554070"/>
              <a:gd name="csY27" fmla="*/ 4034118 h 4329953"/>
              <a:gd name="csX28" fmla="*/ 2438400 w 4554070"/>
              <a:gd name="csY28" fmla="*/ 4329953 h 4329953"/>
              <a:gd name="csX29" fmla="*/ 394447 w 4554070"/>
              <a:gd name="csY29" fmla="*/ 4087906 h 4329953"/>
              <a:gd name="csX30" fmla="*/ 224117 w 4554070"/>
              <a:gd name="csY30" fmla="*/ 3917577 h 4329953"/>
              <a:gd name="csX31" fmla="*/ 71717 w 4554070"/>
              <a:gd name="csY31" fmla="*/ 3720353 h 4329953"/>
              <a:gd name="csX32" fmla="*/ 0 w 4554070"/>
              <a:gd name="csY32" fmla="*/ 3505200 h 4329953"/>
              <a:gd name="csX33" fmla="*/ 8965 w 4554070"/>
              <a:gd name="csY33" fmla="*/ 3307977 h 4329953"/>
              <a:gd name="csX34" fmla="*/ 17929 w 4554070"/>
              <a:gd name="csY34" fmla="*/ 3245224 h 4329953"/>
              <a:gd name="csX35" fmla="*/ 44823 w 4554070"/>
              <a:gd name="csY35" fmla="*/ 3092824 h 4329953"/>
              <a:gd name="csX36" fmla="*/ 53788 w 4554070"/>
              <a:gd name="csY36" fmla="*/ 2779059 h 4329953"/>
              <a:gd name="csX37" fmla="*/ 44823 w 4554070"/>
              <a:gd name="csY37" fmla="*/ 2474259 h 4329953"/>
              <a:gd name="csX38" fmla="*/ 44823 w 4554070"/>
              <a:gd name="csY38" fmla="*/ 2286000 h 4329953"/>
              <a:gd name="csX39" fmla="*/ 152399 w 4554070"/>
              <a:gd name="csY39" fmla="*/ 1057835 h 4329953"/>
              <a:gd name="csX40" fmla="*/ 806823 w 4554070"/>
              <a:gd name="csY40" fmla="*/ 215153 h 4329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4554070" h="4329953">
                <a:moveTo>
                  <a:pt x="806823" y="215153"/>
                </a:moveTo>
                <a:lnTo>
                  <a:pt x="806823" y="215153"/>
                </a:lnTo>
                <a:cubicBezTo>
                  <a:pt x="908423" y="182282"/>
                  <a:pt x="1008026" y="142440"/>
                  <a:pt x="1111623" y="116541"/>
                </a:cubicBezTo>
                <a:cubicBezTo>
                  <a:pt x="1150827" y="106740"/>
                  <a:pt x="1569041" y="41573"/>
                  <a:pt x="1622612" y="35859"/>
                </a:cubicBezTo>
                <a:cubicBezTo>
                  <a:pt x="1765732" y="20593"/>
                  <a:pt x="2052917" y="0"/>
                  <a:pt x="2052917" y="0"/>
                </a:cubicBezTo>
                <a:cubicBezTo>
                  <a:pt x="2380999" y="30519"/>
                  <a:pt x="2376210" y="6164"/>
                  <a:pt x="2626659" y="89647"/>
                </a:cubicBezTo>
                <a:cubicBezTo>
                  <a:pt x="2734701" y="125661"/>
                  <a:pt x="2806960" y="163115"/>
                  <a:pt x="2904565" y="224118"/>
                </a:cubicBezTo>
                <a:cubicBezTo>
                  <a:pt x="2953767" y="254869"/>
                  <a:pt x="2998798" y="291979"/>
                  <a:pt x="3048000" y="322730"/>
                </a:cubicBezTo>
                <a:cubicBezTo>
                  <a:pt x="3183240" y="407255"/>
                  <a:pt x="3196871" y="405650"/>
                  <a:pt x="3343835" y="466165"/>
                </a:cubicBezTo>
                <a:cubicBezTo>
                  <a:pt x="3388659" y="505012"/>
                  <a:pt x="3436364" y="540764"/>
                  <a:pt x="3478306" y="582706"/>
                </a:cubicBezTo>
                <a:cubicBezTo>
                  <a:pt x="3490259" y="594659"/>
                  <a:pt x="3500822" y="608187"/>
                  <a:pt x="3514165" y="618565"/>
                </a:cubicBezTo>
                <a:cubicBezTo>
                  <a:pt x="3527919" y="629262"/>
                  <a:pt x="3544490" y="635794"/>
                  <a:pt x="3558988" y="645459"/>
                </a:cubicBezTo>
                <a:cubicBezTo>
                  <a:pt x="3571420" y="653747"/>
                  <a:pt x="3582035" y="664666"/>
                  <a:pt x="3594847" y="672353"/>
                </a:cubicBezTo>
                <a:cubicBezTo>
                  <a:pt x="3612036" y="682666"/>
                  <a:pt x="3630985" y="689743"/>
                  <a:pt x="3648635" y="699247"/>
                </a:cubicBezTo>
                <a:cubicBezTo>
                  <a:pt x="3669847" y="710669"/>
                  <a:pt x="3690958" y="722337"/>
                  <a:pt x="3711388" y="735106"/>
                </a:cubicBezTo>
                <a:cubicBezTo>
                  <a:pt x="3784673" y="780909"/>
                  <a:pt x="3800989" y="792773"/>
                  <a:pt x="3863788" y="851647"/>
                </a:cubicBezTo>
                <a:cubicBezTo>
                  <a:pt x="3957205" y="939226"/>
                  <a:pt x="3951567" y="942986"/>
                  <a:pt x="4043082" y="1066800"/>
                </a:cubicBezTo>
                <a:cubicBezTo>
                  <a:pt x="4058361" y="1087472"/>
                  <a:pt x="4069729" y="1111376"/>
                  <a:pt x="4087906" y="1129553"/>
                </a:cubicBezTo>
                <a:cubicBezTo>
                  <a:pt x="4105835" y="1147482"/>
                  <a:pt x="4124848" y="1164390"/>
                  <a:pt x="4141694" y="1183341"/>
                </a:cubicBezTo>
                <a:cubicBezTo>
                  <a:pt x="4172705" y="1218229"/>
                  <a:pt x="4201459" y="1255059"/>
                  <a:pt x="4231341" y="1290918"/>
                </a:cubicBezTo>
                <a:lnTo>
                  <a:pt x="4276165" y="1344706"/>
                </a:lnTo>
                <a:cubicBezTo>
                  <a:pt x="4331801" y="1411469"/>
                  <a:pt x="4377129" y="1459949"/>
                  <a:pt x="4410635" y="1550894"/>
                </a:cubicBezTo>
                <a:cubicBezTo>
                  <a:pt x="4431553" y="1607671"/>
                  <a:pt x="4449812" y="1665499"/>
                  <a:pt x="4473388" y="1721224"/>
                </a:cubicBezTo>
                <a:cubicBezTo>
                  <a:pt x="4541267" y="1881665"/>
                  <a:pt x="4483954" y="1724428"/>
                  <a:pt x="4527176" y="1810871"/>
                </a:cubicBezTo>
                <a:cubicBezTo>
                  <a:pt x="4528512" y="1813544"/>
                  <a:pt x="4527176" y="1816847"/>
                  <a:pt x="4527176" y="1819835"/>
                </a:cubicBezTo>
                <a:lnTo>
                  <a:pt x="4554070" y="2492188"/>
                </a:lnTo>
                <a:lnTo>
                  <a:pt x="4123765" y="3792071"/>
                </a:lnTo>
                <a:lnTo>
                  <a:pt x="3836894" y="4034118"/>
                </a:lnTo>
                <a:lnTo>
                  <a:pt x="2438400" y="4329953"/>
                </a:lnTo>
                <a:lnTo>
                  <a:pt x="394447" y="4087906"/>
                </a:lnTo>
                <a:cubicBezTo>
                  <a:pt x="337670" y="4031130"/>
                  <a:pt x="279923" y="3975307"/>
                  <a:pt x="224117" y="3917577"/>
                </a:cubicBezTo>
                <a:cubicBezTo>
                  <a:pt x="159953" y="3851201"/>
                  <a:pt x="112983" y="3802885"/>
                  <a:pt x="71717" y="3720353"/>
                </a:cubicBezTo>
                <a:cubicBezTo>
                  <a:pt x="37864" y="3652646"/>
                  <a:pt x="18266" y="3578260"/>
                  <a:pt x="0" y="3505200"/>
                </a:cubicBezTo>
                <a:cubicBezTo>
                  <a:pt x="2988" y="3439459"/>
                  <a:pt x="4437" y="3373630"/>
                  <a:pt x="8965" y="3307977"/>
                </a:cubicBezTo>
                <a:cubicBezTo>
                  <a:pt x="10419" y="3286897"/>
                  <a:pt x="15136" y="3266169"/>
                  <a:pt x="17929" y="3245224"/>
                </a:cubicBezTo>
                <a:cubicBezTo>
                  <a:pt x="32373" y="3136890"/>
                  <a:pt x="19310" y="3207635"/>
                  <a:pt x="44823" y="3092824"/>
                </a:cubicBezTo>
                <a:cubicBezTo>
                  <a:pt x="47811" y="2988236"/>
                  <a:pt x="53788" y="2883690"/>
                  <a:pt x="53788" y="2779059"/>
                </a:cubicBezTo>
                <a:cubicBezTo>
                  <a:pt x="53788" y="2677415"/>
                  <a:pt x="46671" y="2575886"/>
                  <a:pt x="44823" y="2474259"/>
                </a:cubicBezTo>
                <a:cubicBezTo>
                  <a:pt x="43682" y="2411516"/>
                  <a:pt x="44823" y="2348753"/>
                  <a:pt x="44823" y="2286000"/>
                </a:cubicBezTo>
                <a:lnTo>
                  <a:pt x="152399" y="1057835"/>
                </a:lnTo>
                <a:lnTo>
                  <a:pt x="806823" y="215153"/>
                </a:lnTo>
                <a:close/>
              </a:path>
            </a:pathLst>
          </a:custGeom>
          <a:noFill/>
          <a:ln w="12700">
            <a:solidFill>
              <a:schemeClr val="bg1">
                <a:lumMod val="85000"/>
              </a:schemeClr>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12" name="Rectangle 11">
            <a:extLst>
              <a:ext uri="{FF2B5EF4-FFF2-40B4-BE49-F238E27FC236}">
                <a16:creationId xmlns:a16="http://schemas.microsoft.com/office/drawing/2014/main" id="{083E802F-DDDB-72C3-2B5F-4C3039507D0C}"/>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dirty="0"/>
              <a:t>* Amongst target list HCPs who are part of Referral Universe : N=</a:t>
            </a:r>
            <a:r>
              <a:rPr kumimoji="1" lang="en-US" sz="800"/>
              <a:t>7562</a:t>
            </a:r>
            <a:endParaRPr kumimoji="1" lang="en-US" sz="800" dirty="0"/>
          </a:p>
        </p:txBody>
      </p:sp>
      <p:sp>
        <p:nvSpPr>
          <p:cNvPr id="23" name="Cross 22">
            <a:extLst>
              <a:ext uri="{FF2B5EF4-FFF2-40B4-BE49-F238E27FC236}">
                <a16:creationId xmlns:a16="http://schemas.microsoft.com/office/drawing/2014/main" id="{A18B488A-932B-2884-552A-8F356BA3EC12}"/>
              </a:ext>
            </a:extLst>
          </p:cNvPr>
          <p:cNvSpPr/>
          <p:nvPr/>
        </p:nvSpPr>
        <p:spPr>
          <a:xfrm>
            <a:off x="8743507" y="5819523"/>
            <a:ext cx="217934" cy="210055"/>
          </a:xfrm>
          <a:prstGeom prst="plus">
            <a:avLst>
              <a:gd name="adj" fmla="val 44064"/>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Tree>
    <p:extLst>
      <p:ext uri="{BB962C8B-B14F-4D97-AF65-F5344CB8AC3E}">
        <p14:creationId xmlns:p14="http://schemas.microsoft.com/office/powerpoint/2010/main" val="1571560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3F307-F3BE-D3FA-300A-E607DC2CA3B3}"/>
            </a:ext>
          </a:extLst>
        </p:cNvPr>
        <p:cNvGrpSpPr/>
        <p:nvPr/>
      </p:nvGrpSpPr>
      <p:grpSpPr>
        <a:xfrm>
          <a:off x="0" y="0"/>
          <a:ext cx="0" cy="0"/>
          <a:chOff x="0" y="0"/>
          <a:chExt cx="0" cy="0"/>
        </a:xfrm>
      </p:grpSpPr>
      <p:cxnSp>
        <p:nvCxnSpPr>
          <p:cNvPr id="35" name="Straight Arrow Connector 34">
            <a:extLst>
              <a:ext uri="{FF2B5EF4-FFF2-40B4-BE49-F238E27FC236}">
                <a16:creationId xmlns:a16="http://schemas.microsoft.com/office/drawing/2014/main" id="{B2B4D43C-C845-254A-7AE9-AF355197D1D4}"/>
              </a:ext>
            </a:extLst>
          </p:cNvPr>
          <p:cNvCxnSpPr>
            <a:cxnSpLocks/>
            <a:stCxn id="5" idx="1"/>
          </p:cNvCxnSpPr>
          <p:nvPr/>
        </p:nvCxnSpPr>
        <p:spPr>
          <a:xfrm flipV="1">
            <a:off x="687410" y="1778324"/>
            <a:ext cx="10894990" cy="1"/>
          </a:xfrm>
          <a:prstGeom prst="straightConnector1">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B1111A3A-DA6D-0909-A218-8B3D171102AA}"/>
              </a:ext>
            </a:extLst>
          </p:cNvPr>
          <p:cNvSpPr>
            <a:spLocks noGrp="1"/>
          </p:cNvSpPr>
          <p:nvPr>
            <p:ph type="title"/>
          </p:nvPr>
        </p:nvSpPr>
        <p:spPr>
          <a:xfrm>
            <a:off x="615603" y="161605"/>
            <a:ext cx="10111766" cy="685801"/>
          </a:xfrm>
        </p:spPr>
        <p:txBody>
          <a:bodyPr>
            <a:noAutofit/>
          </a:bodyPr>
          <a:lstStyle/>
          <a:p>
            <a:r>
              <a:rPr lang="en-US" sz="2000" noProof="0" dirty="0">
                <a:latin typeface="+mj-lt"/>
              </a:rPr>
              <a:t>While Super </a:t>
            </a:r>
            <a:r>
              <a:rPr lang="en-US" sz="2000" noProof="0" dirty="0" err="1">
                <a:latin typeface="+mj-lt"/>
              </a:rPr>
              <a:t>Diagnosers</a:t>
            </a:r>
            <a:r>
              <a:rPr lang="en-US" sz="2000" noProof="0" dirty="0">
                <a:latin typeface="+mj-lt"/>
              </a:rPr>
              <a:t> and Key Influencers drive the highest share of top-decile targets, they require fundamentally different engagement strategies due to distinct specialty and profile mix</a:t>
            </a:r>
          </a:p>
        </p:txBody>
      </p:sp>
      <p:sp>
        <p:nvSpPr>
          <p:cNvPr id="39" name="Slide Number Placeholder 4">
            <a:extLst>
              <a:ext uri="{FF2B5EF4-FFF2-40B4-BE49-F238E27FC236}">
                <a16:creationId xmlns:a16="http://schemas.microsoft.com/office/drawing/2014/main" id="{B2228A14-EF5B-9452-BD5F-5D3486FA9EC6}"/>
              </a:ext>
            </a:extLst>
          </p:cNvPr>
          <p:cNvSpPr>
            <a:spLocks noGrp="1"/>
          </p:cNvSpPr>
          <p:nvPr>
            <p:ph type="sldNum" sz="quarter" idx="4"/>
          </p:nvPr>
        </p:nvSpPr>
        <p:spPr>
          <a:xfrm>
            <a:off x="311150" y="6523001"/>
            <a:ext cx="294928" cy="196131"/>
          </a:xfrm>
        </p:spPr>
        <p:txBody>
          <a:bodyPr/>
          <a:lstStyle/>
          <a:p>
            <a:pPr defTabSz="1218810"/>
            <a:fld id="{E9B57936-92EF-4126-AE48-1D9D36D15E98}" type="slidenum">
              <a:rPr lang="ja-JP" altLang="en-US" smtClean="0"/>
              <a:pPr defTabSz="1218810"/>
              <a:t>22</a:t>
            </a:fld>
            <a:endParaRPr lang="ja-JP" altLang="en-US"/>
          </a:p>
        </p:txBody>
      </p:sp>
      <p:sp>
        <p:nvSpPr>
          <p:cNvPr id="5" name="Pentagon 3">
            <a:extLst>
              <a:ext uri="{FF2B5EF4-FFF2-40B4-BE49-F238E27FC236}">
                <a16:creationId xmlns:a16="http://schemas.microsoft.com/office/drawing/2014/main" id="{2DC4E77C-DC69-A399-B7FA-E27558635428}"/>
              </a:ext>
            </a:extLst>
          </p:cNvPr>
          <p:cNvSpPr/>
          <p:nvPr/>
        </p:nvSpPr>
        <p:spPr>
          <a:xfrm>
            <a:off x="687410" y="1644995"/>
            <a:ext cx="2039674" cy="26665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ea typeface="League Spartan" charset="0"/>
                <a:cs typeface="Poppins" pitchFamily="2" charset="77"/>
              </a:rPr>
              <a:t>Super Referrers</a:t>
            </a:r>
          </a:p>
        </p:txBody>
      </p:sp>
      <p:grpSp>
        <p:nvGrpSpPr>
          <p:cNvPr id="23" name="Group 22">
            <a:extLst>
              <a:ext uri="{FF2B5EF4-FFF2-40B4-BE49-F238E27FC236}">
                <a16:creationId xmlns:a16="http://schemas.microsoft.com/office/drawing/2014/main" id="{F0C66C99-DD47-750A-84EA-933D0CDF6301}"/>
              </a:ext>
            </a:extLst>
          </p:cNvPr>
          <p:cNvGrpSpPr/>
          <p:nvPr/>
        </p:nvGrpSpPr>
        <p:grpSpPr>
          <a:xfrm>
            <a:off x="1464931" y="993594"/>
            <a:ext cx="484632" cy="484631"/>
            <a:chOff x="10962044" y="4875330"/>
            <a:chExt cx="338329" cy="338059"/>
          </a:xfrm>
          <a:solidFill>
            <a:srgbClr val="002060"/>
          </a:solidFill>
        </p:grpSpPr>
        <p:sp>
          <p:nvSpPr>
            <p:cNvPr id="24" name="Freeform: Shape 23">
              <a:extLst>
                <a:ext uri="{FF2B5EF4-FFF2-40B4-BE49-F238E27FC236}">
                  <a16:creationId xmlns:a16="http://schemas.microsoft.com/office/drawing/2014/main" id="{8F48A760-6B03-8604-55D3-F7B09998C87C}"/>
                </a:ext>
              </a:extLst>
            </p:cNvPr>
            <p:cNvSpPr/>
            <p:nvPr/>
          </p:nvSpPr>
          <p:spPr>
            <a:xfrm>
              <a:off x="10962044" y="4956914"/>
              <a:ext cx="208190" cy="256475"/>
            </a:xfrm>
            <a:custGeom>
              <a:avLst/>
              <a:gdLst>
                <a:gd name="connsiteX0" fmla="*/ 1567960 w 2326195"/>
                <a:gd name="connsiteY0" fmla="*/ 1192881 h 2865702"/>
                <a:gd name="connsiteX1" fmla="*/ 1626748 w 2326195"/>
                <a:gd name="connsiteY1" fmla="*/ 1095398 h 2865702"/>
                <a:gd name="connsiteX2" fmla="*/ 1628981 w 2326195"/>
                <a:gd name="connsiteY2" fmla="*/ 1090933 h 2865702"/>
                <a:gd name="connsiteX3" fmla="*/ 1658002 w 2326195"/>
                <a:gd name="connsiteY3" fmla="*/ 1033634 h 2865702"/>
                <a:gd name="connsiteX4" fmla="*/ 1670651 w 2326195"/>
                <a:gd name="connsiteY4" fmla="*/ 1005356 h 2865702"/>
                <a:gd name="connsiteX5" fmla="*/ 1687022 w 2326195"/>
                <a:gd name="connsiteY5" fmla="*/ 967405 h 2865702"/>
                <a:gd name="connsiteX6" fmla="*/ 1704884 w 2326195"/>
                <a:gd name="connsiteY6" fmla="*/ 920523 h 2865702"/>
                <a:gd name="connsiteX7" fmla="*/ 1713814 w 2326195"/>
                <a:gd name="connsiteY7" fmla="*/ 896710 h 2865702"/>
                <a:gd name="connsiteX8" fmla="*/ 1730929 w 2326195"/>
                <a:gd name="connsiteY8" fmla="*/ 840155 h 2865702"/>
                <a:gd name="connsiteX9" fmla="*/ 1736137 w 2326195"/>
                <a:gd name="connsiteY9" fmla="*/ 823040 h 2865702"/>
                <a:gd name="connsiteX10" fmla="*/ 1749533 w 2326195"/>
                <a:gd name="connsiteY10" fmla="*/ 764999 h 2865702"/>
                <a:gd name="connsiteX11" fmla="*/ 1753252 w 2326195"/>
                <a:gd name="connsiteY11" fmla="*/ 748627 h 2865702"/>
                <a:gd name="connsiteX12" fmla="*/ 1761439 w 2326195"/>
                <a:gd name="connsiteY12" fmla="*/ 692071 h 2865702"/>
                <a:gd name="connsiteX13" fmla="*/ 1763672 w 2326195"/>
                <a:gd name="connsiteY13" fmla="*/ 675700 h 2865702"/>
                <a:gd name="connsiteX14" fmla="*/ 1767391 w 2326195"/>
                <a:gd name="connsiteY14" fmla="*/ 607238 h 2865702"/>
                <a:gd name="connsiteX15" fmla="*/ 1160153 w 2326195"/>
                <a:gd name="connsiteY15" fmla="*/ 0 h 2865702"/>
                <a:gd name="connsiteX16" fmla="*/ 552915 w 2326195"/>
                <a:gd name="connsiteY16" fmla="*/ 607238 h 2865702"/>
                <a:gd name="connsiteX17" fmla="*/ 556637 w 2326195"/>
                <a:gd name="connsiteY17" fmla="*/ 675700 h 2865702"/>
                <a:gd name="connsiteX18" fmla="*/ 558870 w 2326195"/>
                <a:gd name="connsiteY18" fmla="*/ 693561 h 2865702"/>
                <a:gd name="connsiteX19" fmla="*/ 567054 w 2326195"/>
                <a:gd name="connsiteY19" fmla="*/ 748627 h 2865702"/>
                <a:gd name="connsiteX20" fmla="*/ 570776 w 2326195"/>
                <a:gd name="connsiteY20" fmla="*/ 767231 h 2865702"/>
                <a:gd name="connsiteX21" fmla="*/ 583425 w 2326195"/>
                <a:gd name="connsiteY21" fmla="*/ 823040 h 2865702"/>
                <a:gd name="connsiteX22" fmla="*/ 589377 w 2326195"/>
                <a:gd name="connsiteY22" fmla="*/ 843130 h 2865702"/>
                <a:gd name="connsiteX23" fmla="*/ 605748 w 2326195"/>
                <a:gd name="connsiteY23" fmla="*/ 896706 h 2865702"/>
                <a:gd name="connsiteX24" fmla="*/ 614679 w 2326195"/>
                <a:gd name="connsiteY24" fmla="*/ 922752 h 2865702"/>
                <a:gd name="connsiteX25" fmla="*/ 631793 w 2326195"/>
                <a:gd name="connsiteY25" fmla="*/ 968144 h 2865702"/>
                <a:gd name="connsiteX26" fmla="*/ 648165 w 2326195"/>
                <a:gd name="connsiteY26" fmla="*/ 1005349 h 2865702"/>
                <a:gd name="connsiteX27" fmla="*/ 661561 w 2326195"/>
                <a:gd name="connsiteY27" fmla="*/ 1034373 h 2865702"/>
                <a:gd name="connsiteX28" fmla="*/ 689092 w 2326195"/>
                <a:gd name="connsiteY28" fmla="*/ 1088696 h 2865702"/>
                <a:gd name="connsiteX29" fmla="*/ 692814 w 2326195"/>
                <a:gd name="connsiteY29" fmla="*/ 1095394 h 2865702"/>
                <a:gd name="connsiteX30" fmla="*/ 752346 w 2326195"/>
                <a:gd name="connsiteY30" fmla="*/ 1193616 h 2865702"/>
                <a:gd name="connsiteX31" fmla="*/ 2232 w 2326195"/>
                <a:gd name="connsiteY31" fmla="*/ 2123066 h 2865702"/>
                <a:gd name="connsiteX32" fmla="*/ 0 w 2326195"/>
                <a:gd name="connsiteY32" fmla="*/ 2190038 h 2865702"/>
                <a:gd name="connsiteX33" fmla="*/ 0 w 2326195"/>
                <a:gd name="connsiteY33" fmla="*/ 2865703 h 2865702"/>
                <a:gd name="connsiteX34" fmla="*/ 2326196 w 2326195"/>
                <a:gd name="connsiteY34" fmla="*/ 2865703 h 2865702"/>
                <a:gd name="connsiteX35" fmla="*/ 2326196 w 2326195"/>
                <a:gd name="connsiteY35" fmla="*/ 2190038 h 2865702"/>
                <a:gd name="connsiteX36" fmla="*/ 2323963 w 2326195"/>
                <a:gd name="connsiteY36" fmla="*/ 2121576 h 2865702"/>
                <a:gd name="connsiteX37" fmla="*/ 1567907 w 2326195"/>
                <a:gd name="connsiteY37" fmla="*/ 1192888 h 2865702"/>
                <a:gd name="connsiteX38" fmla="*/ 1159414 w 2326195"/>
                <a:gd name="connsiteY38" fmla="*/ 122804 h 2865702"/>
                <a:gd name="connsiteX39" fmla="*/ 1644579 w 2326195"/>
                <a:gd name="connsiteY39" fmla="*/ 607969 h 2865702"/>
                <a:gd name="connsiteX40" fmla="*/ 1640857 w 2326195"/>
                <a:gd name="connsiteY40" fmla="*/ 670476 h 2865702"/>
                <a:gd name="connsiteX41" fmla="*/ 1637138 w 2326195"/>
                <a:gd name="connsiteY41" fmla="*/ 700244 h 2865702"/>
                <a:gd name="connsiteX42" fmla="*/ 1631930 w 2326195"/>
                <a:gd name="connsiteY42" fmla="*/ 732983 h 2865702"/>
                <a:gd name="connsiteX43" fmla="*/ 1623742 w 2326195"/>
                <a:gd name="connsiteY43" fmla="*/ 773910 h 2865702"/>
                <a:gd name="connsiteX44" fmla="*/ 1620024 w 2326195"/>
                <a:gd name="connsiteY44" fmla="*/ 789539 h 2865702"/>
                <a:gd name="connsiteX45" fmla="*/ 1565701 w 2326195"/>
                <a:gd name="connsiteY45" fmla="*/ 948042 h 2865702"/>
                <a:gd name="connsiteX46" fmla="*/ 1557513 w 2326195"/>
                <a:gd name="connsiteY46" fmla="*/ 966647 h 2865702"/>
                <a:gd name="connsiteX47" fmla="*/ 1538166 w 2326195"/>
                <a:gd name="connsiteY47" fmla="*/ 1006831 h 2865702"/>
                <a:gd name="connsiteX48" fmla="*/ 1521051 w 2326195"/>
                <a:gd name="connsiteY48" fmla="*/ 1039574 h 2865702"/>
                <a:gd name="connsiteX49" fmla="*/ 1505423 w 2326195"/>
                <a:gd name="connsiteY49" fmla="*/ 1067848 h 2865702"/>
                <a:gd name="connsiteX50" fmla="*/ 1419846 w 2326195"/>
                <a:gd name="connsiteY50" fmla="*/ 1188400 h 2865702"/>
                <a:gd name="connsiteX51" fmla="*/ 1160884 w 2326195"/>
                <a:gd name="connsiteY51" fmla="*/ 1337226 h 2865702"/>
                <a:gd name="connsiteX52" fmla="*/ 904155 w 2326195"/>
                <a:gd name="connsiteY52" fmla="*/ 1190629 h 2865702"/>
                <a:gd name="connsiteX53" fmla="*/ 776162 w 2326195"/>
                <a:gd name="connsiteY53" fmla="*/ 991198 h 2865702"/>
                <a:gd name="connsiteX54" fmla="*/ 773186 w 2326195"/>
                <a:gd name="connsiteY54" fmla="*/ 985247 h 2865702"/>
                <a:gd name="connsiteX55" fmla="*/ 741933 w 2326195"/>
                <a:gd name="connsiteY55" fmla="*/ 913810 h 2865702"/>
                <a:gd name="connsiteX56" fmla="*/ 740443 w 2326195"/>
                <a:gd name="connsiteY56" fmla="*/ 910834 h 2865702"/>
                <a:gd name="connsiteX57" fmla="*/ 713655 w 2326195"/>
                <a:gd name="connsiteY57" fmla="*/ 833445 h 2865702"/>
                <a:gd name="connsiteX58" fmla="*/ 712912 w 2326195"/>
                <a:gd name="connsiteY58" fmla="*/ 831955 h 2865702"/>
                <a:gd name="connsiteX59" fmla="*/ 695051 w 2326195"/>
                <a:gd name="connsiteY59" fmla="*/ 764240 h 2865702"/>
                <a:gd name="connsiteX60" fmla="*/ 690589 w 2326195"/>
                <a:gd name="connsiteY60" fmla="*/ 743403 h 2865702"/>
                <a:gd name="connsiteX61" fmla="*/ 682402 w 2326195"/>
                <a:gd name="connsiteY61" fmla="*/ 693546 h 2865702"/>
                <a:gd name="connsiteX62" fmla="*/ 679426 w 2326195"/>
                <a:gd name="connsiteY62" fmla="*/ 672713 h 2865702"/>
                <a:gd name="connsiteX63" fmla="*/ 675704 w 2326195"/>
                <a:gd name="connsiteY63" fmla="*/ 608716 h 2865702"/>
                <a:gd name="connsiteX64" fmla="*/ 1159383 w 2326195"/>
                <a:gd name="connsiteY64" fmla="*/ 122789 h 2865702"/>
                <a:gd name="connsiteX65" fmla="*/ 1325358 w 2326195"/>
                <a:gd name="connsiteY65" fmla="*/ 1416109 h 2865702"/>
                <a:gd name="connsiteX66" fmla="*/ 1159414 w 2326195"/>
                <a:gd name="connsiteY66" fmla="*/ 1844733 h 2865702"/>
                <a:gd name="connsiteX67" fmla="*/ 993469 w 2326195"/>
                <a:gd name="connsiteY67" fmla="*/ 1416870 h 2865702"/>
                <a:gd name="connsiteX68" fmla="*/ 1158667 w 2326195"/>
                <a:gd name="connsiteY68" fmla="*/ 1459287 h 2865702"/>
                <a:gd name="connsiteX69" fmla="*/ 1325354 w 2326195"/>
                <a:gd name="connsiteY69" fmla="*/ 1416128 h 2865702"/>
                <a:gd name="connsiteX70" fmla="*/ 2204173 w 2326195"/>
                <a:gd name="connsiteY70" fmla="*/ 2745151 h 2865702"/>
                <a:gd name="connsiteX71" fmla="*/ 122084 w 2326195"/>
                <a:gd name="connsiteY71" fmla="*/ 2745151 h 2865702"/>
                <a:gd name="connsiteX72" fmla="*/ 122084 w 2326195"/>
                <a:gd name="connsiteY72" fmla="*/ 2191520 h 2865702"/>
                <a:gd name="connsiteX73" fmla="*/ 123572 w 2326195"/>
                <a:gd name="connsiteY73" fmla="*/ 2131246 h 2865702"/>
                <a:gd name="connsiteX74" fmla="*/ 819356 w 2326195"/>
                <a:gd name="connsiteY74" fmla="*/ 1303752 h 2865702"/>
                <a:gd name="connsiteX75" fmla="*/ 1158682 w 2326195"/>
                <a:gd name="connsiteY75" fmla="*/ 2182566 h 2865702"/>
                <a:gd name="connsiteX76" fmla="*/ 1500241 w 2326195"/>
                <a:gd name="connsiteY76" fmla="*/ 1301504 h 2865702"/>
                <a:gd name="connsiteX77" fmla="*/ 2201967 w 2326195"/>
                <a:gd name="connsiteY77" fmla="*/ 2130483 h 2865702"/>
                <a:gd name="connsiteX78" fmla="*/ 2203453 w 2326195"/>
                <a:gd name="connsiteY78" fmla="*/ 2191504 h 2865702"/>
                <a:gd name="connsiteX79" fmla="*/ 2203453 w 2326195"/>
                <a:gd name="connsiteY79" fmla="*/ 2745135 h 286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326195" h="2865702">
                  <a:moveTo>
                    <a:pt x="1567960" y="1192881"/>
                  </a:moveTo>
                  <a:cubicBezTo>
                    <a:pt x="1588797" y="1162370"/>
                    <a:pt x="1608144" y="1129627"/>
                    <a:pt x="1626748" y="1095398"/>
                  </a:cubicBezTo>
                  <a:cubicBezTo>
                    <a:pt x="1627491" y="1093908"/>
                    <a:pt x="1628238" y="1092422"/>
                    <a:pt x="1628981" y="1090933"/>
                  </a:cubicBezTo>
                  <a:cubicBezTo>
                    <a:pt x="1639397" y="1072328"/>
                    <a:pt x="1649071" y="1052981"/>
                    <a:pt x="1658002" y="1033634"/>
                  </a:cubicBezTo>
                  <a:cubicBezTo>
                    <a:pt x="1662467" y="1023960"/>
                    <a:pt x="1666932" y="1015030"/>
                    <a:pt x="1670651" y="1005356"/>
                  </a:cubicBezTo>
                  <a:cubicBezTo>
                    <a:pt x="1675863" y="992707"/>
                    <a:pt x="1681814" y="980058"/>
                    <a:pt x="1687022" y="967405"/>
                  </a:cubicBezTo>
                  <a:cubicBezTo>
                    <a:pt x="1693720" y="951780"/>
                    <a:pt x="1698929" y="936151"/>
                    <a:pt x="1704884" y="920523"/>
                  </a:cubicBezTo>
                  <a:cubicBezTo>
                    <a:pt x="1707859" y="912339"/>
                    <a:pt x="1710835" y="904898"/>
                    <a:pt x="1713814" y="896710"/>
                  </a:cubicBezTo>
                  <a:cubicBezTo>
                    <a:pt x="1720509" y="878110"/>
                    <a:pt x="1725721" y="858759"/>
                    <a:pt x="1730929" y="840155"/>
                  </a:cubicBezTo>
                  <a:cubicBezTo>
                    <a:pt x="1732415" y="834203"/>
                    <a:pt x="1734647" y="828248"/>
                    <a:pt x="1736137" y="823040"/>
                  </a:cubicBezTo>
                  <a:cubicBezTo>
                    <a:pt x="1741345" y="803693"/>
                    <a:pt x="1745811" y="784346"/>
                    <a:pt x="1749533" y="764999"/>
                  </a:cubicBezTo>
                  <a:cubicBezTo>
                    <a:pt x="1750276" y="759790"/>
                    <a:pt x="1751766" y="753835"/>
                    <a:pt x="1753252" y="748627"/>
                  </a:cubicBezTo>
                  <a:cubicBezTo>
                    <a:pt x="1756974" y="729280"/>
                    <a:pt x="1759207" y="710676"/>
                    <a:pt x="1761439" y="692071"/>
                  </a:cubicBezTo>
                  <a:cubicBezTo>
                    <a:pt x="1762182" y="686863"/>
                    <a:pt x="1762925" y="680912"/>
                    <a:pt x="1763672" y="675700"/>
                  </a:cubicBezTo>
                  <a:cubicBezTo>
                    <a:pt x="1765901" y="652634"/>
                    <a:pt x="1767391" y="629564"/>
                    <a:pt x="1767391" y="607238"/>
                  </a:cubicBezTo>
                  <a:cubicBezTo>
                    <a:pt x="1767391" y="272373"/>
                    <a:pt x="1495037" y="0"/>
                    <a:pt x="1160153" y="0"/>
                  </a:cubicBezTo>
                  <a:cubicBezTo>
                    <a:pt x="825288" y="0"/>
                    <a:pt x="552915" y="272354"/>
                    <a:pt x="552915" y="607238"/>
                  </a:cubicBezTo>
                  <a:cubicBezTo>
                    <a:pt x="552915" y="629564"/>
                    <a:pt x="554405" y="652630"/>
                    <a:pt x="556637" y="675700"/>
                  </a:cubicBezTo>
                  <a:cubicBezTo>
                    <a:pt x="557380" y="681655"/>
                    <a:pt x="558123" y="687606"/>
                    <a:pt x="558870" y="693561"/>
                  </a:cubicBezTo>
                  <a:cubicBezTo>
                    <a:pt x="561103" y="711419"/>
                    <a:pt x="563331" y="730023"/>
                    <a:pt x="567054" y="748627"/>
                  </a:cubicBezTo>
                  <a:cubicBezTo>
                    <a:pt x="568544" y="754578"/>
                    <a:pt x="570029" y="761276"/>
                    <a:pt x="570776" y="767231"/>
                  </a:cubicBezTo>
                  <a:cubicBezTo>
                    <a:pt x="574495" y="785832"/>
                    <a:pt x="578960" y="804436"/>
                    <a:pt x="583425" y="823040"/>
                  </a:cubicBezTo>
                  <a:cubicBezTo>
                    <a:pt x="584911" y="829734"/>
                    <a:pt x="587144" y="836432"/>
                    <a:pt x="589377" y="843130"/>
                  </a:cubicBezTo>
                  <a:cubicBezTo>
                    <a:pt x="594589" y="860988"/>
                    <a:pt x="599797" y="878849"/>
                    <a:pt x="605748" y="896706"/>
                  </a:cubicBezTo>
                  <a:cubicBezTo>
                    <a:pt x="608728" y="905637"/>
                    <a:pt x="611703" y="913821"/>
                    <a:pt x="614679" y="922752"/>
                  </a:cubicBezTo>
                  <a:cubicBezTo>
                    <a:pt x="619887" y="937633"/>
                    <a:pt x="625842" y="953262"/>
                    <a:pt x="631793" y="968144"/>
                  </a:cubicBezTo>
                  <a:cubicBezTo>
                    <a:pt x="637002" y="980793"/>
                    <a:pt x="642214" y="993442"/>
                    <a:pt x="648165" y="1005349"/>
                  </a:cubicBezTo>
                  <a:cubicBezTo>
                    <a:pt x="652630" y="1015026"/>
                    <a:pt x="657096" y="1024700"/>
                    <a:pt x="661561" y="1034373"/>
                  </a:cubicBezTo>
                  <a:cubicBezTo>
                    <a:pt x="670492" y="1052974"/>
                    <a:pt x="679418" y="1070835"/>
                    <a:pt x="689092" y="1088696"/>
                  </a:cubicBezTo>
                  <a:cubicBezTo>
                    <a:pt x="690582" y="1090929"/>
                    <a:pt x="691325" y="1093161"/>
                    <a:pt x="692814" y="1095394"/>
                  </a:cubicBezTo>
                  <a:cubicBezTo>
                    <a:pt x="711419" y="1129623"/>
                    <a:pt x="731509" y="1163105"/>
                    <a:pt x="752346" y="1193616"/>
                  </a:cubicBezTo>
                  <a:cubicBezTo>
                    <a:pt x="330426" y="1320119"/>
                    <a:pt x="26807" y="1689948"/>
                    <a:pt x="2232" y="2123066"/>
                  </a:cubicBezTo>
                  <a:cubicBezTo>
                    <a:pt x="744" y="2145392"/>
                    <a:pt x="0" y="2167715"/>
                    <a:pt x="0" y="2190038"/>
                  </a:cubicBezTo>
                  <a:lnTo>
                    <a:pt x="0" y="2865703"/>
                  </a:lnTo>
                  <a:lnTo>
                    <a:pt x="2326196" y="2865703"/>
                  </a:lnTo>
                  <a:lnTo>
                    <a:pt x="2326196" y="2190038"/>
                  </a:lnTo>
                  <a:cubicBezTo>
                    <a:pt x="2326196" y="2166972"/>
                    <a:pt x="2325453" y="2144645"/>
                    <a:pt x="2323963" y="2121576"/>
                  </a:cubicBezTo>
                  <a:cubicBezTo>
                    <a:pt x="2298661" y="1687731"/>
                    <a:pt x="1992821" y="1317170"/>
                    <a:pt x="1567907" y="1192888"/>
                  </a:cubicBezTo>
                  <a:close/>
                  <a:moveTo>
                    <a:pt x="1159414" y="122804"/>
                  </a:moveTo>
                  <a:cubicBezTo>
                    <a:pt x="1427302" y="122804"/>
                    <a:pt x="1644579" y="340839"/>
                    <a:pt x="1644579" y="607969"/>
                  </a:cubicBezTo>
                  <a:cubicBezTo>
                    <a:pt x="1644579" y="628060"/>
                    <a:pt x="1643089" y="648896"/>
                    <a:pt x="1640857" y="670476"/>
                  </a:cubicBezTo>
                  <a:cubicBezTo>
                    <a:pt x="1640114" y="680150"/>
                    <a:pt x="1638628" y="689823"/>
                    <a:pt x="1637138" y="700244"/>
                  </a:cubicBezTo>
                  <a:cubicBezTo>
                    <a:pt x="1635648" y="710660"/>
                    <a:pt x="1633416" y="721824"/>
                    <a:pt x="1631930" y="732983"/>
                  </a:cubicBezTo>
                  <a:cubicBezTo>
                    <a:pt x="1629697" y="746379"/>
                    <a:pt x="1626718" y="759775"/>
                    <a:pt x="1623742" y="773910"/>
                  </a:cubicBezTo>
                  <a:cubicBezTo>
                    <a:pt x="1622256" y="779118"/>
                    <a:pt x="1620767" y="784330"/>
                    <a:pt x="1620024" y="789539"/>
                  </a:cubicBezTo>
                  <a:cubicBezTo>
                    <a:pt x="1606628" y="841629"/>
                    <a:pt x="1588023" y="895205"/>
                    <a:pt x="1565701" y="948042"/>
                  </a:cubicBezTo>
                  <a:cubicBezTo>
                    <a:pt x="1562721" y="953994"/>
                    <a:pt x="1560492" y="960692"/>
                    <a:pt x="1557513" y="966647"/>
                  </a:cubicBezTo>
                  <a:cubicBezTo>
                    <a:pt x="1551562" y="980039"/>
                    <a:pt x="1544864" y="993435"/>
                    <a:pt x="1538166" y="1006831"/>
                  </a:cubicBezTo>
                  <a:cubicBezTo>
                    <a:pt x="1532957" y="1017990"/>
                    <a:pt x="1527006" y="1028411"/>
                    <a:pt x="1521051" y="1039574"/>
                  </a:cubicBezTo>
                  <a:cubicBezTo>
                    <a:pt x="1515843" y="1049247"/>
                    <a:pt x="1510635" y="1058921"/>
                    <a:pt x="1505423" y="1067848"/>
                  </a:cubicBezTo>
                  <a:cubicBezTo>
                    <a:pt x="1479381" y="1111750"/>
                    <a:pt x="1451100" y="1152681"/>
                    <a:pt x="1419846" y="1188400"/>
                  </a:cubicBezTo>
                  <a:cubicBezTo>
                    <a:pt x="1343943" y="1277699"/>
                    <a:pt x="1254648" y="1337226"/>
                    <a:pt x="1160884" y="1337226"/>
                  </a:cubicBezTo>
                  <a:cubicBezTo>
                    <a:pt x="1067867" y="1337226"/>
                    <a:pt x="980058" y="1278438"/>
                    <a:pt x="904155" y="1190629"/>
                  </a:cubicBezTo>
                  <a:cubicBezTo>
                    <a:pt x="855787" y="1134820"/>
                    <a:pt x="812627" y="1065615"/>
                    <a:pt x="776162" y="991198"/>
                  </a:cubicBezTo>
                  <a:cubicBezTo>
                    <a:pt x="775419" y="988966"/>
                    <a:pt x="773929" y="987480"/>
                    <a:pt x="773186" y="985247"/>
                  </a:cubicBezTo>
                  <a:cubicBezTo>
                    <a:pt x="762023" y="961435"/>
                    <a:pt x="751606" y="937622"/>
                    <a:pt x="741933" y="913810"/>
                  </a:cubicBezTo>
                  <a:cubicBezTo>
                    <a:pt x="741190" y="913067"/>
                    <a:pt x="741190" y="911577"/>
                    <a:pt x="740443" y="910834"/>
                  </a:cubicBezTo>
                  <a:cubicBezTo>
                    <a:pt x="730027" y="885532"/>
                    <a:pt x="721096" y="859487"/>
                    <a:pt x="713655" y="833445"/>
                  </a:cubicBezTo>
                  <a:cubicBezTo>
                    <a:pt x="713655" y="832698"/>
                    <a:pt x="713655" y="831955"/>
                    <a:pt x="712912" y="831955"/>
                  </a:cubicBezTo>
                  <a:cubicBezTo>
                    <a:pt x="706214" y="808886"/>
                    <a:pt x="700263" y="786563"/>
                    <a:pt x="695051" y="764240"/>
                  </a:cubicBezTo>
                  <a:cubicBezTo>
                    <a:pt x="693565" y="757542"/>
                    <a:pt x="692075" y="750101"/>
                    <a:pt x="690589" y="743403"/>
                  </a:cubicBezTo>
                  <a:cubicBezTo>
                    <a:pt x="686867" y="726289"/>
                    <a:pt x="684634" y="709917"/>
                    <a:pt x="682402" y="693546"/>
                  </a:cubicBezTo>
                  <a:cubicBezTo>
                    <a:pt x="681659" y="686848"/>
                    <a:pt x="680169" y="679407"/>
                    <a:pt x="679426" y="672713"/>
                  </a:cubicBezTo>
                  <a:cubicBezTo>
                    <a:pt x="677193" y="650386"/>
                    <a:pt x="675704" y="628810"/>
                    <a:pt x="675704" y="608716"/>
                  </a:cubicBezTo>
                  <a:cubicBezTo>
                    <a:pt x="673471" y="340827"/>
                    <a:pt x="891506" y="122789"/>
                    <a:pt x="1159383" y="122789"/>
                  </a:cubicBezTo>
                  <a:close/>
                  <a:moveTo>
                    <a:pt x="1325358" y="1416109"/>
                  </a:moveTo>
                  <a:lnTo>
                    <a:pt x="1159414" y="1844733"/>
                  </a:lnTo>
                  <a:lnTo>
                    <a:pt x="993469" y="1416870"/>
                  </a:lnTo>
                  <a:cubicBezTo>
                    <a:pt x="1046302" y="1443659"/>
                    <a:pt x="1101368" y="1459287"/>
                    <a:pt x="1158667" y="1459287"/>
                  </a:cubicBezTo>
                  <a:cubicBezTo>
                    <a:pt x="1216708" y="1459287"/>
                    <a:pt x="1272521" y="1443659"/>
                    <a:pt x="1325354" y="1416128"/>
                  </a:cubicBezTo>
                  <a:close/>
                  <a:moveTo>
                    <a:pt x="2204173" y="2745151"/>
                  </a:moveTo>
                  <a:lnTo>
                    <a:pt x="122084" y="2745151"/>
                  </a:lnTo>
                  <a:lnTo>
                    <a:pt x="122084" y="2191520"/>
                  </a:lnTo>
                  <a:cubicBezTo>
                    <a:pt x="122084" y="2171430"/>
                    <a:pt x="122828" y="2151336"/>
                    <a:pt x="123572" y="2131246"/>
                  </a:cubicBezTo>
                  <a:cubicBezTo>
                    <a:pt x="145896" y="1739082"/>
                    <a:pt x="429414" y="1405707"/>
                    <a:pt x="819356" y="1303752"/>
                  </a:cubicBezTo>
                  <a:lnTo>
                    <a:pt x="1158682" y="2182566"/>
                  </a:lnTo>
                  <a:lnTo>
                    <a:pt x="1500241" y="1301504"/>
                  </a:lnTo>
                  <a:cubicBezTo>
                    <a:pt x="1893128" y="1401962"/>
                    <a:pt x="2178878" y="1735348"/>
                    <a:pt x="2201967" y="2130483"/>
                  </a:cubicBezTo>
                  <a:cubicBezTo>
                    <a:pt x="2203453" y="2150574"/>
                    <a:pt x="2203453" y="2171411"/>
                    <a:pt x="2203453" y="2191504"/>
                  </a:cubicBezTo>
                  <a:lnTo>
                    <a:pt x="2203453" y="2745135"/>
                  </a:lnTo>
                  <a:close/>
                </a:path>
              </a:pathLst>
            </a:custGeom>
            <a:grpFill/>
            <a:ln w="38100" cap="flat">
              <a:noFill/>
              <a:prstDash val="solid"/>
              <a:miter/>
            </a:ln>
          </p:spPr>
          <p:txBody>
            <a:bodyPr rtlCol="0" anchor="ctr"/>
            <a:lstStyle/>
            <a:p>
              <a:endParaRPr lang="en-US" noProof="0"/>
            </a:p>
          </p:txBody>
        </p:sp>
        <p:sp>
          <p:nvSpPr>
            <p:cNvPr id="25" name="Freeform: Shape 24">
              <a:extLst>
                <a:ext uri="{FF2B5EF4-FFF2-40B4-BE49-F238E27FC236}">
                  <a16:creationId xmlns:a16="http://schemas.microsoft.com/office/drawing/2014/main" id="{17ED5093-39E9-C106-67D8-F9F72372D192}"/>
                </a:ext>
              </a:extLst>
            </p:cNvPr>
            <p:cNvSpPr/>
            <p:nvPr/>
          </p:nvSpPr>
          <p:spPr>
            <a:xfrm>
              <a:off x="11136738" y="4875330"/>
              <a:ext cx="163635" cy="154177"/>
            </a:xfrm>
            <a:custGeom>
              <a:avLst/>
              <a:gdLst>
                <a:gd name="connsiteX0" fmla="*/ 1466705 w 1828361"/>
                <a:gd name="connsiteY0" fmla="*/ 0 h 1722681"/>
                <a:gd name="connsiteX1" fmla="*/ 361653 w 1828361"/>
                <a:gd name="connsiteY1" fmla="*/ 0 h 1722681"/>
                <a:gd name="connsiteX2" fmla="*/ 0 w 1828361"/>
                <a:gd name="connsiteY2" fmla="*/ 361653 h 1722681"/>
                <a:gd name="connsiteX3" fmla="*/ 0 w 1828361"/>
                <a:gd name="connsiteY3" fmla="*/ 857983 h 1722681"/>
                <a:gd name="connsiteX4" fmla="*/ 300632 w 1828361"/>
                <a:gd name="connsiteY4" fmla="*/ 1214428 h 1722681"/>
                <a:gd name="connsiteX5" fmla="*/ 305840 w 1828361"/>
                <a:gd name="connsiteY5" fmla="*/ 1722682 h 1722681"/>
                <a:gd name="connsiteX6" fmla="*/ 880312 w 1828361"/>
                <a:gd name="connsiteY6" fmla="*/ 1219647 h 1722681"/>
                <a:gd name="connsiteX7" fmla="*/ 1466709 w 1828361"/>
                <a:gd name="connsiteY7" fmla="*/ 1219647 h 1722681"/>
                <a:gd name="connsiteX8" fmla="*/ 1828362 w 1828361"/>
                <a:gd name="connsiteY8" fmla="*/ 857995 h 1722681"/>
                <a:gd name="connsiteX9" fmla="*/ 1828362 w 1828361"/>
                <a:gd name="connsiteY9" fmla="*/ 361664 h 1722681"/>
                <a:gd name="connsiteX10" fmla="*/ 1466709 w 1828361"/>
                <a:gd name="connsiteY10" fmla="*/ 11 h 1722681"/>
                <a:gd name="connsiteX11" fmla="*/ 1706320 w 1828361"/>
                <a:gd name="connsiteY11" fmla="*/ 858014 h 1722681"/>
                <a:gd name="connsiteX12" fmla="*/ 1466705 w 1828361"/>
                <a:gd name="connsiteY12" fmla="*/ 1097628 h 1722681"/>
                <a:gd name="connsiteX13" fmla="*/ 834169 w 1828361"/>
                <a:gd name="connsiteY13" fmla="*/ 1097628 h 1722681"/>
                <a:gd name="connsiteX14" fmla="*/ 424899 w 1828361"/>
                <a:gd name="connsiteY14" fmla="*/ 1456306 h 1722681"/>
                <a:gd name="connsiteX15" fmla="*/ 421176 w 1828361"/>
                <a:gd name="connsiteY15" fmla="*/ 1097628 h 1722681"/>
                <a:gd name="connsiteX16" fmla="*/ 360902 w 1828361"/>
                <a:gd name="connsiteY16" fmla="*/ 1097628 h 1722681"/>
                <a:gd name="connsiteX17" fmla="*/ 121288 w 1828361"/>
                <a:gd name="connsiteY17" fmla="*/ 858014 h 1722681"/>
                <a:gd name="connsiteX18" fmla="*/ 121288 w 1828361"/>
                <a:gd name="connsiteY18" fmla="*/ 361683 h 1722681"/>
                <a:gd name="connsiteX19" fmla="*/ 360902 w 1828361"/>
                <a:gd name="connsiteY19" fmla="*/ 122069 h 1722681"/>
                <a:gd name="connsiteX20" fmla="*/ 1466679 w 1828361"/>
                <a:gd name="connsiteY20" fmla="*/ 122069 h 1722681"/>
                <a:gd name="connsiteX21" fmla="*/ 1706293 w 1828361"/>
                <a:gd name="connsiteY21" fmla="*/ 361683 h 172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8361" h="1722681">
                  <a:moveTo>
                    <a:pt x="1466705" y="0"/>
                  </a:moveTo>
                  <a:lnTo>
                    <a:pt x="361653" y="0"/>
                  </a:lnTo>
                  <a:cubicBezTo>
                    <a:pt x="162222" y="0"/>
                    <a:pt x="0" y="162222"/>
                    <a:pt x="0" y="361653"/>
                  </a:cubicBezTo>
                  <a:lnTo>
                    <a:pt x="0" y="857983"/>
                  </a:lnTo>
                  <a:cubicBezTo>
                    <a:pt x="0" y="1036577"/>
                    <a:pt x="130226" y="1185407"/>
                    <a:pt x="300632" y="1214428"/>
                  </a:cubicBezTo>
                  <a:lnTo>
                    <a:pt x="305840" y="1722682"/>
                  </a:lnTo>
                  <a:lnTo>
                    <a:pt x="880312" y="1219647"/>
                  </a:lnTo>
                  <a:lnTo>
                    <a:pt x="1466709" y="1219647"/>
                  </a:lnTo>
                  <a:cubicBezTo>
                    <a:pt x="1666140" y="1219647"/>
                    <a:pt x="1828362" y="1057425"/>
                    <a:pt x="1828362" y="857995"/>
                  </a:cubicBezTo>
                  <a:lnTo>
                    <a:pt x="1828362" y="361664"/>
                  </a:lnTo>
                  <a:cubicBezTo>
                    <a:pt x="1828362" y="162234"/>
                    <a:pt x="1666140" y="11"/>
                    <a:pt x="1466709" y="11"/>
                  </a:cubicBezTo>
                  <a:close/>
                  <a:moveTo>
                    <a:pt x="1706320" y="858014"/>
                  </a:moveTo>
                  <a:cubicBezTo>
                    <a:pt x="1706320" y="989725"/>
                    <a:pt x="1599164" y="1097628"/>
                    <a:pt x="1466705" y="1097628"/>
                  </a:cubicBezTo>
                  <a:lnTo>
                    <a:pt x="834169" y="1097628"/>
                  </a:lnTo>
                  <a:lnTo>
                    <a:pt x="424899" y="1456306"/>
                  </a:lnTo>
                  <a:lnTo>
                    <a:pt x="421176" y="1097628"/>
                  </a:lnTo>
                  <a:lnTo>
                    <a:pt x="360902" y="1097628"/>
                  </a:lnTo>
                  <a:cubicBezTo>
                    <a:pt x="229191" y="1097628"/>
                    <a:pt x="121288" y="990472"/>
                    <a:pt x="121288" y="858014"/>
                  </a:cubicBezTo>
                  <a:lnTo>
                    <a:pt x="121288" y="361683"/>
                  </a:lnTo>
                  <a:cubicBezTo>
                    <a:pt x="121288" y="229972"/>
                    <a:pt x="228444" y="122069"/>
                    <a:pt x="360902" y="122069"/>
                  </a:cubicBezTo>
                  <a:lnTo>
                    <a:pt x="1466679" y="122069"/>
                  </a:lnTo>
                  <a:cubicBezTo>
                    <a:pt x="1598390" y="122069"/>
                    <a:pt x="1706293" y="229225"/>
                    <a:pt x="1706293" y="361683"/>
                  </a:cubicBezTo>
                  <a:close/>
                </a:path>
              </a:pathLst>
            </a:custGeom>
            <a:grpFill/>
            <a:ln w="38100" cap="flat">
              <a:noFill/>
              <a:prstDash val="solid"/>
              <a:miter/>
            </a:ln>
          </p:spPr>
          <p:txBody>
            <a:bodyPr rtlCol="0" anchor="ctr"/>
            <a:lstStyle/>
            <a:p>
              <a:endParaRPr lang="en-US" noProof="0"/>
            </a:p>
          </p:txBody>
        </p:sp>
        <p:sp>
          <p:nvSpPr>
            <p:cNvPr id="26" name="Freeform: Shape 25">
              <a:extLst>
                <a:ext uri="{FF2B5EF4-FFF2-40B4-BE49-F238E27FC236}">
                  <a16:creationId xmlns:a16="http://schemas.microsoft.com/office/drawing/2014/main" id="{B65B42F0-3C1F-6D58-A299-6254DC30964D}"/>
                </a:ext>
              </a:extLst>
            </p:cNvPr>
            <p:cNvSpPr/>
            <p:nvPr/>
          </p:nvSpPr>
          <p:spPr>
            <a:xfrm>
              <a:off x="11093116" y="5137133"/>
              <a:ext cx="49085" cy="10922"/>
            </a:xfrm>
            <a:custGeom>
              <a:avLst/>
              <a:gdLst>
                <a:gd name="connsiteX0" fmla="*/ 0 w 548449"/>
                <a:gd name="connsiteY0" fmla="*/ 0 h 122037"/>
                <a:gd name="connsiteX1" fmla="*/ 548450 w 548449"/>
                <a:gd name="connsiteY1" fmla="*/ 0 h 122037"/>
                <a:gd name="connsiteX2" fmla="*/ 548450 w 548449"/>
                <a:gd name="connsiteY2" fmla="*/ 122038 h 122037"/>
                <a:gd name="connsiteX3" fmla="*/ 0 w 548449"/>
                <a:gd name="connsiteY3" fmla="*/ 122038 h 122037"/>
              </a:gdLst>
              <a:ahLst/>
              <a:cxnLst>
                <a:cxn ang="0">
                  <a:pos x="connsiteX0" y="connsiteY0"/>
                </a:cxn>
                <a:cxn ang="0">
                  <a:pos x="connsiteX1" y="connsiteY1"/>
                </a:cxn>
                <a:cxn ang="0">
                  <a:pos x="connsiteX2" y="connsiteY2"/>
                </a:cxn>
                <a:cxn ang="0">
                  <a:pos x="connsiteX3" y="connsiteY3"/>
                </a:cxn>
              </a:cxnLst>
              <a:rect l="l" t="t" r="r" b="b"/>
              <a:pathLst>
                <a:path w="548449" h="122037">
                  <a:moveTo>
                    <a:pt x="0" y="0"/>
                  </a:moveTo>
                  <a:lnTo>
                    <a:pt x="548450" y="0"/>
                  </a:lnTo>
                  <a:lnTo>
                    <a:pt x="548450" y="122038"/>
                  </a:lnTo>
                  <a:lnTo>
                    <a:pt x="0" y="122038"/>
                  </a:lnTo>
                  <a:close/>
                </a:path>
              </a:pathLst>
            </a:custGeom>
            <a:grpFill/>
            <a:ln w="38100" cap="flat">
              <a:noFill/>
              <a:prstDash val="solid"/>
              <a:miter/>
            </a:ln>
          </p:spPr>
          <p:txBody>
            <a:bodyPr rtlCol="0" anchor="ctr"/>
            <a:lstStyle/>
            <a:p>
              <a:endParaRPr lang="en-US" noProof="0"/>
            </a:p>
          </p:txBody>
        </p:sp>
        <p:sp>
          <p:nvSpPr>
            <p:cNvPr id="27" name="Freeform: Shape 26">
              <a:extLst>
                <a:ext uri="{FF2B5EF4-FFF2-40B4-BE49-F238E27FC236}">
                  <a16:creationId xmlns:a16="http://schemas.microsoft.com/office/drawing/2014/main" id="{27A8B174-9B92-91D8-4F85-E26BCC52DF14}"/>
                </a:ext>
              </a:extLst>
            </p:cNvPr>
            <p:cNvSpPr/>
            <p:nvPr/>
          </p:nvSpPr>
          <p:spPr>
            <a:xfrm>
              <a:off x="11166244" y="4908097"/>
              <a:ext cx="39160" cy="38161"/>
            </a:xfrm>
            <a:custGeom>
              <a:avLst/>
              <a:gdLst>
                <a:gd name="connsiteX0" fmla="*/ 385462 w 437551"/>
                <a:gd name="connsiteY0" fmla="*/ 66229 h 426392"/>
                <a:gd name="connsiteX1" fmla="*/ 279795 w 437551"/>
                <a:gd name="connsiteY1" fmla="*/ 116087 h 426392"/>
                <a:gd name="connsiteX2" fmla="*/ 279795 w 437551"/>
                <a:gd name="connsiteY2" fmla="*/ 0 h 426392"/>
                <a:gd name="connsiteX3" fmla="*/ 157757 w 437551"/>
                <a:gd name="connsiteY3" fmla="*/ 0 h 426392"/>
                <a:gd name="connsiteX4" fmla="*/ 157757 w 437551"/>
                <a:gd name="connsiteY4" fmla="*/ 116087 h 426392"/>
                <a:gd name="connsiteX5" fmla="*/ 52833 w 437551"/>
                <a:gd name="connsiteY5" fmla="*/ 66229 h 426392"/>
                <a:gd name="connsiteX6" fmla="*/ 0 w 437551"/>
                <a:gd name="connsiteY6" fmla="*/ 176361 h 426392"/>
                <a:gd name="connsiteX7" fmla="*/ 77389 w 437551"/>
                <a:gd name="connsiteY7" fmla="*/ 212823 h 426392"/>
                <a:gd name="connsiteX8" fmla="*/ 0 w 437551"/>
                <a:gd name="connsiteY8" fmla="*/ 250031 h 426392"/>
                <a:gd name="connsiteX9" fmla="*/ 52833 w 437551"/>
                <a:gd name="connsiteY9" fmla="*/ 360163 h 426392"/>
                <a:gd name="connsiteX10" fmla="*/ 157757 w 437551"/>
                <a:gd name="connsiteY10" fmla="*/ 309562 h 426392"/>
                <a:gd name="connsiteX11" fmla="*/ 157757 w 437551"/>
                <a:gd name="connsiteY11" fmla="*/ 426392 h 426392"/>
                <a:gd name="connsiteX12" fmla="*/ 279795 w 437551"/>
                <a:gd name="connsiteY12" fmla="*/ 426392 h 426392"/>
                <a:gd name="connsiteX13" fmla="*/ 279795 w 437551"/>
                <a:gd name="connsiteY13" fmla="*/ 309562 h 426392"/>
                <a:gd name="connsiteX14" fmla="*/ 385462 w 437551"/>
                <a:gd name="connsiteY14" fmla="*/ 360163 h 426392"/>
                <a:gd name="connsiteX15" fmla="*/ 437552 w 437551"/>
                <a:gd name="connsiteY15" fmla="*/ 250031 h 426392"/>
                <a:gd name="connsiteX16" fmla="*/ 360163 w 437551"/>
                <a:gd name="connsiteY16" fmla="*/ 212823 h 426392"/>
                <a:gd name="connsiteX17" fmla="*/ 437552 w 437551"/>
                <a:gd name="connsiteY17" fmla="*/ 176361 h 42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7551" h="426392">
                  <a:moveTo>
                    <a:pt x="385462" y="66229"/>
                  </a:moveTo>
                  <a:lnTo>
                    <a:pt x="279795" y="116087"/>
                  </a:lnTo>
                  <a:lnTo>
                    <a:pt x="279795" y="0"/>
                  </a:lnTo>
                  <a:lnTo>
                    <a:pt x="157757" y="0"/>
                  </a:lnTo>
                  <a:lnTo>
                    <a:pt x="157757" y="116087"/>
                  </a:lnTo>
                  <a:lnTo>
                    <a:pt x="52833" y="66229"/>
                  </a:lnTo>
                  <a:lnTo>
                    <a:pt x="0" y="176361"/>
                  </a:lnTo>
                  <a:lnTo>
                    <a:pt x="77389" y="212823"/>
                  </a:lnTo>
                  <a:lnTo>
                    <a:pt x="0" y="250031"/>
                  </a:lnTo>
                  <a:lnTo>
                    <a:pt x="52833" y="360163"/>
                  </a:lnTo>
                  <a:lnTo>
                    <a:pt x="157757" y="309562"/>
                  </a:lnTo>
                  <a:lnTo>
                    <a:pt x="157757" y="426392"/>
                  </a:lnTo>
                  <a:lnTo>
                    <a:pt x="279795" y="426392"/>
                  </a:lnTo>
                  <a:lnTo>
                    <a:pt x="279795" y="309562"/>
                  </a:lnTo>
                  <a:lnTo>
                    <a:pt x="385462" y="360163"/>
                  </a:lnTo>
                  <a:lnTo>
                    <a:pt x="437552" y="250031"/>
                  </a:lnTo>
                  <a:lnTo>
                    <a:pt x="360163" y="212823"/>
                  </a:lnTo>
                  <a:lnTo>
                    <a:pt x="437552" y="176361"/>
                  </a:lnTo>
                  <a:close/>
                </a:path>
              </a:pathLst>
            </a:custGeom>
            <a:grpFill/>
            <a:ln w="38100" cap="flat">
              <a:noFill/>
              <a:prstDash val="solid"/>
              <a:miter/>
            </a:ln>
          </p:spPr>
          <p:txBody>
            <a:bodyPr rtlCol="0" anchor="ctr"/>
            <a:lstStyle/>
            <a:p>
              <a:endParaRPr lang="en-US" noProof="0"/>
            </a:p>
          </p:txBody>
        </p:sp>
        <p:sp>
          <p:nvSpPr>
            <p:cNvPr id="28" name="Freeform: Shape 27">
              <a:extLst>
                <a:ext uri="{FF2B5EF4-FFF2-40B4-BE49-F238E27FC236}">
                  <a16:creationId xmlns:a16="http://schemas.microsoft.com/office/drawing/2014/main" id="{2AFBC972-DCD3-38CF-AB9F-025A616FBA61}"/>
                </a:ext>
              </a:extLst>
            </p:cNvPr>
            <p:cNvSpPr/>
            <p:nvPr/>
          </p:nvSpPr>
          <p:spPr>
            <a:xfrm>
              <a:off x="11231709" y="4908097"/>
              <a:ext cx="39160" cy="38161"/>
            </a:xfrm>
            <a:custGeom>
              <a:avLst/>
              <a:gdLst>
                <a:gd name="connsiteX0" fmla="*/ 384719 w 437552"/>
                <a:gd name="connsiteY0" fmla="*/ 66229 h 426392"/>
                <a:gd name="connsiteX1" fmla="*/ 279795 w 437552"/>
                <a:gd name="connsiteY1" fmla="*/ 116087 h 426392"/>
                <a:gd name="connsiteX2" fmla="*/ 279795 w 437552"/>
                <a:gd name="connsiteY2" fmla="*/ 0 h 426392"/>
                <a:gd name="connsiteX3" fmla="*/ 157757 w 437552"/>
                <a:gd name="connsiteY3" fmla="*/ 0 h 426392"/>
                <a:gd name="connsiteX4" fmla="*/ 157757 w 437552"/>
                <a:gd name="connsiteY4" fmla="*/ 116087 h 426392"/>
                <a:gd name="connsiteX5" fmla="*/ 52833 w 437552"/>
                <a:gd name="connsiteY5" fmla="*/ 66229 h 426392"/>
                <a:gd name="connsiteX6" fmla="*/ 0 w 437552"/>
                <a:gd name="connsiteY6" fmla="*/ 176361 h 426392"/>
                <a:gd name="connsiteX7" fmla="*/ 77389 w 437552"/>
                <a:gd name="connsiteY7" fmla="*/ 212823 h 426392"/>
                <a:gd name="connsiteX8" fmla="*/ 0 w 437552"/>
                <a:gd name="connsiteY8" fmla="*/ 250031 h 426392"/>
                <a:gd name="connsiteX9" fmla="*/ 52833 w 437552"/>
                <a:gd name="connsiteY9" fmla="*/ 360163 h 426392"/>
                <a:gd name="connsiteX10" fmla="*/ 157757 w 437552"/>
                <a:gd name="connsiteY10" fmla="*/ 309562 h 426392"/>
                <a:gd name="connsiteX11" fmla="*/ 157757 w 437552"/>
                <a:gd name="connsiteY11" fmla="*/ 426392 h 426392"/>
                <a:gd name="connsiteX12" fmla="*/ 279795 w 437552"/>
                <a:gd name="connsiteY12" fmla="*/ 426392 h 426392"/>
                <a:gd name="connsiteX13" fmla="*/ 279795 w 437552"/>
                <a:gd name="connsiteY13" fmla="*/ 309562 h 426392"/>
                <a:gd name="connsiteX14" fmla="*/ 384719 w 437552"/>
                <a:gd name="connsiteY14" fmla="*/ 360163 h 426392"/>
                <a:gd name="connsiteX15" fmla="*/ 437552 w 437552"/>
                <a:gd name="connsiteY15" fmla="*/ 250031 h 426392"/>
                <a:gd name="connsiteX16" fmla="*/ 360163 w 437552"/>
                <a:gd name="connsiteY16" fmla="*/ 212823 h 426392"/>
                <a:gd name="connsiteX17" fmla="*/ 437552 w 437552"/>
                <a:gd name="connsiteY17" fmla="*/ 176361 h 42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7552" h="426392">
                  <a:moveTo>
                    <a:pt x="384719" y="66229"/>
                  </a:moveTo>
                  <a:lnTo>
                    <a:pt x="279795" y="116087"/>
                  </a:lnTo>
                  <a:lnTo>
                    <a:pt x="279795" y="0"/>
                  </a:lnTo>
                  <a:lnTo>
                    <a:pt x="157757" y="0"/>
                  </a:lnTo>
                  <a:lnTo>
                    <a:pt x="157757" y="116087"/>
                  </a:lnTo>
                  <a:lnTo>
                    <a:pt x="52833" y="66229"/>
                  </a:lnTo>
                  <a:lnTo>
                    <a:pt x="0" y="176361"/>
                  </a:lnTo>
                  <a:lnTo>
                    <a:pt x="77389" y="212823"/>
                  </a:lnTo>
                  <a:lnTo>
                    <a:pt x="0" y="250031"/>
                  </a:lnTo>
                  <a:lnTo>
                    <a:pt x="52833" y="360163"/>
                  </a:lnTo>
                  <a:lnTo>
                    <a:pt x="157757" y="309562"/>
                  </a:lnTo>
                  <a:lnTo>
                    <a:pt x="157757" y="426392"/>
                  </a:lnTo>
                  <a:lnTo>
                    <a:pt x="279795" y="426392"/>
                  </a:lnTo>
                  <a:lnTo>
                    <a:pt x="279795" y="309562"/>
                  </a:lnTo>
                  <a:lnTo>
                    <a:pt x="384719" y="360163"/>
                  </a:lnTo>
                  <a:lnTo>
                    <a:pt x="437552" y="250031"/>
                  </a:lnTo>
                  <a:lnTo>
                    <a:pt x="360163" y="212823"/>
                  </a:lnTo>
                  <a:lnTo>
                    <a:pt x="437552" y="176361"/>
                  </a:lnTo>
                  <a:close/>
                </a:path>
              </a:pathLst>
            </a:custGeom>
            <a:grpFill/>
            <a:ln w="38100" cap="flat">
              <a:noFill/>
              <a:prstDash val="solid"/>
              <a:miter/>
            </a:ln>
          </p:spPr>
          <p:txBody>
            <a:bodyPr rtlCol="0" anchor="ctr"/>
            <a:lstStyle/>
            <a:p>
              <a:endParaRPr lang="en-US" noProof="0"/>
            </a:p>
          </p:txBody>
        </p:sp>
      </p:grpSp>
      <p:sp>
        <p:nvSpPr>
          <p:cNvPr id="7" name="Chevron 5">
            <a:extLst>
              <a:ext uri="{FF2B5EF4-FFF2-40B4-BE49-F238E27FC236}">
                <a16:creationId xmlns:a16="http://schemas.microsoft.com/office/drawing/2014/main" id="{C88CFC22-4DD2-F6DB-6E83-ACD0F40DCDEC}"/>
              </a:ext>
            </a:extLst>
          </p:cNvPr>
          <p:cNvSpPr/>
          <p:nvPr/>
        </p:nvSpPr>
        <p:spPr>
          <a:xfrm>
            <a:off x="5083171" y="1644995"/>
            <a:ext cx="2039674" cy="26665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cs typeface="Poppins" pitchFamily="2" charset="77"/>
              </a:rPr>
              <a:t>Bridgers</a:t>
            </a:r>
          </a:p>
        </p:txBody>
      </p:sp>
      <p:sp>
        <p:nvSpPr>
          <p:cNvPr id="14" name="Freeform 949">
            <a:extLst>
              <a:ext uri="{FF2B5EF4-FFF2-40B4-BE49-F238E27FC236}">
                <a16:creationId xmlns:a16="http://schemas.microsoft.com/office/drawing/2014/main" id="{57240D21-5B87-4914-7AAC-57D9CAA2C3B5}"/>
              </a:ext>
            </a:extLst>
          </p:cNvPr>
          <p:cNvSpPr>
            <a:spLocks noChangeAspect="1" noChangeArrowheads="1"/>
          </p:cNvSpPr>
          <p:nvPr/>
        </p:nvSpPr>
        <p:spPr bwMode="auto">
          <a:xfrm>
            <a:off x="5859271" y="991441"/>
            <a:ext cx="487475" cy="488939"/>
          </a:xfrm>
          <a:custGeom>
            <a:avLst/>
            <a:gdLst>
              <a:gd name="T0" fmla="*/ 873075 w 291288"/>
              <a:gd name="T1" fmla="*/ 2795955 h 291739"/>
              <a:gd name="T2" fmla="*/ 825138 w 291288"/>
              <a:gd name="T3" fmla="*/ 3109255 h 291739"/>
              <a:gd name="T4" fmla="*/ 1567832 w 291288"/>
              <a:gd name="T5" fmla="*/ 3109255 h 291739"/>
              <a:gd name="T6" fmla="*/ 1567832 w 291288"/>
              <a:gd name="T7" fmla="*/ 2795955 h 291739"/>
              <a:gd name="T8" fmla="*/ 932966 w 291288"/>
              <a:gd name="T9" fmla="*/ 2427114 h 291739"/>
              <a:gd name="T10" fmla="*/ 889032 w 291288"/>
              <a:gd name="T11" fmla="*/ 2696803 h 291739"/>
              <a:gd name="T12" fmla="*/ 1615749 w 291288"/>
              <a:gd name="T13" fmla="*/ 2696803 h 291739"/>
              <a:gd name="T14" fmla="*/ 1663649 w 291288"/>
              <a:gd name="T15" fmla="*/ 2748367 h 291739"/>
              <a:gd name="T16" fmla="*/ 1663649 w 291288"/>
              <a:gd name="T17" fmla="*/ 3109255 h 291739"/>
              <a:gd name="T18" fmla="*/ 2973334 w 291288"/>
              <a:gd name="T19" fmla="*/ 3109255 h 291739"/>
              <a:gd name="T20" fmla="*/ 1603782 w 291288"/>
              <a:gd name="T21" fmla="*/ 2427114 h 291739"/>
              <a:gd name="T22" fmla="*/ 322044 w 291288"/>
              <a:gd name="T23" fmla="*/ 2427114 h 291739"/>
              <a:gd name="T24" fmla="*/ 114416 w 291288"/>
              <a:gd name="T25" fmla="*/ 3109255 h 291739"/>
              <a:gd name="T26" fmla="*/ 725308 w 291288"/>
              <a:gd name="T27" fmla="*/ 3109255 h 291739"/>
              <a:gd name="T28" fmla="*/ 837119 w 291288"/>
              <a:gd name="T29" fmla="*/ 2427114 h 291739"/>
              <a:gd name="T30" fmla="*/ 2861559 w 291288"/>
              <a:gd name="T31" fmla="*/ 2268491 h 291739"/>
              <a:gd name="T32" fmla="*/ 2178738 w 291288"/>
              <a:gd name="T33" fmla="*/ 2609551 h 291739"/>
              <a:gd name="T34" fmla="*/ 3101105 w 291288"/>
              <a:gd name="T35" fmla="*/ 3065636 h 291739"/>
              <a:gd name="T36" fmla="*/ 2090912 w 291288"/>
              <a:gd name="T37" fmla="*/ 1911559 h 291739"/>
              <a:gd name="T38" fmla="*/ 1695617 w 291288"/>
              <a:gd name="T39" fmla="*/ 2367632 h 291739"/>
              <a:gd name="T40" fmla="*/ 2070956 w 291288"/>
              <a:gd name="T41" fmla="*/ 2550070 h 291739"/>
              <a:gd name="T42" fmla="*/ 2833573 w 291288"/>
              <a:gd name="T43" fmla="*/ 2173303 h 291739"/>
              <a:gd name="T44" fmla="*/ 2753701 w 291288"/>
              <a:gd name="T45" fmla="*/ 1911559 h 291739"/>
              <a:gd name="T46" fmla="*/ 1020803 w 291288"/>
              <a:gd name="T47" fmla="*/ 1911559 h 291739"/>
              <a:gd name="T48" fmla="*/ 952932 w 291288"/>
              <a:gd name="T49" fmla="*/ 2331935 h 291739"/>
              <a:gd name="T50" fmla="*/ 1495937 w 291288"/>
              <a:gd name="T51" fmla="*/ 2331935 h 291739"/>
              <a:gd name="T52" fmla="*/ 1140594 w 291288"/>
              <a:gd name="T53" fmla="*/ 1911559 h 291739"/>
              <a:gd name="T54" fmla="*/ 477753 w 291288"/>
              <a:gd name="T55" fmla="*/ 1911559 h 291739"/>
              <a:gd name="T56" fmla="*/ 349984 w 291288"/>
              <a:gd name="T57" fmla="*/ 2331935 h 291739"/>
              <a:gd name="T58" fmla="*/ 853117 w 291288"/>
              <a:gd name="T59" fmla="*/ 2331935 h 291739"/>
              <a:gd name="T60" fmla="*/ 920988 w 291288"/>
              <a:gd name="T61" fmla="*/ 1911559 h 291739"/>
              <a:gd name="T62" fmla="*/ 1615749 w 291288"/>
              <a:gd name="T63" fmla="*/ 566600 h 291739"/>
              <a:gd name="T64" fmla="*/ 1277311 w 291288"/>
              <a:gd name="T65" fmla="*/ 907845 h 291739"/>
              <a:gd name="T66" fmla="*/ 1615749 w 291288"/>
              <a:gd name="T67" fmla="*/ 1245099 h 291739"/>
              <a:gd name="T68" fmla="*/ 1954201 w 291288"/>
              <a:gd name="T69" fmla="*/ 907845 h 291739"/>
              <a:gd name="T70" fmla="*/ 1615749 w 291288"/>
              <a:gd name="T71" fmla="*/ 566600 h 291739"/>
              <a:gd name="T72" fmla="*/ 1615749 w 291288"/>
              <a:gd name="T73" fmla="*/ 471356 h 291739"/>
              <a:gd name="T74" fmla="*/ 2053733 w 291288"/>
              <a:gd name="T75" fmla="*/ 907845 h 291739"/>
              <a:gd name="T76" fmla="*/ 1615749 w 291288"/>
              <a:gd name="T77" fmla="*/ 1340336 h 291739"/>
              <a:gd name="T78" fmla="*/ 1177757 w 291288"/>
              <a:gd name="T79" fmla="*/ 907845 h 291739"/>
              <a:gd name="T80" fmla="*/ 1615749 w 291288"/>
              <a:gd name="T81" fmla="*/ 471356 h 291739"/>
              <a:gd name="T82" fmla="*/ 1615749 w 291288"/>
              <a:gd name="T83" fmla="*/ 95201 h 291739"/>
              <a:gd name="T84" fmla="*/ 809176 w 291288"/>
              <a:gd name="T85" fmla="*/ 896289 h 291739"/>
              <a:gd name="T86" fmla="*/ 1615749 w 291288"/>
              <a:gd name="T87" fmla="*/ 2312106 h 291739"/>
              <a:gd name="T88" fmla="*/ 2418321 w 291288"/>
              <a:gd name="T89" fmla="*/ 896289 h 291739"/>
              <a:gd name="T90" fmla="*/ 1615749 w 291288"/>
              <a:gd name="T91" fmla="*/ 95201 h 291739"/>
              <a:gd name="T92" fmla="*/ 1615749 w 291288"/>
              <a:gd name="T93" fmla="*/ 0 h 291739"/>
              <a:gd name="T94" fmla="*/ 2514142 w 291288"/>
              <a:gd name="T95" fmla="*/ 896289 h 291739"/>
              <a:gd name="T96" fmla="*/ 2154774 w 291288"/>
              <a:gd name="T97" fmla="*/ 1812402 h 291739"/>
              <a:gd name="T98" fmla="*/ 2789634 w 291288"/>
              <a:gd name="T99" fmla="*/ 1812402 h 291739"/>
              <a:gd name="T100" fmla="*/ 2833573 w 291288"/>
              <a:gd name="T101" fmla="*/ 1848099 h 291739"/>
              <a:gd name="T102" fmla="*/ 3224882 w 291288"/>
              <a:gd name="T103" fmla="*/ 3140984 h 291739"/>
              <a:gd name="T104" fmla="*/ 3220897 w 291288"/>
              <a:gd name="T105" fmla="*/ 3188573 h 291739"/>
              <a:gd name="T106" fmla="*/ 3180961 w 291288"/>
              <a:gd name="T107" fmla="*/ 3208396 h 291739"/>
              <a:gd name="T108" fmla="*/ 46558 w 291288"/>
              <a:gd name="T109" fmla="*/ 3208396 h 291739"/>
              <a:gd name="T110" fmla="*/ 6633 w 291288"/>
              <a:gd name="T111" fmla="*/ 3188573 h 291739"/>
              <a:gd name="T112" fmla="*/ 2641 w 291288"/>
              <a:gd name="T113" fmla="*/ 3140984 h 291739"/>
              <a:gd name="T114" fmla="*/ 393917 w 291288"/>
              <a:gd name="T115" fmla="*/ 1848099 h 291739"/>
              <a:gd name="T116" fmla="*/ 441828 w 291288"/>
              <a:gd name="T117" fmla="*/ 1812402 h 291739"/>
              <a:gd name="T118" fmla="*/ 1068706 w 291288"/>
              <a:gd name="T119" fmla="*/ 1812402 h 291739"/>
              <a:gd name="T120" fmla="*/ 713343 w 291288"/>
              <a:gd name="T121" fmla="*/ 896289 h 291739"/>
              <a:gd name="T122" fmla="*/ 1615749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rgbClr val="CC9B00"/>
          </a:solidFill>
          <a:ln>
            <a:noFill/>
          </a:ln>
          <a:effectLst/>
        </p:spPr>
        <p:txBody>
          <a:bodyPr anchor="ctr"/>
          <a:lstStyle/>
          <a:p>
            <a:endParaRPr lang="en-US" sz="900" noProof="0" dirty="0">
              <a:latin typeface="+mj-lt"/>
            </a:endParaRPr>
          </a:p>
        </p:txBody>
      </p:sp>
      <p:sp>
        <p:nvSpPr>
          <p:cNvPr id="8" name="Chevron 6">
            <a:extLst>
              <a:ext uri="{FF2B5EF4-FFF2-40B4-BE49-F238E27FC236}">
                <a16:creationId xmlns:a16="http://schemas.microsoft.com/office/drawing/2014/main" id="{2A8E648B-052F-2265-5C16-5D438600C7B6}"/>
              </a:ext>
            </a:extLst>
          </p:cNvPr>
          <p:cNvSpPr/>
          <p:nvPr/>
        </p:nvSpPr>
        <p:spPr>
          <a:xfrm>
            <a:off x="7281051" y="1644995"/>
            <a:ext cx="2039674" cy="26665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cs typeface="Poppins" pitchFamily="2" charset="77"/>
              </a:rPr>
              <a:t>Super </a:t>
            </a:r>
            <a:r>
              <a:rPr lang="en-US" sz="1400" b="1" noProof="0" dirty="0" err="1">
                <a:solidFill>
                  <a:schemeClr val="bg1"/>
                </a:solidFill>
                <a:latin typeface="+mj-lt"/>
                <a:cs typeface="Poppins" pitchFamily="2" charset="77"/>
              </a:rPr>
              <a:t>Diagnosers</a:t>
            </a:r>
            <a:endParaRPr lang="en-US" sz="1400" b="1" noProof="0" dirty="0">
              <a:solidFill>
                <a:schemeClr val="bg1"/>
              </a:solidFill>
              <a:latin typeface="+mj-lt"/>
              <a:cs typeface="Poppins" pitchFamily="2" charset="77"/>
            </a:endParaRPr>
          </a:p>
        </p:txBody>
      </p:sp>
      <p:sp>
        <p:nvSpPr>
          <p:cNvPr id="20" name="Freeform: Shape 19">
            <a:extLst>
              <a:ext uri="{FF2B5EF4-FFF2-40B4-BE49-F238E27FC236}">
                <a16:creationId xmlns:a16="http://schemas.microsoft.com/office/drawing/2014/main" id="{79005667-054A-DE1A-EC26-E06CD19ECD95}"/>
              </a:ext>
            </a:extLst>
          </p:cNvPr>
          <p:cNvSpPr>
            <a:spLocks noChangeAspect="1"/>
          </p:cNvSpPr>
          <p:nvPr/>
        </p:nvSpPr>
        <p:spPr>
          <a:xfrm>
            <a:off x="8050049" y="1007310"/>
            <a:ext cx="501678" cy="457200"/>
          </a:xfrm>
          <a:custGeom>
            <a:avLst/>
            <a:gdLst>
              <a:gd name="connsiteX0" fmla="*/ 168967 w 856359"/>
              <a:gd name="connsiteY0" fmla="*/ 125369 h 803463"/>
              <a:gd name="connsiteX1" fmla="*/ 138059 w 856359"/>
              <a:gd name="connsiteY1" fmla="*/ 120931 h 803463"/>
              <a:gd name="connsiteX2" fmla="*/ 104654 w 856359"/>
              <a:gd name="connsiteY2" fmla="*/ 141743 h 803463"/>
              <a:gd name="connsiteX3" fmla="*/ 104645 w 856359"/>
              <a:gd name="connsiteY3" fmla="*/ 141762 h 803463"/>
              <a:gd name="connsiteX4" fmla="*/ 95720 w 856359"/>
              <a:gd name="connsiteY4" fmla="*/ 180205 h 803463"/>
              <a:gd name="connsiteX5" fmla="*/ 109903 w 856359"/>
              <a:gd name="connsiteY5" fmla="*/ 207970 h 803463"/>
              <a:gd name="connsiteX6" fmla="*/ 168967 w 856359"/>
              <a:gd name="connsiteY6" fmla="*/ 125369 h 803463"/>
              <a:gd name="connsiteX7" fmla="*/ 168967 w 856359"/>
              <a:gd name="connsiteY7" fmla="*/ 125369 h 803463"/>
              <a:gd name="connsiteX8" fmla="*/ 594049 w 856359"/>
              <a:gd name="connsiteY8" fmla="*/ 131246 h 803463"/>
              <a:gd name="connsiteX9" fmla="*/ 655218 w 856359"/>
              <a:gd name="connsiteY9" fmla="*/ 131246 h 803463"/>
              <a:gd name="connsiteX10" fmla="*/ 663962 w 856359"/>
              <a:gd name="connsiteY10" fmla="*/ 139990 h 803463"/>
              <a:gd name="connsiteX11" fmla="*/ 663962 w 856359"/>
              <a:gd name="connsiteY11" fmla="*/ 192425 h 803463"/>
              <a:gd name="connsiteX12" fmla="*/ 716340 w 856359"/>
              <a:gd name="connsiteY12" fmla="*/ 192425 h 803463"/>
              <a:gd name="connsiteX13" fmla="*/ 725084 w 856359"/>
              <a:gd name="connsiteY13" fmla="*/ 201160 h 803463"/>
              <a:gd name="connsiteX14" fmla="*/ 725084 w 856359"/>
              <a:gd name="connsiteY14" fmla="*/ 262282 h 803463"/>
              <a:gd name="connsiteX15" fmla="*/ 716340 w 856359"/>
              <a:gd name="connsiteY15" fmla="*/ 271026 h 803463"/>
              <a:gd name="connsiteX16" fmla="*/ 663962 w 856359"/>
              <a:gd name="connsiteY16" fmla="*/ 271026 h 803463"/>
              <a:gd name="connsiteX17" fmla="*/ 663962 w 856359"/>
              <a:gd name="connsiteY17" fmla="*/ 323461 h 803463"/>
              <a:gd name="connsiteX18" fmla="*/ 655218 w 856359"/>
              <a:gd name="connsiteY18" fmla="*/ 332205 h 803463"/>
              <a:gd name="connsiteX19" fmla="*/ 594049 w 856359"/>
              <a:gd name="connsiteY19" fmla="*/ 332205 h 803463"/>
              <a:gd name="connsiteX20" fmla="*/ 585315 w 856359"/>
              <a:gd name="connsiteY20" fmla="*/ 323461 h 803463"/>
              <a:gd name="connsiteX21" fmla="*/ 585315 w 856359"/>
              <a:gd name="connsiteY21" fmla="*/ 271026 h 803463"/>
              <a:gd name="connsiteX22" fmla="*/ 532927 w 856359"/>
              <a:gd name="connsiteY22" fmla="*/ 271026 h 803463"/>
              <a:gd name="connsiteX23" fmla="*/ 524183 w 856359"/>
              <a:gd name="connsiteY23" fmla="*/ 262282 h 803463"/>
              <a:gd name="connsiteX24" fmla="*/ 524183 w 856359"/>
              <a:gd name="connsiteY24" fmla="*/ 201160 h 803463"/>
              <a:gd name="connsiteX25" fmla="*/ 532927 w 856359"/>
              <a:gd name="connsiteY25" fmla="*/ 192425 h 803463"/>
              <a:gd name="connsiteX26" fmla="*/ 585315 w 856359"/>
              <a:gd name="connsiteY26" fmla="*/ 192425 h 803463"/>
              <a:gd name="connsiteX27" fmla="*/ 585315 w 856359"/>
              <a:gd name="connsiteY27" fmla="*/ 139981 h 803463"/>
              <a:gd name="connsiteX28" fmla="*/ 594049 w 856359"/>
              <a:gd name="connsiteY28" fmla="*/ 131246 h 803463"/>
              <a:gd name="connsiteX29" fmla="*/ 594049 w 856359"/>
              <a:gd name="connsiteY29" fmla="*/ 131246 h 803463"/>
              <a:gd name="connsiteX30" fmla="*/ 646484 w 856359"/>
              <a:gd name="connsiteY30" fmla="*/ 148725 h 803463"/>
              <a:gd name="connsiteX31" fmla="*/ 602783 w 856359"/>
              <a:gd name="connsiteY31" fmla="*/ 148725 h 803463"/>
              <a:gd name="connsiteX32" fmla="*/ 602783 w 856359"/>
              <a:gd name="connsiteY32" fmla="*/ 201160 h 803463"/>
              <a:gd name="connsiteX33" fmla="*/ 594049 w 856359"/>
              <a:gd name="connsiteY33" fmla="*/ 209894 h 803463"/>
              <a:gd name="connsiteX34" fmla="*/ 541661 w 856359"/>
              <a:gd name="connsiteY34" fmla="*/ 209894 h 803463"/>
              <a:gd name="connsiteX35" fmla="*/ 541661 w 856359"/>
              <a:gd name="connsiteY35" fmla="*/ 253538 h 803463"/>
              <a:gd name="connsiteX36" fmla="*/ 594049 w 856359"/>
              <a:gd name="connsiteY36" fmla="*/ 253538 h 803463"/>
              <a:gd name="connsiteX37" fmla="*/ 602783 w 856359"/>
              <a:gd name="connsiteY37" fmla="*/ 262272 h 803463"/>
              <a:gd name="connsiteX38" fmla="*/ 602783 w 856359"/>
              <a:gd name="connsiteY38" fmla="*/ 314707 h 803463"/>
              <a:gd name="connsiteX39" fmla="*/ 646484 w 856359"/>
              <a:gd name="connsiteY39" fmla="*/ 314707 h 803463"/>
              <a:gd name="connsiteX40" fmla="*/ 646484 w 856359"/>
              <a:gd name="connsiteY40" fmla="*/ 262282 h 803463"/>
              <a:gd name="connsiteX41" fmla="*/ 655218 w 856359"/>
              <a:gd name="connsiteY41" fmla="*/ 253547 h 803463"/>
              <a:gd name="connsiteX42" fmla="*/ 707606 w 856359"/>
              <a:gd name="connsiteY42" fmla="*/ 253547 h 803463"/>
              <a:gd name="connsiteX43" fmla="*/ 707606 w 856359"/>
              <a:gd name="connsiteY43" fmla="*/ 209894 h 803463"/>
              <a:gd name="connsiteX44" fmla="*/ 655218 w 856359"/>
              <a:gd name="connsiteY44" fmla="*/ 209894 h 803463"/>
              <a:gd name="connsiteX45" fmla="*/ 646484 w 856359"/>
              <a:gd name="connsiteY45" fmla="*/ 201160 h 803463"/>
              <a:gd name="connsiteX46" fmla="*/ 646484 w 856359"/>
              <a:gd name="connsiteY46" fmla="*/ 148725 h 803463"/>
              <a:gd name="connsiteX47" fmla="*/ 646484 w 856359"/>
              <a:gd name="connsiteY47" fmla="*/ 148725 h 803463"/>
              <a:gd name="connsiteX48" fmla="*/ 240900 w 856359"/>
              <a:gd name="connsiteY48" fmla="*/ 503931 h 803463"/>
              <a:gd name="connsiteX49" fmla="*/ 270237 w 856359"/>
              <a:gd name="connsiteY49" fmla="*/ 516085 h 803463"/>
              <a:gd name="connsiteX50" fmla="*/ 282391 w 856359"/>
              <a:gd name="connsiteY50" fmla="*/ 545422 h 803463"/>
              <a:gd name="connsiteX51" fmla="*/ 270237 w 856359"/>
              <a:gd name="connsiteY51" fmla="*/ 574759 h 803463"/>
              <a:gd name="connsiteX52" fmla="*/ 240900 w 856359"/>
              <a:gd name="connsiteY52" fmla="*/ 586913 h 803463"/>
              <a:gd name="connsiteX53" fmla="*/ 211563 w 856359"/>
              <a:gd name="connsiteY53" fmla="*/ 574759 h 803463"/>
              <a:gd name="connsiteX54" fmla="*/ 199409 w 856359"/>
              <a:gd name="connsiteY54" fmla="*/ 545422 h 803463"/>
              <a:gd name="connsiteX55" fmla="*/ 211563 w 856359"/>
              <a:gd name="connsiteY55" fmla="*/ 516085 h 803463"/>
              <a:gd name="connsiteX56" fmla="*/ 240900 w 856359"/>
              <a:gd name="connsiteY56" fmla="*/ 503931 h 803463"/>
              <a:gd name="connsiteX57" fmla="*/ 240900 w 856359"/>
              <a:gd name="connsiteY57" fmla="*/ 503931 h 803463"/>
              <a:gd name="connsiteX58" fmla="*/ 257883 w 856359"/>
              <a:gd name="connsiteY58" fmla="*/ 528448 h 803463"/>
              <a:gd name="connsiteX59" fmla="*/ 240900 w 856359"/>
              <a:gd name="connsiteY59" fmla="*/ 521419 h 803463"/>
              <a:gd name="connsiteX60" fmla="*/ 223917 w 856359"/>
              <a:gd name="connsiteY60" fmla="*/ 528448 h 803463"/>
              <a:gd name="connsiteX61" fmla="*/ 216887 w 856359"/>
              <a:gd name="connsiteY61" fmla="*/ 545431 h 803463"/>
              <a:gd name="connsiteX62" fmla="*/ 223917 w 856359"/>
              <a:gd name="connsiteY62" fmla="*/ 562414 h 803463"/>
              <a:gd name="connsiteX63" fmla="*/ 240900 w 856359"/>
              <a:gd name="connsiteY63" fmla="*/ 569444 h 803463"/>
              <a:gd name="connsiteX64" fmla="*/ 257883 w 856359"/>
              <a:gd name="connsiteY64" fmla="*/ 562414 h 803463"/>
              <a:gd name="connsiteX65" fmla="*/ 264913 w 856359"/>
              <a:gd name="connsiteY65" fmla="*/ 545431 h 803463"/>
              <a:gd name="connsiteX66" fmla="*/ 257883 w 856359"/>
              <a:gd name="connsiteY66" fmla="*/ 528448 h 803463"/>
              <a:gd name="connsiteX67" fmla="*/ 257883 w 856359"/>
              <a:gd name="connsiteY67" fmla="*/ 528448 h 803463"/>
              <a:gd name="connsiteX68" fmla="*/ 332026 w 856359"/>
              <a:gd name="connsiteY68" fmla="*/ 568768 h 803463"/>
              <a:gd name="connsiteX69" fmla="*/ 289144 w 856359"/>
              <a:gd name="connsiteY69" fmla="*/ 586532 h 803463"/>
              <a:gd name="connsiteX70" fmla="*/ 271380 w 856359"/>
              <a:gd name="connsiteY70" fmla="*/ 629413 h 803463"/>
              <a:gd name="connsiteX71" fmla="*/ 289144 w 856359"/>
              <a:gd name="connsiteY71" fmla="*/ 672295 h 803463"/>
              <a:gd name="connsiteX72" fmla="*/ 332026 w 856359"/>
              <a:gd name="connsiteY72" fmla="*/ 690059 h 803463"/>
              <a:gd name="connsiteX73" fmla="*/ 374907 w 856359"/>
              <a:gd name="connsiteY73" fmla="*/ 672295 h 803463"/>
              <a:gd name="connsiteX74" fmla="*/ 392671 w 856359"/>
              <a:gd name="connsiteY74" fmla="*/ 629413 h 803463"/>
              <a:gd name="connsiteX75" fmla="*/ 374907 w 856359"/>
              <a:gd name="connsiteY75" fmla="*/ 586532 h 803463"/>
              <a:gd name="connsiteX76" fmla="*/ 332026 w 856359"/>
              <a:gd name="connsiteY76" fmla="*/ 568768 h 803463"/>
              <a:gd name="connsiteX77" fmla="*/ 332026 w 856359"/>
              <a:gd name="connsiteY77" fmla="*/ 568768 h 803463"/>
              <a:gd name="connsiteX78" fmla="*/ 362544 w 856359"/>
              <a:gd name="connsiteY78" fmla="*/ 598886 h 803463"/>
              <a:gd name="connsiteX79" fmla="*/ 375183 w 856359"/>
              <a:gd name="connsiteY79" fmla="*/ 629404 h 803463"/>
              <a:gd name="connsiteX80" fmla="*/ 362544 w 856359"/>
              <a:gd name="connsiteY80" fmla="*/ 659922 h 803463"/>
              <a:gd name="connsiteX81" fmla="*/ 332026 w 856359"/>
              <a:gd name="connsiteY81" fmla="*/ 672562 h 803463"/>
              <a:gd name="connsiteX82" fmla="*/ 301508 w 856359"/>
              <a:gd name="connsiteY82" fmla="*/ 659922 h 803463"/>
              <a:gd name="connsiteX83" fmla="*/ 288868 w 856359"/>
              <a:gd name="connsiteY83" fmla="*/ 629404 h 803463"/>
              <a:gd name="connsiteX84" fmla="*/ 301508 w 856359"/>
              <a:gd name="connsiteY84" fmla="*/ 598886 h 803463"/>
              <a:gd name="connsiteX85" fmla="*/ 332026 w 856359"/>
              <a:gd name="connsiteY85" fmla="*/ 586246 h 803463"/>
              <a:gd name="connsiteX86" fmla="*/ 362544 w 856359"/>
              <a:gd name="connsiteY86" fmla="*/ 598886 h 803463"/>
              <a:gd name="connsiteX87" fmla="*/ 362544 w 856359"/>
              <a:gd name="connsiteY87" fmla="*/ 598886 h 803463"/>
              <a:gd name="connsiteX88" fmla="*/ 175492 w 856359"/>
              <a:gd name="connsiteY88" fmla="*/ 595466 h 803463"/>
              <a:gd name="connsiteX89" fmla="*/ 230927 w 856359"/>
              <a:gd name="connsiteY89" fmla="*/ 618431 h 803463"/>
              <a:gd name="connsiteX90" fmla="*/ 253892 w 856359"/>
              <a:gd name="connsiteY90" fmla="*/ 673866 h 803463"/>
              <a:gd name="connsiteX91" fmla="*/ 230927 w 856359"/>
              <a:gd name="connsiteY91" fmla="*/ 729302 h 803463"/>
              <a:gd name="connsiteX92" fmla="*/ 175492 w 856359"/>
              <a:gd name="connsiteY92" fmla="*/ 752267 h 803463"/>
              <a:gd name="connsiteX93" fmla="*/ 120056 w 856359"/>
              <a:gd name="connsiteY93" fmla="*/ 729302 h 803463"/>
              <a:gd name="connsiteX94" fmla="*/ 97092 w 856359"/>
              <a:gd name="connsiteY94" fmla="*/ 673866 h 803463"/>
              <a:gd name="connsiteX95" fmla="*/ 120056 w 856359"/>
              <a:gd name="connsiteY95" fmla="*/ 618431 h 803463"/>
              <a:gd name="connsiteX96" fmla="*/ 175492 w 856359"/>
              <a:gd name="connsiteY96" fmla="*/ 595466 h 803463"/>
              <a:gd name="connsiteX97" fmla="*/ 175492 w 856359"/>
              <a:gd name="connsiteY97" fmla="*/ 595466 h 803463"/>
              <a:gd name="connsiteX98" fmla="*/ 218564 w 856359"/>
              <a:gd name="connsiteY98" fmla="*/ 630785 h 803463"/>
              <a:gd name="connsiteX99" fmla="*/ 175482 w 856359"/>
              <a:gd name="connsiteY99" fmla="*/ 612945 h 803463"/>
              <a:gd name="connsiteX100" fmla="*/ 132410 w 856359"/>
              <a:gd name="connsiteY100" fmla="*/ 630785 h 803463"/>
              <a:gd name="connsiteX101" fmla="*/ 114570 w 856359"/>
              <a:gd name="connsiteY101" fmla="*/ 673857 h 803463"/>
              <a:gd name="connsiteX102" fmla="*/ 132410 w 856359"/>
              <a:gd name="connsiteY102" fmla="*/ 716939 h 803463"/>
              <a:gd name="connsiteX103" fmla="*/ 175482 w 856359"/>
              <a:gd name="connsiteY103" fmla="*/ 734779 h 803463"/>
              <a:gd name="connsiteX104" fmla="*/ 218564 w 856359"/>
              <a:gd name="connsiteY104" fmla="*/ 716939 h 803463"/>
              <a:gd name="connsiteX105" fmla="*/ 236404 w 856359"/>
              <a:gd name="connsiteY105" fmla="*/ 673857 h 803463"/>
              <a:gd name="connsiteX106" fmla="*/ 218564 w 856359"/>
              <a:gd name="connsiteY106" fmla="*/ 630785 h 803463"/>
              <a:gd name="connsiteX107" fmla="*/ 218564 w 856359"/>
              <a:gd name="connsiteY107" fmla="*/ 630785 h 803463"/>
              <a:gd name="connsiteX108" fmla="*/ 332102 w 856359"/>
              <a:gd name="connsiteY108" fmla="*/ 342168 h 803463"/>
              <a:gd name="connsiteX109" fmla="*/ 352971 w 856359"/>
              <a:gd name="connsiteY109" fmla="*/ 333338 h 803463"/>
              <a:gd name="connsiteX110" fmla="*/ 361801 w 856359"/>
              <a:gd name="connsiteY110" fmla="*/ 312088 h 803463"/>
              <a:gd name="connsiteX111" fmla="*/ 352971 w 856359"/>
              <a:gd name="connsiteY111" fmla="*/ 290838 h 803463"/>
              <a:gd name="connsiteX112" fmla="*/ 331721 w 856359"/>
              <a:gd name="connsiteY112" fmla="*/ 282008 h 803463"/>
              <a:gd name="connsiteX113" fmla="*/ 163243 w 856359"/>
              <a:gd name="connsiteY113" fmla="*/ 282008 h 803463"/>
              <a:gd name="connsiteX114" fmla="*/ 141992 w 856359"/>
              <a:gd name="connsiteY114" fmla="*/ 290838 h 803463"/>
              <a:gd name="connsiteX115" fmla="*/ 133163 w 856359"/>
              <a:gd name="connsiteY115" fmla="*/ 312088 h 803463"/>
              <a:gd name="connsiteX116" fmla="*/ 141992 w 856359"/>
              <a:gd name="connsiteY116" fmla="*/ 333338 h 803463"/>
              <a:gd name="connsiteX117" fmla="*/ 162862 w 856359"/>
              <a:gd name="connsiteY117" fmla="*/ 342168 h 803463"/>
              <a:gd name="connsiteX118" fmla="*/ 162862 w 856359"/>
              <a:gd name="connsiteY118" fmla="*/ 381277 h 803463"/>
              <a:gd name="connsiteX119" fmla="*/ 162185 w 856359"/>
              <a:gd name="connsiteY119" fmla="*/ 389393 h 803463"/>
              <a:gd name="connsiteX120" fmla="*/ 160090 w 856359"/>
              <a:gd name="connsiteY120" fmla="*/ 395851 h 803463"/>
              <a:gd name="connsiteX121" fmla="*/ 159776 w 856359"/>
              <a:gd name="connsiteY121" fmla="*/ 396422 h 803463"/>
              <a:gd name="connsiteX122" fmla="*/ 6880 w 856359"/>
              <a:gd name="connsiteY122" fmla="*/ 702394 h 803463"/>
              <a:gd name="connsiteX123" fmla="*/ 6909 w 856359"/>
              <a:gd name="connsiteY123" fmla="*/ 702403 h 803463"/>
              <a:gd name="connsiteX124" fmla="*/ 222 w 856359"/>
              <a:gd name="connsiteY124" fmla="*/ 736703 h 803463"/>
              <a:gd name="connsiteX125" fmla="*/ 12310 w 856359"/>
              <a:gd name="connsiteY125" fmla="*/ 770869 h 803463"/>
              <a:gd name="connsiteX126" fmla="*/ 38151 w 856359"/>
              <a:gd name="connsiteY126" fmla="*/ 794996 h 803463"/>
              <a:gd name="connsiteX127" fmla="*/ 72412 w 856359"/>
              <a:gd name="connsiteY127" fmla="*/ 803464 h 803463"/>
              <a:gd name="connsiteX128" fmla="*/ 440735 w 856359"/>
              <a:gd name="connsiteY128" fmla="*/ 803464 h 803463"/>
              <a:gd name="connsiteX129" fmla="*/ 475729 w 856359"/>
              <a:gd name="connsiteY129" fmla="*/ 794586 h 803463"/>
              <a:gd name="connsiteX130" fmla="*/ 501714 w 856359"/>
              <a:gd name="connsiteY130" fmla="*/ 769536 h 803463"/>
              <a:gd name="connsiteX131" fmla="*/ 512658 w 856359"/>
              <a:gd name="connsiteY131" fmla="*/ 735122 h 803463"/>
              <a:gd name="connsiteX132" fmla="*/ 505066 w 856359"/>
              <a:gd name="connsiteY132" fmla="*/ 699851 h 803463"/>
              <a:gd name="connsiteX133" fmla="*/ 505066 w 856359"/>
              <a:gd name="connsiteY133" fmla="*/ 699851 h 803463"/>
              <a:gd name="connsiteX134" fmla="*/ 504866 w 856359"/>
              <a:gd name="connsiteY134" fmla="*/ 699470 h 803463"/>
              <a:gd name="connsiteX135" fmla="*/ 335864 w 856359"/>
              <a:gd name="connsiteY135" fmla="*/ 396879 h 803463"/>
              <a:gd name="connsiteX136" fmla="*/ 332950 w 856359"/>
              <a:gd name="connsiteY136" fmla="*/ 389164 h 803463"/>
              <a:gd name="connsiteX137" fmla="*/ 332102 w 856359"/>
              <a:gd name="connsiteY137" fmla="*/ 380182 h 803463"/>
              <a:gd name="connsiteX138" fmla="*/ 332102 w 856359"/>
              <a:gd name="connsiteY138" fmla="*/ 342168 h 803463"/>
              <a:gd name="connsiteX139" fmla="*/ 332102 w 856359"/>
              <a:gd name="connsiteY139" fmla="*/ 342168 h 803463"/>
              <a:gd name="connsiteX140" fmla="*/ 180331 w 856359"/>
              <a:gd name="connsiteY140" fmla="*/ 342168 h 803463"/>
              <a:gd name="connsiteX141" fmla="*/ 180331 w 856359"/>
              <a:gd name="connsiteY141" fmla="*/ 381277 h 803463"/>
              <a:gd name="connsiteX142" fmla="*/ 179311 w 856359"/>
              <a:gd name="connsiteY142" fmla="*/ 392746 h 803463"/>
              <a:gd name="connsiteX143" fmla="*/ 175730 w 856359"/>
              <a:gd name="connsiteY143" fmla="*/ 403490 h 803463"/>
              <a:gd name="connsiteX144" fmla="*/ 175416 w 856359"/>
              <a:gd name="connsiteY144" fmla="*/ 404214 h 803463"/>
              <a:gd name="connsiteX145" fmla="*/ 22520 w 856359"/>
              <a:gd name="connsiteY145" fmla="*/ 710176 h 803463"/>
              <a:gd name="connsiteX146" fmla="*/ 22492 w 856359"/>
              <a:gd name="connsiteY146" fmla="*/ 710166 h 803463"/>
              <a:gd name="connsiteX147" fmla="*/ 22482 w 856359"/>
              <a:gd name="connsiteY147" fmla="*/ 710176 h 803463"/>
              <a:gd name="connsiteX148" fmla="*/ 17624 w 856359"/>
              <a:gd name="connsiteY148" fmla="*/ 735341 h 803463"/>
              <a:gd name="connsiteX149" fmla="*/ 26911 w 856359"/>
              <a:gd name="connsiteY149" fmla="*/ 761392 h 803463"/>
              <a:gd name="connsiteX150" fmla="*/ 46409 w 856359"/>
              <a:gd name="connsiteY150" fmla="*/ 779642 h 803463"/>
              <a:gd name="connsiteX151" fmla="*/ 72412 w 856359"/>
              <a:gd name="connsiteY151" fmla="*/ 785985 h 803463"/>
              <a:gd name="connsiteX152" fmla="*/ 440735 w 856359"/>
              <a:gd name="connsiteY152" fmla="*/ 785985 h 803463"/>
              <a:gd name="connsiteX153" fmla="*/ 467262 w 856359"/>
              <a:gd name="connsiteY153" fmla="*/ 779365 h 803463"/>
              <a:gd name="connsiteX154" fmla="*/ 486893 w 856359"/>
              <a:gd name="connsiteY154" fmla="*/ 760325 h 803463"/>
              <a:gd name="connsiteX155" fmla="*/ 495246 w 856359"/>
              <a:gd name="connsiteY155" fmla="*/ 734303 h 803463"/>
              <a:gd name="connsiteX156" fmla="*/ 489464 w 856359"/>
              <a:gd name="connsiteY156" fmla="*/ 707642 h 803463"/>
              <a:gd name="connsiteX157" fmla="*/ 320634 w 856359"/>
              <a:gd name="connsiteY157" fmla="*/ 405347 h 803463"/>
              <a:gd name="connsiteX158" fmla="*/ 315881 w 856359"/>
              <a:gd name="connsiteY158" fmla="*/ 392860 h 803463"/>
              <a:gd name="connsiteX159" fmla="*/ 314624 w 856359"/>
              <a:gd name="connsiteY159" fmla="*/ 380192 h 803463"/>
              <a:gd name="connsiteX160" fmla="*/ 314624 w 856359"/>
              <a:gd name="connsiteY160" fmla="*/ 342168 h 803463"/>
              <a:gd name="connsiteX161" fmla="*/ 180331 w 856359"/>
              <a:gd name="connsiteY161" fmla="*/ 342168 h 803463"/>
              <a:gd name="connsiteX162" fmla="*/ 180331 w 856359"/>
              <a:gd name="connsiteY162" fmla="*/ 342168 h 803463"/>
              <a:gd name="connsiteX163" fmla="*/ 331721 w 856359"/>
              <a:gd name="connsiteY163" fmla="*/ 299486 h 803463"/>
              <a:gd name="connsiteX164" fmla="*/ 340617 w 856359"/>
              <a:gd name="connsiteY164" fmla="*/ 303192 h 803463"/>
              <a:gd name="connsiteX165" fmla="*/ 344322 w 856359"/>
              <a:gd name="connsiteY165" fmla="*/ 312088 h 803463"/>
              <a:gd name="connsiteX166" fmla="*/ 340617 w 856359"/>
              <a:gd name="connsiteY166" fmla="*/ 320984 h 803463"/>
              <a:gd name="connsiteX167" fmla="*/ 331721 w 856359"/>
              <a:gd name="connsiteY167" fmla="*/ 324689 h 803463"/>
              <a:gd name="connsiteX168" fmla="*/ 323367 w 856359"/>
              <a:gd name="connsiteY168" fmla="*/ 324689 h 803463"/>
              <a:gd name="connsiteX169" fmla="*/ 171596 w 856359"/>
              <a:gd name="connsiteY169" fmla="*/ 324689 h 803463"/>
              <a:gd name="connsiteX170" fmla="*/ 163243 w 856359"/>
              <a:gd name="connsiteY170" fmla="*/ 324689 h 803463"/>
              <a:gd name="connsiteX171" fmla="*/ 154346 w 856359"/>
              <a:gd name="connsiteY171" fmla="*/ 320984 h 803463"/>
              <a:gd name="connsiteX172" fmla="*/ 150632 w 856359"/>
              <a:gd name="connsiteY172" fmla="*/ 312088 h 803463"/>
              <a:gd name="connsiteX173" fmla="*/ 154346 w 856359"/>
              <a:gd name="connsiteY173" fmla="*/ 303192 h 803463"/>
              <a:gd name="connsiteX174" fmla="*/ 163243 w 856359"/>
              <a:gd name="connsiteY174" fmla="*/ 299486 h 803463"/>
              <a:gd name="connsiteX175" fmla="*/ 331721 w 856359"/>
              <a:gd name="connsiteY175" fmla="*/ 299486 h 803463"/>
              <a:gd name="connsiteX176" fmla="*/ 331721 w 856359"/>
              <a:gd name="connsiteY176" fmla="*/ 299486 h 803463"/>
              <a:gd name="connsiteX177" fmla="*/ 682098 w 856359"/>
              <a:gd name="connsiteY177" fmla="*/ 456258 h 803463"/>
              <a:gd name="connsiteX178" fmla="*/ 790626 w 856359"/>
              <a:gd name="connsiteY178" fmla="*/ 393422 h 803463"/>
              <a:gd name="connsiteX179" fmla="*/ 856339 w 856359"/>
              <a:gd name="connsiteY179" fmla="*/ 228706 h 803463"/>
              <a:gd name="connsiteX180" fmla="*/ 786330 w 856359"/>
              <a:gd name="connsiteY180" fmla="*/ 65733 h 803463"/>
              <a:gd name="connsiteX181" fmla="*/ 621614 w 856359"/>
              <a:gd name="connsiteY181" fmla="*/ 20 h 803463"/>
              <a:gd name="connsiteX182" fmla="*/ 458632 w 856359"/>
              <a:gd name="connsiteY182" fmla="*/ 70029 h 803463"/>
              <a:gd name="connsiteX183" fmla="*/ 392919 w 856359"/>
              <a:gd name="connsiteY183" fmla="*/ 234745 h 803463"/>
              <a:gd name="connsiteX184" fmla="*/ 462918 w 856359"/>
              <a:gd name="connsiteY184" fmla="*/ 397718 h 803463"/>
              <a:gd name="connsiteX185" fmla="*/ 568874 w 856359"/>
              <a:gd name="connsiteY185" fmla="*/ 456706 h 803463"/>
              <a:gd name="connsiteX186" fmla="*/ 569151 w 856359"/>
              <a:gd name="connsiteY186" fmla="*/ 540012 h 803463"/>
              <a:gd name="connsiteX187" fmla="*/ 559959 w 856359"/>
              <a:gd name="connsiteY187" fmla="*/ 545698 h 803463"/>
              <a:gd name="connsiteX188" fmla="*/ 544862 w 856359"/>
              <a:gd name="connsiteY188" fmla="*/ 574749 h 803463"/>
              <a:gd name="connsiteX189" fmla="*/ 543586 w 856359"/>
              <a:gd name="connsiteY189" fmla="*/ 762792 h 803463"/>
              <a:gd name="connsiteX190" fmla="*/ 558206 w 856359"/>
              <a:gd name="connsiteY190" fmla="*/ 791834 h 803463"/>
              <a:gd name="connsiteX191" fmla="*/ 591363 w 856359"/>
              <a:gd name="connsiteY191" fmla="*/ 803178 h 803463"/>
              <a:gd name="connsiteX192" fmla="*/ 656295 w 856359"/>
              <a:gd name="connsiteY192" fmla="*/ 803454 h 803463"/>
              <a:gd name="connsiteX193" fmla="*/ 689756 w 856359"/>
              <a:gd name="connsiteY193" fmla="*/ 792453 h 803463"/>
              <a:gd name="connsiteX194" fmla="*/ 704844 w 856359"/>
              <a:gd name="connsiteY194" fmla="*/ 763411 h 803463"/>
              <a:gd name="connsiteX195" fmla="*/ 706111 w 856359"/>
              <a:gd name="connsiteY195" fmla="*/ 576235 h 803463"/>
              <a:gd name="connsiteX196" fmla="*/ 706149 w 856359"/>
              <a:gd name="connsiteY196" fmla="*/ 575407 h 803463"/>
              <a:gd name="connsiteX197" fmla="*/ 706149 w 856359"/>
              <a:gd name="connsiteY197" fmla="*/ 575368 h 803463"/>
              <a:gd name="connsiteX198" fmla="*/ 706120 w 856359"/>
              <a:gd name="connsiteY198" fmla="*/ 575368 h 803463"/>
              <a:gd name="connsiteX199" fmla="*/ 691490 w 856359"/>
              <a:gd name="connsiteY199" fmla="*/ 546327 h 803463"/>
              <a:gd name="connsiteX200" fmla="*/ 682384 w 856359"/>
              <a:gd name="connsiteY200" fmla="*/ 540536 h 803463"/>
              <a:gd name="connsiteX201" fmla="*/ 682098 w 856359"/>
              <a:gd name="connsiteY201" fmla="*/ 456258 h 803463"/>
              <a:gd name="connsiteX202" fmla="*/ 682098 w 856359"/>
              <a:gd name="connsiteY202" fmla="*/ 456258 h 803463"/>
              <a:gd name="connsiteX203" fmla="*/ 625786 w 856359"/>
              <a:gd name="connsiteY203" fmla="*/ 552232 h 803463"/>
              <a:gd name="connsiteX204" fmla="*/ 658152 w 856359"/>
              <a:gd name="connsiteY204" fmla="*/ 552366 h 803463"/>
              <a:gd name="connsiteX205" fmla="*/ 658219 w 856359"/>
              <a:gd name="connsiteY205" fmla="*/ 552366 h 803463"/>
              <a:gd name="connsiteX206" fmla="*/ 680498 w 856359"/>
              <a:gd name="connsiteY206" fmla="*/ 559814 h 803463"/>
              <a:gd name="connsiteX207" fmla="*/ 688708 w 856359"/>
              <a:gd name="connsiteY207" fmla="*/ 575302 h 803463"/>
              <a:gd name="connsiteX208" fmla="*/ 688708 w 856359"/>
              <a:gd name="connsiteY208" fmla="*/ 575330 h 803463"/>
              <a:gd name="connsiteX209" fmla="*/ 688670 w 856359"/>
              <a:gd name="connsiteY209" fmla="*/ 575330 h 803463"/>
              <a:gd name="connsiteX210" fmla="*/ 688670 w 856359"/>
              <a:gd name="connsiteY210" fmla="*/ 575368 h 803463"/>
              <a:gd name="connsiteX211" fmla="*/ 688699 w 856359"/>
              <a:gd name="connsiteY211" fmla="*/ 576083 h 803463"/>
              <a:gd name="connsiteX212" fmla="*/ 687432 w 856359"/>
              <a:gd name="connsiteY212" fmla="*/ 763306 h 803463"/>
              <a:gd name="connsiteX213" fmla="*/ 678964 w 856359"/>
              <a:gd name="connsiteY213" fmla="*/ 778699 h 803463"/>
              <a:gd name="connsiteX214" fmla="*/ 656362 w 856359"/>
              <a:gd name="connsiteY214" fmla="*/ 786014 h 803463"/>
              <a:gd name="connsiteX215" fmla="*/ 591439 w 856359"/>
              <a:gd name="connsiteY215" fmla="*/ 785738 h 803463"/>
              <a:gd name="connsiteX216" fmla="*/ 569198 w 856359"/>
              <a:gd name="connsiteY216" fmla="*/ 778289 h 803463"/>
              <a:gd name="connsiteX217" fmla="*/ 560997 w 856359"/>
              <a:gd name="connsiteY217" fmla="*/ 762830 h 803463"/>
              <a:gd name="connsiteX218" fmla="*/ 562274 w 856359"/>
              <a:gd name="connsiteY218" fmla="*/ 574797 h 803463"/>
              <a:gd name="connsiteX219" fmla="*/ 570751 w 856359"/>
              <a:gd name="connsiteY219" fmla="*/ 559405 h 803463"/>
              <a:gd name="connsiteX220" fmla="*/ 588248 w 856359"/>
              <a:gd name="connsiteY220" fmla="*/ 552394 h 803463"/>
              <a:gd name="connsiteX221" fmla="*/ 625786 w 856359"/>
              <a:gd name="connsiteY221" fmla="*/ 552232 h 803463"/>
              <a:gd name="connsiteX222" fmla="*/ 625786 w 856359"/>
              <a:gd name="connsiteY222" fmla="*/ 552232 h 803463"/>
              <a:gd name="connsiteX223" fmla="*/ 586305 w 856359"/>
              <a:gd name="connsiteY223" fmla="*/ 460297 h 803463"/>
              <a:gd name="connsiteX224" fmla="*/ 627644 w 856359"/>
              <a:gd name="connsiteY224" fmla="*/ 463431 h 803463"/>
              <a:gd name="connsiteX225" fmla="*/ 664696 w 856359"/>
              <a:gd name="connsiteY225" fmla="*/ 459992 h 803463"/>
              <a:gd name="connsiteX226" fmla="*/ 664944 w 856359"/>
              <a:gd name="connsiteY226" fmla="*/ 534659 h 803463"/>
              <a:gd name="connsiteX227" fmla="*/ 625796 w 856359"/>
              <a:gd name="connsiteY227" fmla="*/ 534830 h 803463"/>
              <a:gd name="connsiteX228" fmla="*/ 593411 w 856359"/>
              <a:gd name="connsiteY228" fmla="*/ 534697 h 803463"/>
              <a:gd name="connsiteX229" fmla="*/ 587229 w 856359"/>
              <a:gd name="connsiteY229" fmla="*/ 535001 h 803463"/>
              <a:gd name="connsiteX230" fmla="*/ 586553 w 856359"/>
              <a:gd name="connsiteY230" fmla="*/ 535001 h 803463"/>
              <a:gd name="connsiteX231" fmla="*/ 586305 w 856359"/>
              <a:gd name="connsiteY231" fmla="*/ 460297 h 803463"/>
              <a:gd name="connsiteX232" fmla="*/ 586305 w 856359"/>
              <a:gd name="connsiteY232" fmla="*/ 460297 h 803463"/>
              <a:gd name="connsiteX233" fmla="*/ 622624 w 856359"/>
              <a:gd name="connsiteY233" fmla="*/ 69572 h 803463"/>
              <a:gd name="connsiteX234" fmla="*/ 622624 w 856359"/>
              <a:gd name="connsiteY234" fmla="*/ 69610 h 803463"/>
              <a:gd name="connsiteX235" fmla="*/ 622519 w 856359"/>
              <a:gd name="connsiteY235" fmla="*/ 69610 h 803463"/>
              <a:gd name="connsiteX236" fmla="*/ 508486 w 856359"/>
              <a:gd name="connsiteY236" fmla="*/ 118588 h 803463"/>
              <a:gd name="connsiteX237" fmla="*/ 462509 w 856359"/>
              <a:gd name="connsiteY237" fmla="*/ 233021 h 803463"/>
              <a:gd name="connsiteX238" fmla="*/ 462480 w 856359"/>
              <a:gd name="connsiteY238" fmla="*/ 233726 h 803463"/>
              <a:gd name="connsiteX239" fmla="*/ 462518 w 856359"/>
              <a:gd name="connsiteY239" fmla="*/ 233726 h 803463"/>
              <a:gd name="connsiteX240" fmla="*/ 462518 w 856359"/>
              <a:gd name="connsiteY240" fmla="*/ 233830 h 803463"/>
              <a:gd name="connsiteX241" fmla="*/ 511496 w 856359"/>
              <a:gd name="connsiteY241" fmla="*/ 347864 h 803463"/>
              <a:gd name="connsiteX242" fmla="*/ 626739 w 856359"/>
              <a:gd name="connsiteY242" fmla="*/ 393841 h 803463"/>
              <a:gd name="connsiteX243" fmla="*/ 740772 w 856359"/>
              <a:gd name="connsiteY243" fmla="*/ 344863 h 803463"/>
              <a:gd name="connsiteX244" fmla="*/ 786749 w 856359"/>
              <a:gd name="connsiteY244" fmla="*/ 230430 h 803463"/>
              <a:gd name="connsiteX245" fmla="*/ 786778 w 856359"/>
              <a:gd name="connsiteY245" fmla="*/ 229716 h 803463"/>
              <a:gd name="connsiteX246" fmla="*/ 786749 w 856359"/>
              <a:gd name="connsiteY246" fmla="*/ 229716 h 803463"/>
              <a:gd name="connsiteX247" fmla="*/ 786749 w 856359"/>
              <a:gd name="connsiteY247" fmla="*/ 229611 h 803463"/>
              <a:gd name="connsiteX248" fmla="*/ 737772 w 856359"/>
              <a:gd name="connsiteY248" fmla="*/ 115578 h 803463"/>
              <a:gd name="connsiteX249" fmla="*/ 623338 w 856359"/>
              <a:gd name="connsiteY249" fmla="*/ 69600 h 803463"/>
              <a:gd name="connsiteX250" fmla="*/ 622624 w 856359"/>
              <a:gd name="connsiteY250" fmla="*/ 69572 h 803463"/>
              <a:gd name="connsiteX251" fmla="*/ 622624 w 856359"/>
              <a:gd name="connsiteY251" fmla="*/ 69572 h 803463"/>
              <a:gd name="connsiteX252" fmla="*/ 622633 w 856359"/>
              <a:gd name="connsiteY252" fmla="*/ 87050 h 803463"/>
              <a:gd name="connsiteX253" fmla="*/ 622633 w 856359"/>
              <a:gd name="connsiteY253" fmla="*/ 87022 h 803463"/>
              <a:gd name="connsiteX254" fmla="*/ 520992 w 856359"/>
              <a:gd name="connsiteY254" fmla="*/ 130741 h 803463"/>
              <a:gd name="connsiteX255" fmla="*/ 479930 w 856359"/>
              <a:gd name="connsiteY255" fmla="*/ 232907 h 803463"/>
              <a:gd name="connsiteX256" fmla="*/ 479968 w 856359"/>
              <a:gd name="connsiteY256" fmla="*/ 233726 h 803463"/>
              <a:gd name="connsiteX257" fmla="*/ 479939 w 856359"/>
              <a:gd name="connsiteY257" fmla="*/ 233726 h 803463"/>
              <a:gd name="connsiteX258" fmla="*/ 523659 w 856359"/>
              <a:gd name="connsiteY258" fmla="*/ 335367 h 803463"/>
              <a:gd name="connsiteX259" fmla="*/ 626548 w 856359"/>
              <a:gd name="connsiteY259" fmla="*/ 376420 h 803463"/>
              <a:gd name="connsiteX260" fmla="*/ 728294 w 856359"/>
              <a:gd name="connsiteY260" fmla="*/ 332700 h 803463"/>
              <a:gd name="connsiteX261" fmla="*/ 769357 w 856359"/>
              <a:gd name="connsiteY261" fmla="*/ 230535 h 803463"/>
              <a:gd name="connsiteX262" fmla="*/ 769318 w 856359"/>
              <a:gd name="connsiteY262" fmla="*/ 229706 h 803463"/>
              <a:gd name="connsiteX263" fmla="*/ 769347 w 856359"/>
              <a:gd name="connsiteY263" fmla="*/ 229706 h 803463"/>
              <a:gd name="connsiteX264" fmla="*/ 725627 w 856359"/>
              <a:gd name="connsiteY264" fmla="*/ 128065 h 803463"/>
              <a:gd name="connsiteX265" fmla="*/ 623462 w 856359"/>
              <a:gd name="connsiteY265" fmla="*/ 87003 h 803463"/>
              <a:gd name="connsiteX266" fmla="*/ 622633 w 856359"/>
              <a:gd name="connsiteY266" fmla="*/ 87050 h 803463"/>
              <a:gd name="connsiteX267" fmla="*/ 622633 w 856359"/>
              <a:gd name="connsiteY267" fmla="*/ 87050 h 803463"/>
              <a:gd name="connsiteX268" fmla="*/ 774186 w 856359"/>
              <a:gd name="connsiteY268" fmla="*/ 78221 h 803463"/>
              <a:gd name="connsiteX269" fmla="*/ 621824 w 856359"/>
              <a:gd name="connsiteY269" fmla="*/ 17422 h 803463"/>
              <a:gd name="connsiteX270" fmla="*/ 471138 w 856359"/>
              <a:gd name="connsiteY270" fmla="*/ 82173 h 803463"/>
              <a:gd name="connsiteX271" fmla="*/ 410340 w 856359"/>
              <a:gd name="connsiteY271" fmla="*/ 234535 h 803463"/>
              <a:gd name="connsiteX272" fmla="*/ 475091 w 856359"/>
              <a:gd name="connsiteY272" fmla="*/ 385221 h 803463"/>
              <a:gd name="connsiteX273" fmla="*/ 627453 w 856359"/>
              <a:gd name="connsiteY273" fmla="*/ 446019 h 803463"/>
              <a:gd name="connsiteX274" fmla="*/ 778139 w 856359"/>
              <a:gd name="connsiteY274" fmla="*/ 381268 h 803463"/>
              <a:gd name="connsiteX275" fmla="*/ 838937 w 856359"/>
              <a:gd name="connsiteY275" fmla="*/ 228906 h 803463"/>
              <a:gd name="connsiteX276" fmla="*/ 774186 w 856359"/>
              <a:gd name="connsiteY276" fmla="*/ 78221 h 803463"/>
              <a:gd name="connsiteX277" fmla="*/ 774186 w 856359"/>
              <a:gd name="connsiteY277" fmla="*/ 78221 h 803463"/>
              <a:gd name="connsiteX278" fmla="*/ 256026 w 856359"/>
              <a:gd name="connsiteY278" fmla="*/ 127293 h 803463"/>
              <a:gd name="connsiteX279" fmla="*/ 256054 w 856359"/>
              <a:gd name="connsiteY279" fmla="*/ 127274 h 803463"/>
              <a:gd name="connsiteX280" fmla="*/ 256073 w 856359"/>
              <a:gd name="connsiteY280" fmla="*/ 127265 h 803463"/>
              <a:gd name="connsiteX281" fmla="*/ 304632 w 856359"/>
              <a:gd name="connsiteY281" fmla="*/ 97204 h 803463"/>
              <a:gd name="connsiteX282" fmla="*/ 306013 w 856359"/>
              <a:gd name="connsiteY282" fmla="*/ 96356 h 803463"/>
              <a:gd name="connsiteX283" fmla="*/ 340703 w 856359"/>
              <a:gd name="connsiteY283" fmla="*/ 91041 h 803463"/>
              <a:gd name="connsiteX284" fmla="*/ 369430 w 856359"/>
              <a:gd name="connsiteY284" fmla="*/ 111282 h 803463"/>
              <a:gd name="connsiteX285" fmla="*/ 370326 w 856359"/>
              <a:gd name="connsiteY285" fmla="*/ 112739 h 803463"/>
              <a:gd name="connsiteX286" fmla="*/ 375641 w 856359"/>
              <a:gd name="connsiteY286" fmla="*/ 147439 h 803463"/>
              <a:gd name="connsiteX287" fmla="*/ 354667 w 856359"/>
              <a:gd name="connsiteY287" fmla="*/ 176623 h 803463"/>
              <a:gd name="connsiteX288" fmla="*/ 305460 w 856359"/>
              <a:gd name="connsiteY288" fmla="*/ 207084 h 803463"/>
              <a:gd name="connsiteX289" fmla="*/ 305441 w 856359"/>
              <a:gd name="connsiteY289" fmla="*/ 207094 h 803463"/>
              <a:gd name="connsiteX290" fmla="*/ 305432 w 856359"/>
              <a:gd name="connsiteY290" fmla="*/ 207103 h 803463"/>
              <a:gd name="connsiteX291" fmla="*/ 256873 w 856359"/>
              <a:gd name="connsiteY291" fmla="*/ 237164 h 803463"/>
              <a:gd name="connsiteX292" fmla="*/ 255492 w 856359"/>
              <a:gd name="connsiteY292" fmla="*/ 238002 h 803463"/>
              <a:gd name="connsiteX293" fmla="*/ 220802 w 856359"/>
              <a:gd name="connsiteY293" fmla="*/ 243317 h 803463"/>
              <a:gd name="connsiteX294" fmla="*/ 192237 w 856359"/>
              <a:gd name="connsiteY294" fmla="*/ 223315 h 803463"/>
              <a:gd name="connsiteX295" fmla="*/ 157785 w 856359"/>
              <a:gd name="connsiteY295" fmla="*/ 239717 h 803463"/>
              <a:gd name="connsiteX296" fmla="*/ 106436 w 856359"/>
              <a:gd name="connsiteY296" fmla="*/ 227792 h 803463"/>
              <a:gd name="connsiteX297" fmla="*/ 106436 w 856359"/>
              <a:gd name="connsiteY297" fmla="*/ 227792 h 803463"/>
              <a:gd name="connsiteX298" fmla="*/ 78508 w 856359"/>
              <a:gd name="connsiteY298" fmla="*/ 182977 h 803463"/>
              <a:gd name="connsiteX299" fmla="*/ 90434 w 856359"/>
              <a:gd name="connsiteY299" fmla="*/ 131627 h 803463"/>
              <a:gd name="connsiteX300" fmla="*/ 135249 w 856359"/>
              <a:gd name="connsiteY300" fmla="*/ 103700 h 803463"/>
              <a:gd name="connsiteX301" fmla="*/ 186579 w 856359"/>
              <a:gd name="connsiteY301" fmla="*/ 115616 h 803463"/>
              <a:gd name="connsiteX302" fmla="*/ 186588 w 856359"/>
              <a:gd name="connsiteY302" fmla="*/ 115625 h 803463"/>
              <a:gd name="connsiteX303" fmla="*/ 186588 w 856359"/>
              <a:gd name="connsiteY303" fmla="*/ 115625 h 803463"/>
              <a:gd name="connsiteX304" fmla="*/ 186598 w 856359"/>
              <a:gd name="connsiteY304" fmla="*/ 115635 h 803463"/>
              <a:gd name="connsiteX305" fmla="*/ 186598 w 856359"/>
              <a:gd name="connsiteY305" fmla="*/ 115635 h 803463"/>
              <a:gd name="connsiteX306" fmla="*/ 213077 w 856359"/>
              <a:gd name="connsiteY306" fmla="*/ 153849 h 803463"/>
              <a:gd name="connsiteX307" fmla="*/ 256026 w 856359"/>
              <a:gd name="connsiteY307" fmla="*/ 127293 h 803463"/>
              <a:gd name="connsiteX308" fmla="*/ 256026 w 856359"/>
              <a:gd name="connsiteY308" fmla="*/ 127293 h 803463"/>
              <a:gd name="connsiteX309" fmla="*/ 272609 w 856359"/>
              <a:gd name="connsiteY309" fmla="*/ 137514 h 803463"/>
              <a:gd name="connsiteX310" fmla="*/ 303689 w 856359"/>
              <a:gd name="connsiteY310" fmla="*/ 187720 h 803463"/>
              <a:gd name="connsiteX311" fmla="*/ 345513 w 856359"/>
              <a:gd name="connsiteY311" fmla="*/ 161831 h 803463"/>
              <a:gd name="connsiteX312" fmla="*/ 358629 w 856359"/>
              <a:gd name="connsiteY312" fmla="*/ 143495 h 803463"/>
              <a:gd name="connsiteX313" fmla="*/ 355067 w 856359"/>
              <a:gd name="connsiteY313" fmla="*/ 121188 h 803463"/>
              <a:gd name="connsiteX314" fmla="*/ 355057 w 856359"/>
              <a:gd name="connsiteY314" fmla="*/ 121178 h 803463"/>
              <a:gd name="connsiteX315" fmla="*/ 336722 w 856359"/>
              <a:gd name="connsiteY315" fmla="*/ 108062 h 803463"/>
              <a:gd name="connsiteX316" fmla="*/ 314414 w 856359"/>
              <a:gd name="connsiteY316" fmla="*/ 111634 h 803463"/>
              <a:gd name="connsiteX317" fmla="*/ 272609 w 856359"/>
              <a:gd name="connsiteY317" fmla="*/ 137514 h 803463"/>
              <a:gd name="connsiteX318" fmla="*/ 272609 w 856359"/>
              <a:gd name="connsiteY318" fmla="*/ 137514 h 803463"/>
              <a:gd name="connsiteX319" fmla="*/ 288887 w 856359"/>
              <a:gd name="connsiteY319" fmla="*/ 196883 h 803463"/>
              <a:gd name="connsiteX320" fmla="*/ 257807 w 856359"/>
              <a:gd name="connsiteY320" fmla="*/ 146677 h 803463"/>
              <a:gd name="connsiteX321" fmla="*/ 215973 w 856359"/>
              <a:gd name="connsiteY321" fmla="*/ 172566 h 803463"/>
              <a:gd name="connsiteX322" fmla="*/ 215449 w 856359"/>
              <a:gd name="connsiteY322" fmla="*/ 172909 h 803463"/>
              <a:gd name="connsiteX323" fmla="*/ 204362 w 856359"/>
              <a:gd name="connsiteY323" fmla="*/ 209218 h 803463"/>
              <a:gd name="connsiteX324" fmla="*/ 204476 w 856359"/>
              <a:gd name="connsiteY324" fmla="*/ 209494 h 803463"/>
              <a:gd name="connsiteX325" fmla="*/ 206410 w 856359"/>
              <a:gd name="connsiteY325" fmla="*/ 213199 h 803463"/>
              <a:gd name="connsiteX326" fmla="*/ 206420 w 856359"/>
              <a:gd name="connsiteY326" fmla="*/ 213209 h 803463"/>
              <a:gd name="connsiteX327" fmla="*/ 224755 w 856359"/>
              <a:gd name="connsiteY327" fmla="*/ 226325 h 803463"/>
              <a:gd name="connsiteX328" fmla="*/ 247063 w 856359"/>
              <a:gd name="connsiteY328" fmla="*/ 222762 h 803463"/>
              <a:gd name="connsiteX329" fmla="*/ 288887 w 856359"/>
              <a:gd name="connsiteY329" fmla="*/ 196883 h 803463"/>
              <a:gd name="connsiteX330" fmla="*/ 288887 w 856359"/>
              <a:gd name="connsiteY330" fmla="*/ 196883 h 803463"/>
              <a:gd name="connsiteX331" fmla="*/ 124076 w 856359"/>
              <a:gd name="connsiteY331" fmla="*/ 218095 h 803463"/>
              <a:gd name="connsiteX332" fmla="*/ 183150 w 856359"/>
              <a:gd name="connsiteY332" fmla="*/ 135504 h 803463"/>
              <a:gd name="connsiteX333" fmla="*/ 197333 w 856359"/>
              <a:gd name="connsiteY333" fmla="*/ 163269 h 803463"/>
              <a:gd name="connsiteX334" fmla="*/ 188770 w 856359"/>
              <a:gd name="connsiteY334" fmla="*/ 201207 h 803463"/>
              <a:gd name="connsiteX335" fmla="*/ 188065 w 856359"/>
              <a:gd name="connsiteY335" fmla="*/ 202188 h 803463"/>
              <a:gd name="connsiteX336" fmla="*/ 154994 w 856359"/>
              <a:gd name="connsiteY336" fmla="*/ 222534 h 803463"/>
              <a:gd name="connsiteX337" fmla="*/ 124076 w 856359"/>
              <a:gd name="connsiteY337" fmla="*/ 218095 h 80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Lst>
            <a:rect l="l" t="t" r="r" b="b"/>
            <a:pathLst>
              <a:path w="856359" h="803463">
                <a:moveTo>
                  <a:pt x="168967" y="125369"/>
                </a:moveTo>
                <a:cubicBezTo>
                  <a:pt x="159166" y="120616"/>
                  <a:pt x="148355" y="119216"/>
                  <a:pt x="138059" y="120931"/>
                </a:cubicBezTo>
                <a:cubicBezTo>
                  <a:pt x="125076" y="123083"/>
                  <a:pt x="112913" y="130189"/>
                  <a:pt x="104654" y="141743"/>
                </a:cubicBezTo>
                <a:lnTo>
                  <a:pt x="104645" y="141762"/>
                </a:lnTo>
                <a:cubicBezTo>
                  <a:pt x="96368" y="153335"/>
                  <a:pt x="93558" y="167184"/>
                  <a:pt x="95720" y="180205"/>
                </a:cubicBezTo>
                <a:cubicBezTo>
                  <a:pt x="97425" y="190482"/>
                  <a:pt x="102235" y="200245"/>
                  <a:pt x="109903" y="207970"/>
                </a:cubicBezTo>
                <a:lnTo>
                  <a:pt x="168967" y="125369"/>
                </a:lnTo>
                <a:lnTo>
                  <a:pt x="168967" y="125369"/>
                </a:lnTo>
                <a:close/>
                <a:moveTo>
                  <a:pt x="594049" y="131246"/>
                </a:moveTo>
                <a:lnTo>
                  <a:pt x="655218" y="131246"/>
                </a:lnTo>
                <a:cubicBezTo>
                  <a:pt x="660048" y="131246"/>
                  <a:pt x="663962" y="135161"/>
                  <a:pt x="663962" y="139990"/>
                </a:cubicBezTo>
                <a:lnTo>
                  <a:pt x="663962" y="192425"/>
                </a:lnTo>
                <a:lnTo>
                  <a:pt x="716340" y="192425"/>
                </a:lnTo>
                <a:cubicBezTo>
                  <a:pt x="721170" y="192425"/>
                  <a:pt x="725084" y="196340"/>
                  <a:pt x="725084" y="201160"/>
                </a:cubicBezTo>
                <a:lnTo>
                  <a:pt x="725084" y="262282"/>
                </a:lnTo>
                <a:cubicBezTo>
                  <a:pt x="725084" y="267111"/>
                  <a:pt x="721170" y="271026"/>
                  <a:pt x="716340" y="271026"/>
                </a:cubicBezTo>
                <a:lnTo>
                  <a:pt x="663962" y="271026"/>
                </a:lnTo>
                <a:lnTo>
                  <a:pt x="663962" y="323461"/>
                </a:lnTo>
                <a:cubicBezTo>
                  <a:pt x="663962" y="328290"/>
                  <a:pt x="660048" y="332205"/>
                  <a:pt x="655218" y="332205"/>
                </a:cubicBezTo>
                <a:lnTo>
                  <a:pt x="594049" y="332205"/>
                </a:lnTo>
                <a:cubicBezTo>
                  <a:pt x="589220" y="332205"/>
                  <a:pt x="585315" y="328290"/>
                  <a:pt x="585315" y="323461"/>
                </a:cubicBezTo>
                <a:lnTo>
                  <a:pt x="585315" y="271026"/>
                </a:lnTo>
                <a:lnTo>
                  <a:pt x="532927" y="271026"/>
                </a:lnTo>
                <a:cubicBezTo>
                  <a:pt x="528098" y="271026"/>
                  <a:pt x="524183" y="267111"/>
                  <a:pt x="524183" y="262282"/>
                </a:cubicBezTo>
                <a:lnTo>
                  <a:pt x="524183" y="201160"/>
                </a:lnTo>
                <a:cubicBezTo>
                  <a:pt x="524183" y="196331"/>
                  <a:pt x="528098" y="192425"/>
                  <a:pt x="532927" y="192425"/>
                </a:cubicBezTo>
                <a:lnTo>
                  <a:pt x="585315" y="192425"/>
                </a:lnTo>
                <a:lnTo>
                  <a:pt x="585315" y="139981"/>
                </a:lnTo>
                <a:cubicBezTo>
                  <a:pt x="585305" y="135161"/>
                  <a:pt x="589220" y="131246"/>
                  <a:pt x="594049" y="131246"/>
                </a:cubicBezTo>
                <a:lnTo>
                  <a:pt x="594049" y="131246"/>
                </a:lnTo>
                <a:close/>
                <a:moveTo>
                  <a:pt x="646484" y="148725"/>
                </a:moveTo>
                <a:lnTo>
                  <a:pt x="602783" y="148725"/>
                </a:lnTo>
                <a:lnTo>
                  <a:pt x="602783" y="201160"/>
                </a:lnTo>
                <a:cubicBezTo>
                  <a:pt x="602783" y="205989"/>
                  <a:pt x="598869" y="209894"/>
                  <a:pt x="594049" y="209894"/>
                </a:cubicBezTo>
                <a:lnTo>
                  <a:pt x="541661" y="209894"/>
                </a:lnTo>
                <a:lnTo>
                  <a:pt x="541661" y="253538"/>
                </a:lnTo>
                <a:lnTo>
                  <a:pt x="594049" y="253538"/>
                </a:lnTo>
                <a:cubicBezTo>
                  <a:pt x="598878" y="253538"/>
                  <a:pt x="602783" y="257452"/>
                  <a:pt x="602783" y="262272"/>
                </a:cubicBezTo>
                <a:lnTo>
                  <a:pt x="602783" y="314707"/>
                </a:lnTo>
                <a:lnTo>
                  <a:pt x="646484" y="314707"/>
                </a:lnTo>
                <a:lnTo>
                  <a:pt x="646484" y="262282"/>
                </a:lnTo>
                <a:cubicBezTo>
                  <a:pt x="646484" y="257452"/>
                  <a:pt x="650399" y="253547"/>
                  <a:pt x="655218" y="253547"/>
                </a:cubicBezTo>
                <a:lnTo>
                  <a:pt x="707606" y="253547"/>
                </a:lnTo>
                <a:lnTo>
                  <a:pt x="707606" y="209894"/>
                </a:lnTo>
                <a:lnTo>
                  <a:pt x="655218" y="209894"/>
                </a:lnTo>
                <a:cubicBezTo>
                  <a:pt x="650389" y="209894"/>
                  <a:pt x="646484" y="205979"/>
                  <a:pt x="646484" y="201160"/>
                </a:cubicBezTo>
                <a:lnTo>
                  <a:pt x="646484" y="148725"/>
                </a:lnTo>
                <a:lnTo>
                  <a:pt x="646484" y="148725"/>
                </a:lnTo>
                <a:close/>
                <a:moveTo>
                  <a:pt x="240900" y="503931"/>
                </a:moveTo>
                <a:cubicBezTo>
                  <a:pt x="252359" y="503931"/>
                  <a:pt x="262731" y="508579"/>
                  <a:pt x="270237" y="516085"/>
                </a:cubicBezTo>
                <a:cubicBezTo>
                  <a:pt x="277743" y="523590"/>
                  <a:pt x="282391" y="533963"/>
                  <a:pt x="282391" y="545422"/>
                </a:cubicBezTo>
                <a:cubicBezTo>
                  <a:pt x="282391" y="556880"/>
                  <a:pt x="277743" y="567253"/>
                  <a:pt x="270237" y="574759"/>
                </a:cubicBezTo>
                <a:cubicBezTo>
                  <a:pt x="262731" y="582265"/>
                  <a:pt x="252359" y="586913"/>
                  <a:pt x="240900" y="586913"/>
                </a:cubicBezTo>
                <a:cubicBezTo>
                  <a:pt x="229441" y="586913"/>
                  <a:pt x="219069" y="582265"/>
                  <a:pt x="211563" y="574759"/>
                </a:cubicBezTo>
                <a:cubicBezTo>
                  <a:pt x="204057" y="567253"/>
                  <a:pt x="199409" y="556880"/>
                  <a:pt x="199409" y="545422"/>
                </a:cubicBezTo>
                <a:cubicBezTo>
                  <a:pt x="199409" y="533963"/>
                  <a:pt x="204057" y="523590"/>
                  <a:pt x="211563" y="516085"/>
                </a:cubicBezTo>
                <a:cubicBezTo>
                  <a:pt x="219069" y="508579"/>
                  <a:pt x="229441" y="503931"/>
                  <a:pt x="240900" y="503931"/>
                </a:cubicBezTo>
                <a:lnTo>
                  <a:pt x="240900" y="503931"/>
                </a:lnTo>
                <a:close/>
                <a:moveTo>
                  <a:pt x="257883" y="528448"/>
                </a:moveTo>
                <a:cubicBezTo>
                  <a:pt x="253540" y="524105"/>
                  <a:pt x="247529" y="521419"/>
                  <a:pt x="240900" y="521419"/>
                </a:cubicBezTo>
                <a:cubicBezTo>
                  <a:pt x="234271" y="521419"/>
                  <a:pt x="228260" y="524105"/>
                  <a:pt x="223917" y="528448"/>
                </a:cubicBezTo>
                <a:cubicBezTo>
                  <a:pt x="219574" y="532792"/>
                  <a:pt x="216887" y="538792"/>
                  <a:pt x="216887" y="545431"/>
                </a:cubicBezTo>
                <a:cubicBezTo>
                  <a:pt x="216887" y="552061"/>
                  <a:pt x="219574" y="558071"/>
                  <a:pt x="223917" y="562414"/>
                </a:cubicBezTo>
                <a:cubicBezTo>
                  <a:pt x="228260" y="566758"/>
                  <a:pt x="234271" y="569444"/>
                  <a:pt x="240900" y="569444"/>
                </a:cubicBezTo>
                <a:cubicBezTo>
                  <a:pt x="247529" y="569444"/>
                  <a:pt x="253540" y="566758"/>
                  <a:pt x="257883" y="562414"/>
                </a:cubicBezTo>
                <a:cubicBezTo>
                  <a:pt x="262227" y="558071"/>
                  <a:pt x="264913" y="552061"/>
                  <a:pt x="264913" y="545431"/>
                </a:cubicBezTo>
                <a:cubicBezTo>
                  <a:pt x="264913" y="538792"/>
                  <a:pt x="262227" y="532792"/>
                  <a:pt x="257883" y="528448"/>
                </a:cubicBezTo>
                <a:lnTo>
                  <a:pt x="257883" y="528448"/>
                </a:lnTo>
                <a:close/>
                <a:moveTo>
                  <a:pt x="332026" y="568768"/>
                </a:moveTo>
                <a:cubicBezTo>
                  <a:pt x="315281" y="568768"/>
                  <a:pt x="300117" y="575559"/>
                  <a:pt x="289144" y="586532"/>
                </a:cubicBezTo>
                <a:cubicBezTo>
                  <a:pt x="278171" y="597505"/>
                  <a:pt x="271380" y="612668"/>
                  <a:pt x="271380" y="629413"/>
                </a:cubicBezTo>
                <a:cubicBezTo>
                  <a:pt x="271380" y="646158"/>
                  <a:pt x="278171" y="661322"/>
                  <a:pt x="289144" y="672295"/>
                </a:cubicBezTo>
                <a:cubicBezTo>
                  <a:pt x="300117" y="683268"/>
                  <a:pt x="315281" y="690059"/>
                  <a:pt x="332026" y="690059"/>
                </a:cubicBezTo>
                <a:cubicBezTo>
                  <a:pt x="348771" y="690059"/>
                  <a:pt x="363934" y="683268"/>
                  <a:pt x="374907" y="672295"/>
                </a:cubicBezTo>
                <a:cubicBezTo>
                  <a:pt x="385880" y="661322"/>
                  <a:pt x="392671" y="646158"/>
                  <a:pt x="392671" y="629413"/>
                </a:cubicBezTo>
                <a:cubicBezTo>
                  <a:pt x="392671" y="612668"/>
                  <a:pt x="385880" y="597505"/>
                  <a:pt x="374907" y="586532"/>
                </a:cubicBezTo>
                <a:cubicBezTo>
                  <a:pt x="363925" y="575559"/>
                  <a:pt x="348771" y="568768"/>
                  <a:pt x="332026" y="568768"/>
                </a:cubicBezTo>
                <a:lnTo>
                  <a:pt x="332026" y="568768"/>
                </a:lnTo>
                <a:close/>
                <a:moveTo>
                  <a:pt x="362544" y="598886"/>
                </a:moveTo>
                <a:cubicBezTo>
                  <a:pt x="370354" y="606696"/>
                  <a:pt x="375183" y="617488"/>
                  <a:pt x="375183" y="629404"/>
                </a:cubicBezTo>
                <a:cubicBezTo>
                  <a:pt x="375183" y="641320"/>
                  <a:pt x="370354" y="652111"/>
                  <a:pt x="362544" y="659922"/>
                </a:cubicBezTo>
                <a:cubicBezTo>
                  <a:pt x="354733" y="667732"/>
                  <a:pt x="343941" y="672562"/>
                  <a:pt x="332026" y="672562"/>
                </a:cubicBezTo>
                <a:cubicBezTo>
                  <a:pt x="320110" y="672562"/>
                  <a:pt x="309318" y="667732"/>
                  <a:pt x="301508" y="659922"/>
                </a:cubicBezTo>
                <a:cubicBezTo>
                  <a:pt x="293697" y="652111"/>
                  <a:pt x="288868" y="641320"/>
                  <a:pt x="288868" y="629404"/>
                </a:cubicBezTo>
                <a:cubicBezTo>
                  <a:pt x="288868" y="617478"/>
                  <a:pt x="293697" y="606696"/>
                  <a:pt x="301508" y="598886"/>
                </a:cubicBezTo>
                <a:cubicBezTo>
                  <a:pt x="309318" y="591075"/>
                  <a:pt x="320110" y="586246"/>
                  <a:pt x="332026" y="586246"/>
                </a:cubicBezTo>
                <a:cubicBezTo>
                  <a:pt x="343941" y="586246"/>
                  <a:pt x="354733" y="591075"/>
                  <a:pt x="362544" y="598886"/>
                </a:cubicBezTo>
                <a:lnTo>
                  <a:pt x="362544" y="598886"/>
                </a:lnTo>
                <a:close/>
                <a:moveTo>
                  <a:pt x="175492" y="595466"/>
                </a:moveTo>
                <a:cubicBezTo>
                  <a:pt x="197142" y="595466"/>
                  <a:pt x="216735" y="604239"/>
                  <a:pt x="230927" y="618431"/>
                </a:cubicBezTo>
                <a:cubicBezTo>
                  <a:pt x="245110" y="632623"/>
                  <a:pt x="253892" y="652216"/>
                  <a:pt x="253892" y="673866"/>
                </a:cubicBezTo>
                <a:cubicBezTo>
                  <a:pt x="253892" y="695517"/>
                  <a:pt x="245120" y="715110"/>
                  <a:pt x="230927" y="729302"/>
                </a:cubicBezTo>
                <a:cubicBezTo>
                  <a:pt x="216735" y="743494"/>
                  <a:pt x="197142" y="752267"/>
                  <a:pt x="175492" y="752267"/>
                </a:cubicBezTo>
                <a:cubicBezTo>
                  <a:pt x="153851" y="752267"/>
                  <a:pt x="134249" y="743494"/>
                  <a:pt x="120056" y="729302"/>
                </a:cubicBezTo>
                <a:cubicBezTo>
                  <a:pt x="105874" y="715119"/>
                  <a:pt x="97092" y="695517"/>
                  <a:pt x="97092" y="673866"/>
                </a:cubicBezTo>
                <a:cubicBezTo>
                  <a:pt x="97092" y="652226"/>
                  <a:pt x="105874" y="632623"/>
                  <a:pt x="120056" y="618431"/>
                </a:cubicBezTo>
                <a:cubicBezTo>
                  <a:pt x="134239" y="604248"/>
                  <a:pt x="153842" y="595466"/>
                  <a:pt x="175492" y="595466"/>
                </a:cubicBezTo>
                <a:lnTo>
                  <a:pt x="175492" y="595466"/>
                </a:lnTo>
                <a:close/>
                <a:moveTo>
                  <a:pt x="218564" y="630785"/>
                </a:moveTo>
                <a:cubicBezTo>
                  <a:pt x="207543" y="619764"/>
                  <a:pt x="192313" y="612945"/>
                  <a:pt x="175482" y="612945"/>
                </a:cubicBezTo>
                <a:cubicBezTo>
                  <a:pt x="158652" y="612945"/>
                  <a:pt x="143431" y="619764"/>
                  <a:pt x="132410" y="630785"/>
                </a:cubicBezTo>
                <a:cubicBezTo>
                  <a:pt x="121390" y="641805"/>
                  <a:pt x="114570" y="657036"/>
                  <a:pt x="114570" y="673857"/>
                </a:cubicBezTo>
                <a:cubicBezTo>
                  <a:pt x="114570" y="690678"/>
                  <a:pt x="121390" y="705909"/>
                  <a:pt x="132410" y="716939"/>
                </a:cubicBezTo>
                <a:cubicBezTo>
                  <a:pt x="143431" y="727959"/>
                  <a:pt x="158661" y="734779"/>
                  <a:pt x="175482" y="734779"/>
                </a:cubicBezTo>
                <a:cubicBezTo>
                  <a:pt x="192303" y="734779"/>
                  <a:pt x="207534" y="727959"/>
                  <a:pt x="218564" y="716939"/>
                </a:cubicBezTo>
                <a:cubicBezTo>
                  <a:pt x="229584" y="705918"/>
                  <a:pt x="236404" y="690688"/>
                  <a:pt x="236404" y="673857"/>
                </a:cubicBezTo>
                <a:cubicBezTo>
                  <a:pt x="236404" y="657036"/>
                  <a:pt x="229594" y="641805"/>
                  <a:pt x="218564" y="630785"/>
                </a:cubicBezTo>
                <a:lnTo>
                  <a:pt x="218564" y="630785"/>
                </a:lnTo>
                <a:close/>
                <a:moveTo>
                  <a:pt x="332102" y="342168"/>
                </a:moveTo>
                <a:cubicBezTo>
                  <a:pt x="340236" y="342063"/>
                  <a:pt x="347609" y="338701"/>
                  <a:pt x="352971" y="333338"/>
                </a:cubicBezTo>
                <a:cubicBezTo>
                  <a:pt x="358419" y="327890"/>
                  <a:pt x="361801" y="320365"/>
                  <a:pt x="361801" y="312088"/>
                </a:cubicBezTo>
                <a:cubicBezTo>
                  <a:pt x="361801" y="303811"/>
                  <a:pt x="358419" y="296286"/>
                  <a:pt x="352971" y="290838"/>
                </a:cubicBezTo>
                <a:cubicBezTo>
                  <a:pt x="347523" y="285389"/>
                  <a:pt x="339998" y="282008"/>
                  <a:pt x="331721" y="282008"/>
                </a:cubicBezTo>
                <a:lnTo>
                  <a:pt x="163243" y="282008"/>
                </a:lnTo>
                <a:cubicBezTo>
                  <a:pt x="154965" y="282008"/>
                  <a:pt x="147441" y="285389"/>
                  <a:pt x="141992" y="290838"/>
                </a:cubicBezTo>
                <a:cubicBezTo>
                  <a:pt x="136544" y="296286"/>
                  <a:pt x="133163" y="303811"/>
                  <a:pt x="133163" y="312088"/>
                </a:cubicBezTo>
                <a:cubicBezTo>
                  <a:pt x="133163" y="320365"/>
                  <a:pt x="136544" y="327890"/>
                  <a:pt x="141992" y="333338"/>
                </a:cubicBezTo>
                <a:cubicBezTo>
                  <a:pt x="147355" y="338701"/>
                  <a:pt x="154727" y="342063"/>
                  <a:pt x="162862" y="342168"/>
                </a:cubicBezTo>
                <a:lnTo>
                  <a:pt x="162862" y="381277"/>
                </a:lnTo>
                <a:cubicBezTo>
                  <a:pt x="162862" y="384211"/>
                  <a:pt x="162671" y="386897"/>
                  <a:pt x="162185" y="389393"/>
                </a:cubicBezTo>
                <a:cubicBezTo>
                  <a:pt x="161747" y="391631"/>
                  <a:pt x="161071" y="393765"/>
                  <a:pt x="160090" y="395851"/>
                </a:cubicBezTo>
                <a:cubicBezTo>
                  <a:pt x="159976" y="396032"/>
                  <a:pt x="159880" y="396222"/>
                  <a:pt x="159776" y="396422"/>
                </a:cubicBezTo>
                <a:lnTo>
                  <a:pt x="6880" y="702394"/>
                </a:lnTo>
                <a:lnTo>
                  <a:pt x="6909" y="702403"/>
                </a:lnTo>
                <a:cubicBezTo>
                  <a:pt x="1356" y="713519"/>
                  <a:pt x="-730" y="725206"/>
                  <a:pt x="222" y="736703"/>
                </a:cubicBezTo>
                <a:cubicBezTo>
                  <a:pt x="1194" y="748590"/>
                  <a:pt x="5394" y="760268"/>
                  <a:pt x="12310" y="770869"/>
                </a:cubicBezTo>
                <a:cubicBezTo>
                  <a:pt x="19120" y="781308"/>
                  <a:pt x="27921" y="789452"/>
                  <a:pt x="38151" y="794996"/>
                </a:cubicBezTo>
                <a:cubicBezTo>
                  <a:pt x="48390" y="800539"/>
                  <a:pt x="59992" y="803464"/>
                  <a:pt x="72412" y="803464"/>
                </a:cubicBezTo>
                <a:lnTo>
                  <a:pt x="440735" y="803464"/>
                </a:lnTo>
                <a:cubicBezTo>
                  <a:pt x="453431" y="803464"/>
                  <a:pt x="465300" y="800387"/>
                  <a:pt x="475729" y="794586"/>
                </a:cubicBezTo>
                <a:cubicBezTo>
                  <a:pt x="486140" y="788795"/>
                  <a:pt x="495008" y="780327"/>
                  <a:pt x="501714" y="769536"/>
                </a:cubicBezTo>
                <a:cubicBezTo>
                  <a:pt x="508419" y="758725"/>
                  <a:pt x="512086" y="747018"/>
                  <a:pt x="512658" y="735122"/>
                </a:cubicBezTo>
                <a:cubicBezTo>
                  <a:pt x="513229" y="723244"/>
                  <a:pt x="510715" y="711252"/>
                  <a:pt x="505066" y="699851"/>
                </a:cubicBezTo>
                <a:lnTo>
                  <a:pt x="505066" y="699851"/>
                </a:lnTo>
                <a:lnTo>
                  <a:pt x="504866" y="699470"/>
                </a:lnTo>
                <a:lnTo>
                  <a:pt x="335864" y="396879"/>
                </a:lnTo>
                <a:cubicBezTo>
                  <a:pt x="334464" y="394374"/>
                  <a:pt x="333540" y="391831"/>
                  <a:pt x="332950" y="389164"/>
                </a:cubicBezTo>
                <a:cubicBezTo>
                  <a:pt x="332340" y="386383"/>
                  <a:pt x="332102" y="383411"/>
                  <a:pt x="332102" y="380182"/>
                </a:cubicBezTo>
                <a:lnTo>
                  <a:pt x="332102" y="342168"/>
                </a:lnTo>
                <a:lnTo>
                  <a:pt x="332102" y="342168"/>
                </a:lnTo>
                <a:close/>
                <a:moveTo>
                  <a:pt x="180331" y="342168"/>
                </a:moveTo>
                <a:lnTo>
                  <a:pt x="180331" y="381277"/>
                </a:lnTo>
                <a:cubicBezTo>
                  <a:pt x="180331" y="385221"/>
                  <a:pt x="180045" y="388983"/>
                  <a:pt x="179311" y="392746"/>
                </a:cubicBezTo>
                <a:cubicBezTo>
                  <a:pt x="178607" y="396327"/>
                  <a:pt x="177464" y="399861"/>
                  <a:pt x="175730" y="403490"/>
                </a:cubicBezTo>
                <a:cubicBezTo>
                  <a:pt x="175635" y="403728"/>
                  <a:pt x="175530" y="403976"/>
                  <a:pt x="175416" y="404214"/>
                </a:cubicBezTo>
                <a:lnTo>
                  <a:pt x="22520" y="710176"/>
                </a:lnTo>
                <a:lnTo>
                  <a:pt x="22492" y="710166"/>
                </a:lnTo>
                <a:lnTo>
                  <a:pt x="22482" y="710176"/>
                </a:lnTo>
                <a:cubicBezTo>
                  <a:pt x="18444" y="718262"/>
                  <a:pt x="16929" y="726845"/>
                  <a:pt x="17624" y="735341"/>
                </a:cubicBezTo>
                <a:cubicBezTo>
                  <a:pt x="18358" y="744313"/>
                  <a:pt x="21587" y="753219"/>
                  <a:pt x="26911" y="761392"/>
                </a:cubicBezTo>
                <a:cubicBezTo>
                  <a:pt x="32093" y="769326"/>
                  <a:pt x="38722" y="775479"/>
                  <a:pt x="46409" y="779642"/>
                </a:cubicBezTo>
                <a:cubicBezTo>
                  <a:pt x="54086" y="783804"/>
                  <a:pt x="62887" y="785985"/>
                  <a:pt x="72412" y="785985"/>
                </a:cubicBezTo>
                <a:lnTo>
                  <a:pt x="440735" y="785985"/>
                </a:lnTo>
                <a:cubicBezTo>
                  <a:pt x="450488" y="785985"/>
                  <a:pt x="459480" y="783690"/>
                  <a:pt x="467262" y="779365"/>
                </a:cubicBezTo>
                <a:cubicBezTo>
                  <a:pt x="475063" y="775022"/>
                  <a:pt x="481759" y="768593"/>
                  <a:pt x="486893" y="760325"/>
                </a:cubicBezTo>
                <a:cubicBezTo>
                  <a:pt x="492017" y="752067"/>
                  <a:pt x="494808" y="743218"/>
                  <a:pt x="495246" y="734303"/>
                </a:cubicBezTo>
                <a:cubicBezTo>
                  <a:pt x="495675" y="725397"/>
                  <a:pt x="493751" y="716329"/>
                  <a:pt x="489464" y="707642"/>
                </a:cubicBezTo>
                <a:lnTo>
                  <a:pt x="320634" y="405347"/>
                </a:lnTo>
                <a:cubicBezTo>
                  <a:pt x="318329" y="401213"/>
                  <a:pt x="316814" y="397099"/>
                  <a:pt x="315881" y="392860"/>
                </a:cubicBezTo>
                <a:cubicBezTo>
                  <a:pt x="314976" y="388736"/>
                  <a:pt x="314624" y="384564"/>
                  <a:pt x="314624" y="380192"/>
                </a:cubicBezTo>
                <a:lnTo>
                  <a:pt x="314624" y="342168"/>
                </a:lnTo>
                <a:lnTo>
                  <a:pt x="180331" y="342168"/>
                </a:lnTo>
                <a:lnTo>
                  <a:pt x="180331" y="342168"/>
                </a:lnTo>
                <a:close/>
                <a:moveTo>
                  <a:pt x="331721" y="299486"/>
                </a:moveTo>
                <a:cubicBezTo>
                  <a:pt x="335178" y="299486"/>
                  <a:pt x="338331" y="300906"/>
                  <a:pt x="340617" y="303192"/>
                </a:cubicBezTo>
                <a:cubicBezTo>
                  <a:pt x="342903" y="305478"/>
                  <a:pt x="344322" y="308630"/>
                  <a:pt x="344322" y="312088"/>
                </a:cubicBezTo>
                <a:cubicBezTo>
                  <a:pt x="344322" y="315545"/>
                  <a:pt x="342903" y="318698"/>
                  <a:pt x="340617" y="320984"/>
                </a:cubicBezTo>
                <a:cubicBezTo>
                  <a:pt x="338331" y="323270"/>
                  <a:pt x="335178" y="324689"/>
                  <a:pt x="331721" y="324689"/>
                </a:cubicBezTo>
                <a:lnTo>
                  <a:pt x="323367" y="324689"/>
                </a:lnTo>
                <a:lnTo>
                  <a:pt x="171596" y="324689"/>
                </a:lnTo>
                <a:lnTo>
                  <a:pt x="163243" y="324689"/>
                </a:lnTo>
                <a:cubicBezTo>
                  <a:pt x="159785" y="324689"/>
                  <a:pt x="156632" y="323270"/>
                  <a:pt x="154346" y="320984"/>
                </a:cubicBezTo>
                <a:cubicBezTo>
                  <a:pt x="152060" y="318698"/>
                  <a:pt x="150632" y="315545"/>
                  <a:pt x="150632" y="312088"/>
                </a:cubicBezTo>
                <a:cubicBezTo>
                  <a:pt x="150632" y="308630"/>
                  <a:pt x="152051" y="305478"/>
                  <a:pt x="154346" y="303192"/>
                </a:cubicBezTo>
                <a:cubicBezTo>
                  <a:pt x="156632" y="300906"/>
                  <a:pt x="159785" y="299486"/>
                  <a:pt x="163243" y="299486"/>
                </a:cubicBezTo>
                <a:lnTo>
                  <a:pt x="331721" y="299486"/>
                </a:lnTo>
                <a:lnTo>
                  <a:pt x="331721" y="299486"/>
                </a:lnTo>
                <a:close/>
                <a:moveTo>
                  <a:pt x="682098" y="456258"/>
                </a:moveTo>
                <a:cubicBezTo>
                  <a:pt x="724056" y="445562"/>
                  <a:pt x="761394" y="423426"/>
                  <a:pt x="790626" y="393422"/>
                </a:cubicBezTo>
                <a:cubicBezTo>
                  <a:pt x="832003" y="350950"/>
                  <a:pt x="857177" y="292685"/>
                  <a:pt x="856339" y="228706"/>
                </a:cubicBezTo>
                <a:cubicBezTo>
                  <a:pt x="855501" y="164708"/>
                  <a:pt x="828812" y="107110"/>
                  <a:pt x="786330" y="65733"/>
                </a:cubicBezTo>
                <a:cubicBezTo>
                  <a:pt x="743858" y="24357"/>
                  <a:pt x="685594" y="-818"/>
                  <a:pt x="621614" y="20"/>
                </a:cubicBezTo>
                <a:cubicBezTo>
                  <a:pt x="557616" y="858"/>
                  <a:pt x="500018" y="27548"/>
                  <a:pt x="458632" y="70029"/>
                </a:cubicBezTo>
                <a:cubicBezTo>
                  <a:pt x="417255" y="112501"/>
                  <a:pt x="392081" y="170765"/>
                  <a:pt x="392919" y="234745"/>
                </a:cubicBezTo>
                <a:cubicBezTo>
                  <a:pt x="393757" y="298743"/>
                  <a:pt x="420446" y="356341"/>
                  <a:pt x="462918" y="397718"/>
                </a:cubicBezTo>
                <a:cubicBezTo>
                  <a:pt x="491931" y="425988"/>
                  <a:pt x="528326" y="446686"/>
                  <a:pt x="568874" y="456706"/>
                </a:cubicBezTo>
                <a:lnTo>
                  <a:pt x="569151" y="540012"/>
                </a:lnTo>
                <a:cubicBezTo>
                  <a:pt x="565807" y="541602"/>
                  <a:pt x="562721" y="543517"/>
                  <a:pt x="559959" y="545698"/>
                </a:cubicBezTo>
                <a:cubicBezTo>
                  <a:pt x="550720" y="552975"/>
                  <a:pt x="544938" y="563253"/>
                  <a:pt x="544862" y="574749"/>
                </a:cubicBezTo>
                <a:lnTo>
                  <a:pt x="543586" y="762792"/>
                </a:lnTo>
                <a:cubicBezTo>
                  <a:pt x="543538" y="774222"/>
                  <a:pt x="549129" y="784490"/>
                  <a:pt x="558206" y="791834"/>
                </a:cubicBezTo>
                <a:cubicBezTo>
                  <a:pt x="566750" y="798758"/>
                  <a:pt x="578485" y="803092"/>
                  <a:pt x="591363" y="803178"/>
                </a:cubicBezTo>
                <a:cubicBezTo>
                  <a:pt x="612956" y="803492"/>
                  <a:pt x="634683" y="803359"/>
                  <a:pt x="656295" y="803454"/>
                </a:cubicBezTo>
                <a:cubicBezTo>
                  <a:pt x="669211" y="803511"/>
                  <a:pt x="681079" y="799292"/>
                  <a:pt x="689756" y="792453"/>
                </a:cubicBezTo>
                <a:cubicBezTo>
                  <a:pt x="698995" y="785166"/>
                  <a:pt x="704777" y="774898"/>
                  <a:pt x="704844" y="763411"/>
                </a:cubicBezTo>
                <a:lnTo>
                  <a:pt x="706111" y="576235"/>
                </a:lnTo>
                <a:cubicBezTo>
                  <a:pt x="706139" y="575959"/>
                  <a:pt x="706149" y="575683"/>
                  <a:pt x="706149" y="575407"/>
                </a:cubicBezTo>
                <a:lnTo>
                  <a:pt x="706149" y="575368"/>
                </a:lnTo>
                <a:lnTo>
                  <a:pt x="706120" y="575368"/>
                </a:lnTo>
                <a:cubicBezTo>
                  <a:pt x="706158" y="563938"/>
                  <a:pt x="700558" y="553670"/>
                  <a:pt x="691490" y="546327"/>
                </a:cubicBezTo>
                <a:cubicBezTo>
                  <a:pt x="688756" y="544117"/>
                  <a:pt x="685699" y="542164"/>
                  <a:pt x="682384" y="540536"/>
                </a:cubicBezTo>
                <a:lnTo>
                  <a:pt x="682098" y="456258"/>
                </a:lnTo>
                <a:lnTo>
                  <a:pt x="682098" y="456258"/>
                </a:lnTo>
                <a:close/>
                <a:moveTo>
                  <a:pt x="625786" y="552232"/>
                </a:moveTo>
                <a:lnTo>
                  <a:pt x="658152" y="552366"/>
                </a:lnTo>
                <a:lnTo>
                  <a:pt x="658219" y="552366"/>
                </a:lnTo>
                <a:cubicBezTo>
                  <a:pt x="667010" y="552413"/>
                  <a:pt x="674878" y="555261"/>
                  <a:pt x="680498" y="559814"/>
                </a:cubicBezTo>
                <a:cubicBezTo>
                  <a:pt x="685594" y="563938"/>
                  <a:pt x="688737" y="569434"/>
                  <a:pt x="688708" y="575302"/>
                </a:cubicBezTo>
                <a:lnTo>
                  <a:pt x="688708" y="575330"/>
                </a:lnTo>
                <a:lnTo>
                  <a:pt x="688670" y="575330"/>
                </a:lnTo>
                <a:lnTo>
                  <a:pt x="688670" y="575368"/>
                </a:lnTo>
                <a:cubicBezTo>
                  <a:pt x="688670" y="575607"/>
                  <a:pt x="688680" y="575845"/>
                  <a:pt x="688699" y="576083"/>
                </a:cubicBezTo>
                <a:lnTo>
                  <a:pt x="687432" y="763306"/>
                </a:lnTo>
                <a:cubicBezTo>
                  <a:pt x="687403" y="769145"/>
                  <a:pt x="684155" y="774612"/>
                  <a:pt x="678964" y="778699"/>
                </a:cubicBezTo>
                <a:cubicBezTo>
                  <a:pt x="673192" y="783252"/>
                  <a:pt x="665182" y="786052"/>
                  <a:pt x="656362" y="786014"/>
                </a:cubicBezTo>
                <a:cubicBezTo>
                  <a:pt x="634721" y="785919"/>
                  <a:pt x="613070" y="785852"/>
                  <a:pt x="591439" y="785738"/>
                </a:cubicBezTo>
                <a:cubicBezTo>
                  <a:pt x="582676" y="785680"/>
                  <a:pt x="574808" y="782832"/>
                  <a:pt x="569198" y="778289"/>
                </a:cubicBezTo>
                <a:cubicBezTo>
                  <a:pt x="564112" y="774165"/>
                  <a:pt x="560978" y="768688"/>
                  <a:pt x="560997" y="762830"/>
                </a:cubicBezTo>
                <a:lnTo>
                  <a:pt x="562274" y="574797"/>
                </a:lnTo>
                <a:cubicBezTo>
                  <a:pt x="562312" y="568958"/>
                  <a:pt x="565560" y="563491"/>
                  <a:pt x="570751" y="559405"/>
                </a:cubicBezTo>
                <a:cubicBezTo>
                  <a:pt x="575389" y="555747"/>
                  <a:pt x="581466" y="553223"/>
                  <a:pt x="588248" y="552394"/>
                </a:cubicBezTo>
                <a:lnTo>
                  <a:pt x="625786" y="552232"/>
                </a:lnTo>
                <a:lnTo>
                  <a:pt x="625786" y="552232"/>
                </a:lnTo>
                <a:close/>
                <a:moveTo>
                  <a:pt x="586305" y="460297"/>
                </a:moveTo>
                <a:cubicBezTo>
                  <a:pt x="599735" y="462535"/>
                  <a:pt x="613556" y="463612"/>
                  <a:pt x="627644" y="463431"/>
                </a:cubicBezTo>
                <a:cubicBezTo>
                  <a:pt x="640274" y="463269"/>
                  <a:pt x="652647" y="462088"/>
                  <a:pt x="664696" y="459992"/>
                </a:cubicBezTo>
                <a:lnTo>
                  <a:pt x="664944" y="534659"/>
                </a:lnTo>
                <a:lnTo>
                  <a:pt x="625796" y="534830"/>
                </a:lnTo>
                <a:lnTo>
                  <a:pt x="593411" y="534697"/>
                </a:lnTo>
                <a:cubicBezTo>
                  <a:pt x="591325" y="534687"/>
                  <a:pt x="589258" y="534792"/>
                  <a:pt x="587229" y="535001"/>
                </a:cubicBezTo>
                <a:lnTo>
                  <a:pt x="586553" y="535001"/>
                </a:lnTo>
                <a:lnTo>
                  <a:pt x="586305" y="460297"/>
                </a:lnTo>
                <a:lnTo>
                  <a:pt x="586305" y="460297"/>
                </a:lnTo>
                <a:close/>
                <a:moveTo>
                  <a:pt x="622624" y="69572"/>
                </a:moveTo>
                <a:lnTo>
                  <a:pt x="622624" y="69610"/>
                </a:lnTo>
                <a:lnTo>
                  <a:pt x="622519" y="69610"/>
                </a:lnTo>
                <a:cubicBezTo>
                  <a:pt x="577733" y="70191"/>
                  <a:pt x="537432" y="88870"/>
                  <a:pt x="508486" y="118588"/>
                </a:cubicBezTo>
                <a:cubicBezTo>
                  <a:pt x="479720" y="148125"/>
                  <a:pt x="462147" y="188568"/>
                  <a:pt x="462509" y="233021"/>
                </a:cubicBezTo>
                <a:cubicBezTo>
                  <a:pt x="462490" y="233249"/>
                  <a:pt x="462480" y="233488"/>
                  <a:pt x="462480" y="233726"/>
                </a:cubicBezTo>
                <a:lnTo>
                  <a:pt x="462518" y="233726"/>
                </a:lnTo>
                <a:lnTo>
                  <a:pt x="462518" y="233830"/>
                </a:lnTo>
                <a:cubicBezTo>
                  <a:pt x="463099" y="278608"/>
                  <a:pt x="481778" y="318917"/>
                  <a:pt x="511496" y="347864"/>
                </a:cubicBezTo>
                <a:cubicBezTo>
                  <a:pt x="541204" y="376810"/>
                  <a:pt x="581971" y="394422"/>
                  <a:pt x="626739" y="393841"/>
                </a:cubicBezTo>
                <a:cubicBezTo>
                  <a:pt x="671525" y="393250"/>
                  <a:pt x="711826" y="374581"/>
                  <a:pt x="740772" y="344863"/>
                </a:cubicBezTo>
                <a:cubicBezTo>
                  <a:pt x="769547" y="315336"/>
                  <a:pt x="787111" y="274883"/>
                  <a:pt x="786749" y="230430"/>
                </a:cubicBezTo>
                <a:cubicBezTo>
                  <a:pt x="786768" y="230192"/>
                  <a:pt x="786778" y="229963"/>
                  <a:pt x="786778" y="229716"/>
                </a:cubicBezTo>
                <a:lnTo>
                  <a:pt x="786749" y="229716"/>
                </a:lnTo>
                <a:lnTo>
                  <a:pt x="786749" y="229611"/>
                </a:lnTo>
                <a:cubicBezTo>
                  <a:pt x="786159" y="184834"/>
                  <a:pt x="767490" y="144534"/>
                  <a:pt x="737772" y="115578"/>
                </a:cubicBezTo>
                <a:cubicBezTo>
                  <a:pt x="708235" y="86803"/>
                  <a:pt x="667791" y="69238"/>
                  <a:pt x="623338" y="69600"/>
                </a:cubicBezTo>
                <a:cubicBezTo>
                  <a:pt x="623110" y="69581"/>
                  <a:pt x="622872" y="69572"/>
                  <a:pt x="622624" y="69572"/>
                </a:cubicBezTo>
                <a:lnTo>
                  <a:pt x="622624" y="69572"/>
                </a:lnTo>
                <a:close/>
                <a:moveTo>
                  <a:pt x="622633" y="87050"/>
                </a:moveTo>
                <a:lnTo>
                  <a:pt x="622633" y="87022"/>
                </a:lnTo>
                <a:cubicBezTo>
                  <a:pt x="582733" y="87574"/>
                  <a:pt x="546814" y="104233"/>
                  <a:pt x="520992" y="130741"/>
                </a:cubicBezTo>
                <a:cubicBezTo>
                  <a:pt x="495294" y="157116"/>
                  <a:pt x="479606" y="193235"/>
                  <a:pt x="479930" y="232907"/>
                </a:cubicBezTo>
                <a:cubicBezTo>
                  <a:pt x="479958" y="233173"/>
                  <a:pt x="479968" y="233449"/>
                  <a:pt x="479968" y="233726"/>
                </a:cubicBezTo>
                <a:lnTo>
                  <a:pt x="479939" y="233726"/>
                </a:lnTo>
                <a:cubicBezTo>
                  <a:pt x="480492" y="273626"/>
                  <a:pt x="497151" y="309545"/>
                  <a:pt x="523659" y="335367"/>
                </a:cubicBezTo>
                <a:cubicBezTo>
                  <a:pt x="550196" y="361218"/>
                  <a:pt x="586591" y="376944"/>
                  <a:pt x="626548" y="376420"/>
                </a:cubicBezTo>
                <a:cubicBezTo>
                  <a:pt x="666496" y="375896"/>
                  <a:pt x="702443" y="359227"/>
                  <a:pt x="728294" y="332700"/>
                </a:cubicBezTo>
                <a:cubicBezTo>
                  <a:pt x="753993" y="306325"/>
                  <a:pt x="769680" y="270206"/>
                  <a:pt x="769357" y="230535"/>
                </a:cubicBezTo>
                <a:cubicBezTo>
                  <a:pt x="769328" y="230259"/>
                  <a:pt x="769318" y="229992"/>
                  <a:pt x="769318" y="229706"/>
                </a:cubicBezTo>
                <a:lnTo>
                  <a:pt x="769347" y="229706"/>
                </a:lnTo>
                <a:cubicBezTo>
                  <a:pt x="768795" y="189806"/>
                  <a:pt x="752135" y="153887"/>
                  <a:pt x="725627" y="128065"/>
                </a:cubicBezTo>
                <a:cubicBezTo>
                  <a:pt x="699253" y="102366"/>
                  <a:pt x="663134" y="86679"/>
                  <a:pt x="623462" y="87003"/>
                </a:cubicBezTo>
                <a:cubicBezTo>
                  <a:pt x="623186" y="87031"/>
                  <a:pt x="622910" y="87050"/>
                  <a:pt x="622633" y="87050"/>
                </a:cubicBezTo>
                <a:lnTo>
                  <a:pt x="622633" y="87050"/>
                </a:lnTo>
                <a:close/>
                <a:moveTo>
                  <a:pt x="774186" y="78221"/>
                </a:moveTo>
                <a:cubicBezTo>
                  <a:pt x="734886" y="39940"/>
                  <a:pt x="680993" y="16651"/>
                  <a:pt x="621824" y="17422"/>
                </a:cubicBezTo>
                <a:cubicBezTo>
                  <a:pt x="562664" y="18194"/>
                  <a:pt x="509410" y="42883"/>
                  <a:pt x="471138" y="82173"/>
                </a:cubicBezTo>
                <a:cubicBezTo>
                  <a:pt x="432857" y="121464"/>
                  <a:pt x="409569" y="175356"/>
                  <a:pt x="410340" y="234535"/>
                </a:cubicBezTo>
                <a:cubicBezTo>
                  <a:pt x="411112" y="293695"/>
                  <a:pt x="435801" y="346949"/>
                  <a:pt x="475091" y="385221"/>
                </a:cubicBezTo>
                <a:cubicBezTo>
                  <a:pt x="514382" y="423502"/>
                  <a:pt x="568274" y="446790"/>
                  <a:pt x="627453" y="446019"/>
                </a:cubicBezTo>
                <a:cubicBezTo>
                  <a:pt x="686613" y="445247"/>
                  <a:pt x="739867" y="420559"/>
                  <a:pt x="778139" y="381268"/>
                </a:cubicBezTo>
                <a:cubicBezTo>
                  <a:pt x="816420" y="341977"/>
                  <a:pt x="839708" y="288085"/>
                  <a:pt x="838937" y="228906"/>
                </a:cubicBezTo>
                <a:cubicBezTo>
                  <a:pt x="838156" y="169746"/>
                  <a:pt x="813467" y="116492"/>
                  <a:pt x="774186" y="78221"/>
                </a:cubicBezTo>
                <a:lnTo>
                  <a:pt x="774186" y="78221"/>
                </a:lnTo>
                <a:close/>
                <a:moveTo>
                  <a:pt x="256026" y="127293"/>
                </a:moveTo>
                <a:lnTo>
                  <a:pt x="256054" y="127274"/>
                </a:lnTo>
                <a:lnTo>
                  <a:pt x="256073" y="127265"/>
                </a:lnTo>
                <a:lnTo>
                  <a:pt x="304632" y="97204"/>
                </a:lnTo>
                <a:cubicBezTo>
                  <a:pt x="305070" y="96871"/>
                  <a:pt x="305527" y="96594"/>
                  <a:pt x="306013" y="96356"/>
                </a:cubicBezTo>
                <a:cubicBezTo>
                  <a:pt x="316843" y="89917"/>
                  <a:pt x="329283" y="88355"/>
                  <a:pt x="340703" y="91041"/>
                </a:cubicBezTo>
                <a:cubicBezTo>
                  <a:pt x="352152" y="93737"/>
                  <a:pt x="362601" y="100690"/>
                  <a:pt x="369430" y="111282"/>
                </a:cubicBezTo>
                <a:cubicBezTo>
                  <a:pt x="369783" y="111739"/>
                  <a:pt x="370078" y="112234"/>
                  <a:pt x="370326" y="112739"/>
                </a:cubicBezTo>
                <a:cubicBezTo>
                  <a:pt x="376765" y="123569"/>
                  <a:pt x="378327" y="136009"/>
                  <a:pt x="375641" y="147439"/>
                </a:cubicBezTo>
                <a:cubicBezTo>
                  <a:pt x="372888" y="159145"/>
                  <a:pt x="365678" y="169813"/>
                  <a:pt x="354667" y="176623"/>
                </a:cubicBezTo>
                <a:lnTo>
                  <a:pt x="305460" y="207084"/>
                </a:lnTo>
                <a:lnTo>
                  <a:pt x="305441" y="207094"/>
                </a:lnTo>
                <a:lnTo>
                  <a:pt x="305432" y="207103"/>
                </a:lnTo>
                <a:lnTo>
                  <a:pt x="256873" y="237164"/>
                </a:lnTo>
                <a:cubicBezTo>
                  <a:pt x="256435" y="237488"/>
                  <a:pt x="255978" y="237774"/>
                  <a:pt x="255492" y="238002"/>
                </a:cubicBezTo>
                <a:cubicBezTo>
                  <a:pt x="244662" y="244441"/>
                  <a:pt x="232223" y="246003"/>
                  <a:pt x="220802" y="243317"/>
                </a:cubicBezTo>
                <a:cubicBezTo>
                  <a:pt x="209448" y="240650"/>
                  <a:pt x="199066" y="233773"/>
                  <a:pt x="192237" y="223315"/>
                </a:cubicBezTo>
                <a:cubicBezTo>
                  <a:pt x="182359" y="232078"/>
                  <a:pt x="170358" y="237631"/>
                  <a:pt x="157785" y="239717"/>
                </a:cubicBezTo>
                <a:cubicBezTo>
                  <a:pt x="140402" y="242603"/>
                  <a:pt x="121914" y="238850"/>
                  <a:pt x="106436" y="227792"/>
                </a:cubicBezTo>
                <a:lnTo>
                  <a:pt x="106436" y="227792"/>
                </a:lnTo>
                <a:cubicBezTo>
                  <a:pt x="90938" y="216705"/>
                  <a:pt x="81404" y="200388"/>
                  <a:pt x="78508" y="182977"/>
                </a:cubicBezTo>
                <a:cubicBezTo>
                  <a:pt x="75622" y="165593"/>
                  <a:pt x="79375" y="147105"/>
                  <a:pt x="90434" y="131627"/>
                </a:cubicBezTo>
                <a:cubicBezTo>
                  <a:pt x="101521" y="116130"/>
                  <a:pt x="117837" y="106596"/>
                  <a:pt x="135249" y="103700"/>
                </a:cubicBezTo>
                <a:cubicBezTo>
                  <a:pt x="152632" y="100814"/>
                  <a:pt x="171110" y="104557"/>
                  <a:pt x="186579" y="115616"/>
                </a:cubicBezTo>
                <a:lnTo>
                  <a:pt x="186588" y="115625"/>
                </a:lnTo>
                <a:lnTo>
                  <a:pt x="186588" y="115625"/>
                </a:lnTo>
                <a:lnTo>
                  <a:pt x="186598" y="115635"/>
                </a:lnTo>
                <a:lnTo>
                  <a:pt x="186598" y="115635"/>
                </a:lnTo>
                <a:cubicBezTo>
                  <a:pt x="200114" y="125303"/>
                  <a:pt x="209096" y="138952"/>
                  <a:pt x="213077" y="153849"/>
                </a:cubicBezTo>
                <a:lnTo>
                  <a:pt x="256026" y="127293"/>
                </a:lnTo>
                <a:lnTo>
                  <a:pt x="256026" y="127293"/>
                </a:lnTo>
                <a:close/>
                <a:moveTo>
                  <a:pt x="272609" y="137514"/>
                </a:moveTo>
                <a:lnTo>
                  <a:pt x="303689" y="187720"/>
                </a:lnTo>
                <a:lnTo>
                  <a:pt x="345513" y="161831"/>
                </a:lnTo>
                <a:cubicBezTo>
                  <a:pt x="352381" y="157573"/>
                  <a:pt x="356895" y="150868"/>
                  <a:pt x="358629" y="143495"/>
                </a:cubicBezTo>
                <a:cubicBezTo>
                  <a:pt x="360372" y="136104"/>
                  <a:pt x="359324" y="128074"/>
                  <a:pt x="355067" y="121188"/>
                </a:cubicBezTo>
                <a:lnTo>
                  <a:pt x="355057" y="121178"/>
                </a:lnTo>
                <a:cubicBezTo>
                  <a:pt x="350799" y="114311"/>
                  <a:pt x="344094" y="109796"/>
                  <a:pt x="336722" y="108062"/>
                </a:cubicBezTo>
                <a:cubicBezTo>
                  <a:pt x="329330" y="106329"/>
                  <a:pt x="321301" y="107367"/>
                  <a:pt x="314414" y="111634"/>
                </a:cubicBezTo>
                <a:lnTo>
                  <a:pt x="272609" y="137514"/>
                </a:lnTo>
                <a:lnTo>
                  <a:pt x="272609" y="137514"/>
                </a:lnTo>
                <a:close/>
                <a:moveTo>
                  <a:pt x="288887" y="196883"/>
                </a:moveTo>
                <a:lnTo>
                  <a:pt x="257807" y="146677"/>
                </a:lnTo>
                <a:lnTo>
                  <a:pt x="215973" y="172566"/>
                </a:lnTo>
                <a:cubicBezTo>
                  <a:pt x="215859" y="172632"/>
                  <a:pt x="215687" y="172747"/>
                  <a:pt x="215449" y="172909"/>
                </a:cubicBezTo>
                <a:cubicBezTo>
                  <a:pt x="215249" y="185434"/>
                  <a:pt x="211630" y="198026"/>
                  <a:pt x="204362" y="209218"/>
                </a:cubicBezTo>
                <a:lnTo>
                  <a:pt x="204476" y="209494"/>
                </a:lnTo>
                <a:cubicBezTo>
                  <a:pt x="205038" y="210780"/>
                  <a:pt x="205686" y="212028"/>
                  <a:pt x="206410" y="213199"/>
                </a:cubicBezTo>
                <a:lnTo>
                  <a:pt x="206420" y="213209"/>
                </a:lnTo>
                <a:cubicBezTo>
                  <a:pt x="210677" y="220076"/>
                  <a:pt x="217383" y="224591"/>
                  <a:pt x="224755" y="226325"/>
                </a:cubicBezTo>
                <a:cubicBezTo>
                  <a:pt x="232147" y="228068"/>
                  <a:pt x="240186" y="227020"/>
                  <a:pt x="247063" y="222762"/>
                </a:cubicBezTo>
                <a:lnTo>
                  <a:pt x="288887" y="196883"/>
                </a:lnTo>
                <a:lnTo>
                  <a:pt x="288887" y="196883"/>
                </a:lnTo>
                <a:close/>
                <a:moveTo>
                  <a:pt x="124076" y="218095"/>
                </a:moveTo>
                <a:lnTo>
                  <a:pt x="183150" y="135504"/>
                </a:lnTo>
                <a:cubicBezTo>
                  <a:pt x="190808" y="143229"/>
                  <a:pt x="195628" y="152992"/>
                  <a:pt x="197333" y="163269"/>
                </a:cubicBezTo>
                <a:cubicBezTo>
                  <a:pt x="199466" y="176099"/>
                  <a:pt x="196771" y="189730"/>
                  <a:pt x="188770" y="201207"/>
                </a:cubicBezTo>
                <a:cubicBezTo>
                  <a:pt x="188503" y="201522"/>
                  <a:pt x="188274" y="201846"/>
                  <a:pt x="188065" y="202188"/>
                </a:cubicBezTo>
                <a:cubicBezTo>
                  <a:pt x="179807" y="213466"/>
                  <a:pt x="167805" y="220410"/>
                  <a:pt x="154994" y="222534"/>
                </a:cubicBezTo>
                <a:cubicBezTo>
                  <a:pt x="144688" y="224248"/>
                  <a:pt x="133868" y="222848"/>
                  <a:pt x="124076" y="218095"/>
                </a:cubicBezTo>
                <a:close/>
              </a:path>
            </a:pathLst>
          </a:custGeom>
          <a:solidFill>
            <a:srgbClr val="00823B"/>
          </a:solidFill>
          <a:ln w="9525" cap="flat">
            <a:noFill/>
            <a:prstDash val="solid"/>
            <a:miter/>
          </a:ln>
        </p:spPr>
        <p:txBody>
          <a:bodyPr rtlCol="0" anchor="ctr"/>
          <a:lstStyle/>
          <a:p>
            <a:endParaRPr lang="en-US" noProof="0" dirty="0"/>
          </a:p>
        </p:txBody>
      </p:sp>
      <p:sp>
        <p:nvSpPr>
          <p:cNvPr id="9" name="Chevron 7">
            <a:extLst>
              <a:ext uri="{FF2B5EF4-FFF2-40B4-BE49-F238E27FC236}">
                <a16:creationId xmlns:a16="http://schemas.microsoft.com/office/drawing/2014/main" id="{957544C5-2720-F5F5-3B3F-8F05FA7E3F3C}"/>
              </a:ext>
            </a:extLst>
          </p:cNvPr>
          <p:cNvSpPr/>
          <p:nvPr/>
        </p:nvSpPr>
        <p:spPr>
          <a:xfrm>
            <a:off x="9478932" y="1644995"/>
            <a:ext cx="2039674" cy="266659"/>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cs typeface="Poppins" pitchFamily="2" charset="77"/>
              </a:rPr>
              <a:t>Super Treaters</a:t>
            </a:r>
          </a:p>
        </p:txBody>
      </p:sp>
      <p:sp>
        <p:nvSpPr>
          <p:cNvPr id="22" name="Freeform: Shape 21">
            <a:extLst>
              <a:ext uri="{FF2B5EF4-FFF2-40B4-BE49-F238E27FC236}">
                <a16:creationId xmlns:a16="http://schemas.microsoft.com/office/drawing/2014/main" id="{E541FC7E-A08A-0092-AB35-6F9C3E254A6F}"/>
              </a:ext>
            </a:extLst>
          </p:cNvPr>
          <p:cNvSpPr>
            <a:spLocks/>
          </p:cNvSpPr>
          <p:nvPr/>
        </p:nvSpPr>
        <p:spPr>
          <a:xfrm>
            <a:off x="10270169" y="993594"/>
            <a:ext cx="457200" cy="484632"/>
          </a:xfrm>
          <a:custGeom>
            <a:avLst/>
            <a:gdLst>
              <a:gd name="connsiteX0" fmla="*/ 396088 w 738558"/>
              <a:gd name="connsiteY0" fmla="*/ 706745 h 857250"/>
              <a:gd name="connsiteX1" fmla="*/ 395754 w 738558"/>
              <a:gd name="connsiteY1" fmla="*/ 722490 h 857250"/>
              <a:gd name="connsiteX2" fmla="*/ 368703 w 738558"/>
              <a:gd name="connsiteY2" fmla="*/ 748417 h 857250"/>
              <a:gd name="connsiteX3" fmla="*/ 360998 w 738558"/>
              <a:gd name="connsiteY3" fmla="*/ 751513 h 857250"/>
              <a:gd name="connsiteX4" fmla="*/ 360188 w 738558"/>
              <a:gd name="connsiteY4" fmla="*/ 751484 h 857250"/>
              <a:gd name="connsiteX5" fmla="*/ 352206 w 738558"/>
              <a:gd name="connsiteY5" fmla="*/ 747217 h 857250"/>
              <a:gd name="connsiteX6" fmla="*/ 341700 w 738558"/>
              <a:gd name="connsiteY6" fmla="*/ 733711 h 857250"/>
              <a:gd name="connsiteX7" fmla="*/ 343653 w 738558"/>
              <a:gd name="connsiteY7" fmla="*/ 718090 h 857250"/>
              <a:gd name="connsiteX8" fmla="*/ 359273 w 738558"/>
              <a:gd name="connsiteY8" fmla="*/ 720042 h 857250"/>
              <a:gd name="connsiteX9" fmla="*/ 362198 w 738558"/>
              <a:gd name="connsiteY9" fmla="*/ 723805 h 857250"/>
              <a:gd name="connsiteX10" fmla="*/ 380333 w 738558"/>
              <a:gd name="connsiteY10" fmla="*/ 706422 h 857250"/>
              <a:gd name="connsiteX11" fmla="*/ 396088 w 738558"/>
              <a:gd name="connsiteY11" fmla="*/ 706745 h 857250"/>
              <a:gd name="connsiteX12" fmla="*/ 380048 w 738558"/>
              <a:gd name="connsiteY12" fmla="*/ 269157 h 857250"/>
              <a:gd name="connsiteX13" fmla="*/ 372285 w 738558"/>
              <a:gd name="connsiteY13" fmla="*/ 328689 h 857250"/>
              <a:gd name="connsiteX14" fmla="*/ 280111 w 738558"/>
              <a:gd name="connsiteY14" fmla="*/ 488337 h 857250"/>
              <a:gd name="connsiteX15" fmla="*/ 212017 w 738558"/>
              <a:gd name="connsiteY15" fmla="*/ 527561 h 857250"/>
              <a:gd name="connsiteX16" fmla="*/ 172917 w 738558"/>
              <a:gd name="connsiteY16" fmla="*/ 517065 h 857250"/>
              <a:gd name="connsiteX17" fmla="*/ 144189 w 738558"/>
              <a:gd name="connsiteY17" fmla="*/ 409861 h 857250"/>
              <a:gd name="connsiteX18" fmla="*/ 236363 w 738558"/>
              <a:gd name="connsiteY18" fmla="*/ 250212 h 857250"/>
              <a:gd name="connsiteX19" fmla="*/ 343557 w 738558"/>
              <a:gd name="connsiteY19" fmla="*/ 221485 h 857250"/>
              <a:gd name="connsiteX20" fmla="*/ 380048 w 738558"/>
              <a:gd name="connsiteY20" fmla="*/ 269157 h 857250"/>
              <a:gd name="connsiteX21" fmla="*/ 304162 w 738558"/>
              <a:gd name="connsiteY21" fmla="*/ 402155 h 857250"/>
              <a:gd name="connsiteX22" fmla="*/ 206826 w 738558"/>
              <a:gd name="connsiteY22" fmla="*/ 345910 h 857250"/>
              <a:gd name="connsiteX23" fmla="*/ 163478 w 738558"/>
              <a:gd name="connsiteY23" fmla="*/ 420986 h 857250"/>
              <a:gd name="connsiteX24" fmla="*/ 157944 w 738558"/>
              <a:gd name="connsiteY24" fmla="*/ 463620 h 857250"/>
              <a:gd name="connsiteX25" fmla="*/ 184052 w 738558"/>
              <a:gd name="connsiteY25" fmla="*/ 497767 h 857250"/>
              <a:gd name="connsiteX26" fmla="*/ 260833 w 738558"/>
              <a:gd name="connsiteY26" fmla="*/ 477193 h 857250"/>
              <a:gd name="connsiteX27" fmla="*/ 304162 w 738558"/>
              <a:gd name="connsiteY27" fmla="*/ 402155 h 857250"/>
              <a:gd name="connsiteX28" fmla="*/ 332432 w 738558"/>
              <a:gd name="connsiteY28" fmla="*/ 240773 h 857250"/>
              <a:gd name="connsiteX29" fmla="*/ 337995 w 738558"/>
              <a:gd name="connsiteY29" fmla="*/ 231134 h 857250"/>
              <a:gd name="connsiteX30" fmla="*/ 332432 w 738558"/>
              <a:gd name="connsiteY30" fmla="*/ 240773 h 857250"/>
              <a:gd name="connsiteX31" fmla="*/ 304419 w 738558"/>
              <a:gd name="connsiteY31" fmla="*/ 233258 h 857250"/>
              <a:gd name="connsiteX32" fmla="*/ 255641 w 738558"/>
              <a:gd name="connsiteY32" fmla="*/ 261347 h 857250"/>
              <a:gd name="connsiteX33" fmla="*/ 217980 w 738558"/>
              <a:gd name="connsiteY33" fmla="*/ 326584 h 857250"/>
              <a:gd name="connsiteX34" fmla="*/ 315316 w 738558"/>
              <a:gd name="connsiteY34" fmla="*/ 382829 h 857250"/>
              <a:gd name="connsiteX35" fmla="*/ 353006 w 738558"/>
              <a:gd name="connsiteY35" fmla="*/ 317554 h 857250"/>
              <a:gd name="connsiteX36" fmla="*/ 332432 w 738558"/>
              <a:gd name="connsiteY36" fmla="*/ 240773 h 857250"/>
              <a:gd name="connsiteX37" fmla="*/ 331584 w 738558"/>
              <a:gd name="connsiteY37" fmla="*/ 250574 h 857250"/>
              <a:gd name="connsiteX38" fmla="*/ 293494 w 738558"/>
              <a:gd name="connsiteY38" fmla="*/ 242964 h 857250"/>
              <a:gd name="connsiteX39" fmla="*/ 259852 w 738558"/>
              <a:gd name="connsiteY39" fmla="*/ 268834 h 857250"/>
              <a:gd name="connsiteX40" fmla="*/ 264128 w 738558"/>
              <a:gd name="connsiteY40" fmla="*/ 283988 h 857250"/>
              <a:gd name="connsiteX41" fmla="*/ 269557 w 738558"/>
              <a:gd name="connsiteY41" fmla="*/ 285407 h 857250"/>
              <a:gd name="connsiteX42" fmla="*/ 279283 w 738558"/>
              <a:gd name="connsiteY42" fmla="*/ 279711 h 857250"/>
              <a:gd name="connsiteX43" fmla="*/ 298447 w 738558"/>
              <a:gd name="connsiteY43" fmla="*/ 264671 h 857250"/>
              <a:gd name="connsiteX44" fmla="*/ 318802 w 738558"/>
              <a:gd name="connsiteY44" fmla="*/ 268796 h 857250"/>
              <a:gd name="connsiteX45" fmla="*/ 334308 w 738558"/>
              <a:gd name="connsiteY45" fmla="*/ 266081 h 857250"/>
              <a:gd name="connsiteX46" fmla="*/ 331584 w 738558"/>
              <a:gd name="connsiteY46" fmla="*/ 250574 h 857250"/>
              <a:gd name="connsiteX47" fmla="*/ 387658 w 738558"/>
              <a:gd name="connsiteY47" fmla="*/ 347434 h 857250"/>
              <a:gd name="connsiteX48" fmla="*/ 475555 w 738558"/>
              <a:gd name="connsiteY48" fmla="*/ 326384 h 857250"/>
              <a:gd name="connsiteX49" fmla="*/ 539515 w 738558"/>
              <a:gd name="connsiteY49" fmla="*/ 332394 h 857250"/>
              <a:gd name="connsiteX50" fmla="*/ 539944 w 738558"/>
              <a:gd name="connsiteY50" fmla="*/ 332508 h 857250"/>
              <a:gd name="connsiteX51" fmla="*/ 589940 w 738558"/>
              <a:gd name="connsiteY51" fmla="*/ 357321 h 857250"/>
              <a:gd name="connsiteX52" fmla="*/ 604818 w 738558"/>
              <a:gd name="connsiteY52" fmla="*/ 389172 h 857250"/>
              <a:gd name="connsiteX53" fmla="*/ 604818 w 738558"/>
              <a:gd name="connsiteY53" fmla="*/ 438093 h 857250"/>
              <a:gd name="connsiteX54" fmla="*/ 476736 w 738558"/>
              <a:gd name="connsiteY54" fmla="*/ 510483 h 857250"/>
              <a:gd name="connsiteX55" fmla="*/ 476126 w 738558"/>
              <a:gd name="connsiteY55" fmla="*/ 510502 h 857250"/>
              <a:gd name="connsiteX56" fmla="*/ 472850 w 738558"/>
              <a:gd name="connsiteY56" fmla="*/ 510521 h 857250"/>
              <a:gd name="connsiteX57" fmla="*/ 361045 w 738558"/>
              <a:gd name="connsiteY57" fmla="*/ 478479 h 857250"/>
              <a:gd name="connsiteX58" fmla="*/ 347186 w 738558"/>
              <a:gd name="connsiteY58" fmla="*/ 447456 h 857250"/>
              <a:gd name="connsiteX59" fmla="*/ 347186 w 738558"/>
              <a:gd name="connsiteY59" fmla="*/ 398526 h 857250"/>
              <a:gd name="connsiteX60" fmla="*/ 387658 w 738558"/>
              <a:gd name="connsiteY60" fmla="*/ 347434 h 857250"/>
              <a:gd name="connsiteX61" fmla="*/ 582549 w 738558"/>
              <a:gd name="connsiteY61" fmla="*/ 438074 h 857250"/>
              <a:gd name="connsiteX62" fmla="*/ 582549 w 738558"/>
              <a:gd name="connsiteY62" fmla="*/ 428568 h 857250"/>
              <a:gd name="connsiteX63" fmla="*/ 564337 w 738558"/>
              <a:gd name="connsiteY63" fmla="*/ 440246 h 857250"/>
              <a:gd name="connsiteX64" fmla="*/ 476441 w 738558"/>
              <a:gd name="connsiteY64" fmla="*/ 461296 h 857250"/>
              <a:gd name="connsiteX65" fmla="*/ 466134 w 738558"/>
              <a:gd name="connsiteY65" fmla="*/ 461505 h 857250"/>
              <a:gd name="connsiteX66" fmla="*/ 402250 w 738558"/>
              <a:gd name="connsiteY66" fmla="*/ 452399 h 857250"/>
              <a:gd name="connsiteX67" fmla="*/ 402184 w 738558"/>
              <a:gd name="connsiteY67" fmla="*/ 452380 h 857250"/>
              <a:gd name="connsiteX68" fmla="*/ 369456 w 738558"/>
              <a:gd name="connsiteY68" fmla="*/ 436521 h 857250"/>
              <a:gd name="connsiteX69" fmla="*/ 369456 w 738558"/>
              <a:gd name="connsiteY69" fmla="*/ 447446 h 857250"/>
              <a:gd name="connsiteX70" fmla="*/ 376695 w 738558"/>
              <a:gd name="connsiteY70" fmla="*/ 462629 h 857250"/>
              <a:gd name="connsiteX71" fmla="*/ 475555 w 738558"/>
              <a:gd name="connsiteY71" fmla="*/ 488232 h 857250"/>
              <a:gd name="connsiteX72" fmla="*/ 582549 w 738558"/>
              <a:gd name="connsiteY72" fmla="*/ 438074 h 857250"/>
              <a:gd name="connsiteX73" fmla="*/ 574510 w 738558"/>
              <a:gd name="connsiteY73" fmla="*/ 373361 h 857250"/>
              <a:gd name="connsiteX74" fmla="*/ 539439 w 738558"/>
              <a:gd name="connsiteY74" fmla="*/ 355368 h 857250"/>
              <a:gd name="connsiteX75" fmla="*/ 431549 w 738558"/>
              <a:gd name="connsiteY75" fmla="*/ 436521 h 857250"/>
              <a:gd name="connsiteX76" fmla="*/ 475555 w 738558"/>
              <a:gd name="connsiteY76" fmla="*/ 439045 h 857250"/>
              <a:gd name="connsiteX77" fmla="*/ 582549 w 738558"/>
              <a:gd name="connsiteY77" fmla="*/ 389153 h 857250"/>
              <a:gd name="connsiteX78" fmla="*/ 574510 w 738558"/>
              <a:gd name="connsiteY78" fmla="*/ 373361 h 857250"/>
              <a:gd name="connsiteX79" fmla="*/ 369446 w 738558"/>
              <a:gd name="connsiteY79" fmla="*/ 398526 h 857250"/>
              <a:gd name="connsiteX80" fmla="*/ 377485 w 738558"/>
              <a:gd name="connsiteY80" fmla="*/ 414318 h 857250"/>
              <a:gd name="connsiteX81" fmla="*/ 403851 w 738558"/>
              <a:gd name="connsiteY81" fmla="*/ 429492 h 857250"/>
              <a:gd name="connsiteX82" fmla="*/ 509892 w 738558"/>
              <a:gd name="connsiteY82" fmla="*/ 349729 h 857250"/>
              <a:gd name="connsiteX83" fmla="*/ 476441 w 738558"/>
              <a:gd name="connsiteY83" fmla="*/ 348634 h 857250"/>
              <a:gd name="connsiteX84" fmla="*/ 369446 w 738558"/>
              <a:gd name="connsiteY84" fmla="*/ 398526 h 857250"/>
              <a:gd name="connsiteX85" fmla="*/ 499110 w 738558"/>
              <a:gd name="connsiteY85" fmla="*/ 715061 h 857250"/>
              <a:gd name="connsiteX86" fmla="*/ 499110 w 738558"/>
              <a:gd name="connsiteY86" fmla="*/ 739769 h 857250"/>
              <a:gd name="connsiteX87" fmla="*/ 482327 w 738558"/>
              <a:gd name="connsiteY87" fmla="*/ 758676 h 857250"/>
              <a:gd name="connsiteX88" fmla="*/ 462858 w 738558"/>
              <a:gd name="connsiteY88" fmla="*/ 761009 h 857250"/>
              <a:gd name="connsiteX89" fmla="*/ 459200 w 738558"/>
              <a:gd name="connsiteY89" fmla="*/ 769830 h 857250"/>
              <a:gd name="connsiteX90" fmla="*/ 471326 w 738558"/>
              <a:gd name="connsiteY90" fmla="*/ 785251 h 857250"/>
              <a:gd name="connsiteX91" fmla="*/ 469821 w 738558"/>
              <a:gd name="connsiteY91" fmla="*/ 810492 h 857250"/>
              <a:gd name="connsiteX92" fmla="*/ 452352 w 738558"/>
              <a:gd name="connsiteY92" fmla="*/ 827961 h 857250"/>
              <a:gd name="connsiteX93" fmla="*/ 427120 w 738558"/>
              <a:gd name="connsiteY93" fmla="*/ 829466 h 857250"/>
              <a:gd name="connsiteX94" fmla="*/ 411690 w 738558"/>
              <a:gd name="connsiteY94" fmla="*/ 817340 h 857250"/>
              <a:gd name="connsiteX95" fmla="*/ 402879 w 738558"/>
              <a:gd name="connsiteY95" fmla="*/ 820998 h 857250"/>
              <a:gd name="connsiteX96" fmla="*/ 400545 w 738558"/>
              <a:gd name="connsiteY96" fmla="*/ 840476 h 857250"/>
              <a:gd name="connsiteX97" fmla="*/ 381629 w 738558"/>
              <a:gd name="connsiteY97" fmla="*/ 857250 h 857250"/>
              <a:gd name="connsiteX98" fmla="*/ 356930 w 738558"/>
              <a:gd name="connsiteY98" fmla="*/ 857250 h 857250"/>
              <a:gd name="connsiteX99" fmla="*/ 338023 w 738558"/>
              <a:gd name="connsiteY99" fmla="*/ 840467 h 857250"/>
              <a:gd name="connsiteX100" fmla="*/ 335690 w 738558"/>
              <a:gd name="connsiteY100" fmla="*/ 820988 h 857250"/>
              <a:gd name="connsiteX101" fmla="*/ 326869 w 738558"/>
              <a:gd name="connsiteY101" fmla="*/ 817331 h 857250"/>
              <a:gd name="connsiteX102" fmla="*/ 311439 w 738558"/>
              <a:gd name="connsiteY102" fmla="*/ 829456 h 857250"/>
              <a:gd name="connsiteX103" fmla="*/ 286198 w 738558"/>
              <a:gd name="connsiteY103" fmla="*/ 827951 h 857250"/>
              <a:gd name="connsiteX104" fmla="*/ 268729 w 738558"/>
              <a:gd name="connsiteY104" fmla="*/ 810482 h 857250"/>
              <a:gd name="connsiteX105" fmla="*/ 267224 w 738558"/>
              <a:gd name="connsiteY105" fmla="*/ 785241 h 857250"/>
              <a:gd name="connsiteX106" fmla="*/ 279349 w 738558"/>
              <a:gd name="connsiteY106" fmla="*/ 769811 h 857250"/>
              <a:gd name="connsiteX107" fmla="*/ 275692 w 738558"/>
              <a:gd name="connsiteY107" fmla="*/ 761000 h 857250"/>
              <a:gd name="connsiteX108" fmla="*/ 256213 w 738558"/>
              <a:gd name="connsiteY108" fmla="*/ 758666 h 857250"/>
              <a:gd name="connsiteX109" fmla="*/ 239430 w 738558"/>
              <a:gd name="connsiteY109" fmla="*/ 739759 h 857250"/>
              <a:gd name="connsiteX110" fmla="*/ 239430 w 738558"/>
              <a:gd name="connsiteY110" fmla="*/ 715051 h 857250"/>
              <a:gd name="connsiteX111" fmla="*/ 256203 w 738558"/>
              <a:gd name="connsiteY111" fmla="*/ 696144 h 857250"/>
              <a:gd name="connsiteX112" fmla="*/ 275682 w 738558"/>
              <a:gd name="connsiteY112" fmla="*/ 693811 h 857250"/>
              <a:gd name="connsiteX113" fmla="*/ 279340 w 738558"/>
              <a:gd name="connsiteY113" fmla="*/ 684990 h 857250"/>
              <a:gd name="connsiteX114" fmla="*/ 267214 w 738558"/>
              <a:gd name="connsiteY114" fmla="*/ 669560 h 857250"/>
              <a:gd name="connsiteX115" fmla="*/ 268719 w 738558"/>
              <a:gd name="connsiteY115" fmla="*/ 644319 h 857250"/>
              <a:gd name="connsiteX116" fmla="*/ 286188 w 738558"/>
              <a:gd name="connsiteY116" fmla="*/ 626850 h 857250"/>
              <a:gd name="connsiteX117" fmla="*/ 311420 w 738558"/>
              <a:gd name="connsiteY117" fmla="*/ 625335 h 857250"/>
              <a:gd name="connsiteX118" fmla="*/ 326850 w 738558"/>
              <a:gd name="connsiteY118" fmla="*/ 637461 h 857250"/>
              <a:gd name="connsiteX119" fmla="*/ 335661 w 738558"/>
              <a:gd name="connsiteY119" fmla="*/ 633803 h 857250"/>
              <a:gd name="connsiteX120" fmla="*/ 337995 w 738558"/>
              <a:gd name="connsiteY120" fmla="*/ 614324 h 857250"/>
              <a:gd name="connsiteX121" fmla="*/ 356902 w 738558"/>
              <a:gd name="connsiteY121" fmla="*/ 597541 h 857250"/>
              <a:gd name="connsiteX122" fmla="*/ 381600 w 738558"/>
              <a:gd name="connsiteY122" fmla="*/ 597541 h 857250"/>
              <a:gd name="connsiteX123" fmla="*/ 400507 w 738558"/>
              <a:gd name="connsiteY123" fmla="*/ 614324 h 857250"/>
              <a:gd name="connsiteX124" fmla="*/ 402841 w 738558"/>
              <a:gd name="connsiteY124" fmla="*/ 633803 h 857250"/>
              <a:gd name="connsiteX125" fmla="*/ 411661 w 738558"/>
              <a:gd name="connsiteY125" fmla="*/ 637461 h 857250"/>
              <a:gd name="connsiteX126" fmla="*/ 427091 w 738558"/>
              <a:gd name="connsiteY126" fmla="*/ 625335 h 857250"/>
              <a:gd name="connsiteX127" fmla="*/ 452333 w 738558"/>
              <a:gd name="connsiteY127" fmla="*/ 626840 h 857250"/>
              <a:gd name="connsiteX128" fmla="*/ 469802 w 738558"/>
              <a:gd name="connsiteY128" fmla="*/ 644309 h 857250"/>
              <a:gd name="connsiteX129" fmla="*/ 471307 w 738558"/>
              <a:gd name="connsiteY129" fmla="*/ 669541 h 857250"/>
              <a:gd name="connsiteX130" fmla="*/ 459181 w 738558"/>
              <a:gd name="connsiteY130" fmla="*/ 684971 h 857250"/>
              <a:gd name="connsiteX131" fmla="*/ 462839 w 738558"/>
              <a:gd name="connsiteY131" fmla="*/ 693782 h 857250"/>
              <a:gd name="connsiteX132" fmla="*/ 482317 w 738558"/>
              <a:gd name="connsiteY132" fmla="*/ 696116 h 857250"/>
              <a:gd name="connsiteX133" fmla="*/ 499110 w 738558"/>
              <a:gd name="connsiteY133" fmla="*/ 715061 h 857250"/>
              <a:gd name="connsiteX134" fmla="*/ 476850 w 738558"/>
              <a:gd name="connsiteY134" fmla="*/ 717918 h 857250"/>
              <a:gd name="connsiteX135" fmla="*/ 458210 w 738558"/>
              <a:gd name="connsiteY135" fmla="*/ 715680 h 857250"/>
              <a:gd name="connsiteX136" fmla="*/ 442427 w 738558"/>
              <a:gd name="connsiteY136" fmla="*/ 702840 h 857250"/>
              <a:gd name="connsiteX137" fmla="*/ 438379 w 738558"/>
              <a:gd name="connsiteY137" fmla="*/ 693087 h 857250"/>
              <a:gd name="connsiteX138" fmla="*/ 440455 w 738558"/>
              <a:gd name="connsiteY138" fmla="*/ 672827 h 857250"/>
              <a:gd name="connsiteX139" fmla="*/ 452066 w 738558"/>
              <a:gd name="connsiteY139" fmla="*/ 658054 h 857250"/>
              <a:gd name="connsiteX140" fmla="*/ 438636 w 738558"/>
              <a:gd name="connsiteY140" fmla="*/ 644623 h 857250"/>
              <a:gd name="connsiteX141" fmla="*/ 423872 w 738558"/>
              <a:gd name="connsiteY141" fmla="*/ 656225 h 857250"/>
              <a:gd name="connsiteX142" fmla="*/ 403612 w 738558"/>
              <a:gd name="connsiteY142" fmla="*/ 658301 h 857250"/>
              <a:gd name="connsiteX143" fmla="*/ 393859 w 738558"/>
              <a:gd name="connsiteY143" fmla="*/ 654263 h 857250"/>
              <a:gd name="connsiteX144" fmla="*/ 381010 w 738558"/>
              <a:gd name="connsiteY144" fmla="*/ 638470 h 857250"/>
              <a:gd name="connsiteX145" fmla="*/ 378781 w 738558"/>
              <a:gd name="connsiteY145" fmla="*/ 619839 h 857250"/>
              <a:gd name="connsiteX146" fmla="*/ 359788 w 738558"/>
              <a:gd name="connsiteY146" fmla="*/ 619839 h 857250"/>
              <a:gd name="connsiteX147" fmla="*/ 357549 w 738558"/>
              <a:gd name="connsiteY147" fmla="*/ 638480 h 857250"/>
              <a:gd name="connsiteX148" fmla="*/ 344710 w 738558"/>
              <a:gd name="connsiteY148" fmla="*/ 654272 h 857250"/>
              <a:gd name="connsiteX149" fmla="*/ 334956 w 738558"/>
              <a:gd name="connsiteY149" fmla="*/ 658311 h 857250"/>
              <a:gd name="connsiteX150" fmla="*/ 314696 w 738558"/>
              <a:gd name="connsiteY150" fmla="*/ 656244 h 857250"/>
              <a:gd name="connsiteX151" fmla="*/ 299933 w 738558"/>
              <a:gd name="connsiteY151" fmla="*/ 644633 h 857250"/>
              <a:gd name="connsiteX152" fmla="*/ 286503 w 738558"/>
              <a:gd name="connsiteY152" fmla="*/ 658063 h 857250"/>
              <a:gd name="connsiteX153" fmla="*/ 298104 w 738558"/>
              <a:gd name="connsiteY153" fmla="*/ 672827 h 857250"/>
              <a:gd name="connsiteX154" fmla="*/ 300180 w 738558"/>
              <a:gd name="connsiteY154" fmla="*/ 693087 h 857250"/>
              <a:gd name="connsiteX155" fmla="*/ 296142 w 738558"/>
              <a:gd name="connsiteY155" fmla="*/ 702840 h 857250"/>
              <a:gd name="connsiteX156" fmla="*/ 280359 w 738558"/>
              <a:gd name="connsiteY156" fmla="*/ 715689 h 857250"/>
              <a:gd name="connsiteX157" fmla="*/ 261718 w 738558"/>
              <a:gd name="connsiteY157" fmla="*/ 717928 h 857250"/>
              <a:gd name="connsiteX158" fmla="*/ 261718 w 738558"/>
              <a:gd name="connsiteY158" fmla="*/ 736921 h 857250"/>
              <a:gd name="connsiteX159" fmla="*/ 280359 w 738558"/>
              <a:gd name="connsiteY159" fmla="*/ 739159 h 857250"/>
              <a:gd name="connsiteX160" fmla="*/ 296142 w 738558"/>
              <a:gd name="connsiteY160" fmla="*/ 751999 h 857250"/>
              <a:gd name="connsiteX161" fmla="*/ 300190 w 738558"/>
              <a:gd name="connsiteY161" fmla="*/ 761743 h 857250"/>
              <a:gd name="connsiteX162" fmla="*/ 298113 w 738558"/>
              <a:gd name="connsiteY162" fmla="*/ 782003 h 857250"/>
              <a:gd name="connsiteX163" fmla="*/ 286512 w 738558"/>
              <a:gd name="connsiteY163" fmla="*/ 796766 h 857250"/>
              <a:gd name="connsiteX164" fmla="*/ 299942 w 738558"/>
              <a:gd name="connsiteY164" fmla="*/ 810197 h 857250"/>
              <a:gd name="connsiteX165" fmla="*/ 314706 w 738558"/>
              <a:gd name="connsiteY165" fmla="*/ 798595 h 857250"/>
              <a:gd name="connsiteX166" fmla="*/ 334966 w 738558"/>
              <a:gd name="connsiteY166" fmla="*/ 796519 h 857250"/>
              <a:gd name="connsiteX167" fmla="*/ 344719 w 738558"/>
              <a:gd name="connsiteY167" fmla="*/ 800557 h 857250"/>
              <a:gd name="connsiteX168" fmla="*/ 357569 w 738558"/>
              <a:gd name="connsiteY168" fmla="*/ 816350 h 857250"/>
              <a:gd name="connsiteX169" fmla="*/ 359807 w 738558"/>
              <a:gd name="connsiteY169" fmla="*/ 834990 h 857250"/>
              <a:gd name="connsiteX170" fmla="*/ 378800 w 738558"/>
              <a:gd name="connsiteY170" fmla="*/ 834990 h 857250"/>
              <a:gd name="connsiteX171" fmla="*/ 381029 w 738558"/>
              <a:gd name="connsiteY171" fmla="*/ 816350 h 857250"/>
              <a:gd name="connsiteX172" fmla="*/ 393868 w 738558"/>
              <a:gd name="connsiteY172" fmla="*/ 800557 h 857250"/>
              <a:gd name="connsiteX173" fmla="*/ 403622 w 738558"/>
              <a:gd name="connsiteY173" fmla="*/ 796509 h 857250"/>
              <a:gd name="connsiteX174" fmla="*/ 423882 w 738558"/>
              <a:gd name="connsiteY174" fmla="*/ 798586 h 857250"/>
              <a:gd name="connsiteX175" fmla="*/ 438645 w 738558"/>
              <a:gd name="connsiteY175" fmla="*/ 810187 h 857250"/>
              <a:gd name="connsiteX176" fmla="*/ 452076 w 738558"/>
              <a:gd name="connsiteY176" fmla="*/ 796757 h 857250"/>
              <a:gd name="connsiteX177" fmla="*/ 440474 w 738558"/>
              <a:gd name="connsiteY177" fmla="*/ 781993 h 857250"/>
              <a:gd name="connsiteX178" fmla="*/ 438398 w 738558"/>
              <a:gd name="connsiteY178" fmla="*/ 761733 h 857250"/>
              <a:gd name="connsiteX179" fmla="*/ 442446 w 738558"/>
              <a:gd name="connsiteY179" fmla="*/ 751980 h 857250"/>
              <a:gd name="connsiteX180" fmla="*/ 458238 w 738558"/>
              <a:gd name="connsiteY180" fmla="*/ 739130 h 857250"/>
              <a:gd name="connsiteX181" fmla="*/ 476869 w 738558"/>
              <a:gd name="connsiteY181" fmla="*/ 736892 h 857250"/>
              <a:gd name="connsiteX182" fmla="*/ 476869 w 738558"/>
              <a:gd name="connsiteY182" fmla="*/ 717918 h 857250"/>
              <a:gd name="connsiteX183" fmla="*/ 433511 w 738558"/>
              <a:gd name="connsiteY183" fmla="*/ 727415 h 857250"/>
              <a:gd name="connsiteX184" fmla="*/ 369275 w 738558"/>
              <a:gd name="connsiteY184" fmla="*/ 791651 h 857250"/>
              <a:gd name="connsiteX185" fmla="*/ 305038 w 738558"/>
              <a:gd name="connsiteY185" fmla="*/ 727415 h 857250"/>
              <a:gd name="connsiteX186" fmla="*/ 369275 w 738558"/>
              <a:gd name="connsiteY186" fmla="*/ 663178 h 857250"/>
              <a:gd name="connsiteX187" fmla="*/ 433511 w 738558"/>
              <a:gd name="connsiteY187" fmla="*/ 727415 h 857250"/>
              <a:gd name="connsiteX188" fmla="*/ 411242 w 738558"/>
              <a:gd name="connsiteY188" fmla="*/ 727415 h 857250"/>
              <a:gd name="connsiteX189" fmla="*/ 369275 w 738558"/>
              <a:gd name="connsiteY189" fmla="*/ 685448 h 857250"/>
              <a:gd name="connsiteX190" fmla="*/ 327308 w 738558"/>
              <a:gd name="connsiteY190" fmla="*/ 727415 h 857250"/>
              <a:gd name="connsiteX191" fmla="*/ 369275 w 738558"/>
              <a:gd name="connsiteY191" fmla="*/ 769382 h 857250"/>
              <a:gd name="connsiteX192" fmla="*/ 411242 w 738558"/>
              <a:gd name="connsiteY192" fmla="*/ 727415 h 857250"/>
              <a:gd name="connsiteX193" fmla="*/ 369275 w 738558"/>
              <a:gd name="connsiteY193" fmla="*/ 0 h 857250"/>
              <a:gd name="connsiteX194" fmla="*/ 0 w 738558"/>
              <a:gd name="connsiteY194" fmla="*/ 369275 h 857250"/>
              <a:gd name="connsiteX195" fmla="*/ 58055 w 738558"/>
              <a:gd name="connsiteY195" fmla="*/ 568119 h 857250"/>
              <a:gd name="connsiteX196" fmla="*/ 208740 w 738558"/>
              <a:gd name="connsiteY196" fmla="*/ 701916 h 857250"/>
              <a:gd name="connsiteX197" fmla="*/ 213579 w 738558"/>
              <a:gd name="connsiteY197" fmla="*/ 703031 h 857250"/>
              <a:gd name="connsiteX198" fmla="*/ 223609 w 738558"/>
              <a:gd name="connsiteY198" fmla="*/ 696744 h 857250"/>
              <a:gd name="connsiteX199" fmla="*/ 218427 w 738558"/>
              <a:gd name="connsiteY199" fmla="*/ 681876 h 857250"/>
              <a:gd name="connsiteX200" fmla="*/ 22260 w 738558"/>
              <a:gd name="connsiteY200" fmla="*/ 369275 h 857250"/>
              <a:gd name="connsiteX201" fmla="*/ 369275 w 738558"/>
              <a:gd name="connsiteY201" fmla="*/ 22269 h 857250"/>
              <a:gd name="connsiteX202" fmla="*/ 716280 w 738558"/>
              <a:gd name="connsiteY202" fmla="*/ 369275 h 857250"/>
              <a:gd name="connsiteX203" fmla="*/ 558175 w 738558"/>
              <a:gd name="connsiteY203" fmla="*/ 660502 h 857250"/>
              <a:gd name="connsiteX204" fmla="*/ 561384 w 738558"/>
              <a:gd name="connsiteY204" fmla="*/ 655472 h 857250"/>
              <a:gd name="connsiteX205" fmla="*/ 557984 w 738558"/>
              <a:gd name="connsiteY205" fmla="*/ 640099 h 857250"/>
              <a:gd name="connsiteX206" fmla="*/ 542611 w 738558"/>
              <a:gd name="connsiteY206" fmla="*/ 643499 h 857250"/>
              <a:gd name="connsiteX207" fmla="*/ 515579 w 738558"/>
              <a:gd name="connsiteY207" fmla="*/ 685914 h 857250"/>
              <a:gd name="connsiteX208" fmla="*/ 515341 w 738558"/>
              <a:gd name="connsiteY208" fmla="*/ 697487 h 857250"/>
              <a:gd name="connsiteX209" fmla="*/ 525504 w 738558"/>
              <a:gd name="connsiteY209" fmla="*/ 703021 h 857250"/>
              <a:gd name="connsiteX210" fmla="*/ 575739 w 738558"/>
              <a:gd name="connsiteY210" fmla="*/ 700602 h 857250"/>
              <a:gd name="connsiteX211" fmla="*/ 586321 w 738558"/>
              <a:gd name="connsiteY211" fmla="*/ 688943 h 857250"/>
              <a:gd name="connsiteX212" fmla="*/ 574662 w 738558"/>
              <a:gd name="connsiteY212" fmla="*/ 678361 h 857250"/>
              <a:gd name="connsiteX213" fmla="*/ 571176 w 738558"/>
              <a:gd name="connsiteY213" fmla="*/ 678532 h 857250"/>
              <a:gd name="connsiteX214" fmla="*/ 680990 w 738558"/>
              <a:gd name="connsiteY214" fmla="*/ 567357 h 857250"/>
              <a:gd name="connsiteX215" fmla="*/ 738559 w 738558"/>
              <a:gd name="connsiteY215" fmla="*/ 369275 h 857250"/>
              <a:gd name="connsiteX216" fmla="*/ 369275 w 738558"/>
              <a:gd name="connsiteY216"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738558" h="857250">
                <a:moveTo>
                  <a:pt x="396088" y="706745"/>
                </a:moveTo>
                <a:cubicBezTo>
                  <a:pt x="400345" y="711184"/>
                  <a:pt x="400193" y="718233"/>
                  <a:pt x="395754" y="722490"/>
                </a:cubicBezTo>
                <a:lnTo>
                  <a:pt x="368703" y="748417"/>
                </a:lnTo>
                <a:cubicBezTo>
                  <a:pt x="366627" y="750408"/>
                  <a:pt x="363865" y="751513"/>
                  <a:pt x="360998" y="751513"/>
                </a:cubicBezTo>
                <a:cubicBezTo>
                  <a:pt x="360731" y="751513"/>
                  <a:pt x="360455" y="751504"/>
                  <a:pt x="360188" y="751484"/>
                </a:cubicBezTo>
                <a:cubicBezTo>
                  <a:pt x="357045" y="751256"/>
                  <a:pt x="354149" y="749703"/>
                  <a:pt x="352206" y="747217"/>
                </a:cubicBezTo>
                <a:lnTo>
                  <a:pt x="341700" y="733711"/>
                </a:lnTo>
                <a:cubicBezTo>
                  <a:pt x="337928" y="728863"/>
                  <a:pt x="338795" y="721862"/>
                  <a:pt x="343653" y="718090"/>
                </a:cubicBezTo>
                <a:cubicBezTo>
                  <a:pt x="348510" y="714318"/>
                  <a:pt x="355502" y="715194"/>
                  <a:pt x="359273" y="720042"/>
                </a:cubicBezTo>
                <a:lnTo>
                  <a:pt x="362198" y="723805"/>
                </a:lnTo>
                <a:lnTo>
                  <a:pt x="380333" y="706422"/>
                </a:lnTo>
                <a:cubicBezTo>
                  <a:pt x="384791" y="702154"/>
                  <a:pt x="391839" y="702307"/>
                  <a:pt x="396088" y="706745"/>
                </a:cubicBezTo>
                <a:close/>
                <a:moveTo>
                  <a:pt x="380048" y="269157"/>
                </a:moveTo>
                <a:cubicBezTo>
                  <a:pt x="385486" y="289455"/>
                  <a:pt x="382734" y="310591"/>
                  <a:pt x="372285" y="328689"/>
                </a:cubicBezTo>
                <a:lnTo>
                  <a:pt x="280111" y="488337"/>
                </a:lnTo>
                <a:cubicBezTo>
                  <a:pt x="265595" y="513483"/>
                  <a:pt x="239154" y="527552"/>
                  <a:pt x="212017" y="527561"/>
                </a:cubicBezTo>
                <a:cubicBezTo>
                  <a:pt x="198711" y="527561"/>
                  <a:pt x="185242" y="524180"/>
                  <a:pt x="172917" y="517065"/>
                </a:cubicBezTo>
                <a:cubicBezTo>
                  <a:pt x="135446" y="495424"/>
                  <a:pt x="122558" y="447342"/>
                  <a:pt x="144189" y="409861"/>
                </a:cubicBezTo>
                <a:lnTo>
                  <a:pt x="236363" y="250212"/>
                </a:lnTo>
                <a:cubicBezTo>
                  <a:pt x="258004" y="212741"/>
                  <a:pt x="306086" y="199854"/>
                  <a:pt x="343557" y="221485"/>
                </a:cubicBezTo>
                <a:cubicBezTo>
                  <a:pt x="361655" y="231934"/>
                  <a:pt x="374609" y="248860"/>
                  <a:pt x="380048" y="269157"/>
                </a:cubicBezTo>
                <a:close/>
                <a:moveTo>
                  <a:pt x="304162" y="402155"/>
                </a:moveTo>
                <a:cubicBezTo>
                  <a:pt x="272996" y="381152"/>
                  <a:pt x="240344" y="362283"/>
                  <a:pt x="206826" y="345910"/>
                </a:cubicBezTo>
                <a:lnTo>
                  <a:pt x="163478" y="420986"/>
                </a:lnTo>
                <a:cubicBezTo>
                  <a:pt x="156010" y="433921"/>
                  <a:pt x="154038" y="449066"/>
                  <a:pt x="157944" y="463620"/>
                </a:cubicBezTo>
                <a:cubicBezTo>
                  <a:pt x="161839" y="478174"/>
                  <a:pt x="171117" y="490299"/>
                  <a:pt x="184052" y="497767"/>
                </a:cubicBezTo>
                <a:cubicBezTo>
                  <a:pt x="210893" y="513264"/>
                  <a:pt x="245335" y="504034"/>
                  <a:pt x="260833" y="477193"/>
                </a:cubicBezTo>
                <a:lnTo>
                  <a:pt x="304162" y="402155"/>
                </a:lnTo>
                <a:close/>
                <a:moveTo>
                  <a:pt x="332432" y="240773"/>
                </a:moveTo>
                <a:lnTo>
                  <a:pt x="337995" y="231134"/>
                </a:lnTo>
                <a:lnTo>
                  <a:pt x="332432" y="240773"/>
                </a:lnTo>
                <a:cubicBezTo>
                  <a:pt x="323602" y="235677"/>
                  <a:pt x="313954" y="233258"/>
                  <a:pt x="304419" y="233258"/>
                </a:cubicBezTo>
                <a:cubicBezTo>
                  <a:pt x="284979" y="233258"/>
                  <a:pt x="266043" y="243335"/>
                  <a:pt x="255641" y="261347"/>
                </a:cubicBezTo>
                <a:lnTo>
                  <a:pt x="217980" y="326584"/>
                </a:lnTo>
                <a:cubicBezTo>
                  <a:pt x="251470" y="343024"/>
                  <a:pt x="284121" y="361883"/>
                  <a:pt x="315316" y="382829"/>
                </a:cubicBezTo>
                <a:lnTo>
                  <a:pt x="353006" y="317554"/>
                </a:lnTo>
                <a:cubicBezTo>
                  <a:pt x="368503" y="290713"/>
                  <a:pt x="359273" y="256270"/>
                  <a:pt x="332432" y="240773"/>
                </a:cubicBezTo>
                <a:close/>
                <a:moveTo>
                  <a:pt x="331584" y="250574"/>
                </a:moveTo>
                <a:cubicBezTo>
                  <a:pt x="320288" y="242640"/>
                  <a:pt x="306762" y="239935"/>
                  <a:pt x="293494" y="242964"/>
                </a:cubicBezTo>
                <a:cubicBezTo>
                  <a:pt x="279540" y="246145"/>
                  <a:pt x="267272" y="255575"/>
                  <a:pt x="259852" y="268834"/>
                </a:cubicBezTo>
                <a:cubicBezTo>
                  <a:pt x="256851" y="274196"/>
                  <a:pt x="258756" y="280978"/>
                  <a:pt x="264128" y="283988"/>
                </a:cubicBezTo>
                <a:cubicBezTo>
                  <a:pt x="265852" y="284950"/>
                  <a:pt x="267719" y="285407"/>
                  <a:pt x="269557" y="285407"/>
                </a:cubicBezTo>
                <a:cubicBezTo>
                  <a:pt x="273453" y="285407"/>
                  <a:pt x="277244" y="283359"/>
                  <a:pt x="279283" y="279711"/>
                </a:cubicBezTo>
                <a:cubicBezTo>
                  <a:pt x="283702" y="271824"/>
                  <a:pt x="290503" y="266481"/>
                  <a:pt x="298447" y="264671"/>
                </a:cubicBezTo>
                <a:cubicBezTo>
                  <a:pt x="305495" y="263061"/>
                  <a:pt x="312725" y="264528"/>
                  <a:pt x="318802" y="268796"/>
                </a:cubicBezTo>
                <a:cubicBezTo>
                  <a:pt x="323831" y="272329"/>
                  <a:pt x="330775" y="271110"/>
                  <a:pt x="334308" y="266081"/>
                </a:cubicBezTo>
                <a:cubicBezTo>
                  <a:pt x="337833" y="261052"/>
                  <a:pt x="336614" y="254108"/>
                  <a:pt x="331584" y="250574"/>
                </a:cubicBezTo>
                <a:close/>
                <a:moveTo>
                  <a:pt x="387658" y="347434"/>
                </a:moveTo>
                <a:cubicBezTo>
                  <a:pt x="411309" y="335175"/>
                  <a:pt x="442522" y="327698"/>
                  <a:pt x="475555" y="326384"/>
                </a:cubicBezTo>
                <a:cubicBezTo>
                  <a:pt x="498558" y="325469"/>
                  <a:pt x="520475" y="327631"/>
                  <a:pt x="539515" y="332394"/>
                </a:cubicBezTo>
                <a:cubicBezTo>
                  <a:pt x="539658" y="332423"/>
                  <a:pt x="539801" y="332470"/>
                  <a:pt x="539944" y="332508"/>
                </a:cubicBezTo>
                <a:cubicBezTo>
                  <a:pt x="560994" y="337823"/>
                  <a:pt x="578491" y="346310"/>
                  <a:pt x="589940" y="357321"/>
                </a:cubicBezTo>
                <a:cubicBezTo>
                  <a:pt x="599675" y="366674"/>
                  <a:pt x="604818" y="377685"/>
                  <a:pt x="604818" y="389172"/>
                </a:cubicBezTo>
                <a:lnTo>
                  <a:pt x="604818" y="438093"/>
                </a:lnTo>
                <a:cubicBezTo>
                  <a:pt x="604818" y="481898"/>
                  <a:pt x="538429" y="506320"/>
                  <a:pt x="476736" y="510483"/>
                </a:cubicBezTo>
                <a:cubicBezTo>
                  <a:pt x="476536" y="510502"/>
                  <a:pt x="476326" y="510502"/>
                  <a:pt x="476126" y="510502"/>
                </a:cubicBezTo>
                <a:cubicBezTo>
                  <a:pt x="475040" y="510521"/>
                  <a:pt x="473945" y="510521"/>
                  <a:pt x="472850" y="510521"/>
                </a:cubicBezTo>
                <a:cubicBezTo>
                  <a:pt x="433864" y="510521"/>
                  <a:pt x="385010" y="502158"/>
                  <a:pt x="361045" y="478479"/>
                </a:cubicBezTo>
                <a:cubicBezTo>
                  <a:pt x="351977" y="469516"/>
                  <a:pt x="347186" y="458791"/>
                  <a:pt x="347186" y="447456"/>
                </a:cubicBezTo>
                <a:lnTo>
                  <a:pt x="347186" y="398526"/>
                </a:lnTo>
                <a:cubicBezTo>
                  <a:pt x="347177" y="379114"/>
                  <a:pt x="361559" y="360969"/>
                  <a:pt x="387658" y="347434"/>
                </a:cubicBezTo>
                <a:close/>
                <a:moveTo>
                  <a:pt x="582549" y="438074"/>
                </a:moveTo>
                <a:lnTo>
                  <a:pt x="582549" y="428568"/>
                </a:lnTo>
                <a:cubicBezTo>
                  <a:pt x="577329" y="432740"/>
                  <a:pt x="571262" y="436664"/>
                  <a:pt x="564337" y="440246"/>
                </a:cubicBezTo>
                <a:cubicBezTo>
                  <a:pt x="540687" y="452504"/>
                  <a:pt x="509473" y="459981"/>
                  <a:pt x="476441" y="461296"/>
                </a:cubicBezTo>
                <a:cubicBezTo>
                  <a:pt x="472983" y="461429"/>
                  <a:pt x="469535" y="461505"/>
                  <a:pt x="466134" y="461505"/>
                </a:cubicBezTo>
                <a:cubicBezTo>
                  <a:pt x="442722" y="461505"/>
                  <a:pt x="420757" y="458286"/>
                  <a:pt x="402250" y="452399"/>
                </a:cubicBezTo>
                <a:cubicBezTo>
                  <a:pt x="402231" y="452390"/>
                  <a:pt x="402203" y="452390"/>
                  <a:pt x="402184" y="452380"/>
                </a:cubicBezTo>
                <a:cubicBezTo>
                  <a:pt x="389411" y="448313"/>
                  <a:pt x="378285" y="442960"/>
                  <a:pt x="369456" y="436521"/>
                </a:cubicBezTo>
                <a:lnTo>
                  <a:pt x="369456" y="447446"/>
                </a:lnTo>
                <a:cubicBezTo>
                  <a:pt x="369456" y="452847"/>
                  <a:pt x="371827" y="457819"/>
                  <a:pt x="376695" y="462629"/>
                </a:cubicBezTo>
                <a:cubicBezTo>
                  <a:pt x="392687" y="478431"/>
                  <a:pt x="432397" y="488709"/>
                  <a:pt x="475555" y="488232"/>
                </a:cubicBezTo>
                <a:cubicBezTo>
                  <a:pt x="534581" y="484184"/>
                  <a:pt x="582549" y="461715"/>
                  <a:pt x="582549" y="438074"/>
                </a:cubicBezTo>
                <a:close/>
                <a:moveTo>
                  <a:pt x="574510" y="373361"/>
                </a:moveTo>
                <a:cubicBezTo>
                  <a:pt x="566623" y="365789"/>
                  <a:pt x="554384" y="359654"/>
                  <a:pt x="539439" y="355368"/>
                </a:cubicBezTo>
                <a:lnTo>
                  <a:pt x="431549" y="436521"/>
                </a:lnTo>
                <a:cubicBezTo>
                  <a:pt x="445151" y="438741"/>
                  <a:pt x="460105" y="439664"/>
                  <a:pt x="475555" y="439045"/>
                </a:cubicBezTo>
                <a:cubicBezTo>
                  <a:pt x="538610" y="436540"/>
                  <a:pt x="582549" y="410737"/>
                  <a:pt x="582549" y="389153"/>
                </a:cubicBezTo>
                <a:cubicBezTo>
                  <a:pt x="582549" y="383800"/>
                  <a:pt x="579844" y="378485"/>
                  <a:pt x="574510" y="373361"/>
                </a:cubicBezTo>
                <a:close/>
                <a:moveTo>
                  <a:pt x="369446" y="398526"/>
                </a:moveTo>
                <a:cubicBezTo>
                  <a:pt x="369446" y="403879"/>
                  <a:pt x="372151" y="409194"/>
                  <a:pt x="377485" y="414318"/>
                </a:cubicBezTo>
                <a:cubicBezTo>
                  <a:pt x="383781" y="420367"/>
                  <a:pt x="392849" y="425491"/>
                  <a:pt x="403851" y="429492"/>
                </a:cubicBezTo>
                <a:lnTo>
                  <a:pt x="509892" y="349729"/>
                </a:lnTo>
                <a:cubicBezTo>
                  <a:pt x="499253" y="348577"/>
                  <a:pt x="487985" y="348177"/>
                  <a:pt x="476441" y="348634"/>
                </a:cubicBezTo>
                <a:cubicBezTo>
                  <a:pt x="413385" y="351139"/>
                  <a:pt x="369446" y="376942"/>
                  <a:pt x="369446" y="398526"/>
                </a:cubicBezTo>
                <a:close/>
                <a:moveTo>
                  <a:pt x="499110" y="715061"/>
                </a:moveTo>
                <a:lnTo>
                  <a:pt x="499110" y="739769"/>
                </a:lnTo>
                <a:cubicBezTo>
                  <a:pt x="499110" y="749408"/>
                  <a:pt x="491890" y="757533"/>
                  <a:pt x="482327" y="758676"/>
                </a:cubicBezTo>
                <a:lnTo>
                  <a:pt x="462858" y="761009"/>
                </a:lnTo>
                <a:cubicBezTo>
                  <a:pt x="461782" y="764000"/>
                  <a:pt x="460562" y="766953"/>
                  <a:pt x="459200" y="769830"/>
                </a:cubicBezTo>
                <a:lnTo>
                  <a:pt x="471326" y="785251"/>
                </a:lnTo>
                <a:cubicBezTo>
                  <a:pt x="477279" y="792823"/>
                  <a:pt x="476631" y="803672"/>
                  <a:pt x="469821" y="810492"/>
                </a:cubicBezTo>
                <a:lnTo>
                  <a:pt x="452352" y="827961"/>
                </a:lnTo>
                <a:cubicBezTo>
                  <a:pt x="445541" y="834771"/>
                  <a:pt x="434692" y="835419"/>
                  <a:pt x="427120" y="829466"/>
                </a:cubicBezTo>
                <a:lnTo>
                  <a:pt x="411690" y="817340"/>
                </a:lnTo>
                <a:cubicBezTo>
                  <a:pt x="408813" y="818693"/>
                  <a:pt x="405870" y="819922"/>
                  <a:pt x="402879" y="820998"/>
                </a:cubicBezTo>
                <a:lnTo>
                  <a:pt x="400545" y="840476"/>
                </a:lnTo>
                <a:cubicBezTo>
                  <a:pt x="399393" y="850040"/>
                  <a:pt x="391258" y="857250"/>
                  <a:pt x="381629" y="857250"/>
                </a:cubicBezTo>
                <a:lnTo>
                  <a:pt x="356930" y="857250"/>
                </a:lnTo>
                <a:cubicBezTo>
                  <a:pt x="347291" y="857250"/>
                  <a:pt x="339166" y="850040"/>
                  <a:pt x="338023" y="840467"/>
                </a:cubicBezTo>
                <a:lnTo>
                  <a:pt x="335690" y="820988"/>
                </a:lnTo>
                <a:cubicBezTo>
                  <a:pt x="332699" y="819912"/>
                  <a:pt x="329746" y="818693"/>
                  <a:pt x="326869" y="817331"/>
                </a:cubicBezTo>
                <a:lnTo>
                  <a:pt x="311439" y="829456"/>
                </a:lnTo>
                <a:cubicBezTo>
                  <a:pt x="303857" y="835409"/>
                  <a:pt x="293008" y="834762"/>
                  <a:pt x="286198" y="827951"/>
                </a:cubicBezTo>
                <a:lnTo>
                  <a:pt x="268729" y="810482"/>
                </a:lnTo>
                <a:cubicBezTo>
                  <a:pt x="261918" y="803672"/>
                  <a:pt x="261271" y="792823"/>
                  <a:pt x="267224" y="785241"/>
                </a:cubicBezTo>
                <a:lnTo>
                  <a:pt x="279349" y="769811"/>
                </a:lnTo>
                <a:cubicBezTo>
                  <a:pt x="277997" y="766943"/>
                  <a:pt x="276768" y="763991"/>
                  <a:pt x="275692" y="761000"/>
                </a:cubicBezTo>
                <a:lnTo>
                  <a:pt x="256213" y="758666"/>
                </a:lnTo>
                <a:cubicBezTo>
                  <a:pt x="246650" y="757523"/>
                  <a:pt x="239430" y="749389"/>
                  <a:pt x="239430" y="739759"/>
                </a:cubicBezTo>
                <a:lnTo>
                  <a:pt x="239430" y="715051"/>
                </a:lnTo>
                <a:cubicBezTo>
                  <a:pt x="239430" y="705422"/>
                  <a:pt x="246640" y="697287"/>
                  <a:pt x="256203" y="696144"/>
                </a:cubicBezTo>
                <a:lnTo>
                  <a:pt x="275682" y="693811"/>
                </a:lnTo>
                <a:cubicBezTo>
                  <a:pt x="276758" y="690820"/>
                  <a:pt x="277978" y="687877"/>
                  <a:pt x="279340" y="684990"/>
                </a:cubicBezTo>
                <a:lnTo>
                  <a:pt x="267214" y="669560"/>
                </a:lnTo>
                <a:cubicBezTo>
                  <a:pt x="261261" y="661988"/>
                  <a:pt x="261909" y="651139"/>
                  <a:pt x="268719" y="644319"/>
                </a:cubicBezTo>
                <a:lnTo>
                  <a:pt x="286188" y="626850"/>
                </a:lnTo>
                <a:cubicBezTo>
                  <a:pt x="292999" y="620039"/>
                  <a:pt x="303848" y="619392"/>
                  <a:pt x="311420" y="625335"/>
                </a:cubicBezTo>
                <a:lnTo>
                  <a:pt x="326850" y="637461"/>
                </a:lnTo>
                <a:cubicBezTo>
                  <a:pt x="329727" y="636108"/>
                  <a:pt x="332680" y="634879"/>
                  <a:pt x="335661" y="633803"/>
                </a:cubicBezTo>
                <a:lnTo>
                  <a:pt x="337995" y="614324"/>
                </a:lnTo>
                <a:cubicBezTo>
                  <a:pt x="339138" y="604761"/>
                  <a:pt x="347272" y="597541"/>
                  <a:pt x="356902" y="597541"/>
                </a:cubicBezTo>
                <a:lnTo>
                  <a:pt x="381600" y="597541"/>
                </a:lnTo>
                <a:cubicBezTo>
                  <a:pt x="391239" y="597541"/>
                  <a:pt x="399364" y="604752"/>
                  <a:pt x="400507" y="614324"/>
                </a:cubicBezTo>
                <a:lnTo>
                  <a:pt x="402841" y="633803"/>
                </a:lnTo>
                <a:cubicBezTo>
                  <a:pt x="405832" y="634879"/>
                  <a:pt x="408784" y="636099"/>
                  <a:pt x="411661" y="637461"/>
                </a:cubicBezTo>
                <a:lnTo>
                  <a:pt x="427091" y="625335"/>
                </a:lnTo>
                <a:cubicBezTo>
                  <a:pt x="434664" y="619382"/>
                  <a:pt x="445513" y="620030"/>
                  <a:pt x="452333" y="626840"/>
                </a:cubicBezTo>
                <a:lnTo>
                  <a:pt x="469802" y="644309"/>
                </a:lnTo>
                <a:cubicBezTo>
                  <a:pt x="476612" y="651120"/>
                  <a:pt x="477260" y="661968"/>
                  <a:pt x="471307" y="669541"/>
                </a:cubicBezTo>
                <a:lnTo>
                  <a:pt x="459181" y="684971"/>
                </a:lnTo>
                <a:cubicBezTo>
                  <a:pt x="460534" y="687848"/>
                  <a:pt x="461762" y="690791"/>
                  <a:pt x="462839" y="693782"/>
                </a:cubicBezTo>
                <a:lnTo>
                  <a:pt x="482317" y="696116"/>
                </a:lnTo>
                <a:cubicBezTo>
                  <a:pt x="491900" y="697297"/>
                  <a:pt x="499110" y="705431"/>
                  <a:pt x="499110" y="715061"/>
                </a:cubicBezTo>
                <a:close/>
                <a:moveTo>
                  <a:pt x="476850" y="717918"/>
                </a:moveTo>
                <a:lnTo>
                  <a:pt x="458210" y="715680"/>
                </a:lnTo>
                <a:cubicBezTo>
                  <a:pt x="450837" y="714804"/>
                  <a:pt x="444789" y="709879"/>
                  <a:pt x="442427" y="702840"/>
                </a:cubicBezTo>
                <a:cubicBezTo>
                  <a:pt x="441312" y="699516"/>
                  <a:pt x="439950" y="696239"/>
                  <a:pt x="438379" y="693087"/>
                </a:cubicBezTo>
                <a:cubicBezTo>
                  <a:pt x="435064" y="686429"/>
                  <a:pt x="435864" y="678666"/>
                  <a:pt x="440455" y="672827"/>
                </a:cubicBezTo>
                <a:lnTo>
                  <a:pt x="452066" y="658054"/>
                </a:lnTo>
                <a:lnTo>
                  <a:pt x="438636" y="644623"/>
                </a:lnTo>
                <a:lnTo>
                  <a:pt x="423872" y="656225"/>
                </a:lnTo>
                <a:cubicBezTo>
                  <a:pt x="418033" y="660816"/>
                  <a:pt x="410270" y="661616"/>
                  <a:pt x="403612" y="658301"/>
                </a:cubicBezTo>
                <a:cubicBezTo>
                  <a:pt x="400460" y="656730"/>
                  <a:pt x="397183" y="655377"/>
                  <a:pt x="393859" y="654263"/>
                </a:cubicBezTo>
                <a:cubicBezTo>
                  <a:pt x="386810" y="651901"/>
                  <a:pt x="381895" y="645843"/>
                  <a:pt x="381010" y="638470"/>
                </a:cubicBezTo>
                <a:lnTo>
                  <a:pt x="378781" y="619839"/>
                </a:lnTo>
                <a:lnTo>
                  <a:pt x="359788" y="619839"/>
                </a:lnTo>
                <a:lnTo>
                  <a:pt x="357549" y="638480"/>
                </a:lnTo>
                <a:cubicBezTo>
                  <a:pt x="356664" y="645852"/>
                  <a:pt x="351749" y="651901"/>
                  <a:pt x="344710" y="654272"/>
                </a:cubicBezTo>
                <a:cubicBezTo>
                  <a:pt x="341386" y="655387"/>
                  <a:pt x="338109" y="656749"/>
                  <a:pt x="334956" y="658311"/>
                </a:cubicBezTo>
                <a:cubicBezTo>
                  <a:pt x="328298" y="661626"/>
                  <a:pt x="320535" y="660835"/>
                  <a:pt x="314696" y="656244"/>
                </a:cubicBezTo>
                <a:lnTo>
                  <a:pt x="299933" y="644633"/>
                </a:lnTo>
                <a:lnTo>
                  <a:pt x="286503" y="658063"/>
                </a:lnTo>
                <a:lnTo>
                  <a:pt x="298104" y="672827"/>
                </a:lnTo>
                <a:cubicBezTo>
                  <a:pt x="302695" y="678675"/>
                  <a:pt x="303495" y="686438"/>
                  <a:pt x="300180" y="693087"/>
                </a:cubicBezTo>
                <a:cubicBezTo>
                  <a:pt x="298609" y="696239"/>
                  <a:pt x="297256" y="699516"/>
                  <a:pt x="296142" y="702840"/>
                </a:cubicBezTo>
                <a:cubicBezTo>
                  <a:pt x="293770" y="709879"/>
                  <a:pt x="287722" y="714804"/>
                  <a:pt x="280359" y="715689"/>
                </a:cubicBezTo>
                <a:lnTo>
                  <a:pt x="261718" y="717928"/>
                </a:lnTo>
                <a:lnTo>
                  <a:pt x="261718" y="736921"/>
                </a:lnTo>
                <a:lnTo>
                  <a:pt x="280359" y="739159"/>
                </a:lnTo>
                <a:cubicBezTo>
                  <a:pt x="287731" y="740045"/>
                  <a:pt x="293780" y="744969"/>
                  <a:pt x="296142" y="751999"/>
                </a:cubicBezTo>
                <a:cubicBezTo>
                  <a:pt x="297256" y="755323"/>
                  <a:pt x="298618" y="758609"/>
                  <a:pt x="300190" y="761743"/>
                </a:cubicBezTo>
                <a:cubicBezTo>
                  <a:pt x="303505" y="768401"/>
                  <a:pt x="302705" y="776164"/>
                  <a:pt x="298113" y="782003"/>
                </a:cubicBezTo>
                <a:lnTo>
                  <a:pt x="286512" y="796766"/>
                </a:lnTo>
                <a:lnTo>
                  <a:pt x="299942" y="810197"/>
                </a:lnTo>
                <a:lnTo>
                  <a:pt x="314706" y="798595"/>
                </a:lnTo>
                <a:cubicBezTo>
                  <a:pt x="320545" y="794004"/>
                  <a:pt x="328308" y="793204"/>
                  <a:pt x="334966" y="796519"/>
                </a:cubicBezTo>
                <a:cubicBezTo>
                  <a:pt x="338109" y="798090"/>
                  <a:pt x="341395" y="799443"/>
                  <a:pt x="344719" y="800557"/>
                </a:cubicBezTo>
                <a:cubicBezTo>
                  <a:pt x="351758" y="802919"/>
                  <a:pt x="356683" y="808977"/>
                  <a:pt x="357569" y="816350"/>
                </a:cubicBezTo>
                <a:lnTo>
                  <a:pt x="359807" y="834990"/>
                </a:lnTo>
                <a:lnTo>
                  <a:pt x="378800" y="834990"/>
                </a:lnTo>
                <a:lnTo>
                  <a:pt x="381029" y="816350"/>
                </a:lnTo>
                <a:cubicBezTo>
                  <a:pt x="381914" y="808977"/>
                  <a:pt x="386839" y="802929"/>
                  <a:pt x="393868" y="800557"/>
                </a:cubicBezTo>
                <a:cubicBezTo>
                  <a:pt x="397193" y="799443"/>
                  <a:pt x="400469" y="798081"/>
                  <a:pt x="403622" y="796509"/>
                </a:cubicBezTo>
                <a:cubicBezTo>
                  <a:pt x="410280" y="793194"/>
                  <a:pt x="418043" y="793995"/>
                  <a:pt x="423882" y="798586"/>
                </a:cubicBezTo>
                <a:lnTo>
                  <a:pt x="438645" y="810187"/>
                </a:lnTo>
                <a:lnTo>
                  <a:pt x="452076" y="796757"/>
                </a:lnTo>
                <a:lnTo>
                  <a:pt x="440474" y="781993"/>
                </a:lnTo>
                <a:cubicBezTo>
                  <a:pt x="435883" y="776154"/>
                  <a:pt x="435083" y="768391"/>
                  <a:pt x="438398" y="761733"/>
                </a:cubicBezTo>
                <a:cubicBezTo>
                  <a:pt x="439969" y="758590"/>
                  <a:pt x="441322" y="755304"/>
                  <a:pt x="442446" y="751980"/>
                </a:cubicBezTo>
                <a:cubicBezTo>
                  <a:pt x="444808" y="744941"/>
                  <a:pt x="450866" y="740016"/>
                  <a:pt x="458238" y="739130"/>
                </a:cubicBezTo>
                <a:lnTo>
                  <a:pt x="476869" y="736892"/>
                </a:lnTo>
                <a:lnTo>
                  <a:pt x="476869" y="717918"/>
                </a:lnTo>
                <a:close/>
                <a:moveTo>
                  <a:pt x="433511" y="727415"/>
                </a:moveTo>
                <a:cubicBezTo>
                  <a:pt x="433511" y="762838"/>
                  <a:pt x="404698" y="791651"/>
                  <a:pt x="369275" y="791651"/>
                </a:cubicBezTo>
                <a:cubicBezTo>
                  <a:pt x="333851" y="791651"/>
                  <a:pt x="305038" y="762838"/>
                  <a:pt x="305038" y="727415"/>
                </a:cubicBezTo>
                <a:cubicBezTo>
                  <a:pt x="305038" y="691991"/>
                  <a:pt x="333851" y="663178"/>
                  <a:pt x="369275" y="663178"/>
                </a:cubicBezTo>
                <a:cubicBezTo>
                  <a:pt x="404698" y="663178"/>
                  <a:pt x="433511" y="691991"/>
                  <a:pt x="433511" y="727415"/>
                </a:cubicBezTo>
                <a:close/>
                <a:moveTo>
                  <a:pt x="411242" y="727415"/>
                </a:moveTo>
                <a:cubicBezTo>
                  <a:pt x="411242" y="704269"/>
                  <a:pt x="392411" y="685448"/>
                  <a:pt x="369275" y="685448"/>
                </a:cubicBezTo>
                <a:cubicBezTo>
                  <a:pt x="346139" y="685448"/>
                  <a:pt x="327308" y="704279"/>
                  <a:pt x="327308" y="727415"/>
                </a:cubicBezTo>
                <a:cubicBezTo>
                  <a:pt x="327308" y="750561"/>
                  <a:pt x="346139" y="769382"/>
                  <a:pt x="369275" y="769382"/>
                </a:cubicBezTo>
                <a:cubicBezTo>
                  <a:pt x="392411" y="769382"/>
                  <a:pt x="411242" y="750561"/>
                  <a:pt x="411242" y="727415"/>
                </a:cubicBezTo>
                <a:close/>
                <a:moveTo>
                  <a:pt x="369275" y="0"/>
                </a:moveTo>
                <a:cubicBezTo>
                  <a:pt x="165659" y="0"/>
                  <a:pt x="0" y="165659"/>
                  <a:pt x="0" y="369275"/>
                </a:cubicBezTo>
                <a:cubicBezTo>
                  <a:pt x="0" y="440036"/>
                  <a:pt x="20079" y="508797"/>
                  <a:pt x="58055" y="568119"/>
                </a:cubicBezTo>
                <a:cubicBezTo>
                  <a:pt x="95031" y="625869"/>
                  <a:pt x="147133" y="672141"/>
                  <a:pt x="208740" y="701916"/>
                </a:cubicBezTo>
                <a:cubicBezTo>
                  <a:pt x="210302" y="702669"/>
                  <a:pt x="211950" y="703031"/>
                  <a:pt x="213579" y="703031"/>
                </a:cubicBezTo>
                <a:cubicBezTo>
                  <a:pt x="217713" y="703031"/>
                  <a:pt x="221685" y="700716"/>
                  <a:pt x="223609" y="696744"/>
                </a:cubicBezTo>
                <a:cubicBezTo>
                  <a:pt x="226285" y="691210"/>
                  <a:pt x="223971" y="684552"/>
                  <a:pt x="218427" y="681876"/>
                </a:cubicBezTo>
                <a:cubicBezTo>
                  <a:pt x="99260" y="624269"/>
                  <a:pt x="22260" y="501558"/>
                  <a:pt x="22260" y="369275"/>
                </a:cubicBezTo>
                <a:cubicBezTo>
                  <a:pt x="22269" y="177937"/>
                  <a:pt x="177937" y="22269"/>
                  <a:pt x="369275" y="22269"/>
                </a:cubicBezTo>
                <a:cubicBezTo>
                  <a:pt x="560613" y="22269"/>
                  <a:pt x="716280" y="177937"/>
                  <a:pt x="716280" y="369275"/>
                </a:cubicBezTo>
                <a:cubicBezTo>
                  <a:pt x="716280" y="488737"/>
                  <a:pt x="656644" y="596922"/>
                  <a:pt x="558175" y="660502"/>
                </a:cubicBezTo>
                <a:lnTo>
                  <a:pt x="561384" y="655472"/>
                </a:lnTo>
                <a:cubicBezTo>
                  <a:pt x="564690" y="650291"/>
                  <a:pt x="563166" y="643404"/>
                  <a:pt x="557984" y="640099"/>
                </a:cubicBezTo>
                <a:cubicBezTo>
                  <a:pt x="552802" y="636794"/>
                  <a:pt x="545916" y="638318"/>
                  <a:pt x="542611" y="643499"/>
                </a:cubicBezTo>
                <a:lnTo>
                  <a:pt x="515579" y="685914"/>
                </a:lnTo>
                <a:cubicBezTo>
                  <a:pt x="513340" y="689420"/>
                  <a:pt x="513245" y="693887"/>
                  <a:pt x="515341" y="697487"/>
                </a:cubicBezTo>
                <a:cubicBezTo>
                  <a:pt x="517427" y="701088"/>
                  <a:pt x="521341" y="703221"/>
                  <a:pt x="525504" y="703021"/>
                </a:cubicBezTo>
                <a:lnTo>
                  <a:pt x="575739" y="700602"/>
                </a:lnTo>
                <a:cubicBezTo>
                  <a:pt x="581882" y="700307"/>
                  <a:pt x="586616" y="695087"/>
                  <a:pt x="586321" y="688943"/>
                </a:cubicBezTo>
                <a:cubicBezTo>
                  <a:pt x="586026" y="682800"/>
                  <a:pt x="580815" y="678056"/>
                  <a:pt x="574662" y="678361"/>
                </a:cubicBezTo>
                <a:lnTo>
                  <a:pt x="571176" y="678532"/>
                </a:lnTo>
                <a:cubicBezTo>
                  <a:pt x="615096" y="649824"/>
                  <a:pt x="652567" y="611991"/>
                  <a:pt x="680990" y="567357"/>
                </a:cubicBezTo>
                <a:cubicBezTo>
                  <a:pt x="718652" y="508216"/>
                  <a:pt x="738559" y="439722"/>
                  <a:pt x="738559" y="369275"/>
                </a:cubicBezTo>
                <a:cubicBezTo>
                  <a:pt x="738549" y="165659"/>
                  <a:pt x="572891" y="0"/>
                  <a:pt x="369275" y="0"/>
                </a:cubicBezTo>
                <a:close/>
              </a:path>
            </a:pathLst>
          </a:custGeom>
          <a:solidFill>
            <a:srgbClr val="ED7C7F"/>
          </a:solidFill>
          <a:ln w="9525" cap="flat">
            <a:noFill/>
            <a:prstDash val="solid"/>
            <a:miter/>
          </a:ln>
        </p:spPr>
        <p:txBody>
          <a:bodyPr rtlCol="0" anchor="ctr"/>
          <a:lstStyle/>
          <a:p>
            <a:endParaRPr lang="en-US" noProof="0" dirty="0"/>
          </a:p>
        </p:txBody>
      </p:sp>
      <p:sp>
        <p:nvSpPr>
          <p:cNvPr id="6" name="Chevron 4">
            <a:extLst>
              <a:ext uri="{FF2B5EF4-FFF2-40B4-BE49-F238E27FC236}">
                <a16:creationId xmlns:a16="http://schemas.microsoft.com/office/drawing/2014/main" id="{8D5781F4-9B3A-A022-AAE7-AE588A60BF6C}"/>
              </a:ext>
            </a:extLst>
          </p:cNvPr>
          <p:cNvSpPr/>
          <p:nvPr/>
        </p:nvSpPr>
        <p:spPr>
          <a:xfrm>
            <a:off x="2885290" y="1644995"/>
            <a:ext cx="2039674" cy="26665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latin typeface="+mj-lt"/>
                <a:cs typeface="Poppins" pitchFamily="2" charset="77"/>
              </a:rPr>
              <a:t>Key Influencers</a:t>
            </a:r>
          </a:p>
        </p:txBody>
      </p:sp>
      <p:sp>
        <p:nvSpPr>
          <p:cNvPr id="12" name="Freeform 945">
            <a:extLst>
              <a:ext uri="{FF2B5EF4-FFF2-40B4-BE49-F238E27FC236}">
                <a16:creationId xmlns:a16="http://schemas.microsoft.com/office/drawing/2014/main" id="{19641045-52D8-F72E-2CA5-65456FE1775A}"/>
              </a:ext>
            </a:extLst>
          </p:cNvPr>
          <p:cNvSpPr>
            <a:spLocks noChangeAspect="1" noChangeArrowheads="1"/>
          </p:cNvSpPr>
          <p:nvPr/>
        </p:nvSpPr>
        <p:spPr bwMode="auto">
          <a:xfrm>
            <a:off x="3709698" y="992905"/>
            <a:ext cx="390858" cy="486011"/>
          </a:xfrm>
          <a:custGeom>
            <a:avLst/>
            <a:gdLst>
              <a:gd name="T0" fmla="*/ 632245 w 232462"/>
              <a:gd name="T1" fmla="*/ 3076609 h 289974"/>
              <a:gd name="T2" fmla="*/ 1993938 w 232462"/>
              <a:gd name="T3" fmla="*/ 3076609 h 289974"/>
              <a:gd name="T4" fmla="*/ 2091190 w 232462"/>
              <a:gd name="T5" fmla="*/ 2375186 h 289974"/>
              <a:gd name="T6" fmla="*/ 2038519 w 232462"/>
              <a:gd name="T7" fmla="*/ 3199466 h 289974"/>
              <a:gd name="T8" fmla="*/ 603868 w 232462"/>
              <a:gd name="T9" fmla="*/ 3195485 h 289974"/>
              <a:gd name="T10" fmla="*/ 534968 w 232462"/>
              <a:gd name="T11" fmla="*/ 2375186 h 289974"/>
              <a:gd name="T12" fmla="*/ 1193690 w 232462"/>
              <a:gd name="T13" fmla="*/ 1084957 h 289974"/>
              <a:gd name="T14" fmla="*/ 1084413 w 232462"/>
              <a:gd name="T15" fmla="*/ 1332847 h 289974"/>
              <a:gd name="T16" fmla="*/ 1290835 w 232462"/>
              <a:gd name="T17" fmla="*/ 1516759 h 289974"/>
              <a:gd name="T18" fmla="*/ 1529635 w 232462"/>
              <a:gd name="T19" fmla="*/ 1376818 h 289974"/>
              <a:gd name="T20" fmla="*/ 1468921 w 232462"/>
              <a:gd name="T21" fmla="*/ 1108951 h 289974"/>
              <a:gd name="T22" fmla="*/ 1270596 w 232462"/>
              <a:gd name="T23" fmla="*/ 713128 h 289974"/>
              <a:gd name="T24" fmla="*/ 1849413 w 232462"/>
              <a:gd name="T25" fmla="*/ 1064956 h 289974"/>
              <a:gd name="T26" fmla="*/ 1630824 w 232462"/>
              <a:gd name="T27" fmla="*/ 1384830 h 289974"/>
              <a:gd name="T28" fmla="*/ 1618692 w 232462"/>
              <a:gd name="T29" fmla="*/ 1772641 h 289974"/>
              <a:gd name="T30" fmla="*/ 987257 w 232462"/>
              <a:gd name="T31" fmla="*/ 1776636 h 289974"/>
              <a:gd name="T32" fmla="*/ 995349 w 232462"/>
              <a:gd name="T33" fmla="*/ 1384830 h 289974"/>
              <a:gd name="T34" fmla="*/ 776770 w 232462"/>
              <a:gd name="T35" fmla="*/ 1064956 h 289974"/>
              <a:gd name="T36" fmla="*/ 1306159 w 232462"/>
              <a:gd name="T37" fmla="*/ 482625 h 289974"/>
              <a:gd name="T38" fmla="*/ 2119160 w 232462"/>
              <a:gd name="T39" fmla="*/ 1276673 h 289974"/>
              <a:gd name="T40" fmla="*/ 2216743 w 232462"/>
              <a:gd name="T41" fmla="*/ 1276673 h 289974"/>
              <a:gd name="T42" fmla="*/ 1306159 w 232462"/>
              <a:gd name="T43" fmla="*/ 383378 h 289974"/>
              <a:gd name="T44" fmla="*/ 1083222 w 232462"/>
              <a:gd name="T45" fmla="*/ 251380 h 289974"/>
              <a:gd name="T46" fmla="*/ 700781 w 232462"/>
              <a:gd name="T47" fmla="*/ 417639 h 289974"/>
              <a:gd name="T48" fmla="*/ 407860 w 232462"/>
              <a:gd name="T49" fmla="*/ 710574 h 289974"/>
              <a:gd name="T50" fmla="*/ 253257 w 232462"/>
              <a:gd name="T51" fmla="*/ 1090626 h 289974"/>
              <a:gd name="T52" fmla="*/ 261393 w 232462"/>
              <a:gd name="T53" fmla="*/ 1498350 h 289974"/>
              <a:gd name="T54" fmla="*/ 428191 w 232462"/>
              <a:gd name="T55" fmla="*/ 1874447 h 289974"/>
              <a:gd name="T56" fmla="*/ 733337 w 232462"/>
              <a:gd name="T57" fmla="*/ 2159477 h 289974"/>
              <a:gd name="T58" fmla="*/ 1095420 w 232462"/>
              <a:gd name="T59" fmla="*/ 2298020 h 289974"/>
              <a:gd name="T60" fmla="*/ 1506329 w 232462"/>
              <a:gd name="T61" fmla="*/ 2309889 h 289974"/>
              <a:gd name="T62" fmla="*/ 1896907 w 232462"/>
              <a:gd name="T63" fmla="*/ 2159477 h 289974"/>
              <a:gd name="T64" fmla="*/ 2197968 w 232462"/>
              <a:gd name="T65" fmla="*/ 1874447 h 289974"/>
              <a:gd name="T66" fmla="*/ 2368839 w 232462"/>
              <a:gd name="T67" fmla="*/ 1498350 h 289974"/>
              <a:gd name="T68" fmla="*/ 2372910 w 232462"/>
              <a:gd name="T69" fmla="*/ 1090626 h 289974"/>
              <a:gd name="T70" fmla="*/ 2222381 w 232462"/>
              <a:gd name="T71" fmla="*/ 710574 h 289974"/>
              <a:gd name="T72" fmla="*/ 1929440 w 232462"/>
              <a:gd name="T73" fmla="*/ 417639 h 289974"/>
              <a:gd name="T74" fmla="*/ 1546995 w 232462"/>
              <a:gd name="T75" fmla="*/ 251380 h 289974"/>
              <a:gd name="T76" fmla="*/ 1282577 w 232462"/>
              <a:gd name="T77" fmla="*/ 5940 h 289974"/>
              <a:gd name="T78" fmla="*/ 1787059 w 232462"/>
              <a:gd name="T79" fmla="*/ 93038 h 289974"/>
              <a:gd name="T80" fmla="*/ 2214256 w 232462"/>
              <a:gd name="T81" fmla="*/ 358253 h 289974"/>
              <a:gd name="T82" fmla="*/ 2507166 w 232462"/>
              <a:gd name="T83" fmla="*/ 762044 h 289974"/>
              <a:gd name="T84" fmla="*/ 2617013 w 232462"/>
              <a:gd name="T85" fmla="*/ 1245006 h 289974"/>
              <a:gd name="T86" fmla="*/ 2531574 w 232462"/>
              <a:gd name="T87" fmla="*/ 1735895 h 289974"/>
              <a:gd name="T88" fmla="*/ 2258976 w 232462"/>
              <a:gd name="T89" fmla="*/ 2151533 h 289974"/>
              <a:gd name="T90" fmla="*/ 1839944 w 232462"/>
              <a:gd name="T91" fmla="*/ 2436573 h 289974"/>
              <a:gd name="T92" fmla="*/ 1343589 w 232462"/>
              <a:gd name="T93" fmla="*/ 2543461 h 289974"/>
              <a:gd name="T94" fmla="*/ 1083222 w 232462"/>
              <a:gd name="T95" fmla="*/ 2400937 h 289974"/>
              <a:gd name="T96" fmla="*/ 660104 w 232462"/>
              <a:gd name="T97" fmla="*/ 2226766 h 289974"/>
              <a:gd name="T98" fmla="*/ 334636 w 232462"/>
              <a:gd name="T99" fmla="*/ 1910073 h 289974"/>
              <a:gd name="T100" fmla="*/ 159692 w 232462"/>
              <a:gd name="T101" fmla="*/ 1498350 h 289974"/>
              <a:gd name="T102" fmla="*/ 159692 w 232462"/>
              <a:gd name="T103" fmla="*/ 1051026 h 289974"/>
              <a:gd name="T104" fmla="*/ 334636 w 232462"/>
              <a:gd name="T105" fmla="*/ 639327 h 289974"/>
              <a:gd name="T106" fmla="*/ 660104 w 232462"/>
              <a:gd name="T107" fmla="*/ 322629 h 289974"/>
              <a:gd name="T108" fmla="*/ 1083222 w 232462"/>
              <a:gd name="T109" fmla="*/ 152424 h 2899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62" h="289974">
                <a:moveTo>
                  <a:pt x="51660" y="210958"/>
                </a:moveTo>
                <a:cubicBezTo>
                  <a:pt x="54171" y="210958"/>
                  <a:pt x="55965" y="212754"/>
                  <a:pt x="55965" y="215268"/>
                </a:cubicBezTo>
                <a:lnTo>
                  <a:pt x="55965" y="278840"/>
                </a:lnTo>
                <a:lnTo>
                  <a:pt x="114438" y="251903"/>
                </a:lnTo>
                <a:cubicBezTo>
                  <a:pt x="115514" y="251543"/>
                  <a:pt x="116949" y="251543"/>
                  <a:pt x="118025" y="251903"/>
                </a:cubicBezTo>
                <a:lnTo>
                  <a:pt x="176499" y="278840"/>
                </a:lnTo>
                <a:lnTo>
                  <a:pt x="176499" y="215268"/>
                </a:lnTo>
                <a:cubicBezTo>
                  <a:pt x="176499" y="212754"/>
                  <a:pt x="178292" y="210958"/>
                  <a:pt x="180445" y="210958"/>
                </a:cubicBezTo>
                <a:cubicBezTo>
                  <a:pt x="182956" y="210958"/>
                  <a:pt x="185108" y="212754"/>
                  <a:pt x="185108" y="215268"/>
                </a:cubicBezTo>
                <a:lnTo>
                  <a:pt x="185108" y="285305"/>
                </a:lnTo>
                <a:cubicBezTo>
                  <a:pt x="185108" y="287101"/>
                  <a:pt x="184391" y="288537"/>
                  <a:pt x="182956" y="289256"/>
                </a:cubicBezTo>
                <a:cubicBezTo>
                  <a:pt x="182239" y="289615"/>
                  <a:pt x="181521" y="289974"/>
                  <a:pt x="180445" y="289974"/>
                </a:cubicBezTo>
                <a:cubicBezTo>
                  <a:pt x="180086" y="289974"/>
                  <a:pt x="179369" y="289974"/>
                  <a:pt x="178651" y="289615"/>
                </a:cubicBezTo>
                <a:lnTo>
                  <a:pt x="116232" y="260882"/>
                </a:lnTo>
                <a:lnTo>
                  <a:pt x="53453" y="289615"/>
                </a:lnTo>
                <a:cubicBezTo>
                  <a:pt x="52377" y="289974"/>
                  <a:pt x="50584" y="289974"/>
                  <a:pt x="49149" y="289256"/>
                </a:cubicBezTo>
                <a:cubicBezTo>
                  <a:pt x="48072" y="288537"/>
                  <a:pt x="47355" y="287101"/>
                  <a:pt x="47355" y="285305"/>
                </a:cubicBezTo>
                <a:lnTo>
                  <a:pt x="47355" y="215268"/>
                </a:lnTo>
                <a:cubicBezTo>
                  <a:pt x="47355" y="212754"/>
                  <a:pt x="49149" y="210958"/>
                  <a:pt x="51660" y="210958"/>
                </a:cubicBezTo>
                <a:close/>
                <a:moveTo>
                  <a:pt x="116411" y="76590"/>
                </a:moveTo>
                <a:lnTo>
                  <a:pt x="105662" y="98332"/>
                </a:lnTo>
                <a:cubicBezTo>
                  <a:pt x="104946" y="99419"/>
                  <a:pt x="104229" y="100143"/>
                  <a:pt x="102438" y="100506"/>
                </a:cubicBezTo>
                <a:lnTo>
                  <a:pt x="79149" y="103767"/>
                </a:lnTo>
                <a:lnTo>
                  <a:pt x="95989" y="120798"/>
                </a:lnTo>
                <a:cubicBezTo>
                  <a:pt x="97063" y="121885"/>
                  <a:pt x="97422" y="123335"/>
                  <a:pt x="97422" y="124784"/>
                </a:cubicBezTo>
                <a:lnTo>
                  <a:pt x="93480" y="148338"/>
                </a:lnTo>
                <a:lnTo>
                  <a:pt x="114261" y="137467"/>
                </a:lnTo>
                <a:cubicBezTo>
                  <a:pt x="115695" y="136380"/>
                  <a:pt x="117128" y="136380"/>
                  <a:pt x="118203" y="137467"/>
                </a:cubicBezTo>
                <a:lnTo>
                  <a:pt x="139342" y="148338"/>
                </a:lnTo>
                <a:lnTo>
                  <a:pt x="135401" y="124784"/>
                </a:lnTo>
                <a:cubicBezTo>
                  <a:pt x="135042" y="123335"/>
                  <a:pt x="135401" y="121885"/>
                  <a:pt x="136834" y="120798"/>
                </a:cubicBezTo>
                <a:lnTo>
                  <a:pt x="153673" y="103767"/>
                </a:lnTo>
                <a:lnTo>
                  <a:pt x="130026" y="100506"/>
                </a:lnTo>
                <a:cubicBezTo>
                  <a:pt x="128593" y="100143"/>
                  <a:pt x="127518" y="99419"/>
                  <a:pt x="127160" y="98332"/>
                </a:cubicBezTo>
                <a:lnTo>
                  <a:pt x="116411" y="76590"/>
                </a:lnTo>
                <a:close/>
                <a:moveTo>
                  <a:pt x="112470" y="64632"/>
                </a:moveTo>
                <a:cubicBezTo>
                  <a:pt x="113903" y="61733"/>
                  <a:pt x="118919" y="61733"/>
                  <a:pt x="120352" y="64632"/>
                </a:cubicBezTo>
                <a:lnTo>
                  <a:pt x="133609" y="92171"/>
                </a:lnTo>
                <a:lnTo>
                  <a:pt x="163706" y="96520"/>
                </a:lnTo>
                <a:cubicBezTo>
                  <a:pt x="165497" y="96520"/>
                  <a:pt x="166930" y="97969"/>
                  <a:pt x="167289" y="99419"/>
                </a:cubicBezTo>
                <a:cubicBezTo>
                  <a:pt x="167647" y="101231"/>
                  <a:pt x="167289" y="103042"/>
                  <a:pt x="166214" y="104129"/>
                </a:cubicBezTo>
                <a:lnTo>
                  <a:pt x="144358" y="125509"/>
                </a:lnTo>
                <a:lnTo>
                  <a:pt x="149732" y="155947"/>
                </a:lnTo>
                <a:cubicBezTo>
                  <a:pt x="149732" y="157759"/>
                  <a:pt x="149374" y="159208"/>
                  <a:pt x="147941" y="160296"/>
                </a:cubicBezTo>
                <a:cubicBezTo>
                  <a:pt x="146508" y="161383"/>
                  <a:pt x="144716" y="161383"/>
                  <a:pt x="143283" y="160658"/>
                </a:cubicBezTo>
                <a:lnTo>
                  <a:pt x="116411" y="146163"/>
                </a:lnTo>
                <a:lnTo>
                  <a:pt x="89539" y="160658"/>
                </a:lnTo>
                <a:cubicBezTo>
                  <a:pt x="88823" y="160658"/>
                  <a:pt x="88106" y="161020"/>
                  <a:pt x="87390" y="161020"/>
                </a:cubicBezTo>
                <a:cubicBezTo>
                  <a:pt x="86673" y="161020"/>
                  <a:pt x="85598" y="160658"/>
                  <a:pt x="84881" y="160296"/>
                </a:cubicBezTo>
                <a:cubicBezTo>
                  <a:pt x="83448" y="159208"/>
                  <a:pt x="82732" y="157759"/>
                  <a:pt x="83090" y="155947"/>
                </a:cubicBezTo>
                <a:lnTo>
                  <a:pt x="88106" y="125509"/>
                </a:lnTo>
                <a:lnTo>
                  <a:pt x="66250" y="104129"/>
                </a:lnTo>
                <a:cubicBezTo>
                  <a:pt x="65175" y="103042"/>
                  <a:pt x="64817" y="101231"/>
                  <a:pt x="65175" y="99419"/>
                </a:cubicBezTo>
                <a:cubicBezTo>
                  <a:pt x="65892" y="97969"/>
                  <a:pt x="67325" y="96520"/>
                  <a:pt x="68758" y="96520"/>
                </a:cubicBezTo>
                <a:lnTo>
                  <a:pt x="98855" y="92171"/>
                </a:lnTo>
                <a:lnTo>
                  <a:pt x="112470" y="64632"/>
                </a:lnTo>
                <a:close/>
                <a:moveTo>
                  <a:pt x="115618" y="43741"/>
                </a:moveTo>
                <a:cubicBezTo>
                  <a:pt x="76036" y="43741"/>
                  <a:pt x="43651" y="76126"/>
                  <a:pt x="43651" y="115708"/>
                </a:cubicBezTo>
                <a:cubicBezTo>
                  <a:pt x="43651" y="155289"/>
                  <a:pt x="76036" y="187674"/>
                  <a:pt x="115618" y="187674"/>
                </a:cubicBezTo>
                <a:cubicBezTo>
                  <a:pt x="155199" y="187674"/>
                  <a:pt x="187584" y="155289"/>
                  <a:pt x="187584" y="115708"/>
                </a:cubicBezTo>
                <a:cubicBezTo>
                  <a:pt x="187584" y="76126"/>
                  <a:pt x="155199" y="43741"/>
                  <a:pt x="115618" y="43741"/>
                </a:cubicBezTo>
                <a:close/>
                <a:moveTo>
                  <a:pt x="115618" y="34745"/>
                </a:moveTo>
                <a:cubicBezTo>
                  <a:pt x="159877" y="34745"/>
                  <a:pt x="196220" y="71088"/>
                  <a:pt x="196220" y="115708"/>
                </a:cubicBezTo>
                <a:cubicBezTo>
                  <a:pt x="196220" y="159967"/>
                  <a:pt x="159877" y="196310"/>
                  <a:pt x="115618" y="196310"/>
                </a:cubicBezTo>
                <a:cubicBezTo>
                  <a:pt x="70998" y="196310"/>
                  <a:pt x="34655" y="159967"/>
                  <a:pt x="34655" y="115708"/>
                </a:cubicBezTo>
                <a:cubicBezTo>
                  <a:pt x="34655" y="71088"/>
                  <a:pt x="70998" y="34745"/>
                  <a:pt x="115618" y="34745"/>
                </a:cubicBezTo>
                <a:close/>
                <a:moveTo>
                  <a:pt x="116411" y="9866"/>
                </a:moveTo>
                <a:lnTo>
                  <a:pt x="99485" y="22065"/>
                </a:lnTo>
                <a:cubicBezTo>
                  <a:pt x="98405" y="22782"/>
                  <a:pt x="97324" y="23141"/>
                  <a:pt x="95884" y="22782"/>
                </a:cubicBezTo>
                <a:lnTo>
                  <a:pt x="75717" y="17759"/>
                </a:lnTo>
                <a:lnTo>
                  <a:pt x="64913" y="35698"/>
                </a:lnTo>
                <a:cubicBezTo>
                  <a:pt x="64193" y="36775"/>
                  <a:pt x="63112" y="37492"/>
                  <a:pt x="62032" y="37851"/>
                </a:cubicBezTo>
                <a:lnTo>
                  <a:pt x="41144" y="40721"/>
                </a:lnTo>
                <a:lnTo>
                  <a:pt x="37903" y="61531"/>
                </a:lnTo>
                <a:cubicBezTo>
                  <a:pt x="37903" y="62607"/>
                  <a:pt x="37183" y="63684"/>
                  <a:pt x="36103" y="64401"/>
                </a:cubicBezTo>
                <a:lnTo>
                  <a:pt x="18096" y="75165"/>
                </a:lnTo>
                <a:lnTo>
                  <a:pt x="23138" y="95257"/>
                </a:lnTo>
                <a:cubicBezTo>
                  <a:pt x="23498" y="96333"/>
                  <a:pt x="23138" y="97768"/>
                  <a:pt x="22418" y="98845"/>
                </a:cubicBezTo>
                <a:lnTo>
                  <a:pt x="10174" y="115708"/>
                </a:lnTo>
                <a:lnTo>
                  <a:pt x="22418" y="132212"/>
                </a:lnTo>
                <a:cubicBezTo>
                  <a:pt x="23138" y="133288"/>
                  <a:pt x="23498" y="134723"/>
                  <a:pt x="23138" y="135799"/>
                </a:cubicBezTo>
                <a:lnTo>
                  <a:pt x="18096" y="156250"/>
                </a:lnTo>
                <a:lnTo>
                  <a:pt x="36103" y="167014"/>
                </a:lnTo>
                <a:cubicBezTo>
                  <a:pt x="37183" y="167731"/>
                  <a:pt x="37903" y="168449"/>
                  <a:pt x="37903" y="169884"/>
                </a:cubicBezTo>
                <a:lnTo>
                  <a:pt x="41144" y="190335"/>
                </a:lnTo>
                <a:lnTo>
                  <a:pt x="62032" y="193564"/>
                </a:lnTo>
                <a:cubicBezTo>
                  <a:pt x="63112" y="193564"/>
                  <a:pt x="64193" y="194640"/>
                  <a:pt x="64913" y="195717"/>
                </a:cubicBezTo>
                <a:lnTo>
                  <a:pt x="75717" y="213656"/>
                </a:lnTo>
                <a:lnTo>
                  <a:pt x="95884" y="208274"/>
                </a:lnTo>
                <a:cubicBezTo>
                  <a:pt x="96244" y="208274"/>
                  <a:pt x="96604" y="208274"/>
                  <a:pt x="96964" y="208274"/>
                </a:cubicBezTo>
                <a:cubicBezTo>
                  <a:pt x="97685" y="208274"/>
                  <a:pt x="98765" y="208633"/>
                  <a:pt x="99485" y="209350"/>
                </a:cubicBezTo>
                <a:lnTo>
                  <a:pt x="116411" y="221549"/>
                </a:lnTo>
                <a:lnTo>
                  <a:pt x="133337" y="209350"/>
                </a:lnTo>
                <a:cubicBezTo>
                  <a:pt x="134417" y="208274"/>
                  <a:pt x="135498" y="208274"/>
                  <a:pt x="136938" y="208274"/>
                </a:cubicBezTo>
                <a:lnTo>
                  <a:pt x="157105" y="213656"/>
                </a:lnTo>
                <a:lnTo>
                  <a:pt x="167909" y="195717"/>
                </a:lnTo>
                <a:cubicBezTo>
                  <a:pt x="168629" y="194640"/>
                  <a:pt x="169710" y="193564"/>
                  <a:pt x="170790" y="193564"/>
                </a:cubicBezTo>
                <a:lnTo>
                  <a:pt x="191678" y="190335"/>
                </a:lnTo>
                <a:lnTo>
                  <a:pt x="194559" y="169884"/>
                </a:lnTo>
                <a:cubicBezTo>
                  <a:pt x="194559" y="168449"/>
                  <a:pt x="195639" y="167731"/>
                  <a:pt x="196719" y="167014"/>
                </a:cubicBezTo>
                <a:lnTo>
                  <a:pt x="214726" y="156250"/>
                </a:lnTo>
                <a:lnTo>
                  <a:pt x="209684" y="135799"/>
                </a:lnTo>
                <a:cubicBezTo>
                  <a:pt x="209324" y="134723"/>
                  <a:pt x="209684" y="133288"/>
                  <a:pt x="210044" y="132212"/>
                </a:cubicBezTo>
                <a:lnTo>
                  <a:pt x="222648" y="115708"/>
                </a:lnTo>
                <a:lnTo>
                  <a:pt x="210044" y="98845"/>
                </a:lnTo>
                <a:cubicBezTo>
                  <a:pt x="209684" y="97768"/>
                  <a:pt x="209324" y="96333"/>
                  <a:pt x="209684" y="95257"/>
                </a:cubicBezTo>
                <a:lnTo>
                  <a:pt x="214726" y="75165"/>
                </a:lnTo>
                <a:lnTo>
                  <a:pt x="196719" y="64401"/>
                </a:lnTo>
                <a:cubicBezTo>
                  <a:pt x="195639" y="63684"/>
                  <a:pt x="194559" y="62607"/>
                  <a:pt x="194559" y="61531"/>
                </a:cubicBezTo>
                <a:lnTo>
                  <a:pt x="191678" y="40721"/>
                </a:lnTo>
                <a:lnTo>
                  <a:pt x="170790" y="37851"/>
                </a:lnTo>
                <a:cubicBezTo>
                  <a:pt x="169710" y="37492"/>
                  <a:pt x="168629" y="36775"/>
                  <a:pt x="167909" y="35698"/>
                </a:cubicBezTo>
                <a:lnTo>
                  <a:pt x="157105" y="17759"/>
                </a:lnTo>
                <a:lnTo>
                  <a:pt x="136938" y="22782"/>
                </a:lnTo>
                <a:cubicBezTo>
                  <a:pt x="135498" y="23141"/>
                  <a:pt x="134417" y="22782"/>
                  <a:pt x="133337" y="22065"/>
                </a:cubicBezTo>
                <a:lnTo>
                  <a:pt x="116411" y="9866"/>
                </a:lnTo>
                <a:close/>
                <a:moveTo>
                  <a:pt x="113530" y="538"/>
                </a:moveTo>
                <a:cubicBezTo>
                  <a:pt x="115331" y="-180"/>
                  <a:pt x="117492" y="-180"/>
                  <a:pt x="118932" y="538"/>
                </a:cubicBezTo>
                <a:lnTo>
                  <a:pt x="136938" y="13813"/>
                </a:lnTo>
                <a:lnTo>
                  <a:pt x="158186" y="8431"/>
                </a:lnTo>
                <a:cubicBezTo>
                  <a:pt x="159986" y="8072"/>
                  <a:pt x="161787" y="8790"/>
                  <a:pt x="162867" y="10225"/>
                </a:cubicBezTo>
                <a:lnTo>
                  <a:pt x="174392" y="29240"/>
                </a:lnTo>
                <a:lnTo>
                  <a:pt x="195999" y="32469"/>
                </a:lnTo>
                <a:cubicBezTo>
                  <a:pt x="197800" y="32828"/>
                  <a:pt x="199240" y="34263"/>
                  <a:pt x="199960" y="36416"/>
                </a:cubicBezTo>
                <a:lnTo>
                  <a:pt x="202842" y="57943"/>
                </a:lnTo>
                <a:lnTo>
                  <a:pt x="221928" y="69066"/>
                </a:lnTo>
                <a:cubicBezTo>
                  <a:pt x="223369" y="70142"/>
                  <a:pt x="224449" y="72295"/>
                  <a:pt x="224089" y="74088"/>
                </a:cubicBezTo>
                <a:lnTo>
                  <a:pt x="218687" y="95257"/>
                </a:lnTo>
                <a:lnTo>
                  <a:pt x="231652" y="112837"/>
                </a:lnTo>
                <a:cubicBezTo>
                  <a:pt x="232732" y="114631"/>
                  <a:pt x="232732" y="116784"/>
                  <a:pt x="231652" y="118219"/>
                </a:cubicBezTo>
                <a:lnTo>
                  <a:pt x="218687" y="135799"/>
                </a:lnTo>
                <a:lnTo>
                  <a:pt x="224089" y="157327"/>
                </a:lnTo>
                <a:cubicBezTo>
                  <a:pt x="224449" y="159121"/>
                  <a:pt x="223369" y="160914"/>
                  <a:pt x="221928" y="161991"/>
                </a:cubicBezTo>
                <a:lnTo>
                  <a:pt x="202842" y="173113"/>
                </a:lnTo>
                <a:lnTo>
                  <a:pt x="199960" y="194999"/>
                </a:lnTo>
                <a:cubicBezTo>
                  <a:pt x="199240" y="196793"/>
                  <a:pt x="197800" y="198587"/>
                  <a:pt x="195999" y="198587"/>
                </a:cubicBezTo>
                <a:lnTo>
                  <a:pt x="174392" y="201816"/>
                </a:lnTo>
                <a:lnTo>
                  <a:pt x="162867" y="220831"/>
                </a:lnTo>
                <a:cubicBezTo>
                  <a:pt x="161787" y="222267"/>
                  <a:pt x="159986" y="222984"/>
                  <a:pt x="158186" y="222625"/>
                </a:cubicBezTo>
                <a:lnTo>
                  <a:pt x="136938" y="217602"/>
                </a:lnTo>
                <a:lnTo>
                  <a:pt x="118932" y="230519"/>
                </a:lnTo>
                <a:cubicBezTo>
                  <a:pt x="118212" y="231236"/>
                  <a:pt x="117131" y="231236"/>
                  <a:pt x="116411" y="231236"/>
                </a:cubicBezTo>
                <a:cubicBezTo>
                  <a:pt x="115331" y="231236"/>
                  <a:pt x="114610" y="231236"/>
                  <a:pt x="113530" y="230519"/>
                </a:cubicBezTo>
                <a:lnTo>
                  <a:pt x="95884" y="217602"/>
                </a:lnTo>
                <a:lnTo>
                  <a:pt x="74636" y="222625"/>
                </a:lnTo>
                <a:cubicBezTo>
                  <a:pt x="72836" y="222984"/>
                  <a:pt x="70675" y="222267"/>
                  <a:pt x="69595" y="220831"/>
                </a:cubicBezTo>
                <a:lnTo>
                  <a:pt x="58431" y="201816"/>
                </a:lnTo>
                <a:lnTo>
                  <a:pt x="36823" y="198587"/>
                </a:lnTo>
                <a:cubicBezTo>
                  <a:pt x="35022" y="198587"/>
                  <a:pt x="33222" y="196793"/>
                  <a:pt x="32862" y="194999"/>
                </a:cubicBezTo>
                <a:lnTo>
                  <a:pt x="29620" y="173113"/>
                </a:lnTo>
                <a:lnTo>
                  <a:pt x="10534" y="161991"/>
                </a:lnTo>
                <a:cubicBezTo>
                  <a:pt x="9093" y="160914"/>
                  <a:pt x="8373" y="159121"/>
                  <a:pt x="8733" y="157327"/>
                </a:cubicBezTo>
                <a:lnTo>
                  <a:pt x="14135" y="135799"/>
                </a:lnTo>
                <a:lnTo>
                  <a:pt x="810" y="118219"/>
                </a:lnTo>
                <a:cubicBezTo>
                  <a:pt x="-270" y="116784"/>
                  <a:pt x="-270" y="114631"/>
                  <a:pt x="810" y="112837"/>
                </a:cubicBezTo>
                <a:lnTo>
                  <a:pt x="14135" y="95257"/>
                </a:lnTo>
                <a:lnTo>
                  <a:pt x="8733" y="74088"/>
                </a:lnTo>
                <a:cubicBezTo>
                  <a:pt x="8373" y="72295"/>
                  <a:pt x="9093" y="70142"/>
                  <a:pt x="10534" y="69066"/>
                </a:cubicBezTo>
                <a:lnTo>
                  <a:pt x="29620" y="57943"/>
                </a:lnTo>
                <a:lnTo>
                  <a:pt x="32862" y="36416"/>
                </a:lnTo>
                <a:cubicBezTo>
                  <a:pt x="33222" y="34263"/>
                  <a:pt x="35022" y="32828"/>
                  <a:pt x="36823" y="32469"/>
                </a:cubicBezTo>
                <a:lnTo>
                  <a:pt x="58431" y="29240"/>
                </a:lnTo>
                <a:lnTo>
                  <a:pt x="69595" y="10225"/>
                </a:lnTo>
                <a:cubicBezTo>
                  <a:pt x="70675" y="8790"/>
                  <a:pt x="72836" y="8072"/>
                  <a:pt x="74636" y="8431"/>
                </a:cubicBezTo>
                <a:lnTo>
                  <a:pt x="95884" y="13813"/>
                </a:lnTo>
                <a:lnTo>
                  <a:pt x="113530" y="538"/>
                </a:lnTo>
                <a:close/>
              </a:path>
            </a:pathLst>
          </a:custGeom>
          <a:solidFill>
            <a:srgbClr val="7030A0"/>
          </a:solidFill>
          <a:ln>
            <a:noFill/>
          </a:ln>
          <a:effectLst/>
        </p:spPr>
        <p:txBody>
          <a:bodyPr anchor="ctr"/>
          <a:lstStyle/>
          <a:p>
            <a:endParaRPr lang="en-US" sz="900" noProof="0" dirty="0">
              <a:latin typeface="+mj-lt"/>
            </a:endParaRPr>
          </a:p>
        </p:txBody>
      </p:sp>
      <p:pic>
        <p:nvPicPr>
          <p:cNvPr id="13" name="Picture 12">
            <a:extLst>
              <a:ext uri="{FF2B5EF4-FFF2-40B4-BE49-F238E27FC236}">
                <a16:creationId xmlns:a16="http://schemas.microsoft.com/office/drawing/2014/main" id="{2EE903FE-F6B6-92E5-FFBA-262D541B0445}"/>
              </a:ext>
            </a:extLst>
          </p:cNvPr>
          <p:cNvPicPr>
            <a:picLocks noChangeAspect="1"/>
          </p:cNvPicPr>
          <p:nvPr/>
        </p:nvPicPr>
        <p:blipFill>
          <a:blip r:embed="rId3"/>
          <a:stretch>
            <a:fillRect/>
          </a:stretch>
        </p:blipFill>
        <p:spPr>
          <a:xfrm>
            <a:off x="9623917" y="2207417"/>
            <a:ext cx="1749704" cy="1688738"/>
          </a:xfrm>
          <a:prstGeom prst="rect">
            <a:avLst/>
          </a:prstGeom>
        </p:spPr>
      </p:pic>
      <p:pic>
        <p:nvPicPr>
          <p:cNvPr id="42" name="Picture 41">
            <a:extLst>
              <a:ext uri="{FF2B5EF4-FFF2-40B4-BE49-F238E27FC236}">
                <a16:creationId xmlns:a16="http://schemas.microsoft.com/office/drawing/2014/main" id="{2E545699-2D99-A1CF-F8B8-2A60B3E8153A}"/>
              </a:ext>
            </a:extLst>
          </p:cNvPr>
          <p:cNvPicPr>
            <a:picLocks noChangeAspect="1"/>
          </p:cNvPicPr>
          <p:nvPr/>
        </p:nvPicPr>
        <p:blipFill>
          <a:blip r:embed="rId4"/>
          <a:stretch>
            <a:fillRect/>
          </a:stretch>
        </p:blipFill>
        <p:spPr>
          <a:xfrm>
            <a:off x="7426036" y="2207417"/>
            <a:ext cx="1749704" cy="1688738"/>
          </a:xfrm>
          <a:prstGeom prst="rect">
            <a:avLst/>
          </a:prstGeom>
        </p:spPr>
      </p:pic>
      <p:pic>
        <p:nvPicPr>
          <p:cNvPr id="46" name="Picture 45">
            <a:extLst>
              <a:ext uri="{FF2B5EF4-FFF2-40B4-BE49-F238E27FC236}">
                <a16:creationId xmlns:a16="http://schemas.microsoft.com/office/drawing/2014/main" id="{6E46F0EB-6B3B-2629-AD09-D33D114031C3}"/>
              </a:ext>
            </a:extLst>
          </p:cNvPr>
          <p:cNvPicPr>
            <a:picLocks noChangeAspect="1"/>
          </p:cNvPicPr>
          <p:nvPr/>
        </p:nvPicPr>
        <p:blipFill>
          <a:blip r:embed="rId5"/>
          <a:stretch>
            <a:fillRect/>
          </a:stretch>
        </p:blipFill>
        <p:spPr>
          <a:xfrm>
            <a:off x="5228156" y="2207417"/>
            <a:ext cx="1749704" cy="1688738"/>
          </a:xfrm>
          <a:prstGeom prst="rect">
            <a:avLst/>
          </a:prstGeom>
        </p:spPr>
      </p:pic>
      <p:graphicFrame>
        <p:nvGraphicFramePr>
          <p:cNvPr id="59" name="Chart 58">
            <a:extLst>
              <a:ext uri="{FF2B5EF4-FFF2-40B4-BE49-F238E27FC236}">
                <a16:creationId xmlns:a16="http://schemas.microsoft.com/office/drawing/2014/main" id="{D86B4C80-3E92-D266-C558-7FF0F44EA8A9}"/>
              </a:ext>
            </a:extLst>
          </p:cNvPr>
          <p:cNvGraphicFramePr>
            <a:graphicFrameLocks/>
          </p:cNvGraphicFramePr>
          <p:nvPr/>
        </p:nvGraphicFramePr>
        <p:xfrm>
          <a:off x="832477" y="2207068"/>
          <a:ext cx="1749540" cy="1689087"/>
        </p:xfrm>
        <a:graphic>
          <a:graphicData uri="http://schemas.openxmlformats.org/drawingml/2006/chart">
            <c:chart xmlns:c="http://schemas.openxmlformats.org/drawingml/2006/chart" xmlns:r="http://schemas.openxmlformats.org/officeDocument/2006/relationships" r:id="rId6"/>
          </a:graphicData>
        </a:graphic>
      </p:graphicFrame>
      <p:pic>
        <p:nvPicPr>
          <p:cNvPr id="60" name="Picture 59">
            <a:extLst>
              <a:ext uri="{FF2B5EF4-FFF2-40B4-BE49-F238E27FC236}">
                <a16:creationId xmlns:a16="http://schemas.microsoft.com/office/drawing/2014/main" id="{81C0ECE8-574B-7B38-1291-656AEEB75C26}"/>
              </a:ext>
            </a:extLst>
          </p:cNvPr>
          <p:cNvPicPr>
            <a:picLocks noChangeAspect="1"/>
          </p:cNvPicPr>
          <p:nvPr/>
        </p:nvPicPr>
        <p:blipFill>
          <a:blip r:embed="rId7"/>
          <a:stretch>
            <a:fillRect/>
          </a:stretch>
        </p:blipFill>
        <p:spPr>
          <a:xfrm>
            <a:off x="3030275" y="2207417"/>
            <a:ext cx="1749704" cy="1688738"/>
          </a:xfrm>
          <a:prstGeom prst="rect">
            <a:avLst/>
          </a:prstGeom>
        </p:spPr>
      </p:pic>
      <p:pic>
        <p:nvPicPr>
          <p:cNvPr id="65" name="Picture 64">
            <a:extLst>
              <a:ext uri="{FF2B5EF4-FFF2-40B4-BE49-F238E27FC236}">
                <a16:creationId xmlns:a16="http://schemas.microsoft.com/office/drawing/2014/main" id="{A85BCADD-9F19-BEEA-1ED2-EFF0CDE03230}"/>
              </a:ext>
            </a:extLst>
          </p:cNvPr>
          <p:cNvPicPr>
            <a:picLocks noChangeAspect="1"/>
          </p:cNvPicPr>
          <p:nvPr/>
        </p:nvPicPr>
        <p:blipFill>
          <a:blip r:embed="rId8"/>
          <a:stretch>
            <a:fillRect/>
          </a:stretch>
        </p:blipFill>
        <p:spPr>
          <a:xfrm>
            <a:off x="9207880" y="3773054"/>
            <a:ext cx="2695951" cy="476316"/>
          </a:xfrm>
          <a:prstGeom prst="rect">
            <a:avLst/>
          </a:prstGeom>
        </p:spPr>
      </p:pic>
      <p:grpSp>
        <p:nvGrpSpPr>
          <p:cNvPr id="66" name="Group 65">
            <a:extLst>
              <a:ext uri="{FF2B5EF4-FFF2-40B4-BE49-F238E27FC236}">
                <a16:creationId xmlns:a16="http://schemas.microsoft.com/office/drawing/2014/main" id="{C12A8574-D9DC-084E-D734-D48660D61D98}"/>
              </a:ext>
            </a:extLst>
          </p:cNvPr>
          <p:cNvGrpSpPr/>
          <p:nvPr/>
        </p:nvGrpSpPr>
        <p:grpSpPr>
          <a:xfrm>
            <a:off x="1" y="2729632"/>
            <a:ext cx="1021976" cy="426894"/>
            <a:chOff x="-6266" y="3696091"/>
            <a:chExt cx="1707243" cy="568195"/>
          </a:xfrm>
        </p:grpSpPr>
        <p:sp>
          <p:nvSpPr>
            <p:cNvPr id="67" name="Title 1">
              <a:extLst>
                <a:ext uri="{FF2B5EF4-FFF2-40B4-BE49-F238E27FC236}">
                  <a16:creationId xmlns:a16="http://schemas.microsoft.com/office/drawing/2014/main" id="{40C4B0DA-EC41-243D-33FA-26B286716D73}"/>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8" name="Title 1">
              <a:extLst>
                <a:ext uri="{FF2B5EF4-FFF2-40B4-BE49-F238E27FC236}">
                  <a16:creationId xmlns:a16="http://schemas.microsoft.com/office/drawing/2014/main" id="{783F7BEF-AE92-5540-2C49-AE48BE01026D}"/>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Specialty Mix</a:t>
              </a:r>
              <a:endParaRPr kumimoji="0" lang="en-US" sz="11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graphicFrame>
        <p:nvGraphicFramePr>
          <p:cNvPr id="72" name="Table 71">
            <a:extLst>
              <a:ext uri="{FF2B5EF4-FFF2-40B4-BE49-F238E27FC236}">
                <a16:creationId xmlns:a16="http://schemas.microsoft.com/office/drawing/2014/main" id="{1B587559-60D5-1130-58BC-C6F85FACE88E}"/>
              </a:ext>
            </a:extLst>
          </p:cNvPr>
          <p:cNvGraphicFramePr>
            <a:graphicFrameLocks noGrp="1"/>
          </p:cNvGraphicFramePr>
          <p:nvPr/>
        </p:nvGraphicFramePr>
        <p:xfrm>
          <a:off x="1181896" y="4436415"/>
          <a:ext cx="10336710" cy="1754216"/>
        </p:xfrm>
        <a:graphic>
          <a:graphicData uri="http://schemas.openxmlformats.org/drawingml/2006/table">
            <a:tbl>
              <a:tblPr firstRow="1">
                <a:tableStyleId>{5C22544A-7EE6-4342-B048-85BDC9FD1C3A}</a:tableStyleId>
              </a:tblPr>
              <a:tblGrid>
                <a:gridCol w="2067342">
                  <a:extLst>
                    <a:ext uri="{9D8B030D-6E8A-4147-A177-3AD203B41FA5}">
                      <a16:colId xmlns:a16="http://schemas.microsoft.com/office/drawing/2014/main" val="1040189262"/>
                    </a:ext>
                  </a:extLst>
                </a:gridCol>
                <a:gridCol w="2067342">
                  <a:extLst>
                    <a:ext uri="{9D8B030D-6E8A-4147-A177-3AD203B41FA5}">
                      <a16:colId xmlns:a16="http://schemas.microsoft.com/office/drawing/2014/main" val="2798584100"/>
                    </a:ext>
                  </a:extLst>
                </a:gridCol>
                <a:gridCol w="2067342">
                  <a:extLst>
                    <a:ext uri="{9D8B030D-6E8A-4147-A177-3AD203B41FA5}">
                      <a16:colId xmlns:a16="http://schemas.microsoft.com/office/drawing/2014/main" val="2916637611"/>
                    </a:ext>
                  </a:extLst>
                </a:gridCol>
                <a:gridCol w="2067342">
                  <a:extLst>
                    <a:ext uri="{9D8B030D-6E8A-4147-A177-3AD203B41FA5}">
                      <a16:colId xmlns:a16="http://schemas.microsoft.com/office/drawing/2014/main" val="2975080040"/>
                    </a:ext>
                  </a:extLst>
                </a:gridCol>
                <a:gridCol w="2067342">
                  <a:extLst>
                    <a:ext uri="{9D8B030D-6E8A-4147-A177-3AD203B41FA5}">
                      <a16:colId xmlns:a16="http://schemas.microsoft.com/office/drawing/2014/main" val="1852653959"/>
                    </a:ext>
                  </a:extLst>
                </a:gridCol>
              </a:tblGrid>
              <a:tr h="438554">
                <a:tc>
                  <a:txBody>
                    <a:bodyPr/>
                    <a:lstStyle/>
                    <a:p>
                      <a:pPr algn="l" fontAlgn="b">
                        <a:buNone/>
                      </a:pPr>
                      <a:r>
                        <a:rPr lang="en-IN" sz="1200" b="1" i="0" u="none" strike="noStrike" dirty="0">
                          <a:solidFill>
                            <a:srgbClr val="000000"/>
                          </a:solidFill>
                          <a:effectLst/>
                          <a:latin typeface="+mn-lt"/>
                        </a:rPr>
                        <a:t>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12%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9%</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4%</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253633945"/>
                  </a:ext>
                </a:extLst>
              </a:tr>
              <a:tr h="438554">
                <a:tc>
                  <a:txBody>
                    <a:bodyPr/>
                    <a:lstStyle/>
                    <a:p>
                      <a:pPr algn="l" fontAlgn="b">
                        <a:buNone/>
                      </a:pPr>
                      <a:r>
                        <a:rPr lang="en-IN" sz="1200" b="1" i="0" u="none" strike="noStrike" dirty="0">
                          <a:solidFill>
                            <a:srgbClr val="000000"/>
                          </a:solidFill>
                          <a:effectLst/>
                          <a:latin typeface="+mn-lt"/>
                        </a:rPr>
                        <a:t>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18%</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3%</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25%</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14%</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406179707"/>
                  </a:ext>
                </a:extLst>
              </a:tr>
              <a:tr h="438554">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US" sz="1200" b="1" i="0" u="none" strike="noStrike" kern="1200" cap="none" spc="0" normalizeH="0" baseline="0" noProof="0" dirty="0">
                          <a:ln>
                            <a:noFill/>
                          </a:ln>
                          <a:solidFill>
                            <a:srgbClr val="000000"/>
                          </a:solidFill>
                          <a:effectLst/>
                          <a:uLnTx/>
                          <a:uFillTx/>
                          <a:latin typeface="+mn-lt"/>
                          <a:ea typeface="+mn-ea"/>
                          <a:cs typeface="+mn-cs"/>
                        </a:rPr>
                        <a:t>Holistic Treaters </a:t>
                      </a:r>
                      <a:r>
                        <a:rPr kumimoji="1" lang="en-US" sz="1100" b="0" i="1" u="none" strike="noStrike" kern="1200" cap="none" spc="0" normalizeH="0" baseline="0" noProof="0" dirty="0">
                          <a:ln>
                            <a:noFill/>
                          </a:ln>
                          <a:solidFill>
                            <a:srgbClr val="000000"/>
                          </a:solidFill>
                          <a:effectLst/>
                          <a:uLnTx/>
                          <a:uFillTx/>
                          <a:latin typeface="+mn-lt"/>
                          <a:ea typeface="+mn-ea"/>
                          <a:cs typeface="+mn-cs"/>
                        </a:rPr>
                        <a:t>(53%)</a:t>
                      </a:r>
                      <a:endParaRPr kumimoji="1" lang="en-IN" sz="1200" b="0" i="1" u="none" strike="noStrike" kern="1200" cap="none" spc="0" normalizeH="0" baseline="0" noProof="0" dirty="0">
                        <a:ln>
                          <a:noFill/>
                        </a:ln>
                        <a:solidFill>
                          <a:srgbClr val="000000"/>
                        </a:solidFill>
                        <a:effectLst/>
                        <a:uLnTx/>
                        <a:uFillTx/>
                        <a:latin typeface="+mn-lt"/>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200" b="1" i="0" u="none" strike="noStrike" kern="1200" cap="none" spc="0" normalizeH="0" baseline="0" noProof="0" dirty="0">
                          <a:ln>
                            <a:noFill/>
                          </a:ln>
                          <a:solidFill>
                            <a:srgbClr val="000000"/>
                          </a:solidFill>
                          <a:effectLst/>
                          <a:uLnTx/>
                          <a:uFillTx/>
                          <a:latin typeface="+mn-lt"/>
                          <a:ea typeface="+mn-ea"/>
                          <a:cs typeface="+mn-cs"/>
                        </a:rPr>
                        <a:t>Innovators </a:t>
                      </a:r>
                      <a:r>
                        <a:rPr kumimoji="1" lang="en-IN" sz="1100" b="0" i="1" u="none" strike="noStrike" kern="1200" cap="none" spc="0" normalizeH="0" baseline="0" noProof="0" dirty="0">
                          <a:ln>
                            <a:noFill/>
                          </a:ln>
                          <a:solidFill>
                            <a:srgbClr val="000000"/>
                          </a:solidFill>
                          <a:effectLst/>
                          <a:uLnTx/>
                          <a:uFillTx/>
                          <a:latin typeface="+mn-lt"/>
                          <a:ea typeface="+mn-ea"/>
                          <a:cs typeface="+mn-cs"/>
                        </a:rPr>
                        <a:t>(50%</a:t>
                      </a:r>
                      <a:r>
                        <a:rPr kumimoji="1" lang="en-US" sz="1100" b="0" i="1" u="none" strike="noStrike" kern="1200" cap="none" spc="0" normalizeH="0" baseline="0" noProof="0" dirty="0">
                          <a:ln>
                            <a:noFill/>
                          </a:ln>
                          <a:solidFill>
                            <a:srgbClr val="000000"/>
                          </a:solidFill>
                          <a:effectLst/>
                          <a:uLnTx/>
                          <a:uFillTx/>
                          <a:latin typeface="+mn-lt"/>
                          <a:ea typeface="+mn-ea"/>
                          <a:cs typeface="+mn-cs"/>
                        </a:rPr>
                        <a:t>) |</a:t>
                      </a:r>
                      <a:r>
                        <a:rPr kumimoji="1" lang="en-US" sz="1200" b="1" i="0" u="none" strike="noStrike" kern="1200" cap="none" spc="0" normalizeH="0" baseline="0" noProof="0" dirty="0">
                          <a:ln>
                            <a:noFill/>
                          </a:ln>
                          <a:solidFill>
                            <a:srgbClr val="000000"/>
                          </a:solidFill>
                          <a:effectLst/>
                          <a:uLnTx/>
                          <a:uFillTx/>
                          <a:latin typeface="+mn-lt"/>
                          <a:ea typeface="+mn-ea"/>
                          <a:cs typeface="+mn-cs"/>
                        </a:rPr>
                        <a:t> </a:t>
                      </a:r>
                      <a:br>
                        <a:rPr kumimoji="1" lang="en-US" sz="1200" b="1" i="0" u="none" strike="noStrike" kern="1200" cap="none" spc="0" normalizeH="0" baseline="0" noProof="0" dirty="0">
                          <a:ln>
                            <a:noFill/>
                          </a:ln>
                          <a:solidFill>
                            <a:srgbClr val="000000"/>
                          </a:solidFill>
                          <a:effectLst/>
                          <a:uLnTx/>
                          <a:uFillTx/>
                          <a:latin typeface="+mn-lt"/>
                          <a:ea typeface="+mn-ea"/>
                          <a:cs typeface="+mn-cs"/>
                        </a:rPr>
                      </a:br>
                      <a:r>
                        <a:rPr kumimoji="1" lang="en-US" sz="1200" b="1" i="0" u="none" strike="noStrike" kern="1200" cap="none" spc="0" normalizeH="0" baseline="0" noProof="0" dirty="0">
                          <a:ln>
                            <a:noFill/>
                          </a:ln>
                          <a:solidFill>
                            <a:srgbClr val="000000"/>
                          </a:solidFill>
                          <a:effectLst/>
                          <a:uLnTx/>
                          <a:uFillTx/>
                          <a:latin typeface="+mn-lt"/>
                          <a:ea typeface="+mn-ea"/>
                          <a:cs typeface="+mn-cs"/>
                        </a:rPr>
                        <a:t>Holistic Treaters </a:t>
                      </a:r>
                      <a:r>
                        <a:rPr kumimoji="1" lang="en-US" sz="1100" b="0" i="1" u="none" strike="noStrike" kern="1200" cap="none" spc="0" normalizeH="0" baseline="0" noProof="0" dirty="0">
                          <a:ln>
                            <a:noFill/>
                          </a:ln>
                          <a:solidFill>
                            <a:srgbClr val="000000"/>
                          </a:solidFill>
                          <a:effectLst/>
                          <a:uLnTx/>
                          <a:uFillTx/>
                          <a:latin typeface="+mn-lt"/>
                          <a:ea typeface="+mn-ea"/>
                          <a:cs typeface="+mn-cs"/>
                        </a:rPr>
                        <a:t>(40%)</a:t>
                      </a:r>
                      <a:endParaRPr kumimoji="1" lang="en-IN" sz="1200" b="0" i="1" u="none" strike="noStrike" kern="1200" cap="none" spc="0" normalizeH="0" baseline="0" noProof="0" dirty="0">
                        <a:ln>
                          <a:noFill/>
                        </a:ln>
                        <a:solidFill>
                          <a:srgbClr val="000000"/>
                        </a:solidFill>
                        <a:effectLst/>
                        <a:uLnTx/>
                        <a:uFillTx/>
                        <a:latin typeface="+mn-lt"/>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200" b="1" i="0" u="none" strike="noStrike" kern="1200" cap="none" spc="0" normalizeH="0" baseline="0" noProof="0" dirty="0">
                          <a:ln>
                            <a:noFill/>
                          </a:ln>
                          <a:solidFill>
                            <a:srgbClr val="000000"/>
                          </a:solidFill>
                          <a:effectLst/>
                          <a:uLnTx/>
                          <a:uFillTx/>
                          <a:latin typeface="Calibri" panose="020F0502020204030204"/>
                          <a:ea typeface="+mn-ea"/>
                          <a:cs typeface="+mn-cs"/>
                        </a:rPr>
                        <a:t>Innovators </a:t>
                      </a:r>
                      <a:r>
                        <a:rPr kumimoji="1" lang="en-IN" sz="1100" b="0" i="1" u="none" strike="noStrike" kern="1200" cap="none" spc="0" normalizeH="0" baseline="0" noProof="0" dirty="0">
                          <a:ln>
                            <a:noFill/>
                          </a:ln>
                          <a:solidFill>
                            <a:srgbClr val="000000"/>
                          </a:solidFill>
                          <a:effectLst/>
                          <a:uLnTx/>
                          <a:uFillTx/>
                          <a:latin typeface="Calibri" panose="020F0502020204030204"/>
                          <a:ea typeface="+mn-ea"/>
                          <a:cs typeface="+mn-cs"/>
                        </a:rPr>
                        <a:t>(45%</a:t>
                      </a:r>
                      <a:r>
                        <a:rPr kumimoji="1" lang="en-US" sz="1100" b="0" i="1"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1" lang="en-US" sz="1200" b="1" i="0" u="none" strike="noStrike" kern="1200" cap="none" spc="0" normalizeH="0" baseline="0" noProof="0" dirty="0">
                          <a:ln>
                            <a:noFill/>
                          </a:ln>
                          <a:solidFill>
                            <a:srgbClr val="000000"/>
                          </a:solidFill>
                          <a:effectLst/>
                          <a:uLnTx/>
                          <a:uFillTx/>
                          <a:latin typeface="Calibri" panose="020F0502020204030204"/>
                          <a:ea typeface="+mn-ea"/>
                          <a:cs typeface="+mn-cs"/>
                        </a:rPr>
                        <a:t> </a:t>
                      </a:r>
                      <a:br>
                        <a:rPr kumimoji="1" lang="en-US" sz="1200" b="1" i="0" u="none" strike="noStrike" kern="1200" cap="none" spc="0" normalizeH="0" baseline="0" noProof="0" dirty="0">
                          <a:ln>
                            <a:noFill/>
                          </a:ln>
                          <a:solidFill>
                            <a:srgbClr val="000000"/>
                          </a:solidFill>
                          <a:effectLst/>
                          <a:uLnTx/>
                          <a:uFillTx/>
                          <a:latin typeface="Calibri" panose="020F0502020204030204"/>
                          <a:ea typeface="+mn-ea"/>
                          <a:cs typeface="+mn-cs"/>
                        </a:rPr>
                      </a:br>
                      <a:r>
                        <a:rPr kumimoji="1" lang="en-US" sz="1200" b="1" i="0" u="none" strike="noStrike" kern="1200" cap="none" spc="0" normalizeH="0" baseline="0" noProof="0" dirty="0">
                          <a:ln>
                            <a:noFill/>
                          </a:ln>
                          <a:solidFill>
                            <a:srgbClr val="000000"/>
                          </a:solidFill>
                          <a:effectLst/>
                          <a:uLnTx/>
                          <a:uFillTx/>
                          <a:latin typeface="Calibri" panose="020F0502020204030204"/>
                          <a:ea typeface="+mn-ea"/>
                          <a:cs typeface="+mn-cs"/>
                        </a:rPr>
                        <a:t>Holistic Treaters </a:t>
                      </a:r>
                      <a:r>
                        <a:rPr kumimoji="1" lang="en-US" sz="1100" b="0" i="1" u="none" strike="noStrike" kern="1200" cap="none" spc="0" normalizeH="0" baseline="0" noProof="0" dirty="0">
                          <a:ln>
                            <a:noFill/>
                          </a:ln>
                          <a:solidFill>
                            <a:srgbClr val="000000"/>
                          </a:solidFill>
                          <a:effectLst/>
                          <a:uLnTx/>
                          <a:uFillTx/>
                          <a:latin typeface="Calibri" panose="020F0502020204030204"/>
                          <a:ea typeface="+mn-ea"/>
                          <a:cs typeface="+mn-cs"/>
                        </a:rPr>
                        <a:t>(42%)</a:t>
                      </a:r>
                      <a:endParaRPr kumimoji="1" lang="en-IN" sz="1200" b="0" i="1"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200" b="1" i="0" u="none" strike="noStrike" kern="1200" cap="none" spc="0" normalizeH="0" baseline="0" noProof="0" dirty="0">
                          <a:ln>
                            <a:noFill/>
                          </a:ln>
                          <a:solidFill>
                            <a:srgbClr val="000000"/>
                          </a:solidFill>
                          <a:effectLst/>
                          <a:uLnTx/>
                          <a:uFillTx/>
                          <a:latin typeface="Calibri" panose="020F0502020204030204"/>
                          <a:ea typeface="+mn-ea"/>
                          <a:cs typeface="+mn-cs"/>
                        </a:rPr>
                        <a:t>Innovators </a:t>
                      </a:r>
                      <a:r>
                        <a:rPr kumimoji="1" lang="en-IN" sz="1050" b="0" i="1" u="none" strike="noStrike" kern="1200" cap="none" spc="0" normalizeH="0" baseline="0" noProof="0" dirty="0">
                          <a:ln>
                            <a:noFill/>
                          </a:ln>
                          <a:solidFill>
                            <a:srgbClr val="000000"/>
                          </a:solidFill>
                          <a:effectLst/>
                          <a:uLnTx/>
                          <a:uFillTx/>
                          <a:latin typeface="Calibri" panose="020F0502020204030204"/>
                          <a:ea typeface="+mn-ea"/>
                          <a:cs typeface="+mn-cs"/>
                        </a:rPr>
                        <a:t>(73%</a:t>
                      </a:r>
                      <a:r>
                        <a:rPr kumimoji="1" lang="en-US" sz="1050" b="0" i="1" u="none" strike="noStrike" kern="1200" cap="none" spc="0" normalizeH="0" baseline="0" noProof="0" dirty="0">
                          <a:ln>
                            <a:noFill/>
                          </a:ln>
                          <a:solidFill>
                            <a:srgbClr val="000000"/>
                          </a:solidFill>
                          <a:effectLst/>
                          <a:uLnTx/>
                          <a:uFillTx/>
                          <a:latin typeface="Calibri" panose="020F0502020204030204"/>
                          <a:ea typeface="+mn-ea"/>
                          <a:cs typeface="+mn-cs"/>
                        </a:rPr>
                        <a:t>)</a:t>
                      </a:r>
                      <a:endParaRPr kumimoji="1" lang="en-IN" sz="1200" b="0" i="1"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IN" sz="1200" b="1" i="0" u="none" strike="noStrike" dirty="0">
                          <a:solidFill>
                            <a:srgbClr val="000000"/>
                          </a:solidFill>
                          <a:effectLst/>
                          <a:latin typeface="+mn-lt"/>
                        </a:rPr>
                        <a:t>Innovators </a:t>
                      </a:r>
                      <a:r>
                        <a:rPr lang="en-IN" sz="1050" b="0" i="1" u="none" strike="noStrike" dirty="0">
                          <a:solidFill>
                            <a:srgbClr val="000000"/>
                          </a:solidFill>
                          <a:effectLst/>
                          <a:latin typeface="+mn-lt"/>
                        </a:rPr>
                        <a:t>(75%</a:t>
                      </a:r>
                      <a:r>
                        <a:rPr lang="en-US" sz="1050" b="0" i="1" u="none" strike="noStrike" dirty="0">
                          <a:solidFill>
                            <a:srgbClr val="000000"/>
                          </a:solidFill>
                          <a:effectLst/>
                          <a:latin typeface="+mn-lt"/>
                        </a:rPr>
                        <a:t>)</a:t>
                      </a:r>
                      <a:endParaRPr lang="en-IN" sz="1200" b="0" i="1" u="none" strike="noStrike" dirty="0">
                        <a:solidFill>
                          <a:srgbClr val="000000"/>
                        </a:solidFill>
                        <a:effectLst/>
                        <a:latin typeface="+mn-lt"/>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89110687"/>
                  </a:ext>
                </a:extLst>
              </a:tr>
              <a:tr h="438554">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~3 pts/HCP receiving referrals vs market avg. &lt;2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~9 pts/HCP managed vs market avg. ~2</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~12 pts/HCP managed vs market avg. ~2</a:t>
                      </a:r>
                      <a:endParaRPr kumimoji="1" lang="en-IN" sz="1200" b="0" i="1"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~16 pts/HCP receiving NT diagnosis vs market avg. ~1</a:t>
                      </a:r>
                      <a:endParaRPr kumimoji="1" lang="en-IN" sz="1200" b="0" i="1"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marR="0" lvl="0" indent="0" algn="l" defTabSz="914150" rtl="0" eaLnBrk="1" fontAlgn="b" latinLnBrk="0" hangingPunct="1">
                        <a:lnSpc>
                          <a:spcPct val="100000"/>
                        </a:lnSpc>
                        <a:spcBef>
                          <a:spcPts val="0"/>
                        </a:spcBef>
                        <a:spcAft>
                          <a:spcPts val="0"/>
                        </a:spcAft>
                        <a:buClrTx/>
                        <a:buSzTx/>
                        <a:buFontTx/>
                        <a:buNone/>
                        <a:tabLst/>
                        <a:defRPr/>
                      </a:pPr>
                      <a:r>
                        <a:rPr kumimoji="1" lang="en-IN" sz="1100" b="0" i="1" u="none" strike="noStrike" kern="1200" cap="none" spc="0" normalizeH="0" baseline="0" noProof="0" dirty="0">
                          <a:ln>
                            <a:noFill/>
                          </a:ln>
                          <a:solidFill>
                            <a:srgbClr val="000000"/>
                          </a:solidFill>
                          <a:effectLst/>
                          <a:uLnTx/>
                          <a:uFillTx/>
                          <a:latin typeface="+mn-lt"/>
                          <a:ea typeface="+mn-ea"/>
                          <a:cs typeface="+mn-cs"/>
                        </a:rPr>
                        <a:t>~7 pts/HCP receiving NT treatments vs market avg. &lt;1</a:t>
                      </a:r>
                    </a:p>
                  </a:txBody>
                  <a:tcPr marT="4349"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006318188"/>
                  </a:ext>
                </a:extLst>
              </a:tr>
            </a:tbl>
          </a:graphicData>
        </a:graphic>
      </p:graphicFrame>
      <p:sp>
        <p:nvSpPr>
          <p:cNvPr id="73" name="Rectangle 72">
            <a:extLst>
              <a:ext uri="{FF2B5EF4-FFF2-40B4-BE49-F238E27FC236}">
                <a16:creationId xmlns:a16="http://schemas.microsoft.com/office/drawing/2014/main" id="{4F61F82A-B052-8440-A6F0-8F89868C08A1}"/>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dirty="0"/>
              <a:t>* Amongst target list HCPs who are part of Referral Universe : N=7585</a:t>
            </a:r>
          </a:p>
        </p:txBody>
      </p:sp>
      <p:grpSp>
        <p:nvGrpSpPr>
          <p:cNvPr id="74" name="Group 73">
            <a:extLst>
              <a:ext uri="{FF2B5EF4-FFF2-40B4-BE49-F238E27FC236}">
                <a16:creationId xmlns:a16="http://schemas.microsoft.com/office/drawing/2014/main" id="{7429FA32-D4B9-CF15-1A3E-F10D6A920181}"/>
              </a:ext>
            </a:extLst>
          </p:cNvPr>
          <p:cNvGrpSpPr/>
          <p:nvPr/>
        </p:nvGrpSpPr>
        <p:grpSpPr>
          <a:xfrm>
            <a:off x="1" y="4407635"/>
            <a:ext cx="1021976" cy="426894"/>
            <a:chOff x="-6266" y="3696091"/>
            <a:chExt cx="1707243" cy="568195"/>
          </a:xfrm>
        </p:grpSpPr>
        <p:sp>
          <p:nvSpPr>
            <p:cNvPr id="75" name="Title 1">
              <a:extLst>
                <a:ext uri="{FF2B5EF4-FFF2-40B4-BE49-F238E27FC236}">
                  <a16:creationId xmlns:a16="http://schemas.microsoft.com/office/drawing/2014/main" id="{7671ECD0-8D69-2221-471D-7ECB0F0CE5EE}"/>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6" name="Title 1">
              <a:extLst>
                <a:ext uri="{FF2B5EF4-FFF2-40B4-BE49-F238E27FC236}">
                  <a16:creationId xmlns:a16="http://schemas.microsoft.com/office/drawing/2014/main" id="{48630E26-E8F5-EA90-B181-437D6FC1B947}"/>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 of Target List Covered*</a:t>
              </a:r>
              <a:endParaRPr kumimoji="0" lang="en-US" sz="11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77" name="Group 76">
            <a:extLst>
              <a:ext uri="{FF2B5EF4-FFF2-40B4-BE49-F238E27FC236}">
                <a16:creationId xmlns:a16="http://schemas.microsoft.com/office/drawing/2014/main" id="{4CA6EBBE-507F-6AED-FE92-AF7354C7790F}"/>
              </a:ext>
            </a:extLst>
          </p:cNvPr>
          <p:cNvGrpSpPr/>
          <p:nvPr/>
        </p:nvGrpSpPr>
        <p:grpSpPr>
          <a:xfrm>
            <a:off x="1" y="4858468"/>
            <a:ext cx="1021976" cy="426894"/>
            <a:chOff x="-6266" y="3696091"/>
            <a:chExt cx="1707243" cy="568195"/>
          </a:xfrm>
        </p:grpSpPr>
        <p:sp>
          <p:nvSpPr>
            <p:cNvPr id="78" name="Title 1">
              <a:extLst>
                <a:ext uri="{FF2B5EF4-FFF2-40B4-BE49-F238E27FC236}">
                  <a16:creationId xmlns:a16="http://schemas.microsoft.com/office/drawing/2014/main" id="{130972D2-A8C8-E1E2-84EA-AD147F74C8F3}"/>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9" name="Title 1">
              <a:extLst>
                <a:ext uri="{FF2B5EF4-FFF2-40B4-BE49-F238E27FC236}">
                  <a16:creationId xmlns:a16="http://schemas.microsoft.com/office/drawing/2014/main" id="{39C9F1C5-0F0B-1F8D-DDCB-41970AAD520A}"/>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 of Decile 6-10 Covered*</a:t>
              </a:r>
              <a:endParaRPr kumimoji="0" lang="en-US" sz="11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80" name="Group 79">
            <a:extLst>
              <a:ext uri="{FF2B5EF4-FFF2-40B4-BE49-F238E27FC236}">
                <a16:creationId xmlns:a16="http://schemas.microsoft.com/office/drawing/2014/main" id="{87553E8A-27FE-5512-13E7-B6894183D76B}"/>
              </a:ext>
            </a:extLst>
          </p:cNvPr>
          <p:cNvGrpSpPr/>
          <p:nvPr/>
        </p:nvGrpSpPr>
        <p:grpSpPr>
          <a:xfrm>
            <a:off x="1" y="5309301"/>
            <a:ext cx="1021976" cy="435475"/>
            <a:chOff x="-6266" y="3696091"/>
            <a:chExt cx="1707243" cy="568195"/>
          </a:xfrm>
        </p:grpSpPr>
        <p:sp>
          <p:nvSpPr>
            <p:cNvPr id="81" name="Title 1">
              <a:extLst>
                <a:ext uri="{FF2B5EF4-FFF2-40B4-BE49-F238E27FC236}">
                  <a16:creationId xmlns:a16="http://schemas.microsoft.com/office/drawing/2014/main" id="{D6F25D2F-C98C-F8E6-EC14-EEACEC5AFF6E}"/>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2" name="Title 1">
              <a:extLst>
                <a:ext uri="{FF2B5EF4-FFF2-40B4-BE49-F238E27FC236}">
                  <a16:creationId xmlns:a16="http://schemas.microsoft.com/office/drawing/2014/main" id="{37A38161-6F37-CB08-B153-1A1FD50BDF57}"/>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0" tIns="72000" rIns="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900" dirty="0">
                  <a:latin typeface="Calibri" panose="020F0502020204030204" pitchFamily="34" charset="0"/>
                  <a:ea typeface="Calibri" panose="020F0502020204030204" pitchFamily="34" charset="0"/>
                  <a:cs typeface="Calibri" panose="020F0502020204030204" pitchFamily="34" charset="0"/>
                </a:rPr>
                <a:t>Primary Attitudinal Segment</a:t>
              </a:r>
              <a:endParaRPr kumimoji="0" lang="en-US" sz="9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83" name="Group 82">
            <a:extLst>
              <a:ext uri="{FF2B5EF4-FFF2-40B4-BE49-F238E27FC236}">
                <a16:creationId xmlns:a16="http://schemas.microsoft.com/office/drawing/2014/main" id="{D34272D7-1553-FF25-3729-E1952990A4B1}"/>
              </a:ext>
            </a:extLst>
          </p:cNvPr>
          <p:cNvGrpSpPr/>
          <p:nvPr/>
        </p:nvGrpSpPr>
        <p:grpSpPr>
          <a:xfrm>
            <a:off x="1" y="5768715"/>
            <a:ext cx="1021976" cy="435475"/>
            <a:chOff x="-6266" y="3696091"/>
            <a:chExt cx="1707243" cy="568195"/>
          </a:xfrm>
        </p:grpSpPr>
        <p:sp>
          <p:nvSpPr>
            <p:cNvPr id="84" name="Title 1">
              <a:extLst>
                <a:ext uri="{FF2B5EF4-FFF2-40B4-BE49-F238E27FC236}">
                  <a16:creationId xmlns:a16="http://schemas.microsoft.com/office/drawing/2014/main" id="{BCE88A9D-00BA-30CA-3E7C-4B8574D8A8C1}"/>
                </a:ext>
              </a:extLst>
            </p:cNvPr>
            <p:cNvSpPr txBox="1">
              <a:spLocks/>
            </p:cNvSpPr>
            <p:nvPr/>
          </p:nvSpPr>
          <p:spPr>
            <a:xfrm>
              <a:off x="0" y="3696091"/>
              <a:ext cx="1460511" cy="568195"/>
            </a:xfrm>
            <a:prstGeom prst="homePlate">
              <a:avLst>
                <a:gd name="adj" fmla="val 12882"/>
              </a:avLst>
            </a:prstGeom>
            <a:solidFill>
              <a:schemeClr val="bg1">
                <a:lumMod val="8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5" name="Title 1">
              <a:extLst>
                <a:ext uri="{FF2B5EF4-FFF2-40B4-BE49-F238E27FC236}">
                  <a16:creationId xmlns:a16="http://schemas.microsoft.com/office/drawing/2014/main" id="{C300C018-EB33-043A-7A28-FBDC568EBEB5}"/>
                </a:ext>
              </a:extLst>
            </p:cNvPr>
            <p:cNvSpPr txBox="1">
              <a:spLocks/>
            </p:cNvSpPr>
            <p:nvPr/>
          </p:nvSpPr>
          <p:spPr>
            <a:xfrm>
              <a:off x="-6266" y="3766741"/>
              <a:ext cx="1707243" cy="426894"/>
            </a:xfrm>
            <a:prstGeom prst="homePlate">
              <a:avLst>
                <a:gd name="adj" fmla="val 12882"/>
              </a:avLst>
            </a:prstGeom>
            <a:solidFill>
              <a:schemeClr val="tx1">
                <a:lumMod val="40000"/>
                <a:lumOff val="60000"/>
              </a:schemeClr>
            </a:solidFill>
          </p:spPr>
          <p:txBody>
            <a:bodyPr vert="horz" lIns="0" tIns="72000" rIns="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lang="en-US" sz="900" dirty="0">
                  <a:latin typeface="Calibri" panose="020F0502020204030204" pitchFamily="34" charset="0"/>
                  <a:ea typeface="Calibri" panose="020F0502020204030204" pitchFamily="34" charset="0"/>
                  <a:cs typeface="Calibri" panose="020F0502020204030204" pitchFamily="34" charset="0"/>
                </a:rPr>
                <a:t>Key patient referral insights</a:t>
              </a:r>
              <a:endParaRPr kumimoji="0" lang="en-US" sz="9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sp>
        <p:nvSpPr>
          <p:cNvPr id="3" name="Pentagon 3">
            <a:extLst>
              <a:ext uri="{FF2B5EF4-FFF2-40B4-BE49-F238E27FC236}">
                <a16:creationId xmlns:a16="http://schemas.microsoft.com/office/drawing/2014/main" id="{59186B3C-729C-B5EA-3476-AD3E01518759}"/>
              </a:ext>
            </a:extLst>
          </p:cNvPr>
          <p:cNvSpPr/>
          <p:nvPr/>
        </p:nvSpPr>
        <p:spPr>
          <a:xfrm>
            <a:off x="1344550"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(n=549)</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0" name="Pentagon 3">
            <a:extLst>
              <a:ext uri="{FF2B5EF4-FFF2-40B4-BE49-F238E27FC236}">
                <a16:creationId xmlns:a16="http://schemas.microsoft.com/office/drawing/2014/main" id="{05139D5A-000D-F8EB-8965-ACB67A04CCEE}"/>
              </a:ext>
            </a:extLst>
          </p:cNvPr>
          <p:cNvSpPr/>
          <p:nvPr/>
        </p:nvSpPr>
        <p:spPr>
          <a:xfrm>
            <a:off x="3464197"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(n=1271)</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1" name="Pentagon 3">
            <a:extLst>
              <a:ext uri="{FF2B5EF4-FFF2-40B4-BE49-F238E27FC236}">
                <a16:creationId xmlns:a16="http://schemas.microsoft.com/office/drawing/2014/main" id="{70F8B20F-106D-FD86-F5EC-E9AF53FE5C54}"/>
              </a:ext>
            </a:extLst>
          </p:cNvPr>
          <p:cNvSpPr/>
          <p:nvPr/>
        </p:nvSpPr>
        <p:spPr>
          <a:xfrm>
            <a:off x="5662079"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(n=280)</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5" name="Pentagon 3">
            <a:extLst>
              <a:ext uri="{FF2B5EF4-FFF2-40B4-BE49-F238E27FC236}">
                <a16:creationId xmlns:a16="http://schemas.microsoft.com/office/drawing/2014/main" id="{943EDCC6-0B0A-40C1-EE3C-8A357E324E27}"/>
              </a:ext>
            </a:extLst>
          </p:cNvPr>
          <p:cNvSpPr/>
          <p:nvPr/>
        </p:nvSpPr>
        <p:spPr>
          <a:xfrm>
            <a:off x="7859959"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(n=717)</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16" name="Pentagon 3">
            <a:extLst>
              <a:ext uri="{FF2B5EF4-FFF2-40B4-BE49-F238E27FC236}">
                <a16:creationId xmlns:a16="http://schemas.microsoft.com/office/drawing/2014/main" id="{CC7E3AC5-8C6B-46FE-22EF-A98656775A9A}"/>
              </a:ext>
            </a:extLst>
          </p:cNvPr>
          <p:cNvSpPr/>
          <p:nvPr/>
        </p:nvSpPr>
        <p:spPr>
          <a:xfrm>
            <a:off x="10057840" y="1913395"/>
            <a:ext cx="881859" cy="255203"/>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2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(n=315)</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Tree>
    <p:extLst>
      <p:ext uri="{BB962C8B-B14F-4D97-AF65-F5344CB8AC3E}">
        <p14:creationId xmlns:p14="http://schemas.microsoft.com/office/powerpoint/2010/main" val="1947565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A1294-B9A5-6A41-7BE7-5E8EE6CE47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943AFC-91D7-2ED5-03EE-C66DE893B453}"/>
              </a:ext>
            </a:extLst>
          </p:cNvPr>
          <p:cNvSpPr>
            <a:spLocks noGrp="1"/>
          </p:cNvSpPr>
          <p:nvPr>
            <p:ph type="ctrTitle"/>
          </p:nvPr>
        </p:nvSpPr>
        <p:spPr>
          <a:xfrm>
            <a:off x="1194730" y="2303030"/>
            <a:ext cx="5080564" cy="2279130"/>
          </a:xfrm>
        </p:spPr>
        <p:txBody>
          <a:bodyPr/>
          <a:lstStyle/>
          <a:p>
            <a:r>
              <a:rPr lang="en-US" dirty="0"/>
              <a:t>Deep Dive Insights</a:t>
            </a:r>
          </a:p>
        </p:txBody>
      </p:sp>
      <p:sp>
        <p:nvSpPr>
          <p:cNvPr id="4" name="Slide Number Placeholder 3">
            <a:extLst>
              <a:ext uri="{FF2B5EF4-FFF2-40B4-BE49-F238E27FC236}">
                <a16:creationId xmlns:a16="http://schemas.microsoft.com/office/drawing/2014/main" id="{97D3088B-321A-136C-4184-E207A4CC0F56}"/>
              </a:ext>
            </a:extLst>
          </p:cNvPr>
          <p:cNvSpPr>
            <a:spLocks noGrp="1"/>
          </p:cNvSpPr>
          <p:nvPr>
            <p:ph type="sldNum" sz="quarter" idx="4294967295"/>
          </p:nvPr>
        </p:nvSpPr>
        <p:spPr>
          <a:xfrm>
            <a:off x="0" y="6489700"/>
            <a:ext cx="295275" cy="230188"/>
          </a:xfrm>
        </p:spPr>
        <p:txBody>
          <a:bodyPr/>
          <a:lstStyle/>
          <a:p>
            <a:fld id="{4B88BF55-9D8F-47B8-9CAA-91D4F95E55A3}" type="slidenum">
              <a:rPr lang="en-US" smtClean="0"/>
              <a:t>23</a:t>
            </a:fld>
            <a:endParaRPr lang="en-US"/>
          </a:p>
        </p:txBody>
      </p:sp>
    </p:spTree>
    <p:extLst>
      <p:ext uri="{BB962C8B-B14F-4D97-AF65-F5344CB8AC3E}">
        <p14:creationId xmlns:p14="http://schemas.microsoft.com/office/powerpoint/2010/main" val="77802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1F474-273D-1772-7EB9-5EFB82B7CAA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E7FF4D-708E-788D-8854-CD21DFAE10AD}"/>
              </a:ext>
            </a:extLst>
          </p:cNvPr>
          <p:cNvSpPr>
            <a:spLocks noGrp="1"/>
          </p:cNvSpPr>
          <p:nvPr>
            <p:ph type="ftr" sz="quarter" idx="3"/>
          </p:nvPr>
        </p:nvSpPr>
        <p:spPr/>
        <p:txBody>
          <a:bodyPr/>
          <a:lstStyle/>
          <a:p>
            <a:r>
              <a:rPr lang="en-JP"/>
              <a:t> </a:t>
            </a:r>
          </a:p>
        </p:txBody>
      </p:sp>
      <p:sp>
        <p:nvSpPr>
          <p:cNvPr id="4" name="Title 3">
            <a:extLst>
              <a:ext uri="{FF2B5EF4-FFF2-40B4-BE49-F238E27FC236}">
                <a16:creationId xmlns:a16="http://schemas.microsoft.com/office/drawing/2014/main" id="{281067AE-380F-BF48-A967-835B98A86356}"/>
              </a:ext>
            </a:extLst>
          </p:cNvPr>
          <p:cNvSpPr>
            <a:spLocks noGrp="1"/>
          </p:cNvSpPr>
          <p:nvPr>
            <p:ph type="title"/>
          </p:nvPr>
        </p:nvSpPr>
        <p:spPr/>
        <p:txBody>
          <a:bodyPr>
            <a:normAutofit fontScale="90000"/>
          </a:bodyPr>
          <a:lstStyle/>
          <a:p>
            <a:r>
              <a:rPr lang="en-US"/>
              <a:t>Leveraging the referral network, we deep-dive into insights across geography, patient flow, and influence dynamics</a:t>
            </a:r>
          </a:p>
        </p:txBody>
      </p:sp>
      <p:sp>
        <p:nvSpPr>
          <p:cNvPr id="5" name="Slide Number Placeholder 4">
            <a:extLst>
              <a:ext uri="{FF2B5EF4-FFF2-40B4-BE49-F238E27FC236}">
                <a16:creationId xmlns:a16="http://schemas.microsoft.com/office/drawing/2014/main" id="{E5CD7C6F-681E-CE86-3EFB-A53F4C2EBB7A}"/>
              </a:ext>
            </a:extLst>
          </p:cNvPr>
          <p:cNvSpPr>
            <a:spLocks noGrp="1"/>
          </p:cNvSpPr>
          <p:nvPr>
            <p:ph type="sldNum" sz="quarter" idx="4"/>
          </p:nvPr>
        </p:nvSpPr>
        <p:spPr/>
        <p:txBody>
          <a:bodyPr/>
          <a:lstStyle/>
          <a:p>
            <a:pPr defTabSz="1218810"/>
            <a:fld id="{E9B57936-92EF-4126-AE48-1D9D36D15E98}" type="slidenum">
              <a:rPr lang="ja-JP" altLang="en-US" smtClean="0"/>
              <a:pPr defTabSz="1218810"/>
              <a:t>24</a:t>
            </a:fld>
            <a:endParaRPr lang="ja-JP" altLang="en-US"/>
          </a:p>
        </p:txBody>
      </p:sp>
      <p:sp>
        <p:nvSpPr>
          <p:cNvPr id="58" name="Freeform 5">
            <a:extLst>
              <a:ext uri="{FF2B5EF4-FFF2-40B4-BE49-F238E27FC236}">
                <a16:creationId xmlns:a16="http://schemas.microsoft.com/office/drawing/2014/main" id="{1D4A52ED-BBBD-1C48-C40F-C35D57416DD7}"/>
              </a:ext>
            </a:extLst>
          </p:cNvPr>
          <p:cNvSpPr>
            <a:spLocks/>
          </p:cNvSpPr>
          <p:nvPr/>
        </p:nvSpPr>
        <p:spPr bwMode="auto">
          <a:xfrm>
            <a:off x="448524" y="2357720"/>
            <a:ext cx="3763882" cy="4500279"/>
          </a:xfrm>
          <a:prstGeom prst="roundRect">
            <a:avLst>
              <a:gd name="adj" fmla="val 423"/>
            </a:avLst>
          </a:prstGeom>
          <a:solidFill>
            <a:schemeClr val="accent5"/>
          </a:solidFill>
          <a:ln w="25400" cap="rnd">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TextBox 85">
            <a:extLst>
              <a:ext uri="{FF2B5EF4-FFF2-40B4-BE49-F238E27FC236}">
                <a16:creationId xmlns:a16="http://schemas.microsoft.com/office/drawing/2014/main" id="{9E853E33-6556-749B-C996-27692906E86A}"/>
              </a:ext>
            </a:extLst>
          </p:cNvPr>
          <p:cNvSpPr txBox="1"/>
          <p:nvPr/>
        </p:nvSpPr>
        <p:spPr>
          <a:xfrm>
            <a:off x="501665" y="3025384"/>
            <a:ext cx="3657600" cy="1184940"/>
          </a:xfrm>
          <a:prstGeom prst="rect">
            <a:avLst/>
          </a:prstGeom>
          <a:noFill/>
        </p:spPr>
        <p:txBody>
          <a:bodyPr wrap="square" lIns="0" tIns="0" rIns="0" bIns="0" rtlCol="0">
            <a:spAutoFit/>
          </a:bodyPr>
          <a:lstStyle/>
          <a:p>
            <a:pPr marL="180000" indent="-180000">
              <a:spcBef>
                <a:spcPts val="300"/>
              </a:spcBef>
              <a:spcAft>
                <a:spcPts val="300"/>
              </a:spcAft>
              <a:buClr>
                <a:srgbClr val="34373F"/>
              </a:buClr>
              <a:buSzPct val="110000"/>
              <a:buFont typeface="Wingdings" panose="05000000000000000000" pitchFamily="2" charset="2"/>
              <a:buChar char="§"/>
              <a:defRPr/>
            </a:pPr>
            <a:r>
              <a:rPr lang="en-US" sz="1200" b="1"/>
              <a:t>Ecosystem Segmentation</a:t>
            </a:r>
            <a:r>
              <a:rPr lang="en-US" sz="1200"/>
              <a:t>: Clustered self sustained regional referral ecosystems to reveal communities of strong referral relationships</a:t>
            </a:r>
          </a:p>
          <a:p>
            <a:pPr marL="180000" indent="-180000">
              <a:spcBef>
                <a:spcPts val="300"/>
              </a:spcBef>
              <a:spcAft>
                <a:spcPts val="300"/>
              </a:spcAft>
              <a:buClr>
                <a:srgbClr val="34373F"/>
              </a:buClr>
              <a:buSzPct val="110000"/>
              <a:buFont typeface="Wingdings" panose="05000000000000000000" pitchFamily="2" charset="2"/>
              <a:buChar char="§"/>
              <a:defRPr/>
            </a:pPr>
            <a:r>
              <a:rPr lang="en-US" sz="1200" b="1"/>
              <a:t>Regional Profiling:</a:t>
            </a:r>
            <a:r>
              <a:rPr lang="en-US" sz="1200"/>
              <a:t> Aggregated network metrics at regional level to understand the differences in care patterns</a:t>
            </a:r>
          </a:p>
        </p:txBody>
      </p:sp>
      <p:sp>
        <p:nvSpPr>
          <p:cNvPr id="59" name="Freeform 5">
            <a:extLst>
              <a:ext uri="{FF2B5EF4-FFF2-40B4-BE49-F238E27FC236}">
                <a16:creationId xmlns:a16="http://schemas.microsoft.com/office/drawing/2014/main" id="{079F725A-5B3F-9A9A-6D3D-57FC99C0EAE0}"/>
              </a:ext>
            </a:extLst>
          </p:cNvPr>
          <p:cNvSpPr>
            <a:spLocks/>
          </p:cNvSpPr>
          <p:nvPr/>
        </p:nvSpPr>
        <p:spPr bwMode="auto">
          <a:xfrm>
            <a:off x="4306901" y="2357720"/>
            <a:ext cx="3752660" cy="4500280"/>
          </a:xfrm>
          <a:prstGeom prst="roundRect">
            <a:avLst>
              <a:gd name="adj" fmla="val 812"/>
            </a:avLst>
          </a:prstGeom>
          <a:solidFill>
            <a:schemeClr val="accent5"/>
          </a:solidFill>
          <a:ln w="25400" cap="rnd">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 name="TextBox 86">
            <a:extLst>
              <a:ext uri="{FF2B5EF4-FFF2-40B4-BE49-F238E27FC236}">
                <a16:creationId xmlns:a16="http://schemas.microsoft.com/office/drawing/2014/main" id="{955D938A-0D87-58C4-507F-3D46ECE4DB6B}"/>
              </a:ext>
            </a:extLst>
          </p:cNvPr>
          <p:cNvSpPr txBox="1"/>
          <p:nvPr/>
        </p:nvSpPr>
        <p:spPr>
          <a:xfrm>
            <a:off x="4354431" y="3025384"/>
            <a:ext cx="3657600" cy="1184940"/>
          </a:xfrm>
          <a:prstGeom prst="rect">
            <a:avLst/>
          </a:prstGeom>
          <a:noFill/>
        </p:spPr>
        <p:txBody>
          <a:bodyPr wrap="square" lIns="0" tIns="0" rIns="0" bIns="0" rtlCol="0">
            <a:spAutoFit/>
          </a:bodyPr>
          <a:lstStyle/>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Patient Journey Leakage</a:t>
            </a:r>
            <a:r>
              <a:rPr lang="en-US" sz="1200">
                <a:latin typeface="+mj-lt"/>
              </a:rPr>
              <a:t>: Identified where patients stall, divert, or temporarily exit the referral pathway before correct diagnosis or treatment</a:t>
            </a:r>
          </a:p>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HCP Barrier Profiling:</a:t>
            </a:r>
            <a:r>
              <a:rPr lang="en-US" sz="1200">
                <a:latin typeface="+mj-lt"/>
              </a:rPr>
              <a:t> Characterized systemic patterns of patient leakage to uncover the HCPs, and geographies requiring focused intervention</a:t>
            </a:r>
          </a:p>
        </p:txBody>
      </p:sp>
      <p:sp>
        <p:nvSpPr>
          <p:cNvPr id="60" name="Freeform 5">
            <a:extLst>
              <a:ext uri="{FF2B5EF4-FFF2-40B4-BE49-F238E27FC236}">
                <a16:creationId xmlns:a16="http://schemas.microsoft.com/office/drawing/2014/main" id="{41951F52-7980-2FCC-AB08-8F497E4CCFEF}"/>
              </a:ext>
            </a:extLst>
          </p:cNvPr>
          <p:cNvSpPr>
            <a:spLocks/>
          </p:cNvSpPr>
          <p:nvPr/>
        </p:nvSpPr>
        <p:spPr bwMode="auto">
          <a:xfrm>
            <a:off x="8154055" y="2357720"/>
            <a:ext cx="3752660" cy="4500280"/>
          </a:xfrm>
          <a:prstGeom prst="roundRect">
            <a:avLst>
              <a:gd name="adj" fmla="val 0"/>
            </a:avLst>
          </a:prstGeom>
          <a:solidFill>
            <a:schemeClr val="accent5"/>
          </a:solidFill>
          <a:ln w="25400" cap="rnd">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 name="TextBox 87">
            <a:extLst>
              <a:ext uri="{FF2B5EF4-FFF2-40B4-BE49-F238E27FC236}">
                <a16:creationId xmlns:a16="http://schemas.microsoft.com/office/drawing/2014/main" id="{993DA1AF-89C3-D36D-C681-A0A478F205EE}"/>
              </a:ext>
            </a:extLst>
          </p:cNvPr>
          <p:cNvSpPr txBox="1"/>
          <p:nvPr/>
        </p:nvSpPr>
        <p:spPr>
          <a:xfrm>
            <a:off x="8201585" y="3025384"/>
            <a:ext cx="3657600" cy="2000548"/>
          </a:xfrm>
          <a:prstGeom prst="rect">
            <a:avLst/>
          </a:prstGeom>
          <a:noFill/>
        </p:spPr>
        <p:txBody>
          <a:bodyPr wrap="square" lIns="0" tIns="0" rIns="0" bIns="0" rtlCol="0">
            <a:spAutoFit/>
          </a:bodyPr>
          <a:lstStyle/>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Diffusion Readiness Assessment</a:t>
            </a:r>
            <a:r>
              <a:rPr lang="en-US" sz="1200">
                <a:latin typeface="+mj-lt"/>
              </a:rPr>
              <a:t>: Evaluated how adoption propagates across referral relationships and connected networks</a:t>
            </a:r>
          </a:p>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Influence Landscape Mapping:</a:t>
            </a:r>
            <a:r>
              <a:rPr lang="en-US" sz="1200">
                <a:latin typeface="+mj-lt"/>
              </a:rPr>
              <a:t> Identified providers with most prominent social and research influence amongst their peers and identified the Key leaders of social influence</a:t>
            </a:r>
          </a:p>
          <a:p>
            <a:pPr marL="180000" marR="0" lvl="0" indent="-180000" defTabSz="914400" eaLnBrk="1" fontAlgn="auto" latinLnBrk="0" hangingPunct="1">
              <a:lnSpc>
                <a:spcPct val="100000"/>
              </a:lnSpc>
              <a:spcBef>
                <a:spcPts val="300"/>
              </a:spcBef>
              <a:spcAft>
                <a:spcPts val="300"/>
              </a:spcAft>
              <a:buClr>
                <a:srgbClr val="34373F"/>
              </a:buClr>
              <a:buSzPct val="110000"/>
              <a:buFont typeface="Wingdings" panose="05000000000000000000" pitchFamily="2" charset="2"/>
              <a:buChar char="§"/>
              <a:tabLst/>
              <a:defRPr/>
            </a:pPr>
            <a:r>
              <a:rPr lang="en-US" sz="1200" b="1">
                <a:latin typeface="+mj-lt"/>
              </a:rPr>
              <a:t>KOL Overlap Assessment</a:t>
            </a:r>
            <a:r>
              <a:rPr lang="en-US" sz="1200">
                <a:latin typeface="+mj-lt"/>
              </a:rPr>
              <a:t>: Assessed how many KOLs overlap with the identified key persona HCPs and why the rest of the KOLs are not tagged as such</a:t>
            </a:r>
          </a:p>
        </p:txBody>
      </p:sp>
      <p:grpSp>
        <p:nvGrpSpPr>
          <p:cNvPr id="2" name="Group 1">
            <a:extLst>
              <a:ext uri="{FF2B5EF4-FFF2-40B4-BE49-F238E27FC236}">
                <a16:creationId xmlns:a16="http://schemas.microsoft.com/office/drawing/2014/main" id="{D44EB134-2484-179B-F77E-58265A9D5883}"/>
              </a:ext>
            </a:extLst>
          </p:cNvPr>
          <p:cNvGrpSpPr/>
          <p:nvPr/>
        </p:nvGrpSpPr>
        <p:grpSpPr>
          <a:xfrm>
            <a:off x="4444403" y="1233488"/>
            <a:ext cx="3477656" cy="501069"/>
            <a:chOff x="354326" y="1233488"/>
            <a:chExt cx="11483348" cy="501069"/>
          </a:xfrm>
        </p:grpSpPr>
        <p:grpSp>
          <p:nvGrpSpPr>
            <p:cNvPr id="6" name="Group 5">
              <a:extLst>
                <a:ext uri="{FF2B5EF4-FFF2-40B4-BE49-F238E27FC236}">
                  <a16:creationId xmlns:a16="http://schemas.microsoft.com/office/drawing/2014/main" id="{0D21439C-1558-9A43-7314-9FF6FCAA2935}"/>
                </a:ext>
              </a:extLst>
            </p:cNvPr>
            <p:cNvGrpSpPr/>
            <p:nvPr/>
          </p:nvGrpSpPr>
          <p:grpSpPr>
            <a:xfrm>
              <a:off x="1624529" y="1233488"/>
              <a:ext cx="8942944" cy="501069"/>
              <a:chOff x="1624529" y="1233488"/>
              <a:chExt cx="8942944" cy="501069"/>
            </a:xfrm>
          </p:grpSpPr>
          <p:sp>
            <p:nvSpPr>
              <p:cNvPr id="8" name="Rectangle: Top Corners Rounded 7">
                <a:extLst>
                  <a:ext uri="{FF2B5EF4-FFF2-40B4-BE49-F238E27FC236}">
                    <a16:creationId xmlns:a16="http://schemas.microsoft.com/office/drawing/2014/main" id="{C62B7D6A-E6DC-2DFB-5650-865BD2E35F37}"/>
                  </a:ext>
                </a:extLst>
              </p:cNvPr>
              <p:cNvSpPr/>
              <p:nvPr/>
            </p:nvSpPr>
            <p:spPr>
              <a:xfrm>
                <a:off x="1624529" y="1282120"/>
                <a:ext cx="8942944" cy="452437"/>
              </a:xfrm>
              <a:prstGeom prst="round2SameRect">
                <a:avLst>
                  <a:gd name="adj1" fmla="val 0"/>
                  <a:gd name="adj2" fmla="val 21895"/>
                </a:avLst>
              </a:prstGeom>
              <a:solidFill>
                <a:schemeClr val="accent5">
                  <a:lumMod val="2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9" name="Rectangle: Top Corners Rounded 8">
                <a:extLst>
                  <a:ext uri="{FF2B5EF4-FFF2-40B4-BE49-F238E27FC236}">
                    <a16:creationId xmlns:a16="http://schemas.microsoft.com/office/drawing/2014/main" id="{23CCD0F8-9AE0-A951-FAA8-1D817A1AC069}"/>
                  </a:ext>
                </a:extLst>
              </p:cNvPr>
              <p:cNvSpPr/>
              <p:nvPr/>
            </p:nvSpPr>
            <p:spPr>
              <a:xfrm>
                <a:off x="1624529" y="1233488"/>
                <a:ext cx="8942944" cy="452437"/>
              </a:xfrm>
              <a:prstGeom prst="round2SameRect">
                <a:avLst>
                  <a:gd name="adj1" fmla="val 0"/>
                  <a:gd name="adj2" fmla="val 21895"/>
                </a:avLst>
              </a:prstGeom>
              <a:solidFill>
                <a:schemeClr val="accent5">
                  <a:lumMod val="5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spc="-20">
                    <a:solidFill>
                      <a:schemeClr val="bg1"/>
                    </a:solidFill>
                  </a:rPr>
                  <a:t>Patient Leakage Assessment</a:t>
                </a:r>
              </a:p>
            </p:txBody>
          </p:sp>
        </p:grpSp>
        <p:cxnSp>
          <p:nvCxnSpPr>
            <p:cNvPr id="7" name="Straight Connector 6">
              <a:extLst>
                <a:ext uri="{FF2B5EF4-FFF2-40B4-BE49-F238E27FC236}">
                  <a16:creationId xmlns:a16="http://schemas.microsoft.com/office/drawing/2014/main" id="{DCC78271-F08E-ED1A-B3A0-DBA3D96140B2}"/>
                </a:ext>
              </a:extLst>
            </p:cNvPr>
            <p:cNvCxnSpPr>
              <a:cxnSpLocks/>
            </p:cNvCxnSpPr>
            <p:nvPr/>
          </p:nvCxnSpPr>
          <p:spPr>
            <a:xfrm>
              <a:off x="354326" y="1233488"/>
              <a:ext cx="11483348" cy="0"/>
            </a:xfrm>
            <a:prstGeom prst="line">
              <a:avLst/>
            </a:prstGeom>
            <a:ln>
              <a:solidFill>
                <a:schemeClr val="accent5">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22EAA858-1C68-A93A-922C-5D07000DAB8F}"/>
              </a:ext>
            </a:extLst>
          </p:cNvPr>
          <p:cNvGrpSpPr/>
          <p:nvPr/>
        </p:nvGrpSpPr>
        <p:grpSpPr>
          <a:xfrm>
            <a:off x="591637" y="1233488"/>
            <a:ext cx="3477656" cy="501069"/>
            <a:chOff x="354326" y="1233488"/>
            <a:chExt cx="11483348" cy="501069"/>
          </a:xfrm>
        </p:grpSpPr>
        <p:grpSp>
          <p:nvGrpSpPr>
            <p:cNvPr id="11" name="Group 10">
              <a:extLst>
                <a:ext uri="{FF2B5EF4-FFF2-40B4-BE49-F238E27FC236}">
                  <a16:creationId xmlns:a16="http://schemas.microsoft.com/office/drawing/2014/main" id="{DBA8694E-857E-BF48-3CEA-0E4C15AB4F41}"/>
                </a:ext>
              </a:extLst>
            </p:cNvPr>
            <p:cNvGrpSpPr/>
            <p:nvPr/>
          </p:nvGrpSpPr>
          <p:grpSpPr>
            <a:xfrm>
              <a:off x="1767404" y="1233488"/>
              <a:ext cx="8942945" cy="501069"/>
              <a:chOff x="1767404" y="1233488"/>
              <a:chExt cx="8942945" cy="501069"/>
            </a:xfrm>
          </p:grpSpPr>
          <p:sp>
            <p:nvSpPr>
              <p:cNvPr id="13" name="Rectangle: Top Corners Rounded 12">
                <a:extLst>
                  <a:ext uri="{FF2B5EF4-FFF2-40B4-BE49-F238E27FC236}">
                    <a16:creationId xmlns:a16="http://schemas.microsoft.com/office/drawing/2014/main" id="{966F1154-9050-5433-6409-F00503FDB2BE}"/>
                  </a:ext>
                </a:extLst>
              </p:cNvPr>
              <p:cNvSpPr/>
              <p:nvPr/>
            </p:nvSpPr>
            <p:spPr>
              <a:xfrm>
                <a:off x="1767404" y="1282120"/>
                <a:ext cx="8942945" cy="452437"/>
              </a:xfrm>
              <a:prstGeom prst="round2SameRect">
                <a:avLst>
                  <a:gd name="adj1" fmla="val 0"/>
                  <a:gd name="adj2" fmla="val 21895"/>
                </a:avLst>
              </a:prstGeom>
              <a:solidFill>
                <a:schemeClr val="accent5">
                  <a:lumMod val="2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14" name="Rectangle: Top Corners Rounded 13">
                <a:extLst>
                  <a:ext uri="{FF2B5EF4-FFF2-40B4-BE49-F238E27FC236}">
                    <a16:creationId xmlns:a16="http://schemas.microsoft.com/office/drawing/2014/main" id="{9B98E85D-D4E8-C578-AB0E-F5820E9FF260}"/>
                  </a:ext>
                </a:extLst>
              </p:cNvPr>
              <p:cNvSpPr/>
              <p:nvPr/>
            </p:nvSpPr>
            <p:spPr>
              <a:xfrm>
                <a:off x="1767405" y="1233488"/>
                <a:ext cx="8942944" cy="452437"/>
              </a:xfrm>
              <a:prstGeom prst="round2SameRect">
                <a:avLst>
                  <a:gd name="adj1" fmla="val 0"/>
                  <a:gd name="adj2" fmla="val 21895"/>
                </a:avLst>
              </a:prstGeom>
              <a:solidFill>
                <a:schemeClr val="accent5">
                  <a:lumMod val="5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a:solidFill>
                      <a:schemeClr val="bg1"/>
                    </a:solidFill>
                  </a:rPr>
                  <a:t>Regional Care Patterns</a:t>
                </a:r>
              </a:p>
            </p:txBody>
          </p:sp>
        </p:grpSp>
        <p:cxnSp>
          <p:nvCxnSpPr>
            <p:cNvPr id="12" name="Straight Connector 11">
              <a:extLst>
                <a:ext uri="{FF2B5EF4-FFF2-40B4-BE49-F238E27FC236}">
                  <a16:creationId xmlns:a16="http://schemas.microsoft.com/office/drawing/2014/main" id="{C73657A1-8471-B2C4-78A4-909376040AB1}"/>
                </a:ext>
              </a:extLst>
            </p:cNvPr>
            <p:cNvCxnSpPr>
              <a:cxnSpLocks/>
            </p:cNvCxnSpPr>
            <p:nvPr/>
          </p:nvCxnSpPr>
          <p:spPr>
            <a:xfrm>
              <a:off x="354326" y="1233488"/>
              <a:ext cx="11483348" cy="0"/>
            </a:xfrm>
            <a:prstGeom prst="line">
              <a:avLst/>
            </a:prstGeom>
            <a:ln>
              <a:solidFill>
                <a:schemeClr val="accent5">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4C93CF73-8606-40E4-B980-CAE388DCF650}"/>
              </a:ext>
            </a:extLst>
          </p:cNvPr>
          <p:cNvGrpSpPr/>
          <p:nvPr/>
        </p:nvGrpSpPr>
        <p:grpSpPr>
          <a:xfrm>
            <a:off x="8291557" y="1233488"/>
            <a:ext cx="3477656" cy="501069"/>
            <a:chOff x="354326" y="1233488"/>
            <a:chExt cx="11483348" cy="501069"/>
          </a:xfrm>
        </p:grpSpPr>
        <p:grpSp>
          <p:nvGrpSpPr>
            <p:cNvPr id="16" name="Group 15">
              <a:extLst>
                <a:ext uri="{FF2B5EF4-FFF2-40B4-BE49-F238E27FC236}">
                  <a16:creationId xmlns:a16="http://schemas.microsoft.com/office/drawing/2014/main" id="{8F87E3C1-9356-4EFD-2FC1-FD52C0D38CC7}"/>
                </a:ext>
              </a:extLst>
            </p:cNvPr>
            <p:cNvGrpSpPr/>
            <p:nvPr/>
          </p:nvGrpSpPr>
          <p:grpSpPr>
            <a:xfrm>
              <a:off x="1624529" y="1233488"/>
              <a:ext cx="8942944" cy="501069"/>
              <a:chOff x="1624529" y="1233488"/>
              <a:chExt cx="8942944" cy="501069"/>
            </a:xfrm>
          </p:grpSpPr>
          <p:sp>
            <p:nvSpPr>
              <p:cNvPr id="18" name="Rectangle: Top Corners Rounded 17">
                <a:extLst>
                  <a:ext uri="{FF2B5EF4-FFF2-40B4-BE49-F238E27FC236}">
                    <a16:creationId xmlns:a16="http://schemas.microsoft.com/office/drawing/2014/main" id="{4FD55911-90EE-FF31-22CE-3608BF728549}"/>
                  </a:ext>
                </a:extLst>
              </p:cNvPr>
              <p:cNvSpPr/>
              <p:nvPr/>
            </p:nvSpPr>
            <p:spPr>
              <a:xfrm>
                <a:off x="1624529" y="1282120"/>
                <a:ext cx="8942944" cy="452437"/>
              </a:xfrm>
              <a:prstGeom prst="round2SameRect">
                <a:avLst>
                  <a:gd name="adj1" fmla="val 0"/>
                  <a:gd name="adj2" fmla="val 21895"/>
                </a:avLst>
              </a:prstGeom>
              <a:solidFill>
                <a:schemeClr val="accent5">
                  <a:lumMod val="2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19" name="Rectangle: Top Corners Rounded 18">
                <a:extLst>
                  <a:ext uri="{FF2B5EF4-FFF2-40B4-BE49-F238E27FC236}">
                    <a16:creationId xmlns:a16="http://schemas.microsoft.com/office/drawing/2014/main" id="{5F6D4DD3-472E-4868-6333-70D5808C064D}"/>
                  </a:ext>
                </a:extLst>
              </p:cNvPr>
              <p:cNvSpPr/>
              <p:nvPr/>
            </p:nvSpPr>
            <p:spPr>
              <a:xfrm>
                <a:off x="1624529" y="1233488"/>
                <a:ext cx="8942944" cy="452437"/>
              </a:xfrm>
              <a:prstGeom prst="round2SameRect">
                <a:avLst>
                  <a:gd name="adj1" fmla="val 0"/>
                  <a:gd name="adj2" fmla="val 21895"/>
                </a:avLst>
              </a:prstGeom>
              <a:solidFill>
                <a:schemeClr val="accent5">
                  <a:lumMod val="5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b="1" spc="-20">
                    <a:solidFill>
                      <a:schemeClr val="bg1"/>
                    </a:solidFill>
                  </a:rPr>
                  <a:t>Influence Network Mapping</a:t>
                </a:r>
              </a:p>
            </p:txBody>
          </p:sp>
        </p:grpSp>
        <p:cxnSp>
          <p:nvCxnSpPr>
            <p:cNvPr id="17" name="Straight Connector 16">
              <a:extLst>
                <a:ext uri="{FF2B5EF4-FFF2-40B4-BE49-F238E27FC236}">
                  <a16:creationId xmlns:a16="http://schemas.microsoft.com/office/drawing/2014/main" id="{4F3CDFB5-70D8-C804-273A-BA98A087809D}"/>
                </a:ext>
              </a:extLst>
            </p:cNvPr>
            <p:cNvCxnSpPr>
              <a:cxnSpLocks/>
            </p:cNvCxnSpPr>
            <p:nvPr/>
          </p:nvCxnSpPr>
          <p:spPr>
            <a:xfrm>
              <a:off x="354326" y="1233488"/>
              <a:ext cx="11483348" cy="0"/>
            </a:xfrm>
            <a:prstGeom prst="line">
              <a:avLst/>
            </a:prstGeom>
            <a:ln>
              <a:solidFill>
                <a:schemeClr val="accent5">
                  <a:lumMod val="25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slz="http://schemas.microsoft.com/office/powerpoint/2016/slidezoom">
        <mc:Choice Requires="pslz">
          <p:graphicFrame>
            <p:nvGraphicFramePr>
              <p:cNvPr id="36" name="Slide Zoom 35">
                <a:extLst>
                  <a:ext uri="{FF2B5EF4-FFF2-40B4-BE49-F238E27FC236}">
                    <a16:creationId xmlns:a16="http://schemas.microsoft.com/office/drawing/2014/main" id="{1DD6C3B9-81C5-89AA-37C1-57936FBBA404}"/>
                  </a:ext>
                </a:extLst>
              </p:cNvPr>
              <p:cNvGraphicFramePr>
                <a:graphicFrameLocks noChangeAspect="1"/>
              </p:cNvGraphicFramePr>
              <p:nvPr/>
            </p:nvGraphicFramePr>
            <p:xfrm>
              <a:off x="910517" y="4638998"/>
              <a:ext cx="2839896" cy="1597444"/>
            </p:xfrm>
            <a:graphic>
              <a:graphicData uri="http://schemas.microsoft.com/office/powerpoint/2016/slidezoom">
                <pslz:sldZm>
                  <pslz:sldZmObj sldId="2145707089" cId="4003847784">
                    <pslz:zmPr id="{FC8ECA3D-8B30-432D-AB76-5C62BB66A209}" returnToParent="0" transitionDur="1000">
                      <p166:blipFill xmlns:p166="http://schemas.microsoft.com/office/powerpoint/2016/6/main">
                        <a:blip r:embed="rId3"/>
                        <a:stretch>
                          <a:fillRect/>
                        </a:stretch>
                      </p166:blipFill>
                      <p166:spPr xmlns:p166="http://schemas.microsoft.com/office/powerpoint/2016/6/main">
                        <a:xfrm>
                          <a:off x="0" y="0"/>
                          <a:ext cx="2839896" cy="1597444"/>
                        </a:xfrm>
                        <a:prstGeom prst="rect">
                          <a:avLst/>
                        </a:prstGeom>
                        <a:ln w="3175">
                          <a:solidFill>
                            <a:prstClr val="ltGray"/>
                          </a:solidFill>
                        </a:ln>
                      </p166:spPr>
                    </pslz:zmPr>
                  </pslz:sldZmObj>
                </pslz:sldZm>
              </a:graphicData>
            </a:graphic>
          </p:graphicFrame>
        </mc:Choice>
        <mc:Fallback xmlns="">
          <p:pic>
            <p:nvPicPr>
              <p:cNvPr id="36" name="Slide Zoom 35">
                <a:hlinkClick r:id="rId4" action="ppaction://hlinksldjump"/>
                <a:extLst>
                  <a:ext uri="{FF2B5EF4-FFF2-40B4-BE49-F238E27FC236}">
                    <a16:creationId xmlns:a16="http://schemas.microsoft.com/office/drawing/2014/main" id="{1DD6C3B9-81C5-89AA-37C1-57936FBBA404}"/>
                  </a:ext>
                </a:extLst>
              </p:cNvPr>
              <p:cNvPicPr>
                <a:picLocks noGrp="1" noRot="1" noChangeAspect="1" noMove="1" noResize="1" noEditPoints="1" noAdjustHandles="1" noChangeArrowheads="1" noChangeShapeType="1"/>
              </p:cNvPicPr>
              <p:nvPr/>
            </p:nvPicPr>
            <p:blipFill>
              <a:blip r:embed="rId5"/>
              <a:stretch>
                <a:fillRect/>
              </a:stretch>
            </p:blipFill>
            <p:spPr>
              <a:xfrm>
                <a:off x="910517" y="4638998"/>
                <a:ext cx="2839896" cy="1597444"/>
              </a:xfrm>
              <a:prstGeom prst="rect">
                <a:avLst/>
              </a:prstGeom>
              <a:ln w="3175">
                <a:solidFill>
                  <a:prstClr val="ltGray"/>
                </a:solidFill>
              </a:ln>
            </p:spPr>
          </p:pic>
        </mc:Fallback>
      </mc:AlternateContent>
      <p:grpSp>
        <p:nvGrpSpPr>
          <p:cNvPr id="20" name="Group 19">
            <a:extLst>
              <a:ext uri="{FF2B5EF4-FFF2-40B4-BE49-F238E27FC236}">
                <a16:creationId xmlns:a16="http://schemas.microsoft.com/office/drawing/2014/main" id="{6C1E07B6-7579-BEBF-ECBD-31E9E53B5E05}"/>
              </a:ext>
            </a:extLst>
          </p:cNvPr>
          <p:cNvGrpSpPr/>
          <p:nvPr/>
        </p:nvGrpSpPr>
        <p:grpSpPr>
          <a:xfrm>
            <a:off x="0" y="1917002"/>
            <a:ext cx="2384577" cy="877305"/>
            <a:chOff x="0" y="1480078"/>
            <a:chExt cx="2384577" cy="877305"/>
          </a:xfrm>
        </p:grpSpPr>
        <p:sp>
          <p:nvSpPr>
            <p:cNvPr id="21" name="Title 1">
              <a:extLst>
                <a:ext uri="{FF2B5EF4-FFF2-40B4-BE49-F238E27FC236}">
                  <a16:creationId xmlns:a16="http://schemas.microsoft.com/office/drawing/2014/main" id="{C9226023-54EB-53D8-86FD-D962C818586F}"/>
                </a:ext>
              </a:extLst>
            </p:cNvPr>
            <p:cNvSpPr txBox="1">
              <a:spLocks/>
            </p:cNvSpPr>
            <p:nvPr/>
          </p:nvSpPr>
          <p:spPr>
            <a:xfrm>
              <a:off x="373521" y="1580973"/>
              <a:ext cx="2011056" cy="675514"/>
            </a:xfrm>
            <a:prstGeom prst="homePlate">
              <a:avLst>
                <a:gd name="adj" fmla="val 12882"/>
              </a:avLst>
            </a:prstGeom>
            <a:solidFill>
              <a:schemeClr val="accent5">
                <a:lumMod val="75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8" name="Title 1">
              <a:extLst>
                <a:ext uri="{FF2B5EF4-FFF2-40B4-BE49-F238E27FC236}">
                  <a16:creationId xmlns:a16="http://schemas.microsoft.com/office/drawing/2014/main" id="{3A092AD5-36E6-BF09-06ED-0B899C49A819}"/>
                </a:ext>
              </a:extLst>
            </p:cNvPr>
            <p:cNvSpPr txBox="1">
              <a:spLocks/>
            </p:cNvSpPr>
            <p:nvPr/>
          </p:nvSpPr>
          <p:spPr>
            <a:xfrm>
              <a:off x="0" y="1480078"/>
              <a:ext cx="2273617" cy="877305"/>
            </a:xfrm>
            <a:prstGeom prst="homePlate">
              <a:avLst>
                <a:gd name="adj" fmla="val 12882"/>
              </a:avLst>
            </a:prstGeom>
            <a:solidFill>
              <a:schemeClr val="accent5">
                <a:lumMod val="50000"/>
              </a:schemeClr>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a:ln>
                    <a:noFill/>
                  </a:ln>
                  <a:solidFill>
                    <a:prstClr val="white"/>
                  </a:solidFill>
                  <a:effectLst/>
                  <a:uLnTx/>
                  <a:uFillTx/>
                  <a:latin typeface="+mj-lt"/>
                  <a:ea typeface="+mj-ea"/>
                  <a:cs typeface="Arial" panose="020B0604020202020204" pitchFamily="34" charset="0"/>
                </a:rPr>
                <a:t>Key Analysis</a:t>
              </a:r>
            </a:p>
          </p:txBody>
        </p:sp>
      </p:grpSp>
    </p:spTree>
    <p:extLst>
      <p:ext uri="{BB962C8B-B14F-4D97-AF65-F5344CB8AC3E}">
        <p14:creationId xmlns:p14="http://schemas.microsoft.com/office/powerpoint/2010/main" val="337002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EF8E7-D1F7-2F7B-26A7-451E11724E3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389088A-96A2-64FB-A526-CB1A85083403}"/>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a:t>Executive Summary </a:t>
            </a:r>
            <a:r>
              <a:rPr kumimoji="1" lang="en-US" sz="2000"/>
              <a:t>| </a:t>
            </a:r>
            <a:r>
              <a:rPr kumimoji="1" lang="en-US" sz="2000" i="1"/>
              <a:t>Influence Network Mapping</a:t>
            </a:r>
          </a:p>
        </p:txBody>
      </p:sp>
      <p:sp>
        <p:nvSpPr>
          <p:cNvPr id="16" name="TextBox 15">
            <a:extLst>
              <a:ext uri="{FF2B5EF4-FFF2-40B4-BE49-F238E27FC236}">
                <a16:creationId xmlns:a16="http://schemas.microsoft.com/office/drawing/2014/main" id="{D1B4A553-3E94-C9BB-F0C7-0EB8BB540299}"/>
              </a:ext>
            </a:extLst>
          </p:cNvPr>
          <p:cNvSpPr txBox="1"/>
          <p:nvPr/>
        </p:nvSpPr>
        <p:spPr>
          <a:xfrm>
            <a:off x="7939333" y="1073855"/>
            <a:ext cx="4138366"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a:t>Preliminary </a:t>
            </a:r>
            <a:r>
              <a:rPr lang="en-US" sz="1400" b="1"/>
              <a:t>Recommendations</a:t>
            </a:r>
            <a:endParaRPr lang="en-IN"/>
          </a:p>
        </p:txBody>
      </p:sp>
      <p:sp>
        <p:nvSpPr>
          <p:cNvPr id="19" name="TextBox 18">
            <a:extLst>
              <a:ext uri="{FF2B5EF4-FFF2-40B4-BE49-F238E27FC236}">
                <a16:creationId xmlns:a16="http://schemas.microsoft.com/office/drawing/2014/main" id="{D1216745-3A10-1C99-B74D-317EFE005F77}"/>
              </a:ext>
            </a:extLst>
          </p:cNvPr>
          <p:cNvSpPr txBox="1"/>
          <p:nvPr/>
        </p:nvSpPr>
        <p:spPr>
          <a:xfrm>
            <a:off x="1705707" y="1073855"/>
            <a:ext cx="5932051"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Insights</a:t>
            </a:r>
            <a:endParaRPr lang="en-IN"/>
          </a:p>
        </p:txBody>
      </p:sp>
      <p:sp>
        <p:nvSpPr>
          <p:cNvPr id="2" name="Rectangle 1">
            <a:extLst>
              <a:ext uri="{FF2B5EF4-FFF2-40B4-BE49-F238E27FC236}">
                <a16:creationId xmlns:a16="http://schemas.microsoft.com/office/drawing/2014/main" id="{4350C56B-B99C-BED3-0C9C-374C0A8D989C}"/>
              </a:ext>
            </a:extLst>
          </p:cNvPr>
          <p:cNvSpPr/>
          <p:nvPr/>
        </p:nvSpPr>
        <p:spPr>
          <a:xfrm>
            <a:off x="1705708" y="1480077"/>
            <a:ext cx="5932051" cy="211084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mn-cs"/>
              </a:rPr>
              <a:t>No meaningful adoption propagation is observed within connected communities. Between immediately connected HCPs, modest signals emerge at 180 days (17.7%), growing to 36% at 365 days. Showing that adoption influence might be exerted only to the immediate HCP and does not propagate extensively.</a:t>
            </a:r>
          </a:p>
          <a:p>
            <a:pPr marL="285750" lvl="0" indent="-285750">
              <a:spcBef>
                <a:spcPts val="600"/>
              </a:spcBef>
              <a:buFont typeface="Arial" panose="020B0604020202020204" pitchFamily="34" charset="0"/>
              <a:buChar char="•"/>
              <a:defRPr/>
            </a:pPr>
            <a:r>
              <a:rPr lang="en-US" sz="1200">
                <a:solidFill>
                  <a:srgbClr val="34373F"/>
                </a:solidFill>
              </a:rPr>
              <a:t>For co-located HCPs, the signal at 180 days slightly improves (~29%). However, it is indicative of institutional access  drivers instead.</a:t>
            </a:r>
          </a:p>
          <a:p>
            <a:pPr marL="285750" lvl="0" indent="-285750">
              <a:spcBef>
                <a:spcPts val="600"/>
              </a:spcBef>
              <a:buFont typeface="Arial" panose="020B0604020202020204" pitchFamily="34" charset="0"/>
              <a:buChar char="•"/>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mn-cs"/>
              </a:rPr>
              <a:t>Given the </a:t>
            </a:r>
            <a:r>
              <a:rPr kumimoji="0" lang="en-US" sz="1200" b="1" i="0" u="none" strike="noStrike" kern="1200" cap="none" spc="0" normalizeH="0" baseline="0" noProof="0">
                <a:ln>
                  <a:noFill/>
                </a:ln>
                <a:solidFill>
                  <a:srgbClr val="34373F"/>
                </a:solidFill>
                <a:effectLst/>
                <a:uLnTx/>
                <a:uFillTx/>
                <a:latin typeface="Calibri" panose="020F0502020204030204"/>
                <a:ea typeface="+mn-ea"/>
                <a:cs typeface="+mn-cs"/>
              </a:rPr>
              <a:t>limited branded therapy data capture</a:t>
            </a:r>
            <a:r>
              <a:rPr kumimoji="0" lang="en-US" sz="1200" b="0" i="0" u="none" strike="noStrike" kern="1200" cap="none" spc="0" normalizeH="0" baseline="0" noProof="0">
                <a:ln>
                  <a:noFill/>
                </a:ln>
                <a:solidFill>
                  <a:srgbClr val="34373F"/>
                </a:solidFill>
                <a:effectLst/>
                <a:uLnTx/>
                <a:uFillTx/>
                <a:latin typeface="Calibri" panose="020F0502020204030204"/>
                <a:ea typeface="+mn-ea"/>
                <a:cs typeface="+mn-cs"/>
              </a:rPr>
              <a:t> in the underlying dataset, these </a:t>
            </a:r>
            <a:r>
              <a:rPr kumimoji="0" lang="en-US" sz="1200" b="1" i="0" u="none" strike="noStrike" kern="1200" cap="none" spc="0" normalizeH="0" baseline="0" noProof="0">
                <a:ln>
                  <a:noFill/>
                </a:ln>
                <a:solidFill>
                  <a:srgbClr val="34373F"/>
                </a:solidFill>
                <a:effectLst/>
                <a:uLnTx/>
                <a:uFillTx/>
                <a:latin typeface="Calibri" panose="020F0502020204030204"/>
                <a:ea typeface="+mn-ea"/>
                <a:cs typeface="+mn-cs"/>
              </a:rPr>
              <a:t>findings reflect a data constraint rather than an absence of influence</a:t>
            </a:r>
            <a:r>
              <a:rPr kumimoji="0" lang="en-US" sz="1200" b="0" i="0" u="none" strike="noStrike" kern="1200" cap="none" spc="0" normalizeH="0" baseline="0" noProof="0">
                <a:ln>
                  <a:noFill/>
                </a:ln>
                <a:solidFill>
                  <a:srgbClr val="34373F"/>
                </a:solidFill>
                <a:effectLst/>
                <a:uLnTx/>
                <a:uFillTx/>
                <a:latin typeface="Calibri" panose="020F0502020204030204"/>
                <a:ea typeface="+mn-ea"/>
                <a:cs typeface="+mn-cs"/>
              </a:rPr>
              <a:t>. This analysis warrants re-exploration once branded treatment data is available.</a:t>
            </a:r>
            <a:endParaRPr lang="en-US" sz="1200">
              <a:solidFill>
                <a:srgbClr val="34373F"/>
              </a:solidFill>
            </a:endParaRPr>
          </a:p>
        </p:txBody>
      </p:sp>
      <p:grpSp>
        <p:nvGrpSpPr>
          <p:cNvPr id="29" name="Group 28">
            <a:extLst>
              <a:ext uri="{FF2B5EF4-FFF2-40B4-BE49-F238E27FC236}">
                <a16:creationId xmlns:a16="http://schemas.microsoft.com/office/drawing/2014/main" id="{A0CD59EF-CD51-CA4F-1418-1D0F8E285244}"/>
              </a:ext>
            </a:extLst>
          </p:cNvPr>
          <p:cNvGrpSpPr/>
          <p:nvPr/>
        </p:nvGrpSpPr>
        <p:grpSpPr>
          <a:xfrm>
            <a:off x="1" y="2096848"/>
            <a:ext cx="1617784" cy="877305"/>
            <a:chOff x="1" y="1807330"/>
            <a:chExt cx="1617784" cy="877305"/>
          </a:xfrm>
        </p:grpSpPr>
        <p:sp>
          <p:nvSpPr>
            <p:cNvPr id="7" name="Title 1">
              <a:extLst>
                <a:ext uri="{FF2B5EF4-FFF2-40B4-BE49-F238E27FC236}">
                  <a16:creationId xmlns:a16="http://schemas.microsoft.com/office/drawing/2014/main" id="{D55648C7-72B5-16A7-9F12-E3F1B984650C}"/>
                </a:ext>
              </a:extLst>
            </p:cNvPr>
            <p:cNvSpPr txBox="1">
              <a:spLocks/>
            </p:cNvSpPr>
            <p:nvPr/>
          </p:nvSpPr>
          <p:spPr>
            <a:xfrm>
              <a:off x="373521" y="1908225"/>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9" name="Title 1">
              <a:extLst>
                <a:ext uri="{FF2B5EF4-FFF2-40B4-BE49-F238E27FC236}">
                  <a16:creationId xmlns:a16="http://schemas.microsoft.com/office/drawing/2014/main" id="{B8A0FAF7-6E16-E710-C4EE-12EF04B9A453}"/>
                </a:ext>
              </a:extLst>
            </p:cNvPr>
            <p:cNvSpPr txBox="1">
              <a:spLocks/>
            </p:cNvSpPr>
            <p:nvPr/>
          </p:nvSpPr>
          <p:spPr>
            <a:xfrm>
              <a:off x="1" y="1807330"/>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Treatment Adoption Propagation</a:t>
              </a:r>
            </a:p>
          </p:txBody>
        </p:sp>
      </p:grpSp>
      <p:sp>
        <p:nvSpPr>
          <p:cNvPr id="10" name="Rectangle 9">
            <a:extLst>
              <a:ext uri="{FF2B5EF4-FFF2-40B4-BE49-F238E27FC236}">
                <a16:creationId xmlns:a16="http://schemas.microsoft.com/office/drawing/2014/main" id="{DF3CB8B6-B571-5D89-C266-A5E5481818A5}"/>
              </a:ext>
            </a:extLst>
          </p:cNvPr>
          <p:cNvSpPr/>
          <p:nvPr/>
        </p:nvSpPr>
        <p:spPr>
          <a:xfrm>
            <a:off x="7939333" y="1480077"/>
            <a:ext cx="4138367" cy="211084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indent="-285750">
              <a:spcBef>
                <a:spcPts val="600"/>
              </a:spcBef>
              <a:buFont typeface="Arial" panose="020B0604020202020204" pitchFamily="34" charset="0"/>
              <a:buChar char="•"/>
            </a:pPr>
            <a:r>
              <a:rPr lang="en-US" sz="1200">
                <a:solidFill>
                  <a:schemeClr val="tx1"/>
                </a:solidFill>
                <a:ea typeface="League Spartan" charset="0"/>
                <a:cs typeface="Poppins" pitchFamily="2" charset="77"/>
              </a:rPr>
              <a:t>Re-run the adoption propagation analysis with branded SP claims data post-launch to establish peer influence coefficients at the HCP pair level. This will enable influence-adjusted targeting and identify which connected HCPs are most likely to switch the treatment choice following a network peer.</a:t>
            </a:r>
            <a:endParaRPr lang="en-US" sz="1200">
              <a:solidFill>
                <a:srgbClr val="34373F"/>
              </a:solidFill>
              <a:ea typeface="League Spartan" charset="0"/>
              <a:cs typeface="Poppins" pitchFamily="2" charset="77"/>
            </a:endParaRPr>
          </a:p>
        </p:txBody>
      </p:sp>
      <p:sp>
        <p:nvSpPr>
          <p:cNvPr id="11" name="Rectangle 10">
            <a:extLst>
              <a:ext uri="{FF2B5EF4-FFF2-40B4-BE49-F238E27FC236}">
                <a16:creationId xmlns:a16="http://schemas.microsoft.com/office/drawing/2014/main" id="{C1E52111-11BF-AF6C-06C7-CCF5D5BB92E4}"/>
              </a:ext>
            </a:extLst>
          </p:cNvPr>
          <p:cNvSpPr/>
          <p:nvPr/>
        </p:nvSpPr>
        <p:spPr>
          <a:xfrm>
            <a:off x="1705708" y="3794506"/>
            <a:ext cx="5932051" cy="1621660"/>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a:solidFill>
                  <a:srgbClr val="34373F"/>
                </a:solidFill>
              </a:rPr>
              <a:t>Beyond claims-based referral relationships, the </a:t>
            </a:r>
            <a:r>
              <a:rPr lang="en-US" sz="1200" b="1">
                <a:solidFill>
                  <a:srgbClr val="34373F"/>
                </a:solidFill>
              </a:rPr>
              <a:t>Digital Influence Network identifies 3,745 HCPs connected</a:t>
            </a:r>
            <a:r>
              <a:rPr lang="en-US" sz="1200">
                <a:solidFill>
                  <a:srgbClr val="34373F"/>
                </a:solidFill>
              </a:rPr>
              <a:t> through publications, clinical trials, conferences, payments, and media.</a:t>
            </a:r>
          </a:p>
          <a:p>
            <a:pPr marL="285750" lvl="0" indent="-285750">
              <a:spcBef>
                <a:spcPts val="600"/>
              </a:spcBef>
              <a:buFont typeface="Arial" panose="020B0604020202020204" pitchFamily="34" charset="0"/>
              <a:buChar char="•"/>
              <a:defRPr/>
            </a:pPr>
            <a:r>
              <a:rPr lang="en-US" sz="1200">
                <a:solidFill>
                  <a:srgbClr val="34373F"/>
                </a:solidFill>
              </a:rPr>
              <a:t>Of these, </a:t>
            </a:r>
            <a:r>
              <a:rPr lang="en-US" sz="1200" b="1">
                <a:solidFill>
                  <a:srgbClr val="34373F"/>
                </a:solidFill>
              </a:rPr>
              <a:t>278 carry high influence scores </a:t>
            </a:r>
            <a:r>
              <a:rPr lang="en-US" sz="1200">
                <a:solidFill>
                  <a:srgbClr val="34373F"/>
                </a:solidFill>
              </a:rPr>
              <a:t>based on composite PageRank and Betweenness Centrality and are currently </a:t>
            </a:r>
            <a:r>
              <a:rPr lang="en-US" sz="1200" b="1">
                <a:solidFill>
                  <a:srgbClr val="34373F"/>
                </a:solidFill>
              </a:rPr>
              <a:t>outside Takeda's engagement universe</a:t>
            </a:r>
            <a:r>
              <a:rPr lang="en-US" sz="1200">
                <a:solidFill>
                  <a:srgbClr val="34373F"/>
                </a:solidFill>
              </a:rPr>
              <a:t>, collectively accounting for 14% of total social network activity with approximately 25 activity events per HCP.</a:t>
            </a:r>
          </a:p>
        </p:txBody>
      </p:sp>
      <p:grpSp>
        <p:nvGrpSpPr>
          <p:cNvPr id="28" name="Group 27">
            <a:extLst>
              <a:ext uri="{FF2B5EF4-FFF2-40B4-BE49-F238E27FC236}">
                <a16:creationId xmlns:a16="http://schemas.microsoft.com/office/drawing/2014/main" id="{19E27006-9C28-B2E5-8B9A-01A8E5E2C40B}"/>
              </a:ext>
            </a:extLst>
          </p:cNvPr>
          <p:cNvGrpSpPr/>
          <p:nvPr/>
        </p:nvGrpSpPr>
        <p:grpSpPr>
          <a:xfrm>
            <a:off x="1" y="4166684"/>
            <a:ext cx="1617784" cy="877305"/>
            <a:chOff x="1" y="3589709"/>
            <a:chExt cx="1617784" cy="877305"/>
          </a:xfrm>
        </p:grpSpPr>
        <p:sp>
          <p:nvSpPr>
            <p:cNvPr id="12" name="Title 1">
              <a:extLst>
                <a:ext uri="{FF2B5EF4-FFF2-40B4-BE49-F238E27FC236}">
                  <a16:creationId xmlns:a16="http://schemas.microsoft.com/office/drawing/2014/main" id="{66CF9D93-36A0-4B35-E1FD-2566330D761A}"/>
                </a:ext>
              </a:extLst>
            </p:cNvPr>
            <p:cNvSpPr txBox="1">
              <a:spLocks/>
            </p:cNvSpPr>
            <p:nvPr/>
          </p:nvSpPr>
          <p:spPr>
            <a:xfrm>
              <a:off x="373521" y="3690604"/>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46EEE28B-42EF-E867-39F6-57983E84E7E5}"/>
                </a:ext>
              </a:extLst>
            </p:cNvPr>
            <p:cNvSpPr txBox="1">
              <a:spLocks/>
            </p:cNvSpPr>
            <p:nvPr/>
          </p:nvSpPr>
          <p:spPr>
            <a:xfrm>
              <a:off x="1" y="3589709"/>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Digital Influence Network</a:t>
              </a:r>
              <a:endPar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endParaRPr>
            </a:p>
          </p:txBody>
        </p:sp>
      </p:grpSp>
      <p:sp>
        <p:nvSpPr>
          <p:cNvPr id="20" name="Rectangle 19">
            <a:extLst>
              <a:ext uri="{FF2B5EF4-FFF2-40B4-BE49-F238E27FC236}">
                <a16:creationId xmlns:a16="http://schemas.microsoft.com/office/drawing/2014/main" id="{7897C322-6B42-CFCD-B054-FBC3B1EF81BF}"/>
              </a:ext>
            </a:extLst>
          </p:cNvPr>
          <p:cNvSpPr/>
          <p:nvPr/>
        </p:nvSpPr>
        <p:spPr>
          <a:xfrm>
            <a:off x="7939333" y="3794506"/>
            <a:ext cx="4138367" cy="1621660"/>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a:solidFill>
                  <a:schemeClr val="tx1"/>
                </a:solidFill>
                <a:ea typeface="League Spartan" charset="0"/>
                <a:cs typeface="Poppins" pitchFamily="2" charset="77"/>
              </a:rPr>
              <a:t>While the </a:t>
            </a:r>
            <a:r>
              <a:rPr lang="en-US" sz="1200" b="1">
                <a:solidFill>
                  <a:schemeClr val="tx1"/>
                </a:solidFill>
                <a:ea typeface="League Spartan" charset="0"/>
                <a:cs typeface="Poppins" pitchFamily="2" charset="77"/>
              </a:rPr>
              <a:t>278 digital network-identified high-influence HCPs</a:t>
            </a:r>
            <a:r>
              <a:rPr lang="en-US" sz="1200">
                <a:solidFill>
                  <a:schemeClr val="tx1"/>
                </a:solidFill>
                <a:ea typeface="League Spartan" charset="0"/>
                <a:cs typeface="Poppins" pitchFamily="2" charset="77"/>
              </a:rPr>
              <a:t> are not part of referral network, they </a:t>
            </a:r>
            <a:r>
              <a:rPr lang="en-US" sz="1200" b="1">
                <a:solidFill>
                  <a:schemeClr val="tx1"/>
                </a:solidFill>
                <a:ea typeface="League Spartan" charset="0"/>
                <a:cs typeface="Poppins" pitchFamily="2" charset="77"/>
              </a:rPr>
              <a:t>can help support scientific engagement ahead of launch.</a:t>
            </a:r>
            <a:r>
              <a:rPr lang="en-US" sz="1200">
                <a:solidFill>
                  <a:schemeClr val="tx1"/>
                </a:solidFill>
                <a:ea typeface="League Spartan" charset="0"/>
                <a:cs typeface="Poppins" pitchFamily="2" charset="77"/>
              </a:rPr>
              <a:t> Their disproportionate share of social activity makes them effective channels for </a:t>
            </a:r>
            <a:r>
              <a:rPr lang="en-US" sz="1200" err="1">
                <a:solidFill>
                  <a:schemeClr val="tx1"/>
                </a:solidFill>
                <a:ea typeface="League Spartan" charset="0"/>
                <a:cs typeface="Poppins" pitchFamily="2" charset="77"/>
              </a:rPr>
              <a:t>oveporexton</a:t>
            </a:r>
            <a:r>
              <a:rPr lang="en-US" sz="1200">
                <a:solidFill>
                  <a:schemeClr val="tx1"/>
                </a:solidFill>
                <a:ea typeface="League Spartan" charset="0"/>
                <a:cs typeface="Poppins" pitchFamily="2" charset="77"/>
              </a:rPr>
              <a:t> scientific communication </a:t>
            </a:r>
            <a:r>
              <a:rPr lang="en-US" sz="1200" b="1">
                <a:solidFill>
                  <a:schemeClr val="tx1"/>
                </a:solidFill>
                <a:ea typeface="League Spartan" charset="0"/>
                <a:cs typeface="Poppins" pitchFamily="2" charset="77"/>
              </a:rPr>
              <a:t>beyond the referral network.</a:t>
            </a:r>
            <a:endParaRPr lang="en-US" sz="1200">
              <a:solidFill>
                <a:srgbClr val="34373F"/>
              </a:solidFill>
              <a:ea typeface="League Spartan" charset="0"/>
              <a:cs typeface="Poppins" pitchFamily="2" charset="77"/>
            </a:endParaRPr>
          </a:p>
        </p:txBody>
      </p:sp>
      <p:sp>
        <p:nvSpPr>
          <p:cNvPr id="24" name="Rectangle 23">
            <a:extLst>
              <a:ext uri="{FF2B5EF4-FFF2-40B4-BE49-F238E27FC236}">
                <a16:creationId xmlns:a16="http://schemas.microsoft.com/office/drawing/2014/main" id="{12A31EA6-BDD0-145C-FE26-910D59E8AF6D}"/>
              </a:ext>
            </a:extLst>
          </p:cNvPr>
          <p:cNvSpPr/>
          <p:nvPr/>
        </p:nvSpPr>
        <p:spPr>
          <a:xfrm>
            <a:off x="1705708" y="5619750"/>
            <a:ext cx="5932051" cy="1127825"/>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b="1" dirty="0">
                <a:solidFill>
                  <a:srgbClr val="34373F"/>
                </a:solidFill>
              </a:rPr>
              <a:t>73% of the 60 KOLs in the NT space map directly to a Super Persona </a:t>
            </a:r>
            <a:r>
              <a:rPr lang="en-US" sz="1200" dirty="0">
                <a:solidFill>
                  <a:srgbClr val="34373F"/>
                </a:solidFill>
              </a:rPr>
              <a:t>in the referral network, with Super </a:t>
            </a:r>
            <a:r>
              <a:rPr lang="en-US" sz="1200" dirty="0" err="1">
                <a:solidFill>
                  <a:srgbClr val="34373F"/>
                </a:solidFill>
              </a:rPr>
              <a:t>Diagnosers</a:t>
            </a:r>
            <a:r>
              <a:rPr lang="en-US" sz="1200" dirty="0">
                <a:solidFill>
                  <a:srgbClr val="34373F"/>
                </a:solidFill>
              </a:rPr>
              <a:t> (40%) and Super Treaters (18%) dominating. The </a:t>
            </a:r>
            <a:r>
              <a:rPr lang="en-US" sz="1200" b="1" dirty="0">
                <a:solidFill>
                  <a:srgbClr val="34373F"/>
                </a:solidFill>
              </a:rPr>
              <a:t>remaining 27% demonstrate high academic involvement with limited referral activity</a:t>
            </a:r>
            <a:r>
              <a:rPr lang="en-US" sz="1200" dirty="0">
                <a:solidFill>
                  <a:srgbClr val="34373F"/>
                </a:solidFill>
              </a:rPr>
              <a:t>, indicating a segment of KOLs whose influence operates primarily through scientific channels rather than patient routing.</a:t>
            </a:r>
          </a:p>
        </p:txBody>
      </p:sp>
      <p:grpSp>
        <p:nvGrpSpPr>
          <p:cNvPr id="23" name="Group 22">
            <a:extLst>
              <a:ext uri="{FF2B5EF4-FFF2-40B4-BE49-F238E27FC236}">
                <a16:creationId xmlns:a16="http://schemas.microsoft.com/office/drawing/2014/main" id="{E4E09795-4A81-2AE4-0DC4-B5251C9B41D6}"/>
              </a:ext>
            </a:extLst>
          </p:cNvPr>
          <p:cNvGrpSpPr/>
          <p:nvPr/>
        </p:nvGrpSpPr>
        <p:grpSpPr>
          <a:xfrm>
            <a:off x="1" y="5745010"/>
            <a:ext cx="1617784" cy="877305"/>
            <a:chOff x="1" y="5457553"/>
            <a:chExt cx="1617784" cy="877305"/>
          </a:xfrm>
        </p:grpSpPr>
        <p:sp>
          <p:nvSpPr>
            <p:cNvPr id="25" name="Title 1">
              <a:extLst>
                <a:ext uri="{FF2B5EF4-FFF2-40B4-BE49-F238E27FC236}">
                  <a16:creationId xmlns:a16="http://schemas.microsoft.com/office/drawing/2014/main" id="{C77F4BB0-CFC8-39A0-3CE1-66816C4CD3C7}"/>
                </a:ext>
              </a:extLst>
            </p:cNvPr>
            <p:cNvSpPr txBox="1">
              <a:spLocks/>
            </p:cNvSpPr>
            <p:nvPr/>
          </p:nvSpPr>
          <p:spPr>
            <a:xfrm>
              <a:off x="373521" y="5558448"/>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6" name="Title 1">
              <a:extLst>
                <a:ext uri="{FF2B5EF4-FFF2-40B4-BE49-F238E27FC236}">
                  <a16:creationId xmlns:a16="http://schemas.microsoft.com/office/drawing/2014/main" id="{3305B61D-AA94-5E38-F805-A3176177383E}"/>
                </a:ext>
              </a:extLst>
            </p:cNvPr>
            <p:cNvSpPr txBox="1">
              <a:spLocks/>
            </p:cNvSpPr>
            <p:nvPr/>
          </p:nvSpPr>
          <p:spPr>
            <a:xfrm>
              <a:off x="1" y="5457553"/>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KOL Overlap</a:t>
              </a:r>
            </a:p>
          </p:txBody>
        </p:sp>
      </p:grpSp>
      <p:sp>
        <p:nvSpPr>
          <p:cNvPr id="27" name="Rectangle 26">
            <a:extLst>
              <a:ext uri="{FF2B5EF4-FFF2-40B4-BE49-F238E27FC236}">
                <a16:creationId xmlns:a16="http://schemas.microsoft.com/office/drawing/2014/main" id="{AF98A3A7-98E7-27FE-9B24-3EFCF9B53054}"/>
              </a:ext>
            </a:extLst>
          </p:cNvPr>
          <p:cNvSpPr/>
          <p:nvPr/>
        </p:nvSpPr>
        <p:spPr>
          <a:xfrm>
            <a:off x="7939333" y="5619750"/>
            <a:ext cx="4138367" cy="1127825"/>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100" b="1" dirty="0">
                <a:solidFill>
                  <a:srgbClr val="34373F"/>
                </a:solidFill>
                <a:ea typeface="League Spartan" charset="0"/>
                <a:cs typeface="Poppins" pitchFamily="2" charset="77"/>
              </a:rPr>
              <a:t>KOLs mapped to Super </a:t>
            </a:r>
            <a:r>
              <a:rPr lang="en-US" sz="1100" b="1" dirty="0" err="1">
                <a:solidFill>
                  <a:srgbClr val="34373F"/>
                </a:solidFill>
                <a:ea typeface="League Spartan" charset="0"/>
                <a:cs typeface="Poppins" pitchFamily="2" charset="77"/>
              </a:rPr>
              <a:t>Diagnoser</a:t>
            </a:r>
            <a:r>
              <a:rPr lang="en-US" sz="1100" b="1" dirty="0">
                <a:solidFill>
                  <a:srgbClr val="34373F"/>
                </a:solidFill>
                <a:ea typeface="League Spartan" charset="0"/>
                <a:cs typeface="Poppins" pitchFamily="2" charset="77"/>
              </a:rPr>
              <a:t> and Super Treater personas</a:t>
            </a:r>
            <a:r>
              <a:rPr lang="en-US" sz="1100" dirty="0">
                <a:solidFill>
                  <a:srgbClr val="34373F"/>
                </a:solidFill>
                <a:ea typeface="League Spartan" charset="0"/>
                <a:cs typeface="Poppins" pitchFamily="2" charset="77"/>
              </a:rPr>
              <a:t> represent the </a:t>
            </a:r>
            <a:r>
              <a:rPr lang="en-US" sz="1100" b="1" dirty="0">
                <a:solidFill>
                  <a:srgbClr val="34373F"/>
                </a:solidFill>
                <a:ea typeface="League Spartan" charset="0"/>
                <a:cs typeface="Poppins" pitchFamily="2" charset="77"/>
              </a:rPr>
              <a:t>highest-leverage peer influence entry points</a:t>
            </a:r>
            <a:r>
              <a:rPr lang="en-US" sz="1100" dirty="0">
                <a:solidFill>
                  <a:srgbClr val="34373F"/>
                </a:solidFill>
                <a:ea typeface="League Spartan" charset="0"/>
                <a:cs typeface="Poppins" pitchFamily="2" charset="77"/>
              </a:rPr>
              <a:t> for </a:t>
            </a:r>
            <a:r>
              <a:rPr lang="en-US" sz="1100" dirty="0" err="1">
                <a:solidFill>
                  <a:srgbClr val="34373F"/>
                </a:solidFill>
                <a:ea typeface="League Spartan" charset="0"/>
                <a:cs typeface="Poppins" pitchFamily="2" charset="77"/>
              </a:rPr>
              <a:t>oveporexton</a:t>
            </a:r>
            <a:r>
              <a:rPr lang="en-US" sz="1100" dirty="0">
                <a:solidFill>
                  <a:srgbClr val="34373F"/>
                </a:solidFill>
                <a:ea typeface="League Spartan" charset="0"/>
                <a:cs typeface="Poppins" pitchFamily="2" charset="77"/>
              </a:rPr>
              <a:t> launch. Their academic credibility combined with referral network centrality makes them effective amplifiers of both scientific and clinical messaging simultaneously and their </a:t>
            </a:r>
            <a:r>
              <a:rPr lang="en-US" sz="1100" b="1" dirty="0">
                <a:solidFill>
                  <a:srgbClr val="34373F"/>
                </a:solidFill>
                <a:ea typeface="League Spartan" charset="0"/>
                <a:cs typeface="Poppins" pitchFamily="2" charset="77"/>
              </a:rPr>
              <a:t>support can be leveraged for broader outreach</a:t>
            </a:r>
            <a:endParaRPr lang="en-US" sz="1200" dirty="0">
              <a:solidFill>
                <a:srgbClr val="34373F"/>
              </a:solidFill>
              <a:ea typeface="League Spartan" charset="0"/>
              <a:cs typeface="Poppins" pitchFamily="2" charset="77"/>
            </a:endParaRPr>
          </a:p>
        </p:txBody>
      </p:sp>
      <p:sp>
        <p:nvSpPr>
          <p:cNvPr id="3" name="Freeform 945">
            <a:extLst>
              <a:ext uri="{FF2B5EF4-FFF2-40B4-BE49-F238E27FC236}">
                <a16:creationId xmlns:a16="http://schemas.microsoft.com/office/drawing/2014/main" id="{45771ECB-62A2-B079-5367-914C2EAC7F5C}"/>
              </a:ext>
            </a:extLst>
          </p:cNvPr>
          <p:cNvSpPr>
            <a:spLocks noChangeAspect="1" noChangeArrowheads="1"/>
          </p:cNvSpPr>
          <p:nvPr/>
        </p:nvSpPr>
        <p:spPr bwMode="auto">
          <a:xfrm>
            <a:off x="504530" y="221931"/>
            <a:ext cx="454501" cy="537345"/>
          </a:xfrm>
          <a:custGeom>
            <a:avLst/>
            <a:gdLst>
              <a:gd name="T0" fmla="*/ 632245 w 232462"/>
              <a:gd name="T1" fmla="*/ 3076609 h 289974"/>
              <a:gd name="T2" fmla="*/ 1993938 w 232462"/>
              <a:gd name="T3" fmla="*/ 3076609 h 289974"/>
              <a:gd name="T4" fmla="*/ 2091190 w 232462"/>
              <a:gd name="T5" fmla="*/ 2375186 h 289974"/>
              <a:gd name="T6" fmla="*/ 2038519 w 232462"/>
              <a:gd name="T7" fmla="*/ 3199466 h 289974"/>
              <a:gd name="T8" fmla="*/ 603868 w 232462"/>
              <a:gd name="T9" fmla="*/ 3195485 h 289974"/>
              <a:gd name="T10" fmla="*/ 534968 w 232462"/>
              <a:gd name="T11" fmla="*/ 2375186 h 289974"/>
              <a:gd name="T12" fmla="*/ 1193690 w 232462"/>
              <a:gd name="T13" fmla="*/ 1084957 h 289974"/>
              <a:gd name="T14" fmla="*/ 1084413 w 232462"/>
              <a:gd name="T15" fmla="*/ 1332847 h 289974"/>
              <a:gd name="T16" fmla="*/ 1290835 w 232462"/>
              <a:gd name="T17" fmla="*/ 1516759 h 289974"/>
              <a:gd name="T18" fmla="*/ 1529635 w 232462"/>
              <a:gd name="T19" fmla="*/ 1376818 h 289974"/>
              <a:gd name="T20" fmla="*/ 1468921 w 232462"/>
              <a:gd name="T21" fmla="*/ 1108951 h 289974"/>
              <a:gd name="T22" fmla="*/ 1270596 w 232462"/>
              <a:gd name="T23" fmla="*/ 713128 h 289974"/>
              <a:gd name="T24" fmla="*/ 1849413 w 232462"/>
              <a:gd name="T25" fmla="*/ 1064956 h 289974"/>
              <a:gd name="T26" fmla="*/ 1630824 w 232462"/>
              <a:gd name="T27" fmla="*/ 1384830 h 289974"/>
              <a:gd name="T28" fmla="*/ 1618692 w 232462"/>
              <a:gd name="T29" fmla="*/ 1772641 h 289974"/>
              <a:gd name="T30" fmla="*/ 987257 w 232462"/>
              <a:gd name="T31" fmla="*/ 1776636 h 289974"/>
              <a:gd name="T32" fmla="*/ 995349 w 232462"/>
              <a:gd name="T33" fmla="*/ 1384830 h 289974"/>
              <a:gd name="T34" fmla="*/ 776770 w 232462"/>
              <a:gd name="T35" fmla="*/ 1064956 h 289974"/>
              <a:gd name="T36" fmla="*/ 1306159 w 232462"/>
              <a:gd name="T37" fmla="*/ 482625 h 289974"/>
              <a:gd name="T38" fmla="*/ 2119160 w 232462"/>
              <a:gd name="T39" fmla="*/ 1276673 h 289974"/>
              <a:gd name="T40" fmla="*/ 2216743 w 232462"/>
              <a:gd name="T41" fmla="*/ 1276673 h 289974"/>
              <a:gd name="T42" fmla="*/ 1306159 w 232462"/>
              <a:gd name="T43" fmla="*/ 383378 h 289974"/>
              <a:gd name="T44" fmla="*/ 1083222 w 232462"/>
              <a:gd name="T45" fmla="*/ 251380 h 289974"/>
              <a:gd name="T46" fmla="*/ 700781 w 232462"/>
              <a:gd name="T47" fmla="*/ 417639 h 289974"/>
              <a:gd name="T48" fmla="*/ 407860 w 232462"/>
              <a:gd name="T49" fmla="*/ 710574 h 289974"/>
              <a:gd name="T50" fmla="*/ 253257 w 232462"/>
              <a:gd name="T51" fmla="*/ 1090626 h 289974"/>
              <a:gd name="T52" fmla="*/ 261393 w 232462"/>
              <a:gd name="T53" fmla="*/ 1498350 h 289974"/>
              <a:gd name="T54" fmla="*/ 428191 w 232462"/>
              <a:gd name="T55" fmla="*/ 1874447 h 289974"/>
              <a:gd name="T56" fmla="*/ 733337 w 232462"/>
              <a:gd name="T57" fmla="*/ 2159477 h 289974"/>
              <a:gd name="T58" fmla="*/ 1095420 w 232462"/>
              <a:gd name="T59" fmla="*/ 2298020 h 289974"/>
              <a:gd name="T60" fmla="*/ 1506329 w 232462"/>
              <a:gd name="T61" fmla="*/ 2309889 h 289974"/>
              <a:gd name="T62" fmla="*/ 1896907 w 232462"/>
              <a:gd name="T63" fmla="*/ 2159477 h 289974"/>
              <a:gd name="T64" fmla="*/ 2197968 w 232462"/>
              <a:gd name="T65" fmla="*/ 1874447 h 289974"/>
              <a:gd name="T66" fmla="*/ 2368839 w 232462"/>
              <a:gd name="T67" fmla="*/ 1498350 h 289974"/>
              <a:gd name="T68" fmla="*/ 2372910 w 232462"/>
              <a:gd name="T69" fmla="*/ 1090626 h 289974"/>
              <a:gd name="T70" fmla="*/ 2222381 w 232462"/>
              <a:gd name="T71" fmla="*/ 710574 h 289974"/>
              <a:gd name="T72" fmla="*/ 1929440 w 232462"/>
              <a:gd name="T73" fmla="*/ 417639 h 289974"/>
              <a:gd name="T74" fmla="*/ 1546995 w 232462"/>
              <a:gd name="T75" fmla="*/ 251380 h 289974"/>
              <a:gd name="T76" fmla="*/ 1282577 w 232462"/>
              <a:gd name="T77" fmla="*/ 5940 h 289974"/>
              <a:gd name="T78" fmla="*/ 1787059 w 232462"/>
              <a:gd name="T79" fmla="*/ 93038 h 289974"/>
              <a:gd name="T80" fmla="*/ 2214256 w 232462"/>
              <a:gd name="T81" fmla="*/ 358253 h 289974"/>
              <a:gd name="T82" fmla="*/ 2507166 w 232462"/>
              <a:gd name="T83" fmla="*/ 762044 h 289974"/>
              <a:gd name="T84" fmla="*/ 2617013 w 232462"/>
              <a:gd name="T85" fmla="*/ 1245006 h 289974"/>
              <a:gd name="T86" fmla="*/ 2531574 w 232462"/>
              <a:gd name="T87" fmla="*/ 1735895 h 289974"/>
              <a:gd name="T88" fmla="*/ 2258976 w 232462"/>
              <a:gd name="T89" fmla="*/ 2151533 h 289974"/>
              <a:gd name="T90" fmla="*/ 1839944 w 232462"/>
              <a:gd name="T91" fmla="*/ 2436573 h 289974"/>
              <a:gd name="T92" fmla="*/ 1343589 w 232462"/>
              <a:gd name="T93" fmla="*/ 2543461 h 289974"/>
              <a:gd name="T94" fmla="*/ 1083222 w 232462"/>
              <a:gd name="T95" fmla="*/ 2400937 h 289974"/>
              <a:gd name="T96" fmla="*/ 660104 w 232462"/>
              <a:gd name="T97" fmla="*/ 2226766 h 289974"/>
              <a:gd name="T98" fmla="*/ 334636 w 232462"/>
              <a:gd name="T99" fmla="*/ 1910073 h 289974"/>
              <a:gd name="T100" fmla="*/ 159692 w 232462"/>
              <a:gd name="T101" fmla="*/ 1498350 h 289974"/>
              <a:gd name="T102" fmla="*/ 159692 w 232462"/>
              <a:gd name="T103" fmla="*/ 1051026 h 289974"/>
              <a:gd name="T104" fmla="*/ 334636 w 232462"/>
              <a:gd name="T105" fmla="*/ 639327 h 289974"/>
              <a:gd name="T106" fmla="*/ 660104 w 232462"/>
              <a:gd name="T107" fmla="*/ 322629 h 289974"/>
              <a:gd name="T108" fmla="*/ 1083222 w 232462"/>
              <a:gd name="T109" fmla="*/ 152424 h 2899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62" h="289974">
                <a:moveTo>
                  <a:pt x="51660" y="210958"/>
                </a:moveTo>
                <a:cubicBezTo>
                  <a:pt x="54171" y="210958"/>
                  <a:pt x="55965" y="212754"/>
                  <a:pt x="55965" y="215268"/>
                </a:cubicBezTo>
                <a:lnTo>
                  <a:pt x="55965" y="278840"/>
                </a:lnTo>
                <a:lnTo>
                  <a:pt x="114438" y="251903"/>
                </a:lnTo>
                <a:cubicBezTo>
                  <a:pt x="115514" y="251543"/>
                  <a:pt x="116949" y="251543"/>
                  <a:pt x="118025" y="251903"/>
                </a:cubicBezTo>
                <a:lnTo>
                  <a:pt x="176499" y="278840"/>
                </a:lnTo>
                <a:lnTo>
                  <a:pt x="176499" y="215268"/>
                </a:lnTo>
                <a:cubicBezTo>
                  <a:pt x="176499" y="212754"/>
                  <a:pt x="178292" y="210958"/>
                  <a:pt x="180445" y="210958"/>
                </a:cubicBezTo>
                <a:cubicBezTo>
                  <a:pt x="182956" y="210958"/>
                  <a:pt x="185108" y="212754"/>
                  <a:pt x="185108" y="215268"/>
                </a:cubicBezTo>
                <a:lnTo>
                  <a:pt x="185108" y="285305"/>
                </a:lnTo>
                <a:cubicBezTo>
                  <a:pt x="185108" y="287101"/>
                  <a:pt x="184391" y="288537"/>
                  <a:pt x="182956" y="289256"/>
                </a:cubicBezTo>
                <a:cubicBezTo>
                  <a:pt x="182239" y="289615"/>
                  <a:pt x="181521" y="289974"/>
                  <a:pt x="180445" y="289974"/>
                </a:cubicBezTo>
                <a:cubicBezTo>
                  <a:pt x="180086" y="289974"/>
                  <a:pt x="179369" y="289974"/>
                  <a:pt x="178651" y="289615"/>
                </a:cubicBezTo>
                <a:lnTo>
                  <a:pt x="116232" y="260882"/>
                </a:lnTo>
                <a:lnTo>
                  <a:pt x="53453" y="289615"/>
                </a:lnTo>
                <a:cubicBezTo>
                  <a:pt x="52377" y="289974"/>
                  <a:pt x="50584" y="289974"/>
                  <a:pt x="49149" y="289256"/>
                </a:cubicBezTo>
                <a:cubicBezTo>
                  <a:pt x="48072" y="288537"/>
                  <a:pt x="47355" y="287101"/>
                  <a:pt x="47355" y="285305"/>
                </a:cubicBezTo>
                <a:lnTo>
                  <a:pt x="47355" y="215268"/>
                </a:lnTo>
                <a:cubicBezTo>
                  <a:pt x="47355" y="212754"/>
                  <a:pt x="49149" y="210958"/>
                  <a:pt x="51660" y="210958"/>
                </a:cubicBezTo>
                <a:close/>
                <a:moveTo>
                  <a:pt x="116411" y="76590"/>
                </a:moveTo>
                <a:lnTo>
                  <a:pt x="105662" y="98332"/>
                </a:lnTo>
                <a:cubicBezTo>
                  <a:pt x="104946" y="99419"/>
                  <a:pt x="104229" y="100143"/>
                  <a:pt x="102438" y="100506"/>
                </a:cubicBezTo>
                <a:lnTo>
                  <a:pt x="79149" y="103767"/>
                </a:lnTo>
                <a:lnTo>
                  <a:pt x="95989" y="120798"/>
                </a:lnTo>
                <a:cubicBezTo>
                  <a:pt x="97063" y="121885"/>
                  <a:pt x="97422" y="123335"/>
                  <a:pt x="97422" y="124784"/>
                </a:cubicBezTo>
                <a:lnTo>
                  <a:pt x="93480" y="148338"/>
                </a:lnTo>
                <a:lnTo>
                  <a:pt x="114261" y="137467"/>
                </a:lnTo>
                <a:cubicBezTo>
                  <a:pt x="115695" y="136380"/>
                  <a:pt x="117128" y="136380"/>
                  <a:pt x="118203" y="137467"/>
                </a:cubicBezTo>
                <a:lnTo>
                  <a:pt x="139342" y="148338"/>
                </a:lnTo>
                <a:lnTo>
                  <a:pt x="135401" y="124784"/>
                </a:lnTo>
                <a:cubicBezTo>
                  <a:pt x="135042" y="123335"/>
                  <a:pt x="135401" y="121885"/>
                  <a:pt x="136834" y="120798"/>
                </a:cubicBezTo>
                <a:lnTo>
                  <a:pt x="153673" y="103767"/>
                </a:lnTo>
                <a:lnTo>
                  <a:pt x="130026" y="100506"/>
                </a:lnTo>
                <a:cubicBezTo>
                  <a:pt x="128593" y="100143"/>
                  <a:pt x="127518" y="99419"/>
                  <a:pt x="127160" y="98332"/>
                </a:cubicBezTo>
                <a:lnTo>
                  <a:pt x="116411" y="76590"/>
                </a:lnTo>
                <a:close/>
                <a:moveTo>
                  <a:pt x="112470" y="64632"/>
                </a:moveTo>
                <a:cubicBezTo>
                  <a:pt x="113903" y="61733"/>
                  <a:pt x="118919" y="61733"/>
                  <a:pt x="120352" y="64632"/>
                </a:cubicBezTo>
                <a:lnTo>
                  <a:pt x="133609" y="92171"/>
                </a:lnTo>
                <a:lnTo>
                  <a:pt x="163706" y="96520"/>
                </a:lnTo>
                <a:cubicBezTo>
                  <a:pt x="165497" y="96520"/>
                  <a:pt x="166930" y="97969"/>
                  <a:pt x="167289" y="99419"/>
                </a:cubicBezTo>
                <a:cubicBezTo>
                  <a:pt x="167647" y="101231"/>
                  <a:pt x="167289" y="103042"/>
                  <a:pt x="166214" y="104129"/>
                </a:cubicBezTo>
                <a:lnTo>
                  <a:pt x="144358" y="125509"/>
                </a:lnTo>
                <a:lnTo>
                  <a:pt x="149732" y="155947"/>
                </a:lnTo>
                <a:cubicBezTo>
                  <a:pt x="149732" y="157759"/>
                  <a:pt x="149374" y="159208"/>
                  <a:pt x="147941" y="160296"/>
                </a:cubicBezTo>
                <a:cubicBezTo>
                  <a:pt x="146508" y="161383"/>
                  <a:pt x="144716" y="161383"/>
                  <a:pt x="143283" y="160658"/>
                </a:cubicBezTo>
                <a:lnTo>
                  <a:pt x="116411" y="146163"/>
                </a:lnTo>
                <a:lnTo>
                  <a:pt x="89539" y="160658"/>
                </a:lnTo>
                <a:cubicBezTo>
                  <a:pt x="88823" y="160658"/>
                  <a:pt x="88106" y="161020"/>
                  <a:pt x="87390" y="161020"/>
                </a:cubicBezTo>
                <a:cubicBezTo>
                  <a:pt x="86673" y="161020"/>
                  <a:pt x="85598" y="160658"/>
                  <a:pt x="84881" y="160296"/>
                </a:cubicBezTo>
                <a:cubicBezTo>
                  <a:pt x="83448" y="159208"/>
                  <a:pt x="82732" y="157759"/>
                  <a:pt x="83090" y="155947"/>
                </a:cubicBezTo>
                <a:lnTo>
                  <a:pt x="88106" y="125509"/>
                </a:lnTo>
                <a:lnTo>
                  <a:pt x="66250" y="104129"/>
                </a:lnTo>
                <a:cubicBezTo>
                  <a:pt x="65175" y="103042"/>
                  <a:pt x="64817" y="101231"/>
                  <a:pt x="65175" y="99419"/>
                </a:cubicBezTo>
                <a:cubicBezTo>
                  <a:pt x="65892" y="97969"/>
                  <a:pt x="67325" y="96520"/>
                  <a:pt x="68758" y="96520"/>
                </a:cubicBezTo>
                <a:lnTo>
                  <a:pt x="98855" y="92171"/>
                </a:lnTo>
                <a:lnTo>
                  <a:pt x="112470" y="64632"/>
                </a:lnTo>
                <a:close/>
                <a:moveTo>
                  <a:pt x="115618" y="43741"/>
                </a:moveTo>
                <a:cubicBezTo>
                  <a:pt x="76036" y="43741"/>
                  <a:pt x="43651" y="76126"/>
                  <a:pt x="43651" y="115708"/>
                </a:cubicBezTo>
                <a:cubicBezTo>
                  <a:pt x="43651" y="155289"/>
                  <a:pt x="76036" y="187674"/>
                  <a:pt x="115618" y="187674"/>
                </a:cubicBezTo>
                <a:cubicBezTo>
                  <a:pt x="155199" y="187674"/>
                  <a:pt x="187584" y="155289"/>
                  <a:pt x="187584" y="115708"/>
                </a:cubicBezTo>
                <a:cubicBezTo>
                  <a:pt x="187584" y="76126"/>
                  <a:pt x="155199" y="43741"/>
                  <a:pt x="115618" y="43741"/>
                </a:cubicBezTo>
                <a:close/>
                <a:moveTo>
                  <a:pt x="115618" y="34745"/>
                </a:moveTo>
                <a:cubicBezTo>
                  <a:pt x="159877" y="34745"/>
                  <a:pt x="196220" y="71088"/>
                  <a:pt x="196220" y="115708"/>
                </a:cubicBezTo>
                <a:cubicBezTo>
                  <a:pt x="196220" y="159967"/>
                  <a:pt x="159877" y="196310"/>
                  <a:pt x="115618" y="196310"/>
                </a:cubicBezTo>
                <a:cubicBezTo>
                  <a:pt x="70998" y="196310"/>
                  <a:pt x="34655" y="159967"/>
                  <a:pt x="34655" y="115708"/>
                </a:cubicBezTo>
                <a:cubicBezTo>
                  <a:pt x="34655" y="71088"/>
                  <a:pt x="70998" y="34745"/>
                  <a:pt x="115618" y="34745"/>
                </a:cubicBezTo>
                <a:close/>
                <a:moveTo>
                  <a:pt x="116411" y="9866"/>
                </a:moveTo>
                <a:lnTo>
                  <a:pt x="99485" y="22065"/>
                </a:lnTo>
                <a:cubicBezTo>
                  <a:pt x="98405" y="22782"/>
                  <a:pt x="97324" y="23141"/>
                  <a:pt x="95884" y="22782"/>
                </a:cubicBezTo>
                <a:lnTo>
                  <a:pt x="75717" y="17759"/>
                </a:lnTo>
                <a:lnTo>
                  <a:pt x="64913" y="35698"/>
                </a:lnTo>
                <a:cubicBezTo>
                  <a:pt x="64193" y="36775"/>
                  <a:pt x="63112" y="37492"/>
                  <a:pt x="62032" y="37851"/>
                </a:cubicBezTo>
                <a:lnTo>
                  <a:pt x="41144" y="40721"/>
                </a:lnTo>
                <a:lnTo>
                  <a:pt x="37903" y="61531"/>
                </a:lnTo>
                <a:cubicBezTo>
                  <a:pt x="37903" y="62607"/>
                  <a:pt x="37183" y="63684"/>
                  <a:pt x="36103" y="64401"/>
                </a:cubicBezTo>
                <a:lnTo>
                  <a:pt x="18096" y="75165"/>
                </a:lnTo>
                <a:lnTo>
                  <a:pt x="23138" y="95257"/>
                </a:lnTo>
                <a:cubicBezTo>
                  <a:pt x="23498" y="96333"/>
                  <a:pt x="23138" y="97768"/>
                  <a:pt x="22418" y="98845"/>
                </a:cubicBezTo>
                <a:lnTo>
                  <a:pt x="10174" y="115708"/>
                </a:lnTo>
                <a:lnTo>
                  <a:pt x="22418" y="132212"/>
                </a:lnTo>
                <a:cubicBezTo>
                  <a:pt x="23138" y="133288"/>
                  <a:pt x="23498" y="134723"/>
                  <a:pt x="23138" y="135799"/>
                </a:cubicBezTo>
                <a:lnTo>
                  <a:pt x="18096" y="156250"/>
                </a:lnTo>
                <a:lnTo>
                  <a:pt x="36103" y="167014"/>
                </a:lnTo>
                <a:cubicBezTo>
                  <a:pt x="37183" y="167731"/>
                  <a:pt x="37903" y="168449"/>
                  <a:pt x="37903" y="169884"/>
                </a:cubicBezTo>
                <a:lnTo>
                  <a:pt x="41144" y="190335"/>
                </a:lnTo>
                <a:lnTo>
                  <a:pt x="62032" y="193564"/>
                </a:lnTo>
                <a:cubicBezTo>
                  <a:pt x="63112" y="193564"/>
                  <a:pt x="64193" y="194640"/>
                  <a:pt x="64913" y="195717"/>
                </a:cubicBezTo>
                <a:lnTo>
                  <a:pt x="75717" y="213656"/>
                </a:lnTo>
                <a:lnTo>
                  <a:pt x="95884" y="208274"/>
                </a:lnTo>
                <a:cubicBezTo>
                  <a:pt x="96244" y="208274"/>
                  <a:pt x="96604" y="208274"/>
                  <a:pt x="96964" y="208274"/>
                </a:cubicBezTo>
                <a:cubicBezTo>
                  <a:pt x="97685" y="208274"/>
                  <a:pt x="98765" y="208633"/>
                  <a:pt x="99485" y="209350"/>
                </a:cubicBezTo>
                <a:lnTo>
                  <a:pt x="116411" y="221549"/>
                </a:lnTo>
                <a:lnTo>
                  <a:pt x="133337" y="209350"/>
                </a:lnTo>
                <a:cubicBezTo>
                  <a:pt x="134417" y="208274"/>
                  <a:pt x="135498" y="208274"/>
                  <a:pt x="136938" y="208274"/>
                </a:cubicBezTo>
                <a:lnTo>
                  <a:pt x="157105" y="213656"/>
                </a:lnTo>
                <a:lnTo>
                  <a:pt x="167909" y="195717"/>
                </a:lnTo>
                <a:cubicBezTo>
                  <a:pt x="168629" y="194640"/>
                  <a:pt x="169710" y="193564"/>
                  <a:pt x="170790" y="193564"/>
                </a:cubicBezTo>
                <a:lnTo>
                  <a:pt x="191678" y="190335"/>
                </a:lnTo>
                <a:lnTo>
                  <a:pt x="194559" y="169884"/>
                </a:lnTo>
                <a:cubicBezTo>
                  <a:pt x="194559" y="168449"/>
                  <a:pt x="195639" y="167731"/>
                  <a:pt x="196719" y="167014"/>
                </a:cubicBezTo>
                <a:lnTo>
                  <a:pt x="214726" y="156250"/>
                </a:lnTo>
                <a:lnTo>
                  <a:pt x="209684" y="135799"/>
                </a:lnTo>
                <a:cubicBezTo>
                  <a:pt x="209324" y="134723"/>
                  <a:pt x="209684" y="133288"/>
                  <a:pt x="210044" y="132212"/>
                </a:cubicBezTo>
                <a:lnTo>
                  <a:pt x="222648" y="115708"/>
                </a:lnTo>
                <a:lnTo>
                  <a:pt x="210044" y="98845"/>
                </a:lnTo>
                <a:cubicBezTo>
                  <a:pt x="209684" y="97768"/>
                  <a:pt x="209324" y="96333"/>
                  <a:pt x="209684" y="95257"/>
                </a:cubicBezTo>
                <a:lnTo>
                  <a:pt x="214726" y="75165"/>
                </a:lnTo>
                <a:lnTo>
                  <a:pt x="196719" y="64401"/>
                </a:lnTo>
                <a:cubicBezTo>
                  <a:pt x="195639" y="63684"/>
                  <a:pt x="194559" y="62607"/>
                  <a:pt x="194559" y="61531"/>
                </a:cubicBezTo>
                <a:lnTo>
                  <a:pt x="191678" y="40721"/>
                </a:lnTo>
                <a:lnTo>
                  <a:pt x="170790" y="37851"/>
                </a:lnTo>
                <a:cubicBezTo>
                  <a:pt x="169710" y="37492"/>
                  <a:pt x="168629" y="36775"/>
                  <a:pt x="167909" y="35698"/>
                </a:cubicBezTo>
                <a:lnTo>
                  <a:pt x="157105" y="17759"/>
                </a:lnTo>
                <a:lnTo>
                  <a:pt x="136938" y="22782"/>
                </a:lnTo>
                <a:cubicBezTo>
                  <a:pt x="135498" y="23141"/>
                  <a:pt x="134417" y="22782"/>
                  <a:pt x="133337" y="22065"/>
                </a:cubicBezTo>
                <a:lnTo>
                  <a:pt x="116411" y="9866"/>
                </a:lnTo>
                <a:close/>
                <a:moveTo>
                  <a:pt x="113530" y="538"/>
                </a:moveTo>
                <a:cubicBezTo>
                  <a:pt x="115331" y="-180"/>
                  <a:pt x="117492" y="-180"/>
                  <a:pt x="118932" y="538"/>
                </a:cubicBezTo>
                <a:lnTo>
                  <a:pt x="136938" y="13813"/>
                </a:lnTo>
                <a:lnTo>
                  <a:pt x="158186" y="8431"/>
                </a:lnTo>
                <a:cubicBezTo>
                  <a:pt x="159986" y="8072"/>
                  <a:pt x="161787" y="8790"/>
                  <a:pt x="162867" y="10225"/>
                </a:cubicBezTo>
                <a:lnTo>
                  <a:pt x="174392" y="29240"/>
                </a:lnTo>
                <a:lnTo>
                  <a:pt x="195999" y="32469"/>
                </a:lnTo>
                <a:cubicBezTo>
                  <a:pt x="197800" y="32828"/>
                  <a:pt x="199240" y="34263"/>
                  <a:pt x="199960" y="36416"/>
                </a:cubicBezTo>
                <a:lnTo>
                  <a:pt x="202842" y="57943"/>
                </a:lnTo>
                <a:lnTo>
                  <a:pt x="221928" y="69066"/>
                </a:lnTo>
                <a:cubicBezTo>
                  <a:pt x="223369" y="70142"/>
                  <a:pt x="224449" y="72295"/>
                  <a:pt x="224089" y="74088"/>
                </a:cubicBezTo>
                <a:lnTo>
                  <a:pt x="218687" y="95257"/>
                </a:lnTo>
                <a:lnTo>
                  <a:pt x="231652" y="112837"/>
                </a:lnTo>
                <a:cubicBezTo>
                  <a:pt x="232732" y="114631"/>
                  <a:pt x="232732" y="116784"/>
                  <a:pt x="231652" y="118219"/>
                </a:cubicBezTo>
                <a:lnTo>
                  <a:pt x="218687" y="135799"/>
                </a:lnTo>
                <a:lnTo>
                  <a:pt x="224089" y="157327"/>
                </a:lnTo>
                <a:cubicBezTo>
                  <a:pt x="224449" y="159121"/>
                  <a:pt x="223369" y="160914"/>
                  <a:pt x="221928" y="161991"/>
                </a:cubicBezTo>
                <a:lnTo>
                  <a:pt x="202842" y="173113"/>
                </a:lnTo>
                <a:lnTo>
                  <a:pt x="199960" y="194999"/>
                </a:lnTo>
                <a:cubicBezTo>
                  <a:pt x="199240" y="196793"/>
                  <a:pt x="197800" y="198587"/>
                  <a:pt x="195999" y="198587"/>
                </a:cubicBezTo>
                <a:lnTo>
                  <a:pt x="174392" y="201816"/>
                </a:lnTo>
                <a:lnTo>
                  <a:pt x="162867" y="220831"/>
                </a:lnTo>
                <a:cubicBezTo>
                  <a:pt x="161787" y="222267"/>
                  <a:pt x="159986" y="222984"/>
                  <a:pt x="158186" y="222625"/>
                </a:cubicBezTo>
                <a:lnTo>
                  <a:pt x="136938" y="217602"/>
                </a:lnTo>
                <a:lnTo>
                  <a:pt x="118932" y="230519"/>
                </a:lnTo>
                <a:cubicBezTo>
                  <a:pt x="118212" y="231236"/>
                  <a:pt x="117131" y="231236"/>
                  <a:pt x="116411" y="231236"/>
                </a:cubicBezTo>
                <a:cubicBezTo>
                  <a:pt x="115331" y="231236"/>
                  <a:pt x="114610" y="231236"/>
                  <a:pt x="113530" y="230519"/>
                </a:cubicBezTo>
                <a:lnTo>
                  <a:pt x="95884" y="217602"/>
                </a:lnTo>
                <a:lnTo>
                  <a:pt x="74636" y="222625"/>
                </a:lnTo>
                <a:cubicBezTo>
                  <a:pt x="72836" y="222984"/>
                  <a:pt x="70675" y="222267"/>
                  <a:pt x="69595" y="220831"/>
                </a:cubicBezTo>
                <a:lnTo>
                  <a:pt x="58431" y="201816"/>
                </a:lnTo>
                <a:lnTo>
                  <a:pt x="36823" y="198587"/>
                </a:lnTo>
                <a:cubicBezTo>
                  <a:pt x="35022" y="198587"/>
                  <a:pt x="33222" y="196793"/>
                  <a:pt x="32862" y="194999"/>
                </a:cubicBezTo>
                <a:lnTo>
                  <a:pt x="29620" y="173113"/>
                </a:lnTo>
                <a:lnTo>
                  <a:pt x="10534" y="161991"/>
                </a:lnTo>
                <a:cubicBezTo>
                  <a:pt x="9093" y="160914"/>
                  <a:pt x="8373" y="159121"/>
                  <a:pt x="8733" y="157327"/>
                </a:cubicBezTo>
                <a:lnTo>
                  <a:pt x="14135" y="135799"/>
                </a:lnTo>
                <a:lnTo>
                  <a:pt x="810" y="118219"/>
                </a:lnTo>
                <a:cubicBezTo>
                  <a:pt x="-270" y="116784"/>
                  <a:pt x="-270" y="114631"/>
                  <a:pt x="810" y="112837"/>
                </a:cubicBezTo>
                <a:lnTo>
                  <a:pt x="14135" y="95257"/>
                </a:lnTo>
                <a:lnTo>
                  <a:pt x="8733" y="74088"/>
                </a:lnTo>
                <a:cubicBezTo>
                  <a:pt x="8373" y="72295"/>
                  <a:pt x="9093" y="70142"/>
                  <a:pt x="10534" y="69066"/>
                </a:cubicBezTo>
                <a:lnTo>
                  <a:pt x="29620" y="57943"/>
                </a:lnTo>
                <a:lnTo>
                  <a:pt x="32862" y="36416"/>
                </a:lnTo>
                <a:cubicBezTo>
                  <a:pt x="33222" y="34263"/>
                  <a:pt x="35022" y="32828"/>
                  <a:pt x="36823" y="32469"/>
                </a:cubicBezTo>
                <a:lnTo>
                  <a:pt x="58431" y="29240"/>
                </a:lnTo>
                <a:lnTo>
                  <a:pt x="69595" y="10225"/>
                </a:lnTo>
                <a:cubicBezTo>
                  <a:pt x="70675" y="8790"/>
                  <a:pt x="72836" y="8072"/>
                  <a:pt x="74636" y="8431"/>
                </a:cubicBezTo>
                <a:lnTo>
                  <a:pt x="95884" y="13813"/>
                </a:lnTo>
                <a:lnTo>
                  <a:pt x="113530" y="538"/>
                </a:lnTo>
                <a:close/>
              </a:path>
            </a:pathLst>
          </a:custGeom>
          <a:solidFill>
            <a:schemeClr val="tx1"/>
          </a:solidFill>
          <a:ln>
            <a:noFill/>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045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20" grpId="0" animBg="1"/>
      <p:bldP spid="24"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B56C1-2347-D0A2-D414-7ADDF54D3AC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70B42B1-7F2F-5E5C-C2BE-E3CCAC046771}"/>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a:t>Executive Summary </a:t>
            </a:r>
            <a:r>
              <a:rPr kumimoji="1" lang="en-US" sz="2000"/>
              <a:t>| </a:t>
            </a:r>
            <a:r>
              <a:rPr kumimoji="1" lang="en-US" sz="2000" i="1"/>
              <a:t>Patient Leakage Assessment</a:t>
            </a:r>
          </a:p>
        </p:txBody>
      </p:sp>
      <p:sp>
        <p:nvSpPr>
          <p:cNvPr id="16" name="TextBox 15">
            <a:extLst>
              <a:ext uri="{FF2B5EF4-FFF2-40B4-BE49-F238E27FC236}">
                <a16:creationId xmlns:a16="http://schemas.microsoft.com/office/drawing/2014/main" id="{CB0F9CEF-2BAE-2761-F147-A60CE7F4064D}"/>
              </a:ext>
            </a:extLst>
          </p:cNvPr>
          <p:cNvSpPr txBox="1"/>
          <p:nvPr/>
        </p:nvSpPr>
        <p:spPr>
          <a:xfrm>
            <a:off x="7939333" y="1073855"/>
            <a:ext cx="4138366"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a:t>Preliminary </a:t>
            </a:r>
            <a:r>
              <a:rPr lang="en-US" sz="1400" b="1"/>
              <a:t>Recommendations</a:t>
            </a:r>
            <a:endParaRPr lang="en-IN"/>
          </a:p>
        </p:txBody>
      </p:sp>
      <p:sp>
        <p:nvSpPr>
          <p:cNvPr id="19" name="TextBox 18">
            <a:extLst>
              <a:ext uri="{FF2B5EF4-FFF2-40B4-BE49-F238E27FC236}">
                <a16:creationId xmlns:a16="http://schemas.microsoft.com/office/drawing/2014/main" id="{D936B8B2-7E0F-6D1E-FE9D-F980075ED034}"/>
              </a:ext>
            </a:extLst>
          </p:cNvPr>
          <p:cNvSpPr txBox="1"/>
          <p:nvPr/>
        </p:nvSpPr>
        <p:spPr>
          <a:xfrm>
            <a:off x="1705707" y="1073855"/>
            <a:ext cx="5932051"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Insights</a:t>
            </a:r>
            <a:endParaRPr lang="en-IN"/>
          </a:p>
        </p:txBody>
      </p:sp>
      <p:sp>
        <p:nvSpPr>
          <p:cNvPr id="2" name="Rectangle 1">
            <a:extLst>
              <a:ext uri="{FF2B5EF4-FFF2-40B4-BE49-F238E27FC236}">
                <a16:creationId xmlns:a16="http://schemas.microsoft.com/office/drawing/2014/main" id="{C8E6D1A6-DC95-6CED-118A-3AD982986FD8}"/>
              </a:ext>
            </a:extLst>
          </p:cNvPr>
          <p:cNvSpPr/>
          <p:nvPr/>
        </p:nvSpPr>
        <p:spPr>
          <a:xfrm>
            <a:off x="1705708" y="1480078"/>
            <a:ext cx="5932051" cy="211084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5750" indent="-285750">
              <a:spcBef>
                <a:spcPts val="600"/>
              </a:spcBef>
              <a:buFont typeface="Arial" panose="020B0604020202020204" pitchFamily="34" charset="0"/>
              <a:buChar char="•"/>
              <a:defRPr/>
            </a:pPr>
            <a:r>
              <a:rPr kumimoji="0" lang="en-US" sz="1100" b="1" i="0" u="none" strike="noStrike" kern="1200" cap="none" spc="0" normalizeH="0" baseline="0" noProof="0" dirty="0">
                <a:ln>
                  <a:noFill/>
                </a:ln>
                <a:solidFill>
                  <a:srgbClr val="34373F"/>
                </a:solidFill>
                <a:effectLst/>
                <a:uLnTx/>
                <a:uFillTx/>
                <a:latin typeface="Segoe UI"/>
                <a:cs typeface="Segoe UI"/>
              </a:rPr>
              <a:t>~70% of NT patients </a:t>
            </a:r>
            <a:r>
              <a:rPr lang="en-US" sz="1100" b="1" dirty="0">
                <a:solidFill>
                  <a:srgbClr val="34373F"/>
                </a:solidFill>
                <a:latin typeface="Segoe UI"/>
                <a:cs typeface="Segoe UI"/>
              </a:rPr>
              <a:t>go through a misdiagnosis or comorbid delay </a:t>
            </a:r>
            <a:r>
              <a:rPr lang="en-US" sz="1100" dirty="0">
                <a:solidFill>
                  <a:srgbClr val="34373F"/>
                </a:solidFill>
                <a:latin typeface="Segoe UI"/>
                <a:cs typeface="Segoe UI"/>
              </a:rPr>
              <a:t>before eventually getting diagnosed with NT1.</a:t>
            </a:r>
          </a:p>
          <a:p>
            <a:pPr marL="285750" indent="-285750">
              <a:spcBef>
                <a:spcPts val="600"/>
              </a:spcBef>
              <a:buFont typeface="Arial" panose="020B0604020202020204" pitchFamily="34" charset="0"/>
              <a:buChar char="•"/>
              <a:defRPr/>
            </a:pPr>
            <a:r>
              <a:rPr lang="en-US" sz="1100" b="1" dirty="0">
                <a:solidFill>
                  <a:srgbClr val="34373F"/>
                </a:solidFill>
                <a:latin typeface="Segoe UI"/>
                <a:cs typeface="Segoe UI"/>
              </a:rPr>
              <a:t>Majority of them follow a predictable </a:t>
            </a:r>
            <a:r>
              <a:rPr kumimoji="0" lang="en-US" sz="1100" b="1" i="0" u="none" strike="noStrike" kern="1200" cap="none" spc="0" normalizeH="0" baseline="0" noProof="0" dirty="0">
                <a:ln>
                  <a:noFill/>
                </a:ln>
                <a:solidFill>
                  <a:srgbClr val="34373F"/>
                </a:solidFill>
                <a:effectLst/>
                <a:uLnTx/>
                <a:uFillTx/>
                <a:latin typeface="Segoe UI"/>
                <a:cs typeface="Segoe UI"/>
              </a:rPr>
              <a:t>misdiagnosis/comorbidity </a:t>
            </a:r>
            <a:r>
              <a:rPr lang="en-US" sz="1100" b="1" dirty="0">
                <a:solidFill>
                  <a:srgbClr val="34373F"/>
                </a:solidFill>
                <a:latin typeface="Segoe UI"/>
                <a:cs typeface="Segoe UI"/>
              </a:rPr>
              <a:t>pathway</a:t>
            </a:r>
            <a:r>
              <a:rPr lang="en-US" sz="1100" dirty="0">
                <a:solidFill>
                  <a:srgbClr val="34373F"/>
                </a:solidFill>
                <a:latin typeface="Segoe UI"/>
                <a:cs typeface="Segoe UI"/>
              </a:rPr>
              <a:t>—moving </a:t>
            </a:r>
            <a:r>
              <a:rPr kumimoji="0" lang="en-US" sz="1100" b="0" i="0" u="none" strike="noStrike" kern="1200" cap="none" spc="0" normalizeH="0" baseline="0" noProof="0" dirty="0">
                <a:ln>
                  <a:noFill/>
                </a:ln>
                <a:solidFill>
                  <a:srgbClr val="34373F"/>
                </a:solidFill>
                <a:effectLst/>
                <a:uLnTx/>
                <a:uFillTx/>
                <a:latin typeface="Segoe UI"/>
                <a:cs typeface="Segoe UI"/>
              </a:rPr>
              <a:t>from </a:t>
            </a:r>
            <a:r>
              <a:rPr kumimoji="0" lang="en-US" sz="1100" b="1" i="0" u="none" strike="noStrike" kern="1200" cap="none" spc="0" normalizeH="0" baseline="0" noProof="0" dirty="0">
                <a:ln>
                  <a:noFill/>
                </a:ln>
                <a:solidFill>
                  <a:srgbClr val="34373F"/>
                </a:solidFill>
                <a:effectLst/>
                <a:uLnTx/>
                <a:uFillTx/>
                <a:latin typeface="Segoe UI"/>
                <a:cs typeface="Segoe UI"/>
              </a:rPr>
              <a:t>fatigue</a:t>
            </a:r>
            <a:r>
              <a:rPr lang="en-US" sz="1100" b="1" dirty="0">
                <a:solidFill>
                  <a:srgbClr val="34373F"/>
                </a:solidFill>
                <a:latin typeface="Segoe UI"/>
                <a:cs typeface="Segoe UI"/>
              </a:rPr>
              <a:t>/anxiety-driven presentations </a:t>
            </a:r>
            <a:r>
              <a:rPr lang="en-US" sz="1100" dirty="0">
                <a:solidFill>
                  <a:srgbClr val="34373F"/>
                </a:solidFill>
                <a:latin typeface="Segoe UI"/>
                <a:cs typeface="Segoe UI"/>
              </a:rPr>
              <a:t>to</a:t>
            </a:r>
            <a:r>
              <a:rPr lang="en-US" sz="1100" b="1" dirty="0">
                <a:solidFill>
                  <a:srgbClr val="34373F"/>
                </a:solidFill>
                <a:latin typeface="Segoe UI"/>
                <a:cs typeface="Segoe UI"/>
              </a:rPr>
              <a:t> </a:t>
            </a:r>
            <a:r>
              <a:rPr kumimoji="0" lang="en-US" sz="1100" b="1" i="0" u="none" strike="noStrike" kern="1200" cap="none" spc="0" normalizeH="0" baseline="0" noProof="0" dirty="0">
                <a:ln>
                  <a:noFill/>
                </a:ln>
                <a:solidFill>
                  <a:srgbClr val="34373F"/>
                </a:solidFill>
                <a:effectLst/>
                <a:uLnTx/>
                <a:uFillTx/>
                <a:latin typeface="Segoe UI"/>
                <a:cs typeface="Segoe UI"/>
              </a:rPr>
              <a:t>neurological misclassification</a:t>
            </a:r>
            <a:r>
              <a:rPr kumimoji="0" lang="en-US" sz="1100" b="0" i="0" u="none" strike="noStrike" kern="1200" cap="none" spc="0" normalizeH="0" baseline="0" noProof="0" dirty="0">
                <a:ln>
                  <a:noFill/>
                </a:ln>
                <a:solidFill>
                  <a:srgbClr val="34373F"/>
                </a:solidFill>
                <a:effectLst/>
                <a:uLnTx/>
                <a:uFillTx/>
                <a:latin typeface="Segoe UI"/>
                <a:cs typeface="Segoe UI"/>
              </a:rPr>
              <a:t>, before converging on </a:t>
            </a:r>
            <a:r>
              <a:rPr kumimoji="0" lang="en-US" sz="1100" b="1" i="0" u="none" strike="noStrike" kern="1200" cap="none" spc="0" normalizeH="0" baseline="0" noProof="0" dirty="0">
                <a:ln>
                  <a:noFill/>
                </a:ln>
                <a:solidFill>
                  <a:srgbClr val="34373F"/>
                </a:solidFill>
                <a:effectLst/>
                <a:uLnTx/>
                <a:uFillTx/>
                <a:latin typeface="Segoe UI"/>
                <a:cs typeface="Segoe UI"/>
              </a:rPr>
              <a:t>Sleep Apnea</a:t>
            </a:r>
            <a:r>
              <a:rPr lang="en-US" sz="1100" b="1" dirty="0">
                <a:solidFill>
                  <a:srgbClr val="34373F"/>
                </a:solidFill>
                <a:latin typeface="Segoe UI"/>
                <a:cs typeface="Segoe UI"/>
              </a:rPr>
              <a:t>/</a:t>
            </a:r>
            <a:r>
              <a:rPr kumimoji="0" lang="en-US" sz="1100" b="1" i="0" u="none" strike="noStrike" kern="1200" cap="none" spc="0" normalizeH="0" baseline="0" noProof="0" dirty="0">
                <a:ln>
                  <a:noFill/>
                </a:ln>
                <a:solidFill>
                  <a:srgbClr val="34373F"/>
                </a:solidFill>
                <a:effectLst/>
                <a:uLnTx/>
                <a:uFillTx/>
                <a:latin typeface="Segoe UI"/>
                <a:cs typeface="Segoe UI"/>
              </a:rPr>
              <a:t>Sleep </a:t>
            </a:r>
            <a:r>
              <a:rPr lang="en-US" sz="1100" b="1" dirty="0">
                <a:solidFill>
                  <a:srgbClr val="34373F"/>
                </a:solidFill>
                <a:latin typeface="Segoe UI"/>
                <a:cs typeface="Segoe UI"/>
              </a:rPr>
              <a:t>Disorders as the final gateway </a:t>
            </a:r>
            <a:r>
              <a:rPr kumimoji="0" lang="en-US" sz="1100" b="1" i="0" u="none" strike="noStrike" kern="1200" cap="none" spc="0" normalizeH="0" baseline="0" noProof="0" dirty="0">
                <a:ln>
                  <a:noFill/>
                </a:ln>
                <a:solidFill>
                  <a:srgbClr val="34373F"/>
                </a:solidFill>
                <a:effectLst/>
                <a:uLnTx/>
                <a:uFillTx/>
                <a:latin typeface="Segoe UI"/>
                <a:cs typeface="Segoe UI"/>
              </a:rPr>
              <a:t>to NT </a:t>
            </a:r>
            <a:r>
              <a:rPr lang="en-US" sz="1100" b="1" dirty="0">
                <a:solidFill>
                  <a:srgbClr val="34373F"/>
                </a:solidFill>
                <a:latin typeface="Segoe UI"/>
                <a:cs typeface="Segoe UI"/>
              </a:rPr>
              <a:t>diagnosis</a:t>
            </a:r>
            <a:r>
              <a:rPr kumimoji="0" lang="en-US" sz="1100" b="1" i="0" u="none" strike="noStrike" kern="1200" cap="none" spc="0" normalizeH="0" baseline="0" noProof="0" dirty="0">
                <a:ln>
                  <a:noFill/>
                </a:ln>
                <a:solidFill>
                  <a:srgbClr val="34373F"/>
                </a:solidFill>
                <a:effectLst/>
                <a:uLnTx/>
                <a:uFillTx/>
                <a:latin typeface="Segoe UI"/>
                <a:cs typeface="Segoe UI"/>
              </a:rPr>
              <a:t>.</a:t>
            </a:r>
            <a:endParaRPr lang="en-US" sz="1100" b="1" dirty="0">
              <a:latin typeface="Segoe UI"/>
              <a:cs typeface="Segoe UI"/>
            </a:endParaRPr>
          </a:p>
          <a:p>
            <a:pPr marL="285750" lvl="0" indent="-285750">
              <a:spcBef>
                <a:spcPts val="600"/>
              </a:spcBef>
              <a:buFont typeface="Arial" panose="020B0604020202020204" pitchFamily="34" charset="0"/>
              <a:buChar char="•"/>
              <a:defRPr/>
            </a:pPr>
            <a:r>
              <a:rPr lang="en-US" sz="1200" b="1" dirty="0">
                <a:solidFill>
                  <a:srgbClr val="34373F"/>
                </a:solidFill>
              </a:rPr>
              <a:t>Anxiety Disorder (359 days), Mood Disorder (361 days), ADHD (346 days), and Sleep Apnea (344 days) </a:t>
            </a:r>
            <a:r>
              <a:rPr lang="en-US" sz="1200" dirty="0">
                <a:solidFill>
                  <a:srgbClr val="34373F"/>
                </a:solidFill>
              </a:rPr>
              <a:t>are the most common high-delay misdiagnosis pathways, contributing significantly to prolonged diagnosis timelines and delayed treatment initiation.</a:t>
            </a:r>
          </a:p>
        </p:txBody>
      </p:sp>
      <p:grpSp>
        <p:nvGrpSpPr>
          <p:cNvPr id="29" name="Group 28">
            <a:extLst>
              <a:ext uri="{FF2B5EF4-FFF2-40B4-BE49-F238E27FC236}">
                <a16:creationId xmlns:a16="http://schemas.microsoft.com/office/drawing/2014/main" id="{2B6F70C6-6B78-E1D6-A94C-EF589C7557B4}"/>
              </a:ext>
            </a:extLst>
          </p:cNvPr>
          <p:cNvGrpSpPr/>
          <p:nvPr/>
        </p:nvGrpSpPr>
        <p:grpSpPr>
          <a:xfrm>
            <a:off x="1" y="2096849"/>
            <a:ext cx="1617784" cy="877305"/>
            <a:chOff x="1" y="1807330"/>
            <a:chExt cx="1617784" cy="877305"/>
          </a:xfrm>
        </p:grpSpPr>
        <p:sp>
          <p:nvSpPr>
            <p:cNvPr id="7" name="Title 1">
              <a:extLst>
                <a:ext uri="{FF2B5EF4-FFF2-40B4-BE49-F238E27FC236}">
                  <a16:creationId xmlns:a16="http://schemas.microsoft.com/office/drawing/2014/main" id="{885C1037-E2E1-5DD9-2F36-01EA5856F37B}"/>
                </a:ext>
              </a:extLst>
            </p:cNvPr>
            <p:cNvSpPr txBox="1">
              <a:spLocks/>
            </p:cNvSpPr>
            <p:nvPr/>
          </p:nvSpPr>
          <p:spPr>
            <a:xfrm>
              <a:off x="373521" y="1908225"/>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9" name="Title 1">
              <a:extLst>
                <a:ext uri="{FF2B5EF4-FFF2-40B4-BE49-F238E27FC236}">
                  <a16:creationId xmlns:a16="http://schemas.microsoft.com/office/drawing/2014/main" id="{F67ED552-8A13-AAE1-9A08-ADCFF4AAE565}"/>
                </a:ext>
              </a:extLst>
            </p:cNvPr>
            <p:cNvSpPr txBox="1">
              <a:spLocks/>
            </p:cNvSpPr>
            <p:nvPr/>
          </p:nvSpPr>
          <p:spPr>
            <a:xfrm>
              <a:off x="1" y="1807330"/>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Misdiagnosis Journey</a:t>
              </a:r>
            </a:p>
          </p:txBody>
        </p:sp>
      </p:grpSp>
      <p:sp>
        <p:nvSpPr>
          <p:cNvPr id="10" name="Rectangle 9">
            <a:extLst>
              <a:ext uri="{FF2B5EF4-FFF2-40B4-BE49-F238E27FC236}">
                <a16:creationId xmlns:a16="http://schemas.microsoft.com/office/drawing/2014/main" id="{80FF03C6-3022-8021-6F11-353E67178A9D}"/>
              </a:ext>
            </a:extLst>
          </p:cNvPr>
          <p:cNvSpPr/>
          <p:nvPr/>
        </p:nvSpPr>
        <p:spPr>
          <a:xfrm>
            <a:off x="7939333" y="1480076"/>
            <a:ext cx="4138367" cy="211084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5750" indent="-285750">
              <a:spcBef>
                <a:spcPts val="600"/>
              </a:spcBef>
              <a:buFont typeface="Arial" panose="020B0604020202020204" pitchFamily="34" charset="0"/>
              <a:buChar char="•"/>
            </a:pPr>
            <a:r>
              <a:rPr lang="en-US" sz="1200">
                <a:solidFill>
                  <a:schemeClr val="tx1"/>
                </a:solidFill>
                <a:cs typeface="Poppins"/>
              </a:rPr>
              <a:t>Prioritize sleep disorder stage HCPs as the key intervention point given proximity to diagnosis</a:t>
            </a:r>
            <a:endParaRPr lang="en-US" sz="1200">
              <a:solidFill>
                <a:schemeClr val="tx1"/>
              </a:solidFill>
              <a:ea typeface="Calibri"/>
              <a:cs typeface="Poppins"/>
            </a:endParaRPr>
          </a:p>
          <a:p>
            <a:pPr marL="285750" indent="-285750">
              <a:spcBef>
                <a:spcPts val="600"/>
              </a:spcBef>
              <a:buFont typeface="Arial" panose="020B0604020202020204" pitchFamily="34" charset="0"/>
              <a:buChar char="•"/>
            </a:pPr>
            <a:r>
              <a:rPr lang="en-US" sz="1200">
                <a:solidFill>
                  <a:schemeClr val="tx1"/>
                </a:solidFill>
                <a:ea typeface="Calibri"/>
                <a:cs typeface="Poppins"/>
              </a:rPr>
              <a:t>Selectively shift upstream engagement to misdiagnosed cohorts where delay accumulation is highest</a:t>
            </a:r>
          </a:p>
          <a:p>
            <a:pPr marL="285750" indent="-285750">
              <a:spcBef>
                <a:spcPts val="600"/>
              </a:spcBef>
              <a:buFont typeface="Arial" panose="020B0604020202020204" pitchFamily="34" charset="0"/>
              <a:buChar char="•"/>
            </a:pPr>
            <a:r>
              <a:rPr lang="en-US" sz="1200">
                <a:solidFill>
                  <a:schemeClr val="tx1"/>
                </a:solidFill>
                <a:ea typeface="League Spartan" charset="0"/>
                <a:cs typeface="Poppins" pitchFamily="2" charset="77"/>
              </a:rPr>
              <a:t>Build geographically distinct launch strategies. </a:t>
            </a:r>
            <a:r>
              <a:rPr lang="en-US" sz="1200" b="1">
                <a:solidFill>
                  <a:schemeClr val="tx1"/>
                </a:solidFill>
                <a:ea typeface="League Spartan" charset="0"/>
                <a:cs typeface="Poppins" pitchFamily="2" charset="77"/>
              </a:rPr>
              <a:t>NM and central states warrant pre-diagnosis awareness investment </a:t>
            </a:r>
            <a:r>
              <a:rPr lang="en-US" sz="1200">
                <a:solidFill>
                  <a:schemeClr val="tx1"/>
                </a:solidFill>
                <a:ea typeface="League Spartan" charset="0"/>
                <a:cs typeface="Poppins" pitchFamily="2" charset="77"/>
              </a:rPr>
              <a:t>to shorten the diagnostic loop</a:t>
            </a:r>
            <a:r>
              <a:rPr lang="en-US" sz="1200" b="1">
                <a:solidFill>
                  <a:schemeClr val="tx1"/>
                </a:solidFill>
                <a:ea typeface="League Spartan" charset="0"/>
                <a:cs typeface="Poppins" pitchFamily="2" charset="77"/>
              </a:rPr>
              <a:t>. VT, ME, and NE require post-diagnosis treatment activation focus </a:t>
            </a:r>
            <a:r>
              <a:rPr lang="en-US" sz="1200">
                <a:solidFill>
                  <a:schemeClr val="tx1"/>
                </a:solidFill>
                <a:ea typeface="League Spartan" charset="0"/>
                <a:cs typeface="Poppins" pitchFamily="2" charset="77"/>
              </a:rPr>
              <a:t>to close the gap between NT identification and </a:t>
            </a:r>
            <a:r>
              <a:rPr lang="en-US" sz="1200" err="1">
                <a:solidFill>
                  <a:schemeClr val="tx1"/>
                </a:solidFill>
                <a:ea typeface="League Spartan" charset="0"/>
                <a:cs typeface="Poppins" pitchFamily="2" charset="77"/>
              </a:rPr>
              <a:t>oveporexton</a:t>
            </a:r>
            <a:r>
              <a:rPr lang="en-US" sz="1200">
                <a:solidFill>
                  <a:schemeClr val="tx1"/>
                </a:solidFill>
                <a:ea typeface="League Spartan" charset="0"/>
                <a:cs typeface="Poppins" pitchFamily="2" charset="77"/>
              </a:rPr>
              <a:t> initiation.</a:t>
            </a:r>
            <a:endParaRPr lang="en-US" sz="1200">
              <a:solidFill>
                <a:srgbClr val="34373F"/>
              </a:solidFill>
              <a:ea typeface="League Spartan" charset="0"/>
              <a:cs typeface="Poppins" pitchFamily="2" charset="77"/>
            </a:endParaRPr>
          </a:p>
        </p:txBody>
      </p:sp>
      <p:sp>
        <p:nvSpPr>
          <p:cNvPr id="11" name="Rectangle 10">
            <a:extLst>
              <a:ext uri="{FF2B5EF4-FFF2-40B4-BE49-F238E27FC236}">
                <a16:creationId xmlns:a16="http://schemas.microsoft.com/office/drawing/2014/main" id="{7698FBBB-91BE-9507-863F-828730940643}"/>
              </a:ext>
            </a:extLst>
          </p:cNvPr>
          <p:cNvSpPr/>
          <p:nvPr/>
        </p:nvSpPr>
        <p:spPr>
          <a:xfrm>
            <a:off x="1705708" y="3693942"/>
            <a:ext cx="5932051" cy="170273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7338" indent="-287338">
              <a:buFont typeface="Arial" panose="020B0604020202020204" pitchFamily="34" charset="0"/>
              <a:buChar char="•"/>
              <a:defRPr/>
            </a:pPr>
            <a:r>
              <a:rPr lang="en-US" sz="1100">
                <a:solidFill>
                  <a:srgbClr val="34373F"/>
                </a:solidFill>
                <a:latin typeface="Segoe UI"/>
                <a:cs typeface="Segoe UI"/>
              </a:rPr>
              <a:t>Even among key specialties, routing efficiency is inconsistent: </a:t>
            </a:r>
            <a:r>
              <a:rPr lang="en-US" sz="1100" b="1">
                <a:solidFill>
                  <a:srgbClr val="34373F"/>
                </a:solidFill>
                <a:latin typeface="Segoe UI"/>
                <a:cs typeface="Segoe UI"/>
              </a:rPr>
              <a:t>~56% of Sleep Specialists successfully route to correct endpoints vs ~40% for others</a:t>
            </a:r>
            <a:endParaRPr lang="en-US"/>
          </a:p>
          <a:p>
            <a:pPr marL="285750" indent="-285750">
              <a:spcBef>
                <a:spcPts val="600"/>
              </a:spcBef>
              <a:buFont typeface="Arial" panose="020B0604020202020204" pitchFamily="34" charset="0"/>
              <a:buChar char="•"/>
              <a:defRPr/>
            </a:pPr>
            <a:r>
              <a:rPr lang="en-US" sz="1100" b="1">
                <a:solidFill>
                  <a:srgbClr val="34373F"/>
                </a:solidFill>
                <a:latin typeface="Segoe UI"/>
                <a:ea typeface="Calibri"/>
                <a:cs typeface="Segoe UI"/>
              </a:rPr>
              <a:t>15–22% of HCPs fail to reroute patients entirely</a:t>
            </a:r>
            <a:r>
              <a:rPr lang="en-US" sz="1100">
                <a:solidFill>
                  <a:srgbClr val="34373F"/>
                </a:solidFill>
                <a:latin typeface="Segoe UI"/>
                <a:ea typeface="Calibri"/>
                <a:cs typeface="Segoe UI"/>
              </a:rPr>
              <a:t>, creating drop-offs in the pathway</a:t>
            </a:r>
            <a:endParaRPr lang="en-US" sz="1200" b="1">
              <a:solidFill>
                <a:srgbClr val="34373F"/>
              </a:solidFill>
              <a:ea typeface="Calibri"/>
              <a:cs typeface="Calibri"/>
            </a:endParaRPr>
          </a:p>
          <a:p>
            <a:pPr marL="285750" indent="-285750">
              <a:spcBef>
                <a:spcPts val="600"/>
              </a:spcBef>
              <a:buFont typeface="Arial" panose="020B0604020202020204" pitchFamily="34" charset="0"/>
              <a:buChar char="•"/>
              <a:defRPr/>
            </a:pPr>
            <a:r>
              <a:rPr lang="en-US" sz="1200" b="1">
                <a:solidFill>
                  <a:srgbClr val="34373F"/>
                </a:solidFill>
                <a:latin typeface="Calibri"/>
                <a:ea typeface="Calibri"/>
                <a:cs typeface="Calibri"/>
              </a:rPr>
              <a:t>Psychiatrists and Psychologists are the primary contributors to diagnostic delay </a:t>
            </a:r>
            <a:r>
              <a:rPr lang="en-US" sz="1200">
                <a:solidFill>
                  <a:srgbClr val="34373F"/>
                </a:solidFill>
                <a:latin typeface="Calibri"/>
                <a:ea typeface="Calibri"/>
                <a:cs typeface="Calibri"/>
              </a:rPr>
              <a:t>across most major misdiagnosis pathways</a:t>
            </a:r>
            <a:endParaRPr lang="en-US" sz="1100">
              <a:solidFill>
                <a:srgbClr val="34373F"/>
              </a:solidFill>
              <a:latin typeface="Segoe UI"/>
              <a:ea typeface="Calibri"/>
              <a:cs typeface="Segoe UI"/>
            </a:endParaRPr>
          </a:p>
          <a:p>
            <a:pPr marL="285750" indent="-285750">
              <a:spcBef>
                <a:spcPts val="600"/>
              </a:spcBef>
              <a:buFont typeface="Arial" panose="020B0604020202020204" pitchFamily="34" charset="0"/>
              <a:buChar char="•"/>
              <a:defRPr/>
            </a:pPr>
            <a:r>
              <a:rPr lang="en-US" sz="1100">
                <a:solidFill>
                  <a:srgbClr val="34373F"/>
                </a:solidFill>
                <a:latin typeface="Segoe UI"/>
                <a:ea typeface="Calibri"/>
                <a:cs typeface="Segoe UI"/>
              </a:rPr>
              <a:t>Leakage patterns are </a:t>
            </a:r>
            <a:r>
              <a:rPr lang="en-US" sz="1100" b="1">
                <a:solidFill>
                  <a:srgbClr val="34373F"/>
                </a:solidFill>
                <a:latin typeface="Segoe UI"/>
                <a:ea typeface="Calibri"/>
                <a:cs typeface="Segoe UI"/>
              </a:rPr>
              <a:t>consistent across specialties</a:t>
            </a:r>
            <a:r>
              <a:rPr lang="en-US" sz="1100">
                <a:solidFill>
                  <a:srgbClr val="34373F"/>
                </a:solidFill>
                <a:latin typeface="Segoe UI"/>
                <a:ea typeface="Calibri"/>
                <a:cs typeface="Segoe UI"/>
              </a:rPr>
              <a:t>, pointing to a systemic routing issue (not just generalists)</a:t>
            </a:r>
            <a:endParaRPr lang="en-US" sz="1200" b="1">
              <a:solidFill>
                <a:srgbClr val="34373F"/>
              </a:solidFill>
              <a:ea typeface="Calibri"/>
              <a:cs typeface="Calibri"/>
            </a:endParaRPr>
          </a:p>
        </p:txBody>
      </p:sp>
      <p:grpSp>
        <p:nvGrpSpPr>
          <p:cNvPr id="28" name="Group 27">
            <a:extLst>
              <a:ext uri="{FF2B5EF4-FFF2-40B4-BE49-F238E27FC236}">
                <a16:creationId xmlns:a16="http://schemas.microsoft.com/office/drawing/2014/main" id="{231D6D45-5D86-9FB9-CE88-15A4C3646A56}"/>
              </a:ext>
            </a:extLst>
          </p:cNvPr>
          <p:cNvGrpSpPr/>
          <p:nvPr/>
        </p:nvGrpSpPr>
        <p:grpSpPr>
          <a:xfrm>
            <a:off x="1" y="4106659"/>
            <a:ext cx="1617784" cy="877305"/>
            <a:chOff x="1" y="3589709"/>
            <a:chExt cx="1617784" cy="877305"/>
          </a:xfrm>
        </p:grpSpPr>
        <p:sp>
          <p:nvSpPr>
            <p:cNvPr id="12" name="Title 1">
              <a:extLst>
                <a:ext uri="{FF2B5EF4-FFF2-40B4-BE49-F238E27FC236}">
                  <a16:creationId xmlns:a16="http://schemas.microsoft.com/office/drawing/2014/main" id="{765A5878-98BF-7CF0-6B8D-3A291136BA17}"/>
                </a:ext>
              </a:extLst>
            </p:cNvPr>
            <p:cNvSpPr txBox="1">
              <a:spLocks/>
            </p:cNvSpPr>
            <p:nvPr/>
          </p:nvSpPr>
          <p:spPr>
            <a:xfrm>
              <a:off x="373521" y="3690604"/>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AE60E2B9-ED71-C4BE-28C6-FFE56FE3F61E}"/>
                </a:ext>
              </a:extLst>
            </p:cNvPr>
            <p:cNvSpPr txBox="1">
              <a:spLocks/>
            </p:cNvSpPr>
            <p:nvPr/>
          </p:nvSpPr>
          <p:spPr>
            <a:xfrm>
              <a:off x="1" y="3589709"/>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HCP Behavior Driving Delay</a:t>
              </a:r>
              <a:endPar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endParaRPr>
            </a:p>
          </p:txBody>
        </p:sp>
      </p:grpSp>
      <p:sp>
        <p:nvSpPr>
          <p:cNvPr id="20" name="Rectangle 19">
            <a:extLst>
              <a:ext uri="{FF2B5EF4-FFF2-40B4-BE49-F238E27FC236}">
                <a16:creationId xmlns:a16="http://schemas.microsoft.com/office/drawing/2014/main" id="{14D4AA2D-3075-1943-7B51-D5DFC7F50E57}"/>
              </a:ext>
            </a:extLst>
          </p:cNvPr>
          <p:cNvSpPr/>
          <p:nvPr/>
        </p:nvSpPr>
        <p:spPr>
          <a:xfrm>
            <a:off x="7939333" y="3693942"/>
            <a:ext cx="4138367" cy="170273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b="1">
                <a:solidFill>
                  <a:srgbClr val="34373F"/>
                </a:solidFill>
                <a:ea typeface="League Spartan" charset="0"/>
                <a:cs typeface="Poppins" pitchFamily="2" charset="77"/>
              </a:rPr>
              <a:t>Engage Psychiatrists and Psychologists earlier in the patient journey.</a:t>
            </a:r>
            <a:r>
              <a:rPr lang="en-US" sz="1200">
                <a:solidFill>
                  <a:srgbClr val="34373F"/>
                </a:solidFill>
                <a:ea typeface="League Spartan" charset="0"/>
                <a:cs typeface="Poppins" pitchFamily="2" charset="77"/>
              </a:rPr>
              <a:t> Focused education around NT symptom overlap, referral triggers, and escalation pathways can help reduce prolonged routing through psychiatric and behavioral diagnoses.</a:t>
            </a:r>
            <a:endParaRPr lang="en-US" sz="1200">
              <a:solidFill>
                <a:srgbClr val="34373F"/>
              </a:solidFill>
              <a:highlight>
                <a:srgbClr val="FFFF00"/>
              </a:highlight>
              <a:ea typeface="League Spartan" charset="0"/>
              <a:cs typeface="Poppins" pitchFamily="2" charset="77"/>
            </a:endParaRPr>
          </a:p>
        </p:txBody>
      </p:sp>
      <p:sp>
        <p:nvSpPr>
          <p:cNvPr id="24" name="Rectangle 23">
            <a:extLst>
              <a:ext uri="{FF2B5EF4-FFF2-40B4-BE49-F238E27FC236}">
                <a16:creationId xmlns:a16="http://schemas.microsoft.com/office/drawing/2014/main" id="{996E7EF0-F7AA-C631-C951-B6B692B6F4F2}"/>
              </a:ext>
            </a:extLst>
          </p:cNvPr>
          <p:cNvSpPr/>
          <p:nvPr/>
        </p:nvSpPr>
        <p:spPr>
          <a:xfrm>
            <a:off x="1705708" y="5499698"/>
            <a:ext cx="5932051" cy="1224951"/>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b="1">
                <a:solidFill>
                  <a:srgbClr val="34373F"/>
                </a:solidFill>
              </a:rPr>
              <a:t>5,023 HCPs function as sink nodes within the network</a:t>
            </a:r>
            <a:r>
              <a:rPr lang="en-US" sz="1200">
                <a:solidFill>
                  <a:srgbClr val="34373F"/>
                </a:solidFill>
              </a:rPr>
              <a:t>, receiving patients without progressing them toward referral, diagnosis, or treatment, resulting in substantial patient leakage across the NT journey.</a:t>
            </a:r>
          </a:p>
          <a:p>
            <a:pPr marL="285750" lvl="0" indent="-285750">
              <a:spcBef>
                <a:spcPts val="600"/>
              </a:spcBef>
              <a:buFont typeface="Arial" panose="020B0604020202020204" pitchFamily="34" charset="0"/>
              <a:buChar char="•"/>
              <a:defRPr/>
            </a:pPr>
            <a:r>
              <a:rPr lang="en-US" sz="1200" b="1">
                <a:solidFill>
                  <a:srgbClr val="34373F"/>
                </a:solidFill>
              </a:rPr>
              <a:t>Post-diagnosis leakage remains significant</a:t>
            </a:r>
            <a:r>
              <a:rPr lang="en-US" sz="1200">
                <a:solidFill>
                  <a:srgbClr val="34373F"/>
                </a:solidFill>
              </a:rPr>
              <a:t>. Of ~28.9k interacting HCPs, only 19.4k actively refer or manage NT-relevant treatment, while thousands of patients remain in non-specific care pathways or receive no further referrals following diagnosis.</a:t>
            </a:r>
          </a:p>
        </p:txBody>
      </p:sp>
      <p:grpSp>
        <p:nvGrpSpPr>
          <p:cNvPr id="23" name="Group 22">
            <a:extLst>
              <a:ext uri="{FF2B5EF4-FFF2-40B4-BE49-F238E27FC236}">
                <a16:creationId xmlns:a16="http://schemas.microsoft.com/office/drawing/2014/main" id="{A60BB20F-E5D6-E060-5830-7AE15215006A}"/>
              </a:ext>
            </a:extLst>
          </p:cNvPr>
          <p:cNvGrpSpPr/>
          <p:nvPr/>
        </p:nvGrpSpPr>
        <p:grpSpPr>
          <a:xfrm>
            <a:off x="1" y="5693857"/>
            <a:ext cx="1617784" cy="877305"/>
            <a:chOff x="1" y="5457553"/>
            <a:chExt cx="1617784" cy="877305"/>
          </a:xfrm>
        </p:grpSpPr>
        <p:sp>
          <p:nvSpPr>
            <p:cNvPr id="25" name="Title 1">
              <a:extLst>
                <a:ext uri="{FF2B5EF4-FFF2-40B4-BE49-F238E27FC236}">
                  <a16:creationId xmlns:a16="http://schemas.microsoft.com/office/drawing/2014/main" id="{7BE3997B-A474-0A0A-2D45-29F00B15CA58}"/>
                </a:ext>
              </a:extLst>
            </p:cNvPr>
            <p:cNvSpPr txBox="1">
              <a:spLocks/>
            </p:cNvSpPr>
            <p:nvPr/>
          </p:nvSpPr>
          <p:spPr>
            <a:xfrm>
              <a:off x="373521" y="5558448"/>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6" name="Title 1">
              <a:extLst>
                <a:ext uri="{FF2B5EF4-FFF2-40B4-BE49-F238E27FC236}">
                  <a16:creationId xmlns:a16="http://schemas.microsoft.com/office/drawing/2014/main" id="{6561690B-7A8B-9C13-FD7F-18DA83C3B8CF}"/>
                </a:ext>
              </a:extLst>
            </p:cNvPr>
            <p:cNvSpPr txBox="1">
              <a:spLocks/>
            </p:cNvSpPr>
            <p:nvPr/>
          </p:nvSpPr>
          <p:spPr>
            <a:xfrm>
              <a:off x="1" y="5457553"/>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Structural Leakage Points</a:t>
              </a:r>
            </a:p>
          </p:txBody>
        </p:sp>
      </p:grpSp>
      <p:sp>
        <p:nvSpPr>
          <p:cNvPr id="27" name="Rectangle 26">
            <a:extLst>
              <a:ext uri="{FF2B5EF4-FFF2-40B4-BE49-F238E27FC236}">
                <a16:creationId xmlns:a16="http://schemas.microsoft.com/office/drawing/2014/main" id="{07D1E519-44E0-AD62-9F85-A2A5619501F9}"/>
              </a:ext>
            </a:extLst>
          </p:cNvPr>
          <p:cNvSpPr/>
          <p:nvPr/>
        </p:nvSpPr>
        <p:spPr>
          <a:xfrm>
            <a:off x="7939333" y="5499698"/>
            <a:ext cx="4138367" cy="1224951"/>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b="1">
                <a:solidFill>
                  <a:schemeClr val="tx1"/>
                </a:solidFill>
                <a:ea typeface="League Spartan" charset="0"/>
                <a:cs typeface="Poppins" pitchFamily="2" charset="77"/>
              </a:rPr>
              <a:t>Activate sink nodes post-launch to reduce patient leakage. </a:t>
            </a:r>
            <a:r>
              <a:rPr lang="en-US" sz="1200">
                <a:solidFill>
                  <a:schemeClr val="tx1"/>
                </a:solidFill>
                <a:ea typeface="League Spartan" charset="0"/>
                <a:cs typeface="Poppins" pitchFamily="2" charset="77"/>
              </a:rPr>
              <a:t>Targeted education and referral enablement for passive HCP nodes can improve progression into the NT diagnosis and treatment ecosystem and strengthen referral continuity at scale.</a:t>
            </a:r>
            <a:endParaRPr lang="en-US" sz="1200">
              <a:solidFill>
                <a:srgbClr val="34373F"/>
              </a:solidFill>
              <a:ea typeface="League Spartan" charset="0"/>
              <a:cs typeface="Poppins" pitchFamily="2" charset="77"/>
            </a:endParaRPr>
          </a:p>
        </p:txBody>
      </p:sp>
      <p:grpSp>
        <p:nvGrpSpPr>
          <p:cNvPr id="4" name="Graphic 8">
            <a:extLst>
              <a:ext uri="{FF2B5EF4-FFF2-40B4-BE49-F238E27FC236}">
                <a16:creationId xmlns:a16="http://schemas.microsoft.com/office/drawing/2014/main" id="{CB72CBA8-AD35-8C02-1E41-990EE799A148}"/>
              </a:ext>
            </a:extLst>
          </p:cNvPr>
          <p:cNvGrpSpPr>
            <a:grpSpLocks/>
          </p:cNvGrpSpPr>
          <p:nvPr/>
        </p:nvGrpSpPr>
        <p:grpSpPr>
          <a:xfrm>
            <a:off x="518576" y="247314"/>
            <a:ext cx="543675" cy="561564"/>
            <a:chOff x="4171854" y="738099"/>
            <a:chExt cx="3853244" cy="4224425"/>
          </a:xfrm>
          <a:solidFill>
            <a:schemeClr val="tx1"/>
          </a:solidFill>
        </p:grpSpPr>
        <p:sp>
          <p:nvSpPr>
            <p:cNvPr id="5" name="Freeform: Shape 4">
              <a:extLst>
                <a:ext uri="{FF2B5EF4-FFF2-40B4-BE49-F238E27FC236}">
                  <a16:creationId xmlns:a16="http://schemas.microsoft.com/office/drawing/2014/main" id="{6046E905-5516-DD56-862F-E3641F772262}"/>
                </a:ext>
              </a:extLst>
            </p:cNvPr>
            <p:cNvSpPr/>
            <p:nvPr/>
          </p:nvSpPr>
          <p:spPr>
            <a:xfrm>
              <a:off x="5081873" y="1615725"/>
              <a:ext cx="1598299" cy="1170622"/>
            </a:xfrm>
            <a:custGeom>
              <a:avLst/>
              <a:gdLst>
                <a:gd name="connsiteX0" fmla="*/ 799147 w 1598299"/>
                <a:gd name="connsiteY0" fmla="*/ 1170623 h 1170622"/>
                <a:gd name="connsiteX1" fmla="*/ 429101 w 1598299"/>
                <a:gd name="connsiteY1" fmla="*/ 1044893 h 1170622"/>
                <a:gd name="connsiteX2" fmla="*/ 427863 w 1598299"/>
                <a:gd name="connsiteY2" fmla="*/ 1043940 h 1170622"/>
                <a:gd name="connsiteX3" fmla="*/ 0 w 1598299"/>
                <a:gd name="connsiteY3" fmla="*/ 54864 h 1170622"/>
                <a:gd name="connsiteX4" fmla="*/ 54864 w 1598299"/>
                <a:gd name="connsiteY4" fmla="*/ 0 h 1170622"/>
                <a:gd name="connsiteX5" fmla="*/ 109728 w 1598299"/>
                <a:gd name="connsiteY5" fmla="*/ 54864 h 1170622"/>
                <a:gd name="connsiteX6" fmla="*/ 493490 w 1598299"/>
                <a:gd name="connsiteY6" fmla="*/ 955929 h 1170622"/>
                <a:gd name="connsiteX7" fmla="*/ 493490 w 1598299"/>
                <a:gd name="connsiteY7" fmla="*/ 955929 h 1170622"/>
                <a:gd name="connsiteX8" fmla="*/ 494538 w 1598299"/>
                <a:gd name="connsiteY8" fmla="*/ 956691 h 1170622"/>
                <a:gd name="connsiteX9" fmla="*/ 799243 w 1598299"/>
                <a:gd name="connsiteY9" fmla="*/ 1060799 h 1170622"/>
                <a:gd name="connsiteX10" fmla="*/ 1103852 w 1598299"/>
                <a:gd name="connsiteY10" fmla="*/ 956786 h 1170622"/>
                <a:gd name="connsiteX11" fmla="*/ 1104900 w 1598299"/>
                <a:gd name="connsiteY11" fmla="*/ 956024 h 1170622"/>
                <a:gd name="connsiteX12" fmla="*/ 1104900 w 1598299"/>
                <a:gd name="connsiteY12" fmla="*/ 956024 h 1170622"/>
                <a:gd name="connsiteX13" fmla="*/ 1488567 w 1598299"/>
                <a:gd name="connsiteY13" fmla="*/ 73152 h 1170622"/>
                <a:gd name="connsiteX14" fmla="*/ 1543431 w 1598299"/>
                <a:gd name="connsiteY14" fmla="*/ 18955 h 1170622"/>
                <a:gd name="connsiteX15" fmla="*/ 1544098 w 1598299"/>
                <a:gd name="connsiteY15" fmla="*/ 18955 h 1170622"/>
                <a:gd name="connsiteX16" fmla="*/ 1598295 w 1598299"/>
                <a:gd name="connsiteY16" fmla="*/ 74486 h 1170622"/>
                <a:gd name="connsiteX17" fmla="*/ 1170623 w 1598299"/>
                <a:gd name="connsiteY17" fmla="*/ 1043940 h 1170622"/>
                <a:gd name="connsiteX18" fmla="*/ 1169289 w 1598299"/>
                <a:gd name="connsiteY18" fmla="*/ 1044893 h 1170622"/>
                <a:gd name="connsiteX19" fmla="*/ 799147 w 1598299"/>
                <a:gd name="connsiteY19" fmla="*/ 1170623 h 1170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98299" h="1170622">
                  <a:moveTo>
                    <a:pt x="799147" y="1170623"/>
                  </a:moveTo>
                  <a:cubicBezTo>
                    <a:pt x="670370" y="1170623"/>
                    <a:pt x="542354" y="1127189"/>
                    <a:pt x="429101" y="1044893"/>
                  </a:cubicBezTo>
                  <a:cubicBezTo>
                    <a:pt x="428720" y="1044607"/>
                    <a:pt x="428244" y="1044321"/>
                    <a:pt x="427863" y="1043940"/>
                  </a:cubicBezTo>
                  <a:cubicBezTo>
                    <a:pt x="163925" y="851154"/>
                    <a:pt x="0" y="472345"/>
                    <a:pt x="0" y="54864"/>
                  </a:cubicBezTo>
                  <a:cubicBezTo>
                    <a:pt x="0" y="24575"/>
                    <a:pt x="24575" y="0"/>
                    <a:pt x="54864" y="0"/>
                  </a:cubicBezTo>
                  <a:cubicBezTo>
                    <a:pt x="85154" y="0"/>
                    <a:pt x="109728" y="24575"/>
                    <a:pt x="109728" y="54864"/>
                  </a:cubicBezTo>
                  <a:cubicBezTo>
                    <a:pt x="109728" y="438436"/>
                    <a:pt x="256794" y="783717"/>
                    <a:pt x="493490" y="955929"/>
                  </a:cubicBezTo>
                  <a:lnTo>
                    <a:pt x="493490" y="955929"/>
                  </a:lnTo>
                  <a:cubicBezTo>
                    <a:pt x="493871" y="956215"/>
                    <a:pt x="494157" y="956405"/>
                    <a:pt x="494538" y="956691"/>
                  </a:cubicBezTo>
                  <a:cubicBezTo>
                    <a:pt x="590074" y="1025747"/>
                    <a:pt x="692563" y="1060799"/>
                    <a:pt x="799243" y="1060799"/>
                  </a:cubicBezTo>
                  <a:cubicBezTo>
                    <a:pt x="906018" y="1060799"/>
                    <a:pt x="1008507" y="1025843"/>
                    <a:pt x="1103852" y="956786"/>
                  </a:cubicBezTo>
                  <a:cubicBezTo>
                    <a:pt x="1104233" y="956501"/>
                    <a:pt x="1104614" y="956215"/>
                    <a:pt x="1104900" y="956024"/>
                  </a:cubicBezTo>
                  <a:lnTo>
                    <a:pt x="1104900" y="956024"/>
                  </a:lnTo>
                  <a:cubicBezTo>
                    <a:pt x="1337024" y="787241"/>
                    <a:pt x="1483995" y="448913"/>
                    <a:pt x="1488567" y="73152"/>
                  </a:cubicBezTo>
                  <a:cubicBezTo>
                    <a:pt x="1488948" y="43053"/>
                    <a:pt x="1513427" y="18955"/>
                    <a:pt x="1543431" y="18955"/>
                  </a:cubicBezTo>
                  <a:cubicBezTo>
                    <a:pt x="1543622" y="18955"/>
                    <a:pt x="1543907" y="18955"/>
                    <a:pt x="1544098" y="18955"/>
                  </a:cubicBezTo>
                  <a:cubicBezTo>
                    <a:pt x="1574387" y="19336"/>
                    <a:pt x="1598676" y="44196"/>
                    <a:pt x="1598295" y="74486"/>
                  </a:cubicBezTo>
                  <a:cubicBezTo>
                    <a:pt x="1593247" y="483584"/>
                    <a:pt x="1429417" y="854869"/>
                    <a:pt x="1170623" y="1043940"/>
                  </a:cubicBezTo>
                  <a:cubicBezTo>
                    <a:pt x="1170146" y="1044226"/>
                    <a:pt x="1169765" y="1044607"/>
                    <a:pt x="1169289" y="1044893"/>
                  </a:cubicBezTo>
                  <a:cubicBezTo>
                    <a:pt x="1056132" y="1127189"/>
                    <a:pt x="928116" y="1170623"/>
                    <a:pt x="799147" y="1170623"/>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9081A231-D17F-47F3-48E2-96ECB131B9AD}"/>
                </a:ext>
              </a:extLst>
            </p:cNvPr>
            <p:cNvSpPr/>
            <p:nvPr/>
          </p:nvSpPr>
          <p:spPr>
            <a:xfrm>
              <a:off x="5081778" y="1362431"/>
              <a:ext cx="1598209" cy="382166"/>
            </a:xfrm>
            <a:custGeom>
              <a:avLst/>
              <a:gdLst>
                <a:gd name="connsiteX0" fmla="*/ 1543526 w 1598209"/>
                <a:gd name="connsiteY0" fmla="*/ 382167 h 382166"/>
                <a:gd name="connsiteX1" fmla="*/ 1536287 w 1598209"/>
                <a:gd name="connsiteY1" fmla="*/ 381691 h 382166"/>
                <a:gd name="connsiteX2" fmla="*/ 1049464 w 1598209"/>
                <a:gd name="connsiteY2" fmla="*/ 317206 h 382166"/>
                <a:gd name="connsiteX3" fmla="*/ 1033748 w 1598209"/>
                <a:gd name="connsiteY3" fmla="*/ 312634 h 382166"/>
                <a:gd name="connsiteX4" fmla="*/ 603885 w 1598209"/>
                <a:gd name="connsiteY4" fmla="*/ 115181 h 382166"/>
                <a:gd name="connsiteX5" fmla="*/ 77819 w 1598209"/>
                <a:gd name="connsiteY5" fmla="*/ 358069 h 382166"/>
                <a:gd name="connsiteX6" fmla="*/ 5048 w 1598209"/>
                <a:gd name="connsiteY6" fmla="*/ 331303 h 382166"/>
                <a:gd name="connsiteX7" fmla="*/ 31813 w 1598209"/>
                <a:gd name="connsiteY7" fmla="*/ 258532 h 382166"/>
                <a:gd name="connsiteX8" fmla="*/ 580739 w 1598209"/>
                <a:gd name="connsiteY8" fmla="*/ 5072 h 382166"/>
                <a:gd name="connsiteX9" fmla="*/ 626649 w 1598209"/>
                <a:gd name="connsiteY9" fmla="*/ 5072 h 382166"/>
                <a:gd name="connsiteX10" fmla="*/ 1071943 w 1598209"/>
                <a:gd name="connsiteY10" fmla="*/ 209574 h 382166"/>
                <a:gd name="connsiteX11" fmla="*/ 1550574 w 1598209"/>
                <a:gd name="connsiteY11" fmla="*/ 273010 h 382166"/>
                <a:gd name="connsiteX12" fmla="*/ 1597723 w 1598209"/>
                <a:gd name="connsiteY12" fmla="*/ 334637 h 382166"/>
                <a:gd name="connsiteX13" fmla="*/ 1543526 w 1598209"/>
                <a:gd name="connsiteY13" fmla="*/ 382167 h 38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98209" h="382166">
                  <a:moveTo>
                    <a:pt x="1543526" y="382167"/>
                  </a:moveTo>
                  <a:cubicBezTo>
                    <a:pt x="1541145" y="382167"/>
                    <a:pt x="1538668" y="381976"/>
                    <a:pt x="1536287" y="381691"/>
                  </a:cubicBezTo>
                  <a:lnTo>
                    <a:pt x="1049464" y="317206"/>
                  </a:lnTo>
                  <a:cubicBezTo>
                    <a:pt x="1044035" y="316444"/>
                    <a:pt x="1038701" y="314920"/>
                    <a:pt x="1033748" y="312634"/>
                  </a:cubicBezTo>
                  <a:lnTo>
                    <a:pt x="603885" y="115181"/>
                  </a:lnTo>
                  <a:lnTo>
                    <a:pt x="77819" y="358069"/>
                  </a:lnTo>
                  <a:cubicBezTo>
                    <a:pt x="50292" y="370737"/>
                    <a:pt x="17716" y="358735"/>
                    <a:pt x="5048" y="331303"/>
                  </a:cubicBezTo>
                  <a:cubicBezTo>
                    <a:pt x="-7620" y="303776"/>
                    <a:pt x="4381" y="271201"/>
                    <a:pt x="31813" y="258532"/>
                  </a:cubicBezTo>
                  <a:lnTo>
                    <a:pt x="580739" y="5072"/>
                  </a:lnTo>
                  <a:cubicBezTo>
                    <a:pt x="595312" y="-1691"/>
                    <a:pt x="612076" y="-1691"/>
                    <a:pt x="626649" y="5072"/>
                  </a:cubicBezTo>
                  <a:lnTo>
                    <a:pt x="1071943" y="209574"/>
                  </a:lnTo>
                  <a:lnTo>
                    <a:pt x="1550574" y="273010"/>
                  </a:lnTo>
                  <a:cubicBezTo>
                    <a:pt x="1580578" y="277011"/>
                    <a:pt x="1601724" y="304538"/>
                    <a:pt x="1597723" y="334637"/>
                  </a:cubicBezTo>
                  <a:cubicBezTo>
                    <a:pt x="1594199" y="362069"/>
                    <a:pt x="1570672" y="382167"/>
                    <a:pt x="1543526" y="382167"/>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7B2AE15B-43BB-88B4-F1E3-F101A18C7CFC}"/>
                </a:ext>
              </a:extLst>
            </p:cNvPr>
            <p:cNvSpPr/>
            <p:nvPr/>
          </p:nvSpPr>
          <p:spPr>
            <a:xfrm>
              <a:off x="4171854" y="2561236"/>
              <a:ext cx="3059965" cy="2192405"/>
            </a:xfrm>
            <a:custGeom>
              <a:avLst/>
              <a:gdLst>
                <a:gd name="connsiteX0" fmla="*/ 2481453 w 3059965"/>
                <a:gd name="connsiteY0" fmla="*/ 2192405 h 2192405"/>
                <a:gd name="connsiteX1" fmla="*/ 54864 w 3059965"/>
                <a:gd name="connsiteY1" fmla="*/ 2192405 h 2192405"/>
                <a:gd name="connsiteX2" fmla="*/ 0 w 3059965"/>
                <a:gd name="connsiteY2" fmla="*/ 2137541 h 2192405"/>
                <a:gd name="connsiteX3" fmla="*/ 0 w 3059965"/>
                <a:gd name="connsiteY3" fmla="*/ 1537657 h 2192405"/>
                <a:gd name="connsiteX4" fmla="*/ 202883 w 3059965"/>
                <a:gd name="connsiteY4" fmla="*/ 920913 h 2192405"/>
                <a:gd name="connsiteX5" fmla="*/ 732377 w 3059965"/>
                <a:gd name="connsiteY5" fmla="*/ 545152 h 2192405"/>
                <a:gd name="connsiteX6" fmla="*/ 1241870 w 3059965"/>
                <a:gd name="connsiteY6" fmla="*/ 393418 h 2192405"/>
                <a:gd name="connsiteX7" fmla="*/ 1317593 w 3059965"/>
                <a:gd name="connsiteY7" fmla="*/ 43279 h 2192405"/>
                <a:gd name="connsiteX8" fmla="*/ 1382840 w 3059965"/>
                <a:gd name="connsiteY8" fmla="*/ 1274 h 2192405"/>
                <a:gd name="connsiteX9" fmla="*/ 1424845 w 3059965"/>
                <a:gd name="connsiteY9" fmla="*/ 66520 h 2192405"/>
                <a:gd name="connsiteX10" fmla="*/ 1342168 w 3059965"/>
                <a:gd name="connsiteY10" fmla="*/ 448378 h 2192405"/>
                <a:gd name="connsiteX11" fmla="*/ 1304163 w 3059965"/>
                <a:gd name="connsiteY11" fmla="*/ 489335 h 2192405"/>
                <a:gd name="connsiteX12" fmla="*/ 764096 w 3059965"/>
                <a:gd name="connsiteY12" fmla="*/ 650212 h 2192405"/>
                <a:gd name="connsiteX13" fmla="*/ 109633 w 3059965"/>
                <a:gd name="connsiteY13" fmla="*/ 1537657 h 2192405"/>
                <a:gd name="connsiteX14" fmla="*/ 109633 w 3059965"/>
                <a:gd name="connsiteY14" fmla="*/ 2082677 h 2192405"/>
                <a:gd name="connsiteX15" fmla="*/ 2481358 w 3059965"/>
                <a:gd name="connsiteY15" fmla="*/ 2082677 h 2192405"/>
                <a:gd name="connsiteX16" fmla="*/ 2536222 w 3059965"/>
                <a:gd name="connsiteY16" fmla="*/ 2137541 h 2192405"/>
                <a:gd name="connsiteX17" fmla="*/ 2481453 w 3059965"/>
                <a:gd name="connsiteY17" fmla="*/ 2192405 h 2192405"/>
                <a:gd name="connsiteX18" fmla="*/ 3005138 w 3059965"/>
                <a:gd name="connsiteY18" fmla="*/ 833188 h 2192405"/>
                <a:gd name="connsiteX19" fmla="*/ 2970276 w 3059965"/>
                <a:gd name="connsiteY19" fmla="*/ 820710 h 2192405"/>
                <a:gd name="connsiteX20" fmla="*/ 2653665 w 3059965"/>
                <a:gd name="connsiteY20" fmla="*/ 650117 h 2192405"/>
                <a:gd name="connsiteX21" fmla="*/ 2114074 w 3059965"/>
                <a:gd name="connsiteY21" fmla="*/ 489430 h 2192405"/>
                <a:gd name="connsiteX22" fmla="*/ 2076069 w 3059965"/>
                <a:gd name="connsiteY22" fmla="*/ 448473 h 2192405"/>
                <a:gd name="connsiteX23" fmla="*/ 1993392 w 3059965"/>
                <a:gd name="connsiteY23" fmla="*/ 66616 h 2192405"/>
                <a:gd name="connsiteX24" fmla="*/ 2035397 w 3059965"/>
                <a:gd name="connsiteY24" fmla="*/ 1369 h 2192405"/>
                <a:gd name="connsiteX25" fmla="*/ 2100644 w 3059965"/>
                <a:gd name="connsiteY25" fmla="*/ 43375 h 2192405"/>
                <a:gd name="connsiteX26" fmla="*/ 2176463 w 3059965"/>
                <a:gd name="connsiteY26" fmla="*/ 393514 h 2192405"/>
                <a:gd name="connsiteX27" fmla="*/ 2685383 w 3059965"/>
                <a:gd name="connsiteY27" fmla="*/ 545152 h 2192405"/>
                <a:gd name="connsiteX28" fmla="*/ 3039999 w 3059965"/>
                <a:gd name="connsiteY28" fmla="*/ 736033 h 2192405"/>
                <a:gd name="connsiteX29" fmla="*/ 3047429 w 3059965"/>
                <a:gd name="connsiteY29" fmla="*/ 813280 h 2192405"/>
                <a:gd name="connsiteX30" fmla="*/ 3005138 w 3059965"/>
                <a:gd name="connsiteY30" fmla="*/ 833188 h 219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9965" h="2192405">
                  <a:moveTo>
                    <a:pt x="2481453" y="2192405"/>
                  </a:moveTo>
                  <a:lnTo>
                    <a:pt x="54864" y="2192405"/>
                  </a:lnTo>
                  <a:cubicBezTo>
                    <a:pt x="24574" y="2192405"/>
                    <a:pt x="0" y="2167831"/>
                    <a:pt x="0" y="2137541"/>
                  </a:cubicBezTo>
                  <a:lnTo>
                    <a:pt x="0" y="1537657"/>
                  </a:lnTo>
                  <a:cubicBezTo>
                    <a:pt x="0" y="1314105"/>
                    <a:pt x="70199" y="1100840"/>
                    <a:pt x="202883" y="920913"/>
                  </a:cubicBezTo>
                  <a:cubicBezTo>
                    <a:pt x="335661" y="740986"/>
                    <a:pt x="518731" y="611064"/>
                    <a:pt x="732377" y="545152"/>
                  </a:cubicBezTo>
                  <a:lnTo>
                    <a:pt x="1241870" y="393418"/>
                  </a:lnTo>
                  <a:lnTo>
                    <a:pt x="1317593" y="43279"/>
                  </a:lnTo>
                  <a:cubicBezTo>
                    <a:pt x="1323975" y="13657"/>
                    <a:pt x="1353217" y="-5203"/>
                    <a:pt x="1382840" y="1274"/>
                  </a:cubicBezTo>
                  <a:cubicBezTo>
                    <a:pt x="1412462" y="7656"/>
                    <a:pt x="1431227" y="36898"/>
                    <a:pt x="1424845" y="66520"/>
                  </a:cubicBezTo>
                  <a:lnTo>
                    <a:pt x="1342168" y="448378"/>
                  </a:lnTo>
                  <a:cubicBezTo>
                    <a:pt x="1337977" y="467904"/>
                    <a:pt x="1323403" y="483620"/>
                    <a:pt x="1304163" y="489335"/>
                  </a:cubicBezTo>
                  <a:lnTo>
                    <a:pt x="764096" y="650212"/>
                  </a:lnTo>
                  <a:cubicBezTo>
                    <a:pt x="372808" y="770894"/>
                    <a:pt x="109633" y="1127605"/>
                    <a:pt x="109633" y="1537657"/>
                  </a:cubicBezTo>
                  <a:lnTo>
                    <a:pt x="109633" y="2082677"/>
                  </a:lnTo>
                  <a:lnTo>
                    <a:pt x="2481358" y="2082677"/>
                  </a:lnTo>
                  <a:cubicBezTo>
                    <a:pt x="2511647" y="2082677"/>
                    <a:pt x="2536222" y="2107252"/>
                    <a:pt x="2536222" y="2137541"/>
                  </a:cubicBezTo>
                  <a:cubicBezTo>
                    <a:pt x="2536222" y="2167831"/>
                    <a:pt x="2511743" y="2192405"/>
                    <a:pt x="2481453" y="2192405"/>
                  </a:cubicBezTo>
                  <a:close/>
                  <a:moveTo>
                    <a:pt x="3005138" y="833188"/>
                  </a:moveTo>
                  <a:cubicBezTo>
                    <a:pt x="2992850" y="833188"/>
                    <a:pt x="2980468" y="829092"/>
                    <a:pt x="2970276" y="820710"/>
                  </a:cubicBezTo>
                  <a:cubicBezTo>
                    <a:pt x="2876455" y="743462"/>
                    <a:pt x="2769965" y="686026"/>
                    <a:pt x="2653665" y="650117"/>
                  </a:cubicBezTo>
                  <a:lnTo>
                    <a:pt x="2114074" y="489430"/>
                  </a:lnTo>
                  <a:cubicBezTo>
                    <a:pt x="2094928" y="483715"/>
                    <a:pt x="2080355" y="467999"/>
                    <a:pt x="2076069" y="448473"/>
                  </a:cubicBezTo>
                  <a:lnTo>
                    <a:pt x="1993392" y="66616"/>
                  </a:lnTo>
                  <a:cubicBezTo>
                    <a:pt x="1987010" y="36993"/>
                    <a:pt x="2005775" y="7751"/>
                    <a:pt x="2035397" y="1369"/>
                  </a:cubicBezTo>
                  <a:cubicBezTo>
                    <a:pt x="2065020" y="-5012"/>
                    <a:pt x="2094262" y="13752"/>
                    <a:pt x="2100644" y="43375"/>
                  </a:cubicBezTo>
                  <a:lnTo>
                    <a:pt x="2176463" y="393514"/>
                  </a:lnTo>
                  <a:lnTo>
                    <a:pt x="2685383" y="545152"/>
                  </a:lnTo>
                  <a:cubicBezTo>
                    <a:pt x="2815971" y="585442"/>
                    <a:pt x="2935129" y="649641"/>
                    <a:pt x="3039999" y="736033"/>
                  </a:cubicBezTo>
                  <a:cubicBezTo>
                    <a:pt x="3063430" y="755273"/>
                    <a:pt x="3066669" y="789849"/>
                    <a:pt x="3047429" y="813280"/>
                  </a:cubicBezTo>
                  <a:cubicBezTo>
                    <a:pt x="3036665" y="826330"/>
                    <a:pt x="3020949" y="833188"/>
                    <a:pt x="3005138" y="833188"/>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51289C34-EFE1-5757-9E94-DE7396D8E1DE}"/>
                </a:ext>
              </a:extLst>
            </p:cNvPr>
            <p:cNvSpPr/>
            <p:nvPr/>
          </p:nvSpPr>
          <p:spPr>
            <a:xfrm>
              <a:off x="4729543" y="4231480"/>
              <a:ext cx="109727" cy="522160"/>
            </a:xfrm>
            <a:custGeom>
              <a:avLst/>
              <a:gdLst>
                <a:gd name="connsiteX0" fmla="*/ 54864 w 109727"/>
                <a:gd name="connsiteY0" fmla="*/ 522161 h 522160"/>
                <a:gd name="connsiteX1" fmla="*/ 0 w 109727"/>
                <a:gd name="connsiteY1" fmla="*/ 467296 h 522160"/>
                <a:gd name="connsiteX2" fmla="*/ 0 w 109727"/>
                <a:gd name="connsiteY2" fmla="*/ 54864 h 522160"/>
                <a:gd name="connsiteX3" fmla="*/ 54864 w 109727"/>
                <a:gd name="connsiteY3" fmla="*/ 0 h 522160"/>
                <a:gd name="connsiteX4" fmla="*/ 109728 w 109727"/>
                <a:gd name="connsiteY4" fmla="*/ 54864 h 522160"/>
                <a:gd name="connsiteX5" fmla="*/ 109728 w 109727"/>
                <a:gd name="connsiteY5" fmla="*/ 467296 h 522160"/>
                <a:gd name="connsiteX6" fmla="*/ 54864 w 109727"/>
                <a:gd name="connsiteY6" fmla="*/ 522161 h 52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27" h="522160">
                  <a:moveTo>
                    <a:pt x="54864" y="522161"/>
                  </a:moveTo>
                  <a:cubicBezTo>
                    <a:pt x="24575" y="522161"/>
                    <a:pt x="0" y="497586"/>
                    <a:pt x="0" y="467296"/>
                  </a:cubicBezTo>
                  <a:lnTo>
                    <a:pt x="0" y="54864"/>
                  </a:lnTo>
                  <a:cubicBezTo>
                    <a:pt x="0" y="24574"/>
                    <a:pt x="24575" y="0"/>
                    <a:pt x="54864" y="0"/>
                  </a:cubicBezTo>
                  <a:cubicBezTo>
                    <a:pt x="85154" y="0"/>
                    <a:pt x="109728" y="24574"/>
                    <a:pt x="109728" y="54864"/>
                  </a:cubicBezTo>
                  <a:lnTo>
                    <a:pt x="109728" y="467296"/>
                  </a:lnTo>
                  <a:cubicBezTo>
                    <a:pt x="109728" y="497586"/>
                    <a:pt x="85154" y="522161"/>
                    <a:pt x="54864" y="522161"/>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AC509718-2CE7-F992-BF30-79B7F27BA851}"/>
                </a:ext>
              </a:extLst>
            </p:cNvPr>
            <p:cNvSpPr/>
            <p:nvPr/>
          </p:nvSpPr>
          <p:spPr>
            <a:xfrm>
              <a:off x="5405492" y="2943089"/>
              <a:ext cx="951055" cy="726987"/>
            </a:xfrm>
            <a:custGeom>
              <a:avLst/>
              <a:gdLst>
                <a:gd name="connsiteX0" fmla="*/ 475433 w 951055"/>
                <a:gd name="connsiteY0" fmla="*/ 726988 h 726987"/>
                <a:gd name="connsiteX1" fmla="*/ 444857 w 951055"/>
                <a:gd name="connsiteY1" fmla="*/ 717749 h 726987"/>
                <a:gd name="connsiteX2" fmla="*/ 40 w 951055"/>
                <a:gd name="connsiteY2" fmla="*/ 56999 h 726987"/>
                <a:gd name="connsiteX3" fmla="*/ 52808 w 951055"/>
                <a:gd name="connsiteY3" fmla="*/ 40 h 726987"/>
                <a:gd name="connsiteX4" fmla="*/ 109768 w 951055"/>
                <a:gd name="connsiteY4" fmla="*/ 52808 h 726987"/>
                <a:gd name="connsiteX5" fmla="*/ 475433 w 951055"/>
                <a:gd name="connsiteY5" fmla="*/ 604306 h 726987"/>
                <a:gd name="connsiteX6" fmla="*/ 841288 w 951055"/>
                <a:gd name="connsiteY6" fmla="*/ 52808 h 726987"/>
                <a:gd name="connsiteX7" fmla="*/ 898247 w 951055"/>
                <a:gd name="connsiteY7" fmla="*/ 40 h 726987"/>
                <a:gd name="connsiteX8" fmla="*/ 951016 w 951055"/>
                <a:gd name="connsiteY8" fmla="*/ 56999 h 726987"/>
                <a:gd name="connsiteX9" fmla="*/ 506103 w 951055"/>
                <a:gd name="connsiteY9" fmla="*/ 717749 h 726987"/>
                <a:gd name="connsiteX10" fmla="*/ 475433 w 951055"/>
                <a:gd name="connsiteY10" fmla="*/ 726988 h 726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1055" h="726987">
                  <a:moveTo>
                    <a:pt x="475433" y="726988"/>
                  </a:moveTo>
                  <a:cubicBezTo>
                    <a:pt x="464765" y="726988"/>
                    <a:pt x="454097" y="723845"/>
                    <a:pt x="444857" y="717749"/>
                  </a:cubicBezTo>
                  <a:cubicBezTo>
                    <a:pt x="427236" y="705938"/>
                    <a:pt x="14137" y="424950"/>
                    <a:pt x="40" y="56999"/>
                  </a:cubicBezTo>
                  <a:cubicBezTo>
                    <a:pt x="-1103" y="26710"/>
                    <a:pt x="22519" y="1278"/>
                    <a:pt x="52808" y="40"/>
                  </a:cubicBezTo>
                  <a:cubicBezTo>
                    <a:pt x="82907" y="-1103"/>
                    <a:pt x="108530" y="22519"/>
                    <a:pt x="109768" y="52808"/>
                  </a:cubicBezTo>
                  <a:cubicBezTo>
                    <a:pt x="119674" y="311984"/>
                    <a:pt x="384183" y="534964"/>
                    <a:pt x="475433" y="604306"/>
                  </a:cubicBezTo>
                  <a:cubicBezTo>
                    <a:pt x="566682" y="534964"/>
                    <a:pt x="831287" y="312079"/>
                    <a:pt x="841288" y="52808"/>
                  </a:cubicBezTo>
                  <a:cubicBezTo>
                    <a:pt x="842431" y="22519"/>
                    <a:pt x="867767" y="-1103"/>
                    <a:pt x="898247" y="40"/>
                  </a:cubicBezTo>
                  <a:cubicBezTo>
                    <a:pt x="928537" y="1183"/>
                    <a:pt x="952159" y="26710"/>
                    <a:pt x="951016" y="56999"/>
                  </a:cubicBezTo>
                  <a:cubicBezTo>
                    <a:pt x="936919" y="424950"/>
                    <a:pt x="523629" y="705938"/>
                    <a:pt x="506103" y="717749"/>
                  </a:cubicBezTo>
                  <a:cubicBezTo>
                    <a:pt x="496769" y="723940"/>
                    <a:pt x="486101" y="726988"/>
                    <a:pt x="475433" y="726988"/>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B5901918-D451-8352-E6A2-17BED53D4446}"/>
                </a:ext>
              </a:extLst>
            </p:cNvPr>
            <p:cNvSpPr/>
            <p:nvPr/>
          </p:nvSpPr>
          <p:spPr>
            <a:xfrm>
              <a:off x="5053752" y="738099"/>
              <a:ext cx="1678578" cy="1006594"/>
            </a:xfrm>
            <a:custGeom>
              <a:avLst/>
              <a:gdLst>
                <a:gd name="connsiteX0" fmla="*/ 1571457 w 1678578"/>
                <a:gd name="connsiteY0" fmla="*/ 1006594 h 1006594"/>
                <a:gd name="connsiteX1" fmla="*/ 1553645 w 1678578"/>
                <a:gd name="connsiteY1" fmla="*/ 1003641 h 1006594"/>
                <a:gd name="connsiteX2" fmla="*/ 1519641 w 1678578"/>
                <a:gd name="connsiteY2" fmla="*/ 933918 h 1006594"/>
                <a:gd name="connsiteX3" fmla="*/ 1222080 w 1678578"/>
                <a:gd name="connsiteY3" fmla="*/ 192397 h 1006594"/>
                <a:gd name="connsiteX4" fmla="*/ 679822 w 1678578"/>
                <a:gd name="connsiteY4" fmla="*/ 121150 h 1006594"/>
                <a:gd name="connsiteX5" fmla="*/ 152232 w 1678578"/>
                <a:gd name="connsiteY5" fmla="*/ 576636 h 1006594"/>
                <a:gd name="connsiteX6" fmla="*/ 141469 w 1678578"/>
                <a:gd name="connsiteY6" fmla="*/ 606258 h 1006594"/>
                <a:gd name="connsiteX7" fmla="*/ 135468 w 1678578"/>
                <a:gd name="connsiteY7" fmla="*/ 916583 h 1006594"/>
                <a:gd name="connsiteX8" fmla="*/ 99082 w 1678578"/>
                <a:gd name="connsiteY8" fmla="*/ 985163 h 1006594"/>
                <a:gd name="connsiteX9" fmla="*/ 30502 w 1678578"/>
                <a:gd name="connsiteY9" fmla="*/ 948777 h 1006594"/>
                <a:gd name="connsiteX10" fmla="*/ 43647 w 1678578"/>
                <a:gd name="connsiteY10" fmla="*/ 556062 h 1006594"/>
                <a:gd name="connsiteX11" fmla="*/ 663153 w 1678578"/>
                <a:gd name="connsiteY11" fmla="*/ 12756 h 1006594"/>
                <a:gd name="connsiteX12" fmla="*/ 1266562 w 1678578"/>
                <a:gd name="connsiteY12" fmla="*/ 92194 h 1006594"/>
                <a:gd name="connsiteX13" fmla="*/ 1658801 w 1678578"/>
                <a:gd name="connsiteY13" fmla="*/ 509389 h 1006594"/>
                <a:gd name="connsiteX14" fmla="*/ 1623463 w 1678578"/>
                <a:gd name="connsiteY14" fmla="*/ 969732 h 1006594"/>
                <a:gd name="connsiteX15" fmla="*/ 1571457 w 1678578"/>
                <a:gd name="connsiteY15" fmla="*/ 1006594 h 1006594"/>
                <a:gd name="connsiteX16" fmla="*/ 140993 w 1678578"/>
                <a:gd name="connsiteY16" fmla="*/ 606735 h 1006594"/>
                <a:gd name="connsiteX17" fmla="*/ 140326 w 1678578"/>
                <a:gd name="connsiteY17" fmla="*/ 607592 h 1006594"/>
                <a:gd name="connsiteX18" fmla="*/ 140993 w 1678578"/>
                <a:gd name="connsiteY18" fmla="*/ 606735 h 100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78578" h="1006594">
                  <a:moveTo>
                    <a:pt x="1571457" y="1006594"/>
                  </a:moveTo>
                  <a:cubicBezTo>
                    <a:pt x="1565552" y="1006594"/>
                    <a:pt x="1559551" y="1005642"/>
                    <a:pt x="1553645" y="1003641"/>
                  </a:cubicBezTo>
                  <a:cubicBezTo>
                    <a:pt x="1524975" y="993831"/>
                    <a:pt x="1509735" y="962589"/>
                    <a:pt x="1519641" y="933918"/>
                  </a:cubicBezTo>
                  <a:cubicBezTo>
                    <a:pt x="1640323" y="583017"/>
                    <a:pt x="1540120" y="333462"/>
                    <a:pt x="1222080" y="192397"/>
                  </a:cubicBezTo>
                  <a:cubicBezTo>
                    <a:pt x="1052916" y="117340"/>
                    <a:pt x="865464" y="92670"/>
                    <a:pt x="679822" y="121150"/>
                  </a:cubicBezTo>
                  <a:cubicBezTo>
                    <a:pt x="449031" y="156774"/>
                    <a:pt x="170044" y="264692"/>
                    <a:pt x="152232" y="576636"/>
                  </a:cubicBezTo>
                  <a:cubicBezTo>
                    <a:pt x="151660" y="587399"/>
                    <a:pt x="147851" y="597686"/>
                    <a:pt x="141469" y="606258"/>
                  </a:cubicBezTo>
                  <a:cubicBezTo>
                    <a:pt x="137944" y="612259"/>
                    <a:pt x="76603" y="724464"/>
                    <a:pt x="135468" y="916583"/>
                  </a:cubicBezTo>
                  <a:cubicBezTo>
                    <a:pt x="144326" y="945539"/>
                    <a:pt x="128039" y="976209"/>
                    <a:pt x="99082" y="985163"/>
                  </a:cubicBezTo>
                  <a:cubicBezTo>
                    <a:pt x="70126" y="994021"/>
                    <a:pt x="39456" y="977733"/>
                    <a:pt x="30502" y="948777"/>
                  </a:cubicBezTo>
                  <a:cubicBezTo>
                    <a:pt x="-30172" y="751038"/>
                    <a:pt x="13357" y="610164"/>
                    <a:pt x="43647" y="556062"/>
                  </a:cubicBezTo>
                  <a:cubicBezTo>
                    <a:pt x="66888" y="263549"/>
                    <a:pt x="286344" y="70858"/>
                    <a:pt x="663153" y="12756"/>
                  </a:cubicBezTo>
                  <a:cubicBezTo>
                    <a:pt x="869560" y="-18867"/>
                    <a:pt x="1078253" y="8565"/>
                    <a:pt x="1266562" y="92194"/>
                  </a:cubicBezTo>
                  <a:cubicBezTo>
                    <a:pt x="1479160" y="186492"/>
                    <a:pt x="1611081" y="326890"/>
                    <a:pt x="1658801" y="509389"/>
                  </a:cubicBezTo>
                  <a:cubicBezTo>
                    <a:pt x="1694044" y="644168"/>
                    <a:pt x="1682137" y="799044"/>
                    <a:pt x="1623463" y="969732"/>
                  </a:cubicBezTo>
                  <a:cubicBezTo>
                    <a:pt x="1615558" y="992307"/>
                    <a:pt x="1594222" y="1006594"/>
                    <a:pt x="1571457" y="1006594"/>
                  </a:cubicBezTo>
                  <a:close/>
                  <a:moveTo>
                    <a:pt x="140993" y="606735"/>
                  </a:moveTo>
                  <a:cubicBezTo>
                    <a:pt x="140802" y="607020"/>
                    <a:pt x="140516" y="607306"/>
                    <a:pt x="140326" y="607592"/>
                  </a:cubicBezTo>
                  <a:cubicBezTo>
                    <a:pt x="140516" y="607306"/>
                    <a:pt x="140707" y="607020"/>
                    <a:pt x="140993" y="606735"/>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6533B308-318E-2BD1-07B4-DDB8AC106570}"/>
                </a:ext>
              </a:extLst>
            </p:cNvPr>
            <p:cNvSpPr/>
            <p:nvPr/>
          </p:nvSpPr>
          <p:spPr>
            <a:xfrm>
              <a:off x="6614350" y="3551871"/>
              <a:ext cx="1143571" cy="1143571"/>
            </a:xfrm>
            <a:custGeom>
              <a:avLst/>
              <a:gdLst>
                <a:gd name="connsiteX0" fmla="*/ 571786 w 1143571"/>
                <a:gd name="connsiteY0" fmla="*/ 1143572 h 1143571"/>
                <a:gd name="connsiteX1" fmla="*/ 395573 w 1143571"/>
                <a:gd name="connsiteY1" fmla="*/ 967359 h 1143571"/>
                <a:gd name="connsiteX2" fmla="*/ 395573 w 1143571"/>
                <a:gd name="connsiteY2" fmla="*/ 747998 h 1143571"/>
                <a:gd name="connsiteX3" fmla="*/ 176213 w 1143571"/>
                <a:gd name="connsiteY3" fmla="*/ 747998 h 1143571"/>
                <a:gd name="connsiteX4" fmla="*/ 0 w 1143571"/>
                <a:gd name="connsiteY4" fmla="*/ 571786 h 1143571"/>
                <a:gd name="connsiteX5" fmla="*/ 176213 w 1143571"/>
                <a:gd name="connsiteY5" fmla="*/ 395573 h 1143571"/>
                <a:gd name="connsiteX6" fmla="*/ 395573 w 1143571"/>
                <a:gd name="connsiteY6" fmla="*/ 395573 h 1143571"/>
                <a:gd name="connsiteX7" fmla="*/ 395573 w 1143571"/>
                <a:gd name="connsiteY7" fmla="*/ 176213 h 1143571"/>
                <a:gd name="connsiteX8" fmla="*/ 571786 w 1143571"/>
                <a:gd name="connsiteY8" fmla="*/ 0 h 1143571"/>
                <a:gd name="connsiteX9" fmla="*/ 747998 w 1143571"/>
                <a:gd name="connsiteY9" fmla="*/ 176213 h 1143571"/>
                <a:gd name="connsiteX10" fmla="*/ 747998 w 1143571"/>
                <a:gd name="connsiteY10" fmla="*/ 395573 h 1143571"/>
                <a:gd name="connsiteX11" fmla="*/ 967359 w 1143571"/>
                <a:gd name="connsiteY11" fmla="*/ 395573 h 1143571"/>
                <a:gd name="connsiteX12" fmla="*/ 1143572 w 1143571"/>
                <a:gd name="connsiteY12" fmla="*/ 571786 h 1143571"/>
                <a:gd name="connsiteX13" fmla="*/ 967359 w 1143571"/>
                <a:gd name="connsiteY13" fmla="*/ 747998 h 1143571"/>
                <a:gd name="connsiteX14" fmla="*/ 747998 w 1143571"/>
                <a:gd name="connsiteY14" fmla="*/ 747998 h 1143571"/>
                <a:gd name="connsiteX15" fmla="*/ 747998 w 1143571"/>
                <a:gd name="connsiteY15" fmla="*/ 967359 h 1143571"/>
                <a:gd name="connsiteX16" fmla="*/ 571786 w 1143571"/>
                <a:gd name="connsiteY16" fmla="*/ 1143572 h 1143571"/>
                <a:gd name="connsiteX17" fmla="*/ 176117 w 1143571"/>
                <a:gd name="connsiteY17" fmla="*/ 505111 h 1143571"/>
                <a:gd name="connsiteX18" fmla="*/ 109538 w 1143571"/>
                <a:gd name="connsiteY18" fmla="*/ 571691 h 1143571"/>
                <a:gd name="connsiteX19" fmla="*/ 176117 w 1143571"/>
                <a:gd name="connsiteY19" fmla="*/ 638175 h 1143571"/>
                <a:gd name="connsiteX20" fmla="*/ 450342 w 1143571"/>
                <a:gd name="connsiteY20" fmla="*/ 638175 h 1143571"/>
                <a:gd name="connsiteX21" fmla="*/ 505206 w 1143571"/>
                <a:gd name="connsiteY21" fmla="*/ 693039 h 1143571"/>
                <a:gd name="connsiteX22" fmla="*/ 505206 w 1143571"/>
                <a:gd name="connsiteY22" fmla="*/ 967264 h 1143571"/>
                <a:gd name="connsiteX23" fmla="*/ 571690 w 1143571"/>
                <a:gd name="connsiteY23" fmla="*/ 1033844 h 1143571"/>
                <a:gd name="connsiteX24" fmla="*/ 638270 w 1143571"/>
                <a:gd name="connsiteY24" fmla="*/ 967264 h 1143571"/>
                <a:gd name="connsiteX25" fmla="*/ 638270 w 1143571"/>
                <a:gd name="connsiteY25" fmla="*/ 693039 h 1143571"/>
                <a:gd name="connsiteX26" fmla="*/ 693134 w 1143571"/>
                <a:gd name="connsiteY26" fmla="*/ 638175 h 1143571"/>
                <a:gd name="connsiteX27" fmla="*/ 967359 w 1143571"/>
                <a:gd name="connsiteY27" fmla="*/ 638175 h 1143571"/>
                <a:gd name="connsiteX28" fmla="*/ 1033843 w 1143571"/>
                <a:gd name="connsiteY28" fmla="*/ 571691 h 1143571"/>
                <a:gd name="connsiteX29" fmla="*/ 967359 w 1143571"/>
                <a:gd name="connsiteY29" fmla="*/ 505111 h 1143571"/>
                <a:gd name="connsiteX30" fmla="*/ 693134 w 1143571"/>
                <a:gd name="connsiteY30" fmla="*/ 505111 h 1143571"/>
                <a:gd name="connsiteX31" fmla="*/ 638270 w 1143571"/>
                <a:gd name="connsiteY31" fmla="*/ 450247 h 1143571"/>
                <a:gd name="connsiteX32" fmla="*/ 638270 w 1143571"/>
                <a:gd name="connsiteY32" fmla="*/ 176022 h 1143571"/>
                <a:gd name="connsiteX33" fmla="*/ 571690 w 1143571"/>
                <a:gd name="connsiteY33" fmla="*/ 109538 h 1143571"/>
                <a:gd name="connsiteX34" fmla="*/ 505206 w 1143571"/>
                <a:gd name="connsiteY34" fmla="*/ 176022 h 1143571"/>
                <a:gd name="connsiteX35" fmla="*/ 505206 w 1143571"/>
                <a:gd name="connsiteY35" fmla="*/ 450247 h 1143571"/>
                <a:gd name="connsiteX36" fmla="*/ 450342 w 1143571"/>
                <a:gd name="connsiteY36" fmla="*/ 505111 h 1143571"/>
                <a:gd name="connsiteX37" fmla="*/ 176117 w 1143571"/>
                <a:gd name="connsiteY37" fmla="*/ 505111 h 1143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43571" h="1143571">
                  <a:moveTo>
                    <a:pt x="571786" y="1143572"/>
                  </a:moveTo>
                  <a:cubicBezTo>
                    <a:pt x="474631" y="1143572"/>
                    <a:pt x="395573" y="1064514"/>
                    <a:pt x="395573" y="967359"/>
                  </a:cubicBezTo>
                  <a:lnTo>
                    <a:pt x="395573" y="747998"/>
                  </a:lnTo>
                  <a:lnTo>
                    <a:pt x="176213" y="747998"/>
                  </a:lnTo>
                  <a:cubicBezTo>
                    <a:pt x="79057" y="747998"/>
                    <a:pt x="0" y="668941"/>
                    <a:pt x="0" y="571786"/>
                  </a:cubicBezTo>
                  <a:cubicBezTo>
                    <a:pt x="0" y="474631"/>
                    <a:pt x="79057" y="395573"/>
                    <a:pt x="176213" y="395573"/>
                  </a:cubicBezTo>
                  <a:lnTo>
                    <a:pt x="395573" y="395573"/>
                  </a:lnTo>
                  <a:lnTo>
                    <a:pt x="395573" y="176213"/>
                  </a:lnTo>
                  <a:cubicBezTo>
                    <a:pt x="395573" y="79058"/>
                    <a:pt x="474631" y="0"/>
                    <a:pt x="571786" y="0"/>
                  </a:cubicBezTo>
                  <a:cubicBezTo>
                    <a:pt x="668941" y="0"/>
                    <a:pt x="747998" y="79058"/>
                    <a:pt x="747998" y="176213"/>
                  </a:cubicBezTo>
                  <a:lnTo>
                    <a:pt x="747998" y="395573"/>
                  </a:lnTo>
                  <a:lnTo>
                    <a:pt x="967359" y="395573"/>
                  </a:lnTo>
                  <a:cubicBezTo>
                    <a:pt x="1064514" y="395573"/>
                    <a:pt x="1143572" y="474631"/>
                    <a:pt x="1143572" y="571786"/>
                  </a:cubicBezTo>
                  <a:cubicBezTo>
                    <a:pt x="1143572" y="668941"/>
                    <a:pt x="1064514" y="747998"/>
                    <a:pt x="967359" y="747998"/>
                  </a:cubicBezTo>
                  <a:lnTo>
                    <a:pt x="747998" y="747998"/>
                  </a:lnTo>
                  <a:lnTo>
                    <a:pt x="747998" y="967359"/>
                  </a:lnTo>
                  <a:cubicBezTo>
                    <a:pt x="747998" y="1064514"/>
                    <a:pt x="668941" y="1143572"/>
                    <a:pt x="571786" y="1143572"/>
                  </a:cubicBezTo>
                  <a:close/>
                  <a:moveTo>
                    <a:pt x="176117" y="505111"/>
                  </a:moveTo>
                  <a:cubicBezTo>
                    <a:pt x="139446" y="505111"/>
                    <a:pt x="109538" y="534924"/>
                    <a:pt x="109538" y="571691"/>
                  </a:cubicBezTo>
                  <a:cubicBezTo>
                    <a:pt x="109538" y="608362"/>
                    <a:pt x="139351" y="638175"/>
                    <a:pt x="176117" y="638175"/>
                  </a:cubicBezTo>
                  <a:lnTo>
                    <a:pt x="450342" y="638175"/>
                  </a:lnTo>
                  <a:cubicBezTo>
                    <a:pt x="480631" y="638175"/>
                    <a:pt x="505206" y="662750"/>
                    <a:pt x="505206" y="693039"/>
                  </a:cubicBezTo>
                  <a:lnTo>
                    <a:pt x="505206" y="967264"/>
                  </a:lnTo>
                  <a:cubicBezTo>
                    <a:pt x="505206" y="1003935"/>
                    <a:pt x="535019" y="1033844"/>
                    <a:pt x="571690" y="1033844"/>
                  </a:cubicBezTo>
                  <a:cubicBezTo>
                    <a:pt x="608362" y="1033844"/>
                    <a:pt x="638270" y="1004030"/>
                    <a:pt x="638270" y="967264"/>
                  </a:cubicBezTo>
                  <a:lnTo>
                    <a:pt x="638270" y="693039"/>
                  </a:lnTo>
                  <a:cubicBezTo>
                    <a:pt x="638270" y="662750"/>
                    <a:pt x="662845" y="638175"/>
                    <a:pt x="693134" y="638175"/>
                  </a:cubicBezTo>
                  <a:lnTo>
                    <a:pt x="967359" y="638175"/>
                  </a:lnTo>
                  <a:cubicBezTo>
                    <a:pt x="1004030" y="638175"/>
                    <a:pt x="1033843" y="608362"/>
                    <a:pt x="1033843" y="571691"/>
                  </a:cubicBezTo>
                  <a:cubicBezTo>
                    <a:pt x="1033843" y="535019"/>
                    <a:pt x="1004030" y="505111"/>
                    <a:pt x="967359" y="505111"/>
                  </a:cubicBezTo>
                  <a:lnTo>
                    <a:pt x="693134" y="505111"/>
                  </a:lnTo>
                  <a:cubicBezTo>
                    <a:pt x="662845" y="505111"/>
                    <a:pt x="638270" y="480536"/>
                    <a:pt x="638270" y="450247"/>
                  </a:cubicBezTo>
                  <a:lnTo>
                    <a:pt x="638270" y="176022"/>
                  </a:lnTo>
                  <a:cubicBezTo>
                    <a:pt x="638270" y="139351"/>
                    <a:pt x="608457" y="109538"/>
                    <a:pt x="571690" y="109538"/>
                  </a:cubicBezTo>
                  <a:cubicBezTo>
                    <a:pt x="535019" y="109538"/>
                    <a:pt x="505206" y="139351"/>
                    <a:pt x="505206" y="176022"/>
                  </a:cubicBezTo>
                  <a:lnTo>
                    <a:pt x="505206" y="450247"/>
                  </a:lnTo>
                  <a:cubicBezTo>
                    <a:pt x="505206" y="480536"/>
                    <a:pt x="480631" y="505111"/>
                    <a:pt x="450342" y="505111"/>
                  </a:cubicBezTo>
                  <a:lnTo>
                    <a:pt x="176117" y="505111"/>
                  </a:ln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0FF9697F-2C6C-9E14-38F9-28461AE50517}"/>
                </a:ext>
              </a:extLst>
            </p:cNvPr>
            <p:cNvSpPr/>
            <p:nvPr/>
          </p:nvSpPr>
          <p:spPr>
            <a:xfrm>
              <a:off x="6347174" y="3284600"/>
              <a:ext cx="1677924" cy="1677924"/>
            </a:xfrm>
            <a:custGeom>
              <a:avLst/>
              <a:gdLst>
                <a:gd name="connsiteX0" fmla="*/ 838962 w 1677924"/>
                <a:gd name="connsiteY0" fmla="*/ 1677924 h 1677924"/>
                <a:gd name="connsiteX1" fmla="*/ 0 w 1677924"/>
                <a:gd name="connsiteY1" fmla="*/ 838962 h 1677924"/>
                <a:gd name="connsiteX2" fmla="*/ 838962 w 1677924"/>
                <a:gd name="connsiteY2" fmla="*/ 0 h 1677924"/>
                <a:gd name="connsiteX3" fmla="*/ 1677924 w 1677924"/>
                <a:gd name="connsiteY3" fmla="*/ 838962 h 1677924"/>
                <a:gd name="connsiteX4" fmla="*/ 838962 w 1677924"/>
                <a:gd name="connsiteY4" fmla="*/ 1677924 h 1677924"/>
                <a:gd name="connsiteX5" fmla="*/ 838962 w 1677924"/>
                <a:gd name="connsiteY5" fmla="*/ 109633 h 1677924"/>
                <a:gd name="connsiteX6" fmla="*/ 109728 w 1677924"/>
                <a:gd name="connsiteY6" fmla="*/ 838867 h 1677924"/>
                <a:gd name="connsiteX7" fmla="*/ 838962 w 1677924"/>
                <a:gd name="connsiteY7" fmla="*/ 1568101 h 1677924"/>
                <a:gd name="connsiteX8" fmla="*/ 1568196 w 1677924"/>
                <a:gd name="connsiteY8" fmla="*/ 838867 h 1677924"/>
                <a:gd name="connsiteX9" fmla="*/ 838962 w 1677924"/>
                <a:gd name="connsiteY9" fmla="*/ 109633 h 167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77924" h="1677924">
                  <a:moveTo>
                    <a:pt x="838962" y="1677924"/>
                  </a:moveTo>
                  <a:cubicBezTo>
                    <a:pt x="376333" y="1677924"/>
                    <a:pt x="0" y="1301591"/>
                    <a:pt x="0" y="838962"/>
                  </a:cubicBezTo>
                  <a:cubicBezTo>
                    <a:pt x="0" y="376333"/>
                    <a:pt x="376333" y="0"/>
                    <a:pt x="838962" y="0"/>
                  </a:cubicBezTo>
                  <a:cubicBezTo>
                    <a:pt x="1301591" y="0"/>
                    <a:pt x="1677924" y="376333"/>
                    <a:pt x="1677924" y="838962"/>
                  </a:cubicBezTo>
                  <a:cubicBezTo>
                    <a:pt x="1677924" y="1301591"/>
                    <a:pt x="1301591" y="1677924"/>
                    <a:pt x="838962" y="1677924"/>
                  </a:cubicBezTo>
                  <a:close/>
                  <a:moveTo>
                    <a:pt x="838962" y="109633"/>
                  </a:moveTo>
                  <a:cubicBezTo>
                    <a:pt x="436817" y="109633"/>
                    <a:pt x="109728" y="436817"/>
                    <a:pt x="109728" y="838867"/>
                  </a:cubicBezTo>
                  <a:cubicBezTo>
                    <a:pt x="109728" y="1240917"/>
                    <a:pt x="436912" y="1568101"/>
                    <a:pt x="838962" y="1568101"/>
                  </a:cubicBezTo>
                  <a:cubicBezTo>
                    <a:pt x="1241012" y="1568101"/>
                    <a:pt x="1568196" y="1240917"/>
                    <a:pt x="1568196" y="838867"/>
                  </a:cubicBezTo>
                  <a:cubicBezTo>
                    <a:pt x="1568196" y="436817"/>
                    <a:pt x="1241108" y="109633"/>
                    <a:pt x="838962" y="109633"/>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7642579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20" grpId="0" animBg="1"/>
      <p:bldP spid="24"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5CA5-8B9B-C3BA-AE7D-32849C915AF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304031A-453F-79DF-283A-B9DF48551CBE}"/>
              </a:ext>
            </a:extLst>
          </p:cNvPr>
          <p:cNvSpPr/>
          <p:nvPr/>
        </p:nvSpPr>
        <p:spPr>
          <a:xfrm>
            <a:off x="1133337" y="69513"/>
            <a:ext cx="3780065" cy="85164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sz="2000" b="1"/>
              <a:t>Executive Summary </a:t>
            </a:r>
            <a:r>
              <a:rPr kumimoji="1" lang="en-US" sz="2000"/>
              <a:t>| </a:t>
            </a:r>
            <a:r>
              <a:rPr kumimoji="1" lang="en-US" sz="2000" i="1"/>
              <a:t>Regional Care Patterns</a:t>
            </a:r>
          </a:p>
        </p:txBody>
      </p:sp>
      <p:sp>
        <p:nvSpPr>
          <p:cNvPr id="16" name="TextBox 15">
            <a:extLst>
              <a:ext uri="{FF2B5EF4-FFF2-40B4-BE49-F238E27FC236}">
                <a16:creationId xmlns:a16="http://schemas.microsoft.com/office/drawing/2014/main" id="{C10AF825-57E2-A939-74E8-63197EC7FEA5}"/>
              </a:ext>
            </a:extLst>
          </p:cNvPr>
          <p:cNvSpPr txBox="1"/>
          <p:nvPr/>
        </p:nvSpPr>
        <p:spPr>
          <a:xfrm>
            <a:off x="7924799" y="1073855"/>
            <a:ext cx="4152900"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a:t>Preliminary </a:t>
            </a:r>
            <a:r>
              <a:rPr lang="en-US" sz="1400" b="1"/>
              <a:t>Recommendations</a:t>
            </a:r>
            <a:endParaRPr lang="en-IN"/>
          </a:p>
        </p:txBody>
      </p:sp>
      <p:sp>
        <p:nvSpPr>
          <p:cNvPr id="19" name="TextBox 18">
            <a:extLst>
              <a:ext uri="{FF2B5EF4-FFF2-40B4-BE49-F238E27FC236}">
                <a16:creationId xmlns:a16="http://schemas.microsoft.com/office/drawing/2014/main" id="{ACB1907B-CBE9-7FEE-C2E7-752E576404FE}"/>
              </a:ext>
            </a:extLst>
          </p:cNvPr>
          <p:cNvSpPr txBox="1"/>
          <p:nvPr/>
        </p:nvSpPr>
        <p:spPr>
          <a:xfrm>
            <a:off x="1705707" y="1073855"/>
            <a:ext cx="5932051" cy="319265"/>
          </a:xfrm>
          <a:prstGeom prst="rect">
            <a:avLst/>
          </a:prstGeom>
          <a:gradFill>
            <a:gsLst>
              <a:gs pos="0">
                <a:schemeClr val="accent1">
                  <a:lumMod val="75000"/>
                </a:schemeClr>
              </a:gs>
              <a:gs pos="100000">
                <a:schemeClr val="accent2">
                  <a:lumMod val="60000"/>
                  <a:lumOff val="4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43200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algn="l"/>
            <a:r>
              <a:rPr lang="en-US" sz="1400" b="1"/>
              <a:t>Insights</a:t>
            </a:r>
            <a:endParaRPr lang="en-IN"/>
          </a:p>
        </p:txBody>
      </p:sp>
      <p:pic>
        <p:nvPicPr>
          <p:cNvPr id="3" name="Graphic 2">
            <a:extLst>
              <a:ext uri="{FF2B5EF4-FFF2-40B4-BE49-F238E27FC236}">
                <a16:creationId xmlns:a16="http://schemas.microsoft.com/office/drawing/2014/main" id="{21836375-FA7F-A7FB-CBE8-AC2B78B4A18B}"/>
              </a:ext>
            </a:extLst>
          </p:cNvPr>
          <p:cNvPicPr>
            <a:picLocks noChangeAspect="1"/>
          </p:cNvPicPr>
          <p:nvPr/>
        </p:nvPicPr>
        <p:blipFill>
          <a:blip>
            <a:extLst>
              <a:ext uri="{96DAC541-7B7A-43D3-8B79-37D633B846F1}">
                <asvg:svgBlip xmlns:asvg="http://schemas.microsoft.com/office/drawing/2016/SVG/main" r:embed="rId2"/>
              </a:ext>
            </a:extLst>
          </a:blip>
          <a:srcRect t="7030" b="28057"/>
          <a:stretch/>
        </p:blipFill>
        <p:spPr>
          <a:xfrm>
            <a:off x="447491" y="184562"/>
            <a:ext cx="685846" cy="639118"/>
          </a:xfrm>
          <a:prstGeom prst="rect">
            <a:avLst/>
          </a:prstGeom>
        </p:spPr>
      </p:pic>
      <p:sp>
        <p:nvSpPr>
          <p:cNvPr id="2" name="Rectangle 1">
            <a:extLst>
              <a:ext uri="{FF2B5EF4-FFF2-40B4-BE49-F238E27FC236}">
                <a16:creationId xmlns:a16="http://schemas.microsoft.com/office/drawing/2014/main" id="{5465CC39-C66B-866D-8CBB-AA3DD0522D5C}"/>
              </a:ext>
            </a:extLst>
          </p:cNvPr>
          <p:cNvSpPr/>
          <p:nvPr/>
        </p:nvSpPr>
        <p:spPr>
          <a:xfrm>
            <a:off x="1705708" y="1480078"/>
            <a:ext cx="5932051" cy="2210526"/>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a:solidFill>
                  <a:srgbClr val="34373F"/>
                </a:solidFill>
              </a:rPr>
              <a:t>The NT market organizes itself into </a:t>
            </a:r>
            <a:r>
              <a:rPr lang="en-US" sz="1200" b="1">
                <a:solidFill>
                  <a:srgbClr val="34373F"/>
                </a:solidFill>
              </a:rPr>
              <a:t>6,174 distinct HCP Clustered Communities</a:t>
            </a:r>
            <a:r>
              <a:rPr lang="en-US" sz="1200">
                <a:solidFill>
                  <a:srgbClr val="34373F"/>
                </a:solidFill>
              </a:rPr>
              <a:t> averaging ~5 NT patients each, reflecting the inherent rarity of the disease and the formation of </a:t>
            </a:r>
            <a:r>
              <a:rPr lang="en-US" sz="1200" b="1">
                <a:solidFill>
                  <a:srgbClr val="34373F"/>
                </a:solidFill>
              </a:rPr>
              <a:t>tight, self-organized care communities</a:t>
            </a:r>
            <a:r>
              <a:rPr lang="en-US" sz="1200">
                <a:solidFill>
                  <a:srgbClr val="34373F"/>
                </a:solidFill>
              </a:rPr>
              <a:t> around individual patients with 99% of clusters exchange referrals primarily within the community, indicating</a:t>
            </a:r>
          </a:p>
          <a:p>
            <a:pPr marL="285750" lvl="0" indent="-285750">
              <a:spcBef>
                <a:spcPts val="600"/>
              </a:spcBef>
              <a:buFont typeface="Arial" panose="020B0604020202020204" pitchFamily="34" charset="0"/>
              <a:buChar char="•"/>
              <a:defRPr/>
            </a:pPr>
            <a:r>
              <a:rPr lang="en-US" sz="1200">
                <a:solidFill>
                  <a:srgbClr val="34373F"/>
                </a:solidFill>
              </a:rPr>
              <a:t>Additionally, there are </a:t>
            </a:r>
            <a:r>
              <a:rPr lang="en-US" sz="1200" b="1">
                <a:solidFill>
                  <a:srgbClr val="34373F"/>
                </a:solidFill>
              </a:rPr>
              <a:t>548 Self-sustained Hubs </a:t>
            </a:r>
            <a:r>
              <a:rPr lang="en-US" sz="1200">
                <a:solidFill>
                  <a:srgbClr val="34373F"/>
                </a:solidFill>
              </a:rPr>
              <a:t>representing HCPs with the deepest NT commitment, </a:t>
            </a:r>
            <a:r>
              <a:rPr lang="en-US" sz="1200" b="1">
                <a:solidFill>
                  <a:srgbClr val="34373F"/>
                </a:solidFill>
              </a:rPr>
              <a:t>independently managing the full diagnosis-to-treatment pathway</a:t>
            </a:r>
            <a:r>
              <a:rPr lang="en-US" sz="1200">
                <a:solidFill>
                  <a:srgbClr val="34373F"/>
                </a:solidFill>
              </a:rPr>
              <a:t>. </a:t>
            </a:r>
          </a:p>
          <a:p>
            <a:pPr marL="285750" lvl="0" indent="-285750">
              <a:spcBef>
                <a:spcPts val="600"/>
              </a:spcBef>
              <a:buFont typeface="Arial" panose="020B0604020202020204" pitchFamily="34" charset="0"/>
              <a:buChar char="•"/>
              <a:defRPr/>
            </a:pPr>
            <a:r>
              <a:rPr lang="en-US" sz="1200" b="1">
                <a:solidFill>
                  <a:srgbClr val="34373F"/>
                </a:solidFill>
              </a:rPr>
              <a:t>4,871 Standalone Cohorts </a:t>
            </a:r>
            <a:r>
              <a:rPr lang="en-US" sz="1200">
                <a:solidFill>
                  <a:srgbClr val="34373F"/>
                </a:solidFill>
              </a:rPr>
              <a:t>form the peripheral layer of the network </a:t>
            </a:r>
            <a:r>
              <a:rPr lang="en-US" sz="1200" b="1">
                <a:solidFill>
                  <a:srgbClr val="34373F"/>
                </a:solidFill>
              </a:rPr>
              <a:t>with limited referral or treatment activity</a:t>
            </a:r>
            <a:r>
              <a:rPr lang="en-US" sz="1200">
                <a:solidFill>
                  <a:srgbClr val="34373F"/>
                </a:solidFill>
              </a:rPr>
              <a:t>.</a:t>
            </a:r>
          </a:p>
        </p:txBody>
      </p:sp>
      <p:sp>
        <p:nvSpPr>
          <p:cNvPr id="7" name="Title 1">
            <a:extLst>
              <a:ext uri="{FF2B5EF4-FFF2-40B4-BE49-F238E27FC236}">
                <a16:creationId xmlns:a16="http://schemas.microsoft.com/office/drawing/2014/main" id="{D33CE481-F988-178A-FA18-5960256274BE}"/>
              </a:ext>
            </a:extLst>
          </p:cNvPr>
          <p:cNvSpPr txBox="1">
            <a:spLocks/>
          </p:cNvSpPr>
          <p:nvPr/>
        </p:nvSpPr>
        <p:spPr>
          <a:xfrm>
            <a:off x="373521" y="1908225"/>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9" name="Title 1">
            <a:extLst>
              <a:ext uri="{FF2B5EF4-FFF2-40B4-BE49-F238E27FC236}">
                <a16:creationId xmlns:a16="http://schemas.microsoft.com/office/drawing/2014/main" id="{924F45C5-B935-2F4F-276D-CD2B90C4024D}"/>
              </a:ext>
            </a:extLst>
          </p:cNvPr>
          <p:cNvSpPr txBox="1">
            <a:spLocks/>
          </p:cNvSpPr>
          <p:nvPr/>
        </p:nvSpPr>
        <p:spPr>
          <a:xfrm>
            <a:off x="1" y="1807330"/>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Cluster Architecture Types</a:t>
            </a:r>
          </a:p>
        </p:txBody>
      </p:sp>
      <p:sp>
        <p:nvSpPr>
          <p:cNvPr id="10" name="Rectangle 9">
            <a:extLst>
              <a:ext uri="{FF2B5EF4-FFF2-40B4-BE49-F238E27FC236}">
                <a16:creationId xmlns:a16="http://schemas.microsoft.com/office/drawing/2014/main" id="{24DBF9C8-0FC0-FC69-E1F2-E3C35138DF85}"/>
              </a:ext>
            </a:extLst>
          </p:cNvPr>
          <p:cNvSpPr/>
          <p:nvPr/>
        </p:nvSpPr>
        <p:spPr>
          <a:xfrm>
            <a:off x="7924800" y="1480076"/>
            <a:ext cx="4152900" cy="2210527"/>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a:solidFill>
                  <a:schemeClr val="tx1"/>
                </a:solidFill>
                <a:ea typeface="League Spartan" charset="0"/>
                <a:cs typeface="Poppins" pitchFamily="2" charset="77"/>
              </a:rPr>
              <a:t>Treat the </a:t>
            </a:r>
            <a:r>
              <a:rPr lang="en-US" sz="1200" b="1">
                <a:solidFill>
                  <a:schemeClr val="tx1"/>
                </a:solidFill>
                <a:ea typeface="League Spartan" charset="0"/>
                <a:cs typeface="Poppins" pitchFamily="2" charset="77"/>
              </a:rPr>
              <a:t>548 self-sustained hubs as a concentrated, activation cohort pre-launch</a:t>
            </a:r>
            <a:r>
              <a:rPr lang="en-US" sz="1200">
                <a:solidFill>
                  <a:schemeClr val="tx1"/>
                </a:solidFill>
                <a:ea typeface="League Spartan" charset="0"/>
                <a:cs typeface="Poppins" pitchFamily="2" charset="77"/>
              </a:rPr>
              <a:t> as these are </a:t>
            </a:r>
            <a:r>
              <a:rPr lang="en-US" sz="1200" b="1">
                <a:solidFill>
                  <a:schemeClr val="tx1"/>
                </a:solidFill>
                <a:ea typeface="League Spartan" charset="0"/>
                <a:cs typeface="Poppins" pitchFamily="2" charset="77"/>
              </a:rPr>
              <a:t>high-impact switch targets.</a:t>
            </a:r>
            <a:endParaRPr lang="en-US" sz="1200">
              <a:solidFill>
                <a:schemeClr val="tx1"/>
              </a:solidFill>
              <a:ea typeface="League Spartan" charset="0"/>
              <a:cs typeface="Poppins" pitchFamily="2" charset="77"/>
            </a:endParaRPr>
          </a:p>
          <a:p>
            <a:pPr marL="171450" indent="-171450">
              <a:spcBef>
                <a:spcPts val="600"/>
              </a:spcBef>
              <a:buFont typeface="Arial" panose="020B0604020202020204" pitchFamily="34" charset="0"/>
              <a:buChar char="•"/>
            </a:pPr>
            <a:r>
              <a:rPr lang="en-US" sz="1200">
                <a:solidFill>
                  <a:schemeClr val="tx1"/>
                </a:solidFill>
                <a:ea typeface="League Spartan" charset="0"/>
                <a:cs typeface="Poppins" pitchFamily="2" charset="77"/>
              </a:rPr>
              <a:t>Field effort </a:t>
            </a:r>
            <a:r>
              <a:rPr lang="en-US" sz="1200" b="1">
                <a:solidFill>
                  <a:schemeClr val="tx1"/>
                </a:solidFill>
                <a:ea typeface="League Spartan" charset="0"/>
                <a:cs typeface="Poppins" pitchFamily="2" charset="77"/>
              </a:rPr>
              <a:t>at launch</a:t>
            </a:r>
            <a:r>
              <a:rPr lang="en-US" sz="1200">
                <a:solidFill>
                  <a:schemeClr val="tx1"/>
                </a:solidFill>
                <a:ea typeface="League Spartan" charset="0"/>
                <a:cs typeface="Poppins" pitchFamily="2" charset="77"/>
              </a:rPr>
              <a:t> should be focused on </a:t>
            </a:r>
            <a:r>
              <a:rPr lang="en-US" sz="1200" b="1">
                <a:solidFill>
                  <a:schemeClr val="tx1"/>
                </a:solidFill>
                <a:ea typeface="League Spartan" charset="0"/>
                <a:cs typeface="Poppins" pitchFamily="2" charset="77"/>
              </a:rPr>
              <a:t>clustered communities </a:t>
            </a:r>
            <a:r>
              <a:rPr lang="en-US" sz="1200">
                <a:solidFill>
                  <a:schemeClr val="tx1"/>
                </a:solidFill>
                <a:ea typeface="League Spartan" charset="0"/>
                <a:cs typeface="Poppins" pitchFamily="2" charset="77"/>
              </a:rPr>
              <a:t>to drive patient volume from prescribing pattern switches. The strategy should be to engage with </a:t>
            </a:r>
            <a:r>
              <a:rPr lang="en-US" sz="1200" b="1">
                <a:solidFill>
                  <a:schemeClr val="tx1"/>
                </a:solidFill>
                <a:ea typeface="League Spartan" charset="0"/>
                <a:cs typeface="Poppins" pitchFamily="2" charset="77"/>
              </a:rPr>
              <a:t>the most connected HCP within an active cluster eventually leading to activation of the referral network.</a:t>
            </a:r>
            <a:endParaRPr lang="en-US" sz="1200">
              <a:solidFill>
                <a:schemeClr val="tx1"/>
              </a:solidFill>
              <a:ea typeface="League Spartan" charset="0"/>
              <a:cs typeface="Poppins" pitchFamily="2" charset="77"/>
            </a:endParaRPr>
          </a:p>
          <a:p>
            <a:pPr marL="171450" indent="-171450">
              <a:spcBef>
                <a:spcPts val="600"/>
              </a:spcBef>
              <a:buFont typeface="Arial" panose="020B0604020202020204" pitchFamily="34" charset="0"/>
              <a:buChar char="•"/>
            </a:pPr>
            <a:r>
              <a:rPr lang="en-US" sz="1200" b="1">
                <a:solidFill>
                  <a:schemeClr val="tx1"/>
                </a:solidFill>
                <a:ea typeface="League Spartan" charset="0"/>
                <a:cs typeface="Poppins" pitchFamily="2" charset="77"/>
              </a:rPr>
              <a:t>Reactively target the HCPs in 4,871 standalone cohorts for post-launch expansion </a:t>
            </a:r>
            <a:r>
              <a:rPr lang="en-US" sz="1200">
                <a:solidFill>
                  <a:schemeClr val="tx1"/>
                </a:solidFill>
                <a:ea typeface="League Spartan" charset="0"/>
                <a:cs typeface="Poppins" pitchFamily="2" charset="77"/>
              </a:rPr>
              <a:t>based on real-time signals and gathered field intelligence.</a:t>
            </a:r>
            <a:endParaRPr lang="en-US" sz="1200">
              <a:solidFill>
                <a:srgbClr val="34373F"/>
              </a:solidFill>
              <a:ea typeface="League Spartan" charset="0"/>
              <a:cs typeface="Poppins" pitchFamily="2" charset="77"/>
            </a:endParaRPr>
          </a:p>
        </p:txBody>
      </p:sp>
      <p:sp>
        <p:nvSpPr>
          <p:cNvPr id="11" name="Rectangle 10">
            <a:extLst>
              <a:ext uri="{FF2B5EF4-FFF2-40B4-BE49-F238E27FC236}">
                <a16:creationId xmlns:a16="http://schemas.microsoft.com/office/drawing/2014/main" id="{0B6A3503-5F2D-5043-E39C-6BA20584EC14}"/>
              </a:ext>
            </a:extLst>
          </p:cNvPr>
          <p:cNvSpPr/>
          <p:nvPr/>
        </p:nvSpPr>
        <p:spPr>
          <a:xfrm>
            <a:off x="1705708" y="3959790"/>
            <a:ext cx="5932051" cy="793124"/>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indent="-285750">
              <a:spcBef>
                <a:spcPts val="600"/>
              </a:spcBef>
              <a:buFont typeface="Arial" panose="020B0604020202020204" pitchFamily="34" charset="0"/>
              <a:buChar char="•"/>
              <a:defRPr/>
            </a:pPr>
            <a:r>
              <a:rPr lang="en-US" sz="1200">
                <a:solidFill>
                  <a:srgbClr val="34373F"/>
                </a:solidFill>
              </a:rPr>
              <a:t>These </a:t>
            </a:r>
            <a:r>
              <a:rPr lang="en-US" sz="1200" b="1">
                <a:solidFill>
                  <a:srgbClr val="34373F"/>
                </a:solidFill>
              </a:rPr>
              <a:t>Clustered Communities are held together by HCP relationships rather than institutional affiliation</a:t>
            </a:r>
            <a:r>
              <a:rPr lang="en-US" sz="1200">
                <a:solidFill>
                  <a:srgbClr val="34373F"/>
                </a:solidFill>
              </a:rPr>
              <a:t> with </a:t>
            </a:r>
            <a:r>
              <a:rPr lang="en-US" sz="1200" b="1">
                <a:solidFill>
                  <a:srgbClr val="34373F"/>
                </a:solidFill>
              </a:rPr>
              <a:t>74% of referral activity crossing institutional lines </a:t>
            </a:r>
            <a:r>
              <a:rPr lang="en-US" sz="1200">
                <a:solidFill>
                  <a:srgbClr val="34373F"/>
                </a:solidFill>
              </a:rPr>
              <a:t>making relationship-level engagement the most natural access point into NT1 care networks.</a:t>
            </a:r>
          </a:p>
        </p:txBody>
      </p:sp>
      <p:grpSp>
        <p:nvGrpSpPr>
          <p:cNvPr id="4" name="Group 3">
            <a:extLst>
              <a:ext uri="{FF2B5EF4-FFF2-40B4-BE49-F238E27FC236}">
                <a16:creationId xmlns:a16="http://schemas.microsoft.com/office/drawing/2014/main" id="{F2FAC7B3-30B2-0553-26F3-C44B39861F56}"/>
              </a:ext>
            </a:extLst>
          </p:cNvPr>
          <p:cNvGrpSpPr/>
          <p:nvPr/>
        </p:nvGrpSpPr>
        <p:grpSpPr>
          <a:xfrm>
            <a:off x="1" y="3917700"/>
            <a:ext cx="1617784" cy="877305"/>
            <a:chOff x="1" y="3589709"/>
            <a:chExt cx="1617784" cy="877305"/>
          </a:xfrm>
        </p:grpSpPr>
        <p:sp>
          <p:nvSpPr>
            <p:cNvPr id="12" name="Title 1">
              <a:extLst>
                <a:ext uri="{FF2B5EF4-FFF2-40B4-BE49-F238E27FC236}">
                  <a16:creationId xmlns:a16="http://schemas.microsoft.com/office/drawing/2014/main" id="{B290815C-2E33-3056-D7BA-0CF880AB0450}"/>
                </a:ext>
              </a:extLst>
            </p:cNvPr>
            <p:cNvSpPr txBox="1">
              <a:spLocks/>
            </p:cNvSpPr>
            <p:nvPr/>
          </p:nvSpPr>
          <p:spPr>
            <a:xfrm>
              <a:off x="373521" y="3690604"/>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41BAA97D-310D-6D7D-7061-0F9CAAE87470}"/>
                </a:ext>
              </a:extLst>
            </p:cNvPr>
            <p:cNvSpPr txBox="1">
              <a:spLocks/>
            </p:cNvSpPr>
            <p:nvPr/>
          </p:nvSpPr>
          <p:spPr>
            <a:xfrm>
              <a:off x="1" y="3589709"/>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lvl="0" algn="l">
                <a:spcAft>
                  <a:spcPts val="600"/>
                </a:spcAft>
                <a:defRPr/>
              </a:pPr>
              <a:r>
                <a:rPr lang="en-US" sz="1400">
                  <a:solidFill>
                    <a:prstClr val="white"/>
                  </a:solidFill>
                  <a:latin typeface="+mj-lt"/>
                </a:rPr>
                <a:t>Relationship Dynamics</a:t>
              </a:r>
            </a:p>
          </p:txBody>
        </p:sp>
      </p:grpSp>
      <p:sp>
        <p:nvSpPr>
          <p:cNvPr id="24" name="Rectangle 23">
            <a:extLst>
              <a:ext uri="{FF2B5EF4-FFF2-40B4-BE49-F238E27FC236}">
                <a16:creationId xmlns:a16="http://schemas.microsoft.com/office/drawing/2014/main" id="{9264D558-672B-4AA6-9015-5137E08B628F}"/>
              </a:ext>
            </a:extLst>
          </p:cNvPr>
          <p:cNvSpPr/>
          <p:nvPr/>
        </p:nvSpPr>
        <p:spPr>
          <a:xfrm>
            <a:off x="1705708" y="5044836"/>
            <a:ext cx="5932051" cy="170273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285750" lvl="0" indent="-285750">
              <a:spcBef>
                <a:spcPts val="600"/>
              </a:spcBef>
              <a:buFont typeface="Arial" panose="020B0604020202020204" pitchFamily="34" charset="0"/>
              <a:buChar char="•"/>
              <a:defRPr/>
            </a:pPr>
            <a:r>
              <a:rPr lang="en-US" sz="1200">
                <a:solidFill>
                  <a:srgbClr val="34373F"/>
                </a:solidFill>
              </a:rPr>
              <a:t>Cluster concentration is highest in TX, CA, FL, and OH (6–7% each), alongside NY, MI, PA, NC, IN, and TN, with these </a:t>
            </a:r>
            <a:r>
              <a:rPr lang="en-US" sz="1200" b="1">
                <a:solidFill>
                  <a:srgbClr val="34373F"/>
                </a:solidFill>
              </a:rPr>
              <a:t>10 states accounting for 50% of all clustered community referral activity</a:t>
            </a:r>
            <a:r>
              <a:rPr lang="en-US" sz="1200">
                <a:solidFill>
                  <a:srgbClr val="34373F"/>
                </a:solidFill>
              </a:rPr>
              <a:t>.</a:t>
            </a:r>
          </a:p>
          <a:p>
            <a:pPr marL="285750" lvl="0" indent="-285750">
              <a:spcBef>
                <a:spcPts val="600"/>
              </a:spcBef>
              <a:buFont typeface="Arial" panose="020B0604020202020204" pitchFamily="34" charset="0"/>
              <a:buChar char="•"/>
              <a:defRPr/>
            </a:pPr>
            <a:r>
              <a:rPr lang="en-US" sz="1200">
                <a:solidFill>
                  <a:srgbClr val="34373F"/>
                </a:solidFill>
              </a:rPr>
              <a:t>Across the overall market, network maturity varies. </a:t>
            </a:r>
            <a:r>
              <a:rPr lang="en-US" sz="1200" b="1">
                <a:solidFill>
                  <a:srgbClr val="34373F"/>
                </a:solidFill>
              </a:rPr>
              <a:t>OH, MI, and PA have</a:t>
            </a:r>
            <a:r>
              <a:rPr lang="en-US" sz="1200">
                <a:solidFill>
                  <a:srgbClr val="34373F"/>
                </a:solidFill>
              </a:rPr>
              <a:t> </a:t>
            </a:r>
            <a:r>
              <a:rPr lang="en-US" sz="1200" b="1">
                <a:solidFill>
                  <a:srgbClr val="34373F"/>
                </a:solidFill>
              </a:rPr>
              <a:t>the densest referral ecosystems</a:t>
            </a:r>
            <a:r>
              <a:rPr lang="en-US" sz="1200">
                <a:solidFill>
                  <a:srgbClr val="34373F"/>
                </a:solidFill>
              </a:rPr>
              <a:t>. While, </a:t>
            </a:r>
            <a:r>
              <a:rPr lang="en-US" sz="1200" b="1">
                <a:solidFill>
                  <a:srgbClr val="34373F"/>
                </a:solidFill>
              </a:rPr>
              <a:t>FL and CA </a:t>
            </a:r>
            <a:r>
              <a:rPr lang="en-US" sz="1200">
                <a:solidFill>
                  <a:srgbClr val="34373F"/>
                </a:solidFill>
              </a:rPr>
              <a:t>present a high-volume opportunity with </a:t>
            </a:r>
            <a:r>
              <a:rPr lang="en-US" sz="1200" b="1">
                <a:solidFill>
                  <a:srgbClr val="34373F"/>
                </a:solidFill>
              </a:rPr>
              <a:t>room to deepen structural engagement</a:t>
            </a:r>
            <a:r>
              <a:rPr lang="en-US" sz="1200">
                <a:solidFill>
                  <a:srgbClr val="34373F"/>
                </a:solidFill>
              </a:rPr>
              <a:t>.</a:t>
            </a:r>
          </a:p>
        </p:txBody>
      </p:sp>
      <p:grpSp>
        <p:nvGrpSpPr>
          <p:cNvPr id="5" name="Group 4">
            <a:extLst>
              <a:ext uri="{FF2B5EF4-FFF2-40B4-BE49-F238E27FC236}">
                <a16:creationId xmlns:a16="http://schemas.microsoft.com/office/drawing/2014/main" id="{F4D7A9A9-12F6-5EA5-FCB8-D4F711DC0628}"/>
              </a:ext>
            </a:extLst>
          </p:cNvPr>
          <p:cNvGrpSpPr/>
          <p:nvPr/>
        </p:nvGrpSpPr>
        <p:grpSpPr>
          <a:xfrm>
            <a:off x="1" y="5457553"/>
            <a:ext cx="1617784" cy="877305"/>
            <a:chOff x="1" y="5457553"/>
            <a:chExt cx="1617784" cy="877305"/>
          </a:xfrm>
        </p:grpSpPr>
        <p:sp>
          <p:nvSpPr>
            <p:cNvPr id="25" name="Title 1">
              <a:extLst>
                <a:ext uri="{FF2B5EF4-FFF2-40B4-BE49-F238E27FC236}">
                  <a16:creationId xmlns:a16="http://schemas.microsoft.com/office/drawing/2014/main" id="{491827D7-7E8C-8AA4-07A8-5C68C415B06B}"/>
                </a:ext>
              </a:extLst>
            </p:cNvPr>
            <p:cNvSpPr txBox="1">
              <a:spLocks/>
            </p:cNvSpPr>
            <p:nvPr/>
          </p:nvSpPr>
          <p:spPr>
            <a:xfrm>
              <a:off x="373521" y="5558448"/>
              <a:ext cx="1244264" cy="675514"/>
            </a:xfrm>
            <a:prstGeom prst="homePlate">
              <a:avLst>
                <a:gd name="adj" fmla="val 12882"/>
              </a:avLst>
            </a:prstGeom>
            <a:solidFill>
              <a:schemeClr val="accent2">
                <a:lumMod val="20000"/>
                <a:lumOff val="80000"/>
              </a:schemeClr>
            </a:solidFill>
          </p:spPr>
          <p:txBody>
            <a:bodyPr vert="horz" lIns="72000" tIns="72000" rIns="72000" bIns="7200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6" name="Title 1">
              <a:extLst>
                <a:ext uri="{FF2B5EF4-FFF2-40B4-BE49-F238E27FC236}">
                  <a16:creationId xmlns:a16="http://schemas.microsoft.com/office/drawing/2014/main" id="{3FCEEF68-2FB8-642C-5045-1080BD88D429}"/>
                </a:ext>
              </a:extLst>
            </p:cNvPr>
            <p:cNvSpPr txBox="1">
              <a:spLocks/>
            </p:cNvSpPr>
            <p:nvPr/>
          </p:nvSpPr>
          <p:spPr>
            <a:xfrm>
              <a:off x="1" y="5457553"/>
              <a:ext cx="1529862" cy="877305"/>
            </a:xfrm>
            <a:prstGeom prst="homePlate">
              <a:avLst>
                <a:gd name="adj" fmla="val 12882"/>
              </a:avLst>
            </a:prstGeom>
            <a:solidFill>
              <a:schemeClr val="accent2"/>
            </a:solidFill>
          </p:spPr>
          <p:txBody>
            <a:bodyPr vert="horz" lIns="274320" tIns="0" rIns="0" bIns="0" rtlCol="0" anchor="ctr">
              <a:noAutofit/>
            </a:bodyPr>
            <a:lstStyle>
              <a:lvl1pPr algn="ctr" defTabSz="914400" rtl="0" eaLnBrk="1" latinLnBrk="0" hangingPunct="1">
                <a:lnSpc>
                  <a:spcPct val="100000"/>
                </a:lnSpc>
                <a:spcBef>
                  <a:spcPct val="0"/>
                </a:spcBef>
                <a:buNone/>
                <a:defRPr sz="2200" b="1" kern="1200" baseline="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j-lt"/>
                  <a:ea typeface="+mj-ea"/>
                  <a:cs typeface="Arial" panose="020B0604020202020204" pitchFamily="34" charset="0"/>
                </a:rPr>
                <a:t>Geographic Concentration &amp; Market Maturity</a:t>
              </a:r>
            </a:p>
          </p:txBody>
        </p:sp>
      </p:grpSp>
      <p:sp>
        <p:nvSpPr>
          <p:cNvPr id="27" name="Rectangle 26">
            <a:extLst>
              <a:ext uri="{FF2B5EF4-FFF2-40B4-BE49-F238E27FC236}">
                <a16:creationId xmlns:a16="http://schemas.microsoft.com/office/drawing/2014/main" id="{B3A9C26D-886A-FF6E-6042-B00902369BA1}"/>
              </a:ext>
            </a:extLst>
          </p:cNvPr>
          <p:cNvSpPr/>
          <p:nvPr/>
        </p:nvSpPr>
        <p:spPr>
          <a:xfrm>
            <a:off x="7939333" y="5044836"/>
            <a:ext cx="4138367" cy="1702739"/>
          </a:xfrm>
          <a:prstGeom prst="rect">
            <a:avLst/>
          </a:prstGeom>
          <a:solidFill>
            <a:srgbClr val="FDEDE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t"/>
          <a:lstStyle/>
          <a:p>
            <a:pPr marL="171450" indent="-171450">
              <a:spcBef>
                <a:spcPts val="600"/>
              </a:spcBef>
              <a:buFont typeface="Arial" panose="020B0604020202020204" pitchFamily="34" charset="0"/>
              <a:buChar char="•"/>
            </a:pPr>
            <a:r>
              <a:rPr lang="en-US" sz="1200" b="1">
                <a:solidFill>
                  <a:schemeClr val="tx1"/>
                </a:solidFill>
                <a:ea typeface="League Spartan" charset="0"/>
                <a:cs typeface="Poppins" pitchFamily="2" charset="77"/>
              </a:rPr>
              <a:t>Prioritize OH, MI, and PA </a:t>
            </a:r>
            <a:r>
              <a:rPr lang="en-US" sz="1200">
                <a:solidFill>
                  <a:schemeClr val="tx1"/>
                </a:solidFill>
                <a:ea typeface="League Spartan" charset="0"/>
                <a:cs typeface="Poppins" pitchFamily="2" charset="77"/>
              </a:rPr>
              <a:t>for </a:t>
            </a:r>
            <a:r>
              <a:rPr lang="en-US" sz="1200" err="1">
                <a:solidFill>
                  <a:schemeClr val="tx1"/>
                </a:solidFill>
                <a:ea typeface="League Spartan" charset="0"/>
                <a:cs typeface="Poppins" pitchFamily="2" charset="77"/>
              </a:rPr>
              <a:t>oveporexton</a:t>
            </a:r>
            <a:r>
              <a:rPr lang="en-US" sz="1200">
                <a:solidFill>
                  <a:schemeClr val="tx1"/>
                </a:solidFill>
                <a:ea typeface="League Spartan" charset="0"/>
                <a:cs typeface="Poppins" pitchFamily="2" charset="77"/>
              </a:rPr>
              <a:t> launch activation</a:t>
            </a:r>
            <a:r>
              <a:rPr lang="en-US" sz="1200" b="1">
                <a:solidFill>
                  <a:schemeClr val="tx1"/>
                </a:solidFill>
                <a:ea typeface="League Spartan" charset="0"/>
                <a:cs typeface="Poppins" pitchFamily="2" charset="77"/>
              </a:rPr>
              <a:t>. Established referral relationships </a:t>
            </a:r>
            <a:r>
              <a:rPr lang="en-US" sz="1200">
                <a:solidFill>
                  <a:schemeClr val="tx1"/>
                </a:solidFill>
                <a:ea typeface="League Spartan" charset="0"/>
                <a:cs typeface="Poppins" pitchFamily="2" charset="77"/>
              </a:rPr>
              <a:t>in these markets </a:t>
            </a:r>
            <a:r>
              <a:rPr lang="en-US" sz="1200" b="1">
                <a:solidFill>
                  <a:schemeClr val="tx1"/>
                </a:solidFill>
                <a:ea typeface="League Spartan" charset="0"/>
                <a:cs typeface="Poppins" pitchFamily="2" charset="77"/>
              </a:rPr>
              <a:t>mean HCP conversions propagate through the network</a:t>
            </a:r>
            <a:r>
              <a:rPr lang="en-US" sz="1200">
                <a:solidFill>
                  <a:schemeClr val="tx1"/>
                </a:solidFill>
                <a:ea typeface="League Spartan" charset="0"/>
                <a:cs typeface="Poppins" pitchFamily="2" charset="77"/>
              </a:rPr>
              <a:t>, maximizing reach per engagement. </a:t>
            </a:r>
          </a:p>
          <a:p>
            <a:pPr marL="171450" indent="-171450">
              <a:spcBef>
                <a:spcPts val="600"/>
              </a:spcBef>
              <a:buFont typeface="Arial" panose="020B0604020202020204" pitchFamily="34" charset="0"/>
              <a:buChar char="•"/>
            </a:pPr>
            <a:r>
              <a:rPr lang="en-US" sz="1200">
                <a:solidFill>
                  <a:schemeClr val="tx1"/>
                </a:solidFill>
                <a:ea typeface="League Spartan" charset="0"/>
                <a:cs typeface="Poppins" pitchFamily="2" charset="77"/>
              </a:rPr>
              <a:t>Approach </a:t>
            </a:r>
            <a:r>
              <a:rPr lang="en-US" sz="1200" b="1">
                <a:solidFill>
                  <a:schemeClr val="tx1"/>
                </a:solidFill>
                <a:ea typeface="League Spartan" charset="0"/>
                <a:cs typeface="Poppins" pitchFamily="2" charset="77"/>
              </a:rPr>
              <a:t>FL and CA as high-potential expansion markets. </a:t>
            </a:r>
            <a:r>
              <a:rPr lang="en-US" sz="1200">
                <a:solidFill>
                  <a:schemeClr val="tx1"/>
                </a:solidFill>
                <a:ea typeface="League Spartan" charset="0"/>
                <a:cs typeface="Poppins" pitchFamily="2" charset="77"/>
              </a:rPr>
              <a:t>While the patient volume is there; building referral alignment through </a:t>
            </a:r>
            <a:r>
              <a:rPr lang="en-US" sz="1200" err="1">
                <a:solidFill>
                  <a:schemeClr val="tx1"/>
                </a:solidFill>
                <a:ea typeface="League Spartan" charset="0"/>
                <a:cs typeface="Poppins" pitchFamily="2" charset="77"/>
              </a:rPr>
              <a:t>oveporexton</a:t>
            </a:r>
            <a:r>
              <a:rPr lang="en-US" sz="1200">
                <a:solidFill>
                  <a:schemeClr val="tx1"/>
                </a:solidFill>
                <a:ea typeface="League Spartan" charset="0"/>
                <a:cs typeface="Poppins" pitchFamily="2" charset="77"/>
              </a:rPr>
              <a:t> conversations in referral channels can build sustained post-launch uptake</a:t>
            </a:r>
            <a:endParaRPr lang="en-US" sz="1200" b="1">
              <a:solidFill>
                <a:srgbClr val="34373F"/>
              </a:solidFill>
              <a:ea typeface="League Spartan" charset="0"/>
              <a:cs typeface="Poppins" pitchFamily="2" charset="77"/>
            </a:endParaRPr>
          </a:p>
        </p:txBody>
      </p:sp>
    </p:spTree>
    <p:extLst>
      <p:ext uri="{BB962C8B-B14F-4D97-AF65-F5344CB8AC3E}">
        <p14:creationId xmlns:p14="http://schemas.microsoft.com/office/powerpoint/2010/main" val="7027712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24"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59EC-8D40-D6FA-9EC0-C363994E5D26}"/>
              </a:ext>
            </a:extLst>
          </p:cNvPr>
          <p:cNvSpPr>
            <a:spLocks noGrp="1"/>
          </p:cNvSpPr>
          <p:nvPr>
            <p:ph type="ctrTitle"/>
          </p:nvPr>
        </p:nvSpPr>
        <p:spPr/>
        <p:txBody>
          <a:bodyPr/>
          <a:lstStyle/>
          <a:p>
            <a:r>
              <a:rPr lang="en-US" dirty="0"/>
              <a:t>Appendix</a:t>
            </a:r>
            <a:endParaRPr lang="en-IN" dirty="0"/>
          </a:p>
        </p:txBody>
      </p:sp>
    </p:spTree>
    <p:extLst>
      <p:ext uri="{BB962C8B-B14F-4D97-AF65-F5344CB8AC3E}">
        <p14:creationId xmlns:p14="http://schemas.microsoft.com/office/powerpoint/2010/main" val="700237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C6AA-AC27-F092-C8A4-8B76DEB4E1B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AAB51D7-7CBE-05BA-2BFD-9C860ACAF4D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JP" sz="800" b="1" i="0" u="none" strike="noStrike" kern="1200" cap="none" spc="100" normalizeH="0" baseline="0" noProof="0">
                <a:ln>
                  <a:noFill/>
                </a:ln>
                <a:solidFill>
                  <a:srgbClr val="34373F"/>
                </a:solidFill>
                <a:effectLst/>
                <a:uLnTx/>
                <a:uFillTx/>
                <a:latin typeface="Calibri" panose="020F0502020204030204"/>
                <a:ea typeface="+mn-ea"/>
                <a:cs typeface="+mn-cs"/>
              </a:rPr>
              <a:t> </a:t>
            </a:r>
          </a:p>
        </p:txBody>
      </p:sp>
      <p:sp>
        <p:nvSpPr>
          <p:cNvPr id="4" name="Title 3">
            <a:extLst>
              <a:ext uri="{FF2B5EF4-FFF2-40B4-BE49-F238E27FC236}">
                <a16:creationId xmlns:a16="http://schemas.microsoft.com/office/drawing/2014/main" id="{8D57B897-71D2-B491-893C-F02AF2E56D4C}"/>
              </a:ext>
            </a:extLst>
          </p:cNvPr>
          <p:cNvSpPr>
            <a:spLocks noGrp="1"/>
          </p:cNvSpPr>
          <p:nvPr>
            <p:ph type="title"/>
          </p:nvPr>
        </p:nvSpPr>
        <p:spPr/>
        <p:txBody>
          <a:bodyPr>
            <a:normAutofit fontScale="90000"/>
          </a:bodyPr>
          <a:lstStyle/>
          <a:p>
            <a:r>
              <a:rPr lang="en-US">
                <a:latin typeface="+mj-lt"/>
              </a:rPr>
              <a:t>The foundation of the solution is to build a comprehensive patient-flow network to map real-world referral relationships</a:t>
            </a:r>
            <a:endParaRPr lang="en-IN">
              <a:latin typeface="+mj-lt"/>
            </a:endParaRPr>
          </a:p>
        </p:txBody>
      </p:sp>
      <p:sp>
        <p:nvSpPr>
          <p:cNvPr id="5" name="Slide Number Placeholder 4">
            <a:extLst>
              <a:ext uri="{FF2B5EF4-FFF2-40B4-BE49-F238E27FC236}">
                <a16:creationId xmlns:a16="http://schemas.microsoft.com/office/drawing/2014/main" id="{9C526044-514E-0A65-5EF7-D242A44C9806}"/>
              </a:ext>
            </a:extLst>
          </p:cNvPr>
          <p:cNvSpPr>
            <a:spLocks noGrp="1"/>
          </p:cNvSpPr>
          <p:nvPr>
            <p:ph type="sldNum" sz="quarter" idx="4"/>
          </p:nvPr>
        </p:nvSpPr>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29</a:t>
            </a:fld>
            <a:endParaRPr kumimoji="0" lang="ja-JP" altLang="en-US" sz="800" b="1" i="0" u="none" strike="noStrike" kern="1200" cap="none" spc="0" normalizeH="0" baseline="0" noProof="0">
              <a:ln>
                <a:noFill/>
              </a:ln>
              <a:solidFill>
                <a:srgbClr val="34373F"/>
              </a:solidFill>
              <a:effectLst/>
              <a:uLnTx/>
              <a:uFillTx/>
              <a:latin typeface="Calibri" panose="020F0502020204030204"/>
              <a:ea typeface="メイリオ" pitchFamily="50" charset="-128"/>
              <a:cs typeface="Calibri" panose="020F0502020204030204" pitchFamily="34" charset="0"/>
            </a:endParaRPr>
          </a:p>
        </p:txBody>
      </p:sp>
      <p:sp>
        <p:nvSpPr>
          <p:cNvPr id="6" name="Text Placeholder 5">
            <a:extLst>
              <a:ext uri="{FF2B5EF4-FFF2-40B4-BE49-F238E27FC236}">
                <a16:creationId xmlns:a16="http://schemas.microsoft.com/office/drawing/2014/main" id="{7FDF1D12-09BD-E232-42F0-1D63AB6219C7}"/>
              </a:ext>
            </a:extLst>
          </p:cNvPr>
          <p:cNvSpPr>
            <a:spLocks noGrp="1"/>
          </p:cNvSpPr>
          <p:nvPr>
            <p:ph type="body" sz="quarter" idx="16"/>
          </p:nvPr>
        </p:nvSpPr>
        <p:spPr/>
        <p:txBody>
          <a:bodyPr/>
          <a:lstStyle/>
          <a:p>
            <a:endParaRPr lang="en-IN">
              <a:latin typeface="+mj-lt"/>
            </a:endParaRPr>
          </a:p>
        </p:txBody>
      </p:sp>
      <p:sp>
        <p:nvSpPr>
          <p:cNvPr id="7" name="Rectangle 6">
            <a:extLst>
              <a:ext uri="{FF2B5EF4-FFF2-40B4-BE49-F238E27FC236}">
                <a16:creationId xmlns:a16="http://schemas.microsoft.com/office/drawing/2014/main" id="{C5BFA28D-94B7-A96B-D0B0-00104E28B91D}"/>
              </a:ext>
            </a:extLst>
          </p:cNvPr>
          <p:cNvSpPr/>
          <p:nvPr/>
        </p:nvSpPr>
        <p:spPr>
          <a:xfrm>
            <a:off x="0" y="1253823"/>
            <a:ext cx="12192000" cy="363649"/>
          </a:xfrm>
          <a:prstGeom prst="rect">
            <a:avLst/>
          </a:prstGeom>
          <a:gradFill>
            <a:gsLst>
              <a:gs pos="100000">
                <a:schemeClr val="accent2"/>
              </a:gs>
              <a:gs pos="0">
                <a:schemeClr val="accent2"/>
              </a:gs>
              <a:gs pos="56000">
                <a:schemeClr val="accent1">
                  <a:lumMod val="60000"/>
                  <a:lumOff val="40000"/>
                </a:scheme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OBJECTIVE</a:t>
            </a:r>
            <a:r>
              <a:rPr kumimoji="0" lang="en-US" sz="1400" b="0" i="1"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 Transform claim-driven care transitions into a structured graph of HCP/HCO connectivity</a:t>
            </a:r>
          </a:p>
        </p:txBody>
      </p:sp>
      <p:sp>
        <p:nvSpPr>
          <p:cNvPr id="9" name="TextBox 8">
            <a:extLst>
              <a:ext uri="{FF2B5EF4-FFF2-40B4-BE49-F238E27FC236}">
                <a16:creationId xmlns:a16="http://schemas.microsoft.com/office/drawing/2014/main" id="{A37290E3-29C7-DEC6-739F-08FAF0E2B23B}"/>
              </a:ext>
            </a:extLst>
          </p:cNvPr>
          <p:cNvSpPr txBox="1"/>
          <p:nvPr/>
        </p:nvSpPr>
        <p:spPr>
          <a:xfrm>
            <a:off x="643367" y="1939736"/>
            <a:ext cx="268911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Patient Journey Construction</a:t>
            </a:r>
          </a:p>
        </p:txBody>
      </p:sp>
      <p:sp>
        <p:nvSpPr>
          <p:cNvPr id="11" name="TextBox 10">
            <a:extLst>
              <a:ext uri="{FF2B5EF4-FFF2-40B4-BE49-F238E27FC236}">
                <a16:creationId xmlns:a16="http://schemas.microsoft.com/office/drawing/2014/main" id="{50F8C862-B5FD-8E4D-121C-F74E46D9C588}"/>
              </a:ext>
            </a:extLst>
          </p:cNvPr>
          <p:cNvSpPr txBox="1"/>
          <p:nvPr/>
        </p:nvSpPr>
        <p:spPr>
          <a:xfrm>
            <a:off x="5096584" y="1939736"/>
            <a:ext cx="2000370"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Network Graphing</a:t>
            </a:r>
          </a:p>
        </p:txBody>
      </p:sp>
      <p:sp>
        <p:nvSpPr>
          <p:cNvPr id="14" name="TextBox 13">
            <a:extLst>
              <a:ext uri="{FF2B5EF4-FFF2-40B4-BE49-F238E27FC236}">
                <a16:creationId xmlns:a16="http://schemas.microsoft.com/office/drawing/2014/main" id="{F3C00EC5-2894-753F-DB89-8622B23072DB}"/>
              </a:ext>
            </a:extLst>
          </p:cNvPr>
          <p:cNvSpPr txBox="1"/>
          <p:nvPr/>
        </p:nvSpPr>
        <p:spPr>
          <a:xfrm>
            <a:off x="8959679" y="1939736"/>
            <a:ext cx="2000370"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Structural Profiling</a:t>
            </a:r>
          </a:p>
        </p:txBody>
      </p:sp>
      <p:cxnSp>
        <p:nvCxnSpPr>
          <p:cNvPr id="16" name="Straight Arrow Connector 15">
            <a:extLst>
              <a:ext uri="{FF2B5EF4-FFF2-40B4-BE49-F238E27FC236}">
                <a16:creationId xmlns:a16="http://schemas.microsoft.com/office/drawing/2014/main" id="{DAB6811C-4368-6686-5D05-D96D94317930}"/>
              </a:ext>
            </a:extLst>
          </p:cNvPr>
          <p:cNvCxnSpPr>
            <a:cxnSpLocks/>
          </p:cNvCxnSpPr>
          <p:nvPr/>
        </p:nvCxnSpPr>
        <p:spPr bwMode="gray">
          <a:xfrm>
            <a:off x="0" y="2716926"/>
            <a:ext cx="12192000" cy="0"/>
          </a:xfrm>
          <a:prstGeom prst="straightConnector1">
            <a:avLst/>
          </a:prstGeom>
          <a:ln w="12700" cap="rnd">
            <a:gradFill>
              <a:gsLst>
                <a:gs pos="0">
                  <a:schemeClr val="bg2"/>
                </a:gs>
                <a:gs pos="100000">
                  <a:schemeClr val="accent1"/>
                </a:gs>
              </a:gsLst>
              <a:lin ang="5400000" scaled="1"/>
            </a:gradFill>
            <a:round/>
            <a:tailEnd type="none" w="lg" len="lg"/>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2077974D-5997-6EEE-A89F-DDB1C4AD932D}"/>
              </a:ext>
            </a:extLst>
          </p:cNvPr>
          <p:cNvSpPr/>
          <p:nvPr/>
        </p:nvSpPr>
        <p:spPr bwMode="gray">
          <a:xfrm flipV="1">
            <a:off x="1858651"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a:ln>
                <a:noFill/>
              </a:ln>
              <a:solidFill>
                <a:srgbClr val="E1242A"/>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7434F799-AC94-BDA5-5297-014EA0B8D64C}"/>
              </a:ext>
            </a:extLst>
          </p:cNvPr>
          <p:cNvSpPr/>
          <p:nvPr/>
        </p:nvSpPr>
        <p:spPr bwMode="gray">
          <a:xfrm flipV="1">
            <a:off x="5967494"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1CA1E868-0C16-2E70-19BA-1EBF378B4A67}"/>
              </a:ext>
            </a:extLst>
          </p:cNvPr>
          <p:cNvSpPr/>
          <p:nvPr/>
        </p:nvSpPr>
        <p:spPr bwMode="gray">
          <a:xfrm flipV="1">
            <a:off x="9830589"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E499328A-1E9B-73CF-9343-E8FCE6585F82}"/>
              </a:ext>
            </a:extLst>
          </p:cNvPr>
          <p:cNvSpPr/>
          <p:nvPr/>
        </p:nvSpPr>
        <p:spPr>
          <a:xfrm>
            <a:off x="1749625"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4" name="Oval 23">
            <a:extLst>
              <a:ext uri="{FF2B5EF4-FFF2-40B4-BE49-F238E27FC236}">
                <a16:creationId xmlns:a16="http://schemas.microsoft.com/office/drawing/2014/main" id="{733CDB30-43AF-1920-8784-1085207C632C}"/>
              </a:ext>
            </a:extLst>
          </p:cNvPr>
          <p:cNvSpPr/>
          <p:nvPr/>
        </p:nvSpPr>
        <p:spPr>
          <a:xfrm>
            <a:off x="9721563"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5" name="Graphic 66">
            <a:extLst>
              <a:ext uri="{FF2B5EF4-FFF2-40B4-BE49-F238E27FC236}">
                <a16:creationId xmlns:a16="http://schemas.microsoft.com/office/drawing/2014/main" id="{4A438709-631C-BB1A-943C-AD68DE4D2BB6}"/>
              </a:ext>
            </a:extLst>
          </p:cNvPr>
          <p:cNvSpPr/>
          <p:nvPr/>
        </p:nvSpPr>
        <p:spPr>
          <a:xfrm>
            <a:off x="9863911" y="1825287"/>
            <a:ext cx="195613" cy="244781"/>
          </a:xfrm>
          <a:custGeom>
            <a:avLst/>
            <a:gdLst>
              <a:gd name="csX0" fmla="*/ 60258 w 331697"/>
              <a:gd name="csY0" fmla="*/ 0 h 415070"/>
              <a:gd name="csX1" fmla="*/ 0 w 331697"/>
              <a:gd name="csY1" fmla="*/ 60310 h 415070"/>
              <a:gd name="csX2" fmla="*/ 60258 w 331697"/>
              <a:gd name="csY2" fmla="*/ 120674 h 415070"/>
              <a:gd name="csX3" fmla="*/ 120568 w 331697"/>
              <a:gd name="csY3" fmla="*/ 60310 h 415070"/>
              <a:gd name="csX4" fmla="*/ 60258 w 331697"/>
              <a:gd name="csY4" fmla="*/ 0 h 415070"/>
              <a:gd name="csX5" fmla="*/ 60258 w 331697"/>
              <a:gd name="csY5" fmla="*/ 12971 h 415070"/>
              <a:gd name="csX6" fmla="*/ 107594 w 331697"/>
              <a:gd name="csY6" fmla="*/ 60308 h 415070"/>
              <a:gd name="csX7" fmla="*/ 60258 w 331697"/>
              <a:gd name="csY7" fmla="*/ 107697 h 415070"/>
              <a:gd name="csX8" fmla="*/ 12952 w 331697"/>
              <a:gd name="csY8" fmla="*/ 60308 h 415070"/>
              <a:gd name="csX9" fmla="*/ 60258 w 331697"/>
              <a:gd name="csY9" fmla="*/ 12971 h 415070"/>
              <a:gd name="csX10" fmla="*/ 156778 w 331697"/>
              <a:gd name="csY10" fmla="*/ 32506 h 415070"/>
              <a:gd name="csX11" fmla="*/ 152161 w 331697"/>
              <a:gd name="csY11" fmla="*/ 34401 h 415070"/>
              <a:gd name="csX12" fmla="*/ 150266 w 331697"/>
              <a:gd name="csY12" fmla="*/ 39018 h 415070"/>
              <a:gd name="csX13" fmla="*/ 152179 w 331697"/>
              <a:gd name="csY13" fmla="*/ 43600 h 415070"/>
              <a:gd name="csX14" fmla="*/ 156778 w 331697"/>
              <a:gd name="csY14" fmla="*/ 45478 h 415070"/>
              <a:gd name="csX15" fmla="*/ 325185 w 331697"/>
              <a:gd name="csY15" fmla="*/ 45478 h 415070"/>
              <a:gd name="csX16" fmla="*/ 329785 w 331697"/>
              <a:gd name="csY16" fmla="*/ 43600 h 415070"/>
              <a:gd name="csX17" fmla="*/ 331697 w 331697"/>
              <a:gd name="csY17" fmla="*/ 39018 h 415070"/>
              <a:gd name="csX18" fmla="*/ 329785 w 331697"/>
              <a:gd name="csY18" fmla="*/ 34401 h 415070"/>
              <a:gd name="csX19" fmla="*/ 325185 w 331697"/>
              <a:gd name="csY19" fmla="*/ 32506 h 415070"/>
              <a:gd name="csX20" fmla="*/ 82947 w 331697"/>
              <a:gd name="csY20" fmla="*/ 38984 h 415070"/>
              <a:gd name="csX21" fmla="*/ 82947 w 331697"/>
              <a:gd name="csY21" fmla="*/ 38966 h 415070"/>
              <a:gd name="csX22" fmla="*/ 78399 w 331697"/>
              <a:gd name="csY22" fmla="*/ 40982 h 415070"/>
              <a:gd name="csX23" fmla="*/ 54540 w 331697"/>
              <a:gd name="csY23" fmla="*/ 65839 h 415070"/>
              <a:gd name="csX24" fmla="*/ 42103 w 331697"/>
              <a:gd name="csY24" fmla="*/ 52902 h 415070"/>
              <a:gd name="csX25" fmla="*/ 42120 w 331697"/>
              <a:gd name="csY25" fmla="*/ 52885 h 415070"/>
              <a:gd name="csX26" fmla="*/ 32973 w 331697"/>
              <a:gd name="csY26" fmla="*/ 52747 h 415070"/>
              <a:gd name="csX27" fmla="*/ 32784 w 331697"/>
              <a:gd name="csY27" fmla="*/ 61894 h 415070"/>
              <a:gd name="csX28" fmla="*/ 49941 w 331697"/>
              <a:gd name="csY28" fmla="*/ 79707 h 415070"/>
              <a:gd name="csX29" fmla="*/ 49924 w 331697"/>
              <a:gd name="csY29" fmla="*/ 79707 h 415070"/>
              <a:gd name="csX30" fmla="*/ 54592 w 331697"/>
              <a:gd name="csY30" fmla="*/ 81688 h 415070"/>
              <a:gd name="csX31" fmla="*/ 59261 w 331697"/>
              <a:gd name="csY31" fmla="*/ 79707 h 415070"/>
              <a:gd name="csX32" fmla="*/ 87788 w 331697"/>
              <a:gd name="csY32" fmla="*/ 49974 h 415070"/>
              <a:gd name="csX33" fmla="*/ 89596 w 331697"/>
              <a:gd name="csY33" fmla="*/ 45340 h 415070"/>
              <a:gd name="csX34" fmla="*/ 87598 w 331697"/>
              <a:gd name="csY34" fmla="*/ 40775 h 415070"/>
              <a:gd name="csX35" fmla="*/ 82947 w 331697"/>
              <a:gd name="csY35" fmla="*/ 38966 h 415070"/>
              <a:gd name="csX36" fmla="*/ 156778 w 331697"/>
              <a:gd name="csY36" fmla="*/ 75228 h 415070"/>
              <a:gd name="csX37" fmla="*/ 156778 w 331697"/>
              <a:gd name="csY37" fmla="*/ 75211 h 415070"/>
              <a:gd name="csX38" fmla="*/ 152179 w 331697"/>
              <a:gd name="csY38" fmla="*/ 77088 h 415070"/>
              <a:gd name="csX39" fmla="*/ 150266 w 331697"/>
              <a:gd name="csY39" fmla="*/ 81671 h 415070"/>
              <a:gd name="csX40" fmla="*/ 152161 w 331697"/>
              <a:gd name="csY40" fmla="*/ 86288 h 415070"/>
              <a:gd name="csX41" fmla="*/ 156778 w 331697"/>
              <a:gd name="csY41" fmla="*/ 88183 h 415070"/>
              <a:gd name="csX42" fmla="*/ 243614 w 331697"/>
              <a:gd name="csY42" fmla="*/ 88183 h 415070"/>
              <a:gd name="csX43" fmla="*/ 248214 w 331697"/>
              <a:gd name="csY43" fmla="*/ 86288 h 415070"/>
              <a:gd name="csX44" fmla="*/ 250109 w 331697"/>
              <a:gd name="csY44" fmla="*/ 81671 h 415070"/>
              <a:gd name="csX45" fmla="*/ 243614 w 331697"/>
              <a:gd name="csY45" fmla="*/ 75211 h 415070"/>
              <a:gd name="csX46" fmla="*/ 60258 w 331697"/>
              <a:gd name="csY46" fmla="*/ 147163 h 415070"/>
              <a:gd name="csX47" fmla="*/ 0 w 331697"/>
              <a:gd name="csY47" fmla="*/ 207527 h 415070"/>
              <a:gd name="csX48" fmla="*/ 60258 w 331697"/>
              <a:gd name="csY48" fmla="*/ 267855 h 415070"/>
              <a:gd name="csX49" fmla="*/ 120568 w 331697"/>
              <a:gd name="csY49" fmla="*/ 207527 h 415070"/>
              <a:gd name="csX50" fmla="*/ 60258 w 331697"/>
              <a:gd name="csY50" fmla="*/ 147163 h 415070"/>
              <a:gd name="csX51" fmla="*/ 60258 w 331697"/>
              <a:gd name="csY51" fmla="*/ 160152 h 415070"/>
              <a:gd name="csX52" fmla="*/ 107594 w 331697"/>
              <a:gd name="csY52" fmla="*/ 207541 h 415070"/>
              <a:gd name="csX53" fmla="*/ 60258 w 331697"/>
              <a:gd name="csY53" fmla="*/ 254877 h 415070"/>
              <a:gd name="csX54" fmla="*/ 12952 w 331697"/>
              <a:gd name="csY54" fmla="*/ 207541 h 415070"/>
              <a:gd name="csX55" fmla="*/ 60258 w 331697"/>
              <a:gd name="csY55" fmla="*/ 160152 h 415070"/>
              <a:gd name="csX56" fmla="*/ 156778 w 331697"/>
              <a:gd name="csY56" fmla="*/ 179687 h 415070"/>
              <a:gd name="csX57" fmla="*/ 156778 w 331697"/>
              <a:gd name="csY57" fmla="*/ 179669 h 415070"/>
              <a:gd name="csX58" fmla="*/ 152161 w 331697"/>
              <a:gd name="csY58" fmla="*/ 181564 h 415070"/>
              <a:gd name="csX59" fmla="*/ 150266 w 331697"/>
              <a:gd name="csY59" fmla="*/ 186181 h 415070"/>
              <a:gd name="csX60" fmla="*/ 152179 w 331697"/>
              <a:gd name="csY60" fmla="*/ 190746 h 415070"/>
              <a:gd name="csX61" fmla="*/ 156778 w 331697"/>
              <a:gd name="csY61" fmla="*/ 192641 h 415070"/>
              <a:gd name="csX62" fmla="*/ 325185 w 331697"/>
              <a:gd name="csY62" fmla="*/ 192641 h 415070"/>
              <a:gd name="csX63" fmla="*/ 329768 w 331697"/>
              <a:gd name="csY63" fmla="*/ 190746 h 415070"/>
              <a:gd name="csX64" fmla="*/ 331697 w 331697"/>
              <a:gd name="csY64" fmla="*/ 186181 h 415070"/>
              <a:gd name="csX65" fmla="*/ 329785 w 331697"/>
              <a:gd name="csY65" fmla="*/ 181564 h 415070"/>
              <a:gd name="csX66" fmla="*/ 325185 w 331697"/>
              <a:gd name="csY66" fmla="*/ 179669 h 415070"/>
              <a:gd name="csX67" fmla="*/ 240982 w 331697"/>
              <a:gd name="csY67" fmla="*/ 179669 h 415070"/>
              <a:gd name="csX68" fmla="*/ 82947 w 331697"/>
              <a:gd name="csY68" fmla="*/ 186198 h 415070"/>
              <a:gd name="csX69" fmla="*/ 82947 w 331697"/>
              <a:gd name="csY69" fmla="*/ 186181 h 415070"/>
              <a:gd name="csX70" fmla="*/ 78399 w 331697"/>
              <a:gd name="csY70" fmla="*/ 188145 h 415070"/>
              <a:gd name="csX71" fmla="*/ 54540 w 331697"/>
              <a:gd name="csY71" fmla="*/ 212985 h 415070"/>
              <a:gd name="csX72" fmla="*/ 42103 w 331697"/>
              <a:gd name="csY72" fmla="*/ 200065 h 415070"/>
              <a:gd name="csX73" fmla="*/ 42120 w 331697"/>
              <a:gd name="csY73" fmla="*/ 200065 h 415070"/>
              <a:gd name="csX74" fmla="*/ 32973 w 331697"/>
              <a:gd name="csY74" fmla="*/ 199910 h 415070"/>
              <a:gd name="csX75" fmla="*/ 32784 w 331697"/>
              <a:gd name="csY75" fmla="*/ 209057 h 415070"/>
              <a:gd name="csX76" fmla="*/ 49941 w 331697"/>
              <a:gd name="csY76" fmla="*/ 226870 h 415070"/>
              <a:gd name="csX77" fmla="*/ 49924 w 331697"/>
              <a:gd name="csY77" fmla="*/ 226852 h 415070"/>
              <a:gd name="csX78" fmla="*/ 54592 w 331697"/>
              <a:gd name="csY78" fmla="*/ 228833 h 415070"/>
              <a:gd name="csX79" fmla="*/ 59261 w 331697"/>
              <a:gd name="csY79" fmla="*/ 226852 h 415070"/>
              <a:gd name="csX80" fmla="*/ 87788 w 331697"/>
              <a:gd name="csY80" fmla="*/ 197120 h 415070"/>
              <a:gd name="csX81" fmla="*/ 87788 w 331697"/>
              <a:gd name="csY81" fmla="*/ 197137 h 415070"/>
              <a:gd name="csX82" fmla="*/ 89596 w 331697"/>
              <a:gd name="csY82" fmla="*/ 192486 h 415070"/>
              <a:gd name="csX83" fmla="*/ 87598 w 331697"/>
              <a:gd name="csY83" fmla="*/ 187938 h 415070"/>
              <a:gd name="csX84" fmla="*/ 82947 w 331697"/>
              <a:gd name="csY84" fmla="*/ 186181 h 415070"/>
              <a:gd name="csX85" fmla="*/ 156778 w 331697"/>
              <a:gd name="csY85" fmla="*/ 222391 h 415070"/>
              <a:gd name="csX86" fmla="*/ 156778 w 331697"/>
              <a:gd name="csY86" fmla="*/ 222356 h 415070"/>
              <a:gd name="csX87" fmla="*/ 152179 w 331697"/>
              <a:gd name="csY87" fmla="*/ 224251 h 415070"/>
              <a:gd name="csX88" fmla="*/ 150266 w 331697"/>
              <a:gd name="csY88" fmla="*/ 228816 h 415070"/>
              <a:gd name="csX89" fmla="*/ 152161 w 331697"/>
              <a:gd name="csY89" fmla="*/ 233433 h 415070"/>
              <a:gd name="csX90" fmla="*/ 156778 w 331697"/>
              <a:gd name="csY90" fmla="*/ 235328 h 415070"/>
              <a:gd name="csX91" fmla="*/ 243614 w 331697"/>
              <a:gd name="csY91" fmla="*/ 235328 h 415070"/>
              <a:gd name="csX92" fmla="*/ 248214 w 331697"/>
              <a:gd name="csY92" fmla="*/ 233433 h 415070"/>
              <a:gd name="csX93" fmla="*/ 250109 w 331697"/>
              <a:gd name="csY93" fmla="*/ 228816 h 415070"/>
              <a:gd name="csX94" fmla="*/ 243614 w 331697"/>
              <a:gd name="csY94" fmla="*/ 222357 h 415070"/>
              <a:gd name="csX95" fmla="*/ 60258 w 331697"/>
              <a:gd name="csY95" fmla="*/ 294343 h 415070"/>
              <a:gd name="csX96" fmla="*/ 0 w 331697"/>
              <a:gd name="csY96" fmla="*/ 354707 h 415070"/>
              <a:gd name="csX97" fmla="*/ 60258 w 331697"/>
              <a:gd name="csY97" fmla="*/ 415070 h 415070"/>
              <a:gd name="csX98" fmla="*/ 120568 w 331697"/>
              <a:gd name="csY98" fmla="*/ 354707 h 415070"/>
              <a:gd name="csX99" fmla="*/ 60258 w 331697"/>
              <a:gd name="csY99" fmla="*/ 294343 h 415070"/>
              <a:gd name="csX100" fmla="*/ 60258 w 331697"/>
              <a:gd name="csY100" fmla="*/ 307315 h 415070"/>
              <a:gd name="csX101" fmla="*/ 107594 w 331697"/>
              <a:gd name="csY101" fmla="*/ 354704 h 415070"/>
              <a:gd name="csX102" fmla="*/ 60258 w 331697"/>
              <a:gd name="csY102" fmla="*/ 402094 h 415070"/>
              <a:gd name="csX103" fmla="*/ 12952 w 331697"/>
              <a:gd name="csY103" fmla="*/ 354704 h 415070"/>
              <a:gd name="csX104" fmla="*/ 60258 w 331697"/>
              <a:gd name="csY104" fmla="*/ 307315 h 415070"/>
              <a:gd name="csX105" fmla="*/ 156778 w 331697"/>
              <a:gd name="csY105" fmla="*/ 326901 h 415070"/>
              <a:gd name="csX106" fmla="*/ 156778 w 331697"/>
              <a:gd name="csY106" fmla="*/ 326867 h 415070"/>
              <a:gd name="csX107" fmla="*/ 152179 w 331697"/>
              <a:gd name="csY107" fmla="*/ 328744 h 415070"/>
              <a:gd name="csX108" fmla="*/ 150266 w 331697"/>
              <a:gd name="csY108" fmla="*/ 333327 h 415070"/>
              <a:gd name="csX109" fmla="*/ 152161 w 331697"/>
              <a:gd name="csY109" fmla="*/ 337944 h 415070"/>
              <a:gd name="csX110" fmla="*/ 156778 w 331697"/>
              <a:gd name="csY110" fmla="*/ 339839 h 415070"/>
              <a:gd name="csX111" fmla="*/ 325185 w 331697"/>
              <a:gd name="csY111" fmla="*/ 339839 h 415070"/>
              <a:gd name="csX112" fmla="*/ 329785 w 331697"/>
              <a:gd name="csY112" fmla="*/ 337944 h 415070"/>
              <a:gd name="csX113" fmla="*/ 331697 w 331697"/>
              <a:gd name="csY113" fmla="*/ 333327 h 415070"/>
              <a:gd name="csX114" fmla="*/ 329768 w 331697"/>
              <a:gd name="csY114" fmla="*/ 328744 h 415070"/>
              <a:gd name="csX115" fmla="*/ 325185 w 331697"/>
              <a:gd name="csY115" fmla="*/ 326867 h 415070"/>
              <a:gd name="csX116" fmla="*/ 240982 w 331697"/>
              <a:gd name="csY116" fmla="*/ 326867 h 415070"/>
              <a:gd name="csX117" fmla="*/ 83445 w 331697"/>
              <a:gd name="csY117" fmla="*/ 333344 h 415070"/>
              <a:gd name="csX118" fmla="*/ 83428 w 331697"/>
              <a:gd name="csY118" fmla="*/ 333309 h 415070"/>
              <a:gd name="csX119" fmla="*/ 78398 w 331697"/>
              <a:gd name="csY119" fmla="*/ 335290 h 415070"/>
              <a:gd name="csX120" fmla="*/ 54539 w 331697"/>
              <a:gd name="csY120" fmla="*/ 360182 h 415070"/>
              <a:gd name="csX121" fmla="*/ 42102 w 331697"/>
              <a:gd name="csY121" fmla="*/ 347262 h 415070"/>
              <a:gd name="csX122" fmla="*/ 42119 w 331697"/>
              <a:gd name="csY122" fmla="*/ 347262 h 415070"/>
              <a:gd name="csX123" fmla="*/ 32972 w 331697"/>
              <a:gd name="csY123" fmla="*/ 347073 h 415070"/>
              <a:gd name="csX124" fmla="*/ 32782 w 331697"/>
              <a:gd name="csY124" fmla="*/ 356220 h 415070"/>
              <a:gd name="csX125" fmla="*/ 49940 w 331697"/>
              <a:gd name="csY125" fmla="*/ 374032 h 415070"/>
              <a:gd name="csX126" fmla="*/ 49923 w 331697"/>
              <a:gd name="csY126" fmla="*/ 374015 h 415070"/>
              <a:gd name="csX127" fmla="*/ 54591 w 331697"/>
              <a:gd name="csY127" fmla="*/ 376013 h 415070"/>
              <a:gd name="csX128" fmla="*/ 59259 w 331697"/>
              <a:gd name="csY128" fmla="*/ 374015 h 415070"/>
              <a:gd name="csX129" fmla="*/ 87786 w 331697"/>
              <a:gd name="csY129" fmla="*/ 344282 h 415070"/>
              <a:gd name="csX130" fmla="*/ 87786 w 331697"/>
              <a:gd name="csY130" fmla="*/ 344300 h 415070"/>
              <a:gd name="csX131" fmla="*/ 87597 w 331697"/>
              <a:gd name="csY131" fmla="*/ 335152 h 415070"/>
              <a:gd name="csX132" fmla="*/ 83428 w 331697"/>
              <a:gd name="csY132" fmla="*/ 333309 h 415070"/>
              <a:gd name="csX133" fmla="*/ 156778 w 331697"/>
              <a:gd name="csY133" fmla="*/ 369536 h 415070"/>
              <a:gd name="csX134" fmla="*/ 156778 w 331697"/>
              <a:gd name="csY134" fmla="*/ 369519 h 415070"/>
              <a:gd name="csX135" fmla="*/ 152179 w 331697"/>
              <a:gd name="csY135" fmla="*/ 371397 h 415070"/>
              <a:gd name="csX136" fmla="*/ 150266 w 331697"/>
              <a:gd name="csY136" fmla="*/ 375979 h 415070"/>
              <a:gd name="csX137" fmla="*/ 152161 w 331697"/>
              <a:gd name="csY137" fmla="*/ 380596 h 415070"/>
              <a:gd name="csX138" fmla="*/ 156778 w 331697"/>
              <a:gd name="csY138" fmla="*/ 382491 h 415070"/>
              <a:gd name="csX139" fmla="*/ 243614 w 331697"/>
              <a:gd name="csY139" fmla="*/ 382491 h 415070"/>
              <a:gd name="csX140" fmla="*/ 248214 w 331697"/>
              <a:gd name="csY140" fmla="*/ 380596 h 415070"/>
              <a:gd name="csX141" fmla="*/ 250109 w 331697"/>
              <a:gd name="csY141" fmla="*/ 375979 h 415070"/>
              <a:gd name="csX142" fmla="*/ 243614 w 331697"/>
              <a:gd name="csY142" fmla="*/ 369519 h 415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Lst>
            <a:rect l="l" t="t" r="r" b="b"/>
            <a:pathLst>
              <a:path w="331697" h="415070">
                <a:moveTo>
                  <a:pt x="60258" y="0"/>
                </a:moveTo>
                <a:cubicBezTo>
                  <a:pt x="27028" y="0"/>
                  <a:pt x="0" y="27063"/>
                  <a:pt x="0" y="60310"/>
                </a:cubicBezTo>
                <a:cubicBezTo>
                  <a:pt x="0" y="93558"/>
                  <a:pt x="27045" y="120674"/>
                  <a:pt x="60258" y="120674"/>
                </a:cubicBezTo>
                <a:cubicBezTo>
                  <a:pt x="93487" y="120674"/>
                  <a:pt x="120568" y="93560"/>
                  <a:pt x="120568" y="60310"/>
                </a:cubicBezTo>
                <a:cubicBezTo>
                  <a:pt x="120568" y="27063"/>
                  <a:pt x="93488" y="0"/>
                  <a:pt x="60258" y="0"/>
                </a:cubicBezTo>
                <a:close/>
                <a:moveTo>
                  <a:pt x="60258" y="12971"/>
                </a:moveTo>
                <a:cubicBezTo>
                  <a:pt x="86476" y="12971"/>
                  <a:pt x="107594" y="34074"/>
                  <a:pt x="107594" y="60308"/>
                </a:cubicBezTo>
                <a:cubicBezTo>
                  <a:pt x="107594" y="86561"/>
                  <a:pt x="86457" y="107697"/>
                  <a:pt x="60258" y="107697"/>
                </a:cubicBezTo>
                <a:cubicBezTo>
                  <a:pt x="34039" y="107697"/>
                  <a:pt x="12952" y="86543"/>
                  <a:pt x="12952" y="60308"/>
                </a:cubicBezTo>
                <a:cubicBezTo>
                  <a:pt x="12952" y="34055"/>
                  <a:pt x="34037" y="12971"/>
                  <a:pt x="60258" y="12971"/>
                </a:cubicBezTo>
                <a:close/>
                <a:moveTo>
                  <a:pt x="156778" y="32506"/>
                </a:moveTo>
                <a:cubicBezTo>
                  <a:pt x="155038" y="32489"/>
                  <a:pt x="153385" y="33178"/>
                  <a:pt x="152161" y="34401"/>
                </a:cubicBezTo>
                <a:cubicBezTo>
                  <a:pt x="150938" y="35624"/>
                  <a:pt x="150249" y="37278"/>
                  <a:pt x="150266" y="39018"/>
                </a:cubicBezTo>
                <a:cubicBezTo>
                  <a:pt x="150266" y="40741"/>
                  <a:pt x="150956" y="42377"/>
                  <a:pt x="152179" y="43600"/>
                </a:cubicBezTo>
                <a:cubicBezTo>
                  <a:pt x="153402" y="44806"/>
                  <a:pt x="155055" y="45495"/>
                  <a:pt x="156778" y="45478"/>
                </a:cubicBezTo>
                <a:lnTo>
                  <a:pt x="325185" y="45478"/>
                </a:lnTo>
                <a:cubicBezTo>
                  <a:pt x="326908" y="45495"/>
                  <a:pt x="328562" y="44806"/>
                  <a:pt x="329785" y="43600"/>
                </a:cubicBezTo>
                <a:cubicBezTo>
                  <a:pt x="331008" y="42377"/>
                  <a:pt x="331680" y="40741"/>
                  <a:pt x="331697" y="39018"/>
                </a:cubicBezTo>
                <a:cubicBezTo>
                  <a:pt x="331697" y="37278"/>
                  <a:pt x="331008" y="35624"/>
                  <a:pt x="329785" y="34401"/>
                </a:cubicBezTo>
                <a:cubicBezTo>
                  <a:pt x="328562" y="33178"/>
                  <a:pt x="326908" y="32489"/>
                  <a:pt x="325185" y="32506"/>
                </a:cubicBezTo>
                <a:close/>
                <a:moveTo>
                  <a:pt x="82947" y="38984"/>
                </a:moveTo>
                <a:lnTo>
                  <a:pt x="82947" y="38966"/>
                </a:lnTo>
                <a:cubicBezTo>
                  <a:pt x="81224" y="39018"/>
                  <a:pt x="79588" y="39724"/>
                  <a:pt x="78399" y="40982"/>
                </a:cubicBezTo>
                <a:lnTo>
                  <a:pt x="54540" y="65839"/>
                </a:lnTo>
                <a:lnTo>
                  <a:pt x="42103" y="52902"/>
                </a:lnTo>
                <a:lnTo>
                  <a:pt x="42120" y="52885"/>
                </a:lnTo>
                <a:cubicBezTo>
                  <a:pt x="39622" y="50336"/>
                  <a:pt x="35540" y="50284"/>
                  <a:pt x="32973" y="52747"/>
                </a:cubicBezTo>
                <a:cubicBezTo>
                  <a:pt x="30406" y="55228"/>
                  <a:pt x="30320" y="59311"/>
                  <a:pt x="32784" y="61894"/>
                </a:cubicBezTo>
                <a:lnTo>
                  <a:pt x="49941" y="79707"/>
                </a:lnTo>
                <a:lnTo>
                  <a:pt x="49924" y="79707"/>
                </a:lnTo>
                <a:cubicBezTo>
                  <a:pt x="51147" y="80981"/>
                  <a:pt x="52835" y="81688"/>
                  <a:pt x="54592" y="81688"/>
                </a:cubicBezTo>
                <a:cubicBezTo>
                  <a:pt x="56349" y="81688"/>
                  <a:pt x="58038" y="80981"/>
                  <a:pt x="59261" y="79707"/>
                </a:cubicBezTo>
                <a:lnTo>
                  <a:pt x="87788" y="49974"/>
                </a:lnTo>
                <a:cubicBezTo>
                  <a:pt x="88976" y="48734"/>
                  <a:pt x="89631" y="47063"/>
                  <a:pt x="89596" y="45340"/>
                </a:cubicBezTo>
                <a:cubicBezTo>
                  <a:pt x="89562" y="43617"/>
                  <a:pt x="88838" y="41981"/>
                  <a:pt x="87598" y="40775"/>
                </a:cubicBezTo>
                <a:cubicBezTo>
                  <a:pt x="86341" y="39586"/>
                  <a:pt x="84687" y="38931"/>
                  <a:pt x="82947" y="38966"/>
                </a:cubicBezTo>
                <a:close/>
                <a:moveTo>
                  <a:pt x="156778" y="75228"/>
                </a:moveTo>
                <a:lnTo>
                  <a:pt x="156778" y="75211"/>
                </a:lnTo>
                <a:cubicBezTo>
                  <a:pt x="155056" y="75211"/>
                  <a:pt x="153402" y="75883"/>
                  <a:pt x="152179" y="77088"/>
                </a:cubicBezTo>
                <a:cubicBezTo>
                  <a:pt x="150956" y="78312"/>
                  <a:pt x="150266" y="79948"/>
                  <a:pt x="150266" y="81671"/>
                </a:cubicBezTo>
                <a:cubicBezTo>
                  <a:pt x="150249" y="83393"/>
                  <a:pt x="150938" y="85064"/>
                  <a:pt x="152161" y="86288"/>
                </a:cubicBezTo>
                <a:cubicBezTo>
                  <a:pt x="153384" y="87511"/>
                  <a:pt x="155038" y="88183"/>
                  <a:pt x="156778" y="88183"/>
                </a:cubicBezTo>
                <a:lnTo>
                  <a:pt x="243614" y="88183"/>
                </a:lnTo>
                <a:cubicBezTo>
                  <a:pt x="245337" y="88183"/>
                  <a:pt x="246991" y="87511"/>
                  <a:pt x="248214" y="86288"/>
                </a:cubicBezTo>
                <a:cubicBezTo>
                  <a:pt x="249437" y="85065"/>
                  <a:pt x="250126" y="83394"/>
                  <a:pt x="250109" y="81671"/>
                </a:cubicBezTo>
                <a:cubicBezTo>
                  <a:pt x="250109" y="78088"/>
                  <a:pt x="247180" y="75194"/>
                  <a:pt x="243614" y="75211"/>
                </a:cubicBezTo>
                <a:close/>
                <a:moveTo>
                  <a:pt x="60258" y="147163"/>
                </a:moveTo>
                <a:cubicBezTo>
                  <a:pt x="27028" y="147163"/>
                  <a:pt x="0" y="174277"/>
                  <a:pt x="0" y="207527"/>
                </a:cubicBezTo>
                <a:cubicBezTo>
                  <a:pt x="0" y="240776"/>
                  <a:pt x="27045" y="267855"/>
                  <a:pt x="60258" y="267855"/>
                </a:cubicBezTo>
                <a:cubicBezTo>
                  <a:pt x="93487" y="267855"/>
                  <a:pt x="120568" y="240775"/>
                  <a:pt x="120568" y="207527"/>
                </a:cubicBezTo>
                <a:cubicBezTo>
                  <a:pt x="120568" y="174278"/>
                  <a:pt x="93488" y="147163"/>
                  <a:pt x="60258" y="147163"/>
                </a:cubicBezTo>
                <a:close/>
                <a:moveTo>
                  <a:pt x="60258" y="160152"/>
                </a:moveTo>
                <a:cubicBezTo>
                  <a:pt x="86476" y="160152"/>
                  <a:pt x="107594" y="181289"/>
                  <a:pt x="107594" y="207541"/>
                </a:cubicBezTo>
                <a:cubicBezTo>
                  <a:pt x="107594" y="233794"/>
                  <a:pt x="86457" y="254877"/>
                  <a:pt x="60258" y="254877"/>
                </a:cubicBezTo>
                <a:cubicBezTo>
                  <a:pt x="34039" y="254877"/>
                  <a:pt x="12952" y="233775"/>
                  <a:pt x="12952" y="207541"/>
                </a:cubicBezTo>
                <a:cubicBezTo>
                  <a:pt x="12952" y="181288"/>
                  <a:pt x="34037" y="160152"/>
                  <a:pt x="60258" y="160152"/>
                </a:cubicBezTo>
                <a:close/>
                <a:moveTo>
                  <a:pt x="156778" y="179687"/>
                </a:moveTo>
                <a:lnTo>
                  <a:pt x="156778" y="179669"/>
                </a:lnTo>
                <a:cubicBezTo>
                  <a:pt x="155038" y="179652"/>
                  <a:pt x="153385" y="180341"/>
                  <a:pt x="152161" y="181564"/>
                </a:cubicBezTo>
                <a:cubicBezTo>
                  <a:pt x="150938" y="182787"/>
                  <a:pt x="150249" y="184441"/>
                  <a:pt x="150266" y="186181"/>
                </a:cubicBezTo>
                <a:cubicBezTo>
                  <a:pt x="150266" y="187904"/>
                  <a:pt x="150956" y="189540"/>
                  <a:pt x="152179" y="190746"/>
                </a:cubicBezTo>
                <a:cubicBezTo>
                  <a:pt x="153402" y="191969"/>
                  <a:pt x="155055" y="192641"/>
                  <a:pt x="156778" y="192641"/>
                </a:cubicBezTo>
                <a:lnTo>
                  <a:pt x="325185" y="192641"/>
                </a:lnTo>
                <a:cubicBezTo>
                  <a:pt x="326908" y="192641"/>
                  <a:pt x="328544" y="191969"/>
                  <a:pt x="329768" y="190746"/>
                </a:cubicBezTo>
                <a:cubicBezTo>
                  <a:pt x="330991" y="189540"/>
                  <a:pt x="331680" y="187904"/>
                  <a:pt x="331697" y="186181"/>
                </a:cubicBezTo>
                <a:cubicBezTo>
                  <a:pt x="331697" y="184441"/>
                  <a:pt x="331008" y="182787"/>
                  <a:pt x="329785" y="181564"/>
                </a:cubicBezTo>
                <a:cubicBezTo>
                  <a:pt x="328562" y="180341"/>
                  <a:pt x="326908" y="179652"/>
                  <a:pt x="325185" y="179669"/>
                </a:cubicBezTo>
                <a:lnTo>
                  <a:pt x="240982" y="179669"/>
                </a:lnTo>
                <a:close/>
                <a:moveTo>
                  <a:pt x="82947" y="186198"/>
                </a:moveTo>
                <a:lnTo>
                  <a:pt x="82947" y="186181"/>
                </a:lnTo>
                <a:cubicBezTo>
                  <a:pt x="81224" y="186198"/>
                  <a:pt x="79605" y="186905"/>
                  <a:pt x="78399" y="188145"/>
                </a:cubicBezTo>
                <a:lnTo>
                  <a:pt x="54540" y="212985"/>
                </a:lnTo>
                <a:lnTo>
                  <a:pt x="42103" y="200065"/>
                </a:lnTo>
                <a:lnTo>
                  <a:pt x="42120" y="200065"/>
                </a:lnTo>
                <a:cubicBezTo>
                  <a:pt x="39622" y="197499"/>
                  <a:pt x="35540" y="197430"/>
                  <a:pt x="32973" y="199910"/>
                </a:cubicBezTo>
                <a:cubicBezTo>
                  <a:pt x="30406" y="202374"/>
                  <a:pt x="30320" y="206474"/>
                  <a:pt x="32784" y="209057"/>
                </a:cubicBezTo>
                <a:lnTo>
                  <a:pt x="49941" y="226870"/>
                </a:lnTo>
                <a:lnTo>
                  <a:pt x="49924" y="226852"/>
                </a:lnTo>
                <a:cubicBezTo>
                  <a:pt x="51147" y="228127"/>
                  <a:pt x="52835" y="228833"/>
                  <a:pt x="54592" y="228833"/>
                </a:cubicBezTo>
                <a:cubicBezTo>
                  <a:pt x="56349" y="228833"/>
                  <a:pt x="58038" y="228127"/>
                  <a:pt x="59261" y="226852"/>
                </a:cubicBezTo>
                <a:lnTo>
                  <a:pt x="87788" y="197120"/>
                </a:lnTo>
                <a:lnTo>
                  <a:pt x="87788" y="197137"/>
                </a:lnTo>
                <a:cubicBezTo>
                  <a:pt x="88976" y="195897"/>
                  <a:pt x="89631" y="194226"/>
                  <a:pt x="89596" y="192486"/>
                </a:cubicBezTo>
                <a:cubicBezTo>
                  <a:pt x="89562" y="190763"/>
                  <a:pt x="88838" y="189127"/>
                  <a:pt x="87598" y="187938"/>
                </a:cubicBezTo>
                <a:cubicBezTo>
                  <a:pt x="86341" y="186767"/>
                  <a:pt x="84670" y="186129"/>
                  <a:pt x="82947" y="186181"/>
                </a:cubicBezTo>
                <a:close/>
                <a:moveTo>
                  <a:pt x="156778" y="222391"/>
                </a:moveTo>
                <a:lnTo>
                  <a:pt x="156778" y="222356"/>
                </a:lnTo>
                <a:cubicBezTo>
                  <a:pt x="155056" y="222356"/>
                  <a:pt x="153402" y="223028"/>
                  <a:pt x="152179" y="224251"/>
                </a:cubicBezTo>
                <a:cubicBezTo>
                  <a:pt x="150956" y="225457"/>
                  <a:pt x="150266" y="227111"/>
                  <a:pt x="150266" y="228816"/>
                </a:cubicBezTo>
                <a:cubicBezTo>
                  <a:pt x="150249" y="230556"/>
                  <a:pt x="150938" y="232210"/>
                  <a:pt x="152161" y="233433"/>
                </a:cubicBezTo>
                <a:cubicBezTo>
                  <a:pt x="153384" y="234656"/>
                  <a:pt x="155038" y="235345"/>
                  <a:pt x="156778" y="235328"/>
                </a:cubicBezTo>
                <a:lnTo>
                  <a:pt x="243614" y="235328"/>
                </a:lnTo>
                <a:cubicBezTo>
                  <a:pt x="245337" y="235345"/>
                  <a:pt x="246991" y="234656"/>
                  <a:pt x="248214" y="233433"/>
                </a:cubicBezTo>
                <a:cubicBezTo>
                  <a:pt x="249437" y="232210"/>
                  <a:pt x="250126" y="230556"/>
                  <a:pt x="250109" y="228816"/>
                </a:cubicBezTo>
                <a:cubicBezTo>
                  <a:pt x="250109" y="225233"/>
                  <a:pt x="247180" y="222357"/>
                  <a:pt x="243614" y="222357"/>
                </a:cubicBezTo>
                <a:close/>
                <a:moveTo>
                  <a:pt x="60258" y="294343"/>
                </a:moveTo>
                <a:cubicBezTo>
                  <a:pt x="27028" y="294343"/>
                  <a:pt x="0" y="321458"/>
                  <a:pt x="0" y="354707"/>
                </a:cubicBezTo>
                <a:cubicBezTo>
                  <a:pt x="0" y="387956"/>
                  <a:pt x="27045" y="415070"/>
                  <a:pt x="60258" y="415070"/>
                </a:cubicBezTo>
                <a:cubicBezTo>
                  <a:pt x="93487" y="415070"/>
                  <a:pt x="120568" y="387956"/>
                  <a:pt x="120568" y="354707"/>
                </a:cubicBezTo>
                <a:cubicBezTo>
                  <a:pt x="120568" y="321458"/>
                  <a:pt x="93488" y="294343"/>
                  <a:pt x="60258" y="294343"/>
                </a:cubicBezTo>
                <a:close/>
                <a:moveTo>
                  <a:pt x="60258" y="307315"/>
                </a:moveTo>
                <a:cubicBezTo>
                  <a:pt x="86476" y="307315"/>
                  <a:pt x="107594" y="328469"/>
                  <a:pt x="107594" y="354704"/>
                </a:cubicBezTo>
                <a:cubicBezTo>
                  <a:pt x="107594" y="380957"/>
                  <a:pt x="86457" y="402094"/>
                  <a:pt x="60258" y="402094"/>
                </a:cubicBezTo>
                <a:cubicBezTo>
                  <a:pt x="34039" y="402094"/>
                  <a:pt x="12952" y="380957"/>
                  <a:pt x="12952" y="354704"/>
                </a:cubicBezTo>
                <a:cubicBezTo>
                  <a:pt x="12952" y="328452"/>
                  <a:pt x="34037" y="307315"/>
                  <a:pt x="60258" y="307315"/>
                </a:cubicBezTo>
                <a:close/>
                <a:moveTo>
                  <a:pt x="156778" y="326901"/>
                </a:moveTo>
                <a:lnTo>
                  <a:pt x="156778" y="326867"/>
                </a:lnTo>
                <a:cubicBezTo>
                  <a:pt x="155056" y="326867"/>
                  <a:pt x="153402" y="327539"/>
                  <a:pt x="152179" y="328744"/>
                </a:cubicBezTo>
                <a:cubicBezTo>
                  <a:pt x="150956" y="329968"/>
                  <a:pt x="150266" y="331604"/>
                  <a:pt x="150266" y="333327"/>
                </a:cubicBezTo>
                <a:cubicBezTo>
                  <a:pt x="150249" y="335049"/>
                  <a:pt x="150938" y="336720"/>
                  <a:pt x="152161" y="337944"/>
                </a:cubicBezTo>
                <a:cubicBezTo>
                  <a:pt x="153384" y="339167"/>
                  <a:pt x="155038" y="339839"/>
                  <a:pt x="156778" y="339839"/>
                </a:cubicBezTo>
                <a:lnTo>
                  <a:pt x="325185" y="339839"/>
                </a:lnTo>
                <a:cubicBezTo>
                  <a:pt x="326908" y="339839"/>
                  <a:pt x="328562" y="339167"/>
                  <a:pt x="329785" y="337944"/>
                </a:cubicBezTo>
                <a:cubicBezTo>
                  <a:pt x="331008" y="336721"/>
                  <a:pt x="331697" y="335050"/>
                  <a:pt x="331697" y="333327"/>
                </a:cubicBezTo>
                <a:cubicBezTo>
                  <a:pt x="331680" y="331604"/>
                  <a:pt x="330991" y="329968"/>
                  <a:pt x="329768" y="328744"/>
                </a:cubicBezTo>
                <a:cubicBezTo>
                  <a:pt x="328545" y="327539"/>
                  <a:pt x="326908" y="326867"/>
                  <a:pt x="325185" y="326867"/>
                </a:cubicBezTo>
                <a:lnTo>
                  <a:pt x="240982" y="326867"/>
                </a:lnTo>
                <a:close/>
                <a:moveTo>
                  <a:pt x="83445" y="333344"/>
                </a:moveTo>
                <a:lnTo>
                  <a:pt x="83428" y="333309"/>
                </a:lnTo>
                <a:cubicBezTo>
                  <a:pt x="81550" y="333206"/>
                  <a:pt x="79707" y="333929"/>
                  <a:pt x="78398" y="335290"/>
                </a:cubicBezTo>
                <a:lnTo>
                  <a:pt x="54539" y="360182"/>
                </a:lnTo>
                <a:lnTo>
                  <a:pt x="42102" y="347262"/>
                </a:lnTo>
                <a:lnTo>
                  <a:pt x="42119" y="347262"/>
                </a:lnTo>
                <a:cubicBezTo>
                  <a:pt x="39638" y="344696"/>
                  <a:pt x="35556" y="344610"/>
                  <a:pt x="32972" y="347073"/>
                </a:cubicBezTo>
                <a:cubicBezTo>
                  <a:pt x="30405" y="349536"/>
                  <a:pt x="30319" y="353636"/>
                  <a:pt x="32782" y="356220"/>
                </a:cubicBezTo>
                <a:lnTo>
                  <a:pt x="49940" y="374032"/>
                </a:lnTo>
                <a:lnTo>
                  <a:pt x="49923" y="374015"/>
                </a:lnTo>
                <a:cubicBezTo>
                  <a:pt x="51146" y="375290"/>
                  <a:pt x="52834" y="376013"/>
                  <a:pt x="54591" y="376013"/>
                </a:cubicBezTo>
                <a:cubicBezTo>
                  <a:pt x="56348" y="376013"/>
                  <a:pt x="58036" y="375290"/>
                  <a:pt x="59259" y="374015"/>
                </a:cubicBezTo>
                <a:lnTo>
                  <a:pt x="87786" y="344282"/>
                </a:lnTo>
                <a:lnTo>
                  <a:pt x="87786" y="344300"/>
                </a:lnTo>
                <a:cubicBezTo>
                  <a:pt x="90250" y="341716"/>
                  <a:pt x="90164" y="337633"/>
                  <a:pt x="87597" y="335152"/>
                </a:cubicBezTo>
                <a:cubicBezTo>
                  <a:pt x="86477" y="334050"/>
                  <a:pt x="84996" y="333413"/>
                  <a:pt x="83428" y="333309"/>
                </a:cubicBezTo>
                <a:close/>
                <a:moveTo>
                  <a:pt x="156778" y="369536"/>
                </a:moveTo>
                <a:lnTo>
                  <a:pt x="156778" y="369519"/>
                </a:lnTo>
                <a:cubicBezTo>
                  <a:pt x="155056" y="369502"/>
                  <a:pt x="153402" y="370191"/>
                  <a:pt x="152179" y="371397"/>
                </a:cubicBezTo>
                <a:cubicBezTo>
                  <a:pt x="150956" y="372602"/>
                  <a:pt x="150266" y="374256"/>
                  <a:pt x="150266" y="375979"/>
                </a:cubicBezTo>
                <a:cubicBezTo>
                  <a:pt x="150249" y="377702"/>
                  <a:pt x="150938" y="379373"/>
                  <a:pt x="152161" y="380596"/>
                </a:cubicBezTo>
                <a:cubicBezTo>
                  <a:pt x="153384" y="381819"/>
                  <a:pt x="155038" y="382508"/>
                  <a:pt x="156778" y="382491"/>
                </a:cubicBezTo>
                <a:lnTo>
                  <a:pt x="243614" y="382491"/>
                </a:lnTo>
                <a:cubicBezTo>
                  <a:pt x="245337" y="382508"/>
                  <a:pt x="247008" y="381819"/>
                  <a:pt x="248214" y="380596"/>
                </a:cubicBezTo>
                <a:cubicBezTo>
                  <a:pt x="249437" y="379373"/>
                  <a:pt x="250126" y="377702"/>
                  <a:pt x="250109" y="375979"/>
                </a:cubicBezTo>
                <a:cubicBezTo>
                  <a:pt x="250109" y="372396"/>
                  <a:pt x="247180" y="369502"/>
                  <a:pt x="243614" y="369519"/>
                </a:cubicBezTo>
                <a:close/>
              </a:path>
            </a:pathLst>
          </a:custGeom>
          <a:gradFill>
            <a:gsLst>
              <a:gs pos="0">
                <a:schemeClr val="accent1">
                  <a:lumMod val="75000"/>
                </a:schemeClr>
              </a:gs>
              <a:gs pos="100000">
                <a:schemeClr val="accent1"/>
              </a:gs>
            </a:gsLst>
            <a:lin ang="0" scaled="0"/>
          </a:gradFill>
          <a:ln w="438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6" name="Graphic 63">
            <a:extLst>
              <a:ext uri="{FF2B5EF4-FFF2-40B4-BE49-F238E27FC236}">
                <a16:creationId xmlns:a16="http://schemas.microsoft.com/office/drawing/2014/main" id="{94D071CC-1DC7-D0F3-66C8-D9DCF4260E5D}"/>
              </a:ext>
            </a:extLst>
          </p:cNvPr>
          <p:cNvSpPr/>
          <p:nvPr/>
        </p:nvSpPr>
        <p:spPr>
          <a:xfrm>
            <a:off x="1857410" y="1825553"/>
            <a:ext cx="261033" cy="244248"/>
          </a:xfrm>
          <a:custGeom>
            <a:avLst/>
            <a:gdLst>
              <a:gd name="csX0" fmla="*/ 336872 w 338105"/>
              <a:gd name="csY0" fmla="*/ 269145 h 316364"/>
              <a:gd name="csX1" fmla="*/ 296883 w 338105"/>
              <a:gd name="csY1" fmla="*/ 229113 h 316364"/>
              <a:gd name="csX2" fmla="*/ 290940 w 338105"/>
              <a:gd name="csY2" fmla="*/ 229113 h 316364"/>
              <a:gd name="csX3" fmla="*/ 252183 w 338105"/>
              <a:gd name="csY3" fmla="*/ 267869 h 316364"/>
              <a:gd name="csX4" fmla="*/ 232302 w 338105"/>
              <a:gd name="csY4" fmla="*/ 267869 h 316364"/>
              <a:gd name="csX5" fmla="*/ 208501 w 338105"/>
              <a:gd name="csY5" fmla="*/ 244069 h 316364"/>
              <a:gd name="csX6" fmla="*/ 202558 w 338105"/>
              <a:gd name="csY6" fmla="*/ 244069 h 316364"/>
              <a:gd name="csX7" fmla="*/ 202558 w 338105"/>
              <a:gd name="csY7" fmla="*/ 250012 h 316364"/>
              <a:gd name="csX8" fmla="*/ 220388 w 338105"/>
              <a:gd name="csY8" fmla="*/ 267841 h 316364"/>
              <a:gd name="csX9" fmla="*/ 76395 w 338105"/>
              <a:gd name="csY9" fmla="*/ 267841 h 316364"/>
              <a:gd name="csX10" fmla="*/ 23655 w 338105"/>
              <a:gd name="csY10" fmla="*/ 215102 h 316364"/>
              <a:gd name="csX11" fmla="*/ 76395 w 338105"/>
              <a:gd name="csY11" fmla="*/ 162362 h 316364"/>
              <a:gd name="csX12" fmla="*/ 127323 w 338105"/>
              <a:gd name="csY12" fmla="*/ 162362 h 316364"/>
              <a:gd name="csX13" fmla="*/ 166080 w 338105"/>
              <a:gd name="csY13" fmla="*/ 201119 h 316364"/>
              <a:gd name="csX14" fmla="*/ 169051 w 338105"/>
              <a:gd name="csY14" fmla="*/ 202350 h 316364"/>
              <a:gd name="csX15" fmla="*/ 172023 w 338105"/>
              <a:gd name="csY15" fmla="*/ 201119 h 316364"/>
              <a:gd name="csX16" fmla="*/ 210780 w 338105"/>
              <a:gd name="csY16" fmla="*/ 162362 h 316364"/>
              <a:gd name="csX17" fmla="*/ 230661 w 338105"/>
              <a:gd name="csY17" fmla="*/ 162362 h 316364"/>
              <a:gd name="csX18" fmla="*/ 254745 w 338105"/>
              <a:gd name="csY18" fmla="*/ 186446 h 316364"/>
              <a:gd name="csX19" fmla="*/ 257716 w 338105"/>
              <a:gd name="csY19" fmla="*/ 187677 h 316364"/>
              <a:gd name="csX20" fmla="*/ 260688 w 338105"/>
              <a:gd name="csY20" fmla="*/ 186446 h 316364"/>
              <a:gd name="csX21" fmla="*/ 260688 w 338105"/>
              <a:gd name="csY21" fmla="*/ 180503 h 316364"/>
              <a:gd name="csX22" fmla="*/ 242533 w 338105"/>
              <a:gd name="csY22" fmla="*/ 162348 h 316364"/>
              <a:gd name="csX23" fmla="*/ 261693 w 338105"/>
              <a:gd name="csY23" fmla="*/ 162348 h 316364"/>
              <a:gd name="csX24" fmla="*/ 322880 w 338105"/>
              <a:gd name="csY24" fmla="*/ 101161 h 316364"/>
              <a:gd name="csX25" fmla="*/ 261693 w 338105"/>
              <a:gd name="csY25" fmla="*/ 39974 h 316364"/>
              <a:gd name="csX26" fmla="*/ 85919 w 338105"/>
              <a:gd name="csY26" fmla="*/ 39988 h 316364"/>
              <a:gd name="csX27" fmla="*/ 47163 w 338105"/>
              <a:gd name="csY27" fmla="*/ 1231 h 316364"/>
              <a:gd name="csX28" fmla="*/ 44191 w 338105"/>
              <a:gd name="csY28" fmla="*/ 0 h 316364"/>
              <a:gd name="csX29" fmla="*/ 41220 w 338105"/>
              <a:gd name="csY29" fmla="*/ 1231 h 316364"/>
              <a:gd name="csX30" fmla="*/ 1231 w 338105"/>
              <a:gd name="csY30" fmla="*/ 41292 h 316364"/>
              <a:gd name="csX31" fmla="*/ 0 w 338105"/>
              <a:gd name="csY31" fmla="*/ 44264 h 316364"/>
              <a:gd name="csX32" fmla="*/ 1231 w 338105"/>
              <a:gd name="csY32" fmla="*/ 47235 h 316364"/>
              <a:gd name="csX33" fmla="*/ 41220 w 338105"/>
              <a:gd name="csY33" fmla="*/ 87224 h 316364"/>
              <a:gd name="csX34" fmla="*/ 44191 w 338105"/>
              <a:gd name="csY34" fmla="*/ 88455 h 316364"/>
              <a:gd name="csX35" fmla="*/ 47163 w 338105"/>
              <a:gd name="csY35" fmla="*/ 87224 h 316364"/>
              <a:gd name="csX36" fmla="*/ 85919 w 338105"/>
              <a:gd name="csY36" fmla="*/ 48467 h 316364"/>
              <a:gd name="csX37" fmla="*/ 261722 w 338105"/>
              <a:gd name="csY37" fmla="*/ 48467 h 316364"/>
              <a:gd name="csX38" fmla="*/ 314461 w 338105"/>
              <a:gd name="csY38" fmla="*/ 101206 h 316364"/>
              <a:gd name="csX39" fmla="*/ 261722 w 338105"/>
              <a:gd name="csY39" fmla="*/ 153946 h 316364"/>
              <a:gd name="csX40" fmla="*/ 242562 w 338105"/>
              <a:gd name="csY40" fmla="*/ 153946 h 316364"/>
              <a:gd name="csX41" fmla="*/ 260391 w 338105"/>
              <a:gd name="csY41" fmla="*/ 136116 h 316364"/>
              <a:gd name="csX42" fmla="*/ 260391 w 338105"/>
              <a:gd name="csY42" fmla="*/ 130173 h 316364"/>
              <a:gd name="csX43" fmla="*/ 254448 w 338105"/>
              <a:gd name="csY43" fmla="*/ 130173 h 316364"/>
              <a:gd name="csX44" fmla="*/ 230648 w 338105"/>
              <a:gd name="csY44" fmla="*/ 153974 h 316364"/>
              <a:gd name="csX45" fmla="*/ 210766 w 338105"/>
              <a:gd name="csY45" fmla="*/ 153974 h 316364"/>
              <a:gd name="csX46" fmla="*/ 172010 w 338105"/>
              <a:gd name="csY46" fmla="*/ 115217 h 316364"/>
              <a:gd name="csX47" fmla="*/ 169052 w 338105"/>
              <a:gd name="csY47" fmla="*/ 114000 h 316364"/>
              <a:gd name="csX48" fmla="*/ 166081 w 338105"/>
              <a:gd name="csY48" fmla="*/ 115231 h 316364"/>
              <a:gd name="csX49" fmla="*/ 127324 w 338105"/>
              <a:gd name="csY49" fmla="*/ 153988 h 316364"/>
              <a:gd name="csX50" fmla="*/ 76396 w 338105"/>
              <a:gd name="csY50" fmla="*/ 153988 h 316364"/>
              <a:gd name="csX51" fmla="*/ 15208 w 338105"/>
              <a:gd name="csY51" fmla="*/ 215175 h 316364"/>
              <a:gd name="csX52" fmla="*/ 76396 w 338105"/>
              <a:gd name="csY52" fmla="*/ 276362 h 316364"/>
              <a:gd name="csX53" fmla="*/ 220432 w 338105"/>
              <a:gd name="csY53" fmla="*/ 276362 h 316364"/>
              <a:gd name="csX54" fmla="*/ 202277 w 338105"/>
              <a:gd name="csY54" fmla="*/ 294517 h 316364"/>
              <a:gd name="csX55" fmla="*/ 202277 w 338105"/>
              <a:gd name="csY55" fmla="*/ 300460 h 316364"/>
              <a:gd name="csX56" fmla="*/ 205249 w 338105"/>
              <a:gd name="csY56" fmla="*/ 301691 h 316364"/>
              <a:gd name="csX57" fmla="*/ 208221 w 338105"/>
              <a:gd name="csY57" fmla="*/ 300460 h 316364"/>
              <a:gd name="csX58" fmla="*/ 232304 w 338105"/>
              <a:gd name="csY58" fmla="*/ 276377 h 316364"/>
              <a:gd name="csX59" fmla="*/ 252185 w 338105"/>
              <a:gd name="csY59" fmla="*/ 276377 h 316364"/>
              <a:gd name="csX60" fmla="*/ 290942 w 338105"/>
              <a:gd name="csY60" fmla="*/ 315133 h 316364"/>
              <a:gd name="csX61" fmla="*/ 293914 w 338105"/>
              <a:gd name="csY61" fmla="*/ 316364 h 316364"/>
              <a:gd name="csX62" fmla="*/ 296885 w 338105"/>
              <a:gd name="csY62" fmla="*/ 315133 h 316364"/>
              <a:gd name="csX63" fmla="*/ 336874 w 338105"/>
              <a:gd name="csY63" fmla="*/ 275145 h 316364"/>
              <a:gd name="csX64" fmla="*/ 338105 w 338105"/>
              <a:gd name="csY64" fmla="*/ 272173 h 316364"/>
              <a:gd name="csX65" fmla="*/ 336874 w 338105"/>
              <a:gd name="csY65" fmla="*/ 269145 h 316364"/>
              <a:gd name="csX66" fmla="*/ 44187 w 338105"/>
              <a:gd name="csY66" fmla="*/ 78313 h 316364"/>
              <a:gd name="csX67" fmla="*/ 10142 w 338105"/>
              <a:gd name="csY67" fmla="*/ 44267 h 316364"/>
              <a:gd name="csX68" fmla="*/ 44187 w 338105"/>
              <a:gd name="csY68" fmla="*/ 10222 h 316364"/>
              <a:gd name="csX69" fmla="*/ 78232 w 338105"/>
              <a:gd name="csY69" fmla="*/ 44267 h 316364"/>
              <a:gd name="csX70" fmla="*/ 169050 w 338105"/>
              <a:gd name="csY70" fmla="*/ 124144 h 316364"/>
              <a:gd name="csX71" fmla="*/ 203095 w 338105"/>
              <a:gd name="csY71" fmla="*/ 158190 h 316364"/>
              <a:gd name="csX72" fmla="*/ 169050 w 338105"/>
              <a:gd name="csY72" fmla="*/ 192235 h 316364"/>
              <a:gd name="csX73" fmla="*/ 135004 w 338105"/>
              <a:gd name="csY73" fmla="*/ 158190 h 316364"/>
              <a:gd name="csX74" fmla="*/ 293913 w 338105"/>
              <a:gd name="csY74" fmla="*/ 306130 h 316364"/>
              <a:gd name="csX75" fmla="*/ 259867 w 338105"/>
              <a:gd name="csY75" fmla="*/ 272085 h 316364"/>
              <a:gd name="csX76" fmla="*/ 293913 w 338105"/>
              <a:gd name="csY76" fmla="*/ 238039 h 316364"/>
              <a:gd name="csX77" fmla="*/ 327958 w 338105"/>
              <a:gd name="csY77" fmla="*/ 272085 h 316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338105" h="316364">
                <a:moveTo>
                  <a:pt x="336872" y="269145"/>
                </a:moveTo>
                <a:lnTo>
                  <a:pt x="296883" y="229113"/>
                </a:lnTo>
                <a:cubicBezTo>
                  <a:pt x="295256" y="227485"/>
                  <a:pt x="292567" y="227485"/>
                  <a:pt x="290940" y="229113"/>
                </a:cubicBezTo>
                <a:lnTo>
                  <a:pt x="252183" y="267869"/>
                </a:lnTo>
                <a:lnTo>
                  <a:pt x="232302" y="267869"/>
                </a:lnTo>
                <a:lnTo>
                  <a:pt x="208501" y="244069"/>
                </a:lnTo>
                <a:cubicBezTo>
                  <a:pt x="206874" y="242441"/>
                  <a:pt x="204186" y="242441"/>
                  <a:pt x="202558" y="244069"/>
                </a:cubicBezTo>
                <a:cubicBezTo>
                  <a:pt x="200931" y="245696"/>
                  <a:pt x="200931" y="248385"/>
                  <a:pt x="202558" y="250012"/>
                </a:cubicBezTo>
                <a:lnTo>
                  <a:pt x="220388" y="267841"/>
                </a:lnTo>
                <a:lnTo>
                  <a:pt x="76395" y="267841"/>
                </a:lnTo>
                <a:cubicBezTo>
                  <a:pt x="47302" y="267841"/>
                  <a:pt x="23655" y="244182"/>
                  <a:pt x="23655" y="215102"/>
                </a:cubicBezTo>
                <a:cubicBezTo>
                  <a:pt x="23655" y="186009"/>
                  <a:pt x="47314" y="162362"/>
                  <a:pt x="76395" y="162362"/>
                </a:cubicBezTo>
                <a:lnTo>
                  <a:pt x="127323" y="162362"/>
                </a:lnTo>
                <a:lnTo>
                  <a:pt x="166080" y="201119"/>
                </a:lnTo>
                <a:cubicBezTo>
                  <a:pt x="166872" y="201911"/>
                  <a:pt x="167934" y="202350"/>
                  <a:pt x="169051" y="202350"/>
                </a:cubicBezTo>
                <a:cubicBezTo>
                  <a:pt x="170169" y="202350"/>
                  <a:pt x="171231" y="201911"/>
                  <a:pt x="172023" y="201119"/>
                </a:cubicBezTo>
                <a:lnTo>
                  <a:pt x="210780" y="162362"/>
                </a:lnTo>
                <a:lnTo>
                  <a:pt x="230661" y="162362"/>
                </a:lnTo>
                <a:lnTo>
                  <a:pt x="254745" y="186446"/>
                </a:lnTo>
                <a:cubicBezTo>
                  <a:pt x="255579" y="187281"/>
                  <a:pt x="256627" y="187677"/>
                  <a:pt x="257716" y="187677"/>
                </a:cubicBezTo>
                <a:cubicBezTo>
                  <a:pt x="258806" y="187677"/>
                  <a:pt x="259853" y="187281"/>
                  <a:pt x="260688" y="186446"/>
                </a:cubicBezTo>
                <a:cubicBezTo>
                  <a:pt x="262315" y="184818"/>
                  <a:pt x="262315" y="182130"/>
                  <a:pt x="260688" y="180503"/>
                </a:cubicBezTo>
                <a:lnTo>
                  <a:pt x="242533" y="162348"/>
                </a:lnTo>
                <a:lnTo>
                  <a:pt x="261693" y="162348"/>
                </a:lnTo>
                <a:cubicBezTo>
                  <a:pt x="295413" y="162348"/>
                  <a:pt x="322880" y="134925"/>
                  <a:pt x="322880" y="101161"/>
                </a:cubicBezTo>
                <a:cubicBezTo>
                  <a:pt x="322880" y="67398"/>
                  <a:pt x="295456" y="39974"/>
                  <a:pt x="261693" y="39974"/>
                </a:cubicBezTo>
                <a:lnTo>
                  <a:pt x="85919" y="39988"/>
                </a:lnTo>
                <a:lnTo>
                  <a:pt x="47163" y="1231"/>
                </a:lnTo>
                <a:cubicBezTo>
                  <a:pt x="46370" y="439"/>
                  <a:pt x="45309" y="0"/>
                  <a:pt x="44191" y="0"/>
                </a:cubicBezTo>
                <a:cubicBezTo>
                  <a:pt x="43073" y="0"/>
                  <a:pt x="42012" y="439"/>
                  <a:pt x="41220" y="1231"/>
                </a:cubicBezTo>
                <a:lnTo>
                  <a:pt x="1231" y="41292"/>
                </a:lnTo>
                <a:cubicBezTo>
                  <a:pt x="439" y="42084"/>
                  <a:pt x="0" y="43146"/>
                  <a:pt x="0" y="44264"/>
                </a:cubicBezTo>
                <a:cubicBezTo>
                  <a:pt x="0" y="45381"/>
                  <a:pt x="439" y="46443"/>
                  <a:pt x="1231" y="47235"/>
                </a:cubicBezTo>
                <a:lnTo>
                  <a:pt x="41220" y="87224"/>
                </a:lnTo>
                <a:cubicBezTo>
                  <a:pt x="42054" y="88058"/>
                  <a:pt x="43101" y="88455"/>
                  <a:pt x="44191" y="88455"/>
                </a:cubicBezTo>
                <a:cubicBezTo>
                  <a:pt x="45281" y="88455"/>
                  <a:pt x="46328" y="88058"/>
                  <a:pt x="47163" y="87224"/>
                </a:cubicBezTo>
                <a:lnTo>
                  <a:pt x="85919" y="48467"/>
                </a:lnTo>
                <a:lnTo>
                  <a:pt x="261722" y="48467"/>
                </a:lnTo>
                <a:cubicBezTo>
                  <a:pt x="290814" y="48467"/>
                  <a:pt x="314461" y="72126"/>
                  <a:pt x="314461" y="101206"/>
                </a:cubicBezTo>
                <a:cubicBezTo>
                  <a:pt x="314461" y="130299"/>
                  <a:pt x="290802" y="153946"/>
                  <a:pt x="261722" y="153946"/>
                </a:cubicBezTo>
                <a:lnTo>
                  <a:pt x="242562" y="153946"/>
                </a:lnTo>
                <a:lnTo>
                  <a:pt x="260391" y="136116"/>
                </a:lnTo>
                <a:cubicBezTo>
                  <a:pt x="262019" y="134489"/>
                  <a:pt x="262019" y="131801"/>
                  <a:pt x="260391" y="130173"/>
                </a:cubicBezTo>
                <a:cubicBezTo>
                  <a:pt x="258764" y="128546"/>
                  <a:pt x="256076" y="128546"/>
                  <a:pt x="254448" y="130173"/>
                </a:cubicBezTo>
                <a:lnTo>
                  <a:pt x="230648" y="153974"/>
                </a:lnTo>
                <a:lnTo>
                  <a:pt x="210766" y="153974"/>
                </a:lnTo>
                <a:lnTo>
                  <a:pt x="172010" y="115217"/>
                </a:lnTo>
                <a:cubicBezTo>
                  <a:pt x="171231" y="114439"/>
                  <a:pt x="170170" y="114000"/>
                  <a:pt x="169052" y="114000"/>
                </a:cubicBezTo>
                <a:cubicBezTo>
                  <a:pt x="167934" y="114000"/>
                  <a:pt x="166873" y="114439"/>
                  <a:pt x="166081" y="115231"/>
                </a:cubicBezTo>
                <a:lnTo>
                  <a:pt x="127324" y="153988"/>
                </a:lnTo>
                <a:lnTo>
                  <a:pt x="76396" y="153988"/>
                </a:lnTo>
                <a:cubicBezTo>
                  <a:pt x="42675" y="153988"/>
                  <a:pt x="15208" y="181411"/>
                  <a:pt x="15208" y="215175"/>
                </a:cubicBezTo>
                <a:cubicBezTo>
                  <a:pt x="15208" y="248938"/>
                  <a:pt x="42632" y="276362"/>
                  <a:pt x="76396" y="276362"/>
                </a:cubicBezTo>
                <a:lnTo>
                  <a:pt x="220432" y="276362"/>
                </a:lnTo>
                <a:lnTo>
                  <a:pt x="202277" y="294517"/>
                </a:lnTo>
                <a:cubicBezTo>
                  <a:pt x="200650" y="296144"/>
                  <a:pt x="200650" y="298833"/>
                  <a:pt x="202277" y="300460"/>
                </a:cubicBezTo>
                <a:cubicBezTo>
                  <a:pt x="203112" y="301295"/>
                  <a:pt x="204159" y="301691"/>
                  <a:pt x="205249" y="301691"/>
                </a:cubicBezTo>
                <a:cubicBezTo>
                  <a:pt x="206339" y="301691"/>
                  <a:pt x="207386" y="301295"/>
                  <a:pt x="208221" y="300460"/>
                </a:cubicBezTo>
                <a:lnTo>
                  <a:pt x="232304" y="276377"/>
                </a:lnTo>
                <a:lnTo>
                  <a:pt x="252185" y="276377"/>
                </a:lnTo>
                <a:lnTo>
                  <a:pt x="290942" y="315133"/>
                </a:lnTo>
                <a:cubicBezTo>
                  <a:pt x="291735" y="315926"/>
                  <a:pt x="292796" y="316364"/>
                  <a:pt x="293914" y="316364"/>
                </a:cubicBezTo>
                <a:cubicBezTo>
                  <a:pt x="295032" y="316364"/>
                  <a:pt x="296093" y="315926"/>
                  <a:pt x="296885" y="315133"/>
                </a:cubicBezTo>
                <a:lnTo>
                  <a:pt x="336874" y="275145"/>
                </a:lnTo>
                <a:cubicBezTo>
                  <a:pt x="337666" y="274353"/>
                  <a:pt x="338105" y="273291"/>
                  <a:pt x="338105" y="272173"/>
                </a:cubicBezTo>
                <a:cubicBezTo>
                  <a:pt x="338119" y="271027"/>
                  <a:pt x="337680" y="269909"/>
                  <a:pt x="336874" y="269145"/>
                </a:cubicBezTo>
                <a:close/>
                <a:moveTo>
                  <a:pt x="44187" y="78313"/>
                </a:moveTo>
                <a:lnTo>
                  <a:pt x="10142" y="44267"/>
                </a:lnTo>
                <a:lnTo>
                  <a:pt x="44187" y="10222"/>
                </a:lnTo>
                <a:lnTo>
                  <a:pt x="78232" y="44267"/>
                </a:lnTo>
                <a:close/>
                <a:moveTo>
                  <a:pt x="169050" y="124144"/>
                </a:moveTo>
                <a:lnTo>
                  <a:pt x="203095" y="158190"/>
                </a:lnTo>
                <a:lnTo>
                  <a:pt x="169050" y="192235"/>
                </a:lnTo>
                <a:lnTo>
                  <a:pt x="135004" y="158190"/>
                </a:lnTo>
                <a:close/>
                <a:moveTo>
                  <a:pt x="293913" y="306130"/>
                </a:moveTo>
                <a:lnTo>
                  <a:pt x="259867" y="272085"/>
                </a:lnTo>
                <a:lnTo>
                  <a:pt x="293913" y="238039"/>
                </a:lnTo>
                <a:lnTo>
                  <a:pt x="327958" y="272085"/>
                </a:lnTo>
                <a:close/>
              </a:path>
            </a:pathLst>
          </a:custGeom>
          <a:gradFill>
            <a:gsLst>
              <a:gs pos="0">
                <a:schemeClr val="accent1">
                  <a:lumMod val="75000"/>
                </a:schemeClr>
              </a:gs>
              <a:gs pos="100000">
                <a:schemeClr val="accent1"/>
              </a:gs>
            </a:gsLst>
            <a:lin ang="0" scaled="0"/>
          </a:gradFill>
          <a:ln w="3620" cap="flat">
            <a:no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4565B9FE-1B73-6DD8-3370-B1A0995F997E}"/>
              </a:ext>
            </a:extLst>
          </p:cNvPr>
          <p:cNvSpPr/>
          <p:nvPr/>
        </p:nvSpPr>
        <p:spPr>
          <a:xfrm>
            <a:off x="5858469"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grpSp>
        <p:nvGrpSpPr>
          <p:cNvPr id="29" name="Graphic 519">
            <a:extLst>
              <a:ext uri="{FF2B5EF4-FFF2-40B4-BE49-F238E27FC236}">
                <a16:creationId xmlns:a16="http://schemas.microsoft.com/office/drawing/2014/main" id="{E5E77B49-BE8B-BDA2-B16E-5CB5A6014AD5}"/>
              </a:ext>
            </a:extLst>
          </p:cNvPr>
          <p:cNvGrpSpPr>
            <a:grpSpLocks/>
          </p:cNvGrpSpPr>
          <p:nvPr/>
        </p:nvGrpSpPr>
        <p:grpSpPr>
          <a:xfrm>
            <a:off x="5927605" y="1778513"/>
            <a:ext cx="338328" cy="338328"/>
            <a:chOff x="5919691" y="3257550"/>
            <a:chExt cx="350329" cy="338899"/>
          </a:xfrm>
          <a:gradFill>
            <a:gsLst>
              <a:gs pos="0">
                <a:schemeClr val="accent1">
                  <a:lumMod val="75000"/>
                </a:schemeClr>
              </a:gs>
              <a:gs pos="100000">
                <a:schemeClr val="accent1"/>
              </a:gs>
            </a:gsLst>
            <a:lin ang="0" scaled="0"/>
          </a:gradFill>
        </p:grpSpPr>
        <p:sp>
          <p:nvSpPr>
            <p:cNvPr id="30" name="Freeform: Shape 29">
              <a:extLst>
                <a:ext uri="{FF2B5EF4-FFF2-40B4-BE49-F238E27FC236}">
                  <a16:creationId xmlns:a16="http://schemas.microsoft.com/office/drawing/2014/main" id="{07E6D021-DA65-38D8-129B-68C8FD7ECA58}"/>
                </a:ext>
              </a:extLst>
            </p:cNvPr>
            <p:cNvSpPr/>
            <p:nvPr/>
          </p:nvSpPr>
          <p:spPr>
            <a:xfrm>
              <a:off x="5921215" y="3258978"/>
              <a:ext cx="347567" cy="336042"/>
            </a:xfrm>
            <a:custGeom>
              <a:avLst/>
              <a:gdLst>
                <a:gd name="connsiteX0" fmla="*/ 267367 w 347567"/>
                <a:gd name="connsiteY0" fmla="*/ 229076 h 336042"/>
                <a:gd name="connsiteX1" fmla="*/ 302324 w 347567"/>
                <a:gd name="connsiteY1" fmla="*/ 280607 h 336042"/>
                <a:gd name="connsiteX2" fmla="*/ 246888 w 347567"/>
                <a:gd name="connsiteY2" fmla="*/ 336042 h 336042"/>
                <a:gd name="connsiteX3" fmla="*/ 191548 w 347567"/>
                <a:gd name="connsiteY3" fmla="*/ 284131 h 336042"/>
                <a:gd name="connsiteX4" fmla="*/ 155924 w 347567"/>
                <a:gd name="connsiteY4" fmla="*/ 284131 h 336042"/>
                <a:gd name="connsiteX5" fmla="*/ 100584 w 347567"/>
                <a:gd name="connsiteY5" fmla="*/ 336042 h 336042"/>
                <a:gd name="connsiteX6" fmla="*/ 45149 w 347567"/>
                <a:gd name="connsiteY6" fmla="*/ 280607 h 336042"/>
                <a:gd name="connsiteX7" fmla="*/ 80105 w 347567"/>
                <a:gd name="connsiteY7" fmla="*/ 229076 h 336042"/>
                <a:gd name="connsiteX8" fmla="*/ 69152 w 347567"/>
                <a:gd name="connsiteY8" fmla="*/ 195167 h 336042"/>
                <a:gd name="connsiteX9" fmla="*/ 55435 w 347567"/>
                <a:gd name="connsiteY9" fmla="*/ 196882 h 336042"/>
                <a:gd name="connsiteX10" fmla="*/ 0 w 347567"/>
                <a:gd name="connsiteY10" fmla="*/ 141446 h 336042"/>
                <a:gd name="connsiteX11" fmla="*/ 55435 w 347567"/>
                <a:gd name="connsiteY11" fmla="*/ 86011 h 336042"/>
                <a:gd name="connsiteX12" fmla="*/ 98108 w 347567"/>
                <a:gd name="connsiteY12" fmla="*/ 106109 h 336042"/>
                <a:gd name="connsiteX13" fmla="*/ 126968 w 347567"/>
                <a:gd name="connsiteY13" fmla="*/ 85154 h 336042"/>
                <a:gd name="connsiteX14" fmla="*/ 118396 w 347567"/>
                <a:gd name="connsiteY14" fmla="*/ 55531 h 336042"/>
                <a:gd name="connsiteX15" fmla="*/ 173736 w 347567"/>
                <a:gd name="connsiteY15" fmla="*/ 0 h 336042"/>
                <a:gd name="connsiteX16" fmla="*/ 229171 w 347567"/>
                <a:gd name="connsiteY16" fmla="*/ 55435 h 336042"/>
                <a:gd name="connsiteX17" fmla="*/ 220599 w 347567"/>
                <a:gd name="connsiteY17" fmla="*/ 85058 h 336042"/>
                <a:gd name="connsiteX18" fmla="*/ 249460 w 347567"/>
                <a:gd name="connsiteY18" fmla="*/ 106013 h 336042"/>
                <a:gd name="connsiteX19" fmla="*/ 292132 w 347567"/>
                <a:gd name="connsiteY19" fmla="*/ 85916 h 336042"/>
                <a:gd name="connsiteX20" fmla="*/ 347567 w 347567"/>
                <a:gd name="connsiteY20" fmla="*/ 141351 h 336042"/>
                <a:gd name="connsiteX21" fmla="*/ 292132 w 347567"/>
                <a:gd name="connsiteY21" fmla="*/ 196787 h 336042"/>
                <a:gd name="connsiteX22" fmla="*/ 278416 w 347567"/>
                <a:gd name="connsiteY22" fmla="*/ 195072 h 336042"/>
                <a:gd name="connsiteX23" fmla="*/ 267367 w 347567"/>
                <a:gd name="connsiteY23" fmla="*/ 228981 h 336042"/>
                <a:gd name="connsiteX24" fmla="*/ 267367 w 347567"/>
                <a:gd name="connsiteY24" fmla="*/ 228981 h 336042"/>
                <a:gd name="connsiteX25" fmla="*/ 274606 w 347567"/>
                <a:gd name="connsiteY25" fmla="*/ 320135 h 336042"/>
                <a:gd name="connsiteX26" fmla="*/ 274606 w 347567"/>
                <a:gd name="connsiteY26" fmla="*/ 320135 h 336042"/>
                <a:gd name="connsiteX27" fmla="*/ 274987 w 347567"/>
                <a:gd name="connsiteY27" fmla="*/ 315278 h 336042"/>
                <a:gd name="connsiteX28" fmla="*/ 256413 w 347567"/>
                <a:gd name="connsiteY28" fmla="*/ 288798 h 336042"/>
                <a:gd name="connsiteX29" fmla="*/ 254127 w 347567"/>
                <a:gd name="connsiteY29" fmla="*/ 286036 h 336042"/>
                <a:gd name="connsiteX30" fmla="*/ 255365 w 347567"/>
                <a:gd name="connsiteY30" fmla="*/ 282702 h 336042"/>
                <a:gd name="connsiteX31" fmla="*/ 260414 w 347567"/>
                <a:gd name="connsiteY31" fmla="*/ 272129 h 336042"/>
                <a:gd name="connsiteX32" fmla="*/ 246793 w 347567"/>
                <a:gd name="connsiteY32" fmla="*/ 258509 h 336042"/>
                <a:gd name="connsiteX33" fmla="*/ 233172 w 347567"/>
                <a:gd name="connsiteY33" fmla="*/ 272129 h 336042"/>
                <a:gd name="connsiteX34" fmla="*/ 238220 w 347567"/>
                <a:gd name="connsiteY34" fmla="*/ 282702 h 336042"/>
                <a:gd name="connsiteX35" fmla="*/ 239459 w 347567"/>
                <a:gd name="connsiteY35" fmla="*/ 286036 h 336042"/>
                <a:gd name="connsiteX36" fmla="*/ 237173 w 347567"/>
                <a:gd name="connsiteY36" fmla="*/ 288798 h 336042"/>
                <a:gd name="connsiteX37" fmla="*/ 218599 w 347567"/>
                <a:gd name="connsiteY37" fmla="*/ 315278 h 336042"/>
                <a:gd name="connsiteX38" fmla="*/ 218980 w 347567"/>
                <a:gd name="connsiteY38" fmla="*/ 320040 h 336042"/>
                <a:gd name="connsiteX39" fmla="*/ 218980 w 347567"/>
                <a:gd name="connsiteY39" fmla="*/ 320040 h 336042"/>
                <a:gd name="connsiteX40" fmla="*/ 246698 w 347567"/>
                <a:gd name="connsiteY40" fmla="*/ 328803 h 336042"/>
                <a:gd name="connsiteX41" fmla="*/ 274511 w 347567"/>
                <a:gd name="connsiteY41" fmla="*/ 320040 h 336042"/>
                <a:gd name="connsiteX42" fmla="*/ 274511 w 347567"/>
                <a:gd name="connsiteY42" fmla="*/ 320040 h 336042"/>
                <a:gd name="connsiteX43" fmla="*/ 128397 w 347567"/>
                <a:gd name="connsiteY43" fmla="*/ 320135 h 336042"/>
                <a:gd name="connsiteX44" fmla="*/ 128397 w 347567"/>
                <a:gd name="connsiteY44" fmla="*/ 320135 h 336042"/>
                <a:gd name="connsiteX45" fmla="*/ 128778 w 347567"/>
                <a:gd name="connsiteY45" fmla="*/ 315278 h 336042"/>
                <a:gd name="connsiteX46" fmla="*/ 110204 w 347567"/>
                <a:gd name="connsiteY46" fmla="*/ 288798 h 336042"/>
                <a:gd name="connsiteX47" fmla="*/ 107918 w 347567"/>
                <a:gd name="connsiteY47" fmla="*/ 286036 h 336042"/>
                <a:gd name="connsiteX48" fmla="*/ 109157 w 347567"/>
                <a:gd name="connsiteY48" fmla="*/ 282702 h 336042"/>
                <a:gd name="connsiteX49" fmla="*/ 114205 w 347567"/>
                <a:gd name="connsiteY49" fmla="*/ 272129 h 336042"/>
                <a:gd name="connsiteX50" fmla="*/ 100584 w 347567"/>
                <a:gd name="connsiteY50" fmla="*/ 258509 h 336042"/>
                <a:gd name="connsiteX51" fmla="*/ 86963 w 347567"/>
                <a:gd name="connsiteY51" fmla="*/ 272129 h 336042"/>
                <a:gd name="connsiteX52" fmla="*/ 92012 w 347567"/>
                <a:gd name="connsiteY52" fmla="*/ 282702 h 336042"/>
                <a:gd name="connsiteX53" fmla="*/ 93250 w 347567"/>
                <a:gd name="connsiteY53" fmla="*/ 286036 h 336042"/>
                <a:gd name="connsiteX54" fmla="*/ 90964 w 347567"/>
                <a:gd name="connsiteY54" fmla="*/ 288798 h 336042"/>
                <a:gd name="connsiteX55" fmla="*/ 72390 w 347567"/>
                <a:gd name="connsiteY55" fmla="*/ 315278 h 336042"/>
                <a:gd name="connsiteX56" fmla="*/ 72771 w 347567"/>
                <a:gd name="connsiteY56" fmla="*/ 320040 h 336042"/>
                <a:gd name="connsiteX57" fmla="*/ 72771 w 347567"/>
                <a:gd name="connsiteY57" fmla="*/ 320040 h 336042"/>
                <a:gd name="connsiteX58" fmla="*/ 100489 w 347567"/>
                <a:gd name="connsiteY58" fmla="*/ 328803 h 336042"/>
                <a:gd name="connsiteX59" fmla="*/ 128207 w 347567"/>
                <a:gd name="connsiteY59" fmla="*/ 320040 h 336042"/>
                <a:gd name="connsiteX60" fmla="*/ 128207 w 347567"/>
                <a:gd name="connsiteY60" fmla="*/ 320040 h 336042"/>
                <a:gd name="connsiteX61" fmla="*/ 282035 w 347567"/>
                <a:gd name="connsiteY61" fmla="*/ 313658 h 336042"/>
                <a:gd name="connsiteX62" fmla="*/ 295180 w 347567"/>
                <a:gd name="connsiteY62" fmla="*/ 280511 h 336042"/>
                <a:gd name="connsiteX63" fmla="*/ 246888 w 347567"/>
                <a:gd name="connsiteY63" fmla="*/ 232220 h 336042"/>
                <a:gd name="connsiteX64" fmla="*/ 198596 w 347567"/>
                <a:gd name="connsiteY64" fmla="*/ 280511 h 336042"/>
                <a:gd name="connsiteX65" fmla="*/ 211646 w 347567"/>
                <a:gd name="connsiteY65" fmla="*/ 313658 h 336042"/>
                <a:gd name="connsiteX66" fmla="*/ 230029 w 347567"/>
                <a:gd name="connsiteY66" fmla="*/ 284321 h 336042"/>
                <a:gd name="connsiteX67" fmla="*/ 226124 w 347567"/>
                <a:gd name="connsiteY67" fmla="*/ 272225 h 336042"/>
                <a:gd name="connsiteX68" fmla="*/ 246888 w 347567"/>
                <a:gd name="connsiteY68" fmla="*/ 251460 h 336042"/>
                <a:gd name="connsiteX69" fmla="*/ 267653 w 347567"/>
                <a:gd name="connsiteY69" fmla="*/ 272225 h 336042"/>
                <a:gd name="connsiteX70" fmla="*/ 263747 w 347567"/>
                <a:gd name="connsiteY70" fmla="*/ 284321 h 336042"/>
                <a:gd name="connsiteX71" fmla="*/ 282131 w 347567"/>
                <a:gd name="connsiteY71" fmla="*/ 313658 h 336042"/>
                <a:gd name="connsiteX72" fmla="*/ 282131 w 347567"/>
                <a:gd name="connsiteY72" fmla="*/ 313658 h 336042"/>
                <a:gd name="connsiteX73" fmla="*/ 135827 w 347567"/>
                <a:gd name="connsiteY73" fmla="*/ 313658 h 336042"/>
                <a:gd name="connsiteX74" fmla="*/ 148971 w 347567"/>
                <a:gd name="connsiteY74" fmla="*/ 280511 h 336042"/>
                <a:gd name="connsiteX75" fmla="*/ 100584 w 347567"/>
                <a:gd name="connsiteY75" fmla="*/ 232220 h 336042"/>
                <a:gd name="connsiteX76" fmla="*/ 52292 w 347567"/>
                <a:gd name="connsiteY76" fmla="*/ 280511 h 336042"/>
                <a:gd name="connsiteX77" fmla="*/ 65342 w 347567"/>
                <a:gd name="connsiteY77" fmla="*/ 313658 h 336042"/>
                <a:gd name="connsiteX78" fmla="*/ 83725 w 347567"/>
                <a:gd name="connsiteY78" fmla="*/ 284321 h 336042"/>
                <a:gd name="connsiteX79" fmla="*/ 79820 w 347567"/>
                <a:gd name="connsiteY79" fmla="*/ 272225 h 336042"/>
                <a:gd name="connsiteX80" fmla="*/ 100584 w 347567"/>
                <a:gd name="connsiteY80" fmla="*/ 251460 h 336042"/>
                <a:gd name="connsiteX81" fmla="*/ 121349 w 347567"/>
                <a:gd name="connsiteY81" fmla="*/ 272225 h 336042"/>
                <a:gd name="connsiteX82" fmla="*/ 117443 w 347567"/>
                <a:gd name="connsiteY82" fmla="*/ 284321 h 336042"/>
                <a:gd name="connsiteX83" fmla="*/ 135827 w 347567"/>
                <a:gd name="connsiteY83" fmla="*/ 313658 h 336042"/>
                <a:gd name="connsiteX84" fmla="*/ 135827 w 347567"/>
                <a:gd name="connsiteY84" fmla="*/ 313658 h 336042"/>
                <a:gd name="connsiteX85" fmla="*/ 245269 w 347567"/>
                <a:gd name="connsiteY85" fmla="*/ 111824 h 336042"/>
                <a:gd name="connsiteX86" fmla="*/ 216408 w 347567"/>
                <a:gd name="connsiteY86" fmla="*/ 90868 h 336042"/>
                <a:gd name="connsiteX87" fmla="*/ 173736 w 347567"/>
                <a:gd name="connsiteY87" fmla="*/ 110966 h 336042"/>
                <a:gd name="connsiteX88" fmla="*/ 131064 w 347567"/>
                <a:gd name="connsiteY88" fmla="*/ 90868 h 336042"/>
                <a:gd name="connsiteX89" fmla="*/ 102203 w 347567"/>
                <a:gd name="connsiteY89" fmla="*/ 111824 h 336042"/>
                <a:gd name="connsiteX90" fmla="*/ 110776 w 347567"/>
                <a:gd name="connsiteY90" fmla="*/ 141446 h 336042"/>
                <a:gd name="connsiteX91" fmla="*/ 75819 w 347567"/>
                <a:gd name="connsiteY91" fmla="*/ 192977 h 336042"/>
                <a:gd name="connsiteX92" fmla="*/ 86868 w 347567"/>
                <a:gd name="connsiteY92" fmla="*/ 226886 h 336042"/>
                <a:gd name="connsiteX93" fmla="*/ 100584 w 347567"/>
                <a:gd name="connsiteY93" fmla="*/ 225171 h 336042"/>
                <a:gd name="connsiteX94" fmla="*/ 155924 w 347567"/>
                <a:gd name="connsiteY94" fmla="*/ 277082 h 336042"/>
                <a:gd name="connsiteX95" fmla="*/ 191548 w 347567"/>
                <a:gd name="connsiteY95" fmla="*/ 277082 h 336042"/>
                <a:gd name="connsiteX96" fmla="*/ 246888 w 347567"/>
                <a:gd name="connsiteY96" fmla="*/ 225171 h 336042"/>
                <a:gd name="connsiteX97" fmla="*/ 260604 w 347567"/>
                <a:gd name="connsiteY97" fmla="*/ 226886 h 336042"/>
                <a:gd name="connsiteX98" fmla="*/ 271558 w 347567"/>
                <a:gd name="connsiteY98" fmla="*/ 192977 h 336042"/>
                <a:gd name="connsiteX99" fmla="*/ 236601 w 347567"/>
                <a:gd name="connsiteY99" fmla="*/ 141446 h 336042"/>
                <a:gd name="connsiteX100" fmla="*/ 245174 w 347567"/>
                <a:gd name="connsiteY100" fmla="*/ 111824 h 336042"/>
                <a:gd name="connsiteX101" fmla="*/ 245174 w 347567"/>
                <a:gd name="connsiteY101" fmla="*/ 111824 h 336042"/>
                <a:gd name="connsiteX102" fmla="*/ 319754 w 347567"/>
                <a:gd name="connsiteY102" fmla="*/ 180975 h 336042"/>
                <a:gd name="connsiteX103" fmla="*/ 320135 w 347567"/>
                <a:gd name="connsiteY103" fmla="*/ 176213 h 336042"/>
                <a:gd name="connsiteX104" fmla="*/ 301562 w 347567"/>
                <a:gd name="connsiteY104" fmla="*/ 149733 h 336042"/>
                <a:gd name="connsiteX105" fmla="*/ 299276 w 347567"/>
                <a:gd name="connsiteY105" fmla="*/ 146971 h 336042"/>
                <a:gd name="connsiteX106" fmla="*/ 300514 w 347567"/>
                <a:gd name="connsiteY106" fmla="*/ 143637 h 336042"/>
                <a:gd name="connsiteX107" fmla="*/ 305562 w 347567"/>
                <a:gd name="connsiteY107" fmla="*/ 133064 h 336042"/>
                <a:gd name="connsiteX108" fmla="*/ 291941 w 347567"/>
                <a:gd name="connsiteY108" fmla="*/ 119443 h 336042"/>
                <a:gd name="connsiteX109" fmla="*/ 278321 w 347567"/>
                <a:gd name="connsiteY109" fmla="*/ 133064 h 336042"/>
                <a:gd name="connsiteX110" fmla="*/ 283369 w 347567"/>
                <a:gd name="connsiteY110" fmla="*/ 143637 h 336042"/>
                <a:gd name="connsiteX111" fmla="*/ 284607 w 347567"/>
                <a:gd name="connsiteY111" fmla="*/ 146971 h 336042"/>
                <a:gd name="connsiteX112" fmla="*/ 282321 w 347567"/>
                <a:gd name="connsiteY112" fmla="*/ 149733 h 336042"/>
                <a:gd name="connsiteX113" fmla="*/ 263747 w 347567"/>
                <a:gd name="connsiteY113" fmla="*/ 176213 h 336042"/>
                <a:gd name="connsiteX114" fmla="*/ 264128 w 347567"/>
                <a:gd name="connsiteY114" fmla="*/ 180975 h 336042"/>
                <a:gd name="connsiteX115" fmla="*/ 291846 w 347567"/>
                <a:gd name="connsiteY115" fmla="*/ 189738 h 336042"/>
                <a:gd name="connsiteX116" fmla="*/ 319564 w 347567"/>
                <a:gd name="connsiteY116" fmla="*/ 180975 h 336042"/>
                <a:gd name="connsiteX117" fmla="*/ 319564 w 347567"/>
                <a:gd name="connsiteY117" fmla="*/ 180975 h 336042"/>
                <a:gd name="connsiteX118" fmla="*/ 83439 w 347567"/>
                <a:gd name="connsiteY118" fmla="*/ 180784 h 336042"/>
                <a:gd name="connsiteX119" fmla="*/ 83820 w 347567"/>
                <a:gd name="connsiteY119" fmla="*/ 176213 h 336042"/>
                <a:gd name="connsiteX120" fmla="*/ 65246 w 347567"/>
                <a:gd name="connsiteY120" fmla="*/ 149733 h 336042"/>
                <a:gd name="connsiteX121" fmla="*/ 62960 w 347567"/>
                <a:gd name="connsiteY121" fmla="*/ 146971 h 336042"/>
                <a:gd name="connsiteX122" fmla="*/ 64199 w 347567"/>
                <a:gd name="connsiteY122" fmla="*/ 143637 h 336042"/>
                <a:gd name="connsiteX123" fmla="*/ 69247 w 347567"/>
                <a:gd name="connsiteY123" fmla="*/ 133064 h 336042"/>
                <a:gd name="connsiteX124" fmla="*/ 55626 w 347567"/>
                <a:gd name="connsiteY124" fmla="*/ 119443 h 336042"/>
                <a:gd name="connsiteX125" fmla="*/ 42005 w 347567"/>
                <a:gd name="connsiteY125" fmla="*/ 133064 h 336042"/>
                <a:gd name="connsiteX126" fmla="*/ 47054 w 347567"/>
                <a:gd name="connsiteY126" fmla="*/ 143637 h 336042"/>
                <a:gd name="connsiteX127" fmla="*/ 48292 w 347567"/>
                <a:gd name="connsiteY127" fmla="*/ 146971 h 336042"/>
                <a:gd name="connsiteX128" fmla="*/ 46006 w 347567"/>
                <a:gd name="connsiteY128" fmla="*/ 149733 h 336042"/>
                <a:gd name="connsiteX129" fmla="*/ 27432 w 347567"/>
                <a:gd name="connsiteY129" fmla="*/ 176213 h 336042"/>
                <a:gd name="connsiteX130" fmla="*/ 27813 w 347567"/>
                <a:gd name="connsiteY130" fmla="*/ 180975 h 336042"/>
                <a:gd name="connsiteX131" fmla="*/ 27908 w 347567"/>
                <a:gd name="connsiteY131" fmla="*/ 181261 h 336042"/>
                <a:gd name="connsiteX132" fmla="*/ 55340 w 347567"/>
                <a:gd name="connsiteY132" fmla="*/ 189738 h 336042"/>
                <a:gd name="connsiteX133" fmla="*/ 83344 w 347567"/>
                <a:gd name="connsiteY133" fmla="*/ 180784 h 336042"/>
                <a:gd name="connsiteX134" fmla="*/ 83344 w 347567"/>
                <a:gd name="connsiteY134" fmla="*/ 180784 h 336042"/>
                <a:gd name="connsiteX135" fmla="*/ 90868 w 347567"/>
                <a:gd name="connsiteY135" fmla="*/ 174308 h 336042"/>
                <a:gd name="connsiteX136" fmla="*/ 103727 w 347567"/>
                <a:gd name="connsiteY136" fmla="*/ 141446 h 336042"/>
                <a:gd name="connsiteX137" fmla="*/ 55435 w 347567"/>
                <a:gd name="connsiteY137" fmla="*/ 93059 h 336042"/>
                <a:gd name="connsiteX138" fmla="*/ 7144 w 347567"/>
                <a:gd name="connsiteY138" fmla="*/ 141446 h 336042"/>
                <a:gd name="connsiteX139" fmla="*/ 20479 w 347567"/>
                <a:gd name="connsiteY139" fmla="*/ 174784 h 336042"/>
                <a:gd name="connsiteX140" fmla="*/ 38862 w 347567"/>
                <a:gd name="connsiteY140" fmla="*/ 145161 h 336042"/>
                <a:gd name="connsiteX141" fmla="*/ 34957 w 347567"/>
                <a:gd name="connsiteY141" fmla="*/ 133064 h 336042"/>
                <a:gd name="connsiteX142" fmla="*/ 55721 w 347567"/>
                <a:gd name="connsiteY142" fmla="*/ 112395 h 336042"/>
                <a:gd name="connsiteX143" fmla="*/ 76486 w 347567"/>
                <a:gd name="connsiteY143" fmla="*/ 133064 h 336042"/>
                <a:gd name="connsiteX144" fmla="*/ 72581 w 347567"/>
                <a:gd name="connsiteY144" fmla="*/ 145161 h 336042"/>
                <a:gd name="connsiteX145" fmla="*/ 90964 w 347567"/>
                <a:gd name="connsiteY145" fmla="*/ 174308 h 336042"/>
                <a:gd name="connsiteX146" fmla="*/ 90964 w 347567"/>
                <a:gd name="connsiteY146" fmla="*/ 174308 h 336042"/>
                <a:gd name="connsiteX147" fmla="*/ 327279 w 347567"/>
                <a:gd name="connsiteY147" fmla="*/ 174498 h 336042"/>
                <a:gd name="connsiteX148" fmla="*/ 340424 w 347567"/>
                <a:gd name="connsiteY148" fmla="*/ 141446 h 336042"/>
                <a:gd name="connsiteX149" fmla="*/ 292037 w 347567"/>
                <a:gd name="connsiteY149" fmla="*/ 93059 h 336042"/>
                <a:gd name="connsiteX150" fmla="*/ 243745 w 347567"/>
                <a:gd name="connsiteY150" fmla="*/ 141446 h 336042"/>
                <a:gd name="connsiteX151" fmla="*/ 256794 w 347567"/>
                <a:gd name="connsiteY151" fmla="*/ 174498 h 336042"/>
                <a:gd name="connsiteX152" fmla="*/ 275177 w 347567"/>
                <a:gd name="connsiteY152" fmla="*/ 145161 h 336042"/>
                <a:gd name="connsiteX153" fmla="*/ 271272 w 347567"/>
                <a:gd name="connsiteY153" fmla="*/ 133064 h 336042"/>
                <a:gd name="connsiteX154" fmla="*/ 292037 w 347567"/>
                <a:gd name="connsiteY154" fmla="*/ 112395 h 336042"/>
                <a:gd name="connsiteX155" fmla="*/ 312801 w 347567"/>
                <a:gd name="connsiteY155" fmla="*/ 133064 h 336042"/>
                <a:gd name="connsiteX156" fmla="*/ 308896 w 347567"/>
                <a:gd name="connsiteY156" fmla="*/ 145161 h 336042"/>
                <a:gd name="connsiteX157" fmla="*/ 327279 w 347567"/>
                <a:gd name="connsiteY157" fmla="*/ 174498 h 336042"/>
                <a:gd name="connsiteX158" fmla="*/ 327279 w 347567"/>
                <a:gd name="connsiteY158" fmla="*/ 174498 h 336042"/>
                <a:gd name="connsiteX159" fmla="*/ 201454 w 347567"/>
                <a:gd name="connsiteY159" fmla="*/ 95060 h 336042"/>
                <a:gd name="connsiteX160" fmla="*/ 201835 w 347567"/>
                <a:gd name="connsiteY160" fmla="*/ 90202 h 336042"/>
                <a:gd name="connsiteX161" fmla="*/ 183261 w 347567"/>
                <a:gd name="connsiteY161" fmla="*/ 63722 h 336042"/>
                <a:gd name="connsiteX162" fmla="*/ 180975 w 347567"/>
                <a:gd name="connsiteY162" fmla="*/ 60960 h 336042"/>
                <a:gd name="connsiteX163" fmla="*/ 182213 w 347567"/>
                <a:gd name="connsiteY163" fmla="*/ 57626 h 336042"/>
                <a:gd name="connsiteX164" fmla="*/ 187262 w 347567"/>
                <a:gd name="connsiteY164" fmla="*/ 47054 h 336042"/>
                <a:gd name="connsiteX165" fmla="*/ 173641 w 347567"/>
                <a:gd name="connsiteY165" fmla="*/ 33433 h 336042"/>
                <a:gd name="connsiteX166" fmla="*/ 160020 w 347567"/>
                <a:gd name="connsiteY166" fmla="*/ 47054 h 336042"/>
                <a:gd name="connsiteX167" fmla="*/ 165068 w 347567"/>
                <a:gd name="connsiteY167" fmla="*/ 57626 h 336042"/>
                <a:gd name="connsiteX168" fmla="*/ 166307 w 347567"/>
                <a:gd name="connsiteY168" fmla="*/ 60960 h 336042"/>
                <a:gd name="connsiteX169" fmla="*/ 164021 w 347567"/>
                <a:gd name="connsiteY169" fmla="*/ 63722 h 336042"/>
                <a:gd name="connsiteX170" fmla="*/ 145447 w 347567"/>
                <a:gd name="connsiteY170" fmla="*/ 90202 h 336042"/>
                <a:gd name="connsiteX171" fmla="*/ 145828 w 347567"/>
                <a:gd name="connsiteY171" fmla="*/ 94964 h 336042"/>
                <a:gd name="connsiteX172" fmla="*/ 145828 w 347567"/>
                <a:gd name="connsiteY172" fmla="*/ 94964 h 336042"/>
                <a:gd name="connsiteX173" fmla="*/ 173641 w 347567"/>
                <a:gd name="connsiteY173" fmla="*/ 103727 h 336042"/>
                <a:gd name="connsiteX174" fmla="*/ 201359 w 347567"/>
                <a:gd name="connsiteY174" fmla="*/ 94964 h 336042"/>
                <a:gd name="connsiteX175" fmla="*/ 201359 w 347567"/>
                <a:gd name="connsiteY175" fmla="*/ 94964 h 336042"/>
                <a:gd name="connsiteX176" fmla="*/ 208979 w 347567"/>
                <a:gd name="connsiteY176" fmla="*/ 88583 h 336042"/>
                <a:gd name="connsiteX177" fmla="*/ 222028 w 347567"/>
                <a:gd name="connsiteY177" fmla="*/ 55435 h 336042"/>
                <a:gd name="connsiteX178" fmla="*/ 173736 w 347567"/>
                <a:gd name="connsiteY178" fmla="*/ 7144 h 336042"/>
                <a:gd name="connsiteX179" fmla="*/ 125349 w 347567"/>
                <a:gd name="connsiteY179" fmla="*/ 55435 h 336042"/>
                <a:gd name="connsiteX180" fmla="*/ 138494 w 347567"/>
                <a:gd name="connsiteY180" fmla="*/ 88583 h 336042"/>
                <a:gd name="connsiteX181" fmla="*/ 156877 w 347567"/>
                <a:gd name="connsiteY181" fmla="*/ 59246 h 336042"/>
                <a:gd name="connsiteX182" fmla="*/ 152971 w 347567"/>
                <a:gd name="connsiteY182" fmla="*/ 47149 h 336042"/>
                <a:gd name="connsiteX183" fmla="*/ 173736 w 347567"/>
                <a:gd name="connsiteY183" fmla="*/ 26384 h 336042"/>
                <a:gd name="connsiteX184" fmla="*/ 194501 w 347567"/>
                <a:gd name="connsiteY184" fmla="*/ 47149 h 336042"/>
                <a:gd name="connsiteX185" fmla="*/ 190595 w 347567"/>
                <a:gd name="connsiteY185" fmla="*/ 59246 h 336042"/>
                <a:gd name="connsiteX186" fmla="*/ 208979 w 347567"/>
                <a:gd name="connsiteY186" fmla="*/ 88583 h 336042"/>
                <a:gd name="connsiteX187" fmla="*/ 208979 w 347567"/>
                <a:gd name="connsiteY187" fmla="*/ 88583 h 33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347567" h="336042">
                  <a:moveTo>
                    <a:pt x="267367" y="229076"/>
                  </a:moveTo>
                  <a:cubicBezTo>
                    <a:pt x="287846" y="237268"/>
                    <a:pt x="302324" y="257270"/>
                    <a:pt x="302324" y="280607"/>
                  </a:cubicBezTo>
                  <a:cubicBezTo>
                    <a:pt x="302324" y="311182"/>
                    <a:pt x="277463" y="336042"/>
                    <a:pt x="246888" y="336042"/>
                  </a:cubicBezTo>
                  <a:cubicBezTo>
                    <a:pt x="216313" y="336042"/>
                    <a:pt x="193453" y="313087"/>
                    <a:pt x="191548" y="284131"/>
                  </a:cubicBezTo>
                  <a:lnTo>
                    <a:pt x="155924" y="284131"/>
                  </a:lnTo>
                  <a:cubicBezTo>
                    <a:pt x="154115" y="313087"/>
                    <a:pt x="130016" y="336042"/>
                    <a:pt x="100584" y="336042"/>
                  </a:cubicBezTo>
                  <a:cubicBezTo>
                    <a:pt x="71152" y="336042"/>
                    <a:pt x="45149" y="311182"/>
                    <a:pt x="45149" y="280607"/>
                  </a:cubicBezTo>
                  <a:cubicBezTo>
                    <a:pt x="45149" y="257270"/>
                    <a:pt x="59627" y="237268"/>
                    <a:pt x="80105" y="229076"/>
                  </a:cubicBezTo>
                  <a:lnTo>
                    <a:pt x="69152" y="195167"/>
                  </a:lnTo>
                  <a:cubicBezTo>
                    <a:pt x="64770" y="196310"/>
                    <a:pt x="60198" y="196882"/>
                    <a:pt x="55435" y="196882"/>
                  </a:cubicBezTo>
                  <a:cubicBezTo>
                    <a:pt x="24860" y="196882"/>
                    <a:pt x="0" y="172021"/>
                    <a:pt x="0" y="141446"/>
                  </a:cubicBezTo>
                  <a:cubicBezTo>
                    <a:pt x="0" y="110871"/>
                    <a:pt x="24860" y="86011"/>
                    <a:pt x="55435" y="86011"/>
                  </a:cubicBezTo>
                  <a:cubicBezTo>
                    <a:pt x="72581" y="86011"/>
                    <a:pt x="87916" y="93821"/>
                    <a:pt x="98108" y="106109"/>
                  </a:cubicBezTo>
                  <a:lnTo>
                    <a:pt x="126968" y="85154"/>
                  </a:lnTo>
                  <a:cubicBezTo>
                    <a:pt x="121539" y="76581"/>
                    <a:pt x="118396" y="66389"/>
                    <a:pt x="118396" y="55531"/>
                  </a:cubicBezTo>
                  <a:cubicBezTo>
                    <a:pt x="118301" y="24860"/>
                    <a:pt x="143161" y="0"/>
                    <a:pt x="173736" y="0"/>
                  </a:cubicBezTo>
                  <a:cubicBezTo>
                    <a:pt x="204311" y="0"/>
                    <a:pt x="229171" y="24860"/>
                    <a:pt x="229171" y="55435"/>
                  </a:cubicBezTo>
                  <a:cubicBezTo>
                    <a:pt x="229171" y="66294"/>
                    <a:pt x="226028" y="76486"/>
                    <a:pt x="220599" y="85058"/>
                  </a:cubicBezTo>
                  <a:lnTo>
                    <a:pt x="249460" y="106013"/>
                  </a:lnTo>
                  <a:cubicBezTo>
                    <a:pt x="259652" y="93726"/>
                    <a:pt x="274987" y="85916"/>
                    <a:pt x="292132" y="85916"/>
                  </a:cubicBezTo>
                  <a:cubicBezTo>
                    <a:pt x="322707" y="85916"/>
                    <a:pt x="347567" y="110776"/>
                    <a:pt x="347567" y="141351"/>
                  </a:cubicBezTo>
                  <a:cubicBezTo>
                    <a:pt x="347567" y="171926"/>
                    <a:pt x="322707" y="196787"/>
                    <a:pt x="292132" y="196787"/>
                  </a:cubicBezTo>
                  <a:cubicBezTo>
                    <a:pt x="287369" y="196787"/>
                    <a:pt x="282797" y="196215"/>
                    <a:pt x="278416" y="195072"/>
                  </a:cubicBezTo>
                  <a:lnTo>
                    <a:pt x="267367" y="228981"/>
                  </a:lnTo>
                  <a:lnTo>
                    <a:pt x="267367" y="228981"/>
                  </a:lnTo>
                  <a:close/>
                  <a:moveTo>
                    <a:pt x="274606" y="320135"/>
                  </a:moveTo>
                  <a:lnTo>
                    <a:pt x="274606" y="320135"/>
                  </a:lnTo>
                  <a:cubicBezTo>
                    <a:pt x="274892" y="318516"/>
                    <a:pt x="274987" y="316897"/>
                    <a:pt x="274987" y="315278"/>
                  </a:cubicBezTo>
                  <a:cubicBezTo>
                    <a:pt x="274987" y="303086"/>
                    <a:pt x="267272" y="292703"/>
                    <a:pt x="256413" y="288798"/>
                  </a:cubicBezTo>
                  <a:cubicBezTo>
                    <a:pt x="255175" y="288417"/>
                    <a:pt x="254318" y="287274"/>
                    <a:pt x="254127" y="286036"/>
                  </a:cubicBezTo>
                  <a:cubicBezTo>
                    <a:pt x="253937" y="284798"/>
                    <a:pt x="254413" y="283464"/>
                    <a:pt x="255365" y="282702"/>
                  </a:cubicBezTo>
                  <a:cubicBezTo>
                    <a:pt x="258413" y="280226"/>
                    <a:pt x="260414" y="276416"/>
                    <a:pt x="260414" y="272129"/>
                  </a:cubicBezTo>
                  <a:cubicBezTo>
                    <a:pt x="260414" y="264605"/>
                    <a:pt x="254318" y="258509"/>
                    <a:pt x="246793" y="258509"/>
                  </a:cubicBezTo>
                  <a:cubicBezTo>
                    <a:pt x="239268" y="258509"/>
                    <a:pt x="233172" y="264605"/>
                    <a:pt x="233172" y="272129"/>
                  </a:cubicBezTo>
                  <a:cubicBezTo>
                    <a:pt x="233172" y="276416"/>
                    <a:pt x="235172" y="280226"/>
                    <a:pt x="238220" y="282702"/>
                  </a:cubicBezTo>
                  <a:cubicBezTo>
                    <a:pt x="239173" y="283464"/>
                    <a:pt x="239649" y="284798"/>
                    <a:pt x="239459" y="286036"/>
                  </a:cubicBezTo>
                  <a:cubicBezTo>
                    <a:pt x="239268" y="287274"/>
                    <a:pt x="238411" y="288322"/>
                    <a:pt x="237173" y="288798"/>
                  </a:cubicBezTo>
                  <a:cubicBezTo>
                    <a:pt x="226314" y="292703"/>
                    <a:pt x="218599" y="303086"/>
                    <a:pt x="218599" y="315278"/>
                  </a:cubicBezTo>
                  <a:cubicBezTo>
                    <a:pt x="218599" y="316897"/>
                    <a:pt x="218694" y="318516"/>
                    <a:pt x="218980" y="320040"/>
                  </a:cubicBezTo>
                  <a:lnTo>
                    <a:pt x="218980" y="320040"/>
                  </a:lnTo>
                  <a:cubicBezTo>
                    <a:pt x="226790" y="325565"/>
                    <a:pt x="236411" y="328803"/>
                    <a:pt x="246698" y="328803"/>
                  </a:cubicBezTo>
                  <a:cubicBezTo>
                    <a:pt x="256984" y="328803"/>
                    <a:pt x="266605" y="325565"/>
                    <a:pt x="274511" y="320040"/>
                  </a:cubicBezTo>
                  <a:lnTo>
                    <a:pt x="274511" y="320040"/>
                  </a:lnTo>
                  <a:close/>
                  <a:moveTo>
                    <a:pt x="128397" y="320135"/>
                  </a:moveTo>
                  <a:lnTo>
                    <a:pt x="128397" y="320135"/>
                  </a:lnTo>
                  <a:cubicBezTo>
                    <a:pt x="128683" y="318516"/>
                    <a:pt x="128778" y="316897"/>
                    <a:pt x="128778" y="315278"/>
                  </a:cubicBezTo>
                  <a:cubicBezTo>
                    <a:pt x="128778" y="303086"/>
                    <a:pt x="121063" y="292703"/>
                    <a:pt x="110204" y="288798"/>
                  </a:cubicBezTo>
                  <a:cubicBezTo>
                    <a:pt x="108966" y="288417"/>
                    <a:pt x="108109" y="287274"/>
                    <a:pt x="107918" y="286036"/>
                  </a:cubicBezTo>
                  <a:cubicBezTo>
                    <a:pt x="107728" y="284798"/>
                    <a:pt x="108204" y="283464"/>
                    <a:pt x="109157" y="282702"/>
                  </a:cubicBezTo>
                  <a:cubicBezTo>
                    <a:pt x="112205" y="280226"/>
                    <a:pt x="114205" y="276416"/>
                    <a:pt x="114205" y="272129"/>
                  </a:cubicBezTo>
                  <a:cubicBezTo>
                    <a:pt x="114205" y="264605"/>
                    <a:pt x="108109" y="258509"/>
                    <a:pt x="100584" y="258509"/>
                  </a:cubicBezTo>
                  <a:cubicBezTo>
                    <a:pt x="93059" y="258509"/>
                    <a:pt x="86963" y="264605"/>
                    <a:pt x="86963" y="272129"/>
                  </a:cubicBezTo>
                  <a:cubicBezTo>
                    <a:pt x="86963" y="276416"/>
                    <a:pt x="88964" y="280226"/>
                    <a:pt x="92012" y="282702"/>
                  </a:cubicBezTo>
                  <a:cubicBezTo>
                    <a:pt x="92964" y="283464"/>
                    <a:pt x="93440" y="284798"/>
                    <a:pt x="93250" y="286036"/>
                  </a:cubicBezTo>
                  <a:cubicBezTo>
                    <a:pt x="93059" y="287274"/>
                    <a:pt x="92202" y="288322"/>
                    <a:pt x="90964" y="288798"/>
                  </a:cubicBezTo>
                  <a:cubicBezTo>
                    <a:pt x="80105" y="292703"/>
                    <a:pt x="72390" y="303086"/>
                    <a:pt x="72390" y="315278"/>
                  </a:cubicBezTo>
                  <a:cubicBezTo>
                    <a:pt x="72390" y="316897"/>
                    <a:pt x="72485" y="318516"/>
                    <a:pt x="72771" y="320040"/>
                  </a:cubicBezTo>
                  <a:lnTo>
                    <a:pt x="72771" y="320040"/>
                  </a:lnTo>
                  <a:cubicBezTo>
                    <a:pt x="80582" y="325565"/>
                    <a:pt x="90202" y="328803"/>
                    <a:pt x="100489" y="328803"/>
                  </a:cubicBezTo>
                  <a:cubicBezTo>
                    <a:pt x="110776" y="328803"/>
                    <a:pt x="120396" y="325565"/>
                    <a:pt x="128207" y="320040"/>
                  </a:cubicBezTo>
                  <a:lnTo>
                    <a:pt x="128207" y="320040"/>
                  </a:lnTo>
                  <a:close/>
                  <a:moveTo>
                    <a:pt x="282035" y="313658"/>
                  </a:moveTo>
                  <a:cubicBezTo>
                    <a:pt x="290132" y="304990"/>
                    <a:pt x="295180" y="293370"/>
                    <a:pt x="295180" y="280511"/>
                  </a:cubicBezTo>
                  <a:cubicBezTo>
                    <a:pt x="295180" y="253841"/>
                    <a:pt x="273558" y="232220"/>
                    <a:pt x="246888" y="232220"/>
                  </a:cubicBezTo>
                  <a:cubicBezTo>
                    <a:pt x="220218" y="232220"/>
                    <a:pt x="198596" y="253841"/>
                    <a:pt x="198596" y="280511"/>
                  </a:cubicBezTo>
                  <a:cubicBezTo>
                    <a:pt x="198596" y="293275"/>
                    <a:pt x="203549" y="304990"/>
                    <a:pt x="211646" y="313658"/>
                  </a:cubicBezTo>
                  <a:cubicBezTo>
                    <a:pt x="212217" y="300990"/>
                    <a:pt x="219551" y="290036"/>
                    <a:pt x="230029" y="284321"/>
                  </a:cubicBezTo>
                  <a:cubicBezTo>
                    <a:pt x="227552" y="280892"/>
                    <a:pt x="226124" y="276701"/>
                    <a:pt x="226124" y="272225"/>
                  </a:cubicBezTo>
                  <a:cubicBezTo>
                    <a:pt x="226124" y="260795"/>
                    <a:pt x="235458" y="251460"/>
                    <a:pt x="246888" y="251460"/>
                  </a:cubicBezTo>
                  <a:cubicBezTo>
                    <a:pt x="258318" y="251460"/>
                    <a:pt x="267653" y="260795"/>
                    <a:pt x="267653" y="272225"/>
                  </a:cubicBezTo>
                  <a:cubicBezTo>
                    <a:pt x="267653" y="276701"/>
                    <a:pt x="266224" y="280988"/>
                    <a:pt x="263747" y="284321"/>
                  </a:cubicBezTo>
                  <a:cubicBezTo>
                    <a:pt x="274320" y="290036"/>
                    <a:pt x="281559" y="300990"/>
                    <a:pt x="282131" y="313658"/>
                  </a:cubicBezTo>
                  <a:lnTo>
                    <a:pt x="282131" y="313658"/>
                  </a:lnTo>
                  <a:close/>
                  <a:moveTo>
                    <a:pt x="135827" y="313658"/>
                  </a:moveTo>
                  <a:cubicBezTo>
                    <a:pt x="143923" y="304990"/>
                    <a:pt x="148971" y="293370"/>
                    <a:pt x="148971" y="280511"/>
                  </a:cubicBezTo>
                  <a:cubicBezTo>
                    <a:pt x="148971" y="253841"/>
                    <a:pt x="127349" y="232220"/>
                    <a:pt x="100584" y="232220"/>
                  </a:cubicBezTo>
                  <a:cubicBezTo>
                    <a:pt x="73819" y="232220"/>
                    <a:pt x="52292" y="253841"/>
                    <a:pt x="52292" y="280511"/>
                  </a:cubicBezTo>
                  <a:cubicBezTo>
                    <a:pt x="52292" y="293275"/>
                    <a:pt x="57245" y="304990"/>
                    <a:pt x="65342" y="313658"/>
                  </a:cubicBezTo>
                  <a:cubicBezTo>
                    <a:pt x="65913" y="300990"/>
                    <a:pt x="73247" y="290036"/>
                    <a:pt x="83725" y="284321"/>
                  </a:cubicBezTo>
                  <a:cubicBezTo>
                    <a:pt x="81248" y="280892"/>
                    <a:pt x="79820" y="276701"/>
                    <a:pt x="79820" y="272225"/>
                  </a:cubicBezTo>
                  <a:cubicBezTo>
                    <a:pt x="79820" y="260795"/>
                    <a:pt x="89154" y="251460"/>
                    <a:pt x="100584" y="251460"/>
                  </a:cubicBezTo>
                  <a:cubicBezTo>
                    <a:pt x="112014" y="251460"/>
                    <a:pt x="121349" y="260795"/>
                    <a:pt x="121349" y="272225"/>
                  </a:cubicBezTo>
                  <a:cubicBezTo>
                    <a:pt x="121349" y="276701"/>
                    <a:pt x="119920" y="280988"/>
                    <a:pt x="117443" y="284321"/>
                  </a:cubicBezTo>
                  <a:cubicBezTo>
                    <a:pt x="128016" y="290036"/>
                    <a:pt x="135255" y="300990"/>
                    <a:pt x="135827" y="313658"/>
                  </a:cubicBezTo>
                  <a:lnTo>
                    <a:pt x="135827" y="313658"/>
                  </a:lnTo>
                  <a:close/>
                  <a:moveTo>
                    <a:pt x="245269" y="111824"/>
                  </a:moveTo>
                  <a:lnTo>
                    <a:pt x="216408" y="90868"/>
                  </a:lnTo>
                  <a:cubicBezTo>
                    <a:pt x="206216" y="103156"/>
                    <a:pt x="190881" y="110966"/>
                    <a:pt x="173736" y="110966"/>
                  </a:cubicBezTo>
                  <a:cubicBezTo>
                    <a:pt x="156591" y="110966"/>
                    <a:pt x="141256" y="103156"/>
                    <a:pt x="131064" y="90868"/>
                  </a:cubicBezTo>
                  <a:lnTo>
                    <a:pt x="102203" y="111824"/>
                  </a:lnTo>
                  <a:cubicBezTo>
                    <a:pt x="107633" y="120396"/>
                    <a:pt x="110776" y="130588"/>
                    <a:pt x="110776" y="141446"/>
                  </a:cubicBezTo>
                  <a:cubicBezTo>
                    <a:pt x="110776" y="164783"/>
                    <a:pt x="96298" y="184785"/>
                    <a:pt x="75819" y="192977"/>
                  </a:cubicBezTo>
                  <a:lnTo>
                    <a:pt x="86868" y="226886"/>
                  </a:lnTo>
                  <a:cubicBezTo>
                    <a:pt x="91249" y="225743"/>
                    <a:pt x="95822" y="225171"/>
                    <a:pt x="100584" y="225171"/>
                  </a:cubicBezTo>
                  <a:cubicBezTo>
                    <a:pt x="130016" y="225171"/>
                    <a:pt x="154115" y="248126"/>
                    <a:pt x="155924" y="277082"/>
                  </a:cubicBezTo>
                  <a:lnTo>
                    <a:pt x="191548" y="277082"/>
                  </a:lnTo>
                  <a:cubicBezTo>
                    <a:pt x="193358" y="248126"/>
                    <a:pt x="217456" y="225171"/>
                    <a:pt x="246888" y="225171"/>
                  </a:cubicBezTo>
                  <a:cubicBezTo>
                    <a:pt x="251651" y="225171"/>
                    <a:pt x="256223" y="225743"/>
                    <a:pt x="260604" y="226886"/>
                  </a:cubicBezTo>
                  <a:lnTo>
                    <a:pt x="271558" y="192977"/>
                  </a:lnTo>
                  <a:cubicBezTo>
                    <a:pt x="251079" y="184785"/>
                    <a:pt x="236601" y="164783"/>
                    <a:pt x="236601" y="141446"/>
                  </a:cubicBezTo>
                  <a:cubicBezTo>
                    <a:pt x="236601" y="130588"/>
                    <a:pt x="239744" y="120396"/>
                    <a:pt x="245174" y="111824"/>
                  </a:cubicBezTo>
                  <a:lnTo>
                    <a:pt x="245174" y="111824"/>
                  </a:lnTo>
                  <a:close/>
                  <a:moveTo>
                    <a:pt x="319754" y="180975"/>
                  </a:moveTo>
                  <a:cubicBezTo>
                    <a:pt x="320040" y="179451"/>
                    <a:pt x="320135" y="177832"/>
                    <a:pt x="320135" y="176213"/>
                  </a:cubicBezTo>
                  <a:cubicBezTo>
                    <a:pt x="320135" y="164021"/>
                    <a:pt x="312420" y="153638"/>
                    <a:pt x="301562" y="149733"/>
                  </a:cubicBezTo>
                  <a:cubicBezTo>
                    <a:pt x="300323" y="149257"/>
                    <a:pt x="299466" y="148209"/>
                    <a:pt x="299276" y="146971"/>
                  </a:cubicBezTo>
                  <a:cubicBezTo>
                    <a:pt x="299085" y="145733"/>
                    <a:pt x="299561" y="144399"/>
                    <a:pt x="300514" y="143637"/>
                  </a:cubicBezTo>
                  <a:cubicBezTo>
                    <a:pt x="303562" y="141161"/>
                    <a:pt x="305562" y="137351"/>
                    <a:pt x="305562" y="133064"/>
                  </a:cubicBezTo>
                  <a:cubicBezTo>
                    <a:pt x="305562" y="125540"/>
                    <a:pt x="299466" y="119443"/>
                    <a:pt x="291941" y="119443"/>
                  </a:cubicBezTo>
                  <a:cubicBezTo>
                    <a:pt x="284417" y="119443"/>
                    <a:pt x="278321" y="125540"/>
                    <a:pt x="278321" y="133064"/>
                  </a:cubicBezTo>
                  <a:cubicBezTo>
                    <a:pt x="278321" y="137351"/>
                    <a:pt x="280321" y="141161"/>
                    <a:pt x="283369" y="143637"/>
                  </a:cubicBezTo>
                  <a:cubicBezTo>
                    <a:pt x="284321" y="144399"/>
                    <a:pt x="284798" y="145733"/>
                    <a:pt x="284607" y="146971"/>
                  </a:cubicBezTo>
                  <a:cubicBezTo>
                    <a:pt x="284417" y="148209"/>
                    <a:pt x="283559" y="149257"/>
                    <a:pt x="282321" y="149733"/>
                  </a:cubicBezTo>
                  <a:cubicBezTo>
                    <a:pt x="271463" y="153638"/>
                    <a:pt x="263747" y="164021"/>
                    <a:pt x="263747" y="176213"/>
                  </a:cubicBezTo>
                  <a:cubicBezTo>
                    <a:pt x="263747" y="177832"/>
                    <a:pt x="263843" y="179451"/>
                    <a:pt x="264128" y="180975"/>
                  </a:cubicBezTo>
                  <a:cubicBezTo>
                    <a:pt x="271939" y="186500"/>
                    <a:pt x="281559" y="189738"/>
                    <a:pt x="291846" y="189738"/>
                  </a:cubicBezTo>
                  <a:cubicBezTo>
                    <a:pt x="302133" y="189738"/>
                    <a:pt x="311753" y="186500"/>
                    <a:pt x="319564" y="180975"/>
                  </a:cubicBezTo>
                  <a:lnTo>
                    <a:pt x="319564" y="180975"/>
                  </a:lnTo>
                  <a:close/>
                  <a:moveTo>
                    <a:pt x="83439" y="180784"/>
                  </a:moveTo>
                  <a:cubicBezTo>
                    <a:pt x="83725" y="179261"/>
                    <a:pt x="83820" y="177737"/>
                    <a:pt x="83820" y="176213"/>
                  </a:cubicBezTo>
                  <a:cubicBezTo>
                    <a:pt x="83820" y="164021"/>
                    <a:pt x="76105" y="153638"/>
                    <a:pt x="65246" y="149733"/>
                  </a:cubicBezTo>
                  <a:cubicBezTo>
                    <a:pt x="64008" y="149257"/>
                    <a:pt x="63151" y="148209"/>
                    <a:pt x="62960" y="146971"/>
                  </a:cubicBezTo>
                  <a:cubicBezTo>
                    <a:pt x="62770" y="145733"/>
                    <a:pt x="63246" y="144399"/>
                    <a:pt x="64199" y="143637"/>
                  </a:cubicBezTo>
                  <a:cubicBezTo>
                    <a:pt x="67247" y="141161"/>
                    <a:pt x="69247" y="137351"/>
                    <a:pt x="69247" y="133064"/>
                  </a:cubicBezTo>
                  <a:cubicBezTo>
                    <a:pt x="69247" y="125540"/>
                    <a:pt x="63151" y="119443"/>
                    <a:pt x="55626" y="119443"/>
                  </a:cubicBezTo>
                  <a:cubicBezTo>
                    <a:pt x="48101" y="119443"/>
                    <a:pt x="42005" y="125540"/>
                    <a:pt x="42005" y="133064"/>
                  </a:cubicBezTo>
                  <a:cubicBezTo>
                    <a:pt x="42005" y="137351"/>
                    <a:pt x="44006" y="141161"/>
                    <a:pt x="47054" y="143637"/>
                  </a:cubicBezTo>
                  <a:cubicBezTo>
                    <a:pt x="48006" y="144399"/>
                    <a:pt x="48482" y="145733"/>
                    <a:pt x="48292" y="146971"/>
                  </a:cubicBezTo>
                  <a:cubicBezTo>
                    <a:pt x="48101" y="148209"/>
                    <a:pt x="47244" y="149257"/>
                    <a:pt x="46006" y="149733"/>
                  </a:cubicBezTo>
                  <a:cubicBezTo>
                    <a:pt x="35147" y="153638"/>
                    <a:pt x="27432" y="164021"/>
                    <a:pt x="27432" y="176213"/>
                  </a:cubicBezTo>
                  <a:cubicBezTo>
                    <a:pt x="27432" y="177832"/>
                    <a:pt x="27527" y="179451"/>
                    <a:pt x="27813" y="180975"/>
                  </a:cubicBezTo>
                  <a:cubicBezTo>
                    <a:pt x="27813" y="180975"/>
                    <a:pt x="27813" y="181166"/>
                    <a:pt x="27908" y="181261"/>
                  </a:cubicBezTo>
                  <a:cubicBezTo>
                    <a:pt x="35719" y="186595"/>
                    <a:pt x="45149" y="189738"/>
                    <a:pt x="55340" y="189738"/>
                  </a:cubicBezTo>
                  <a:cubicBezTo>
                    <a:pt x="65532" y="189738"/>
                    <a:pt x="75438" y="186404"/>
                    <a:pt x="83344" y="180784"/>
                  </a:cubicBezTo>
                  <a:lnTo>
                    <a:pt x="83344" y="180784"/>
                  </a:lnTo>
                  <a:close/>
                  <a:moveTo>
                    <a:pt x="90868" y="174308"/>
                  </a:moveTo>
                  <a:cubicBezTo>
                    <a:pt x="98870" y="165640"/>
                    <a:pt x="103727" y="154115"/>
                    <a:pt x="103727" y="141446"/>
                  </a:cubicBezTo>
                  <a:cubicBezTo>
                    <a:pt x="103727" y="114776"/>
                    <a:pt x="82106" y="93059"/>
                    <a:pt x="55435" y="93059"/>
                  </a:cubicBezTo>
                  <a:cubicBezTo>
                    <a:pt x="28766" y="93059"/>
                    <a:pt x="7144" y="114776"/>
                    <a:pt x="7144" y="141446"/>
                  </a:cubicBezTo>
                  <a:cubicBezTo>
                    <a:pt x="7144" y="154400"/>
                    <a:pt x="12192" y="166116"/>
                    <a:pt x="20479" y="174784"/>
                  </a:cubicBezTo>
                  <a:cubicBezTo>
                    <a:pt x="20955" y="162020"/>
                    <a:pt x="28289" y="150971"/>
                    <a:pt x="38862" y="145161"/>
                  </a:cubicBezTo>
                  <a:cubicBezTo>
                    <a:pt x="36386" y="141732"/>
                    <a:pt x="34957" y="137541"/>
                    <a:pt x="34957" y="133064"/>
                  </a:cubicBezTo>
                  <a:cubicBezTo>
                    <a:pt x="34957" y="121634"/>
                    <a:pt x="44291" y="112395"/>
                    <a:pt x="55721" y="112395"/>
                  </a:cubicBezTo>
                  <a:cubicBezTo>
                    <a:pt x="67151" y="112395"/>
                    <a:pt x="76486" y="121730"/>
                    <a:pt x="76486" y="133064"/>
                  </a:cubicBezTo>
                  <a:cubicBezTo>
                    <a:pt x="76486" y="137636"/>
                    <a:pt x="75057" y="141827"/>
                    <a:pt x="72581" y="145161"/>
                  </a:cubicBezTo>
                  <a:cubicBezTo>
                    <a:pt x="83058" y="150876"/>
                    <a:pt x="90297" y="161734"/>
                    <a:pt x="90964" y="174308"/>
                  </a:cubicBezTo>
                  <a:lnTo>
                    <a:pt x="90964" y="174308"/>
                  </a:lnTo>
                  <a:close/>
                  <a:moveTo>
                    <a:pt x="327279" y="174498"/>
                  </a:moveTo>
                  <a:cubicBezTo>
                    <a:pt x="335375" y="165830"/>
                    <a:pt x="340424" y="154210"/>
                    <a:pt x="340424" y="141446"/>
                  </a:cubicBezTo>
                  <a:cubicBezTo>
                    <a:pt x="340424" y="114776"/>
                    <a:pt x="318802" y="93059"/>
                    <a:pt x="292037" y="93059"/>
                  </a:cubicBezTo>
                  <a:cubicBezTo>
                    <a:pt x="265271" y="93059"/>
                    <a:pt x="243745" y="114681"/>
                    <a:pt x="243745" y="141446"/>
                  </a:cubicBezTo>
                  <a:cubicBezTo>
                    <a:pt x="243745" y="154210"/>
                    <a:pt x="248698" y="165830"/>
                    <a:pt x="256794" y="174498"/>
                  </a:cubicBezTo>
                  <a:cubicBezTo>
                    <a:pt x="257366" y="161830"/>
                    <a:pt x="264700" y="150876"/>
                    <a:pt x="275177" y="145161"/>
                  </a:cubicBezTo>
                  <a:cubicBezTo>
                    <a:pt x="272701" y="141732"/>
                    <a:pt x="271272" y="137541"/>
                    <a:pt x="271272" y="133064"/>
                  </a:cubicBezTo>
                  <a:cubicBezTo>
                    <a:pt x="271272" y="121634"/>
                    <a:pt x="280607" y="112395"/>
                    <a:pt x="292037" y="112395"/>
                  </a:cubicBezTo>
                  <a:cubicBezTo>
                    <a:pt x="303466" y="112395"/>
                    <a:pt x="312801" y="121730"/>
                    <a:pt x="312801" y="133064"/>
                  </a:cubicBezTo>
                  <a:cubicBezTo>
                    <a:pt x="312801" y="137636"/>
                    <a:pt x="311372" y="141827"/>
                    <a:pt x="308896" y="145161"/>
                  </a:cubicBezTo>
                  <a:cubicBezTo>
                    <a:pt x="319469" y="150876"/>
                    <a:pt x="326708" y="161830"/>
                    <a:pt x="327279" y="174498"/>
                  </a:cubicBezTo>
                  <a:lnTo>
                    <a:pt x="327279" y="174498"/>
                  </a:lnTo>
                  <a:close/>
                  <a:moveTo>
                    <a:pt x="201454" y="95060"/>
                  </a:moveTo>
                  <a:cubicBezTo>
                    <a:pt x="201740" y="93440"/>
                    <a:pt x="201835" y="91916"/>
                    <a:pt x="201835" y="90202"/>
                  </a:cubicBezTo>
                  <a:cubicBezTo>
                    <a:pt x="201835" y="78010"/>
                    <a:pt x="194120" y="67628"/>
                    <a:pt x="183261" y="63722"/>
                  </a:cubicBezTo>
                  <a:cubicBezTo>
                    <a:pt x="182118" y="63341"/>
                    <a:pt x="181166" y="62198"/>
                    <a:pt x="180975" y="60960"/>
                  </a:cubicBezTo>
                  <a:cubicBezTo>
                    <a:pt x="180784" y="59722"/>
                    <a:pt x="181261" y="58388"/>
                    <a:pt x="182213" y="57626"/>
                  </a:cubicBezTo>
                  <a:cubicBezTo>
                    <a:pt x="185261" y="55150"/>
                    <a:pt x="187262" y="51340"/>
                    <a:pt x="187262" y="47054"/>
                  </a:cubicBezTo>
                  <a:cubicBezTo>
                    <a:pt x="187262" y="39529"/>
                    <a:pt x="181166" y="33433"/>
                    <a:pt x="173641" y="33433"/>
                  </a:cubicBezTo>
                  <a:cubicBezTo>
                    <a:pt x="166116" y="33433"/>
                    <a:pt x="160020" y="39529"/>
                    <a:pt x="160020" y="47054"/>
                  </a:cubicBezTo>
                  <a:cubicBezTo>
                    <a:pt x="160020" y="51340"/>
                    <a:pt x="162020" y="55150"/>
                    <a:pt x="165068" y="57626"/>
                  </a:cubicBezTo>
                  <a:cubicBezTo>
                    <a:pt x="166021" y="58388"/>
                    <a:pt x="166497" y="59722"/>
                    <a:pt x="166307" y="60960"/>
                  </a:cubicBezTo>
                  <a:cubicBezTo>
                    <a:pt x="166116" y="62198"/>
                    <a:pt x="165259" y="63246"/>
                    <a:pt x="164021" y="63722"/>
                  </a:cubicBezTo>
                  <a:cubicBezTo>
                    <a:pt x="153257" y="67628"/>
                    <a:pt x="145447" y="78010"/>
                    <a:pt x="145447" y="90202"/>
                  </a:cubicBezTo>
                  <a:cubicBezTo>
                    <a:pt x="145447" y="91821"/>
                    <a:pt x="145542" y="93440"/>
                    <a:pt x="145828" y="94964"/>
                  </a:cubicBezTo>
                  <a:lnTo>
                    <a:pt x="145828" y="94964"/>
                  </a:lnTo>
                  <a:cubicBezTo>
                    <a:pt x="153734" y="100489"/>
                    <a:pt x="163259" y="103727"/>
                    <a:pt x="173641" y="103727"/>
                  </a:cubicBezTo>
                  <a:cubicBezTo>
                    <a:pt x="184023" y="103727"/>
                    <a:pt x="193548" y="100489"/>
                    <a:pt x="201359" y="94964"/>
                  </a:cubicBezTo>
                  <a:lnTo>
                    <a:pt x="201359" y="94964"/>
                  </a:lnTo>
                  <a:close/>
                  <a:moveTo>
                    <a:pt x="208979" y="88583"/>
                  </a:moveTo>
                  <a:cubicBezTo>
                    <a:pt x="217075" y="79915"/>
                    <a:pt x="222028" y="68294"/>
                    <a:pt x="222028" y="55435"/>
                  </a:cubicBezTo>
                  <a:cubicBezTo>
                    <a:pt x="222028" y="28766"/>
                    <a:pt x="200406" y="7144"/>
                    <a:pt x="173736" y="7144"/>
                  </a:cubicBezTo>
                  <a:cubicBezTo>
                    <a:pt x="147066" y="7144"/>
                    <a:pt x="125349" y="28766"/>
                    <a:pt x="125349" y="55435"/>
                  </a:cubicBezTo>
                  <a:cubicBezTo>
                    <a:pt x="125349" y="68199"/>
                    <a:pt x="130302" y="79915"/>
                    <a:pt x="138494" y="88583"/>
                  </a:cubicBezTo>
                  <a:cubicBezTo>
                    <a:pt x="139065" y="75914"/>
                    <a:pt x="146399" y="64960"/>
                    <a:pt x="156877" y="59246"/>
                  </a:cubicBezTo>
                  <a:cubicBezTo>
                    <a:pt x="154400" y="55817"/>
                    <a:pt x="152971" y="51626"/>
                    <a:pt x="152971" y="47149"/>
                  </a:cubicBezTo>
                  <a:cubicBezTo>
                    <a:pt x="152971" y="35719"/>
                    <a:pt x="162306" y="26384"/>
                    <a:pt x="173736" y="26384"/>
                  </a:cubicBezTo>
                  <a:cubicBezTo>
                    <a:pt x="185166" y="26384"/>
                    <a:pt x="194501" y="35719"/>
                    <a:pt x="194501" y="47149"/>
                  </a:cubicBezTo>
                  <a:cubicBezTo>
                    <a:pt x="194501" y="51626"/>
                    <a:pt x="193072" y="55912"/>
                    <a:pt x="190595" y="59246"/>
                  </a:cubicBezTo>
                  <a:cubicBezTo>
                    <a:pt x="201073" y="64960"/>
                    <a:pt x="208407" y="75914"/>
                    <a:pt x="208979" y="88583"/>
                  </a:cubicBezTo>
                  <a:lnTo>
                    <a:pt x="208979" y="88583"/>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A7BB4035-C301-E697-668C-8FFD36D11465}"/>
                </a:ext>
              </a:extLst>
            </p:cNvPr>
            <p:cNvSpPr/>
            <p:nvPr/>
          </p:nvSpPr>
          <p:spPr>
            <a:xfrm>
              <a:off x="5919691" y="3257550"/>
              <a:ext cx="350329" cy="338899"/>
            </a:xfrm>
            <a:custGeom>
              <a:avLst/>
              <a:gdLst>
                <a:gd name="connsiteX0" fmla="*/ 248412 w 350329"/>
                <a:gd name="connsiteY0" fmla="*/ 338900 h 338899"/>
                <a:gd name="connsiteX1" fmla="*/ 191738 w 350329"/>
                <a:gd name="connsiteY1" fmla="*/ 286988 h 338899"/>
                <a:gd name="connsiteX2" fmla="*/ 158782 w 350329"/>
                <a:gd name="connsiteY2" fmla="*/ 286988 h 338899"/>
                <a:gd name="connsiteX3" fmla="*/ 102108 w 350329"/>
                <a:gd name="connsiteY3" fmla="*/ 338900 h 338899"/>
                <a:gd name="connsiteX4" fmla="*/ 45244 w 350329"/>
                <a:gd name="connsiteY4" fmla="*/ 282035 h 338899"/>
                <a:gd name="connsiteX5" fmla="*/ 79820 w 350329"/>
                <a:gd name="connsiteY5" fmla="*/ 229648 h 338899"/>
                <a:gd name="connsiteX6" fmla="*/ 69628 w 350329"/>
                <a:gd name="connsiteY6" fmla="*/ 198311 h 338899"/>
                <a:gd name="connsiteX7" fmla="*/ 56864 w 350329"/>
                <a:gd name="connsiteY7" fmla="*/ 199739 h 338899"/>
                <a:gd name="connsiteX8" fmla="*/ 0 w 350329"/>
                <a:gd name="connsiteY8" fmla="*/ 142875 h 338899"/>
                <a:gd name="connsiteX9" fmla="*/ 56864 w 350329"/>
                <a:gd name="connsiteY9" fmla="*/ 86011 h 338899"/>
                <a:gd name="connsiteX10" fmla="*/ 99727 w 350329"/>
                <a:gd name="connsiteY10" fmla="*/ 105537 h 338899"/>
                <a:gd name="connsiteX11" fmla="*/ 126397 w 350329"/>
                <a:gd name="connsiteY11" fmla="*/ 86106 h 338899"/>
                <a:gd name="connsiteX12" fmla="*/ 118301 w 350329"/>
                <a:gd name="connsiteY12" fmla="*/ 56864 h 338899"/>
                <a:gd name="connsiteX13" fmla="*/ 175165 w 350329"/>
                <a:gd name="connsiteY13" fmla="*/ 0 h 338899"/>
                <a:gd name="connsiteX14" fmla="*/ 232029 w 350329"/>
                <a:gd name="connsiteY14" fmla="*/ 56864 h 338899"/>
                <a:gd name="connsiteX15" fmla="*/ 223933 w 350329"/>
                <a:gd name="connsiteY15" fmla="*/ 86106 h 338899"/>
                <a:gd name="connsiteX16" fmla="*/ 250603 w 350329"/>
                <a:gd name="connsiteY16" fmla="*/ 105537 h 338899"/>
                <a:gd name="connsiteX17" fmla="*/ 293465 w 350329"/>
                <a:gd name="connsiteY17" fmla="*/ 86011 h 338899"/>
                <a:gd name="connsiteX18" fmla="*/ 350330 w 350329"/>
                <a:gd name="connsiteY18" fmla="*/ 142875 h 338899"/>
                <a:gd name="connsiteX19" fmla="*/ 293465 w 350329"/>
                <a:gd name="connsiteY19" fmla="*/ 199739 h 338899"/>
                <a:gd name="connsiteX20" fmla="*/ 280702 w 350329"/>
                <a:gd name="connsiteY20" fmla="*/ 198311 h 338899"/>
                <a:gd name="connsiteX21" fmla="*/ 270510 w 350329"/>
                <a:gd name="connsiteY21" fmla="*/ 229648 h 338899"/>
                <a:gd name="connsiteX22" fmla="*/ 305086 w 350329"/>
                <a:gd name="connsiteY22" fmla="*/ 282035 h 338899"/>
                <a:gd name="connsiteX23" fmla="*/ 248222 w 350329"/>
                <a:gd name="connsiteY23" fmla="*/ 338900 h 338899"/>
                <a:gd name="connsiteX24" fmla="*/ 156115 w 350329"/>
                <a:gd name="connsiteY24" fmla="*/ 284131 h 338899"/>
                <a:gd name="connsiteX25" fmla="*/ 194405 w 350329"/>
                <a:gd name="connsiteY25" fmla="*/ 284131 h 338899"/>
                <a:gd name="connsiteX26" fmla="*/ 194405 w 350329"/>
                <a:gd name="connsiteY26" fmla="*/ 285464 h 338899"/>
                <a:gd name="connsiteX27" fmla="*/ 248412 w 350329"/>
                <a:gd name="connsiteY27" fmla="*/ 336042 h 338899"/>
                <a:gd name="connsiteX28" fmla="*/ 302419 w 350329"/>
                <a:gd name="connsiteY28" fmla="*/ 282035 h 338899"/>
                <a:gd name="connsiteX29" fmla="*/ 268319 w 350329"/>
                <a:gd name="connsiteY29" fmla="*/ 231839 h 338899"/>
                <a:gd name="connsiteX30" fmla="*/ 267081 w 350329"/>
                <a:gd name="connsiteY30" fmla="*/ 231362 h 338899"/>
                <a:gd name="connsiteX31" fmla="*/ 278892 w 350329"/>
                <a:gd name="connsiteY31" fmla="*/ 194881 h 338899"/>
                <a:gd name="connsiteX32" fmla="*/ 280226 w 350329"/>
                <a:gd name="connsiteY32" fmla="*/ 195167 h 338899"/>
                <a:gd name="connsiteX33" fmla="*/ 293561 w 350329"/>
                <a:gd name="connsiteY33" fmla="*/ 196787 h 338899"/>
                <a:gd name="connsiteX34" fmla="*/ 347567 w 350329"/>
                <a:gd name="connsiteY34" fmla="*/ 142780 h 338899"/>
                <a:gd name="connsiteX35" fmla="*/ 293561 w 350329"/>
                <a:gd name="connsiteY35" fmla="*/ 88773 h 338899"/>
                <a:gd name="connsiteX36" fmla="*/ 252032 w 350329"/>
                <a:gd name="connsiteY36" fmla="*/ 108299 h 338899"/>
                <a:gd name="connsiteX37" fmla="*/ 251174 w 350329"/>
                <a:gd name="connsiteY37" fmla="*/ 109347 h 338899"/>
                <a:gd name="connsiteX38" fmla="*/ 220123 w 350329"/>
                <a:gd name="connsiteY38" fmla="*/ 86773 h 338899"/>
                <a:gd name="connsiteX39" fmla="*/ 220885 w 350329"/>
                <a:gd name="connsiteY39" fmla="*/ 85630 h 338899"/>
                <a:gd name="connsiteX40" fmla="*/ 229267 w 350329"/>
                <a:gd name="connsiteY40" fmla="*/ 56769 h 338899"/>
                <a:gd name="connsiteX41" fmla="*/ 175260 w 350329"/>
                <a:gd name="connsiteY41" fmla="*/ 2762 h 338899"/>
                <a:gd name="connsiteX42" fmla="*/ 121253 w 350329"/>
                <a:gd name="connsiteY42" fmla="*/ 56769 h 338899"/>
                <a:gd name="connsiteX43" fmla="*/ 129635 w 350329"/>
                <a:gd name="connsiteY43" fmla="*/ 85630 h 338899"/>
                <a:gd name="connsiteX44" fmla="*/ 130397 w 350329"/>
                <a:gd name="connsiteY44" fmla="*/ 86773 h 338899"/>
                <a:gd name="connsiteX45" fmla="*/ 99441 w 350329"/>
                <a:gd name="connsiteY45" fmla="*/ 109347 h 338899"/>
                <a:gd name="connsiteX46" fmla="*/ 98584 w 350329"/>
                <a:gd name="connsiteY46" fmla="*/ 108299 h 338899"/>
                <a:gd name="connsiteX47" fmla="*/ 57055 w 350329"/>
                <a:gd name="connsiteY47" fmla="*/ 88773 h 338899"/>
                <a:gd name="connsiteX48" fmla="*/ 2953 w 350329"/>
                <a:gd name="connsiteY48" fmla="*/ 142875 h 338899"/>
                <a:gd name="connsiteX49" fmla="*/ 56959 w 350329"/>
                <a:gd name="connsiteY49" fmla="*/ 196882 h 338899"/>
                <a:gd name="connsiteX50" fmla="*/ 70390 w 350329"/>
                <a:gd name="connsiteY50" fmla="*/ 195263 h 338899"/>
                <a:gd name="connsiteX51" fmla="*/ 71723 w 350329"/>
                <a:gd name="connsiteY51" fmla="*/ 194977 h 338899"/>
                <a:gd name="connsiteX52" fmla="*/ 83534 w 350329"/>
                <a:gd name="connsiteY52" fmla="*/ 231458 h 338899"/>
                <a:gd name="connsiteX53" fmla="*/ 82296 w 350329"/>
                <a:gd name="connsiteY53" fmla="*/ 231934 h 338899"/>
                <a:gd name="connsiteX54" fmla="*/ 48292 w 350329"/>
                <a:gd name="connsiteY54" fmla="*/ 282131 h 338899"/>
                <a:gd name="connsiteX55" fmla="*/ 102298 w 350329"/>
                <a:gd name="connsiteY55" fmla="*/ 336137 h 338899"/>
                <a:gd name="connsiteX56" fmla="*/ 156210 w 350329"/>
                <a:gd name="connsiteY56" fmla="*/ 285560 h 338899"/>
                <a:gd name="connsiteX57" fmla="*/ 156210 w 350329"/>
                <a:gd name="connsiteY57" fmla="*/ 284226 h 338899"/>
                <a:gd name="connsiteX58" fmla="*/ 248412 w 350329"/>
                <a:gd name="connsiteY58" fmla="*/ 331851 h 338899"/>
                <a:gd name="connsiteX59" fmla="*/ 219837 w 350329"/>
                <a:gd name="connsiteY59" fmla="*/ 322802 h 338899"/>
                <a:gd name="connsiteX60" fmla="*/ 219266 w 350329"/>
                <a:gd name="connsiteY60" fmla="*/ 322421 h 338899"/>
                <a:gd name="connsiteX61" fmla="*/ 219266 w 350329"/>
                <a:gd name="connsiteY61" fmla="*/ 321659 h 338899"/>
                <a:gd name="connsiteX62" fmla="*/ 218885 w 350329"/>
                <a:gd name="connsiteY62" fmla="*/ 316801 h 338899"/>
                <a:gd name="connsiteX63" fmla="*/ 238316 w 350329"/>
                <a:gd name="connsiteY63" fmla="*/ 288989 h 338899"/>
                <a:gd name="connsiteX64" fmla="*/ 239649 w 350329"/>
                <a:gd name="connsiteY64" fmla="*/ 287369 h 338899"/>
                <a:gd name="connsiteX65" fmla="*/ 238887 w 350329"/>
                <a:gd name="connsiteY65" fmla="*/ 285369 h 338899"/>
                <a:gd name="connsiteX66" fmla="*/ 233363 w 350329"/>
                <a:gd name="connsiteY66" fmla="*/ 273653 h 338899"/>
                <a:gd name="connsiteX67" fmla="*/ 248412 w 350329"/>
                <a:gd name="connsiteY67" fmla="*/ 258604 h 338899"/>
                <a:gd name="connsiteX68" fmla="*/ 263462 w 350329"/>
                <a:gd name="connsiteY68" fmla="*/ 273653 h 338899"/>
                <a:gd name="connsiteX69" fmla="*/ 257937 w 350329"/>
                <a:gd name="connsiteY69" fmla="*/ 285369 h 338899"/>
                <a:gd name="connsiteX70" fmla="*/ 257175 w 350329"/>
                <a:gd name="connsiteY70" fmla="*/ 287369 h 338899"/>
                <a:gd name="connsiteX71" fmla="*/ 258508 w 350329"/>
                <a:gd name="connsiteY71" fmla="*/ 288989 h 338899"/>
                <a:gd name="connsiteX72" fmla="*/ 278035 w 350329"/>
                <a:gd name="connsiteY72" fmla="*/ 316801 h 338899"/>
                <a:gd name="connsiteX73" fmla="*/ 277654 w 350329"/>
                <a:gd name="connsiteY73" fmla="*/ 321850 h 338899"/>
                <a:gd name="connsiteX74" fmla="*/ 277654 w 350329"/>
                <a:gd name="connsiteY74" fmla="*/ 322612 h 338899"/>
                <a:gd name="connsiteX75" fmla="*/ 277082 w 350329"/>
                <a:gd name="connsiteY75" fmla="*/ 322802 h 338899"/>
                <a:gd name="connsiteX76" fmla="*/ 248507 w 350329"/>
                <a:gd name="connsiteY76" fmla="*/ 331851 h 338899"/>
                <a:gd name="connsiteX77" fmla="*/ 221933 w 350329"/>
                <a:gd name="connsiteY77" fmla="*/ 320802 h 338899"/>
                <a:gd name="connsiteX78" fmla="*/ 248412 w 350329"/>
                <a:gd name="connsiteY78" fmla="*/ 328994 h 338899"/>
                <a:gd name="connsiteX79" fmla="*/ 274892 w 350329"/>
                <a:gd name="connsiteY79" fmla="*/ 320802 h 338899"/>
                <a:gd name="connsiteX80" fmla="*/ 275177 w 350329"/>
                <a:gd name="connsiteY80" fmla="*/ 316801 h 338899"/>
                <a:gd name="connsiteX81" fmla="*/ 257556 w 350329"/>
                <a:gd name="connsiteY81" fmla="*/ 291656 h 338899"/>
                <a:gd name="connsiteX82" fmla="*/ 254318 w 350329"/>
                <a:gd name="connsiteY82" fmla="*/ 287750 h 338899"/>
                <a:gd name="connsiteX83" fmla="*/ 256032 w 350329"/>
                <a:gd name="connsiteY83" fmla="*/ 283083 h 338899"/>
                <a:gd name="connsiteX84" fmla="*/ 260509 w 350329"/>
                <a:gd name="connsiteY84" fmla="*/ 273653 h 338899"/>
                <a:gd name="connsiteX85" fmla="*/ 248317 w 350329"/>
                <a:gd name="connsiteY85" fmla="*/ 261461 h 338899"/>
                <a:gd name="connsiteX86" fmla="*/ 236125 w 350329"/>
                <a:gd name="connsiteY86" fmla="*/ 273653 h 338899"/>
                <a:gd name="connsiteX87" fmla="*/ 240602 w 350329"/>
                <a:gd name="connsiteY87" fmla="*/ 283083 h 338899"/>
                <a:gd name="connsiteX88" fmla="*/ 242316 w 350329"/>
                <a:gd name="connsiteY88" fmla="*/ 287750 h 338899"/>
                <a:gd name="connsiteX89" fmla="*/ 239173 w 350329"/>
                <a:gd name="connsiteY89" fmla="*/ 291560 h 338899"/>
                <a:gd name="connsiteX90" fmla="*/ 221552 w 350329"/>
                <a:gd name="connsiteY90" fmla="*/ 316706 h 338899"/>
                <a:gd name="connsiteX91" fmla="*/ 221837 w 350329"/>
                <a:gd name="connsiteY91" fmla="*/ 320707 h 338899"/>
                <a:gd name="connsiteX92" fmla="*/ 102108 w 350329"/>
                <a:gd name="connsiteY92" fmla="*/ 331851 h 338899"/>
                <a:gd name="connsiteX93" fmla="*/ 73533 w 350329"/>
                <a:gd name="connsiteY93" fmla="*/ 322802 h 338899"/>
                <a:gd name="connsiteX94" fmla="*/ 72962 w 350329"/>
                <a:gd name="connsiteY94" fmla="*/ 322421 h 338899"/>
                <a:gd name="connsiteX95" fmla="*/ 72962 w 350329"/>
                <a:gd name="connsiteY95" fmla="*/ 321659 h 338899"/>
                <a:gd name="connsiteX96" fmla="*/ 72581 w 350329"/>
                <a:gd name="connsiteY96" fmla="*/ 316801 h 338899"/>
                <a:gd name="connsiteX97" fmla="*/ 92012 w 350329"/>
                <a:gd name="connsiteY97" fmla="*/ 288989 h 338899"/>
                <a:gd name="connsiteX98" fmla="*/ 93345 w 350329"/>
                <a:gd name="connsiteY98" fmla="*/ 287369 h 338899"/>
                <a:gd name="connsiteX99" fmla="*/ 92583 w 350329"/>
                <a:gd name="connsiteY99" fmla="*/ 285369 h 338899"/>
                <a:gd name="connsiteX100" fmla="*/ 87059 w 350329"/>
                <a:gd name="connsiteY100" fmla="*/ 273653 h 338899"/>
                <a:gd name="connsiteX101" fmla="*/ 102108 w 350329"/>
                <a:gd name="connsiteY101" fmla="*/ 258604 h 338899"/>
                <a:gd name="connsiteX102" fmla="*/ 117158 w 350329"/>
                <a:gd name="connsiteY102" fmla="*/ 273653 h 338899"/>
                <a:gd name="connsiteX103" fmla="*/ 111633 w 350329"/>
                <a:gd name="connsiteY103" fmla="*/ 285369 h 338899"/>
                <a:gd name="connsiteX104" fmla="*/ 110871 w 350329"/>
                <a:gd name="connsiteY104" fmla="*/ 287369 h 338899"/>
                <a:gd name="connsiteX105" fmla="*/ 112205 w 350329"/>
                <a:gd name="connsiteY105" fmla="*/ 288989 h 338899"/>
                <a:gd name="connsiteX106" fmla="*/ 131731 w 350329"/>
                <a:gd name="connsiteY106" fmla="*/ 316801 h 338899"/>
                <a:gd name="connsiteX107" fmla="*/ 131350 w 350329"/>
                <a:gd name="connsiteY107" fmla="*/ 321850 h 338899"/>
                <a:gd name="connsiteX108" fmla="*/ 131350 w 350329"/>
                <a:gd name="connsiteY108" fmla="*/ 322326 h 338899"/>
                <a:gd name="connsiteX109" fmla="*/ 130778 w 350329"/>
                <a:gd name="connsiteY109" fmla="*/ 322802 h 338899"/>
                <a:gd name="connsiteX110" fmla="*/ 102203 w 350329"/>
                <a:gd name="connsiteY110" fmla="*/ 331851 h 338899"/>
                <a:gd name="connsiteX111" fmla="*/ 75724 w 350329"/>
                <a:gd name="connsiteY111" fmla="*/ 320802 h 338899"/>
                <a:gd name="connsiteX112" fmla="*/ 102203 w 350329"/>
                <a:gd name="connsiteY112" fmla="*/ 328994 h 338899"/>
                <a:gd name="connsiteX113" fmla="*/ 128683 w 350329"/>
                <a:gd name="connsiteY113" fmla="*/ 320802 h 338899"/>
                <a:gd name="connsiteX114" fmla="*/ 128969 w 350329"/>
                <a:gd name="connsiteY114" fmla="*/ 316801 h 338899"/>
                <a:gd name="connsiteX115" fmla="*/ 111347 w 350329"/>
                <a:gd name="connsiteY115" fmla="*/ 291656 h 338899"/>
                <a:gd name="connsiteX116" fmla="*/ 108109 w 350329"/>
                <a:gd name="connsiteY116" fmla="*/ 287846 h 338899"/>
                <a:gd name="connsiteX117" fmla="*/ 109823 w 350329"/>
                <a:gd name="connsiteY117" fmla="*/ 283178 h 338899"/>
                <a:gd name="connsiteX118" fmla="*/ 114300 w 350329"/>
                <a:gd name="connsiteY118" fmla="*/ 273749 h 338899"/>
                <a:gd name="connsiteX119" fmla="*/ 102108 w 350329"/>
                <a:gd name="connsiteY119" fmla="*/ 261556 h 338899"/>
                <a:gd name="connsiteX120" fmla="*/ 89916 w 350329"/>
                <a:gd name="connsiteY120" fmla="*/ 273749 h 338899"/>
                <a:gd name="connsiteX121" fmla="*/ 94393 w 350329"/>
                <a:gd name="connsiteY121" fmla="*/ 283178 h 338899"/>
                <a:gd name="connsiteX122" fmla="*/ 96107 w 350329"/>
                <a:gd name="connsiteY122" fmla="*/ 287846 h 338899"/>
                <a:gd name="connsiteX123" fmla="*/ 92964 w 350329"/>
                <a:gd name="connsiteY123" fmla="*/ 291656 h 338899"/>
                <a:gd name="connsiteX124" fmla="*/ 75343 w 350329"/>
                <a:gd name="connsiteY124" fmla="*/ 316801 h 338899"/>
                <a:gd name="connsiteX125" fmla="*/ 75629 w 350329"/>
                <a:gd name="connsiteY125" fmla="*/ 320802 h 338899"/>
                <a:gd name="connsiteX126" fmla="*/ 214408 w 350329"/>
                <a:gd name="connsiteY126" fmla="*/ 318611 h 338899"/>
                <a:gd name="connsiteX127" fmla="*/ 212122 w 350329"/>
                <a:gd name="connsiteY127" fmla="*/ 316135 h 338899"/>
                <a:gd name="connsiteX128" fmla="*/ 198596 w 350329"/>
                <a:gd name="connsiteY128" fmla="*/ 282035 h 338899"/>
                <a:gd name="connsiteX129" fmla="*/ 248317 w 350329"/>
                <a:gd name="connsiteY129" fmla="*/ 232315 h 338899"/>
                <a:gd name="connsiteX130" fmla="*/ 298133 w 350329"/>
                <a:gd name="connsiteY130" fmla="*/ 282035 h 338899"/>
                <a:gd name="connsiteX131" fmla="*/ 284607 w 350329"/>
                <a:gd name="connsiteY131" fmla="*/ 316135 h 338899"/>
                <a:gd name="connsiteX132" fmla="*/ 282321 w 350329"/>
                <a:gd name="connsiteY132" fmla="*/ 318611 h 338899"/>
                <a:gd name="connsiteX133" fmla="*/ 282131 w 350329"/>
                <a:gd name="connsiteY133" fmla="*/ 315278 h 338899"/>
                <a:gd name="connsiteX134" fmla="*/ 264414 w 350329"/>
                <a:gd name="connsiteY134" fmla="*/ 287084 h 338899"/>
                <a:gd name="connsiteX135" fmla="*/ 262985 w 350329"/>
                <a:gd name="connsiteY135" fmla="*/ 286322 h 338899"/>
                <a:gd name="connsiteX136" fmla="*/ 263938 w 350329"/>
                <a:gd name="connsiteY136" fmla="*/ 284988 h 338899"/>
                <a:gd name="connsiteX137" fmla="*/ 267557 w 350329"/>
                <a:gd name="connsiteY137" fmla="*/ 273653 h 338899"/>
                <a:gd name="connsiteX138" fmla="*/ 248222 w 350329"/>
                <a:gd name="connsiteY138" fmla="*/ 254318 h 338899"/>
                <a:gd name="connsiteX139" fmla="*/ 228886 w 350329"/>
                <a:gd name="connsiteY139" fmla="*/ 273653 h 338899"/>
                <a:gd name="connsiteX140" fmla="*/ 232505 w 350329"/>
                <a:gd name="connsiteY140" fmla="*/ 284988 h 338899"/>
                <a:gd name="connsiteX141" fmla="*/ 233458 w 350329"/>
                <a:gd name="connsiteY141" fmla="*/ 286322 h 338899"/>
                <a:gd name="connsiteX142" fmla="*/ 232029 w 350329"/>
                <a:gd name="connsiteY142" fmla="*/ 287084 h 338899"/>
                <a:gd name="connsiteX143" fmla="*/ 214408 w 350329"/>
                <a:gd name="connsiteY143" fmla="*/ 315278 h 338899"/>
                <a:gd name="connsiteX144" fmla="*/ 214217 w 350329"/>
                <a:gd name="connsiteY144" fmla="*/ 318611 h 338899"/>
                <a:gd name="connsiteX145" fmla="*/ 267272 w 350329"/>
                <a:gd name="connsiteY145" fmla="*/ 285274 h 338899"/>
                <a:gd name="connsiteX146" fmla="*/ 284702 w 350329"/>
                <a:gd name="connsiteY146" fmla="*/ 311658 h 338899"/>
                <a:gd name="connsiteX147" fmla="*/ 295275 w 350329"/>
                <a:gd name="connsiteY147" fmla="*/ 281940 h 338899"/>
                <a:gd name="connsiteX148" fmla="*/ 248412 w 350329"/>
                <a:gd name="connsiteY148" fmla="*/ 235077 h 338899"/>
                <a:gd name="connsiteX149" fmla="*/ 201549 w 350329"/>
                <a:gd name="connsiteY149" fmla="*/ 281940 h 338899"/>
                <a:gd name="connsiteX150" fmla="*/ 212122 w 350329"/>
                <a:gd name="connsiteY150" fmla="*/ 311658 h 338899"/>
                <a:gd name="connsiteX151" fmla="*/ 229648 w 350329"/>
                <a:gd name="connsiteY151" fmla="*/ 285274 h 338899"/>
                <a:gd name="connsiteX152" fmla="*/ 226314 w 350329"/>
                <a:gd name="connsiteY152" fmla="*/ 273653 h 338899"/>
                <a:gd name="connsiteX153" fmla="*/ 248507 w 350329"/>
                <a:gd name="connsiteY153" fmla="*/ 251460 h 338899"/>
                <a:gd name="connsiteX154" fmla="*/ 270701 w 350329"/>
                <a:gd name="connsiteY154" fmla="*/ 273653 h 338899"/>
                <a:gd name="connsiteX155" fmla="*/ 267367 w 350329"/>
                <a:gd name="connsiteY155" fmla="*/ 285274 h 338899"/>
                <a:gd name="connsiteX156" fmla="*/ 136112 w 350329"/>
                <a:gd name="connsiteY156" fmla="*/ 318611 h 338899"/>
                <a:gd name="connsiteX157" fmla="*/ 135922 w 350329"/>
                <a:gd name="connsiteY157" fmla="*/ 315278 h 338899"/>
                <a:gd name="connsiteX158" fmla="*/ 118301 w 350329"/>
                <a:gd name="connsiteY158" fmla="*/ 287084 h 338899"/>
                <a:gd name="connsiteX159" fmla="*/ 116872 w 350329"/>
                <a:gd name="connsiteY159" fmla="*/ 286322 h 338899"/>
                <a:gd name="connsiteX160" fmla="*/ 117824 w 350329"/>
                <a:gd name="connsiteY160" fmla="*/ 284988 h 338899"/>
                <a:gd name="connsiteX161" fmla="*/ 121444 w 350329"/>
                <a:gd name="connsiteY161" fmla="*/ 273653 h 338899"/>
                <a:gd name="connsiteX162" fmla="*/ 102108 w 350329"/>
                <a:gd name="connsiteY162" fmla="*/ 254318 h 338899"/>
                <a:gd name="connsiteX163" fmla="*/ 82772 w 350329"/>
                <a:gd name="connsiteY163" fmla="*/ 273653 h 338899"/>
                <a:gd name="connsiteX164" fmla="*/ 86392 w 350329"/>
                <a:gd name="connsiteY164" fmla="*/ 284988 h 338899"/>
                <a:gd name="connsiteX165" fmla="*/ 87344 w 350329"/>
                <a:gd name="connsiteY165" fmla="*/ 286322 h 338899"/>
                <a:gd name="connsiteX166" fmla="*/ 85916 w 350329"/>
                <a:gd name="connsiteY166" fmla="*/ 287084 h 338899"/>
                <a:gd name="connsiteX167" fmla="*/ 68199 w 350329"/>
                <a:gd name="connsiteY167" fmla="*/ 315278 h 338899"/>
                <a:gd name="connsiteX168" fmla="*/ 68009 w 350329"/>
                <a:gd name="connsiteY168" fmla="*/ 318611 h 338899"/>
                <a:gd name="connsiteX169" fmla="*/ 65723 w 350329"/>
                <a:gd name="connsiteY169" fmla="*/ 316135 h 338899"/>
                <a:gd name="connsiteX170" fmla="*/ 52197 w 350329"/>
                <a:gd name="connsiteY170" fmla="*/ 282035 h 338899"/>
                <a:gd name="connsiteX171" fmla="*/ 101917 w 350329"/>
                <a:gd name="connsiteY171" fmla="*/ 232315 h 338899"/>
                <a:gd name="connsiteX172" fmla="*/ 151638 w 350329"/>
                <a:gd name="connsiteY172" fmla="*/ 282035 h 338899"/>
                <a:gd name="connsiteX173" fmla="*/ 138113 w 350329"/>
                <a:gd name="connsiteY173" fmla="*/ 316135 h 338899"/>
                <a:gd name="connsiteX174" fmla="*/ 135827 w 350329"/>
                <a:gd name="connsiteY174" fmla="*/ 318611 h 338899"/>
                <a:gd name="connsiteX175" fmla="*/ 102108 w 350329"/>
                <a:gd name="connsiteY175" fmla="*/ 235077 h 338899"/>
                <a:gd name="connsiteX176" fmla="*/ 55245 w 350329"/>
                <a:gd name="connsiteY176" fmla="*/ 281940 h 338899"/>
                <a:gd name="connsiteX177" fmla="*/ 65818 w 350329"/>
                <a:gd name="connsiteY177" fmla="*/ 311658 h 338899"/>
                <a:gd name="connsiteX178" fmla="*/ 83344 w 350329"/>
                <a:gd name="connsiteY178" fmla="*/ 285274 h 338899"/>
                <a:gd name="connsiteX179" fmla="*/ 80010 w 350329"/>
                <a:gd name="connsiteY179" fmla="*/ 273653 h 338899"/>
                <a:gd name="connsiteX180" fmla="*/ 102203 w 350329"/>
                <a:gd name="connsiteY180" fmla="*/ 251460 h 338899"/>
                <a:gd name="connsiteX181" fmla="*/ 124397 w 350329"/>
                <a:gd name="connsiteY181" fmla="*/ 273653 h 338899"/>
                <a:gd name="connsiteX182" fmla="*/ 121063 w 350329"/>
                <a:gd name="connsiteY182" fmla="*/ 285274 h 338899"/>
                <a:gd name="connsiteX183" fmla="*/ 138589 w 350329"/>
                <a:gd name="connsiteY183" fmla="*/ 311658 h 338899"/>
                <a:gd name="connsiteX184" fmla="*/ 149162 w 350329"/>
                <a:gd name="connsiteY184" fmla="*/ 281940 h 338899"/>
                <a:gd name="connsiteX185" fmla="*/ 102298 w 350329"/>
                <a:gd name="connsiteY185" fmla="*/ 235077 h 338899"/>
                <a:gd name="connsiteX186" fmla="*/ 194405 w 350329"/>
                <a:gd name="connsiteY186" fmla="*/ 279940 h 338899"/>
                <a:gd name="connsiteX187" fmla="*/ 156115 w 350329"/>
                <a:gd name="connsiteY187" fmla="*/ 279940 h 338899"/>
                <a:gd name="connsiteX188" fmla="*/ 156115 w 350329"/>
                <a:gd name="connsiteY188" fmla="*/ 278606 h 338899"/>
                <a:gd name="connsiteX189" fmla="*/ 102108 w 350329"/>
                <a:gd name="connsiteY189" fmla="*/ 228029 h 338899"/>
                <a:gd name="connsiteX190" fmla="*/ 88773 w 350329"/>
                <a:gd name="connsiteY190" fmla="*/ 229648 h 338899"/>
                <a:gd name="connsiteX191" fmla="*/ 87440 w 350329"/>
                <a:gd name="connsiteY191" fmla="*/ 229934 h 338899"/>
                <a:gd name="connsiteX192" fmla="*/ 75629 w 350329"/>
                <a:gd name="connsiteY192" fmla="*/ 193453 h 338899"/>
                <a:gd name="connsiteX193" fmla="*/ 76867 w 350329"/>
                <a:gd name="connsiteY193" fmla="*/ 192977 h 338899"/>
                <a:gd name="connsiteX194" fmla="*/ 110966 w 350329"/>
                <a:gd name="connsiteY194" fmla="*/ 142780 h 338899"/>
                <a:gd name="connsiteX195" fmla="*/ 102584 w 350329"/>
                <a:gd name="connsiteY195" fmla="*/ 113919 h 338899"/>
                <a:gd name="connsiteX196" fmla="*/ 101822 w 350329"/>
                <a:gd name="connsiteY196" fmla="*/ 112776 h 338899"/>
                <a:gd name="connsiteX197" fmla="*/ 132779 w 350329"/>
                <a:gd name="connsiteY197" fmla="*/ 90202 h 338899"/>
                <a:gd name="connsiteX198" fmla="*/ 133636 w 350329"/>
                <a:gd name="connsiteY198" fmla="*/ 91250 h 338899"/>
                <a:gd name="connsiteX199" fmla="*/ 175165 w 350329"/>
                <a:gd name="connsiteY199" fmla="*/ 110776 h 338899"/>
                <a:gd name="connsiteX200" fmla="*/ 216694 w 350329"/>
                <a:gd name="connsiteY200" fmla="*/ 91250 h 338899"/>
                <a:gd name="connsiteX201" fmla="*/ 217551 w 350329"/>
                <a:gd name="connsiteY201" fmla="*/ 90202 h 338899"/>
                <a:gd name="connsiteX202" fmla="*/ 248507 w 350329"/>
                <a:gd name="connsiteY202" fmla="*/ 112776 h 338899"/>
                <a:gd name="connsiteX203" fmla="*/ 247745 w 350329"/>
                <a:gd name="connsiteY203" fmla="*/ 113919 h 338899"/>
                <a:gd name="connsiteX204" fmla="*/ 239363 w 350329"/>
                <a:gd name="connsiteY204" fmla="*/ 142780 h 338899"/>
                <a:gd name="connsiteX205" fmla="*/ 273368 w 350329"/>
                <a:gd name="connsiteY205" fmla="*/ 192977 h 338899"/>
                <a:gd name="connsiteX206" fmla="*/ 274606 w 350329"/>
                <a:gd name="connsiteY206" fmla="*/ 193453 h 338899"/>
                <a:gd name="connsiteX207" fmla="*/ 262795 w 350329"/>
                <a:gd name="connsiteY207" fmla="*/ 229934 h 338899"/>
                <a:gd name="connsiteX208" fmla="*/ 261461 w 350329"/>
                <a:gd name="connsiteY208" fmla="*/ 229648 h 338899"/>
                <a:gd name="connsiteX209" fmla="*/ 248031 w 350329"/>
                <a:gd name="connsiteY209" fmla="*/ 228029 h 338899"/>
                <a:gd name="connsiteX210" fmla="*/ 194120 w 350329"/>
                <a:gd name="connsiteY210" fmla="*/ 278606 h 338899"/>
                <a:gd name="connsiteX211" fmla="*/ 194120 w 350329"/>
                <a:gd name="connsiteY211" fmla="*/ 279940 h 338899"/>
                <a:gd name="connsiteX212" fmla="*/ 158782 w 350329"/>
                <a:gd name="connsiteY212" fmla="*/ 277082 h 338899"/>
                <a:gd name="connsiteX213" fmla="*/ 191738 w 350329"/>
                <a:gd name="connsiteY213" fmla="*/ 277082 h 338899"/>
                <a:gd name="connsiteX214" fmla="*/ 248412 w 350329"/>
                <a:gd name="connsiteY214" fmla="*/ 225171 h 338899"/>
                <a:gd name="connsiteX215" fmla="*/ 261176 w 350329"/>
                <a:gd name="connsiteY215" fmla="*/ 226600 h 338899"/>
                <a:gd name="connsiteX216" fmla="*/ 271367 w 350329"/>
                <a:gd name="connsiteY216" fmla="*/ 195263 h 338899"/>
                <a:gd name="connsiteX217" fmla="*/ 236792 w 350329"/>
                <a:gd name="connsiteY217" fmla="*/ 142875 h 338899"/>
                <a:gd name="connsiteX218" fmla="*/ 244888 w 350329"/>
                <a:gd name="connsiteY218" fmla="*/ 113633 h 338899"/>
                <a:gd name="connsiteX219" fmla="*/ 218218 w 350329"/>
                <a:gd name="connsiteY219" fmla="*/ 94202 h 338899"/>
                <a:gd name="connsiteX220" fmla="*/ 175355 w 350329"/>
                <a:gd name="connsiteY220" fmla="*/ 113728 h 338899"/>
                <a:gd name="connsiteX221" fmla="*/ 132493 w 350329"/>
                <a:gd name="connsiteY221" fmla="*/ 94202 h 338899"/>
                <a:gd name="connsiteX222" fmla="*/ 105823 w 350329"/>
                <a:gd name="connsiteY222" fmla="*/ 113633 h 338899"/>
                <a:gd name="connsiteX223" fmla="*/ 113919 w 350329"/>
                <a:gd name="connsiteY223" fmla="*/ 142875 h 338899"/>
                <a:gd name="connsiteX224" fmla="*/ 79343 w 350329"/>
                <a:gd name="connsiteY224" fmla="*/ 195263 h 338899"/>
                <a:gd name="connsiteX225" fmla="*/ 89535 w 350329"/>
                <a:gd name="connsiteY225" fmla="*/ 226600 h 338899"/>
                <a:gd name="connsiteX226" fmla="*/ 102298 w 350329"/>
                <a:gd name="connsiteY226" fmla="*/ 225171 h 338899"/>
                <a:gd name="connsiteX227" fmla="*/ 158972 w 350329"/>
                <a:gd name="connsiteY227" fmla="*/ 277082 h 338899"/>
                <a:gd name="connsiteX228" fmla="*/ 293561 w 350329"/>
                <a:gd name="connsiteY228" fmla="*/ 192596 h 338899"/>
                <a:gd name="connsiteX229" fmla="*/ 264986 w 350329"/>
                <a:gd name="connsiteY229" fmla="*/ 183547 h 338899"/>
                <a:gd name="connsiteX230" fmla="*/ 264509 w 350329"/>
                <a:gd name="connsiteY230" fmla="*/ 183166 h 338899"/>
                <a:gd name="connsiteX231" fmla="*/ 264509 w 350329"/>
                <a:gd name="connsiteY231" fmla="*/ 182594 h 338899"/>
                <a:gd name="connsiteX232" fmla="*/ 263938 w 350329"/>
                <a:gd name="connsiteY232" fmla="*/ 177546 h 338899"/>
                <a:gd name="connsiteX233" fmla="*/ 283464 w 350329"/>
                <a:gd name="connsiteY233" fmla="*/ 149733 h 338899"/>
                <a:gd name="connsiteX234" fmla="*/ 284798 w 350329"/>
                <a:gd name="connsiteY234" fmla="*/ 148114 h 338899"/>
                <a:gd name="connsiteX235" fmla="*/ 284036 w 350329"/>
                <a:gd name="connsiteY235" fmla="*/ 146114 h 338899"/>
                <a:gd name="connsiteX236" fmla="*/ 278511 w 350329"/>
                <a:gd name="connsiteY236" fmla="*/ 134398 h 338899"/>
                <a:gd name="connsiteX237" fmla="*/ 293561 w 350329"/>
                <a:gd name="connsiteY237" fmla="*/ 119348 h 338899"/>
                <a:gd name="connsiteX238" fmla="*/ 308610 w 350329"/>
                <a:gd name="connsiteY238" fmla="*/ 134398 h 338899"/>
                <a:gd name="connsiteX239" fmla="*/ 303086 w 350329"/>
                <a:gd name="connsiteY239" fmla="*/ 146114 h 338899"/>
                <a:gd name="connsiteX240" fmla="*/ 302324 w 350329"/>
                <a:gd name="connsiteY240" fmla="*/ 148114 h 338899"/>
                <a:gd name="connsiteX241" fmla="*/ 303752 w 350329"/>
                <a:gd name="connsiteY241" fmla="*/ 149733 h 338899"/>
                <a:gd name="connsiteX242" fmla="*/ 323183 w 350329"/>
                <a:gd name="connsiteY242" fmla="*/ 177546 h 338899"/>
                <a:gd name="connsiteX243" fmla="*/ 322707 w 350329"/>
                <a:gd name="connsiteY243" fmla="*/ 182594 h 338899"/>
                <a:gd name="connsiteX244" fmla="*/ 322707 w 350329"/>
                <a:gd name="connsiteY244" fmla="*/ 183166 h 338899"/>
                <a:gd name="connsiteX245" fmla="*/ 322136 w 350329"/>
                <a:gd name="connsiteY245" fmla="*/ 183547 h 338899"/>
                <a:gd name="connsiteX246" fmla="*/ 293561 w 350329"/>
                <a:gd name="connsiteY246" fmla="*/ 192596 h 338899"/>
                <a:gd name="connsiteX247" fmla="*/ 267176 w 350329"/>
                <a:gd name="connsiteY247" fmla="*/ 181642 h 338899"/>
                <a:gd name="connsiteX248" fmla="*/ 293656 w 350329"/>
                <a:gd name="connsiteY248" fmla="*/ 189833 h 338899"/>
                <a:gd name="connsiteX249" fmla="*/ 320135 w 350329"/>
                <a:gd name="connsiteY249" fmla="*/ 181642 h 338899"/>
                <a:gd name="connsiteX250" fmla="*/ 320421 w 350329"/>
                <a:gd name="connsiteY250" fmla="*/ 177641 h 338899"/>
                <a:gd name="connsiteX251" fmla="*/ 302800 w 350329"/>
                <a:gd name="connsiteY251" fmla="*/ 152495 h 338899"/>
                <a:gd name="connsiteX252" fmla="*/ 299561 w 350329"/>
                <a:gd name="connsiteY252" fmla="*/ 148685 h 338899"/>
                <a:gd name="connsiteX253" fmla="*/ 301276 w 350329"/>
                <a:gd name="connsiteY253" fmla="*/ 144018 h 338899"/>
                <a:gd name="connsiteX254" fmla="*/ 305753 w 350329"/>
                <a:gd name="connsiteY254" fmla="*/ 134493 h 338899"/>
                <a:gd name="connsiteX255" fmla="*/ 293561 w 350329"/>
                <a:gd name="connsiteY255" fmla="*/ 122301 h 338899"/>
                <a:gd name="connsiteX256" fmla="*/ 281369 w 350329"/>
                <a:gd name="connsiteY256" fmla="*/ 134493 h 338899"/>
                <a:gd name="connsiteX257" fmla="*/ 285845 w 350329"/>
                <a:gd name="connsiteY257" fmla="*/ 144018 h 338899"/>
                <a:gd name="connsiteX258" fmla="*/ 287560 w 350329"/>
                <a:gd name="connsiteY258" fmla="*/ 148685 h 338899"/>
                <a:gd name="connsiteX259" fmla="*/ 284417 w 350329"/>
                <a:gd name="connsiteY259" fmla="*/ 152495 h 338899"/>
                <a:gd name="connsiteX260" fmla="*/ 266795 w 350329"/>
                <a:gd name="connsiteY260" fmla="*/ 177641 h 338899"/>
                <a:gd name="connsiteX261" fmla="*/ 267081 w 350329"/>
                <a:gd name="connsiteY261" fmla="*/ 181642 h 338899"/>
                <a:gd name="connsiteX262" fmla="*/ 56959 w 350329"/>
                <a:gd name="connsiteY262" fmla="*/ 192596 h 338899"/>
                <a:gd name="connsiteX263" fmla="*/ 28766 w 350329"/>
                <a:gd name="connsiteY263" fmla="*/ 183833 h 338899"/>
                <a:gd name="connsiteX264" fmla="*/ 28480 w 350329"/>
                <a:gd name="connsiteY264" fmla="*/ 183642 h 338899"/>
                <a:gd name="connsiteX265" fmla="*/ 28099 w 350329"/>
                <a:gd name="connsiteY265" fmla="*/ 182785 h 338899"/>
                <a:gd name="connsiteX266" fmla="*/ 27623 w 350329"/>
                <a:gd name="connsiteY266" fmla="*/ 177641 h 338899"/>
                <a:gd name="connsiteX267" fmla="*/ 47054 w 350329"/>
                <a:gd name="connsiteY267" fmla="*/ 149828 h 338899"/>
                <a:gd name="connsiteX268" fmla="*/ 48387 w 350329"/>
                <a:gd name="connsiteY268" fmla="*/ 148209 h 338899"/>
                <a:gd name="connsiteX269" fmla="*/ 47625 w 350329"/>
                <a:gd name="connsiteY269" fmla="*/ 146209 h 338899"/>
                <a:gd name="connsiteX270" fmla="*/ 42101 w 350329"/>
                <a:gd name="connsiteY270" fmla="*/ 134493 h 338899"/>
                <a:gd name="connsiteX271" fmla="*/ 57150 w 350329"/>
                <a:gd name="connsiteY271" fmla="*/ 119444 h 338899"/>
                <a:gd name="connsiteX272" fmla="*/ 72200 w 350329"/>
                <a:gd name="connsiteY272" fmla="*/ 134493 h 338899"/>
                <a:gd name="connsiteX273" fmla="*/ 66675 w 350329"/>
                <a:gd name="connsiteY273" fmla="*/ 146209 h 338899"/>
                <a:gd name="connsiteX274" fmla="*/ 65913 w 350329"/>
                <a:gd name="connsiteY274" fmla="*/ 148209 h 338899"/>
                <a:gd name="connsiteX275" fmla="*/ 67342 w 350329"/>
                <a:gd name="connsiteY275" fmla="*/ 149828 h 338899"/>
                <a:gd name="connsiteX276" fmla="*/ 86773 w 350329"/>
                <a:gd name="connsiteY276" fmla="*/ 177641 h 338899"/>
                <a:gd name="connsiteX277" fmla="*/ 86392 w 350329"/>
                <a:gd name="connsiteY277" fmla="*/ 182499 h 338899"/>
                <a:gd name="connsiteX278" fmla="*/ 86392 w 350329"/>
                <a:gd name="connsiteY278" fmla="*/ 183071 h 338899"/>
                <a:gd name="connsiteX279" fmla="*/ 85820 w 350329"/>
                <a:gd name="connsiteY279" fmla="*/ 183452 h 338899"/>
                <a:gd name="connsiteX280" fmla="*/ 56959 w 350329"/>
                <a:gd name="connsiteY280" fmla="*/ 192691 h 338899"/>
                <a:gd name="connsiteX281" fmla="*/ 30766 w 350329"/>
                <a:gd name="connsiteY281" fmla="*/ 181832 h 338899"/>
                <a:gd name="connsiteX282" fmla="*/ 56959 w 350329"/>
                <a:gd name="connsiteY282" fmla="*/ 189833 h 338899"/>
                <a:gd name="connsiteX283" fmla="*/ 83725 w 350329"/>
                <a:gd name="connsiteY283" fmla="*/ 181451 h 338899"/>
                <a:gd name="connsiteX284" fmla="*/ 84011 w 350329"/>
                <a:gd name="connsiteY284" fmla="*/ 177641 h 338899"/>
                <a:gd name="connsiteX285" fmla="*/ 66389 w 350329"/>
                <a:gd name="connsiteY285" fmla="*/ 152495 h 338899"/>
                <a:gd name="connsiteX286" fmla="*/ 63151 w 350329"/>
                <a:gd name="connsiteY286" fmla="*/ 148685 h 338899"/>
                <a:gd name="connsiteX287" fmla="*/ 64865 w 350329"/>
                <a:gd name="connsiteY287" fmla="*/ 144018 h 338899"/>
                <a:gd name="connsiteX288" fmla="*/ 69342 w 350329"/>
                <a:gd name="connsiteY288" fmla="*/ 134493 h 338899"/>
                <a:gd name="connsiteX289" fmla="*/ 57150 w 350329"/>
                <a:gd name="connsiteY289" fmla="*/ 122301 h 338899"/>
                <a:gd name="connsiteX290" fmla="*/ 44958 w 350329"/>
                <a:gd name="connsiteY290" fmla="*/ 134493 h 338899"/>
                <a:gd name="connsiteX291" fmla="*/ 49435 w 350329"/>
                <a:gd name="connsiteY291" fmla="*/ 144018 h 338899"/>
                <a:gd name="connsiteX292" fmla="*/ 51149 w 350329"/>
                <a:gd name="connsiteY292" fmla="*/ 148685 h 338899"/>
                <a:gd name="connsiteX293" fmla="*/ 48006 w 350329"/>
                <a:gd name="connsiteY293" fmla="*/ 152495 h 338899"/>
                <a:gd name="connsiteX294" fmla="*/ 30385 w 350329"/>
                <a:gd name="connsiteY294" fmla="*/ 177641 h 338899"/>
                <a:gd name="connsiteX295" fmla="*/ 30671 w 350329"/>
                <a:gd name="connsiteY295" fmla="*/ 181832 h 338899"/>
                <a:gd name="connsiteX296" fmla="*/ 23241 w 350329"/>
                <a:gd name="connsiteY296" fmla="*/ 179642 h 338899"/>
                <a:gd name="connsiteX297" fmla="*/ 20955 w 350329"/>
                <a:gd name="connsiteY297" fmla="*/ 177165 h 338899"/>
                <a:gd name="connsiteX298" fmla="*/ 7239 w 350329"/>
                <a:gd name="connsiteY298" fmla="*/ 142875 h 338899"/>
                <a:gd name="connsiteX299" fmla="*/ 56959 w 350329"/>
                <a:gd name="connsiteY299" fmla="*/ 93059 h 338899"/>
                <a:gd name="connsiteX300" fmla="*/ 106775 w 350329"/>
                <a:gd name="connsiteY300" fmla="*/ 142875 h 338899"/>
                <a:gd name="connsiteX301" fmla="*/ 93536 w 350329"/>
                <a:gd name="connsiteY301" fmla="*/ 176689 h 338899"/>
                <a:gd name="connsiteX302" fmla="*/ 91250 w 350329"/>
                <a:gd name="connsiteY302" fmla="*/ 179165 h 338899"/>
                <a:gd name="connsiteX303" fmla="*/ 91059 w 350329"/>
                <a:gd name="connsiteY303" fmla="*/ 175831 h 338899"/>
                <a:gd name="connsiteX304" fmla="*/ 73343 w 350329"/>
                <a:gd name="connsiteY304" fmla="*/ 147923 h 338899"/>
                <a:gd name="connsiteX305" fmla="*/ 71914 w 350329"/>
                <a:gd name="connsiteY305" fmla="*/ 147161 h 338899"/>
                <a:gd name="connsiteX306" fmla="*/ 72866 w 350329"/>
                <a:gd name="connsiteY306" fmla="*/ 145828 h 338899"/>
                <a:gd name="connsiteX307" fmla="*/ 76486 w 350329"/>
                <a:gd name="connsiteY307" fmla="*/ 134493 h 338899"/>
                <a:gd name="connsiteX308" fmla="*/ 57150 w 350329"/>
                <a:gd name="connsiteY308" fmla="*/ 115253 h 338899"/>
                <a:gd name="connsiteX309" fmla="*/ 37814 w 350329"/>
                <a:gd name="connsiteY309" fmla="*/ 134493 h 338899"/>
                <a:gd name="connsiteX310" fmla="*/ 41434 w 350329"/>
                <a:gd name="connsiteY310" fmla="*/ 145828 h 338899"/>
                <a:gd name="connsiteX311" fmla="*/ 42386 w 350329"/>
                <a:gd name="connsiteY311" fmla="*/ 147161 h 338899"/>
                <a:gd name="connsiteX312" fmla="*/ 40958 w 350329"/>
                <a:gd name="connsiteY312" fmla="*/ 147923 h 338899"/>
                <a:gd name="connsiteX313" fmla="*/ 23241 w 350329"/>
                <a:gd name="connsiteY313" fmla="*/ 176308 h 338899"/>
                <a:gd name="connsiteX314" fmla="*/ 23241 w 350329"/>
                <a:gd name="connsiteY314" fmla="*/ 179642 h 338899"/>
                <a:gd name="connsiteX315" fmla="*/ 56959 w 350329"/>
                <a:gd name="connsiteY315" fmla="*/ 95917 h 338899"/>
                <a:gd name="connsiteX316" fmla="*/ 10097 w 350329"/>
                <a:gd name="connsiteY316" fmla="*/ 142875 h 338899"/>
                <a:gd name="connsiteX317" fmla="*/ 20860 w 350329"/>
                <a:gd name="connsiteY317" fmla="*/ 172784 h 338899"/>
                <a:gd name="connsiteX318" fmla="*/ 38386 w 350329"/>
                <a:gd name="connsiteY318" fmla="*/ 146114 h 338899"/>
                <a:gd name="connsiteX319" fmla="*/ 35052 w 350329"/>
                <a:gd name="connsiteY319" fmla="*/ 134493 h 338899"/>
                <a:gd name="connsiteX320" fmla="*/ 57245 w 350329"/>
                <a:gd name="connsiteY320" fmla="*/ 112395 h 338899"/>
                <a:gd name="connsiteX321" fmla="*/ 79439 w 350329"/>
                <a:gd name="connsiteY321" fmla="*/ 134493 h 338899"/>
                <a:gd name="connsiteX322" fmla="*/ 76105 w 350329"/>
                <a:gd name="connsiteY322" fmla="*/ 146114 h 338899"/>
                <a:gd name="connsiteX323" fmla="*/ 93536 w 350329"/>
                <a:gd name="connsiteY323" fmla="*/ 172212 h 338899"/>
                <a:gd name="connsiteX324" fmla="*/ 103918 w 350329"/>
                <a:gd name="connsiteY324" fmla="*/ 142780 h 338899"/>
                <a:gd name="connsiteX325" fmla="*/ 57055 w 350329"/>
                <a:gd name="connsiteY325" fmla="*/ 95822 h 338899"/>
                <a:gd name="connsiteX326" fmla="*/ 327565 w 350329"/>
                <a:gd name="connsiteY326" fmla="*/ 179356 h 338899"/>
                <a:gd name="connsiteX327" fmla="*/ 327374 w 350329"/>
                <a:gd name="connsiteY327" fmla="*/ 176022 h 338899"/>
                <a:gd name="connsiteX328" fmla="*/ 309658 w 350329"/>
                <a:gd name="connsiteY328" fmla="*/ 147828 h 338899"/>
                <a:gd name="connsiteX329" fmla="*/ 308229 w 350329"/>
                <a:gd name="connsiteY329" fmla="*/ 147066 h 338899"/>
                <a:gd name="connsiteX330" fmla="*/ 309182 w 350329"/>
                <a:gd name="connsiteY330" fmla="*/ 145733 h 338899"/>
                <a:gd name="connsiteX331" fmla="*/ 312801 w 350329"/>
                <a:gd name="connsiteY331" fmla="*/ 134398 h 338899"/>
                <a:gd name="connsiteX332" fmla="*/ 293465 w 350329"/>
                <a:gd name="connsiteY332" fmla="*/ 115157 h 338899"/>
                <a:gd name="connsiteX333" fmla="*/ 274130 w 350329"/>
                <a:gd name="connsiteY333" fmla="*/ 134398 h 338899"/>
                <a:gd name="connsiteX334" fmla="*/ 277749 w 350329"/>
                <a:gd name="connsiteY334" fmla="*/ 145733 h 338899"/>
                <a:gd name="connsiteX335" fmla="*/ 278702 w 350329"/>
                <a:gd name="connsiteY335" fmla="*/ 147066 h 338899"/>
                <a:gd name="connsiteX336" fmla="*/ 277273 w 350329"/>
                <a:gd name="connsiteY336" fmla="*/ 147828 h 338899"/>
                <a:gd name="connsiteX337" fmla="*/ 259556 w 350329"/>
                <a:gd name="connsiteY337" fmla="*/ 176022 h 338899"/>
                <a:gd name="connsiteX338" fmla="*/ 259366 w 350329"/>
                <a:gd name="connsiteY338" fmla="*/ 179356 h 338899"/>
                <a:gd name="connsiteX339" fmla="*/ 257080 w 350329"/>
                <a:gd name="connsiteY339" fmla="*/ 176879 h 338899"/>
                <a:gd name="connsiteX340" fmla="*/ 243554 w 350329"/>
                <a:gd name="connsiteY340" fmla="*/ 142780 h 338899"/>
                <a:gd name="connsiteX341" fmla="*/ 293275 w 350329"/>
                <a:gd name="connsiteY341" fmla="*/ 92964 h 338899"/>
                <a:gd name="connsiteX342" fmla="*/ 343090 w 350329"/>
                <a:gd name="connsiteY342" fmla="*/ 142780 h 338899"/>
                <a:gd name="connsiteX343" fmla="*/ 329565 w 350329"/>
                <a:gd name="connsiteY343" fmla="*/ 176879 h 338899"/>
                <a:gd name="connsiteX344" fmla="*/ 327279 w 350329"/>
                <a:gd name="connsiteY344" fmla="*/ 179356 h 338899"/>
                <a:gd name="connsiteX345" fmla="*/ 312420 w 350329"/>
                <a:gd name="connsiteY345" fmla="*/ 146114 h 338899"/>
                <a:gd name="connsiteX346" fmla="*/ 329946 w 350329"/>
                <a:gd name="connsiteY346" fmla="*/ 172498 h 338899"/>
                <a:gd name="connsiteX347" fmla="*/ 340519 w 350329"/>
                <a:gd name="connsiteY347" fmla="*/ 142875 h 338899"/>
                <a:gd name="connsiteX348" fmla="*/ 293656 w 350329"/>
                <a:gd name="connsiteY348" fmla="*/ 95917 h 338899"/>
                <a:gd name="connsiteX349" fmla="*/ 246793 w 350329"/>
                <a:gd name="connsiteY349" fmla="*/ 142875 h 338899"/>
                <a:gd name="connsiteX350" fmla="*/ 257366 w 350329"/>
                <a:gd name="connsiteY350" fmla="*/ 172498 h 338899"/>
                <a:gd name="connsiteX351" fmla="*/ 274796 w 350329"/>
                <a:gd name="connsiteY351" fmla="*/ 146114 h 338899"/>
                <a:gd name="connsiteX352" fmla="*/ 271463 w 350329"/>
                <a:gd name="connsiteY352" fmla="*/ 134493 h 338899"/>
                <a:gd name="connsiteX353" fmla="*/ 293656 w 350329"/>
                <a:gd name="connsiteY353" fmla="*/ 112395 h 338899"/>
                <a:gd name="connsiteX354" fmla="*/ 315849 w 350329"/>
                <a:gd name="connsiteY354" fmla="*/ 134493 h 338899"/>
                <a:gd name="connsiteX355" fmla="*/ 312515 w 350329"/>
                <a:gd name="connsiteY355" fmla="*/ 146114 h 338899"/>
                <a:gd name="connsiteX356" fmla="*/ 175260 w 350329"/>
                <a:gd name="connsiteY356" fmla="*/ 106680 h 338899"/>
                <a:gd name="connsiteX357" fmla="*/ 146685 w 350329"/>
                <a:gd name="connsiteY357" fmla="*/ 97631 h 338899"/>
                <a:gd name="connsiteX358" fmla="*/ 146114 w 350329"/>
                <a:gd name="connsiteY358" fmla="*/ 97250 h 338899"/>
                <a:gd name="connsiteX359" fmla="*/ 146114 w 350329"/>
                <a:gd name="connsiteY359" fmla="*/ 96488 h 338899"/>
                <a:gd name="connsiteX360" fmla="*/ 145733 w 350329"/>
                <a:gd name="connsiteY360" fmla="*/ 91631 h 338899"/>
                <a:gd name="connsiteX361" fmla="*/ 165164 w 350329"/>
                <a:gd name="connsiteY361" fmla="*/ 63818 h 338899"/>
                <a:gd name="connsiteX362" fmla="*/ 166497 w 350329"/>
                <a:gd name="connsiteY362" fmla="*/ 62198 h 338899"/>
                <a:gd name="connsiteX363" fmla="*/ 165735 w 350329"/>
                <a:gd name="connsiteY363" fmla="*/ 60198 h 338899"/>
                <a:gd name="connsiteX364" fmla="*/ 160211 w 350329"/>
                <a:gd name="connsiteY364" fmla="*/ 48482 h 338899"/>
                <a:gd name="connsiteX365" fmla="*/ 175260 w 350329"/>
                <a:gd name="connsiteY365" fmla="*/ 33433 h 338899"/>
                <a:gd name="connsiteX366" fmla="*/ 190310 w 350329"/>
                <a:gd name="connsiteY366" fmla="*/ 48482 h 338899"/>
                <a:gd name="connsiteX367" fmla="*/ 184785 w 350329"/>
                <a:gd name="connsiteY367" fmla="*/ 60198 h 338899"/>
                <a:gd name="connsiteX368" fmla="*/ 184023 w 350329"/>
                <a:gd name="connsiteY368" fmla="*/ 62198 h 338899"/>
                <a:gd name="connsiteX369" fmla="*/ 185357 w 350329"/>
                <a:gd name="connsiteY369" fmla="*/ 63818 h 338899"/>
                <a:gd name="connsiteX370" fmla="*/ 204883 w 350329"/>
                <a:gd name="connsiteY370" fmla="*/ 91631 h 338899"/>
                <a:gd name="connsiteX371" fmla="*/ 204502 w 350329"/>
                <a:gd name="connsiteY371" fmla="*/ 96679 h 338899"/>
                <a:gd name="connsiteX372" fmla="*/ 204502 w 350329"/>
                <a:gd name="connsiteY372" fmla="*/ 97250 h 338899"/>
                <a:gd name="connsiteX373" fmla="*/ 203930 w 350329"/>
                <a:gd name="connsiteY373" fmla="*/ 97631 h 338899"/>
                <a:gd name="connsiteX374" fmla="*/ 175355 w 350329"/>
                <a:gd name="connsiteY374" fmla="*/ 106680 h 338899"/>
                <a:gd name="connsiteX375" fmla="*/ 148781 w 350329"/>
                <a:gd name="connsiteY375" fmla="*/ 95631 h 338899"/>
                <a:gd name="connsiteX376" fmla="*/ 175260 w 350329"/>
                <a:gd name="connsiteY376" fmla="*/ 103823 h 338899"/>
                <a:gd name="connsiteX377" fmla="*/ 201740 w 350329"/>
                <a:gd name="connsiteY377" fmla="*/ 95631 h 338899"/>
                <a:gd name="connsiteX378" fmla="*/ 202025 w 350329"/>
                <a:gd name="connsiteY378" fmla="*/ 91631 h 338899"/>
                <a:gd name="connsiteX379" fmla="*/ 184404 w 350329"/>
                <a:gd name="connsiteY379" fmla="*/ 66485 h 338899"/>
                <a:gd name="connsiteX380" fmla="*/ 181261 w 350329"/>
                <a:gd name="connsiteY380" fmla="*/ 62579 h 338899"/>
                <a:gd name="connsiteX381" fmla="*/ 182975 w 350329"/>
                <a:gd name="connsiteY381" fmla="*/ 57912 h 338899"/>
                <a:gd name="connsiteX382" fmla="*/ 187452 w 350329"/>
                <a:gd name="connsiteY382" fmla="*/ 48482 h 338899"/>
                <a:gd name="connsiteX383" fmla="*/ 175260 w 350329"/>
                <a:gd name="connsiteY383" fmla="*/ 36290 h 338899"/>
                <a:gd name="connsiteX384" fmla="*/ 163068 w 350329"/>
                <a:gd name="connsiteY384" fmla="*/ 48482 h 338899"/>
                <a:gd name="connsiteX385" fmla="*/ 167545 w 350329"/>
                <a:gd name="connsiteY385" fmla="*/ 57912 h 338899"/>
                <a:gd name="connsiteX386" fmla="*/ 169259 w 350329"/>
                <a:gd name="connsiteY386" fmla="*/ 62579 h 338899"/>
                <a:gd name="connsiteX387" fmla="*/ 166021 w 350329"/>
                <a:gd name="connsiteY387" fmla="*/ 66389 h 338899"/>
                <a:gd name="connsiteX388" fmla="*/ 148400 w 350329"/>
                <a:gd name="connsiteY388" fmla="*/ 91535 h 338899"/>
                <a:gd name="connsiteX389" fmla="*/ 148685 w 350329"/>
                <a:gd name="connsiteY389" fmla="*/ 95536 h 338899"/>
                <a:gd name="connsiteX390" fmla="*/ 141351 w 350329"/>
                <a:gd name="connsiteY390" fmla="*/ 93440 h 338899"/>
                <a:gd name="connsiteX391" fmla="*/ 139065 w 350329"/>
                <a:gd name="connsiteY391" fmla="*/ 90964 h 338899"/>
                <a:gd name="connsiteX392" fmla="*/ 125540 w 350329"/>
                <a:gd name="connsiteY392" fmla="*/ 56864 h 338899"/>
                <a:gd name="connsiteX393" fmla="*/ 175355 w 350329"/>
                <a:gd name="connsiteY393" fmla="*/ 7144 h 338899"/>
                <a:gd name="connsiteX394" fmla="*/ 225076 w 350329"/>
                <a:gd name="connsiteY394" fmla="*/ 56864 h 338899"/>
                <a:gd name="connsiteX395" fmla="*/ 211550 w 350329"/>
                <a:gd name="connsiteY395" fmla="*/ 90964 h 338899"/>
                <a:gd name="connsiteX396" fmla="*/ 209264 w 350329"/>
                <a:gd name="connsiteY396" fmla="*/ 93440 h 338899"/>
                <a:gd name="connsiteX397" fmla="*/ 209074 w 350329"/>
                <a:gd name="connsiteY397" fmla="*/ 90107 h 338899"/>
                <a:gd name="connsiteX398" fmla="*/ 191357 w 350329"/>
                <a:gd name="connsiteY398" fmla="*/ 61913 h 338899"/>
                <a:gd name="connsiteX399" fmla="*/ 189929 w 350329"/>
                <a:gd name="connsiteY399" fmla="*/ 61151 h 338899"/>
                <a:gd name="connsiteX400" fmla="*/ 190881 w 350329"/>
                <a:gd name="connsiteY400" fmla="*/ 59817 h 338899"/>
                <a:gd name="connsiteX401" fmla="*/ 194501 w 350329"/>
                <a:gd name="connsiteY401" fmla="*/ 48482 h 338899"/>
                <a:gd name="connsiteX402" fmla="*/ 175165 w 350329"/>
                <a:gd name="connsiteY402" fmla="*/ 29147 h 338899"/>
                <a:gd name="connsiteX403" fmla="*/ 155829 w 350329"/>
                <a:gd name="connsiteY403" fmla="*/ 48482 h 338899"/>
                <a:gd name="connsiteX404" fmla="*/ 159449 w 350329"/>
                <a:gd name="connsiteY404" fmla="*/ 59817 h 338899"/>
                <a:gd name="connsiteX405" fmla="*/ 160401 w 350329"/>
                <a:gd name="connsiteY405" fmla="*/ 61151 h 338899"/>
                <a:gd name="connsiteX406" fmla="*/ 158972 w 350329"/>
                <a:gd name="connsiteY406" fmla="*/ 61913 h 338899"/>
                <a:gd name="connsiteX407" fmla="*/ 141351 w 350329"/>
                <a:gd name="connsiteY407" fmla="*/ 90107 h 338899"/>
                <a:gd name="connsiteX408" fmla="*/ 141161 w 350329"/>
                <a:gd name="connsiteY408" fmla="*/ 93440 h 338899"/>
                <a:gd name="connsiteX409" fmla="*/ 194120 w 350329"/>
                <a:gd name="connsiteY409" fmla="*/ 60103 h 338899"/>
                <a:gd name="connsiteX410" fmla="*/ 211645 w 350329"/>
                <a:gd name="connsiteY410" fmla="*/ 86487 h 338899"/>
                <a:gd name="connsiteX411" fmla="*/ 222218 w 350329"/>
                <a:gd name="connsiteY411" fmla="*/ 56769 h 338899"/>
                <a:gd name="connsiteX412" fmla="*/ 175355 w 350329"/>
                <a:gd name="connsiteY412" fmla="*/ 9906 h 338899"/>
                <a:gd name="connsiteX413" fmla="*/ 128492 w 350329"/>
                <a:gd name="connsiteY413" fmla="*/ 56769 h 338899"/>
                <a:gd name="connsiteX414" fmla="*/ 139065 w 350329"/>
                <a:gd name="connsiteY414" fmla="*/ 86487 h 338899"/>
                <a:gd name="connsiteX415" fmla="*/ 156496 w 350329"/>
                <a:gd name="connsiteY415" fmla="*/ 60103 h 338899"/>
                <a:gd name="connsiteX416" fmla="*/ 153162 w 350329"/>
                <a:gd name="connsiteY416" fmla="*/ 48482 h 338899"/>
                <a:gd name="connsiteX417" fmla="*/ 175355 w 350329"/>
                <a:gd name="connsiteY417" fmla="*/ 26289 h 338899"/>
                <a:gd name="connsiteX418" fmla="*/ 197549 w 350329"/>
                <a:gd name="connsiteY418" fmla="*/ 48482 h 338899"/>
                <a:gd name="connsiteX419" fmla="*/ 194215 w 350329"/>
                <a:gd name="connsiteY419" fmla="*/ 60103 h 33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Lst>
              <a:rect l="l" t="t" r="r" b="b"/>
              <a:pathLst>
                <a:path w="350329" h="338899">
                  <a:moveTo>
                    <a:pt x="248412" y="338900"/>
                  </a:moveTo>
                  <a:cubicBezTo>
                    <a:pt x="218980" y="338900"/>
                    <a:pt x="194310" y="316230"/>
                    <a:pt x="191738" y="286988"/>
                  </a:cubicBezTo>
                  <a:lnTo>
                    <a:pt x="158782" y="286988"/>
                  </a:lnTo>
                  <a:cubicBezTo>
                    <a:pt x="156210" y="316230"/>
                    <a:pt x="131636" y="338900"/>
                    <a:pt x="102108" y="338900"/>
                  </a:cubicBezTo>
                  <a:cubicBezTo>
                    <a:pt x="70771" y="338900"/>
                    <a:pt x="45244" y="313373"/>
                    <a:pt x="45244" y="282035"/>
                  </a:cubicBezTo>
                  <a:cubicBezTo>
                    <a:pt x="45244" y="259080"/>
                    <a:pt x="58769" y="238601"/>
                    <a:pt x="79820" y="229648"/>
                  </a:cubicBezTo>
                  <a:lnTo>
                    <a:pt x="69628" y="198311"/>
                  </a:lnTo>
                  <a:cubicBezTo>
                    <a:pt x="65437" y="199263"/>
                    <a:pt x="61151" y="199739"/>
                    <a:pt x="56864" y="199739"/>
                  </a:cubicBezTo>
                  <a:cubicBezTo>
                    <a:pt x="25527" y="199739"/>
                    <a:pt x="0" y="174212"/>
                    <a:pt x="0" y="142875"/>
                  </a:cubicBezTo>
                  <a:cubicBezTo>
                    <a:pt x="0" y="111538"/>
                    <a:pt x="25527" y="86011"/>
                    <a:pt x="56864" y="86011"/>
                  </a:cubicBezTo>
                  <a:cubicBezTo>
                    <a:pt x="73438" y="86011"/>
                    <a:pt x="88964" y="93155"/>
                    <a:pt x="99727" y="105537"/>
                  </a:cubicBezTo>
                  <a:lnTo>
                    <a:pt x="126397" y="86106"/>
                  </a:lnTo>
                  <a:cubicBezTo>
                    <a:pt x="121063" y="77248"/>
                    <a:pt x="118301" y="67151"/>
                    <a:pt x="118301" y="56864"/>
                  </a:cubicBezTo>
                  <a:cubicBezTo>
                    <a:pt x="118301" y="25527"/>
                    <a:pt x="143828" y="0"/>
                    <a:pt x="175165" y="0"/>
                  </a:cubicBezTo>
                  <a:cubicBezTo>
                    <a:pt x="206502" y="0"/>
                    <a:pt x="232029" y="25527"/>
                    <a:pt x="232029" y="56864"/>
                  </a:cubicBezTo>
                  <a:cubicBezTo>
                    <a:pt x="232029" y="67247"/>
                    <a:pt x="229267" y="77343"/>
                    <a:pt x="223933" y="86106"/>
                  </a:cubicBezTo>
                  <a:lnTo>
                    <a:pt x="250603" y="105537"/>
                  </a:lnTo>
                  <a:cubicBezTo>
                    <a:pt x="261366" y="93059"/>
                    <a:pt x="276987" y="86011"/>
                    <a:pt x="293465" y="86011"/>
                  </a:cubicBezTo>
                  <a:cubicBezTo>
                    <a:pt x="324803" y="86011"/>
                    <a:pt x="350330" y="111538"/>
                    <a:pt x="350330" y="142875"/>
                  </a:cubicBezTo>
                  <a:cubicBezTo>
                    <a:pt x="350330" y="174212"/>
                    <a:pt x="324803" y="199739"/>
                    <a:pt x="293465" y="199739"/>
                  </a:cubicBezTo>
                  <a:cubicBezTo>
                    <a:pt x="289179" y="199739"/>
                    <a:pt x="284893" y="199263"/>
                    <a:pt x="280702" y="198311"/>
                  </a:cubicBezTo>
                  <a:lnTo>
                    <a:pt x="270510" y="229648"/>
                  </a:lnTo>
                  <a:cubicBezTo>
                    <a:pt x="291560" y="238601"/>
                    <a:pt x="305086" y="258985"/>
                    <a:pt x="305086" y="282035"/>
                  </a:cubicBezTo>
                  <a:cubicBezTo>
                    <a:pt x="305086" y="313373"/>
                    <a:pt x="279559" y="338900"/>
                    <a:pt x="248222" y="338900"/>
                  </a:cubicBezTo>
                  <a:close/>
                  <a:moveTo>
                    <a:pt x="156115" y="284131"/>
                  </a:moveTo>
                  <a:lnTo>
                    <a:pt x="194405" y="284131"/>
                  </a:lnTo>
                  <a:lnTo>
                    <a:pt x="194405" y="285464"/>
                  </a:lnTo>
                  <a:cubicBezTo>
                    <a:pt x="196310" y="313849"/>
                    <a:pt x="219932" y="336042"/>
                    <a:pt x="248412" y="336042"/>
                  </a:cubicBezTo>
                  <a:cubicBezTo>
                    <a:pt x="276892" y="336042"/>
                    <a:pt x="302419" y="311849"/>
                    <a:pt x="302419" y="282035"/>
                  </a:cubicBezTo>
                  <a:cubicBezTo>
                    <a:pt x="302419" y="259747"/>
                    <a:pt x="289084" y="240125"/>
                    <a:pt x="268319" y="231839"/>
                  </a:cubicBezTo>
                  <a:lnTo>
                    <a:pt x="267081" y="231362"/>
                  </a:lnTo>
                  <a:lnTo>
                    <a:pt x="278892" y="194881"/>
                  </a:lnTo>
                  <a:lnTo>
                    <a:pt x="280226" y="195167"/>
                  </a:lnTo>
                  <a:cubicBezTo>
                    <a:pt x="284512" y="196310"/>
                    <a:pt x="289084" y="196787"/>
                    <a:pt x="293561" y="196787"/>
                  </a:cubicBezTo>
                  <a:cubicBezTo>
                    <a:pt x="323374" y="196787"/>
                    <a:pt x="347567" y="172593"/>
                    <a:pt x="347567" y="142780"/>
                  </a:cubicBezTo>
                  <a:cubicBezTo>
                    <a:pt x="347567" y="112967"/>
                    <a:pt x="323374" y="88773"/>
                    <a:pt x="293561" y="88773"/>
                  </a:cubicBezTo>
                  <a:cubicBezTo>
                    <a:pt x="277463" y="88773"/>
                    <a:pt x="262319" y="95917"/>
                    <a:pt x="252032" y="108299"/>
                  </a:cubicBezTo>
                  <a:lnTo>
                    <a:pt x="251174" y="109347"/>
                  </a:lnTo>
                  <a:lnTo>
                    <a:pt x="220123" y="86773"/>
                  </a:lnTo>
                  <a:lnTo>
                    <a:pt x="220885" y="85630"/>
                  </a:lnTo>
                  <a:cubicBezTo>
                    <a:pt x="226314" y="76962"/>
                    <a:pt x="229267" y="66961"/>
                    <a:pt x="229267" y="56769"/>
                  </a:cubicBezTo>
                  <a:cubicBezTo>
                    <a:pt x="229267" y="26956"/>
                    <a:pt x="205073" y="2762"/>
                    <a:pt x="175260" y="2762"/>
                  </a:cubicBezTo>
                  <a:cubicBezTo>
                    <a:pt x="145447" y="2762"/>
                    <a:pt x="121253" y="26956"/>
                    <a:pt x="121253" y="56769"/>
                  </a:cubicBezTo>
                  <a:cubicBezTo>
                    <a:pt x="121253" y="66961"/>
                    <a:pt x="124111" y="76962"/>
                    <a:pt x="129635" y="85630"/>
                  </a:cubicBezTo>
                  <a:lnTo>
                    <a:pt x="130397" y="86773"/>
                  </a:lnTo>
                  <a:lnTo>
                    <a:pt x="99441" y="109347"/>
                  </a:lnTo>
                  <a:lnTo>
                    <a:pt x="98584" y="108299"/>
                  </a:lnTo>
                  <a:cubicBezTo>
                    <a:pt x="88297" y="95822"/>
                    <a:pt x="73152" y="88773"/>
                    <a:pt x="57055" y="88773"/>
                  </a:cubicBezTo>
                  <a:cubicBezTo>
                    <a:pt x="27146" y="88868"/>
                    <a:pt x="2953" y="113062"/>
                    <a:pt x="2953" y="142875"/>
                  </a:cubicBezTo>
                  <a:cubicBezTo>
                    <a:pt x="2953" y="172688"/>
                    <a:pt x="27146" y="196882"/>
                    <a:pt x="56959" y="196882"/>
                  </a:cubicBezTo>
                  <a:cubicBezTo>
                    <a:pt x="61532" y="196882"/>
                    <a:pt x="66008" y="196310"/>
                    <a:pt x="70390" y="195263"/>
                  </a:cubicBezTo>
                  <a:lnTo>
                    <a:pt x="71723" y="194977"/>
                  </a:lnTo>
                  <a:lnTo>
                    <a:pt x="83534" y="231458"/>
                  </a:lnTo>
                  <a:lnTo>
                    <a:pt x="82296" y="231934"/>
                  </a:lnTo>
                  <a:cubicBezTo>
                    <a:pt x="61627" y="240221"/>
                    <a:pt x="48292" y="259842"/>
                    <a:pt x="48292" y="282131"/>
                  </a:cubicBezTo>
                  <a:cubicBezTo>
                    <a:pt x="48292" y="311944"/>
                    <a:pt x="72485" y="336137"/>
                    <a:pt x="102298" y="336137"/>
                  </a:cubicBezTo>
                  <a:cubicBezTo>
                    <a:pt x="132112" y="336137"/>
                    <a:pt x="154400" y="313944"/>
                    <a:pt x="156210" y="285560"/>
                  </a:cubicBezTo>
                  <a:lnTo>
                    <a:pt x="156210" y="284226"/>
                  </a:lnTo>
                  <a:close/>
                  <a:moveTo>
                    <a:pt x="248412" y="331851"/>
                  </a:moveTo>
                  <a:cubicBezTo>
                    <a:pt x="238125" y="331851"/>
                    <a:pt x="228219" y="328708"/>
                    <a:pt x="219837" y="322802"/>
                  </a:cubicBezTo>
                  <a:lnTo>
                    <a:pt x="219266" y="322421"/>
                  </a:lnTo>
                  <a:lnTo>
                    <a:pt x="219266" y="321659"/>
                  </a:lnTo>
                  <a:cubicBezTo>
                    <a:pt x="218980" y="320326"/>
                    <a:pt x="218885" y="318707"/>
                    <a:pt x="218885" y="316801"/>
                  </a:cubicBezTo>
                  <a:cubicBezTo>
                    <a:pt x="218885" y="304419"/>
                    <a:pt x="226695" y="293180"/>
                    <a:pt x="238316" y="288989"/>
                  </a:cubicBezTo>
                  <a:cubicBezTo>
                    <a:pt x="238982" y="288703"/>
                    <a:pt x="239554" y="288131"/>
                    <a:pt x="239649" y="287369"/>
                  </a:cubicBezTo>
                  <a:cubicBezTo>
                    <a:pt x="239744" y="286607"/>
                    <a:pt x="239458" y="285845"/>
                    <a:pt x="238887" y="285369"/>
                  </a:cubicBezTo>
                  <a:cubicBezTo>
                    <a:pt x="235363" y="282512"/>
                    <a:pt x="233363" y="278225"/>
                    <a:pt x="233363" y="273653"/>
                  </a:cubicBezTo>
                  <a:cubicBezTo>
                    <a:pt x="233363" y="265367"/>
                    <a:pt x="240125" y="258604"/>
                    <a:pt x="248412" y="258604"/>
                  </a:cubicBezTo>
                  <a:cubicBezTo>
                    <a:pt x="256699" y="258604"/>
                    <a:pt x="263462" y="265367"/>
                    <a:pt x="263462" y="273653"/>
                  </a:cubicBezTo>
                  <a:cubicBezTo>
                    <a:pt x="263462" y="278225"/>
                    <a:pt x="261461" y="282416"/>
                    <a:pt x="257937" y="285369"/>
                  </a:cubicBezTo>
                  <a:cubicBezTo>
                    <a:pt x="257366" y="285845"/>
                    <a:pt x="257080" y="286607"/>
                    <a:pt x="257175" y="287369"/>
                  </a:cubicBezTo>
                  <a:cubicBezTo>
                    <a:pt x="257270" y="288131"/>
                    <a:pt x="257842" y="288798"/>
                    <a:pt x="258508" y="288989"/>
                  </a:cubicBezTo>
                  <a:cubicBezTo>
                    <a:pt x="270129" y="293275"/>
                    <a:pt x="278035" y="304419"/>
                    <a:pt x="278035" y="316801"/>
                  </a:cubicBezTo>
                  <a:cubicBezTo>
                    <a:pt x="278035" y="318516"/>
                    <a:pt x="277844" y="320135"/>
                    <a:pt x="277654" y="321850"/>
                  </a:cubicBezTo>
                  <a:lnTo>
                    <a:pt x="277654" y="322612"/>
                  </a:lnTo>
                  <a:lnTo>
                    <a:pt x="277082" y="322802"/>
                  </a:lnTo>
                  <a:cubicBezTo>
                    <a:pt x="268605" y="328708"/>
                    <a:pt x="258794" y="331851"/>
                    <a:pt x="248507" y="331851"/>
                  </a:cubicBezTo>
                  <a:close/>
                  <a:moveTo>
                    <a:pt x="221933" y="320802"/>
                  </a:moveTo>
                  <a:cubicBezTo>
                    <a:pt x="229743" y="326136"/>
                    <a:pt x="238887" y="328994"/>
                    <a:pt x="248412" y="328994"/>
                  </a:cubicBezTo>
                  <a:cubicBezTo>
                    <a:pt x="257937" y="328994"/>
                    <a:pt x="266986" y="326136"/>
                    <a:pt x="274892" y="320802"/>
                  </a:cubicBezTo>
                  <a:cubicBezTo>
                    <a:pt x="275082" y="319373"/>
                    <a:pt x="275177" y="318135"/>
                    <a:pt x="275177" y="316801"/>
                  </a:cubicBezTo>
                  <a:cubicBezTo>
                    <a:pt x="275177" y="305562"/>
                    <a:pt x="268129" y="295466"/>
                    <a:pt x="257556" y="291656"/>
                  </a:cubicBezTo>
                  <a:cubicBezTo>
                    <a:pt x="255842" y="291084"/>
                    <a:pt x="254603" y="289560"/>
                    <a:pt x="254318" y="287750"/>
                  </a:cubicBezTo>
                  <a:cubicBezTo>
                    <a:pt x="254032" y="286036"/>
                    <a:pt x="254699" y="284226"/>
                    <a:pt x="256032" y="283083"/>
                  </a:cubicBezTo>
                  <a:cubicBezTo>
                    <a:pt x="258890" y="280702"/>
                    <a:pt x="260509" y="277273"/>
                    <a:pt x="260509" y="273653"/>
                  </a:cubicBezTo>
                  <a:cubicBezTo>
                    <a:pt x="260509" y="266891"/>
                    <a:pt x="254984" y="261461"/>
                    <a:pt x="248317" y="261461"/>
                  </a:cubicBezTo>
                  <a:cubicBezTo>
                    <a:pt x="241649" y="261461"/>
                    <a:pt x="236125" y="266986"/>
                    <a:pt x="236125" y="273653"/>
                  </a:cubicBezTo>
                  <a:cubicBezTo>
                    <a:pt x="236125" y="277368"/>
                    <a:pt x="237744" y="280797"/>
                    <a:pt x="240602" y="283083"/>
                  </a:cubicBezTo>
                  <a:cubicBezTo>
                    <a:pt x="242030" y="284226"/>
                    <a:pt x="242697" y="286036"/>
                    <a:pt x="242316" y="287750"/>
                  </a:cubicBezTo>
                  <a:cubicBezTo>
                    <a:pt x="242030" y="289560"/>
                    <a:pt x="240792" y="290989"/>
                    <a:pt x="239173" y="291560"/>
                  </a:cubicBezTo>
                  <a:cubicBezTo>
                    <a:pt x="228695" y="295370"/>
                    <a:pt x="221552" y="305467"/>
                    <a:pt x="221552" y="316706"/>
                  </a:cubicBezTo>
                  <a:cubicBezTo>
                    <a:pt x="221552" y="318135"/>
                    <a:pt x="221552" y="319469"/>
                    <a:pt x="221837" y="320707"/>
                  </a:cubicBezTo>
                  <a:close/>
                  <a:moveTo>
                    <a:pt x="102108" y="331851"/>
                  </a:moveTo>
                  <a:cubicBezTo>
                    <a:pt x="91821" y="331851"/>
                    <a:pt x="81915" y="328708"/>
                    <a:pt x="73533" y="322802"/>
                  </a:cubicBezTo>
                  <a:lnTo>
                    <a:pt x="72962" y="322421"/>
                  </a:lnTo>
                  <a:lnTo>
                    <a:pt x="72962" y="321659"/>
                  </a:lnTo>
                  <a:cubicBezTo>
                    <a:pt x="72676" y="320326"/>
                    <a:pt x="72581" y="318611"/>
                    <a:pt x="72581" y="316801"/>
                  </a:cubicBezTo>
                  <a:cubicBezTo>
                    <a:pt x="72581" y="304419"/>
                    <a:pt x="80391" y="293180"/>
                    <a:pt x="92012" y="288989"/>
                  </a:cubicBezTo>
                  <a:cubicBezTo>
                    <a:pt x="92678" y="288703"/>
                    <a:pt x="93250" y="288131"/>
                    <a:pt x="93345" y="287369"/>
                  </a:cubicBezTo>
                  <a:cubicBezTo>
                    <a:pt x="93440" y="286607"/>
                    <a:pt x="93155" y="285845"/>
                    <a:pt x="92583" y="285369"/>
                  </a:cubicBezTo>
                  <a:cubicBezTo>
                    <a:pt x="89059" y="282512"/>
                    <a:pt x="87059" y="278225"/>
                    <a:pt x="87059" y="273653"/>
                  </a:cubicBezTo>
                  <a:cubicBezTo>
                    <a:pt x="87059" y="265367"/>
                    <a:pt x="93821" y="258604"/>
                    <a:pt x="102108" y="258604"/>
                  </a:cubicBezTo>
                  <a:cubicBezTo>
                    <a:pt x="110395" y="258604"/>
                    <a:pt x="117158" y="265367"/>
                    <a:pt x="117158" y="273653"/>
                  </a:cubicBezTo>
                  <a:cubicBezTo>
                    <a:pt x="117158" y="278225"/>
                    <a:pt x="115157" y="282416"/>
                    <a:pt x="111633" y="285369"/>
                  </a:cubicBezTo>
                  <a:cubicBezTo>
                    <a:pt x="111062" y="285845"/>
                    <a:pt x="110776" y="286607"/>
                    <a:pt x="110871" y="287369"/>
                  </a:cubicBezTo>
                  <a:cubicBezTo>
                    <a:pt x="110966" y="288131"/>
                    <a:pt x="111538" y="288798"/>
                    <a:pt x="112205" y="288989"/>
                  </a:cubicBezTo>
                  <a:cubicBezTo>
                    <a:pt x="123825" y="293275"/>
                    <a:pt x="131731" y="304419"/>
                    <a:pt x="131731" y="316801"/>
                  </a:cubicBezTo>
                  <a:cubicBezTo>
                    <a:pt x="131731" y="318516"/>
                    <a:pt x="131540" y="320135"/>
                    <a:pt x="131350" y="321850"/>
                  </a:cubicBezTo>
                  <a:lnTo>
                    <a:pt x="131350" y="322326"/>
                  </a:lnTo>
                  <a:cubicBezTo>
                    <a:pt x="131350" y="322326"/>
                    <a:pt x="130778" y="322802"/>
                    <a:pt x="130778" y="322802"/>
                  </a:cubicBezTo>
                  <a:cubicBezTo>
                    <a:pt x="122396" y="328708"/>
                    <a:pt x="112490" y="331851"/>
                    <a:pt x="102203" y="331851"/>
                  </a:cubicBezTo>
                  <a:close/>
                  <a:moveTo>
                    <a:pt x="75724" y="320802"/>
                  </a:moveTo>
                  <a:cubicBezTo>
                    <a:pt x="83534" y="326136"/>
                    <a:pt x="92678" y="328994"/>
                    <a:pt x="102203" y="328994"/>
                  </a:cubicBezTo>
                  <a:cubicBezTo>
                    <a:pt x="111728" y="328994"/>
                    <a:pt x="120872" y="326136"/>
                    <a:pt x="128683" y="320802"/>
                  </a:cubicBezTo>
                  <a:cubicBezTo>
                    <a:pt x="128873" y="319469"/>
                    <a:pt x="128969" y="318135"/>
                    <a:pt x="128969" y="316801"/>
                  </a:cubicBezTo>
                  <a:cubicBezTo>
                    <a:pt x="128969" y="305562"/>
                    <a:pt x="121920" y="295466"/>
                    <a:pt x="111347" y="291656"/>
                  </a:cubicBezTo>
                  <a:cubicBezTo>
                    <a:pt x="109633" y="291084"/>
                    <a:pt x="108395" y="289560"/>
                    <a:pt x="108109" y="287846"/>
                  </a:cubicBezTo>
                  <a:cubicBezTo>
                    <a:pt x="107823" y="286131"/>
                    <a:pt x="108490" y="284321"/>
                    <a:pt x="109823" y="283178"/>
                  </a:cubicBezTo>
                  <a:cubicBezTo>
                    <a:pt x="112681" y="280797"/>
                    <a:pt x="114300" y="277368"/>
                    <a:pt x="114300" y="273749"/>
                  </a:cubicBezTo>
                  <a:cubicBezTo>
                    <a:pt x="114300" y="266986"/>
                    <a:pt x="108871" y="261556"/>
                    <a:pt x="102108" y="261556"/>
                  </a:cubicBezTo>
                  <a:cubicBezTo>
                    <a:pt x="95345" y="261556"/>
                    <a:pt x="89916" y="267081"/>
                    <a:pt x="89916" y="273749"/>
                  </a:cubicBezTo>
                  <a:cubicBezTo>
                    <a:pt x="89916" y="277463"/>
                    <a:pt x="91535" y="280892"/>
                    <a:pt x="94393" y="283178"/>
                  </a:cubicBezTo>
                  <a:cubicBezTo>
                    <a:pt x="95822" y="284321"/>
                    <a:pt x="96488" y="286131"/>
                    <a:pt x="96107" y="287846"/>
                  </a:cubicBezTo>
                  <a:cubicBezTo>
                    <a:pt x="95822" y="289655"/>
                    <a:pt x="94583" y="291084"/>
                    <a:pt x="92964" y="291656"/>
                  </a:cubicBezTo>
                  <a:cubicBezTo>
                    <a:pt x="82487" y="295466"/>
                    <a:pt x="75343" y="305562"/>
                    <a:pt x="75343" y="316801"/>
                  </a:cubicBezTo>
                  <a:cubicBezTo>
                    <a:pt x="75343" y="318230"/>
                    <a:pt x="75343" y="319564"/>
                    <a:pt x="75629" y="320802"/>
                  </a:cubicBezTo>
                  <a:close/>
                  <a:moveTo>
                    <a:pt x="214408" y="318611"/>
                  </a:moveTo>
                  <a:lnTo>
                    <a:pt x="212122" y="316135"/>
                  </a:lnTo>
                  <a:cubicBezTo>
                    <a:pt x="203454" y="306896"/>
                    <a:pt x="198596" y="294799"/>
                    <a:pt x="198596" y="282035"/>
                  </a:cubicBezTo>
                  <a:cubicBezTo>
                    <a:pt x="198596" y="254603"/>
                    <a:pt x="220885" y="232315"/>
                    <a:pt x="248317" y="232315"/>
                  </a:cubicBezTo>
                  <a:cubicBezTo>
                    <a:pt x="275749" y="232315"/>
                    <a:pt x="298133" y="254603"/>
                    <a:pt x="298133" y="282035"/>
                  </a:cubicBezTo>
                  <a:cubicBezTo>
                    <a:pt x="298133" y="294704"/>
                    <a:pt x="293370" y="306896"/>
                    <a:pt x="284607" y="316135"/>
                  </a:cubicBezTo>
                  <a:lnTo>
                    <a:pt x="282321" y="318611"/>
                  </a:lnTo>
                  <a:lnTo>
                    <a:pt x="282131" y="315278"/>
                  </a:lnTo>
                  <a:cubicBezTo>
                    <a:pt x="281559" y="303562"/>
                    <a:pt x="274796" y="292703"/>
                    <a:pt x="264414" y="287084"/>
                  </a:cubicBezTo>
                  <a:lnTo>
                    <a:pt x="262985" y="286322"/>
                  </a:lnTo>
                  <a:lnTo>
                    <a:pt x="263938" y="284988"/>
                  </a:lnTo>
                  <a:cubicBezTo>
                    <a:pt x="266319" y="281750"/>
                    <a:pt x="267557" y="277844"/>
                    <a:pt x="267557" y="273653"/>
                  </a:cubicBezTo>
                  <a:cubicBezTo>
                    <a:pt x="267557" y="262985"/>
                    <a:pt x="258890" y="254318"/>
                    <a:pt x="248222" y="254318"/>
                  </a:cubicBezTo>
                  <a:cubicBezTo>
                    <a:pt x="237554" y="254318"/>
                    <a:pt x="228886" y="262985"/>
                    <a:pt x="228886" y="273653"/>
                  </a:cubicBezTo>
                  <a:cubicBezTo>
                    <a:pt x="228886" y="277749"/>
                    <a:pt x="230124" y="281654"/>
                    <a:pt x="232505" y="284988"/>
                  </a:cubicBezTo>
                  <a:lnTo>
                    <a:pt x="233458" y="286322"/>
                  </a:lnTo>
                  <a:lnTo>
                    <a:pt x="232029" y="287084"/>
                  </a:lnTo>
                  <a:cubicBezTo>
                    <a:pt x="221647" y="292703"/>
                    <a:pt x="214884" y="303467"/>
                    <a:pt x="214408" y="315278"/>
                  </a:cubicBezTo>
                  <a:lnTo>
                    <a:pt x="214217" y="318611"/>
                  </a:lnTo>
                  <a:close/>
                  <a:moveTo>
                    <a:pt x="267272" y="285274"/>
                  </a:moveTo>
                  <a:cubicBezTo>
                    <a:pt x="276797" y="290989"/>
                    <a:pt x="283178" y="300800"/>
                    <a:pt x="284702" y="311658"/>
                  </a:cubicBezTo>
                  <a:cubicBezTo>
                    <a:pt x="291560" y="303276"/>
                    <a:pt x="295275" y="292894"/>
                    <a:pt x="295275" y="281940"/>
                  </a:cubicBezTo>
                  <a:cubicBezTo>
                    <a:pt x="295275" y="256032"/>
                    <a:pt x="274225" y="235077"/>
                    <a:pt x="248412" y="235077"/>
                  </a:cubicBezTo>
                  <a:cubicBezTo>
                    <a:pt x="222599" y="235077"/>
                    <a:pt x="201549" y="256127"/>
                    <a:pt x="201549" y="281940"/>
                  </a:cubicBezTo>
                  <a:cubicBezTo>
                    <a:pt x="201549" y="292799"/>
                    <a:pt x="205264" y="303276"/>
                    <a:pt x="212122" y="311658"/>
                  </a:cubicBezTo>
                  <a:cubicBezTo>
                    <a:pt x="213646" y="300800"/>
                    <a:pt x="220123" y="290989"/>
                    <a:pt x="229648" y="285274"/>
                  </a:cubicBezTo>
                  <a:cubicBezTo>
                    <a:pt x="227457" y="281750"/>
                    <a:pt x="226314" y="277749"/>
                    <a:pt x="226314" y="273653"/>
                  </a:cubicBezTo>
                  <a:cubicBezTo>
                    <a:pt x="226314" y="261461"/>
                    <a:pt x="236220" y="251460"/>
                    <a:pt x="248507" y="251460"/>
                  </a:cubicBezTo>
                  <a:cubicBezTo>
                    <a:pt x="260795" y="251460"/>
                    <a:pt x="270701" y="261366"/>
                    <a:pt x="270701" y="273653"/>
                  </a:cubicBezTo>
                  <a:cubicBezTo>
                    <a:pt x="270701" y="277844"/>
                    <a:pt x="269558" y="281845"/>
                    <a:pt x="267367" y="285274"/>
                  </a:cubicBezTo>
                  <a:close/>
                  <a:moveTo>
                    <a:pt x="136112" y="318611"/>
                  </a:moveTo>
                  <a:lnTo>
                    <a:pt x="135922" y="315278"/>
                  </a:lnTo>
                  <a:cubicBezTo>
                    <a:pt x="135350" y="303562"/>
                    <a:pt x="128588" y="292703"/>
                    <a:pt x="118301" y="287084"/>
                  </a:cubicBezTo>
                  <a:lnTo>
                    <a:pt x="116872" y="286322"/>
                  </a:lnTo>
                  <a:lnTo>
                    <a:pt x="117824" y="284988"/>
                  </a:lnTo>
                  <a:cubicBezTo>
                    <a:pt x="120206" y="281654"/>
                    <a:pt x="121444" y="277749"/>
                    <a:pt x="121444" y="273653"/>
                  </a:cubicBezTo>
                  <a:cubicBezTo>
                    <a:pt x="121444" y="262985"/>
                    <a:pt x="112776" y="254318"/>
                    <a:pt x="102108" y="254318"/>
                  </a:cubicBezTo>
                  <a:cubicBezTo>
                    <a:pt x="91440" y="254318"/>
                    <a:pt x="82772" y="262985"/>
                    <a:pt x="82772" y="273653"/>
                  </a:cubicBezTo>
                  <a:cubicBezTo>
                    <a:pt x="82772" y="277749"/>
                    <a:pt x="84011" y="281654"/>
                    <a:pt x="86392" y="284988"/>
                  </a:cubicBezTo>
                  <a:lnTo>
                    <a:pt x="87344" y="286322"/>
                  </a:lnTo>
                  <a:lnTo>
                    <a:pt x="85916" y="287084"/>
                  </a:lnTo>
                  <a:cubicBezTo>
                    <a:pt x="75533" y="292703"/>
                    <a:pt x="68771" y="303467"/>
                    <a:pt x="68199" y="315278"/>
                  </a:cubicBezTo>
                  <a:lnTo>
                    <a:pt x="68009" y="318611"/>
                  </a:lnTo>
                  <a:lnTo>
                    <a:pt x="65723" y="316135"/>
                  </a:lnTo>
                  <a:cubicBezTo>
                    <a:pt x="57055" y="306896"/>
                    <a:pt x="52197" y="294799"/>
                    <a:pt x="52197" y="282035"/>
                  </a:cubicBezTo>
                  <a:cubicBezTo>
                    <a:pt x="52197" y="254603"/>
                    <a:pt x="74486" y="232315"/>
                    <a:pt x="101917" y="232315"/>
                  </a:cubicBezTo>
                  <a:cubicBezTo>
                    <a:pt x="129350" y="232315"/>
                    <a:pt x="151638" y="254603"/>
                    <a:pt x="151638" y="282035"/>
                  </a:cubicBezTo>
                  <a:cubicBezTo>
                    <a:pt x="151638" y="294704"/>
                    <a:pt x="146876" y="306896"/>
                    <a:pt x="138113" y="316135"/>
                  </a:cubicBezTo>
                  <a:lnTo>
                    <a:pt x="135827" y="318611"/>
                  </a:lnTo>
                  <a:close/>
                  <a:moveTo>
                    <a:pt x="102108" y="235077"/>
                  </a:moveTo>
                  <a:cubicBezTo>
                    <a:pt x="76295" y="235077"/>
                    <a:pt x="55245" y="256127"/>
                    <a:pt x="55245" y="281940"/>
                  </a:cubicBezTo>
                  <a:cubicBezTo>
                    <a:pt x="55245" y="292799"/>
                    <a:pt x="58960" y="303276"/>
                    <a:pt x="65818" y="311658"/>
                  </a:cubicBezTo>
                  <a:cubicBezTo>
                    <a:pt x="67342" y="300800"/>
                    <a:pt x="73819" y="290989"/>
                    <a:pt x="83344" y="285274"/>
                  </a:cubicBezTo>
                  <a:cubicBezTo>
                    <a:pt x="81153" y="281750"/>
                    <a:pt x="80010" y="277749"/>
                    <a:pt x="80010" y="273653"/>
                  </a:cubicBezTo>
                  <a:cubicBezTo>
                    <a:pt x="80010" y="261461"/>
                    <a:pt x="89916" y="251460"/>
                    <a:pt x="102203" y="251460"/>
                  </a:cubicBezTo>
                  <a:cubicBezTo>
                    <a:pt x="114491" y="251460"/>
                    <a:pt x="124397" y="261366"/>
                    <a:pt x="124397" y="273653"/>
                  </a:cubicBezTo>
                  <a:cubicBezTo>
                    <a:pt x="124397" y="277844"/>
                    <a:pt x="123254" y="281845"/>
                    <a:pt x="121063" y="285274"/>
                  </a:cubicBezTo>
                  <a:cubicBezTo>
                    <a:pt x="130588" y="290989"/>
                    <a:pt x="136970" y="300800"/>
                    <a:pt x="138589" y="311658"/>
                  </a:cubicBezTo>
                  <a:cubicBezTo>
                    <a:pt x="145447" y="303276"/>
                    <a:pt x="149162" y="292894"/>
                    <a:pt x="149162" y="281940"/>
                  </a:cubicBezTo>
                  <a:cubicBezTo>
                    <a:pt x="149162" y="256032"/>
                    <a:pt x="128111" y="235077"/>
                    <a:pt x="102298" y="235077"/>
                  </a:cubicBezTo>
                  <a:close/>
                  <a:moveTo>
                    <a:pt x="194405" y="279940"/>
                  </a:moveTo>
                  <a:lnTo>
                    <a:pt x="156115" y="279940"/>
                  </a:lnTo>
                  <a:lnTo>
                    <a:pt x="156115" y="278606"/>
                  </a:lnTo>
                  <a:cubicBezTo>
                    <a:pt x="154210" y="250222"/>
                    <a:pt x="130588" y="228029"/>
                    <a:pt x="102108" y="228029"/>
                  </a:cubicBezTo>
                  <a:cubicBezTo>
                    <a:pt x="97536" y="228029"/>
                    <a:pt x="93059" y="228600"/>
                    <a:pt x="88773" y="229648"/>
                  </a:cubicBezTo>
                  <a:lnTo>
                    <a:pt x="87440" y="229934"/>
                  </a:lnTo>
                  <a:lnTo>
                    <a:pt x="75629" y="193453"/>
                  </a:lnTo>
                  <a:lnTo>
                    <a:pt x="76867" y="192977"/>
                  </a:lnTo>
                  <a:cubicBezTo>
                    <a:pt x="97536" y="184690"/>
                    <a:pt x="110966" y="165068"/>
                    <a:pt x="110966" y="142780"/>
                  </a:cubicBezTo>
                  <a:cubicBezTo>
                    <a:pt x="110966" y="132493"/>
                    <a:pt x="108109" y="122492"/>
                    <a:pt x="102584" y="113919"/>
                  </a:cubicBezTo>
                  <a:lnTo>
                    <a:pt x="101822" y="112776"/>
                  </a:lnTo>
                  <a:lnTo>
                    <a:pt x="132779" y="90202"/>
                  </a:lnTo>
                  <a:lnTo>
                    <a:pt x="133636" y="91250"/>
                  </a:lnTo>
                  <a:cubicBezTo>
                    <a:pt x="143923" y="103632"/>
                    <a:pt x="159068" y="110776"/>
                    <a:pt x="175165" y="110776"/>
                  </a:cubicBezTo>
                  <a:cubicBezTo>
                    <a:pt x="191262" y="110776"/>
                    <a:pt x="206407" y="103632"/>
                    <a:pt x="216694" y="91250"/>
                  </a:cubicBezTo>
                  <a:lnTo>
                    <a:pt x="217551" y="90202"/>
                  </a:lnTo>
                  <a:lnTo>
                    <a:pt x="248507" y="112776"/>
                  </a:lnTo>
                  <a:lnTo>
                    <a:pt x="247745" y="113919"/>
                  </a:lnTo>
                  <a:cubicBezTo>
                    <a:pt x="242316" y="122587"/>
                    <a:pt x="239363" y="132493"/>
                    <a:pt x="239363" y="142780"/>
                  </a:cubicBezTo>
                  <a:cubicBezTo>
                    <a:pt x="239363" y="165068"/>
                    <a:pt x="252698" y="184690"/>
                    <a:pt x="273368" y="192977"/>
                  </a:cubicBezTo>
                  <a:lnTo>
                    <a:pt x="274606" y="193453"/>
                  </a:lnTo>
                  <a:lnTo>
                    <a:pt x="262795" y="229934"/>
                  </a:lnTo>
                  <a:lnTo>
                    <a:pt x="261461" y="229648"/>
                  </a:lnTo>
                  <a:cubicBezTo>
                    <a:pt x="257080" y="228505"/>
                    <a:pt x="252603" y="228029"/>
                    <a:pt x="248031" y="228029"/>
                  </a:cubicBezTo>
                  <a:cubicBezTo>
                    <a:pt x="219647" y="228029"/>
                    <a:pt x="195929" y="250222"/>
                    <a:pt x="194120" y="278606"/>
                  </a:cubicBezTo>
                  <a:lnTo>
                    <a:pt x="194120" y="279940"/>
                  </a:lnTo>
                  <a:close/>
                  <a:moveTo>
                    <a:pt x="158782" y="277082"/>
                  </a:moveTo>
                  <a:lnTo>
                    <a:pt x="191738" y="277082"/>
                  </a:lnTo>
                  <a:cubicBezTo>
                    <a:pt x="194310" y="247841"/>
                    <a:pt x="218885" y="225171"/>
                    <a:pt x="248412" y="225171"/>
                  </a:cubicBezTo>
                  <a:cubicBezTo>
                    <a:pt x="252698" y="225171"/>
                    <a:pt x="256985" y="225647"/>
                    <a:pt x="261176" y="226600"/>
                  </a:cubicBezTo>
                  <a:lnTo>
                    <a:pt x="271367" y="195263"/>
                  </a:lnTo>
                  <a:cubicBezTo>
                    <a:pt x="250317" y="186309"/>
                    <a:pt x="236792" y="165926"/>
                    <a:pt x="236792" y="142875"/>
                  </a:cubicBezTo>
                  <a:cubicBezTo>
                    <a:pt x="236792" y="132493"/>
                    <a:pt x="239554" y="122396"/>
                    <a:pt x="244888" y="113633"/>
                  </a:cubicBezTo>
                  <a:lnTo>
                    <a:pt x="218218" y="94202"/>
                  </a:lnTo>
                  <a:cubicBezTo>
                    <a:pt x="207359" y="106680"/>
                    <a:pt x="191833" y="113728"/>
                    <a:pt x="175355" y="113728"/>
                  </a:cubicBezTo>
                  <a:cubicBezTo>
                    <a:pt x="158877" y="113728"/>
                    <a:pt x="143256" y="106585"/>
                    <a:pt x="132493" y="94202"/>
                  </a:cubicBezTo>
                  <a:lnTo>
                    <a:pt x="105823" y="113633"/>
                  </a:lnTo>
                  <a:cubicBezTo>
                    <a:pt x="111157" y="122396"/>
                    <a:pt x="113919" y="132493"/>
                    <a:pt x="113919" y="142875"/>
                  </a:cubicBezTo>
                  <a:cubicBezTo>
                    <a:pt x="113919" y="165830"/>
                    <a:pt x="100394" y="186214"/>
                    <a:pt x="79343" y="195263"/>
                  </a:cubicBezTo>
                  <a:lnTo>
                    <a:pt x="89535" y="226600"/>
                  </a:lnTo>
                  <a:cubicBezTo>
                    <a:pt x="93726" y="225647"/>
                    <a:pt x="98012" y="225171"/>
                    <a:pt x="102298" y="225171"/>
                  </a:cubicBezTo>
                  <a:cubicBezTo>
                    <a:pt x="131826" y="225171"/>
                    <a:pt x="156401" y="247841"/>
                    <a:pt x="158972" y="277082"/>
                  </a:cubicBezTo>
                  <a:close/>
                  <a:moveTo>
                    <a:pt x="293561" y="192596"/>
                  </a:moveTo>
                  <a:cubicBezTo>
                    <a:pt x="283274" y="192596"/>
                    <a:pt x="273368" y="189452"/>
                    <a:pt x="264986" y="183547"/>
                  </a:cubicBezTo>
                  <a:lnTo>
                    <a:pt x="264509" y="183166"/>
                  </a:lnTo>
                  <a:lnTo>
                    <a:pt x="264509" y="182594"/>
                  </a:lnTo>
                  <a:cubicBezTo>
                    <a:pt x="264128" y="180975"/>
                    <a:pt x="263938" y="179261"/>
                    <a:pt x="263938" y="177546"/>
                  </a:cubicBezTo>
                  <a:cubicBezTo>
                    <a:pt x="263938" y="165164"/>
                    <a:pt x="271748" y="153924"/>
                    <a:pt x="283464" y="149733"/>
                  </a:cubicBezTo>
                  <a:cubicBezTo>
                    <a:pt x="284131" y="149447"/>
                    <a:pt x="284702" y="148876"/>
                    <a:pt x="284798" y="148114"/>
                  </a:cubicBezTo>
                  <a:cubicBezTo>
                    <a:pt x="284893" y="147352"/>
                    <a:pt x="284607" y="146590"/>
                    <a:pt x="284036" y="146114"/>
                  </a:cubicBezTo>
                  <a:cubicBezTo>
                    <a:pt x="280511" y="143256"/>
                    <a:pt x="278511" y="138970"/>
                    <a:pt x="278511" y="134398"/>
                  </a:cubicBezTo>
                  <a:cubicBezTo>
                    <a:pt x="278511" y="126111"/>
                    <a:pt x="285274" y="119348"/>
                    <a:pt x="293561" y="119348"/>
                  </a:cubicBezTo>
                  <a:cubicBezTo>
                    <a:pt x="301847" y="119348"/>
                    <a:pt x="308610" y="126111"/>
                    <a:pt x="308610" y="134398"/>
                  </a:cubicBezTo>
                  <a:cubicBezTo>
                    <a:pt x="308610" y="138970"/>
                    <a:pt x="306610" y="143256"/>
                    <a:pt x="303086" y="146114"/>
                  </a:cubicBezTo>
                  <a:cubicBezTo>
                    <a:pt x="302514" y="146590"/>
                    <a:pt x="302228" y="147352"/>
                    <a:pt x="302324" y="148114"/>
                  </a:cubicBezTo>
                  <a:cubicBezTo>
                    <a:pt x="302419" y="148876"/>
                    <a:pt x="302990" y="149447"/>
                    <a:pt x="303752" y="149733"/>
                  </a:cubicBezTo>
                  <a:cubicBezTo>
                    <a:pt x="315373" y="154019"/>
                    <a:pt x="323183" y="165164"/>
                    <a:pt x="323183" y="177546"/>
                  </a:cubicBezTo>
                  <a:cubicBezTo>
                    <a:pt x="323183" y="179261"/>
                    <a:pt x="322993" y="180975"/>
                    <a:pt x="322707" y="182594"/>
                  </a:cubicBezTo>
                  <a:lnTo>
                    <a:pt x="322707" y="183166"/>
                  </a:lnTo>
                  <a:cubicBezTo>
                    <a:pt x="322707" y="183166"/>
                    <a:pt x="322136" y="183547"/>
                    <a:pt x="322136" y="183547"/>
                  </a:cubicBezTo>
                  <a:cubicBezTo>
                    <a:pt x="313754" y="189452"/>
                    <a:pt x="303848" y="192596"/>
                    <a:pt x="293561" y="192596"/>
                  </a:cubicBezTo>
                  <a:close/>
                  <a:moveTo>
                    <a:pt x="267176" y="181642"/>
                  </a:moveTo>
                  <a:cubicBezTo>
                    <a:pt x="274987" y="186976"/>
                    <a:pt x="284131" y="189833"/>
                    <a:pt x="293656" y="189833"/>
                  </a:cubicBezTo>
                  <a:cubicBezTo>
                    <a:pt x="303181" y="189833"/>
                    <a:pt x="312325" y="186976"/>
                    <a:pt x="320135" y="181642"/>
                  </a:cubicBezTo>
                  <a:cubicBezTo>
                    <a:pt x="320326" y="180404"/>
                    <a:pt x="320421" y="179070"/>
                    <a:pt x="320421" y="177641"/>
                  </a:cubicBezTo>
                  <a:cubicBezTo>
                    <a:pt x="320421" y="166402"/>
                    <a:pt x="313373" y="156305"/>
                    <a:pt x="302800" y="152495"/>
                  </a:cubicBezTo>
                  <a:cubicBezTo>
                    <a:pt x="301085" y="151829"/>
                    <a:pt x="299847" y="150400"/>
                    <a:pt x="299561" y="148685"/>
                  </a:cubicBezTo>
                  <a:cubicBezTo>
                    <a:pt x="299276" y="146876"/>
                    <a:pt x="299942" y="145161"/>
                    <a:pt x="301276" y="144018"/>
                  </a:cubicBezTo>
                  <a:cubicBezTo>
                    <a:pt x="304133" y="141637"/>
                    <a:pt x="305753" y="138208"/>
                    <a:pt x="305753" y="134493"/>
                  </a:cubicBezTo>
                  <a:cubicBezTo>
                    <a:pt x="305753" y="127730"/>
                    <a:pt x="300323" y="122301"/>
                    <a:pt x="293561" y="122301"/>
                  </a:cubicBezTo>
                  <a:cubicBezTo>
                    <a:pt x="286798" y="122301"/>
                    <a:pt x="281369" y="127730"/>
                    <a:pt x="281369" y="134493"/>
                  </a:cubicBezTo>
                  <a:cubicBezTo>
                    <a:pt x="281369" y="138208"/>
                    <a:pt x="282988" y="141637"/>
                    <a:pt x="285845" y="144018"/>
                  </a:cubicBezTo>
                  <a:cubicBezTo>
                    <a:pt x="287274" y="145161"/>
                    <a:pt x="287941" y="146971"/>
                    <a:pt x="287560" y="148685"/>
                  </a:cubicBezTo>
                  <a:cubicBezTo>
                    <a:pt x="287274" y="150400"/>
                    <a:pt x="286036" y="151924"/>
                    <a:pt x="284417" y="152495"/>
                  </a:cubicBezTo>
                  <a:cubicBezTo>
                    <a:pt x="273844" y="156305"/>
                    <a:pt x="266795" y="166402"/>
                    <a:pt x="266795" y="177641"/>
                  </a:cubicBezTo>
                  <a:cubicBezTo>
                    <a:pt x="266795" y="178975"/>
                    <a:pt x="266891" y="180308"/>
                    <a:pt x="267081" y="181642"/>
                  </a:cubicBezTo>
                  <a:close/>
                  <a:moveTo>
                    <a:pt x="56959" y="192596"/>
                  </a:moveTo>
                  <a:cubicBezTo>
                    <a:pt x="46768" y="192596"/>
                    <a:pt x="37052" y="189548"/>
                    <a:pt x="28766" y="183833"/>
                  </a:cubicBezTo>
                  <a:lnTo>
                    <a:pt x="28480" y="183642"/>
                  </a:lnTo>
                  <a:lnTo>
                    <a:pt x="28099" y="182785"/>
                  </a:lnTo>
                  <a:cubicBezTo>
                    <a:pt x="27813" y="181070"/>
                    <a:pt x="27623" y="179451"/>
                    <a:pt x="27623" y="177641"/>
                  </a:cubicBezTo>
                  <a:cubicBezTo>
                    <a:pt x="27623" y="165259"/>
                    <a:pt x="35433" y="154019"/>
                    <a:pt x="47054" y="149828"/>
                  </a:cubicBezTo>
                  <a:cubicBezTo>
                    <a:pt x="47720" y="149543"/>
                    <a:pt x="48292" y="148971"/>
                    <a:pt x="48387" y="148209"/>
                  </a:cubicBezTo>
                  <a:cubicBezTo>
                    <a:pt x="48482" y="147447"/>
                    <a:pt x="48197" y="146685"/>
                    <a:pt x="47625" y="146209"/>
                  </a:cubicBezTo>
                  <a:cubicBezTo>
                    <a:pt x="44101" y="143351"/>
                    <a:pt x="42101" y="139065"/>
                    <a:pt x="42101" y="134493"/>
                  </a:cubicBezTo>
                  <a:cubicBezTo>
                    <a:pt x="42101" y="126206"/>
                    <a:pt x="48863" y="119444"/>
                    <a:pt x="57150" y="119444"/>
                  </a:cubicBezTo>
                  <a:cubicBezTo>
                    <a:pt x="65437" y="119444"/>
                    <a:pt x="72200" y="126206"/>
                    <a:pt x="72200" y="134493"/>
                  </a:cubicBezTo>
                  <a:cubicBezTo>
                    <a:pt x="72200" y="139065"/>
                    <a:pt x="70199" y="143351"/>
                    <a:pt x="66675" y="146209"/>
                  </a:cubicBezTo>
                  <a:cubicBezTo>
                    <a:pt x="66104" y="146685"/>
                    <a:pt x="65818" y="147447"/>
                    <a:pt x="65913" y="148209"/>
                  </a:cubicBezTo>
                  <a:cubicBezTo>
                    <a:pt x="66008" y="148971"/>
                    <a:pt x="66580" y="149543"/>
                    <a:pt x="67342" y="149828"/>
                  </a:cubicBezTo>
                  <a:cubicBezTo>
                    <a:pt x="78962" y="154115"/>
                    <a:pt x="86773" y="165259"/>
                    <a:pt x="86773" y="177641"/>
                  </a:cubicBezTo>
                  <a:cubicBezTo>
                    <a:pt x="86773" y="179356"/>
                    <a:pt x="86678" y="180975"/>
                    <a:pt x="86392" y="182499"/>
                  </a:cubicBezTo>
                  <a:lnTo>
                    <a:pt x="86392" y="183071"/>
                  </a:lnTo>
                  <a:cubicBezTo>
                    <a:pt x="86392" y="183071"/>
                    <a:pt x="85820" y="183452"/>
                    <a:pt x="85820" y="183452"/>
                  </a:cubicBezTo>
                  <a:cubicBezTo>
                    <a:pt x="77343" y="189452"/>
                    <a:pt x="67437" y="192691"/>
                    <a:pt x="56959" y="192691"/>
                  </a:cubicBezTo>
                  <a:close/>
                  <a:moveTo>
                    <a:pt x="30766" y="181832"/>
                  </a:moveTo>
                  <a:cubicBezTo>
                    <a:pt x="38481" y="187071"/>
                    <a:pt x="47530" y="189833"/>
                    <a:pt x="56959" y="189833"/>
                  </a:cubicBezTo>
                  <a:cubicBezTo>
                    <a:pt x="66389" y="189833"/>
                    <a:pt x="75819" y="186976"/>
                    <a:pt x="83725" y="181451"/>
                  </a:cubicBezTo>
                  <a:cubicBezTo>
                    <a:pt x="83915" y="180213"/>
                    <a:pt x="84011" y="178975"/>
                    <a:pt x="84011" y="177641"/>
                  </a:cubicBezTo>
                  <a:cubicBezTo>
                    <a:pt x="84011" y="166402"/>
                    <a:pt x="76962" y="156305"/>
                    <a:pt x="66389" y="152495"/>
                  </a:cubicBezTo>
                  <a:cubicBezTo>
                    <a:pt x="64675" y="151829"/>
                    <a:pt x="63532" y="150400"/>
                    <a:pt x="63151" y="148685"/>
                  </a:cubicBezTo>
                  <a:cubicBezTo>
                    <a:pt x="62865" y="146971"/>
                    <a:pt x="63532" y="145161"/>
                    <a:pt x="64865" y="144018"/>
                  </a:cubicBezTo>
                  <a:cubicBezTo>
                    <a:pt x="67723" y="141637"/>
                    <a:pt x="69342" y="138208"/>
                    <a:pt x="69342" y="134493"/>
                  </a:cubicBezTo>
                  <a:cubicBezTo>
                    <a:pt x="69342" y="127730"/>
                    <a:pt x="63818" y="122301"/>
                    <a:pt x="57150" y="122301"/>
                  </a:cubicBezTo>
                  <a:cubicBezTo>
                    <a:pt x="50483" y="122301"/>
                    <a:pt x="44958" y="127730"/>
                    <a:pt x="44958" y="134493"/>
                  </a:cubicBezTo>
                  <a:cubicBezTo>
                    <a:pt x="44958" y="138208"/>
                    <a:pt x="46577" y="141637"/>
                    <a:pt x="49435" y="144018"/>
                  </a:cubicBezTo>
                  <a:cubicBezTo>
                    <a:pt x="50864" y="145161"/>
                    <a:pt x="51530" y="146971"/>
                    <a:pt x="51149" y="148685"/>
                  </a:cubicBezTo>
                  <a:cubicBezTo>
                    <a:pt x="50864" y="150400"/>
                    <a:pt x="49625" y="151924"/>
                    <a:pt x="48006" y="152495"/>
                  </a:cubicBezTo>
                  <a:cubicBezTo>
                    <a:pt x="37433" y="156305"/>
                    <a:pt x="30385" y="166402"/>
                    <a:pt x="30385" y="177641"/>
                  </a:cubicBezTo>
                  <a:cubicBezTo>
                    <a:pt x="30385" y="179165"/>
                    <a:pt x="30480" y="180499"/>
                    <a:pt x="30671" y="181832"/>
                  </a:cubicBezTo>
                  <a:close/>
                  <a:moveTo>
                    <a:pt x="23241" y="179642"/>
                  </a:moveTo>
                  <a:lnTo>
                    <a:pt x="20955" y="177165"/>
                  </a:lnTo>
                  <a:cubicBezTo>
                    <a:pt x="12097" y="167831"/>
                    <a:pt x="7239" y="155734"/>
                    <a:pt x="7239" y="142875"/>
                  </a:cubicBezTo>
                  <a:cubicBezTo>
                    <a:pt x="7239" y="115443"/>
                    <a:pt x="29528" y="93059"/>
                    <a:pt x="56959" y="93059"/>
                  </a:cubicBezTo>
                  <a:cubicBezTo>
                    <a:pt x="84392" y="93059"/>
                    <a:pt x="106775" y="115348"/>
                    <a:pt x="106775" y="142875"/>
                  </a:cubicBezTo>
                  <a:cubicBezTo>
                    <a:pt x="106775" y="155448"/>
                    <a:pt x="102013" y="167450"/>
                    <a:pt x="93536" y="176689"/>
                  </a:cubicBezTo>
                  <a:lnTo>
                    <a:pt x="91250" y="179165"/>
                  </a:lnTo>
                  <a:lnTo>
                    <a:pt x="91059" y="175831"/>
                  </a:lnTo>
                  <a:cubicBezTo>
                    <a:pt x="90392" y="164021"/>
                    <a:pt x="83820" y="153543"/>
                    <a:pt x="73343" y="147923"/>
                  </a:cubicBezTo>
                  <a:lnTo>
                    <a:pt x="71914" y="147161"/>
                  </a:lnTo>
                  <a:lnTo>
                    <a:pt x="72866" y="145828"/>
                  </a:lnTo>
                  <a:cubicBezTo>
                    <a:pt x="75248" y="142589"/>
                    <a:pt x="76486" y="138684"/>
                    <a:pt x="76486" y="134493"/>
                  </a:cubicBezTo>
                  <a:cubicBezTo>
                    <a:pt x="76486" y="123825"/>
                    <a:pt x="67818" y="115253"/>
                    <a:pt x="57150" y="115253"/>
                  </a:cubicBezTo>
                  <a:cubicBezTo>
                    <a:pt x="46482" y="115253"/>
                    <a:pt x="37814" y="123920"/>
                    <a:pt x="37814" y="134493"/>
                  </a:cubicBezTo>
                  <a:cubicBezTo>
                    <a:pt x="37814" y="138589"/>
                    <a:pt x="39053" y="142494"/>
                    <a:pt x="41434" y="145828"/>
                  </a:cubicBezTo>
                  <a:lnTo>
                    <a:pt x="42386" y="147161"/>
                  </a:lnTo>
                  <a:lnTo>
                    <a:pt x="40958" y="147923"/>
                  </a:lnTo>
                  <a:cubicBezTo>
                    <a:pt x="30480" y="153638"/>
                    <a:pt x="23717" y="164497"/>
                    <a:pt x="23241" y="176308"/>
                  </a:cubicBezTo>
                  <a:lnTo>
                    <a:pt x="23241" y="179642"/>
                  </a:lnTo>
                  <a:close/>
                  <a:moveTo>
                    <a:pt x="56959" y="95917"/>
                  </a:moveTo>
                  <a:cubicBezTo>
                    <a:pt x="31147" y="95917"/>
                    <a:pt x="10097" y="116967"/>
                    <a:pt x="10097" y="142875"/>
                  </a:cubicBezTo>
                  <a:cubicBezTo>
                    <a:pt x="10097" y="153829"/>
                    <a:pt x="13907" y="164402"/>
                    <a:pt x="20860" y="172784"/>
                  </a:cubicBezTo>
                  <a:cubicBezTo>
                    <a:pt x="22289" y="161830"/>
                    <a:pt x="28766" y="151924"/>
                    <a:pt x="38386" y="146114"/>
                  </a:cubicBezTo>
                  <a:cubicBezTo>
                    <a:pt x="36195" y="142589"/>
                    <a:pt x="35052" y="138589"/>
                    <a:pt x="35052" y="134493"/>
                  </a:cubicBezTo>
                  <a:cubicBezTo>
                    <a:pt x="35052" y="122301"/>
                    <a:pt x="44958" y="112395"/>
                    <a:pt x="57245" y="112395"/>
                  </a:cubicBezTo>
                  <a:cubicBezTo>
                    <a:pt x="69533" y="112395"/>
                    <a:pt x="79439" y="122301"/>
                    <a:pt x="79439" y="134493"/>
                  </a:cubicBezTo>
                  <a:cubicBezTo>
                    <a:pt x="79439" y="138684"/>
                    <a:pt x="78296" y="142685"/>
                    <a:pt x="76105" y="146114"/>
                  </a:cubicBezTo>
                  <a:cubicBezTo>
                    <a:pt x="85630" y="151829"/>
                    <a:pt x="92012" y="161354"/>
                    <a:pt x="93536" y="172212"/>
                  </a:cubicBezTo>
                  <a:cubicBezTo>
                    <a:pt x="100203" y="163925"/>
                    <a:pt x="103918" y="153543"/>
                    <a:pt x="103918" y="142780"/>
                  </a:cubicBezTo>
                  <a:cubicBezTo>
                    <a:pt x="103918" y="116872"/>
                    <a:pt x="82867" y="95822"/>
                    <a:pt x="57055" y="95822"/>
                  </a:cubicBezTo>
                  <a:close/>
                  <a:moveTo>
                    <a:pt x="327565" y="179356"/>
                  </a:moveTo>
                  <a:lnTo>
                    <a:pt x="327374" y="176022"/>
                  </a:lnTo>
                  <a:cubicBezTo>
                    <a:pt x="326803" y="164306"/>
                    <a:pt x="320040" y="153543"/>
                    <a:pt x="309658" y="147828"/>
                  </a:cubicBezTo>
                  <a:lnTo>
                    <a:pt x="308229" y="147066"/>
                  </a:lnTo>
                  <a:lnTo>
                    <a:pt x="309182" y="145733"/>
                  </a:lnTo>
                  <a:cubicBezTo>
                    <a:pt x="311563" y="142399"/>
                    <a:pt x="312801" y="138494"/>
                    <a:pt x="312801" y="134398"/>
                  </a:cubicBezTo>
                  <a:cubicBezTo>
                    <a:pt x="312801" y="123730"/>
                    <a:pt x="304133" y="115157"/>
                    <a:pt x="293465" y="115157"/>
                  </a:cubicBezTo>
                  <a:cubicBezTo>
                    <a:pt x="282797" y="115157"/>
                    <a:pt x="274130" y="123825"/>
                    <a:pt x="274130" y="134398"/>
                  </a:cubicBezTo>
                  <a:cubicBezTo>
                    <a:pt x="274130" y="138494"/>
                    <a:pt x="275368" y="142399"/>
                    <a:pt x="277749" y="145733"/>
                  </a:cubicBezTo>
                  <a:lnTo>
                    <a:pt x="278702" y="147066"/>
                  </a:lnTo>
                  <a:lnTo>
                    <a:pt x="277273" y="147828"/>
                  </a:lnTo>
                  <a:cubicBezTo>
                    <a:pt x="266891" y="153448"/>
                    <a:pt x="260128" y="164306"/>
                    <a:pt x="259556" y="176022"/>
                  </a:cubicBezTo>
                  <a:lnTo>
                    <a:pt x="259366" y="179356"/>
                  </a:lnTo>
                  <a:lnTo>
                    <a:pt x="257080" y="176879"/>
                  </a:lnTo>
                  <a:cubicBezTo>
                    <a:pt x="248412" y="167640"/>
                    <a:pt x="243554" y="155543"/>
                    <a:pt x="243554" y="142780"/>
                  </a:cubicBezTo>
                  <a:cubicBezTo>
                    <a:pt x="243554" y="115348"/>
                    <a:pt x="265843" y="92964"/>
                    <a:pt x="293275" y="92964"/>
                  </a:cubicBezTo>
                  <a:cubicBezTo>
                    <a:pt x="320707" y="92964"/>
                    <a:pt x="343090" y="115253"/>
                    <a:pt x="343090" y="142780"/>
                  </a:cubicBezTo>
                  <a:cubicBezTo>
                    <a:pt x="343090" y="155448"/>
                    <a:pt x="338328" y="167545"/>
                    <a:pt x="329565" y="176879"/>
                  </a:cubicBezTo>
                  <a:lnTo>
                    <a:pt x="327279" y="179356"/>
                  </a:lnTo>
                  <a:close/>
                  <a:moveTo>
                    <a:pt x="312420" y="146114"/>
                  </a:moveTo>
                  <a:cubicBezTo>
                    <a:pt x="321945" y="151829"/>
                    <a:pt x="328327" y="161639"/>
                    <a:pt x="329946" y="172498"/>
                  </a:cubicBezTo>
                  <a:cubicBezTo>
                    <a:pt x="336804" y="164116"/>
                    <a:pt x="340519" y="153734"/>
                    <a:pt x="340519" y="142875"/>
                  </a:cubicBezTo>
                  <a:cubicBezTo>
                    <a:pt x="340519" y="116967"/>
                    <a:pt x="319469" y="95917"/>
                    <a:pt x="293656" y="95917"/>
                  </a:cubicBezTo>
                  <a:cubicBezTo>
                    <a:pt x="267843" y="95917"/>
                    <a:pt x="246793" y="116967"/>
                    <a:pt x="246793" y="142875"/>
                  </a:cubicBezTo>
                  <a:cubicBezTo>
                    <a:pt x="246793" y="153734"/>
                    <a:pt x="250508" y="164211"/>
                    <a:pt x="257366" y="172498"/>
                  </a:cubicBezTo>
                  <a:cubicBezTo>
                    <a:pt x="258890" y="161639"/>
                    <a:pt x="265367" y="151829"/>
                    <a:pt x="274796" y="146114"/>
                  </a:cubicBezTo>
                  <a:cubicBezTo>
                    <a:pt x="272606" y="142589"/>
                    <a:pt x="271463" y="138589"/>
                    <a:pt x="271463" y="134493"/>
                  </a:cubicBezTo>
                  <a:cubicBezTo>
                    <a:pt x="271463" y="122301"/>
                    <a:pt x="281369" y="112395"/>
                    <a:pt x="293656" y="112395"/>
                  </a:cubicBezTo>
                  <a:cubicBezTo>
                    <a:pt x="305943" y="112395"/>
                    <a:pt x="315849" y="122301"/>
                    <a:pt x="315849" y="134493"/>
                  </a:cubicBezTo>
                  <a:cubicBezTo>
                    <a:pt x="315849" y="138684"/>
                    <a:pt x="314706" y="142685"/>
                    <a:pt x="312515" y="146114"/>
                  </a:cubicBezTo>
                  <a:close/>
                  <a:moveTo>
                    <a:pt x="175260" y="106680"/>
                  </a:moveTo>
                  <a:cubicBezTo>
                    <a:pt x="164973" y="106680"/>
                    <a:pt x="155067" y="103537"/>
                    <a:pt x="146685" y="97631"/>
                  </a:cubicBezTo>
                  <a:lnTo>
                    <a:pt x="146114" y="97250"/>
                  </a:lnTo>
                  <a:lnTo>
                    <a:pt x="146114" y="96488"/>
                  </a:lnTo>
                  <a:cubicBezTo>
                    <a:pt x="145828" y="95059"/>
                    <a:pt x="145733" y="93345"/>
                    <a:pt x="145733" y="91631"/>
                  </a:cubicBezTo>
                  <a:cubicBezTo>
                    <a:pt x="145733" y="79248"/>
                    <a:pt x="153543" y="68104"/>
                    <a:pt x="165164" y="63818"/>
                  </a:cubicBezTo>
                  <a:cubicBezTo>
                    <a:pt x="165926" y="63532"/>
                    <a:pt x="166402" y="62960"/>
                    <a:pt x="166497" y="62198"/>
                  </a:cubicBezTo>
                  <a:cubicBezTo>
                    <a:pt x="166592" y="61436"/>
                    <a:pt x="166307" y="60674"/>
                    <a:pt x="165735" y="60198"/>
                  </a:cubicBezTo>
                  <a:cubicBezTo>
                    <a:pt x="162211" y="57341"/>
                    <a:pt x="160211" y="53054"/>
                    <a:pt x="160211" y="48482"/>
                  </a:cubicBezTo>
                  <a:cubicBezTo>
                    <a:pt x="160211" y="40195"/>
                    <a:pt x="166973" y="33433"/>
                    <a:pt x="175260" y="33433"/>
                  </a:cubicBezTo>
                  <a:cubicBezTo>
                    <a:pt x="183547" y="33433"/>
                    <a:pt x="190310" y="40195"/>
                    <a:pt x="190310" y="48482"/>
                  </a:cubicBezTo>
                  <a:cubicBezTo>
                    <a:pt x="190310" y="53054"/>
                    <a:pt x="188309" y="57245"/>
                    <a:pt x="184785" y="60198"/>
                  </a:cubicBezTo>
                  <a:cubicBezTo>
                    <a:pt x="184214" y="60674"/>
                    <a:pt x="183928" y="61436"/>
                    <a:pt x="184023" y="62198"/>
                  </a:cubicBezTo>
                  <a:cubicBezTo>
                    <a:pt x="184118" y="62960"/>
                    <a:pt x="184690" y="63627"/>
                    <a:pt x="185357" y="63818"/>
                  </a:cubicBezTo>
                  <a:cubicBezTo>
                    <a:pt x="196977" y="68104"/>
                    <a:pt x="204883" y="79248"/>
                    <a:pt x="204883" y="91631"/>
                  </a:cubicBezTo>
                  <a:cubicBezTo>
                    <a:pt x="204883" y="93440"/>
                    <a:pt x="204788" y="95059"/>
                    <a:pt x="204502" y="96679"/>
                  </a:cubicBezTo>
                  <a:lnTo>
                    <a:pt x="204502" y="97250"/>
                  </a:lnTo>
                  <a:cubicBezTo>
                    <a:pt x="204502" y="97250"/>
                    <a:pt x="203930" y="97631"/>
                    <a:pt x="203930" y="97631"/>
                  </a:cubicBezTo>
                  <a:cubicBezTo>
                    <a:pt x="195548" y="103537"/>
                    <a:pt x="185642" y="106680"/>
                    <a:pt x="175355" y="106680"/>
                  </a:cubicBezTo>
                  <a:close/>
                  <a:moveTo>
                    <a:pt x="148781" y="95631"/>
                  </a:moveTo>
                  <a:cubicBezTo>
                    <a:pt x="156591" y="100965"/>
                    <a:pt x="165735" y="103823"/>
                    <a:pt x="175260" y="103823"/>
                  </a:cubicBezTo>
                  <a:cubicBezTo>
                    <a:pt x="184785" y="103823"/>
                    <a:pt x="193929" y="100965"/>
                    <a:pt x="201740" y="95631"/>
                  </a:cubicBezTo>
                  <a:cubicBezTo>
                    <a:pt x="201930" y="94393"/>
                    <a:pt x="202025" y="93059"/>
                    <a:pt x="202025" y="91631"/>
                  </a:cubicBezTo>
                  <a:cubicBezTo>
                    <a:pt x="202025" y="80391"/>
                    <a:pt x="194977" y="70295"/>
                    <a:pt x="184404" y="66485"/>
                  </a:cubicBezTo>
                  <a:cubicBezTo>
                    <a:pt x="182785" y="65913"/>
                    <a:pt x="181547" y="64389"/>
                    <a:pt x="181261" y="62579"/>
                  </a:cubicBezTo>
                  <a:cubicBezTo>
                    <a:pt x="180975" y="60865"/>
                    <a:pt x="181642" y="59055"/>
                    <a:pt x="182975" y="57912"/>
                  </a:cubicBezTo>
                  <a:cubicBezTo>
                    <a:pt x="185833" y="55531"/>
                    <a:pt x="187452" y="52102"/>
                    <a:pt x="187452" y="48482"/>
                  </a:cubicBezTo>
                  <a:cubicBezTo>
                    <a:pt x="187452" y="41720"/>
                    <a:pt x="181928" y="36290"/>
                    <a:pt x="175260" y="36290"/>
                  </a:cubicBezTo>
                  <a:cubicBezTo>
                    <a:pt x="168593" y="36290"/>
                    <a:pt x="163068" y="41815"/>
                    <a:pt x="163068" y="48482"/>
                  </a:cubicBezTo>
                  <a:cubicBezTo>
                    <a:pt x="163068" y="52197"/>
                    <a:pt x="164687" y="55626"/>
                    <a:pt x="167545" y="57912"/>
                  </a:cubicBezTo>
                  <a:cubicBezTo>
                    <a:pt x="168974" y="59055"/>
                    <a:pt x="169640" y="60865"/>
                    <a:pt x="169259" y="62579"/>
                  </a:cubicBezTo>
                  <a:cubicBezTo>
                    <a:pt x="168974" y="64389"/>
                    <a:pt x="167735" y="65818"/>
                    <a:pt x="166021" y="66389"/>
                  </a:cubicBezTo>
                  <a:cubicBezTo>
                    <a:pt x="155543" y="70199"/>
                    <a:pt x="148400" y="80296"/>
                    <a:pt x="148400" y="91535"/>
                  </a:cubicBezTo>
                  <a:cubicBezTo>
                    <a:pt x="148400" y="92869"/>
                    <a:pt x="148400" y="94202"/>
                    <a:pt x="148685" y="95536"/>
                  </a:cubicBezTo>
                  <a:close/>
                  <a:moveTo>
                    <a:pt x="141351" y="93440"/>
                  </a:moveTo>
                  <a:lnTo>
                    <a:pt x="139065" y="90964"/>
                  </a:lnTo>
                  <a:cubicBezTo>
                    <a:pt x="130302" y="81725"/>
                    <a:pt x="125540" y="69533"/>
                    <a:pt x="125540" y="56864"/>
                  </a:cubicBezTo>
                  <a:cubicBezTo>
                    <a:pt x="125540" y="29432"/>
                    <a:pt x="147828" y="7144"/>
                    <a:pt x="175355" y="7144"/>
                  </a:cubicBezTo>
                  <a:cubicBezTo>
                    <a:pt x="202883" y="7144"/>
                    <a:pt x="225076" y="29432"/>
                    <a:pt x="225076" y="56864"/>
                  </a:cubicBezTo>
                  <a:cubicBezTo>
                    <a:pt x="225076" y="69628"/>
                    <a:pt x="220313" y="81725"/>
                    <a:pt x="211550" y="90964"/>
                  </a:cubicBezTo>
                  <a:lnTo>
                    <a:pt x="209264" y="93440"/>
                  </a:lnTo>
                  <a:lnTo>
                    <a:pt x="209074" y="90107"/>
                  </a:lnTo>
                  <a:cubicBezTo>
                    <a:pt x="208502" y="78391"/>
                    <a:pt x="201740" y="67532"/>
                    <a:pt x="191357" y="61913"/>
                  </a:cubicBezTo>
                  <a:lnTo>
                    <a:pt x="189929" y="61151"/>
                  </a:lnTo>
                  <a:lnTo>
                    <a:pt x="190881" y="59817"/>
                  </a:lnTo>
                  <a:cubicBezTo>
                    <a:pt x="193262" y="56483"/>
                    <a:pt x="194501" y="52578"/>
                    <a:pt x="194501" y="48482"/>
                  </a:cubicBezTo>
                  <a:cubicBezTo>
                    <a:pt x="194501" y="37814"/>
                    <a:pt x="185833" y="29147"/>
                    <a:pt x="175165" y="29147"/>
                  </a:cubicBezTo>
                  <a:cubicBezTo>
                    <a:pt x="164497" y="29147"/>
                    <a:pt x="155829" y="37814"/>
                    <a:pt x="155829" y="48482"/>
                  </a:cubicBezTo>
                  <a:cubicBezTo>
                    <a:pt x="155829" y="52578"/>
                    <a:pt x="157067" y="56483"/>
                    <a:pt x="159449" y="59817"/>
                  </a:cubicBezTo>
                  <a:lnTo>
                    <a:pt x="160401" y="61151"/>
                  </a:lnTo>
                  <a:lnTo>
                    <a:pt x="158972" y="61913"/>
                  </a:lnTo>
                  <a:cubicBezTo>
                    <a:pt x="148590" y="67532"/>
                    <a:pt x="141827" y="78296"/>
                    <a:pt x="141351" y="90107"/>
                  </a:cubicBezTo>
                  <a:lnTo>
                    <a:pt x="141161" y="93440"/>
                  </a:lnTo>
                  <a:close/>
                  <a:moveTo>
                    <a:pt x="194120" y="60103"/>
                  </a:moveTo>
                  <a:cubicBezTo>
                    <a:pt x="203645" y="65818"/>
                    <a:pt x="210026" y="75629"/>
                    <a:pt x="211645" y="86487"/>
                  </a:cubicBezTo>
                  <a:cubicBezTo>
                    <a:pt x="218504" y="78105"/>
                    <a:pt x="222218" y="67723"/>
                    <a:pt x="222218" y="56769"/>
                  </a:cubicBezTo>
                  <a:cubicBezTo>
                    <a:pt x="222218" y="30861"/>
                    <a:pt x="201168" y="9906"/>
                    <a:pt x="175355" y="9906"/>
                  </a:cubicBezTo>
                  <a:cubicBezTo>
                    <a:pt x="149543" y="9906"/>
                    <a:pt x="128492" y="30956"/>
                    <a:pt x="128492" y="56769"/>
                  </a:cubicBezTo>
                  <a:cubicBezTo>
                    <a:pt x="128492" y="67628"/>
                    <a:pt x="132207" y="78105"/>
                    <a:pt x="139065" y="86487"/>
                  </a:cubicBezTo>
                  <a:cubicBezTo>
                    <a:pt x="140589" y="75629"/>
                    <a:pt x="147066" y="65818"/>
                    <a:pt x="156496" y="60103"/>
                  </a:cubicBezTo>
                  <a:cubicBezTo>
                    <a:pt x="154305" y="56579"/>
                    <a:pt x="153162" y="52673"/>
                    <a:pt x="153162" y="48482"/>
                  </a:cubicBezTo>
                  <a:cubicBezTo>
                    <a:pt x="153162" y="36290"/>
                    <a:pt x="163068" y="26289"/>
                    <a:pt x="175355" y="26289"/>
                  </a:cubicBezTo>
                  <a:cubicBezTo>
                    <a:pt x="187643" y="26289"/>
                    <a:pt x="197549" y="36195"/>
                    <a:pt x="197549" y="48482"/>
                  </a:cubicBezTo>
                  <a:cubicBezTo>
                    <a:pt x="197549" y="52673"/>
                    <a:pt x="196406" y="56579"/>
                    <a:pt x="194215" y="6010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grpSp>
      <p:grpSp>
        <p:nvGrpSpPr>
          <p:cNvPr id="38" name="Group 37">
            <a:extLst>
              <a:ext uri="{FF2B5EF4-FFF2-40B4-BE49-F238E27FC236}">
                <a16:creationId xmlns:a16="http://schemas.microsoft.com/office/drawing/2014/main" id="{B0D00364-E117-BD41-E431-FFD424EF5B16}"/>
              </a:ext>
            </a:extLst>
          </p:cNvPr>
          <p:cNvGrpSpPr/>
          <p:nvPr/>
        </p:nvGrpSpPr>
        <p:grpSpPr>
          <a:xfrm>
            <a:off x="554366" y="3110948"/>
            <a:ext cx="2867120" cy="2018045"/>
            <a:chOff x="306716" y="3177623"/>
            <a:chExt cx="2867120" cy="2018045"/>
          </a:xfrm>
        </p:grpSpPr>
        <p:sp>
          <p:nvSpPr>
            <p:cNvPr id="8" name="Subtitle 2">
              <a:extLst>
                <a:ext uri="{FF2B5EF4-FFF2-40B4-BE49-F238E27FC236}">
                  <a16:creationId xmlns:a16="http://schemas.microsoft.com/office/drawing/2014/main" id="{39FAF46E-B34B-01E7-6FB5-C5F431507186}"/>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the latest confirmed NT1 patient pool who are diagnosed and/or are receiving any managed care with relevant procedures</a:t>
              </a:r>
            </a:p>
          </p:txBody>
        </p:sp>
        <p:cxnSp>
          <p:nvCxnSpPr>
            <p:cNvPr id="32" name="Straight Connector 31">
              <a:extLst>
                <a:ext uri="{FF2B5EF4-FFF2-40B4-BE49-F238E27FC236}">
                  <a16:creationId xmlns:a16="http://schemas.microsoft.com/office/drawing/2014/main" id="{B003FCBF-1A43-3DC9-E64F-5535492F4169}"/>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Subtitle 2">
              <a:extLst>
                <a:ext uri="{FF2B5EF4-FFF2-40B4-BE49-F238E27FC236}">
                  <a16:creationId xmlns:a16="http://schemas.microsoft.com/office/drawing/2014/main" id="{A041F207-4FFA-A184-DE62-195C946B3D5A}"/>
                </a:ext>
              </a:extLst>
            </p:cNvPr>
            <p:cNvSpPr txBox="1">
              <a:spLocks/>
            </p:cNvSpPr>
            <p:nvPr/>
          </p:nvSpPr>
          <p:spPr>
            <a:xfrm>
              <a:off x="306716" y="3936780"/>
              <a:ext cx="2867120"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Construct longitudinal patient journey to identify all the relevant HCPs with points of meaningful interaction to define target cohort</a:t>
              </a:r>
            </a:p>
          </p:txBody>
        </p:sp>
        <p:cxnSp>
          <p:nvCxnSpPr>
            <p:cNvPr id="34" name="Straight Connector 33">
              <a:extLst>
                <a:ext uri="{FF2B5EF4-FFF2-40B4-BE49-F238E27FC236}">
                  <a16:creationId xmlns:a16="http://schemas.microsoft.com/office/drawing/2014/main" id="{F4ADABE3-9E09-A275-19CF-4EE061E7A672}"/>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Subtitle 2">
              <a:extLst>
                <a:ext uri="{FF2B5EF4-FFF2-40B4-BE49-F238E27FC236}">
                  <a16:creationId xmlns:a16="http://schemas.microsoft.com/office/drawing/2014/main" id="{4B6FDF53-4F77-A752-4B70-572944997482}"/>
                </a:ext>
              </a:extLst>
            </p:cNvPr>
            <p:cNvSpPr txBox="1">
              <a:spLocks/>
            </p:cNvSpPr>
            <p:nvPr/>
          </p:nvSpPr>
          <p:spPr>
            <a:xfrm>
              <a:off x="334963" y="4695937"/>
              <a:ext cx="2810627"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Standardize HCP-HCO affiliations, and map out specialties and regions</a:t>
              </a:r>
            </a:p>
          </p:txBody>
        </p:sp>
      </p:grpSp>
      <p:grpSp>
        <p:nvGrpSpPr>
          <p:cNvPr id="39" name="Group 38">
            <a:extLst>
              <a:ext uri="{FF2B5EF4-FFF2-40B4-BE49-F238E27FC236}">
                <a16:creationId xmlns:a16="http://schemas.microsoft.com/office/drawing/2014/main" id="{3CFFEDF5-0A16-BB7F-D0BC-270FB49F4CE2}"/>
              </a:ext>
            </a:extLst>
          </p:cNvPr>
          <p:cNvGrpSpPr/>
          <p:nvPr/>
        </p:nvGrpSpPr>
        <p:grpSpPr>
          <a:xfrm>
            <a:off x="4677403" y="3110948"/>
            <a:ext cx="2838733" cy="2018045"/>
            <a:chOff x="320910" y="3177623"/>
            <a:chExt cx="2838733" cy="2018045"/>
          </a:xfrm>
        </p:grpSpPr>
        <p:sp>
          <p:nvSpPr>
            <p:cNvPr id="40" name="Subtitle 2">
              <a:extLst>
                <a:ext uri="{FF2B5EF4-FFF2-40B4-BE49-F238E27FC236}">
                  <a16:creationId xmlns:a16="http://schemas.microsoft.com/office/drawing/2014/main" id="{28A051AB-96AF-C97D-52C7-75B23D51637D}"/>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Define business rules to determine referrals and infer the provider-patient-provider transitions from filtered encounters</a:t>
              </a:r>
            </a:p>
          </p:txBody>
        </p:sp>
        <p:cxnSp>
          <p:nvCxnSpPr>
            <p:cNvPr id="41" name="Straight Connector 40">
              <a:extLst>
                <a:ext uri="{FF2B5EF4-FFF2-40B4-BE49-F238E27FC236}">
                  <a16:creationId xmlns:a16="http://schemas.microsoft.com/office/drawing/2014/main" id="{0A5AB4EF-0168-E78B-B069-E92444BAFD7E}"/>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ubtitle 2">
              <a:extLst>
                <a:ext uri="{FF2B5EF4-FFF2-40B4-BE49-F238E27FC236}">
                  <a16:creationId xmlns:a16="http://schemas.microsoft.com/office/drawing/2014/main" id="{34A01614-2D36-233A-B440-A4F005EF5A25}"/>
                </a:ext>
              </a:extLst>
            </p:cNvPr>
            <p:cNvSpPr txBox="1">
              <a:spLocks/>
            </p:cNvSpPr>
            <p:nvPr/>
          </p:nvSpPr>
          <p:spPr>
            <a:xfrm>
              <a:off x="320910" y="3936780"/>
              <a:ext cx="2838733"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Aggregate internal referrals and claims-derived care transitions to capture volume, direction and recency for edges</a:t>
              </a:r>
            </a:p>
          </p:txBody>
        </p:sp>
        <p:cxnSp>
          <p:nvCxnSpPr>
            <p:cNvPr id="43" name="Straight Connector 42">
              <a:extLst>
                <a:ext uri="{FF2B5EF4-FFF2-40B4-BE49-F238E27FC236}">
                  <a16:creationId xmlns:a16="http://schemas.microsoft.com/office/drawing/2014/main" id="{5CA8FC01-E6B5-6A04-19A1-94B36FB9CB88}"/>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Subtitle 2">
              <a:extLst>
                <a:ext uri="{FF2B5EF4-FFF2-40B4-BE49-F238E27FC236}">
                  <a16:creationId xmlns:a16="http://schemas.microsoft.com/office/drawing/2014/main" id="{643A7D8C-D0C2-4182-86CB-BF6B0562E9FE}"/>
                </a:ext>
              </a:extLst>
            </p:cNvPr>
            <p:cNvSpPr txBox="1">
              <a:spLocks/>
            </p:cNvSpPr>
            <p:nvPr/>
          </p:nvSpPr>
          <p:spPr>
            <a:xfrm>
              <a:off x="320910" y="4695937"/>
              <a:ext cx="2838733"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Model HCPs/HCOs as nodes and patient flows between them as directed weighted edges</a:t>
              </a:r>
            </a:p>
          </p:txBody>
        </p:sp>
      </p:grpSp>
      <p:grpSp>
        <p:nvGrpSpPr>
          <p:cNvPr id="45" name="Group 44">
            <a:extLst>
              <a:ext uri="{FF2B5EF4-FFF2-40B4-BE49-F238E27FC236}">
                <a16:creationId xmlns:a16="http://schemas.microsoft.com/office/drawing/2014/main" id="{0021BEF4-6394-DF8B-7619-BEB0D6FAEBD0}"/>
              </a:ext>
            </a:extLst>
          </p:cNvPr>
          <p:cNvGrpSpPr/>
          <p:nvPr/>
        </p:nvGrpSpPr>
        <p:grpSpPr>
          <a:xfrm>
            <a:off x="8480203" y="3110948"/>
            <a:ext cx="2959322" cy="2167126"/>
            <a:chOff x="334963" y="3177623"/>
            <a:chExt cx="2959322" cy="2167126"/>
          </a:xfrm>
        </p:grpSpPr>
        <p:sp>
          <p:nvSpPr>
            <p:cNvPr id="46" name="Subtitle 2">
              <a:extLst>
                <a:ext uri="{FF2B5EF4-FFF2-40B4-BE49-F238E27FC236}">
                  <a16:creationId xmlns:a16="http://schemas.microsoft.com/office/drawing/2014/main" id="{90F40EE9-7F79-D1AF-592D-A85981EC8A3C}"/>
                </a:ext>
              </a:extLst>
            </p:cNvPr>
            <p:cNvSpPr txBox="1">
              <a:spLocks/>
            </p:cNvSpPr>
            <p:nvPr/>
          </p:nvSpPr>
          <p:spPr>
            <a:xfrm>
              <a:off x="409311"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Leverage the built referral network graph to compute connectivity &amp; flow metrics</a:t>
              </a:r>
            </a:p>
          </p:txBody>
        </p:sp>
        <p:sp>
          <p:nvSpPr>
            <p:cNvPr id="48" name="Subtitle 2">
              <a:extLst>
                <a:ext uri="{FF2B5EF4-FFF2-40B4-BE49-F238E27FC236}">
                  <a16:creationId xmlns:a16="http://schemas.microsoft.com/office/drawing/2014/main" id="{B3825E7D-FBCA-7911-9097-3D5F9D9FB2A9}"/>
                </a:ext>
              </a:extLst>
            </p:cNvPr>
            <p:cNvSpPr txBox="1">
              <a:spLocks/>
            </p:cNvSpPr>
            <p:nvPr/>
          </p:nvSpPr>
          <p:spPr>
            <a:xfrm>
              <a:off x="334963" y="3677354"/>
              <a:ext cx="2959322" cy="1667395"/>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649224" rtl="0" eaLnBrk="1" fontAlgn="auto" latinLnBrk="0" hangingPunct="1">
                <a:lnSpc>
                  <a:spcPct val="100000"/>
                </a:lnSpc>
                <a:spcBef>
                  <a:spcPts val="0"/>
                </a:spcBef>
                <a:spcAft>
                  <a:spcPts val="300"/>
                </a:spcAft>
                <a:buClrTx/>
                <a:buSzPct val="110000"/>
                <a:buFont typeface="Arial"/>
                <a:buNone/>
                <a:tabLst/>
                <a:defRPr/>
              </a:pPr>
              <a:endPar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endParaRPr>
            </a:p>
            <a:p>
              <a:pPr marL="0" marR="0" lvl="0" indent="0" algn="ctr" defTabSz="649224" rtl="0" eaLnBrk="1" fontAlgn="auto" latinLnBrk="0" hangingPunct="1">
                <a:lnSpc>
                  <a:spcPct val="100000"/>
                </a:lnSpc>
                <a:spcBef>
                  <a:spcPts val="0"/>
                </a:spcBef>
                <a:spcAft>
                  <a:spcPts val="300"/>
                </a:spcAft>
                <a:buClrTx/>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Leveraging these metrics determine the persona of HCPs within the network e.g.,</a:t>
              </a:r>
            </a:p>
            <a:p>
              <a:pPr marL="457200" marR="0" lvl="1" indent="-168275" algn="l" defTabSz="649224" rtl="0" eaLnBrk="1" fontAlgn="auto" latinLnBrk="0" hangingPunct="1">
                <a:lnSpc>
                  <a:spcPct val="100000"/>
                </a:lnSpc>
                <a:spcBef>
                  <a:spcPts val="0"/>
                </a:spcBef>
                <a:spcAft>
                  <a:spcPts val="300"/>
                </a:spcAft>
                <a:buClrTx/>
                <a:buSzPct val="110000"/>
                <a:buFont typeface="Courier New" panose="02070309020205020404" pitchFamily="49" charset="0"/>
                <a:buChar char="o"/>
                <a:tabLst/>
                <a:defRPr/>
              </a:pPr>
              <a:r>
                <a:rPr kumimoji="0" lang="en-US" sz="1100" b="0" i="1" u="none" strike="noStrike" kern="1200" cap="none" spc="0" normalizeH="0" baseline="0" noProof="0">
                  <a:ln>
                    <a:noFill/>
                  </a:ln>
                  <a:solidFill>
                    <a:srgbClr val="34373F"/>
                  </a:solidFill>
                  <a:effectLst/>
                  <a:uLnTx/>
                  <a:uFillTx/>
                  <a:latin typeface="Calibri" panose="020F0502020204030204"/>
                  <a:ea typeface="+mn-ea"/>
                  <a:cs typeface="Open Sans"/>
                </a:rPr>
                <a:t>Prescribers : Starting a patient on their NT1 journey</a:t>
              </a:r>
            </a:p>
            <a:p>
              <a:pPr marL="457200" marR="0" lvl="1" indent="-168275" algn="l" defTabSz="649224" rtl="0" eaLnBrk="1" fontAlgn="auto" latinLnBrk="0" hangingPunct="1">
                <a:lnSpc>
                  <a:spcPct val="100000"/>
                </a:lnSpc>
                <a:spcBef>
                  <a:spcPts val="0"/>
                </a:spcBef>
                <a:spcAft>
                  <a:spcPts val="300"/>
                </a:spcAft>
                <a:buClrTx/>
                <a:buSzPct val="110000"/>
                <a:buFont typeface="Courier New" panose="02070309020205020404" pitchFamily="49" charset="0"/>
                <a:buChar char="o"/>
                <a:tabLst/>
                <a:defRPr/>
              </a:pPr>
              <a:r>
                <a:rPr kumimoji="0" lang="en-US" sz="1100" b="0" i="1" u="none" strike="noStrike" kern="1200" cap="none" spc="0" normalizeH="0" baseline="0" noProof="0">
                  <a:ln>
                    <a:noFill/>
                  </a:ln>
                  <a:solidFill>
                    <a:srgbClr val="34373F"/>
                  </a:solidFill>
                  <a:effectLst/>
                  <a:uLnTx/>
                  <a:uFillTx/>
                  <a:latin typeface="Calibri" panose="020F0502020204030204"/>
                  <a:ea typeface="+mn-ea"/>
                  <a:cs typeface="Open Sans"/>
                </a:rPr>
                <a:t>Referrers: High outbound patients to specialists</a:t>
              </a:r>
            </a:p>
            <a:p>
              <a:pPr marL="457200" marR="0" lvl="1" indent="-168275" algn="l" defTabSz="649224" rtl="0" eaLnBrk="1" fontAlgn="auto" latinLnBrk="0" hangingPunct="1">
                <a:lnSpc>
                  <a:spcPct val="100000"/>
                </a:lnSpc>
                <a:spcBef>
                  <a:spcPts val="0"/>
                </a:spcBef>
                <a:spcAft>
                  <a:spcPts val="300"/>
                </a:spcAft>
                <a:buClrTx/>
                <a:buSzPct val="110000"/>
                <a:buFont typeface="Courier New" panose="02070309020205020404" pitchFamily="49" charset="0"/>
                <a:buChar char="o"/>
                <a:tabLst/>
                <a:defRPr/>
              </a:pPr>
              <a:r>
                <a:rPr kumimoji="0" lang="en-US" sz="1100" b="0" i="1" u="none" strike="noStrike" kern="1200" cap="none" spc="0" normalizeH="0" baseline="0" noProof="0">
                  <a:ln>
                    <a:noFill/>
                  </a:ln>
                  <a:solidFill>
                    <a:srgbClr val="34373F"/>
                  </a:solidFill>
                  <a:effectLst/>
                  <a:uLnTx/>
                  <a:uFillTx/>
                  <a:latin typeface="Calibri" panose="020F0502020204030204"/>
                  <a:ea typeface="+mn-ea"/>
                  <a:cs typeface="Open Sans"/>
                </a:rPr>
                <a:t>Key Leaders/Influencers: Driving NT1 journey of a large patient pool</a:t>
              </a:r>
            </a:p>
            <a:p>
              <a:pPr marL="457200" marR="0" lvl="1" indent="-168275" algn="l" defTabSz="649224" rtl="0" eaLnBrk="1" fontAlgn="auto" latinLnBrk="0" hangingPunct="1">
                <a:lnSpc>
                  <a:spcPct val="100000"/>
                </a:lnSpc>
                <a:spcBef>
                  <a:spcPts val="0"/>
                </a:spcBef>
                <a:spcAft>
                  <a:spcPts val="300"/>
                </a:spcAft>
                <a:buClrTx/>
                <a:buSzPct val="110000"/>
                <a:buFont typeface="Courier New" panose="02070309020205020404" pitchFamily="49" charset="0"/>
                <a:buChar char="o"/>
                <a:tabLst/>
                <a:defRPr/>
              </a:pPr>
              <a:r>
                <a:rPr kumimoji="0" lang="en-US" sz="1100" b="0" i="1" u="none" strike="noStrike" kern="1200" cap="none" spc="0" normalizeH="0" baseline="0" noProof="0">
                  <a:ln>
                    <a:noFill/>
                  </a:ln>
                  <a:solidFill>
                    <a:srgbClr val="34373F"/>
                  </a:solidFill>
                  <a:effectLst/>
                  <a:uLnTx/>
                  <a:uFillTx/>
                  <a:latin typeface="Calibri" panose="020F0502020204030204"/>
                  <a:ea typeface="+mn-ea"/>
                  <a:cs typeface="Open Sans"/>
                </a:rPr>
                <a:t>Bridges : Linking targeted patients with targeted HCPs</a:t>
              </a:r>
            </a:p>
          </p:txBody>
        </p:sp>
      </p:grpSp>
      <p:sp>
        <p:nvSpPr>
          <p:cNvPr id="52" name="Rectangle 51">
            <a:extLst>
              <a:ext uri="{FF2B5EF4-FFF2-40B4-BE49-F238E27FC236}">
                <a16:creationId xmlns:a16="http://schemas.microsoft.com/office/drawing/2014/main" id="{7B152C34-549B-C44F-A364-208F0AE28D65}"/>
              </a:ext>
            </a:extLst>
          </p:cNvPr>
          <p:cNvSpPr/>
          <p:nvPr/>
        </p:nvSpPr>
        <p:spPr>
          <a:xfrm>
            <a:off x="0" y="5760370"/>
            <a:ext cx="12192000" cy="656305"/>
          </a:xfrm>
          <a:prstGeom prst="rect">
            <a:avLst/>
          </a:prstGeom>
          <a:solidFill>
            <a:schemeClr val="tx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Key Business Questions </a:t>
            </a:r>
            <a:b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b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Addressed</a:t>
            </a:r>
            <a:endParaRPr kumimoji="0" lang="en-US" sz="1200" b="0" i="1"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3" name="Rectangle 52">
            <a:extLst>
              <a:ext uri="{FF2B5EF4-FFF2-40B4-BE49-F238E27FC236}">
                <a16:creationId xmlns:a16="http://schemas.microsoft.com/office/drawing/2014/main" id="{6B902EE4-0BA0-26C8-A0E3-4D7D14EB8FDE}"/>
              </a:ext>
            </a:extLst>
          </p:cNvPr>
          <p:cNvSpPr/>
          <p:nvPr/>
        </p:nvSpPr>
        <p:spPr>
          <a:xfrm>
            <a:off x="2181226"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do HCPs interact and refer patients to drive a NT1 patients' diagnosis and treatment journey?</a:t>
            </a:r>
          </a:p>
        </p:txBody>
      </p:sp>
      <p:sp>
        <p:nvSpPr>
          <p:cNvPr id="54" name="Rectangle 53">
            <a:extLst>
              <a:ext uri="{FF2B5EF4-FFF2-40B4-BE49-F238E27FC236}">
                <a16:creationId xmlns:a16="http://schemas.microsoft.com/office/drawing/2014/main" id="{535D5D8B-69A7-5843-4AED-009F8F386B6B}"/>
              </a:ext>
            </a:extLst>
          </p:cNvPr>
          <p:cNvSpPr/>
          <p:nvPr/>
        </p:nvSpPr>
        <p:spPr>
          <a:xfrm>
            <a:off x="5532664"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Who are the most influential HCPs driving treatment, referrals or decision making?</a:t>
            </a:r>
          </a:p>
        </p:txBody>
      </p:sp>
      <p:sp>
        <p:nvSpPr>
          <p:cNvPr id="55" name="Rectangle 54">
            <a:extLst>
              <a:ext uri="{FF2B5EF4-FFF2-40B4-BE49-F238E27FC236}">
                <a16:creationId xmlns:a16="http://schemas.microsoft.com/office/drawing/2014/main" id="{9AE2AB92-0B57-3C2D-FB10-2D36997F7EF9}"/>
              </a:ext>
            </a:extLst>
          </p:cNvPr>
          <p:cNvSpPr/>
          <p:nvPr/>
        </p:nvSpPr>
        <p:spPr>
          <a:xfrm>
            <a:off x="8884102"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Which HCPs are acting as a bridge to the targeted HCPs for a patient?</a:t>
            </a:r>
          </a:p>
        </p:txBody>
      </p:sp>
      <p:cxnSp>
        <p:nvCxnSpPr>
          <p:cNvPr id="10" name="Straight Connector 9">
            <a:extLst>
              <a:ext uri="{FF2B5EF4-FFF2-40B4-BE49-F238E27FC236}">
                <a16:creationId xmlns:a16="http://schemas.microsoft.com/office/drawing/2014/main" id="{B269A7F1-DD61-D0F6-322D-69AD8913F09B}"/>
              </a:ext>
            </a:extLst>
          </p:cNvPr>
          <p:cNvCxnSpPr>
            <a:cxnSpLocks/>
          </p:cNvCxnSpPr>
          <p:nvPr/>
        </p:nvCxnSpPr>
        <p:spPr>
          <a:xfrm>
            <a:off x="9252271" y="3740392"/>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1280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F6014-1C76-0FC4-1AF1-68666A749B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C177F64-8CD9-FC00-2BC4-9FB35D4B8F8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JP" sz="800" b="1" i="0" u="none" strike="noStrike" kern="1200" cap="none" spc="100" normalizeH="0" baseline="0" noProof="0">
                <a:ln>
                  <a:noFill/>
                </a:ln>
                <a:solidFill>
                  <a:srgbClr val="34373F"/>
                </a:solidFill>
                <a:effectLst/>
                <a:uLnTx/>
                <a:uFillTx/>
                <a:latin typeface="Calibri" panose="020F0502020204030204"/>
                <a:ea typeface="+mn-ea"/>
                <a:cs typeface="+mn-cs"/>
              </a:rPr>
              <a:t> </a:t>
            </a:r>
          </a:p>
        </p:txBody>
      </p:sp>
      <p:sp>
        <p:nvSpPr>
          <p:cNvPr id="4" name="Title 3">
            <a:extLst>
              <a:ext uri="{FF2B5EF4-FFF2-40B4-BE49-F238E27FC236}">
                <a16:creationId xmlns:a16="http://schemas.microsoft.com/office/drawing/2014/main" id="{CB65218F-F8BA-DFB4-988C-6AAB62DCCBEF}"/>
              </a:ext>
            </a:extLst>
          </p:cNvPr>
          <p:cNvSpPr>
            <a:spLocks noGrp="1"/>
          </p:cNvSpPr>
          <p:nvPr>
            <p:ph type="title"/>
          </p:nvPr>
        </p:nvSpPr>
        <p:spPr/>
        <p:txBody>
          <a:bodyPr>
            <a:normAutofit fontScale="90000"/>
          </a:bodyPr>
          <a:lstStyle/>
          <a:p>
            <a:r>
              <a:rPr lang="en-US">
                <a:latin typeface="+mj-lt"/>
              </a:rPr>
              <a:t>As a next step, segment the referral ecosystem to reveal regional structures and connectivity roles</a:t>
            </a:r>
            <a:endParaRPr lang="en-IN">
              <a:latin typeface="+mj-lt"/>
            </a:endParaRPr>
          </a:p>
        </p:txBody>
      </p:sp>
      <p:sp>
        <p:nvSpPr>
          <p:cNvPr id="5" name="Slide Number Placeholder 4">
            <a:extLst>
              <a:ext uri="{FF2B5EF4-FFF2-40B4-BE49-F238E27FC236}">
                <a16:creationId xmlns:a16="http://schemas.microsoft.com/office/drawing/2014/main" id="{6BE7B5D9-C361-17A5-05A0-C14AF7416DFC}"/>
              </a:ext>
            </a:extLst>
          </p:cNvPr>
          <p:cNvSpPr>
            <a:spLocks noGrp="1"/>
          </p:cNvSpPr>
          <p:nvPr>
            <p:ph type="sldNum" sz="quarter" idx="4"/>
          </p:nvPr>
        </p:nvSpPr>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30</a:t>
            </a:fld>
            <a:endParaRPr kumimoji="0" lang="ja-JP" altLang="en-US" sz="800" b="1" i="0" u="none" strike="noStrike" kern="1200" cap="none" spc="0" normalizeH="0" baseline="0" noProof="0">
              <a:ln>
                <a:noFill/>
              </a:ln>
              <a:solidFill>
                <a:srgbClr val="34373F"/>
              </a:solidFill>
              <a:effectLst/>
              <a:uLnTx/>
              <a:uFillTx/>
              <a:latin typeface="Calibri" panose="020F0502020204030204"/>
              <a:ea typeface="メイリオ" pitchFamily="50" charset="-128"/>
              <a:cs typeface="Calibri" panose="020F0502020204030204" pitchFamily="34" charset="0"/>
            </a:endParaRPr>
          </a:p>
        </p:txBody>
      </p:sp>
      <p:sp>
        <p:nvSpPr>
          <p:cNvPr id="6" name="Text Placeholder 5">
            <a:extLst>
              <a:ext uri="{FF2B5EF4-FFF2-40B4-BE49-F238E27FC236}">
                <a16:creationId xmlns:a16="http://schemas.microsoft.com/office/drawing/2014/main" id="{88CD4DB0-E7CC-098F-98B0-2E815E65EE6E}"/>
              </a:ext>
            </a:extLst>
          </p:cNvPr>
          <p:cNvSpPr>
            <a:spLocks noGrp="1"/>
          </p:cNvSpPr>
          <p:nvPr>
            <p:ph type="body" sz="quarter" idx="16"/>
          </p:nvPr>
        </p:nvSpPr>
        <p:spPr/>
        <p:txBody>
          <a:bodyPr/>
          <a:lstStyle/>
          <a:p>
            <a:endParaRPr lang="en-IN">
              <a:latin typeface="+mj-lt"/>
            </a:endParaRPr>
          </a:p>
        </p:txBody>
      </p:sp>
      <p:sp>
        <p:nvSpPr>
          <p:cNvPr id="7" name="Rectangle 6">
            <a:extLst>
              <a:ext uri="{FF2B5EF4-FFF2-40B4-BE49-F238E27FC236}">
                <a16:creationId xmlns:a16="http://schemas.microsoft.com/office/drawing/2014/main" id="{33FEF0C0-920E-A4DB-EDBD-DD3CD98F2742}"/>
              </a:ext>
            </a:extLst>
          </p:cNvPr>
          <p:cNvSpPr/>
          <p:nvPr/>
        </p:nvSpPr>
        <p:spPr>
          <a:xfrm>
            <a:off x="0" y="1253823"/>
            <a:ext cx="12192000" cy="363649"/>
          </a:xfrm>
          <a:prstGeom prst="rect">
            <a:avLst/>
          </a:prstGeom>
          <a:gradFill>
            <a:gsLst>
              <a:gs pos="100000">
                <a:schemeClr val="accent2"/>
              </a:gs>
              <a:gs pos="0">
                <a:schemeClr val="accent2"/>
              </a:gs>
              <a:gs pos="56000">
                <a:schemeClr val="accent1">
                  <a:lumMod val="60000"/>
                  <a:lumOff val="40000"/>
                </a:scheme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OBJECTIVE</a:t>
            </a:r>
            <a:r>
              <a:rPr kumimoji="0" lang="en-US" sz="1400" b="0" i="1"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 Detect natural referral communities and characterize influence and routing differences across them</a:t>
            </a:r>
          </a:p>
        </p:txBody>
      </p:sp>
      <p:sp>
        <p:nvSpPr>
          <p:cNvPr id="9" name="TextBox 8">
            <a:extLst>
              <a:ext uri="{FF2B5EF4-FFF2-40B4-BE49-F238E27FC236}">
                <a16:creationId xmlns:a16="http://schemas.microsoft.com/office/drawing/2014/main" id="{B86D0C37-D03F-D7DA-A46E-0FB6AA698F8C}"/>
              </a:ext>
            </a:extLst>
          </p:cNvPr>
          <p:cNvSpPr txBox="1"/>
          <p:nvPr/>
        </p:nvSpPr>
        <p:spPr>
          <a:xfrm>
            <a:off x="643367" y="1939736"/>
            <a:ext cx="268911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Ecosystem Segmentation</a:t>
            </a:r>
          </a:p>
        </p:txBody>
      </p:sp>
      <p:sp>
        <p:nvSpPr>
          <p:cNvPr id="11" name="TextBox 10">
            <a:extLst>
              <a:ext uri="{FF2B5EF4-FFF2-40B4-BE49-F238E27FC236}">
                <a16:creationId xmlns:a16="http://schemas.microsoft.com/office/drawing/2014/main" id="{213D54DE-B90E-73C4-89E9-6D79C4A01CA9}"/>
              </a:ext>
            </a:extLst>
          </p:cNvPr>
          <p:cNvSpPr txBox="1"/>
          <p:nvPr/>
        </p:nvSpPr>
        <p:spPr>
          <a:xfrm>
            <a:off x="4838603" y="1939736"/>
            <a:ext cx="2514794"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Hub &amp; Influence Characterization</a:t>
            </a:r>
          </a:p>
        </p:txBody>
      </p:sp>
      <p:sp>
        <p:nvSpPr>
          <p:cNvPr id="14" name="TextBox 13">
            <a:extLst>
              <a:ext uri="{FF2B5EF4-FFF2-40B4-BE49-F238E27FC236}">
                <a16:creationId xmlns:a16="http://schemas.microsoft.com/office/drawing/2014/main" id="{15AFFA66-A45D-4B25-6524-9B8D473D661B}"/>
              </a:ext>
            </a:extLst>
          </p:cNvPr>
          <p:cNvSpPr txBox="1"/>
          <p:nvPr/>
        </p:nvSpPr>
        <p:spPr>
          <a:xfrm>
            <a:off x="8751530" y="1939736"/>
            <a:ext cx="241666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Regional Comparative Profiling</a:t>
            </a:r>
          </a:p>
        </p:txBody>
      </p:sp>
      <p:cxnSp>
        <p:nvCxnSpPr>
          <p:cNvPr id="16" name="Straight Arrow Connector 15">
            <a:extLst>
              <a:ext uri="{FF2B5EF4-FFF2-40B4-BE49-F238E27FC236}">
                <a16:creationId xmlns:a16="http://schemas.microsoft.com/office/drawing/2014/main" id="{97185FBF-333B-70D6-9F85-3F59B624B9D2}"/>
              </a:ext>
            </a:extLst>
          </p:cNvPr>
          <p:cNvCxnSpPr>
            <a:cxnSpLocks/>
          </p:cNvCxnSpPr>
          <p:nvPr/>
        </p:nvCxnSpPr>
        <p:spPr bwMode="gray">
          <a:xfrm>
            <a:off x="0" y="2716926"/>
            <a:ext cx="12192000" cy="0"/>
          </a:xfrm>
          <a:prstGeom prst="straightConnector1">
            <a:avLst/>
          </a:prstGeom>
          <a:ln w="12700" cap="rnd">
            <a:gradFill>
              <a:gsLst>
                <a:gs pos="0">
                  <a:schemeClr val="bg2"/>
                </a:gs>
                <a:gs pos="100000">
                  <a:schemeClr val="accent1"/>
                </a:gs>
              </a:gsLst>
              <a:lin ang="5400000" scaled="1"/>
            </a:gradFill>
            <a:round/>
            <a:tailEnd type="none" w="lg" len="lg"/>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3885F87C-9681-8DA5-B4BD-7627B85CD235}"/>
              </a:ext>
            </a:extLst>
          </p:cNvPr>
          <p:cNvSpPr/>
          <p:nvPr/>
        </p:nvSpPr>
        <p:spPr bwMode="gray">
          <a:xfrm flipV="1">
            <a:off x="1858651"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a:ln>
                <a:noFill/>
              </a:ln>
              <a:solidFill>
                <a:srgbClr val="E1242A"/>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3D9C673E-607F-16F7-2EB3-AB65DC318B1A}"/>
              </a:ext>
            </a:extLst>
          </p:cNvPr>
          <p:cNvSpPr/>
          <p:nvPr/>
        </p:nvSpPr>
        <p:spPr bwMode="gray">
          <a:xfrm flipV="1">
            <a:off x="5967494"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11D49484-38E5-44C3-8FFA-323D084FA7D1}"/>
              </a:ext>
            </a:extLst>
          </p:cNvPr>
          <p:cNvSpPr/>
          <p:nvPr/>
        </p:nvSpPr>
        <p:spPr bwMode="gray">
          <a:xfrm flipV="1">
            <a:off x="9830589"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CE2F0999-E710-1FF3-9C2D-EB0AA5B263FB}"/>
              </a:ext>
            </a:extLst>
          </p:cNvPr>
          <p:cNvGrpSpPr/>
          <p:nvPr/>
        </p:nvGrpSpPr>
        <p:grpSpPr>
          <a:xfrm>
            <a:off x="496158" y="3110948"/>
            <a:ext cx="2983536" cy="2018045"/>
            <a:chOff x="248508" y="3177623"/>
            <a:chExt cx="2983536" cy="2018045"/>
          </a:xfrm>
        </p:grpSpPr>
        <p:sp>
          <p:nvSpPr>
            <p:cNvPr id="8" name="Subtitle 2">
              <a:extLst>
                <a:ext uri="{FF2B5EF4-FFF2-40B4-BE49-F238E27FC236}">
                  <a16:creationId xmlns:a16="http://schemas.microsoft.com/office/drawing/2014/main" id="{06E31897-F389-01C7-9976-423FC64D3252}"/>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Apply community detection algorithms to uncover cohesive referral ecosystems</a:t>
              </a:r>
            </a:p>
          </p:txBody>
        </p:sp>
        <p:cxnSp>
          <p:nvCxnSpPr>
            <p:cNvPr id="32" name="Straight Connector 31">
              <a:extLst>
                <a:ext uri="{FF2B5EF4-FFF2-40B4-BE49-F238E27FC236}">
                  <a16:creationId xmlns:a16="http://schemas.microsoft.com/office/drawing/2014/main" id="{E1AAF869-92FA-06FE-6F16-6ED7B351C979}"/>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Subtitle 2">
              <a:extLst>
                <a:ext uri="{FF2B5EF4-FFF2-40B4-BE49-F238E27FC236}">
                  <a16:creationId xmlns:a16="http://schemas.microsoft.com/office/drawing/2014/main" id="{AC84EE62-5B1A-EB33-4C0F-E822E0452F94}"/>
                </a:ext>
              </a:extLst>
            </p:cNvPr>
            <p:cNvSpPr txBox="1">
              <a:spLocks/>
            </p:cNvSpPr>
            <p:nvPr/>
          </p:nvSpPr>
          <p:spPr>
            <a:xfrm>
              <a:off x="248508" y="3936780"/>
              <a:ext cx="2983536"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Validate cluster cohesion and boundary strength using internal vs external routing patterns</a:t>
              </a:r>
            </a:p>
          </p:txBody>
        </p:sp>
        <p:cxnSp>
          <p:nvCxnSpPr>
            <p:cNvPr id="34" name="Straight Connector 33">
              <a:extLst>
                <a:ext uri="{FF2B5EF4-FFF2-40B4-BE49-F238E27FC236}">
                  <a16:creationId xmlns:a16="http://schemas.microsoft.com/office/drawing/2014/main" id="{10F3A463-AD0B-C79F-239B-FEB8EE583D8C}"/>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Subtitle 2">
              <a:extLst>
                <a:ext uri="{FF2B5EF4-FFF2-40B4-BE49-F238E27FC236}">
                  <a16:creationId xmlns:a16="http://schemas.microsoft.com/office/drawing/2014/main" id="{1EBC28E8-4E7D-CB5A-E027-7B0A3FAB0D10}"/>
                </a:ext>
              </a:extLst>
            </p:cNvPr>
            <p:cNvSpPr txBox="1">
              <a:spLocks/>
            </p:cNvSpPr>
            <p:nvPr/>
          </p:nvSpPr>
          <p:spPr>
            <a:xfrm>
              <a:off x="334963" y="4695937"/>
              <a:ext cx="2810627"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Map clusters to territories and HCO affiliations to roll-up the insights</a:t>
              </a:r>
            </a:p>
          </p:txBody>
        </p:sp>
      </p:grpSp>
      <p:grpSp>
        <p:nvGrpSpPr>
          <p:cNvPr id="39" name="Group 38">
            <a:extLst>
              <a:ext uri="{FF2B5EF4-FFF2-40B4-BE49-F238E27FC236}">
                <a16:creationId xmlns:a16="http://schemas.microsoft.com/office/drawing/2014/main" id="{EED7BC8A-A289-C1FE-7443-BF5BCCF39E24}"/>
              </a:ext>
            </a:extLst>
          </p:cNvPr>
          <p:cNvGrpSpPr/>
          <p:nvPr/>
        </p:nvGrpSpPr>
        <p:grpSpPr>
          <a:xfrm>
            <a:off x="4587240" y="3110948"/>
            <a:ext cx="3017520" cy="2018045"/>
            <a:chOff x="277250" y="3177623"/>
            <a:chExt cx="3017520" cy="2018045"/>
          </a:xfrm>
        </p:grpSpPr>
        <p:sp>
          <p:nvSpPr>
            <p:cNvPr id="40" name="Subtitle 2">
              <a:extLst>
                <a:ext uri="{FF2B5EF4-FFF2-40B4-BE49-F238E27FC236}">
                  <a16:creationId xmlns:a16="http://schemas.microsoft.com/office/drawing/2014/main" id="{7BB2E22E-A541-F949-B046-4BBC458D8EED}"/>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hub institutions and group practices central to patient routing within HUBs</a:t>
              </a:r>
            </a:p>
          </p:txBody>
        </p:sp>
        <p:cxnSp>
          <p:nvCxnSpPr>
            <p:cNvPr id="41" name="Straight Connector 40">
              <a:extLst>
                <a:ext uri="{FF2B5EF4-FFF2-40B4-BE49-F238E27FC236}">
                  <a16:creationId xmlns:a16="http://schemas.microsoft.com/office/drawing/2014/main" id="{6770FB00-86EE-1628-1079-24448A387C8B}"/>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ubtitle 2">
              <a:extLst>
                <a:ext uri="{FF2B5EF4-FFF2-40B4-BE49-F238E27FC236}">
                  <a16:creationId xmlns:a16="http://schemas.microsoft.com/office/drawing/2014/main" id="{5F0F8DFF-1C05-08AA-1C01-3053F69FD1C1}"/>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Assess specialty distribution and leadership concentration to further characterize identified HUBs</a:t>
              </a:r>
            </a:p>
          </p:txBody>
        </p:sp>
        <p:cxnSp>
          <p:nvCxnSpPr>
            <p:cNvPr id="43" name="Straight Connector 42">
              <a:extLst>
                <a:ext uri="{FF2B5EF4-FFF2-40B4-BE49-F238E27FC236}">
                  <a16:creationId xmlns:a16="http://schemas.microsoft.com/office/drawing/2014/main" id="{87B2F7CC-61C7-C245-2450-85955FDFE296}"/>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Subtitle 2">
              <a:extLst>
                <a:ext uri="{FF2B5EF4-FFF2-40B4-BE49-F238E27FC236}">
                  <a16:creationId xmlns:a16="http://schemas.microsoft.com/office/drawing/2014/main" id="{A9E26F4E-5588-EB85-661B-7E7FA9CD8E1F}"/>
                </a:ext>
              </a:extLst>
            </p:cNvPr>
            <p:cNvSpPr txBox="1">
              <a:spLocks/>
            </p:cNvSpPr>
            <p:nvPr/>
          </p:nvSpPr>
          <p:spPr>
            <a:xfrm>
              <a:off x="277250" y="4695937"/>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inbound/outbound referral dominance to outline where influence concentrates in these clusters</a:t>
              </a:r>
            </a:p>
          </p:txBody>
        </p:sp>
      </p:grpSp>
      <p:sp>
        <p:nvSpPr>
          <p:cNvPr id="52" name="Rectangle 51">
            <a:extLst>
              <a:ext uri="{FF2B5EF4-FFF2-40B4-BE49-F238E27FC236}">
                <a16:creationId xmlns:a16="http://schemas.microsoft.com/office/drawing/2014/main" id="{5D4F480A-4FC4-424B-1443-F7563CD56FB8}"/>
              </a:ext>
            </a:extLst>
          </p:cNvPr>
          <p:cNvSpPr/>
          <p:nvPr/>
        </p:nvSpPr>
        <p:spPr>
          <a:xfrm>
            <a:off x="0" y="5760370"/>
            <a:ext cx="12192000" cy="656305"/>
          </a:xfrm>
          <a:prstGeom prst="rect">
            <a:avLst/>
          </a:prstGeom>
          <a:solidFill>
            <a:schemeClr val="tx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Key Business Questions </a:t>
            </a:r>
            <a:b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b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Addressed</a:t>
            </a:r>
            <a:endParaRPr kumimoji="0" lang="en-US" sz="1200" b="0" i="1"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3" name="Rectangle 52">
            <a:extLst>
              <a:ext uri="{FF2B5EF4-FFF2-40B4-BE49-F238E27FC236}">
                <a16:creationId xmlns:a16="http://schemas.microsoft.com/office/drawing/2014/main" id="{A41B5071-CF90-EA87-09AF-F685BD880B0B}"/>
              </a:ext>
            </a:extLst>
          </p:cNvPr>
          <p:cNvSpPr/>
          <p:nvPr/>
        </p:nvSpPr>
        <p:spPr>
          <a:xfrm>
            <a:off x="2181226"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are territorial referral ecosystems structured and how do they differ across regions?</a:t>
            </a:r>
          </a:p>
        </p:txBody>
      </p:sp>
      <p:sp>
        <p:nvSpPr>
          <p:cNvPr id="54" name="Rectangle 53">
            <a:extLst>
              <a:ext uri="{FF2B5EF4-FFF2-40B4-BE49-F238E27FC236}">
                <a16:creationId xmlns:a16="http://schemas.microsoft.com/office/drawing/2014/main" id="{D8E32793-425D-F341-7B26-C6F39B454452}"/>
              </a:ext>
            </a:extLst>
          </p:cNvPr>
          <p:cNvSpPr/>
          <p:nvPr/>
        </p:nvSpPr>
        <p:spPr>
          <a:xfrm>
            <a:off x="5532664"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Which HCP/HCOs function as hubs capable of influencing care access?</a:t>
            </a:r>
          </a:p>
        </p:txBody>
      </p:sp>
      <p:sp>
        <p:nvSpPr>
          <p:cNvPr id="55" name="Rectangle 54">
            <a:extLst>
              <a:ext uri="{FF2B5EF4-FFF2-40B4-BE49-F238E27FC236}">
                <a16:creationId xmlns:a16="http://schemas.microsoft.com/office/drawing/2014/main" id="{7988C481-A860-AA54-64A4-86457B3DCD19}"/>
              </a:ext>
            </a:extLst>
          </p:cNvPr>
          <p:cNvSpPr/>
          <p:nvPr/>
        </p:nvSpPr>
        <p:spPr>
          <a:xfrm>
            <a:off x="8884102"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are referral leadership and specialty coverage distributed across territories?</a:t>
            </a:r>
          </a:p>
        </p:txBody>
      </p:sp>
      <p:grpSp>
        <p:nvGrpSpPr>
          <p:cNvPr id="2" name="Group 1">
            <a:extLst>
              <a:ext uri="{FF2B5EF4-FFF2-40B4-BE49-F238E27FC236}">
                <a16:creationId xmlns:a16="http://schemas.microsoft.com/office/drawing/2014/main" id="{81D45675-CAF4-4687-814E-F2BA623F973D}"/>
              </a:ext>
            </a:extLst>
          </p:cNvPr>
          <p:cNvGrpSpPr/>
          <p:nvPr/>
        </p:nvGrpSpPr>
        <p:grpSpPr>
          <a:xfrm>
            <a:off x="8451104" y="3110948"/>
            <a:ext cx="3017520" cy="1258888"/>
            <a:chOff x="277250" y="3177623"/>
            <a:chExt cx="3017520" cy="1258888"/>
          </a:xfrm>
        </p:grpSpPr>
        <p:sp>
          <p:nvSpPr>
            <p:cNvPr id="10" name="Subtitle 2">
              <a:extLst>
                <a:ext uri="{FF2B5EF4-FFF2-40B4-BE49-F238E27FC236}">
                  <a16:creationId xmlns:a16="http://schemas.microsoft.com/office/drawing/2014/main" id="{66D506F7-9E11-B883-5CD0-67676934BFFF}"/>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structural differences across territories by comparing metric distributions and profiling how connectivity flows across ecosystems </a:t>
              </a:r>
            </a:p>
          </p:txBody>
        </p:sp>
        <p:cxnSp>
          <p:nvCxnSpPr>
            <p:cNvPr id="12" name="Straight Connector 11">
              <a:extLst>
                <a:ext uri="{FF2B5EF4-FFF2-40B4-BE49-F238E27FC236}">
                  <a16:creationId xmlns:a16="http://schemas.microsoft.com/office/drawing/2014/main" id="{4B13B381-BE2F-05C1-C284-BF2DBDF1986F}"/>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ubtitle 2">
              <a:extLst>
                <a:ext uri="{FF2B5EF4-FFF2-40B4-BE49-F238E27FC236}">
                  <a16:creationId xmlns:a16="http://schemas.microsoft.com/office/drawing/2014/main" id="{56752FA7-53D6-433A-AC6D-FC24C958964D}"/>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Detect underserved or fragmented ecosystems while uncovering equity of hub presence and network density</a:t>
              </a:r>
            </a:p>
          </p:txBody>
        </p:sp>
      </p:grpSp>
      <p:grpSp>
        <p:nvGrpSpPr>
          <p:cNvPr id="23" name="Group 22">
            <a:extLst>
              <a:ext uri="{FF2B5EF4-FFF2-40B4-BE49-F238E27FC236}">
                <a16:creationId xmlns:a16="http://schemas.microsoft.com/office/drawing/2014/main" id="{604FA030-DEA4-1FE1-02C1-027212C8E11C}"/>
              </a:ext>
            </a:extLst>
          </p:cNvPr>
          <p:cNvGrpSpPr/>
          <p:nvPr/>
        </p:nvGrpSpPr>
        <p:grpSpPr>
          <a:xfrm>
            <a:off x="1749625" y="1709376"/>
            <a:ext cx="476602" cy="476602"/>
            <a:chOff x="1749625" y="1709376"/>
            <a:chExt cx="476602" cy="476602"/>
          </a:xfrm>
        </p:grpSpPr>
        <p:sp>
          <p:nvSpPr>
            <p:cNvPr id="22" name="Oval 21">
              <a:extLst>
                <a:ext uri="{FF2B5EF4-FFF2-40B4-BE49-F238E27FC236}">
                  <a16:creationId xmlns:a16="http://schemas.microsoft.com/office/drawing/2014/main" id="{9169903F-76A0-BB27-236D-C00DDE82C388}"/>
                </a:ext>
              </a:extLst>
            </p:cNvPr>
            <p:cNvSpPr/>
            <p:nvPr/>
          </p:nvSpPr>
          <p:spPr>
            <a:xfrm>
              <a:off x="1749625"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1" name="Freeform: Shape 20">
              <a:extLst>
                <a:ext uri="{FF2B5EF4-FFF2-40B4-BE49-F238E27FC236}">
                  <a16:creationId xmlns:a16="http://schemas.microsoft.com/office/drawing/2014/main" id="{6E155B1B-6F07-422E-55B5-E31C484BAB8C}"/>
                </a:ext>
              </a:extLst>
            </p:cNvPr>
            <p:cNvSpPr>
              <a:spLocks noChangeAspect="1"/>
            </p:cNvSpPr>
            <p:nvPr/>
          </p:nvSpPr>
          <p:spPr>
            <a:xfrm>
              <a:off x="1834918" y="1804402"/>
              <a:ext cx="306017" cy="286550"/>
            </a:xfrm>
            <a:custGeom>
              <a:avLst/>
              <a:gdLst>
                <a:gd name="connsiteX0" fmla="*/ 777811 w 877100"/>
                <a:gd name="connsiteY0" fmla="*/ 550697 h 821302"/>
                <a:gd name="connsiteX1" fmla="*/ 783088 w 877100"/>
                <a:gd name="connsiteY1" fmla="*/ 551821 h 821302"/>
                <a:gd name="connsiteX2" fmla="*/ 864194 w 877100"/>
                <a:gd name="connsiteY2" fmla="*/ 551821 h 821302"/>
                <a:gd name="connsiteX3" fmla="*/ 877091 w 877100"/>
                <a:gd name="connsiteY3" fmla="*/ 538925 h 821302"/>
                <a:gd name="connsiteX4" fmla="*/ 864194 w 877100"/>
                <a:gd name="connsiteY4" fmla="*/ 526028 h 821302"/>
                <a:gd name="connsiteX5" fmla="*/ 785841 w 877100"/>
                <a:gd name="connsiteY5" fmla="*/ 526028 h 821302"/>
                <a:gd name="connsiteX6" fmla="*/ 707803 w 877100"/>
                <a:gd name="connsiteY6" fmla="*/ 491042 h 821302"/>
                <a:gd name="connsiteX7" fmla="*/ 729482 w 877100"/>
                <a:gd name="connsiteY7" fmla="*/ 371294 h 821302"/>
                <a:gd name="connsiteX8" fmla="*/ 635756 w 877100"/>
                <a:gd name="connsiteY8" fmla="*/ 136465 h 821302"/>
                <a:gd name="connsiteX9" fmla="*/ 692248 w 877100"/>
                <a:gd name="connsiteY9" fmla="*/ 76076 h 821302"/>
                <a:gd name="connsiteX10" fmla="*/ 767763 w 877100"/>
                <a:gd name="connsiteY10" fmla="*/ 76076 h 821302"/>
                <a:gd name="connsiteX11" fmla="*/ 780660 w 877100"/>
                <a:gd name="connsiteY11" fmla="*/ 63179 h 821302"/>
                <a:gd name="connsiteX12" fmla="*/ 767763 w 877100"/>
                <a:gd name="connsiteY12" fmla="*/ 50282 h 821302"/>
                <a:gd name="connsiteX13" fmla="*/ 686657 w 877100"/>
                <a:gd name="connsiteY13" fmla="*/ 50282 h 821302"/>
                <a:gd name="connsiteX14" fmla="*/ 677237 w 877100"/>
                <a:gd name="connsiteY14" fmla="*/ 54369 h 821302"/>
                <a:gd name="connsiteX15" fmla="*/ 617325 w 877100"/>
                <a:gd name="connsiteY15" fmla="*/ 118415 h 821302"/>
                <a:gd name="connsiteX16" fmla="*/ 387810 w 877100"/>
                <a:gd name="connsiteY16" fmla="*/ 29632 h 821302"/>
                <a:gd name="connsiteX17" fmla="*/ 161182 w 877100"/>
                <a:gd name="connsiteY17" fmla="*/ 115853 h 821302"/>
                <a:gd name="connsiteX18" fmla="*/ 103718 w 877100"/>
                <a:gd name="connsiteY18" fmla="*/ 49911 h 821302"/>
                <a:gd name="connsiteX19" fmla="*/ 93993 w 877100"/>
                <a:gd name="connsiteY19" fmla="*/ 45491 h 821302"/>
                <a:gd name="connsiteX20" fmla="*/ 12897 w 877100"/>
                <a:gd name="connsiteY20" fmla="*/ 45491 h 821302"/>
                <a:gd name="connsiteX21" fmla="*/ 0 w 877100"/>
                <a:gd name="connsiteY21" fmla="*/ 58388 h 821302"/>
                <a:gd name="connsiteX22" fmla="*/ 12897 w 877100"/>
                <a:gd name="connsiteY22" fmla="*/ 71285 h 821302"/>
                <a:gd name="connsiteX23" fmla="*/ 88135 w 877100"/>
                <a:gd name="connsiteY23" fmla="*/ 71285 h 821302"/>
                <a:gd name="connsiteX24" fmla="*/ 142532 w 877100"/>
                <a:gd name="connsiteY24" fmla="*/ 133712 h 821302"/>
                <a:gd name="connsiteX25" fmla="*/ 46149 w 877100"/>
                <a:gd name="connsiteY25" fmla="*/ 371304 h 821302"/>
                <a:gd name="connsiteX26" fmla="*/ 239030 w 877100"/>
                <a:gd name="connsiteY26" fmla="*/ 678828 h 821302"/>
                <a:gd name="connsiteX27" fmla="*/ 203854 w 877100"/>
                <a:gd name="connsiteY27" fmla="*/ 750037 h 821302"/>
                <a:gd name="connsiteX28" fmla="*/ 130759 w 877100"/>
                <a:gd name="connsiteY28" fmla="*/ 750037 h 821302"/>
                <a:gd name="connsiteX29" fmla="*/ 117862 w 877100"/>
                <a:gd name="connsiteY29" fmla="*/ 762933 h 821302"/>
                <a:gd name="connsiteX30" fmla="*/ 130759 w 877100"/>
                <a:gd name="connsiteY30" fmla="*/ 775830 h 821302"/>
                <a:gd name="connsiteX31" fmla="*/ 211865 w 877100"/>
                <a:gd name="connsiteY31" fmla="*/ 775830 h 821302"/>
                <a:gd name="connsiteX32" fmla="*/ 223428 w 877100"/>
                <a:gd name="connsiteY32" fmla="*/ 768648 h 821302"/>
                <a:gd name="connsiteX33" fmla="*/ 262661 w 877100"/>
                <a:gd name="connsiteY33" fmla="*/ 689229 h 821302"/>
                <a:gd name="connsiteX34" fmla="*/ 387810 w 877100"/>
                <a:gd name="connsiteY34" fmla="*/ 712965 h 821302"/>
                <a:gd name="connsiteX35" fmla="*/ 697811 w 877100"/>
                <a:gd name="connsiteY35" fmla="*/ 514845 h 821302"/>
                <a:gd name="connsiteX36" fmla="*/ 777811 w 877100"/>
                <a:gd name="connsiteY36" fmla="*/ 550697 h 821302"/>
                <a:gd name="connsiteX37" fmla="*/ 508740 w 877100"/>
                <a:gd name="connsiteY37" fmla="*/ 473964 h 821302"/>
                <a:gd name="connsiteX38" fmla="*/ 545916 w 877100"/>
                <a:gd name="connsiteY38" fmla="*/ 384191 h 821302"/>
                <a:gd name="connsiteX39" fmla="*/ 703402 w 877100"/>
                <a:gd name="connsiteY39" fmla="*/ 384191 h 821302"/>
                <a:gd name="connsiteX40" fmla="*/ 619992 w 877100"/>
                <a:gd name="connsiteY40" fmla="*/ 585226 h 821302"/>
                <a:gd name="connsiteX41" fmla="*/ 508740 w 877100"/>
                <a:gd name="connsiteY41" fmla="*/ 473964 h 821302"/>
                <a:gd name="connsiteX42" fmla="*/ 229733 w 877100"/>
                <a:gd name="connsiteY42" fmla="*/ 358397 h 821302"/>
                <a:gd name="connsiteX43" fmla="*/ 72238 w 877100"/>
                <a:gd name="connsiteY43" fmla="*/ 358397 h 821302"/>
                <a:gd name="connsiteX44" fmla="*/ 374923 w 877100"/>
                <a:gd name="connsiteY44" fmla="*/ 55712 h 821302"/>
                <a:gd name="connsiteX45" fmla="*/ 374923 w 877100"/>
                <a:gd name="connsiteY45" fmla="*/ 213198 h 821302"/>
                <a:gd name="connsiteX46" fmla="*/ 275634 w 877100"/>
                <a:gd name="connsiteY46" fmla="*/ 259109 h 821302"/>
                <a:gd name="connsiteX47" fmla="*/ 229733 w 877100"/>
                <a:gd name="connsiteY47" fmla="*/ 358397 h 821302"/>
                <a:gd name="connsiteX48" fmla="*/ 703402 w 877100"/>
                <a:gd name="connsiteY48" fmla="*/ 358397 h 821302"/>
                <a:gd name="connsiteX49" fmla="*/ 545916 w 877100"/>
                <a:gd name="connsiteY49" fmla="*/ 358397 h 821302"/>
                <a:gd name="connsiteX50" fmla="*/ 500005 w 877100"/>
                <a:gd name="connsiteY50" fmla="*/ 259109 h 821302"/>
                <a:gd name="connsiteX51" fmla="*/ 400717 w 877100"/>
                <a:gd name="connsiteY51" fmla="*/ 213198 h 821302"/>
                <a:gd name="connsiteX52" fmla="*/ 400717 w 877100"/>
                <a:gd name="connsiteY52" fmla="*/ 55712 h 821302"/>
                <a:gd name="connsiteX53" fmla="*/ 703402 w 877100"/>
                <a:gd name="connsiteY53" fmla="*/ 358397 h 821302"/>
                <a:gd name="connsiteX54" fmla="*/ 293875 w 877100"/>
                <a:gd name="connsiteY54" fmla="*/ 277349 h 821302"/>
                <a:gd name="connsiteX55" fmla="*/ 387820 w 877100"/>
                <a:gd name="connsiteY55" fmla="*/ 238439 h 821302"/>
                <a:gd name="connsiteX56" fmla="*/ 481765 w 877100"/>
                <a:gd name="connsiteY56" fmla="*/ 277349 h 821302"/>
                <a:gd name="connsiteX57" fmla="*/ 520675 w 877100"/>
                <a:gd name="connsiteY57" fmla="*/ 371294 h 821302"/>
                <a:gd name="connsiteX58" fmla="*/ 488290 w 877100"/>
                <a:gd name="connsiteY58" fmla="*/ 458181 h 821302"/>
                <a:gd name="connsiteX59" fmla="*/ 440493 w 877100"/>
                <a:gd name="connsiteY59" fmla="*/ 413852 h 821302"/>
                <a:gd name="connsiteX60" fmla="*/ 455847 w 877100"/>
                <a:gd name="connsiteY60" fmla="*/ 371285 h 821302"/>
                <a:gd name="connsiteX61" fmla="*/ 387820 w 877100"/>
                <a:gd name="connsiteY61" fmla="*/ 303933 h 821302"/>
                <a:gd name="connsiteX62" fmla="*/ 319792 w 877100"/>
                <a:gd name="connsiteY62" fmla="*/ 371285 h 821302"/>
                <a:gd name="connsiteX63" fmla="*/ 335147 w 877100"/>
                <a:gd name="connsiteY63" fmla="*/ 413852 h 821302"/>
                <a:gd name="connsiteX64" fmla="*/ 287350 w 877100"/>
                <a:gd name="connsiteY64" fmla="*/ 458181 h 821302"/>
                <a:gd name="connsiteX65" fmla="*/ 254965 w 877100"/>
                <a:gd name="connsiteY65" fmla="*/ 371294 h 821302"/>
                <a:gd name="connsiteX66" fmla="*/ 293875 w 877100"/>
                <a:gd name="connsiteY66" fmla="*/ 277349 h 821302"/>
                <a:gd name="connsiteX67" fmla="*/ 345596 w 877100"/>
                <a:gd name="connsiteY67" fmla="*/ 371294 h 821302"/>
                <a:gd name="connsiteX68" fmla="*/ 387829 w 877100"/>
                <a:gd name="connsiteY68" fmla="*/ 329736 h 821302"/>
                <a:gd name="connsiteX69" fmla="*/ 430063 w 877100"/>
                <a:gd name="connsiteY69" fmla="*/ 371294 h 821302"/>
                <a:gd name="connsiteX70" fmla="*/ 387829 w 877100"/>
                <a:gd name="connsiteY70" fmla="*/ 412842 h 821302"/>
                <a:gd name="connsiteX71" fmla="*/ 345596 w 877100"/>
                <a:gd name="connsiteY71" fmla="*/ 371294 h 821302"/>
                <a:gd name="connsiteX72" fmla="*/ 361750 w 877100"/>
                <a:gd name="connsiteY72" fmla="*/ 433492 h 821302"/>
                <a:gd name="connsiteX73" fmla="*/ 387829 w 877100"/>
                <a:gd name="connsiteY73" fmla="*/ 438645 h 821302"/>
                <a:gd name="connsiteX74" fmla="*/ 413909 w 877100"/>
                <a:gd name="connsiteY74" fmla="*/ 433492 h 821302"/>
                <a:gd name="connsiteX75" fmla="*/ 468268 w 877100"/>
                <a:gd name="connsiteY75" fmla="*/ 477031 h 821302"/>
                <a:gd name="connsiteX76" fmla="*/ 387829 w 877100"/>
                <a:gd name="connsiteY76" fmla="*/ 504149 h 821302"/>
                <a:gd name="connsiteX77" fmla="*/ 307391 w 877100"/>
                <a:gd name="connsiteY77" fmla="*/ 477031 h 821302"/>
                <a:gd name="connsiteX78" fmla="*/ 361750 w 877100"/>
                <a:gd name="connsiteY78" fmla="*/ 433492 h 821302"/>
                <a:gd name="connsiteX79" fmla="*/ 72238 w 877100"/>
                <a:gd name="connsiteY79" fmla="*/ 384191 h 821302"/>
                <a:gd name="connsiteX80" fmla="*/ 229733 w 877100"/>
                <a:gd name="connsiteY80" fmla="*/ 384191 h 821302"/>
                <a:gd name="connsiteX81" fmla="*/ 275634 w 877100"/>
                <a:gd name="connsiteY81" fmla="*/ 483479 h 821302"/>
                <a:gd name="connsiteX82" fmla="*/ 387820 w 877100"/>
                <a:gd name="connsiteY82" fmla="*/ 529942 h 821302"/>
                <a:gd name="connsiteX83" fmla="*/ 387820 w 877100"/>
                <a:gd name="connsiteY83" fmla="*/ 529942 h 821302"/>
                <a:gd name="connsiteX84" fmla="*/ 490490 w 877100"/>
                <a:gd name="connsiteY84" fmla="*/ 492204 h 821302"/>
                <a:gd name="connsiteX85" fmla="*/ 601742 w 877100"/>
                <a:gd name="connsiteY85" fmla="*/ 603456 h 821302"/>
                <a:gd name="connsiteX86" fmla="*/ 387810 w 877100"/>
                <a:gd name="connsiteY86" fmla="*/ 687153 h 821302"/>
                <a:gd name="connsiteX87" fmla="*/ 72238 w 877100"/>
                <a:gd name="connsiteY87" fmla="*/ 384191 h 821302"/>
                <a:gd name="connsiteX88" fmla="*/ 673770 w 877100"/>
                <a:gd name="connsiteY88" fmla="*/ 17697 h 821302"/>
                <a:gd name="connsiteX89" fmla="*/ 686667 w 877100"/>
                <a:gd name="connsiteY89" fmla="*/ 4801 h 821302"/>
                <a:gd name="connsiteX90" fmla="*/ 696249 w 877100"/>
                <a:gd name="connsiteY90" fmla="*/ 4801 h 821302"/>
                <a:gd name="connsiteX91" fmla="*/ 709146 w 877100"/>
                <a:gd name="connsiteY91" fmla="*/ 17697 h 821302"/>
                <a:gd name="connsiteX92" fmla="*/ 696249 w 877100"/>
                <a:gd name="connsiteY92" fmla="*/ 30594 h 821302"/>
                <a:gd name="connsiteX93" fmla="*/ 686667 w 877100"/>
                <a:gd name="connsiteY93" fmla="*/ 30594 h 821302"/>
                <a:gd name="connsiteX94" fmla="*/ 673770 w 877100"/>
                <a:gd name="connsiteY94" fmla="*/ 17697 h 821302"/>
                <a:gd name="connsiteX95" fmla="*/ 714642 w 877100"/>
                <a:gd name="connsiteY95" fmla="*/ 17697 h 821302"/>
                <a:gd name="connsiteX96" fmla="*/ 727539 w 877100"/>
                <a:gd name="connsiteY96" fmla="*/ 4801 h 821302"/>
                <a:gd name="connsiteX97" fmla="*/ 767772 w 877100"/>
                <a:gd name="connsiteY97" fmla="*/ 4801 h 821302"/>
                <a:gd name="connsiteX98" fmla="*/ 780669 w 877100"/>
                <a:gd name="connsiteY98" fmla="*/ 17697 h 821302"/>
                <a:gd name="connsiteX99" fmla="*/ 767772 w 877100"/>
                <a:gd name="connsiteY99" fmla="*/ 30594 h 821302"/>
                <a:gd name="connsiteX100" fmla="*/ 727539 w 877100"/>
                <a:gd name="connsiteY100" fmla="*/ 30594 h 821302"/>
                <a:gd name="connsiteX101" fmla="*/ 714642 w 877100"/>
                <a:gd name="connsiteY101" fmla="*/ 17697 h 821302"/>
                <a:gd name="connsiteX102" fmla="*/ 71523 w 877100"/>
                <a:gd name="connsiteY102" fmla="*/ 12897 h 821302"/>
                <a:gd name="connsiteX103" fmla="*/ 84420 w 877100"/>
                <a:gd name="connsiteY103" fmla="*/ 0 h 821302"/>
                <a:gd name="connsiteX104" fmla="*/ 94002 w 877100"/>
                <a:gd name="connsiteY104" fmla="*/ 0 h 821302"/>
                <a:gd name="connsiteX105" fmla="*/ 106899 w 877100"/>
                <a:gd name="connsiteY105" fmla="*/ 12897 h 821302"/>
                <a:gd name="connsiteX106" fmla="*/ 94002 w 877100"/>
                <a:gd name="connsiteY106" fmla="*/ 25794 h 821302"/>
                <a:gd name="connsiteX107" fmla="*/ 84420 w 877100"/>
                <a:gd name="connsiteY107" fmla="*/ 25794 h 821302"/>
                <a:gd name="connsiteX108" fmla="*/ 71523 w 877100"/>
                <a:gd name="connsiteY108" fmla="*/ 12897 h 821302"/>
                <a:gd name="connsiteX109" fmla="*/ 0 w 877100"/>
                <a:gd name="connsiteY109" fmla="*/ 12897 h 821302"/>
                <a:gd name="connsiteX110" fmla="*/ 12897 w 877100"/>
                <a:gd name="connsiteY110" fmla="*/ 0 h 821302"/>
                <a:gd name="connsiteX111" fmla="*/ 53130 w 877100"/>
                <a:gd name="connsiteY111" fmla="*/ 0 h 821302"/>
                <a:gd name="connsiteX112" fmla="*/ 66027 w 877100"/>
                <a:gd name="connsiteY112" fmla="*/ 12897 h 821302"/>
                <a:gd name="connsiteX113" fmla="*/ 53140 w 877100"/>
                <a:gd name="connsiteY113" fmla="*/ 25794 h 821302"/>
                <a:gd name="connsiteX114" fmla="*/ 12897 w 877100"/>
                <a:gd name="connsiteY114" fmla="*/ 25794 h 821302"/>
                <a:gd name="connsiteX115" fmla="*/ 0 w 877100"/>
                <a:gd name="connsiteY115" fmla="*/ 12897 h 821302"/>
                <a:gd name="connsiteX116" fmla="*/ 224771 w 877100"/>
                <a:gd name="connsiteY116" fmla="*/ 808406 h 821302"/>
                <a:gd name="connsiteX117" fmla="*/ 211874 w 877100"/>
                <a:gd name="connsiteY117" fmla="*/ 821303 h 821302"/>
                <a:gd name="connsiteX118" fmla="*/ 202292 w 877100"/>
                <a:gd name="connsiteY118" fmla="*/ 821303 h 821302"/>
                <a:gd name="connsiteX119" fmla="*/ 189395 w 877100"/>
                <a:gd name="connsiteY119" fmla="*/ 808406 h 821302"/>
                <a:gd name="connsiteX120" fmla="*/ 202292 w 877100"/>
                <a:gd name="connsiteY120" fmla="*/ 795509 h 821302"/>
                <a:gd name="connsiteX121" fmla="*/ 211874 w 877100"/>
                <a:gd name="connsiteY121" fmla="*/ 795509 h 821302"/>
                <a:gd name="connsiteX122" fmla="*/ 224771 w 877100"/>
                <a:gd name="connsiteY122" fmla="*/ 808406 h 821302"/>
                <a:gd name="connsiteX123" fmla="*/ 183899 w 877100"/>
                <a:gd name="connsiteY123" fmla="*/ 808406 h 821302"/>
                <a:gd name="connsiteX124" fmla="*/ 171002 w 877100"/>
                <a:gd name="connsiteY124" fmla="*/ 821303 h 821302"/>
                <a:gd name="connsiteX125" fmla="*/ 130769 w 877100"/>
                <a:gd name="connsiteY125" fmla="*/ 821303 h 821302"/>
                <a:gd name="connsiteX126" fmla="*/ 117872 w 877100"/>
                <a:gd name="connsiteY126" fmla="*/ 808406 h 821302"/>
                <a:gd name="connsiteX127" fmla="*/ 130769 w 877100"/>
                <a:gd name="connsiteY127" fmla="*/ 795509 h 821302"/>
                <a:gd name="connsiteX128" fmla="*/ 171002 w 877100"/>
                <a:gd name="connsiteY128" fmla="*/ 795509 h 821302"/>
                <a:gd name="connsiteX129" fmla="*/ 183899 w 877100"/>
                <a:gd name="connsiteY129" fmla="*/ 808406 h 821302"/>
                <a:gd name="connsiteX130" fmla="*/ 805577 w 877100"/>
                <a:gd name="connsiteY130" fmla="*/ 584406 h 821302"/>
                <a:gd name="connsiteX131" fmla="*/ 792680 w 877100"/>
                <a:gd name="connsiteY131" fmla="*/ 597303 h 821302"/>
                <a:gd name="connsiteX132" fmla="*/ 783098 w 877100"/>
                <a:gd name="connsiteY132" fmla="*/ 597303 h 821302"/>
                <a:gd name="connsiteX133" fmla="*/ 770201 w 877100"/>
                <a:gd name="connsiteY133" fmla="*/ 584406 h 821302"/>
                <a:gd name="connsiteX134" fmla="*/ 783098 w 877100"/>
                <a:gd name="connsiteY134" fmla="*/ 571510 h 821302"/>
                <a:gd name="connsiteX135" fmla="*/ 792680 w 877100"/>
                <a:gd name="connsiteY135" fmla="*/ 571510 h 821302"/>
                <a:gd name="connsiteX136" fmla="*/ 805577 w 877100"/>
                <a:gd name="connsiteY136" fmla="*/ 584406 h 821302"/>
                <a:gd name="connsiteX137" fmla="*/ 877100 w 877100"/>
                <a:gd name="connsiteY137" fmla="*/ 584406 h 821302"/>
                <a:gd name="connsiteX138" fmla="*/ 864203 w 877100"/>
                <a:gd name="connsiteY138" fmla="*/ 597303 h 821302"/>
                <a:gd name="connsiteX139" fmla="*/ 823970 w 877100"/>
                <a:gd name="connsiteY139" fmla="*/ 597303 h 821302"/>
                <a:gd name="connsiteX140" fmla="*/ 811073 w 877100"/>
                <a:gd name="connsiteY140" fmla="*/ 584406 h 821302"/>
                <a:gd name="connsiteX141" fmla="*/ 823970 w 877100"/>
                <a:gd name="connsiteY141" fmla="*/ 571510 h 821302"/>
                <a:gd name="connsiteX142" fmla="*/ 864203 w 877100"/>
                <a:gd name="connsiteY142" fmla="*/ 571510 h 821302"/>
                <a:gd name="connsiteX143" fmla="*/ 877100 w 877100"/>
                <a:gd name="connsiteY143" fmla="*/ 584406 h 821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877100" h="821302">
                  <a:moveTo>
                    <a:pt x="777811" y="550697"/>
                  </a:moveTo>
                  <a:cubicBezTo>
                    <a:pt x="779469" y="551440"/>
                    <a:pt x="781269" y="551821"/>
                    <a:pt x="783088" y="551821"/>
                  </a:cubicBezTo>
                  <a:lnTo>
                    <a:pt x="864194" y="551821"/>
                  </a:lnTo>
                  <a:cubicBezTo>
                    <a:pt x="871318" y="551821"/>
                    <a:pt x="877091" y="546049"/>
                    <a:pt x="877091" y="538925"/>
                  </a:cubicBezTo>
                  <a:cubicBezTo>
                    <a:pt x="877091" y="531800"/>
                    <a:pt x="871318" y="526028"/>
                    <a:pt x="864194" y="526028"/>
                  </a:cubicBezTo>
                  <a:lnTo>
                    <a:pt x="785841" y="526028"/>
                  </a:lnTo>
                  <a:lnTo>
                    <a:pt x="707803" y="491042"/>
                  </a:lnTo>
                  <a:cubicBezTo>
                    <a:pt x="721805" y="453761"/>
                    <a:pt x="729482" y="413404"/>
                    <a:pt x="729482" y="371294"/>
                  </a:cubicBezTo>
                  <a:cubicBezTo>
                    <a:pt x="729482" y="280426"/>
                    <a:pt x="693820" y="197739"/>
                    <a:pt x="635756" y="136465"/>
                  </a:cubicBezTo>
                  <a:lnTo>
                    <a:pt x="692248" y="76076"/>
                  </a:lnTo>
                  <a:lnTo>
                    <a:pt x="767763" y="76076"/>
                  </a:lnTo>
                  <a:cubicBezTo>
                    <a:pt x="774887" y="76076"/>
                    <a:pt x="780660" y="70304"/>
                    <a:pt x="780660" y="63179"/>
                  </a:cubicBezTo>
                  <a:cubicBezTo>
                    <a:pt x="780660" y="56055"/>
                    <a:pt x="774887" y="50282"/>
                    <a:pt x="767763" y="50282"/>
                  </a:cubicBezTo>
                  <a:lnTo>
                    <a:pt x="686657" y="50282"/>
                  </a:lnTo>
                  <a:cubicBezTo>
                    <a:pt x="683085" y="50282"/>
                    <a:pt x="679675" y="51759"/>
                    <a:pt x="677237" y="54369"/>
                  </a:cubicBezTo>
                  <a:lnTo>
                    <a:pt x="617325" y="118415"/>
                  </a:lnTo>
                  <a:cubicBezTo>
                    <a:pt x="556632" y="63275"/>
                    <a:pt x="476079" y="29632"/>
                    <a:pt x="387810" y="29632"/>
                  </a:cubicBezTo>
                  <a:cubicBezTo>
                    <a:pt x="300933" y="29632"/>
                    <a:pt x="221532" y="62246"/>
                    <a:pt x="161182" y="115853"/>
                  </a:cubicBezTo>
                  <a:lnTo>
                    <a:pt x="103718" y="49911"/>
                  </a:lnTo>
                  <a:cubicBezTo>
                    <a:pt x="101270" y="47101"/>
                    <a:pt x="97727" y="45491"/>
                    <a:pt x="93993" y="45491"/>
                  </a:cubicBezTo>
                  <a:lnTo>
                    <a:pt x="12897" y="45491"/>
                  </a:lnTo>
                  <a:cubicBezTo>
                    <a:pt x="5772" y="45491"/>
                    <a:pt x="0" y="51264"/>
                    <a:pt x="0" y="58388"/>
                  </a:cubicBezTo>
                  <a:cubicBezTo>
                    <a:pt x="0" y="65513"/>
                    <a:pt x="5772" y="71285"/>
                    <a:pt x="12897" y="71285"/>
                  </a:cubicBezTo>
                  <a:lnTo>
                    <a:pt x="88135" y="71285"/>
                  </a:lnTo>
                  <a:lnTo>
                    <a:pt x="142532" y="133712"/>
                  </a:lnTo>
                  <a:cubicBezTo>
                    <a:pt x="82906" y="195243"/>
                    <a:pt x="46149" y="279054"/>
                    <a:pt x="46149" y="371304"/>
                  </a:cubicBezTo>
                  <a:cubicBezTo>
                    <a:pt x="46149" y="506397"/>
                    <a:pt x="124968" y="623421"/>
                    <a:pt x="239030" y="678828"/>
                  </a:cubicBezTo>
                  <a:lnTo>
                    <a:pt x="203854" y="750037"/>
                  </a:lnTo>
                  <a:lnTo>
                    <a:pt x="130759" y="750037"/>
                  </a:lnTo>
                  <a:cubicBezTo>
                    <a:pt x="123635" y="750037"/>
                    <a:pt x="117862" y="755809"/>
                    <a:pt x="117862" y="762933"/>
                  </a:cubicBezTo>
                  <a:cubicBezTo>
                    <a:pt x="117862" y="770058"/>
                    <a:pt x="123635" y="775830"/>
                    <a:pt x="130759" y="775830"/>
                  </a:cubicBezTo>
                  <a:lnTo>
                    <a:pt x="211865" y="775830"/>
                  </a:lnTo>
                  <a:cubicBezTo>
                    <a:pt x="216770" y="775830"/>
                    <a:pt x="221256" y="773039"/>
                    <a:pt x="223428" y="768648"/>
                  </a:cubicBezTo>
                  <a:lnTo>
                    <a:pt x="262661" y="689229"/>
                  </a:lnTo>
                  <a:cubicBezTo>
                    <a:pt x="301438" y="704545"/>
                    <a:pt x="343662" y="712965"/>
                    <a:pt x="387810" y="712965"/>
                  </a:cubicBezTo>
                  <a:cubicBezTo>
                    <a:pt x="524961" y="712965"/>
                    <a:pt x="643480" y="631727"/>
                    <a:pt x="697811" y="514845"/>
                  </a:cubicBezTo>
                  <a:lnTo>
                    <a:pt x="777811" y="550697"/>
                  </a:lnTo>
                  <a:close/>
                  <a:moveTo>
                    <a:pt x="508740" y="473964"/>
                  </a:moveTo>
                  <a:cubicBezTo>
                    <a:pt x="530362" y="448580"/>
                    <a:pt x="543258" y="417433"/>
                    <a:pt x="545916" y="384191"/>
                  </a:cubicBezTo>
                  <a:lnTo>
                    <a:pt x="703402" y="384191"/>
                  </a:lnTo>
                  <a:cubicBezTo>
                    <a:pt x="700278" y="461572"/>
                    <a:pt x="669198" y="531867"/>
                    <a:pt x="619992" y="585226"/>
                  </a:cubicBezTo>
                  <a:lnTo>
                    <a:pt x="508740" y="473964"/>
                  </a:lnTo>
                  <a:close/>
                  <a:moveTo>
                    <a:pt x="229733" y="358397"/>
                  </a:moveTo>
                  <a:lnTo>
                    <a:pt x="72238" y="358397"/>
                  </a:lnTo>
                  <a:cubicBezTo>
                    <a:pt x="78857" y="194462"/>
                    <a:pt x="210998" y="62332"/>
                    <a:pt x="374923" y="55712"/>
                  </a:cubicBezTo>
                  <a:lnTo>
                    <a:pt x="374923" y="213198"/>
                  </a:lnTo>
                  <a:cubicBezTo>
                    <a:pt x="337404" y="216198"/>
                    <a:pt x="302533" y="232200"/>
                    <a:pt x="275634" y="259109"/>
                  </a:cubicBezTo>
                  <a:cubicBezTo>
                    <a:pt x="248736" y="286007"/>
                    <a:pt x="232724" y="320878"/>
                    <a:pt x="229733" y="358397"/>
                  </a:cubicBezTo>
                  <a:close/>
                  <a:moveTo>
                    <a:pt x="703402" y="358397"/>
                  </a:moveTo>
                  <a:lnTo>
                    <a:pt x="545916" y="358397"/>
                  </a:lnTo>
                  <a:cubicBezTo>
                    <a:pt x="542916" y="320878"/>
                    <a:pt x="526914" y="286007"/>
                    <a:pt x="500005" y="259109"/>
                  </a:cubicBezTo>
                  <a:cubicBezTo>
                    <a:pt x="473107" y="232210"/>
                    <a:pt x="438236" y="216198"/>
                    <a:pt x="400717" y="213198"/>
                  </a:cubicBezTo>
                  <a:lnTo>
                    <a:pt x="400717" y="55712"/>
                  </a:lnTo>
                  <a:cubicBezTo>
                    <a:pt x="564652" y="62332"/>
                    <a:pt x="696782" y="194462"/>
                    <a:pt x="703402" y="358397"/>
                  </a:cubicBezTo>
                  <a:close/>
                  <a:moveTo>
                    <a:pt x="293875" y="277349"/>
                  </a:moveTo>
                  <a:cubicBezTo>
                    <a:pt x="318964" y="252260"/>
                    <a:pt x="352330" y="238439"/>
                    <a:pt x="387820" y="238439"/>
                  </a:cubicBezTo>
                  <a:cubicBezTo>
                    <a:pt x="423310" y="238439"/>
                    <a:pt x="456676" y="252260"/>
                    <a:pt x="481765" y="277349"/>
                  </a:cubicBezTo>
                  <a:cubicBezTo>
                    <a:pt x="506854" y="302438"/>
                    <a:pt x="520675" y="335804"/>
                    <a:pt x="520675" y="371294"/>
                  </a:cubicBezTo>
                  <a:cubicBezTo>
                    <a:pt x="520675" y="403565"/>
                    <a:pt x="509216" y="434054"/>
                    <a:pt x="488290" y="458181"/>
                  </a:cubicBezTo>
                  <a:cubicBezTo>
                    <a:pt x="478355" y="438045"/>
                    <a:pt x="461201" y="422224"/>
                    <a:pt x="440493" y="413852"/>
                  </a:cubicBezTo>
                  <a:cubicBezTo>
                    <a:pt x="450085" y="402241"/>
                    <a:pt x="455847" y="387420"/>
                    <a:pt x="455847" y="371285"/>
                  </a:cubicBezTo>
                  <a:cubicBezTo>
                    <a:pt x="455847" y="334147"/>
                    <a:pt x="425329" y="303933"/>
                    <a:pt x="387820" y="303933"/>
                  </a:cubicBezTo>
                  <a:cubicBezTo>
                    <a:pt x="350310" y="303933"/>
                    <a:pt x="319792" y="334147"/>
                    <a:pt x="319792" y="371285"/>
                  </a:cubicBezTo>
                  <a:cubicBezTo>
                    <a:pt x="319792" y="387420"/>
                    <a:pt x="325555" y="402241"/>
                    <a:pt x="335147" y="413852"/>
                  </a:cubicBezTo>
                  <a:cubicBezTo>
                    <a:pt x="314439" y="422215"/>
                    <a:pt x="297285" y="438045"/>
                    <a:pt x="287350" y="458181"/>
                  </a:cubicBezTo>
                  <a:cubicBezTo>
                    <a:pt x="266414" y="434045"/>
                    <a:pt x="254965" y="403565"/>
                    <a:pt x="254965" y="371294"/>
                  </a:cubicBezTo>
                  <a:cubicBezTo>
                    <a:pt x="254965" y="335804"/>
                    <a:pt x="268786" y="302438"/>
                    <a:pt x="293875" y="277349"/>
                  </a:cubicBezTo>
                  <a:close/>
                  <a:moveTo>
                    <a:pt x="345596" y="371294"/>
                  </a:moveTo>
                  <a:cubicBezTo>
                    <a:pt x="345596" y="348377"/>
                    <a:pt x="364541" y="329736"/>
                    <a:pt x="387829" y="329736"/>
                  </a:cubicBezTo>
                  <a:cubicBezTo>
                    <a:pt x="411118" y="329736"/>
                    <a:pt x="430063" y="348377"/>
                    <a:pt x="430063" y="371294"/>
                  </a:cubicBezTo>
                  <a:cubicBezTo>
                    <a:pt x="430063" y="394202"/>
                    <a:pt x="411118" y="412842"/>
                    <a:pt x="387829" y="412842"/>
                  </a:cubicBezTo>
                  <a:cubicBezTo>
                    <a:pt x="364541" y="412842"/>
                    <a:pt x="345596" y="394202"/>
                    <a:pt x="345596" y="371294"/>
                  </a:cubicBezTo>
                  <a:close/>
                  <a:moveTo>
                    <a:pt x="361750" y="433492"/>
                  </a:moveTo>
                  <a:cubicBezTo>
                    <a:pt x="369789" y="436807"/>
                    <a:pt x="378590" y="438645"/>
                    <a:pt x="387829" y="438645"/>
                  </a:cubicBezTo>
                  <a:cubicBezTo>
                    <a:pt x="397069" y="438645"/>
                    <a:pt x="405870" y="436807"/>
                    <a:pt x="413909" y="433492"/>
                  </a:cubicBezTo>
                  <a:cubicBezTo>
                    <a:pt x="438893" y="436245"/>
                    <a:pt x="460143" y="453485"/>
                    <a:pt x="468268" y="477031"/>
                  </a:cubicBezTo>
                  <a:cubicBezTo>
                    <a:pt x="445256" y="494605"/>
                    <a:pt x="417290" y="504149"/>
                    <a:pt x="387829" y="504149"/>
                  </a:cubicBezTo>
                  <a:cubicBezTo>
                    <a:pt x="358378" y="504149"/>
                    <a:pt x="330403" y="494605"/>
                    <a:pt x="307391" y="477031"/>
                  </a:cubicBezTo>
                  <a:cubicBezTo>
                    <a:pt x="315516" y="453476"/>
                    <a:pt x="336766" y="436245"/>
                    <a:pt x="361750" y="433492"/>
                  </a:cubicBezTo>
                  <a:close/>
                  <a:moveTo>
                    <a:pt x="72238" y="384191"/>
                  </a:moveTo>
                  <a:lnTo>
                    <a:pt x="229733" y="384191"/>
                  </a:lnTo>
                  <a:cubicBezTo>
                    <a:pt x="232734" y="421710"/>
                    <a:pt x="248736" y="456581"/>
                    <a:pt x="275634" y="483479"/>
                  </a:cubicBezTo>
                  <a:cubicBezTo>
                    <a:pt x="305600" y="513445"/>
                    <a:pt x="345443" y="529942"/>
                    <a:pt x="387820" y="529942"/>
                  </a:cubicBezTo>
                  <a:cubicBezTo>
                    <a:pt x="387820" y="529942"/>
                    <a:pt x="387820" y="529942"/>
                    <a:pt x="387820" y="529942"/>
                  </a:cubicBezTo>
                  <a:cubicBezTo>
                    <a:pt x="425863" y="529942"/>
                    <a:pt x="461848" y="516607"/>
                    <a:pt x="490490" y="492204"/>
                  </a:cubicBezTo>
                  <a:lnTo>
                    <a:pt x="601742" y="603456"/>
                  </a:lnTo>
                  <a:cubicBezTo>
                    <a:pt x="545430" y="655387"/>
                    <a:pt x="470268" y="687153"/>
                    <a:pt x="387810" y="687153"/>
                  </a:cubicBezTo>
                  <a:cubicBezTo>
                    <a:pt x="217970" y="687162"/>
                    <a:pt x="79029" y="552402"/>
                    <a:pt x="72238" y="384191"/>
                  </a:cubicBezTo>
                  <a:close/>
                  <a:moveTo>
                    <a:pt x="673770" y="17697"/>
                  </a:moveTo>
                  <a:cubicBezTo>
                    <a:pt x="673770" y="10573"/>
                    <a:pt x="679542" y="4801"/>
                    <a:pt x="686667" y="4801"/>
                  </a:cubicBezTo>
                  <a:lnTo>
                    <a:pt x="696249" y="4801"/>
                  </a:lnTo>
                  <a:cubicBezTo>
                    <a:pt x="703374" y="4801"/>
                    <a:pt x="709146" y="10573"/>
                    <a:pt x="709146" y="17697"/>
                  </a:cubicBezTo>
                  <a:cubicBezTo>
                    <a:pt x="709146" y="24822"/>
                    <a:pt x="703374" y="30594"/>
                    <a:pt x="696249" y="30594"/>
                  </a:cubicBezTo>
                  <a:lnTo>
                    <a:pt x="686667" y="30594"/>
                  </a:lnTo>
                  <a:cubicBezTo>
                    <a:pt x="679542" y="30594"/>
                    <a:pt x="673770" y="24822"/>
                    <a:pt x="673770" y="17697"/>
                  </a:cubicBezTo>
                  <a:close/>
                  <a:moveTo>
                    <a:pt x="714642" y="17697"/>
                  </a:moveTo>
                  <a:cubicBezTo>
                    <a:pt x="714642" y="10573"/>
                    <a:pt x="720414" y="4801"/>
                    <a:pt x="727539" y="4801"/>
                  </a:cubicBezTo>
                  <a:lnTo>
                    <a:pt x="767772" y="4801"/>
                  </a:lnTo>
                  <a:cubicBezTo>
                    <a:pt x="774897" y="4801"/>
                    <a:pt x="780669" y="10573"/>
                    <a:pt x="780669" y="17697"/>
                  </a:cubicBezTo>
                  <a:cubicBezTo>
                    <a:pt x="780669" y="24822"/>
                    <a:pt x="774897" y="30594"/>
                    <a:pt x="767772" y="30594"/>
                  </a:cubicBezTo>
                  <a:lnTo>
                    <a:pt x="727539" y="30594"/>
                  </a:lnTo>
                  <a:cubicBezTo>
                    <a:pt x="720414" y="30594"/>
                    <a:pt x="714642" y="24822"/>
                    <a:pt x="714642" y="17697"/>
                  </a:cubicBezTo>
                  <a:close/>
                  <a:moveTo>
                    <a:pt x="71523" y="12897"/>
                  </a:moveTo>
                  <a:cubicBezTo>
                    <a:pt x="71523" y="5772"/>
                    <a:pt x="77295" y="0"/>
                    <a:pt x="84420" y="0"/>
                  </a:cubicBezTo>
                  <a:lnTo>
                    <a:pt x="94002" y="0"/>
                  </a:lnTo>
                  <a:cubicBezTo>
                    <a:pt x="101127" y="0"/>
                    <a:pt x="106899" y="5772"/>
                    <a:pt x="106899" y="12897"/>
                  </a:cubicBezTo>
                  <a:cubicBezTo>
                    <a:pt x="106899" y="20022"/>
                    <a:pt x="101127" y="25794"/>
                    <a:pt x="94002" y="25794"/>
                  </a:cubicBezTo>
                  <a:lnTo>
                    <a:pt x="84420" y="25794"/>
                  </a:lnTo>
                  <a:cubicBezTo>
                    <a:pt x="77305" y="25794"/>
                    <a:pt x="71523" y="20022"/>
                    <a:pt x="71523" y="12897"/>
                  </a:cubicBezTo>
                  <a:close/>
                  <a:moveTo>
                    <a:pt x="0" y="12897"/>
                  </a:moveTo>
                  <a:cubicBezTo>
                    <a:pt x="0" y="5772"/>
                    <a:pt x="5772" y="0"/>
                    <a:pt x="12897" y="0"/>
                  </a:cubicBezTo>
                  <a:lnTo>
                    <a:pt x="53130" y="0"/>
                  </a:lnTo>
                  <a:cubicBezTo>
                    <a:pt x="60255" y="0"/>
                    <a:pt x="66027" y="5772"/>
                    <a:pt x="66027" y="12897"/>
                  </a:cubicBezTo>
                  <a:cubicBezTo>
                    <a:pt x="66027" y="20022"/>
                    <a:pt x="60265" y="25794"/>
                    <a:pt x="53140" y="25794"/>
                  </a:cubicBezTo>
                  <a:lnTo>
                    <a:pt x="12897" y="25794"/>
                  </a:lnTo>
                  <a:cubicBezTo>
                    <a:pt x="5782" y="25794"/>
                    <a:pt x="0" y="20022"/>
                    <a:pt x="0" y="12897"/>
                  </a:cubicBezTo>
                  <a:close/>
                  <a:moveTo>
                    <a:pt x="224771" y="808406"/>
                  </a:moveTo>
                  <a:cubicBezTo>
                    <a:pt x="224771" y="815531"/>
                    <a:pt x="218999" y="821303"/>
                    <a:pt x="211874" y="821303"/>
                  </a:cubicBezTo>
                  <a:lnTo>
                    <a:pt x="202292" y="821303"/>
                  </a:lnTo>
                  <a:cubicBezTo>
                    <a:pt x="195167" y="821303"/>
                    <a:pt x="189395" y="815531"/>
                    <a:pt x="189395" y="808406"/>
                  </a:cubicBezTo>
                  <a:cubicBezTo>
                    <a:pt x="189395" y="801281"/>
                    <a:pt x="195167" y="795509"/>
                    <a:pt x="202292" y="795509"/>
                  </a:cubicBezTo>
                  <a:lnTo>
                    <a:pt x="211874" y="795509"/>
                  </a:lnTo>
                  <a:cubicBezTo>
                    <a:pt x="218999" y="795509"/>
                    <a:pt x="224771" y="801281"/>
                    <a:pt x="224771" y="808406"/>
                  </a:cubicBezTo>
                  <a:close/>
                  <a:moveTo>
                    <a:pt x="183899" y="808406"/>
                  </a:moveTo>
                  <a:cubicBezTo>
                    <a:pt x="183899" y="815531"/>
                    <a:pt x="178127" y="821303"/>
                    <a:pt x="171002" y="821303"/>
                  </a:cubicBezTo>
                  <a:lnTo>
                    <a:pt x="130769" y="821303"/>
                  </a:lnTo>
                  <a:cubicBezTo>
                    <a:pt x="123644" y="821303"/>
                    <a:pt x="117872" y="815531"/>
                    <a:pt x="117872" y="808406"/>
                  </a:cubicBezTo>
                  <a:cubicBezTo>
                    <a:pt x="117872" y="801281"/>
                    <a:pt x="123644" y="795509"/>
                    <a:pt x="130769" y="795509"/>
                  </a:cubicBezTo>
                  <a:lnTo>
                    <a:pt x="171002" y="795509"/>
                  </a:lnTo>
                  <a:cubicBezTo>
                    <a:pt x="178127" y="795509"/>
                    <a:pt x="183899" y="801281"/>
                    <a:pt x="183899" y="808406"/>
                  </a:cubicBezTo>
                  <a:close/>
                  <a:moveTo>
                    <a:pt x="805577" y="584406"/>
                  </a:moveTo>
                  <a:cubicBezTo>
                    <a:pt x="805577" y="591531"/>
                    <a:pt x="799805" y="597303"/>
                    <a:pt x="792680" y="597303"/>
                  </a:cubicBezTo>
                  <a:lnTo>
                    <a:pt x="783098" y="597303"/>
                  </a:lnTo>
                  <a:cubicBezTo>
                    <a:pt x="775973" y="597303"/>
                    <a:pt x="770201" y="591531"/>
                    <a:pt x="770201" y="584406"/>
                  </a:cubicBezTo>
                  <a:cubicBezTo>
                    <a:pt x="770201" y="577282"/>
                    <a:pt x="775973" y="571510"/>
                    <a:pt x="783098" y="571510"/>
                  </a:cubicBezTo>
                  <a:lnTo>
                    <a:pt x="792680" y="571510"/>
                  </a:lnTo>
                  <a:cubicBezTo>
                    <a:pt x="799795" y="571510"/>
                    <a:pt x="805577" y="577282"/>
                    <a:pt x="805577" y="584406"/>
                  </a:cubicBezTo>
                  <a:close/>
                  <a:moveTo>
                    <a:pt x="877100" y="584406"/>
                  </a:moveTo>
                  <a:cubicBezTo>
                    <a:pt x="877100" y="591531"/>
                    <a:pt x="871328" y="597303"/>
                    <a:pt x="864203" y="597303"/>
                  </a:cubicBezTo>
                  <a:lnTo>
                    <a:pt x="823970" y="597303"/>
                  </a:lnTo>
                  <a:cubicBezTo>
                    <a:pt x="816845" y="597303"/>
                    <a:pt x="811073" y="591531"/>
                    <a:pt x="811073" y="584406"/>
                  </a:cubicBezTo>
                  <a:cubicBezTo>
                    <a:pt x="811073" y="577282"/>
                    <a:pt x="816845" y="571510"/>
                    <a:pt x="823970" y="571510"/>
                  </a:cubicBezTo>
                  <a:lnTo>
                    <a:pt x="864203" y="571510"/>
                  </a:lnTo>
                  <a:cubicBezTo>
                    <a:pt x="871318" y="571510"/>
                    <a:pt x="877100" y="577282"/>
                    <a:pt x="877100" y="584406"/>
                  </a:cubicBezTo>
                  <a:close/>
                </a:path>
              </a:pathLst>
            </a:custGeom>
            <a:gradFill>
              <a:gsLst>
                <a:gs pos="0">
                  <a:schemeClr val="accent1">
                    <a:lumMod val="75000"/>
                  </a:schemeClr>
                </a:gs>
                <a:gs pos="100000">
                  <a:schemeClr val="accent1"/>
                </a:gs>
              </a:gsLst>
              <a:lin ang="0" scaled="0"/>
            </a:gradFill>
            <a:ln w="438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grpSp>
      <p:grpSp>
        <p:nvGrpSpPr>
          <p:cNvPr id="47" name="Group 46">
            <a:extLst>
              <a:ext uri="{FF2B5EF4-FFF2-40B4-BE49-F238E27FC236}">
                <a16:creationId xmlns:a16="http://schemas.microsoft.com/office/drawing/2014/main" id="{03037820-B7E9-9976-3995-6D9B8B7213EE}"/>
              </a:ext>
            </a:extLst>
          </p:cNvPr>
          <p:cNvGrpSpPr/>
          <p:nvPr/>
        </p:nvGrpSpPr>
        <p:grpSpPr>
          <a:xfrm>
            <a:off x="5857699" y="1709376"/>
            <a:ext cx="476602" cy="476602"/>
            <a:chOff x="5857699" y="1709376"/>
            <a:chExt cx="476602" cy="476602"/>
          </a:xfrm>
        </p:grpSpPr>
        <p:sp>
          <p:nvSpPr>
            <p:cNvPr id="28" name="Oval 27">
              <a:extLst>
                <a:ext uri="{FF2B5EF4-FFF2-40B4-BE49-F238E27FC236}">
                  <a16:creationId xmlns:a16="http://schemas.microsoft.com/office/drawing/2014/main" id="{B4F78925-88B0-482F-30A5-C2A0FE5CBFE0}"/>
                </a:ext>
              </a:extLst>
            </p:cNvPr>
            <p:cNvSpPr/>
            <p:nvPr/>
          </p:nvSpPr>
          <p:spPr>
            <a:xfrm>
              <a:off x="5857699"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36" name="Picture 35">
              <a:extLst>
                <a:ext uri="{FF2B5EF4-FFF2-40B4-BE49-F238E27FC236}">
                  <a16:creationId xmlns:a16="http://schemas.microsoft.com/office/drawing/2014/main" id="{76E0B38A-059C-7DBE-B78D-4C4A7855537E}"/>
                </a:ext>
              </a:extLst>
            </p:cNvPr>
            <p:cNvPicPr>
              <a:picLocks noChangeAspect="1"/>
            </p:cNvPicPr>
            <p:nvPr/>
          </p:nvPicPr>
          <p:blipFill>
            <a:blip r:embed="rId2">
              <a:duotone>
                <a:schemeClr val="accent1">
                  <a:shade val="45000"/>
                  <a:satMod val="135000"/>
                </a:schemeClr>
                <a:prstClr val="white"/>
              </a:duotone>
            </a:blip>
            <a:stretch>
              <a:fillRect/>
            </a:stretch>
          </p:blipFill>
          <p:spPr>
            <a:xfrm>
              <a:off x="5956259" y="1807936"/>
              <a:ext cx="279483" cy="279483"/>
            </a:xfrm>
            <a:prstGeom prst="rect">
              <a:avLst/>
            </a:prstGeom>
            <a:grpFill/>
            <a:ln w="0" cap="flat">
              <a:noFill/>
              <a:prstDash val="solid"/>
              <a:miter/>
            </a:ln>
          </p:spPr>
        </p:pic>
      </p:grpSp>
      <p:grpSp>
        <p:nvGrpSpPr>
          <p:cNvPr id="48" name="Group 47">
            <a:extLst>
              <a:ext uri="{FF2B5EF4-FFF2-40B4-BE49-F238E27FC236}">
                <a16:creationId xmlns:a16="http://schemas.microsoft.com/office/drawing/2014/main" id="{84562B66-AFF8-610A-026C-5AF349FD455F}"/>
              </a:ext>
            </a:extLst>
          </p:cNvPr>
          <p:cNvGrpSpPr/>
          <p:nvPr/>
        </p:nvGrpSpPr>
        <p:grpSpPr>
          <a:xfrm>
            <a:off x="9721563" y="1709376"/>
            <a:ext cx="476602" cy="476602"/>
            <a:chOff x="9721563" y="1709376"/>
            <a:chExt cx="476602" cy="476602"/>
          </a:xfrm>
        </p:grpSpPr>
        <p:sp>
          <p:nvSpPr>
            <p:cNvPr id="24" name="Oval 23">
              <a:extLst>
                <a:ext uri="{FF2B5EF4-FFF2-40B4-BE49-F238E27FC236}">
                  <a16:creationId xmlns:a16="http://schemas.microsoft.com/office/drawing/2014/main" id="{80340229-8CC7-C1AB-0B8D-5494EE19EEB1}"/>
                </a:ext>
              </a:extLst>
            </p:cNvPr>
            <p:cNvSpPr/>
            <p:nvPr/>
          </p:nvSpPr>
          <p:spPr>
            <a:xfrm>
              <a:off x="9721563"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46" name="Picture 45">
              <a:extLst>
                <a:ext uri="{FF2B5EF4-FFF2-40B4-BE49-F238E27FC236}">
                  <a16:creationId xmlns:a16="http://schemas.microsoft.com/office/drawing/2014/main" id="{FC18EFEA-3E56-F398-5CA2-C8E24C9FAD50}"/>
                </a:ext>
              </a:extLst>
            </p:cNvPr>
            <p:cNvPicPr>
              <a:picLocks noChangeAspect="1"/>
            </p:cNvPicPr>
            <p:nvPr/>
          </p:nvPicPr>
          <p:blipFill>
            <a:blip r:embed="rId3">
              <a:duotone>
                <a:schemeClr val="accent1">
                  <a:shade val="45000"/>
                  <a:satMod val="135000"/>
                </a:schemeClr>
                <a:prstClr val="white"/>
              </a:duotone>
            </a:blip>
            <a:stretch>
              <a:fillRect/>
            </a:stretch>
          </p:blipFill>
          <p:spPr>
            <a:xfrm>
              <a:off x="9790777" y="1778590"/>
              <a:ext cx="338174" cy="338174"/>
            </a:xfrm>
            <a:prstGeom prst="rect">
              <a:avLst/>
            </a:prstGeom>
          </p:spPr>
        </p:pic>
      </p:grpSp>
    </p:spTree>
    <p:extLst>
      <p:ext uri="{BB962C8B-B14F-4D97-AF65-F5344CB8AC3E}">
        <p14:creationId xmlns:p14="http://schemas.microsoft.com/office/powerpoint/2010/main" val="431841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CD906-EDDC-819C-B8AC-D0BE26A5203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09F34A-5F27-434F-8A56-EDCC24401C3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JP" sz="800" b="1" i="0" u="none" strike="noStrike" kern="1200" cap="none" spc="100" normalizeH="0" baseline="0" noProof="0">
                <a:ln>
                  <a:noFill/>
                </a:ln>
                <a:solidFill>
                  <a:srgbClr val="34373F"/>
                </a:solidFill>
                <a:effectLst/>
                <a:uLnTx/>
                <a:uFillTx/>
                <a:latin typeface="Calibri" panose="020F0502020204030204"/>
                <a:ea typeface="+mn-ea"/>
                <a:cs typeface="+mn-cs"/>
              </a:rPr>
              <a:t> </a:t>
            </a:r>
          </a:p>
        </p:txBody>
      </p:sp>
      <p:sp>
        <p:nvSpPr>
          <p:cNvPr id="4" name="Title 3">
            <a:extLst>
              <a:ext uri="{FF2B5EF4-FFF2-40B4-BE49-F238E27FC236}">
                <a16:creationId xmlns:a16="http://schemas.microsoft.com/office/drawing/2014/main" id="{D4B1F1DE-9FE7-2059-553C-C2B27D5334E9}"/>
              </a:ext>
            </a:extLst>
          </p:cNvPr>
          <p:cNvSpPr>
            <a:spLocks noGrp="1"/>
          </p:cNvSpPr>
          <p:nvPr>
            <p:ph type="title"/>
          </p:nvPr>
        </p:nvSpPr>
        <p:spPr/>
        <p:txBody>
          <a:bodyPr>
            <a:normAutofit fontScale="90000"/>
          </a:bodyPr>
          <a:lstStyle/>
          <a:p>
            <a:r>
              <a:rPr lang="en-US">
                <a:latin typeface="+mj-lt"/>
              </a:rPr>
              <a:t>Further understand how influence propagates across referral relationships to shape adoption behavior</a:t>
            </a:r>
            <a:endParaRPr lang="en-IN">
              <a:latin typeface="+mj-lt"/>
            </a:endParaRPr>
          </a:p>
        </p:txBody>
      </p:sp>
      <p:sp>
        <p:nvSpPr>
          <p:cNvPr id="5" name="Slide Number Placeholder 4">
            <a:extLst>
              <a:ext uri="{FF2B5EF4-FFF2-40B4-BE49-F238E27FC236}">
                <a16:creationId xmlns:a16="http://schemas.microsoft.com/office/drawing/2014/main" id="{6271DAA2-F46C-6439-94C2-8E28BD1E83A4}"/>
              </a:ext>
            </a:extLst>
          </p:cNvPr>
          <p:cNvSpPr>
            <a:spLocks noGrp="1"/>
          </p:cNvSpPr>
          <p:nvPr>
            <p:ph type="sldNum" sz="quarter" idx="4"/>
          </p:nvPr>
        </p:nvSpPr>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31</a:t>
            </a:fld>
            <a:endParaRPr kumimoji="0" lang="ja-JP" altLang="en-US" sz="800" b="1" i="0" u="none" strike="noStrike" kern="1200" cap="none" spc="0" normalizeH="0" baseline="0" noProof="0">
              <a:ln>
                <a:noFill/>
              </a:ln>
              <a:solidFill>
                <a:srgbClr val="34373F"/>
              </a:solidFill>
              <a:effectLst/>
              <a:uLnTx/>
              <a:uFillTx/>
              <a:latin typeface="Calibri" panose="020F0502020204030204"/>
              <a:ea typeface="メイリオ" pitchFamily="50" charset="-128"/>
              <a:cs typeface="Calibri" panose="020F0502020204030204" pitchFamily="34" charset="0"/>
            </a:endParaRPr>
          </a:p>
        </p:txBody>
      </p:sp>
      <p:sp>
        <p:nvSpPr>
          <p:cNvPr id="6" name="Text Placeholder 5">
            <a:extLst>
              <a:ext uri="{FF2B5EF4-FFF2-40B4-BE49-F238E27FC236}">
                <a16:creationId xmlns:a16="http://schemas.microsoft.com/office/drawing/2014/main" id="{E56DFD6B-FC28-0405-94C3-99D5F08E5D26}"/>
              </a:ext>
            </a:extLst>
          </p:cNvPr>
          <p:cNvSpPr>
            <a:spLocks noGrp="1"/>
          </p:cNvSpPr>
          <p:nvPr>
            <p:ph type="body" sz="quarter" idx="16"/>
          </p:nvPr>
        </p:nvSpPr>
        <p:spPr/>
        <p:txBody>
          <a:bodyPr/>
          <a:lstStyle/>
          <a:p>
            <a:endParaRPr lang="en-IN">
              <a:latin typeface="+mj-lt"/>
            </a:endParaRPr>
          </a:p>
        </p:txBody>
      </p:sp>
      <p:sp>
        <p:nvSpPr>
          <p:cNvPr id="7" name="Rectangle 6">
            <a:extLst>
              <a:ext uri="{FF2B5EF4-FFF2-40B4-BE49-F238E27FC236}">
                <a16:creationId xmlns:a16="http://schemas.microsoft.com/office/drawing/2014/main" id="{3126BC62-1703-062B-1B28-599EF4139766}"/>
              </a:ext>
            </a:extLst>
          </p:cNvPr>
          <p:cNvSpPr/>
          <p:nvPr/>
        </p:nvSpPr>
        <p:spPr>
          <a:xfrm>
            <a:off x="0" y="1253823"/>
            <a:ext cx="12192000" cy="363649"/>
          </a:xfrm>
          <a:prstGeom prst="rect">
            <a:avLst/>
          </a:prstGeom>
          <a:gradFill>
            <a:gsLst>
              <a:gs pos="100000">
                <a:schemeClr val="accent2"/>
              </a:gs>
              <a:gs pos="0">
                <a:schemeClr val="accent2"/>
              </a:gs>
              <a:gs pos="56000">
                <a:schemeClr val="accent1">
                  <a:lumMod val="60000"/>
                  <a:lumOff val="40000"/>
                </a:scheme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OBJECTIVE</a:t>
            </a:r>
            <a:r>
              <a:rPr kumimoji="0" lang="en-US" sz="1400" b="0" i="1"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 Evaluate whether connected providers behave independently or exhibit influence-driven adoption patterns</a:t>
            </a:r>
          </a:p>
        </p:txBody>
      </p:sp>
      <p:sp>
        <p:nvSpPr>
          <p:cNvPr id="9" name="TextBox 8">
            <a:extLst>
              <a:ext uri="{FF2B5EF4-FFF2-40B4-BE49-F238E27FC236}">
                <a16:creationId xmlns:a16="http://schemas.microsoft.com/office/drawing/2014/main" id="{007BD443-4BFF-078B-F181-A244BF0B80FC}"/>
              </a:ext>
            </a:extLst>
          </p:cNvPr>
          <p:cNvSpPr txBox="1"/>
          <p:nvPr/>
        </p:nvSpPr>
        <p:spPr>
          <a:xfrm>
            <a:off x="643367" y="1939736"/>
            <a:ext cx="268911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Influence Assessment</a:t>
            </a:r>
          </a:p>
        </p:txBody>
      </p:sp>
      <p:sp>
        <p:nvSpPr>
          <p:cNvPr id="11" name="TextBox 10">
            <a:extLst>
              <a:ext uri="{FF2B5EF4-FFF2-40B4-BE49-F238E27FC236}">
                <a16:creationId xmlns:a16="http://schemas.microsoft.com/office/drawing/2014/main" id="{A05BE104-A889-5EB7-5DA3-31A118E04B3B}"/>
              </a:ext>
            </a:extLst>
          </p:cNvPr>
          <p:cNvSpPr txBox="1"/>
          <p:nvPr/>
        </p:nvSpPr>
        <p:spPr>
          <a:xfrm>
            <a:off x="4839372" y="1939736"/>
            <a:ext cx="2514794"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Behavioral Alignment</a:t>
            </a:r>
          </a:p>
        </p:txBody>
      </p:sp>
      <p:sp>
        <p:nvSpPr>
          <p:cNvPr id="14" name="TextBox 13">
            <a:extLst>
              <a:ext uri="{FF2B5EF4-FFF2-40B4-BE49-F238E27FC236}">
                <a16:creationId xmlns:a16="http://schemas.microsoft.com/office/drawing/2014/main" id="{603168D4-7377-9E24-8102-A8ABE283C6FB}"/>
              </a:ext>
            </a:extLst>
          </p:cNvPr>
          <p:cNvSpPr txBox="1"/>
          <p:nvPr/>
        </p:nvSpPr>
        <p:spPr>
          <a:xfrm>
            <a:off x="8751530" y="1939736"/>
            <a:ext cx="241666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Propagation Quantification</a:t>
            </a:r>
          </a:p>
        </p:txBody>
      </p:sp>
      <p:cxnSp>
        <p:nvCxnSpPr>
          <p:cNvPr id="16" name="Straight Arrow Connector 15">
            <a:extLst>
              <a:ext uri="{FF2B5EF4-FFF2-40B4-BE49-F238E27FC236}">
                <a16:creationId xmlns:a16="http://schemas.microsoft.com/office/drawing/2014/main" id="{BC00BDC4-82B5-8FA9-700D-C30CC2302515}"/>
              </a:ext>
            </a:extLst>
          </p:cNvPr>
          <p:cNvCxnSpPr>
            <a:cxnSpLocks/>
          </p:cNvCxnSpPr>
          <p:nvPr/>
        </p:nvCxnSpPr>
        <p:spPr bwMode="gray">
          <a:xfrm>
            <a:off x="0" y="2716926"/>
            <a:ext cx="12192000" cy="0"/>
          </a:xfrm>
          <a:prstGeom prst="straightConnector1">
            <a:avLst/>
          </a:prstGeom>
          <a:ln w="12700" cap="rnd">
            <a:gradFill>
              <a:gsLst>
                <a:gs pos="0">
                  <a:schemeClr val="bg2"/>
                </a:gs>
                <a:gs pos="100000">
                  <a:schemeClr val="accent1"/>
                </a:gs>
              </a:gsLst>
              <a:lin ang="5400000" scaled="1"/>
            </a:gradFill>
            <a:round/>
            <a:tailEnd type="none" w="lg" len="lg"/>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A11492F9-08AA-1EBD-223C-E71F0722D837}"/>
              </a:ext>
            </a:extLst>
          </p:cNvPr>
          <p:cNvSpPr/>
          <p:nvPr/>
        </p:nvSpPr>
        <p:spPr bwMode="gray">
          <a:xfrm flipV="1">
            <a:off x="1858651"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a:ln>
                <a:noFill/>
              </a:ln>
              <a:solidFill>
                <a:srgbClr val="E1242A"/>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AFDE85DE-8C0E-4AD9-BDB4-CE9E6D1BF131}"/>
              </a:ext>
            </a:extLst>
          </p:cNvPr>
          <p:cNvSpPr/>
          <p:nvPr/>
        </p:nvSpPr>
        <p:spPr bwMode="gray">
          <a:xfrm flipV="1">
            <a:off x="5967494"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B001B51E-00DE-A064-467B-22E27FD6B2A7}"/>
              </a:ext>
            </a:extLst>
          </p:cNvPr>
          <p:cNvSpPr/>
          <p:nvPr/>
        </p:nvSpPr>
        <p:spPr bwMode="gray">
          <a:xfrm flipV="1">
            <a:off x="9830589"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E137AAFD-E1EF-EFD5-6E2C-1E48B96A0787}"/>
              </a:ext>
            </a:extLst>
          </p:cNvPr>
          <p:cNvGrpSpPr/>
          <p:nvPr/>
        </p:nvGrpSpPr>
        <p:grpSpPr>
          <a:xfrm>
            <a:off x="496158" y="3110948"/>
            <a:ext cx="2983536" cy="2018045"/>
            <a:chOff x="248508" y="3177623"/>
            <a:chExt cx="2983536" cy="2018045"/>
          </a:xfrm>
        </p:grpSpPr>
        <p:sp>
          <p:nvSpPr>
            <p:cNvPr id="8" name="Subtitle 2">
              <a:extLst>
                <a:ext uri="{FF2B5EF4-FFF2-40B4-BE49-F238E27FC236}">
                  <a16:creationId xmlns:a16="http://schemas.microsoft.com/office/drawing/2014/main" id="{DAA77648-E939-800D-655D-0B7CD11E72B2}"/>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Compute network connectivity and path-dependence metrics to identify structurally influential HCPs</a:t>
              </a:r>
            </a:p>
          </p:txBody>
        </p:sp>
        <p:cxnSp>
          <p:nvCxnSpPr>
            <p:cNvPr id="32" name="Straight Connector 31">
              <a:extLst>
                <a:ext uri="{FF2B5EF4-FFF2-40B4-BE49-F238E27FC236}">
                  <a16:creationId xmlns:a16="http://schemas.microsoft.com/office/drawing/2014/main" id="{7D43066F-CD43-4AFF-240B-A97F0BBD038C}"/>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Subtitle 2">
              <a:extLst>
                <a:ext uri="{FF2B5EF4-FFF2-40B4-BE49-F238E27FC236}">
                  <a16:creationId xmlns:a16="http://schemas.microsoft.com/office/drawing/2014/main" id="{248041B4-BBFD-6152-0668-C2F94DDBBD36}"/>
                </a:ext>
              </a:extLst>
            </p:cNvPr>
            <p:cNvSpPr txBox="1">
              <a:spLocks/>
            </p:cNvSpPr>
            <p:nvPr/>
          </p:nvSpPr>
          <p:spPr>
            <a:xfrm>
              <a:off x="248508" y="3936780"/>
              <a:ext cx="2983536"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Layer in incremental primary data (e.g., social media, publications, conferences etc.) to further map social influence roles</a:t>
              </a:r>
            </a:p>
          </p:txBody>
        </p:sp>
        <p:cxnSp>
          <p:nvCxnSpPr>
            <p:cNvPr id="34" name="Straight Connector 33">
              <a:extLst>
                <a:ext uri="{FF2B5EF4-FFF2-40B4-BE49-F238E27FC236}">
                  <a16:creationId xmlns:a16="http://schemas.microsoft.com/office/drawing/2014/main" id="{D337BAC4-3C1B-7B4D-849F-8BD1C2A846BB}"/>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Subtitle 2">
              <a:extLst>
                <a:ext uri="{FF2B5EF4-FFF2-40B4-BE49-F238E27FC236}">
                  <a16:creationId xmlns:a16="http://schemas.microsoft.com/office/drawing/2014/main" id="{0BD3BBC9-A465-7385-116F-AB875960D47A}"/>
                </a:ext>
              </a:extLst>
            </p:cNvPr>
            <p:cNvSpPr txBox="1">
              <a:spLocks/>
            </p:cNvSpPr>
            <p:nvPr/>
          </p:nvSpPr>
          <p:spPr>
            <a:xfrm>
              <a:off x="334963" y="4695937"/>
              <a:ext cx="2810627"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Map influence roles across specialties and territories to isolate providers embedded within high-impact referral pathways</a:t>
              </a:r>
            </a:p>
          </p:txBody>
        </p:sp>
      </p:grpSp>
      <p:grpSp>
        <p:nvGrpSpPr>
          <p:cNvPr id="39" name="Group 38">
            <a:extLst>
              <a:ext uri="{FF2B5EF4-FFF2-40B4-BE49-F238E27FC236}">
                <a16:creationId xmlns:a16="http://schemas.microsoft.com/office/drawing/2014/main" id="{1AB62CDD-0F52-B5D5-10B0-18D0D99024D3}"/>
              </a:ext>
            </a:extLst>
          </p:cNvPr>
          <p:cNvGrpSpPr/>
          <p:nvPr/>
        </p:nvGrpSpPr>
        <p:grpSpPr>
          <a:xfrm>
            <a:off x="4587240" y="3110948"/>
            <a:ext cx="3017520" cy="2018045"/>
            <a:chOff x="277250" y="3177623"/>
            <a:chExt cx="3017520" cy="2018045"/>
          </a:xfrm>
        </p:grpSpPr>
        <p:sp>
          <p:nvSpPr>
            <p:cNvPr id="40" name="Subtitle 2">
              <a:extLst>
                <a:ext uri="{FF2B5EF4-FFF2-40B4-BE49-F238E27FC236}">
                  <a16:creationId xmlns:a16="http://schemas.microsoft.com/office/drawing/2014/main" id="{CBF89E5C-90D2-CC0E-FA51-FFBE90E872EC}"/>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Compare adoption timing across connected HCP neighborhoods to detect leader–follower dynamics within referral pathways</a:t>
              </a:r>
            </a:p>
          </p:txBody>
        </p:sp>
        <p:cxnSp>
          <p:nvCxnSpPr>
            <p:cNvPr id="41" name="Straight Connector 40">
              <a:extLst>
                <a:ext uri="{FF2B5EF4-FFF2-40B4-BE49-F238E27FC236}">
                  <a16:creationId xmlns:a16="http://schemas.microsoft.com/office/drawing/2014/main" id="{D759889F-9EC4-F380-DA7F-E1D57317E408}"/>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ubtitle 2">
              <a:extLst>
                <a:ext uri="{FF2B5EF4-FFF2-40B4-BE49-F238E27FC236}">
                  <a16:creationId xmlns:a16="http://schemas.microsoft.com/office/drawing/2014/main" id="{D062F631-7D13-8BED-DAC0-95EC4E877FB2}"/>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behavioral alignment among connected providers to assess diffusion consistency across clusters</a:t>
              </a:r>
            </a:p>
          </p:txBody>
        </p:sp>
        <p:cxnSp>
          <p:nvCxnSpPr>
            <p:cNvPr id="43" name="Straight Connector 42">
              <a:extLst>
                <a:ext uri="{FF2B5EF4-FFF2-40B4-BE49-F238E27FC236}">
                  <a16:creationId xmlns:a16="http://schemas.microsoft.com/office/drawing/2014/main" id="{72E1A04E-B594-88F7-83A5-F2EED7EDC1A4}"/>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Subtitle 2">
              <a:extLst>
                <a:ext uri="{FF2B5EF4-FFF2-40B4-BE49-F238E27FC236}">
                  <a16:creationId xmlns:a16="http://schemas.microsoft.com/office/drawing/2014/main" id="{DA602F36-D931-7B58-D278-3140D9FE1CFD}"/>
                </a:ext>
              </a:extLst>
            </p:cNvPr>
            <p:cNvSpPr txBox="1">
              <a:spLocks/>
            </p:cNvSpPr>
            <p:nvPr/>
          </p:nvSpPr>
          <p:spPr>
            <a:xfrm>
              <a:off x="277250" y="4695937"/>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influence beyond treatment adoption through social connections to surface non-obvious drivers</a:t>
              </a:r>
            </a:p>
          </p:txBody>
        </p:sp>
      </p:grpSp>
      <p:sp>
        <p:nvSpPr>
          <p:cNvPr id="52" name="Rectangle 51">
            <a:extLst>
              <a:ext uri="{FF2B5EF4-FFF2-40B4-BE49-F238E27FC236}">
                <a16:creationId xmlns:a16="http://schemas.microsoft.com/office/drawing/2014/main" id="{B46DAC0D-95F5-1E72-D740-13C7C79A8778}"/>
              </a:ext>
            </a:extLst>
          </p:cNvPr>
          <p:cNvSpPr/>
          <p:nvPr/>
        </p:nvSpPr>
        <p:spPr>
          <a:xfrm>
            <a:off x="0" y="5760370"/>
            <a:ext cx="12192000" cy="656305"/>
          </a:xfrm>
          <a:prstGeom prst="rect">
            <a:avLst/>
          </a:prstGeom>
          <a:solidFill>
            <a:schemeClr val="tx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Key Business Questions </a:t>
            </a:r>
            <a:b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b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Addressed</a:t>
            </a:r>
            <a:endParaRPr kumimoji="0" lang="en-US" sz="1200" b="0" i="1"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pSp>
        <p:nvGrpSpPr>
          <p:cNvPr id="27" name="Group 26">
            <a:extLst>
              <a:ext uri="{FF2B5EF4-FFF2-40B4-BE49-F238E27FC236}">
                <a16:creationId xmlns:a16="http://schemas.microsoft.com/office/drawing/2014/main" id="{E2D73565-961C-D742-2DBD-80B910051212}"/>
              </a:ext>
            </a:extLst>
          </p:cNvPr>
          <p:cNvGrpSpPr/>
          <p:nvPr/>
        </p:nvGrpSpPr>
        <p:grpSpPr>
          <a:xfrm>
            <a:off x="8453309" y="3110948"/>
            <a:ext cx="3017520" cy="2018045"/>
            <a:chOff x="8500934" y="3110948"/>
            <a:chExt cx="3017520" cy="2018045"/>
          </a:xfrm>
        </p:grpSpPr>
        <p:grpSp>
          <p:nvGrpSpPr>
            <p:cNvPr id="2" name="Group 1">
              <a:extLst>
                <a:ext uri="{FF2B5EF4-FFF2-40B4-BE49-F238E27FC236}">
                  <a16:creationId xmlns:a16="http://schemas.microsoft.com/office/drawing/2014/main" id="{6682A886-2583-A4F9-D0BC-30D9B0F16FCD}"/>
                </a:ext>
              </a:extLst>
            </p:cNvPr>
            <p:cNvGrpSpPr/>
            <p:nvPr/>
          </p:nvGrpSpPr>
          <p:grpSpPr>
            <a:xfrm>
              <a:off x="8500934" y="3110948"/>
              <a:ext cx="3017520" cy="1258888"/>
              <a:chOff x="277250" y="3177623"/>
              <a:chExt cx="3017520" cy="1258888"/>
            </a:xfrm>
          </p:grpSpPr>
          <p:sp>
            <p:nvSpPr>
              <p:cNvPr id="10" name="Subtitle 2">
                <a:extLst>
                  <a:ext uri="{FF2B5EF4-FFF2-40B4-BE49-F238E27FC236}">
                    <a16:creationId xmlns:a16="http://schemas.microsoft.com/office/drawing/2014/main" id="{8309385F-CB16-F5B1-D82A-7E53CF8DF2AD}"/>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peer exposure across referral connections to estimate strength and reach of influence spread</a:t>
                </a:r>
              </a:p>
            </p:txBody>
          </p:sp>
          <p:cxnSp>
            <p:nvCxnSpPr>
              <p:cNvPr id="12" name="Straight Connector 11">
                <a:extLst>
                  <a:ext uri="{FF2B5EF4-FFF2-40B4-BE49-F238E27FC236}">
                    <a16:creationId xmlns:a16="http://schemas.microsoft.com/office/drawing/2014/main" id="{AB3576F9-E501-C271-BF89-DB0BED0D44FE}"/>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ubtitle 2">
                <a:extLst>
                  <a:ext uri="{FF2B5EF4-FFF2-40B4-BE49-F238E27FC236}">
                    <a16:creationId xmlns:a16="http://schemas.microsoft.com/office/drawing/2014/main" id="{707B5B77-842A-1D6B-7064-E0CD9C60E89C}"/>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Quantify propagation potential along routing pathways</a:t>
                </a:r>
              </a:p>
            </p:txBody>
          </p:sp>
        </p:grpSp>
        <p:cxnSp>
          <p:nvCxnSpPr>
            <p:cNvPr id="21" name="Straight Connector 20">
              <a:extLst>
                <a:ext uri="{FF2B5EF4-FFF2-40B4-BE49-F238E27FC236}">
                  <a16:creationId xmlns:a16="http://schemas.microsoft.com/office/drawing/2014/main" id="{7A62671E-5AC8-5EAF-8112-86F7AD4919B0}"/>
                </a:ext>
              </a:extLst>
            </p:cNvPr>
            <p:cNvCxnSpPr>
              <a:cxnSpLocks/>
            </p:cNvCxnSpPr>
            <p:nvPr/>
          </p:nvCxnSpPr>
          <p:spPr>
            <a:xfrm>
              <a:off x="9302101" y="4499549"/>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Subtitle 2">
              <a:extLst>
                <a:ext uri="{FF2B5EF4-FFF2-40B4-BE49-F238E27FC236}">
                  <a16:creationId xmlns:a16="http://schemas.microsoft.com/office/drawing/2014/main" id="{D0D60837-62A9-B461-94CB-27CA906850B8}"/>
                </a:ext>
              </a:extLst>
            </p:cNvPr>
            <p:cNvSpPr txBox="1">
              <a:spLocks/>
            </p:cNvSpPr>
            <p:nvPr/>
          </p:nvSpPr>
          <p:spPr>
            <a:xfrm>
              <a:off x="8500934" y="4629262"/>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ecosystems most conducive to influence-driven adoption</a:t>
              </a:r>
            </a:p>
          </p:txBody>
        </p:sp>
      </p:grpSp>
      <p:sp>
        <p:nvSpPr>
          <p:cNvPr id="15" name="Rectangle 14">
            <a:extLst>
              <a:ext uri="{FF2B5EF4-FFF2-40B4-BE49-F238E27FC236}">
                <a16:creationId xmlns:a16="http://schemas.microsoft.com/office/drawing/2014/main" id="{22E8A55F-052F-E15E-1545-59A0D3CE1FA1}"/>
              </a:ext>
            </a:extLst>
          </p:cNvPr>
          <p:cNvSpPr/>
          <p:nvPr/>
        </p:nvSpPr>
        <p:spPr>
          <a:xfrm>
            <a:off x="2181226"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does adoption spread through the referral network and to what extent is it influenced by the connected HCPs?</a:t>
            </a:r>
          </a:p>
        </p:txBody>
      </p:sp>
      <p:sp>
        <p:nvSpPr>
          <p:cNvPr id="20" name="Rectangle 19">
            <a:extLst>
              <a:ext uri="{FF2B5EF4-FFF2-40B4-BE49-F238E27FC236}">
                <a16:creationId xmlns:a16="http://schemas.microsoft.com/office/drawing/2014/main" id="{E8CC96FA-A7D1-5854-C0E3-134F14AECBD6}"/>
              </a:ext>
            </a:extLst>
          </p:cNvPr>
          <p:cNvSpPr/>
          <p:nvPr/>
        </p:nvSpPr>
        <p:spPr>
          <a:xfrm>
            <a:off x="5532664"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Which providers and ecosystems exert the strongest influence and act as noticeable leaders?</a:t>
            </a:r>
          </a:p>
        </p:txBody>
      </p:sp>
      <p:sp>
        <p:nvSpPr>
          <p:cNvPr id="37" name="Rectangle 36">
            <a:extLst>
              <a:ext uri="{FF2B5EF4-FFF2-40B4-BE49-F238E27FC236}">
                <a16:creationId xmlns:a16="http://schemas.microsoft.com/office/drawing/2014/main" id="{2844B8EC-6182-1751-AAD8-E641570B9914}"/>
              </a:ext>
            </a:extLst>
          </p:cNvPr>
          <p:cNvSpPr/>
          <p:nvPr/>
        </p:nvSpPr>
        <p:spPr>
          <a:xfrm>
            <a:off x="8884102"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How can the influence effects be quantified using network connectivity measures?</a:t>
            </a:r>
          </a:p>
        </p:txBody>
      </p:sp>
      <p:grpSp>
        <p:nvGrpSpPr>
          <p:cNvPr id="51" name="Group 50">
            <a:extLst>
              <a:ext uri="{FF2B5EF4-FFF2-40B4-BE49-F238E27FC236}">
                <a16:creationId xmlns:a16="http://schemas.microsoft.com/office/drawing/2014/main" id="{BD21A391-1147-B9B0-7BB2-7C5A29A33C95}"/>
              </a:ext>
            </a:extLst>
          </p:cNvPr>
          <p:cNvGrpSpPr/>
          <p:nvPr/>
        </p:nvGrpSpPr>
        <p:grpSpPr>
          <a:xfrm>
            <a:off x="1749625" y="1709376"/>
            <a:ext cx="476602" cy="476602"/>
            <a:chOff x="1749625" y="1709376"/>
            <a:chExt cx="476602" cy="476602"/>
          </a:xfrm>
        </p:grpSpPr>
        <p:sp>
          <p:nvSpPr>
            <p:cNvPr id="22" name="Oval 21">
              <a:extLst>
                <a:ext uri="{FF2B5EF4-FFF2-40B4-BE49-F238E27FC236}">
                  <a16:creationId xmlns:a16="http://schemas.microsoft.com/office/drawing/2014/main" id="{30C14F36-6A4E-C198-D502-98C5E89AA80E}"/>
                </a:ext>
              </a:extLst>
            </p:cNvPr>
            <p:cNvSpPr/>
            <p:nvPr/>
          </p:nvSpPr>
          <p:spPr>
            <a:xfrm>
              <a:off x="1749625"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50" name="Picture 49">
              <a:extLst>
                <a:ext uri="{FF2B5EF4-FFF2-40B4-BE49-F238E27FC236}">
                  <a16:creationId xmlns:a16="http://schemas.microsoft.com/office/drawing/2014/main" id="{2A223D02-40CB-DCB8-B149-85136FE364AF}"/>
                </a:ext>
              </a:extLst>
            </p:cNvPr>
            <p:cNvPicPr>
              <a:picLocks noChangeAspect="1"/>
            </p:cNvPicPr>
            <p:nvPr/>
          </p:nvPicPr>
          <p:blipFill>
            <a:blip r:embed="rId2">
              <a:duotone>
                <a:schemeClr val="accent1">
                  <a:shade val="45000"/>
                  <a:satMod val="135000"/>
                </a:schemeClr>
                <a:prstClr val="white"/>
              </a:duotone>
            </a:blip>
            <a:stretch>
              <a:fillRect/>
            </a:stretch>
          </p:blipFill>
          <p:spPr>
            <a:xfrm>
              <a:off x="1848185" y="1807936"/>
              <a:ext cx="279483" cy="279483"/>
            </a:xfrm>
            <a:prstGeom prst="rect">
              <a:avLst/>
            </a:prstGeom>
          </p:spPr>
        </p:pic>
      </p:grpSp>
      <p:grpSp>
        <p:nvGrpSpPr>
          <p:cNvPr id="58" name="Group 57">
            <a:extLst>
              <a:ext uri="{FF2B5EF4-FFF2-40B4-BE49-F238E27FC236}">
                <a16:creationId xmlns:a16="http://schemas.microsoft.com/office/drawing/2014/main" id="{95A3E932-0570-280F-6B6A-520094D52B2B}"/>
              </a:ext>
            </a:extLst>
          </p:cNvPr>
          <p:cNvGrpSpPr/>
          <p:nvPr/>
        </p:nvGrpSpPr>
        <p:grpSpPr>
          <a:xfrm>
            <a:off x="5858469" y="1709376"/>
            <a:ext cx="476602" cy="476602"/>
            <a:chOff x="5858469" y="1709376"/>
            <a:chExt cx="476602" cy="476602"/>
          </a:xfrm>
        </p:grpSpPr>
        <p:sp>
          <p:nvSpPr>
            <p:cNvPr id="28" name="Oval 27">
              <a:extLst>
                <a:ext uri="{FF2B5EF4-FFF2-40B4-BE49-F238E27FC236}">
                  <a16:creationId xmlns:a16="http://schemas.microsoft.com/office/drawing/2014/main" id="{5BF2C8E2-B29B-8ABA-746F-4FA45D2B4DCF}"/>
                </a:ext>
              </a:extLst>
            </p:cNvPr>
            <p:cNvSpPr/>
            <p:nvPr/>
          </p:nvSpPr>
          <p:spPr>
            <a:xfrm>
              <a:off x="5858469"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57" name="Picture 56">
              <a:extLst>
                <a:ext uri="{FF2B5EF4-FFF2-40B4-BE49-F238E27FC236}">
                  <a16:creationId xmlns:a16="http://schemas.microsoft.com/office/drawing/2014/main" id="{9F94F6C7-AFAF-11A9-34C7-A643475B5496}"/>
                </a:ext>
              </a:extLst>
            </p:cNvPr>
            <p:cNvPicPr>
              <a:picLocks noChangeAspect="1"/>
            </p:cNvPicPr>
            <p:nvPr/>
          </p:nvPicPr>
          <p:blipFill>
            <a:blip r:embed="rId3">
              <a:duotone>
                <a:schemeClr val="accent1">
                  <a:shade val="45000"/>
                  <a:satMod val="135000"/>
                </a:schemeClr>
                <a:prstClr val="white"/>
              </a:duotone>
            </a:blip>
            <a:stretch>
              <a:fillRect/>
            </a:stretch>
          </p:blipFill>
          <p:spPr>
            <a:xfrm>
              <a:off x="5920079" y="1770986"/>
              <a:ext cx="353382" cy="353382"/>
            </a:xfrm>
            <a:prstGeom prst="rect">
              <a:avLst/>
            </a:prstGeom>
          </p:spPr>
        </p:pic>
      </p:grpSp>
      <p:grpSp>
        <p:nvGrpSpPr>
          <p:cNvPr id="63" name="Group 62">
            <a:extLst>
              <a:ext uri="{FF2B5EF4-FFF2-40B4-BE49-F238E27FC236}">
                <a16:creationId xmlns:a16="http://schemas.microsoft.com/office/drawing/2014/main" id="{94421917-BE15-23DA-9CB3-486309A46A3E}"/>
              </a:ext>
            </a:extLst>
          </p:cNvPr>
          <p:cNvGrpSpPr/>
          <p:nvPr/>
        </p:nvGrpSpPr>
        <p:grpSpPr>
          <a:xfrm>
            <a:off x="9721563" y="1709376"/>
            <a:ext cx="476602" cy="476602"/>
            <a:chOff x="9721563" y="1709376"/>
            <a:chExt cx="476602" cy="476602"/>
          </a:xfrm>
        </p:grpSpPr>
        <p:sp>
          <p:nvSpPr>
            <p:cNvPr id="24" name="Oval 23">
              <a:extLst>
                <a:ext uri="{FF2B5EF4-FFF2-40B4-BE49-F238E27FC236}">
                  <a16:creationId xmlns:a16="http://schemas.microsoft.com/office/drawing/2014/main" id="{3711ADD9-204E-469D-968B-9DCC47384AF3}"/>
                </a:ext>
              </a:extLst>
            </p:cNvPr>
            <p:cNvSpPr/>
            <p:nvPr/>
          </p:nvSpPr>
          <p:spPr>
            <a:xfrm>
              <a:off x="9721563"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pic>
          <p:nvPicPr>
            <p:cNvPr id="62" name="Picture 61">
              <a:extLst>
                <a:ext uri="{FF2B5EF4-FFF2-40B4-BE49-F238E27FC236}">
                  <a16:creationId xmlns:a16="http://schemas.microsoft.com/office/drawing/2014/main" id="{EA88BEE3-4B44-197C-0235-5AF29D7152C4}"/>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colorTemperature colorTemp="11200"/>
                      </a14:imgEffect>
                      <a14:imgEffect>
                        <a14:saturation sat="400000"/>
                      </a14:imgEffect>
                    </a14:imgLayer>
                  </a14:imgProps>
                </a:ext>
              </a:extLst>
            </a:blip>
            <a:stretch>
              <a:fillRect/>
            </a:stretch>
          </p:blipFill>
          <p:spPr>
            <a:xfrm>
              <a:off x="9837079" y="1824892"/>
              <a:ext cx="245571" cy="245571"/>
            </a:xfrm>
            <a:prstGeom prst="rect">
              <a:avLst/>
            </a:prstGeom>
          </p:spPr>
        </p:pic>
      </p:grpSp>
    </p:spTree>
    <p:extLst>
      <p:ext uri="{BB962C8B-B14F-4D97-AF65-F5344CB8AC3E}">
        <p14:creationId xmlns:p14="http://schemas.microsoft.com/office/powerpoint/2010/main" val="2273196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40823-64D1-7FDB-AB0A-6F6D73063D3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E0CB25-91D4-536A-3A55-AAD0752F0983}"/>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JP" sz="800" b="1" i="0" u="none" strike="noStrike" kern="1200" cap="none" spc="100" normalizeH="0" baseline="0" noProof="0">
                <a:ln>
                  <a:noFill/>
                </a:ln>
                <a:solidFill>
                  <a:srgbClr val="34373F"/>
                </a:solidFill>
                <a:effectLst/>
                <a:uLnTx/>
                <a:uFillTx/>
                <a:latin typeface="Calibri" panose="020F0502020204030204"/>
                <a:ea typeface="+mn-ea"/>
                <a:cs typeface="+mn-cs"/>
              </a:rPr>
              <a:t> </a:t>
            </a:r>
          </a:p>
        </p:txBody>
      </p:sp>
      <p:sp>
        <p:nvSpPr>
          <p:cNvPr id="4" name="Title 3">
            <a:extLst>
              <a:ext uri="{FF2B5EF4-FFF2-40B4-BE49-F238E27FC236}">
                <a16:creationId xmlns:a16="http://schemas.microsoft.com/office/drawing/2014/main" id="{7805B7A7-136A-656B-2B05-5C6C2E8D2921}"/>
              </a:ext>
            </a:extLst>
          </p:cNvPr>
          <p:cNvSpPr>
            <a:spLocks noGrp="1"/>
          </p:cNvSpPr>
          <p:nvPr>
            <p:ph type="title"/>
          </p:nvPr>
        </p:nvSpPr>
        <p:spPr/>
        <p:txBody>
          <a:bodyPr>
            <a:normAutofit fontScale="90000"/>
          </a:bodyPr>
          <a:lstStyle/>
          <a:p>
            <a:r>
              <a:rPr lang="en-US">
                <a:latin typeface="+mj-lt"/>
              </a:rPr>
              <a:t>Pinpoint where </a:t>
            </a:r>
            <a:r>
              <a:rPr lang="en-US"/>
              <a:t>patient flow breaks down </a:t>
            </a:r>
            <a:r>
              <a:rPr lang="en-US">
                <a:latin typeface="+mj-lt"/>
              </a:rPr>
              <a:t>to uncover referral inefficiencies and leakage hotspots</a:t>
            </a:r>
            <a:endParaRPr lang="en-IN">
              <a:latin typeface="+mj-lt"/>
            </a:endParaRPr>
          </a:p>
        </p:txBody>
      </p:sp>
      <p:sp>
        <p:nvSpPr>
          <p:cNvPr id="5" name="Slide Number Placeholder 4">
            <a:extLst>
              <a:ext uri="{FF2B5EF4-FFF2-40B4-BE49-F238E27FC236}">
                <a16:creationId xmlns:a16="http://schemas.microsoft.com/office/drawing/2014/main" id="{A57B59DF-D2D2-38D9-FBF2-10EBE7A2AF0D}"/>
              </a:ext>
            </a:extLst>
          </p:cNvPr>
          <p:cNvSpPr>
            <a:spLocks noGrp="1"/>
          </p:cNvSpPr>
          <p:nvPr>
            <p:ph type="sldNum" sz="quarter" idx="4"/>
          </p:nvPr>
        </p:nvSpPr>
        <p:spPr/>
        <p:txBody>
          <a:body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34373F"/>
                </a:solidFill>
                <a:effectLst/>
                <a:uLnTx/>
                <a:uFillTx/>
                <a:latin typeface="Calibri" panose="020F0502020204030204"/>
                <a:ea typeface="メイリオ" pitchFamily="50" charset="-128"/>
                <a:cs typeface="Calibri" panose="020F0502020204030204" pitchFamily="34" charset="0"/>
              </a:rPr>
              <a:pPr marL="0" marR="0" lvl="0" indent="0" algn="l" defTabSz="1218810" rtl="0" eaLnBrk="1" fontAlgn="auto" latinLnBrk="0" hangingPunct="1">
                <a:lnSpc>
                  <a:spcPct val="100000"/>
                </a:lnSpc>
                <a:spcBef>
                  <a:spcPts val="0"/>
                </a:spcBef>
                <a:spcAft>
                  <a:spcPts val="0"/>
                </a:spcAft>
                <a:buClrTx/>
                <a:buSzTx/>
                <a:buFontTx/>
                <a:buNone/>
                <a:tabLst/>
                <a:defRPr/>
              </a:pPr>
              <a:t>32</a:t>
            </a:fld>
            <a:endParaRPr kumimoji="0" lang="ja-JP" altLang="en-US" sz="800" b="1" i="0" u="none" strike="noStrike" kern="1200" cap="none" spc="0" normalizeH="0" baseline="0" noProof="0">
              <a:ln>
                <a:noFill/>
              </a:ln>
              <a:solidFill>
                <a:srgbClr val="34373F"/>
              </a:solidFill>
              <a:effectLst/>
              <a:uLnTx/>
              <a:uFillTx/>
              <a:latin typeface="Calibri" panose="020F0502020204030204"/>
              <a:ea typeface="メイリオ" pitchFamily="50" charset="-128"/>
              <a:cs typeface="Calibri" panose="020F0502020204030204" pitchFamily="34" charset="0"/>
            </a:endParaRPr>
          </a:p>
        </p:txBody>
      </p:sp>
      <p:sp>
        <p:nvSpPr>
          <p:cNvPr id="6" name="Text Placeholder 5">
            <a:extLst>
              <a:ext uri="{FF2B5EF4-FFF2-40B4-BE49-F238E27FC236}">
                <a16:creationId xmlns:a16="http://schemas.microsoft.com/office/drawing/2014/main" id="{2F7EC5CD-4341-2C49-D8F4-55035175BFBB}"/>
              </a:ext>
            </a:extLst>
          </p:cNvPr>
          <p:cNvSpPr>
            <a:spLocks noGrp="1"/>
          </p:cNvSpPr>
          <p:nvPr>
            <p:ph type="body" sz="quarter" idx="16"/>
          </p:nvPr>
        </p:nvSpPr>
        <p:spPr/>
        <p:txBody>
          <a:bodyPr/>
          <a:lstStyle/>
          <a:p>
            <a:endParaRPr lang="en-IN">
              <a:latin typeface="+mj-lt"/>
            </a:endParaRPr>
          </a:p>
        </p:txBody>
      </p:sp>
      <p:sp>
        <p:nvSpPr>
          <p:cNvPr id="7" name="Rectangle 6">
            <a:extLst>
              <a:ext uri="{FF2B5EF4-FFF2-40B4-BE49-F238E27FC236}">
                <a16:creationId xmlns:a16="http://schemas.microsoft.com/office/drawing/2014/main" id="{092779F3-1E93-A68A-4260-6A56149EE24A}"/>
              </a:ext>
            </a:extLst>
          </p:cNvPr>
          <p:cNvSpPr/>
          <p:nvPr/>
        </p:nvSpPr>
        <p:spPr>
          <a:xfrm>
            <a:off x="0" y="1253823"/>
            <a:ext cx="12192000" cy="363649"/>
          </a:xfrm>
          <a:prstGeom prst="rect">
            <a:avLst/>
          </a:prstGeom>
          <a:gradFill>
            <a:gsLst>
              <a:gs pos="100000">
                <a:schemeClr val="accent2"/>
              </a:gs>
              <a:gs pos="0">
                <a:schemeClr val="accent2"/>
              </a:gs>
              <a:gs pos="56000">
                <a:schemeClr val="accent1">
                  <a:lumMod val="60000"/>
                  <a:lumOff val="40000"/>
                </a:scheme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OBJECTIVE</a:t>
            </a:r>
            <a:r>
              <a:rPr kumimoji="0" lang="en-US" sz="1400" b="0" i="1" u="none" strike="noStrike" kern="0" cap="none" spc="0" normalizeH="0" baseline="0" noProof="0">
                <a:ln>
                  <a:noFill/>
                </a:ln>
                <a:solidFill>
                  <a:srgbClr val="FFFFFF"/>
                </a:solidFill>
                <a:effectLst/>
                <a:uLnTx/>
                <a:uFillTx/>
                <a:latin typeface="Calibri" panose="020F0502020204030204"/>
                <a:ea typeface="+mn-ea"/>
                <a:cs typeface="Arial" panose="020B0604020202020204" pitchFamily="34" charset="0"/>
              </a:rPr>
              <a:t>: Detect loss points in referral journeys and characterize structural drivers of missed or delayed care transitions</a:t>
            </a:r>
          </a:p>
        </p:txBody>
      </p:sp>
      <p:sp>
        <p:nvSpPr>
          <p:cNvPr id="9" name="TextBox 8">
            <a:extLst>
              <a:ext uri="{FF2B5EF4-FFF2-40B4-BE49-F238E27FC236}">
                <a16:creationId xmlns:a16="http://schemas.microsoft.com/office/drawing/2014/main" id="{2219A207-78A7-BCAD-E300-7CE58A9F576D}"/>
              </a:ext>
            </a:extLst>
          </p:cNvPr>
          <p:cNvSpPr txBox="1"/>
          <p:nvPr/>
        </p:nvSpPr>
        <p:spPr>
          <a:xfrm>
            <a:off x="643367" y="1939736"/>
            <a:ext cx="268911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Journey Deviation Detection</a:t>
            </a:r>
          </a:p>
        </p:txBody>
      </p:sp>
      <p:sp>
        <p:nvSpPr>
          <p:cNvPr id="11" name="TextBox 10">
            <a:extLst>
              <a:ext uri="{FF2B5EF4-FFF2-40B4-BE49-F238E27FC236}">
                <a16:creationId xmlns:a16="http://schemas.microsoft.com/office/drawing/2014/main" id="{0DBCFA2D-3142-6589-60B8-FBEA1C6D6488}"/>
              </a:ext>
            </a:extLst>
          </p:cNvPr>
          <p:cNvSpPr txBox="1"/>
          <p:nvPr/>
        </p:nvSpPr>
        <p:spPr>
          <a:xfrm>
            <a:off x="4839372" y="1939736"/>
            <a:ext cx="2514794"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Leakage Hotspot Identification</a:t>
            </a:r>
          </a:p>
        </p:txBody>
      </p:sp>
      <p:sp>
        <p:nvSpPr>
          <p:cNvPr id="14" name="TextBox 13">
            <a:extLst>
              <a:ext uri="{FF2B5EF4-FFF2-40B4-BE49-F238E27FC236}">
                <a16:creationId xmlns:a16="http://schemas.microsoft.com/office/drawing/2014/main" id="{4CD56057-7DEC-FE26-6FE7-9C52D9331B9F}"/>
              </a:ext>
            </a:extLst>
          </p:cNvPr>
          <p:cNvSpPr txBox="1"/>
          <p:nvPr/>
        </p:nvSpPr>
        <p:spPr>
          <a:xfrm>
            <a:off x="8751530" y="1939736"/>
            <a:ext cx="2416668" cy="539382"/>
          </a:xfrm>
          <a:prstGeom prst="rect">
            <a:avLst/>
          </a:prstGeom>
          <a:noFill/>
        </p:spPr>
        <p:txBody>
          <a:bodyPr wrap="square" lIns="0" tIns="0" rIns="0" bIns="0" rtlCol="0" anchor="b" anchorCtr="0">
            <a:noAutofit/>
          </a:bodyPr>
          <a:lstStyle/>
          <a:p>
            <a:pPr marL="0" marR="0" lvl="0" indent="0" algn="ctr" defTabSz="649224" rtl="0" eaLnBrk="1" fontAlgn="auto" latinLnBrk="0" hangingPunct="1">
              <a:lnSpc>
                <a:spcPct val="100000"/>
              </a:lnSpc>
              <a:spcBef>
                <a:spcPts val="426"/>
              </a:spcBef>
              <a:spcAft>
                <a:spcPts val="0"/>
              </a:spcAft>
              <a:buClrTx/>
              <a:buSzTx/>
              <a:buFontTx/>
              <a:buNone/>
              <a:tabLst/>
              <a:defRPr/>
            </a:pPr>
            <a:r>
              <a:rPr kumimoji="0" lang="en-US" sz="1400" b="1" i="0" u="none" strike="noStrike" kern="0" cap="none" spc="0" normalizeH="0" baseline="0" noProof="0">
                <a:ln>
                  <a:noFill/>
                </a:ln>
                <a:gradFill>
                  <a:gsLst>
                    <a:gs pos="0">
                      <a:srgbClr val="E1242A"/>
                    </a:gs>
                    <a:gs pos="100000">
                      <a:srgbClr val="E1242A">
                        <a:lumMod val="75000"/>
                      </a:srgbClr>
                    </a:gs>
                  </a:gsLst>
                  <a:lin ang="10800000" scaled="0"/>
                </a:gradFill>
                <a:effectLst/>
                <a:uLnTx/>
                <a:uFillTx/>
                <a:latin typeface="Calibri" panose="020F0502020204030204"/>
                <a:ea typeface="+mn-ea"/>
                <a:cs typeface="+mn-cs"/>
              </a:rPr>
              <a:t>Root Cause Profiling</a:t>
            </a:r>
          </a:p>
        </p:txBody>
      </p:sp>
      <p:cxnSp>
        <p:nvCxnSpPr>
          <p:cNvPr id="16" name="Straight Arrow Connector 15">
            <a:extLst>
              <a:ext uri="{FF2B5EF4-FFF2-40B4-BE49-F238E27FC236}">
                <a16:creationId xmlns:a16="http://schemas.microsoft.com/office/drawing/2014/main" id="{A6C6BFCD-3E76-E952-0979-6F762EB5E596}"/>
              </a:ext>
            </a:extLst>
          </p:cNvPr>
          <p:cNvCxnSpPr>
            <a:cxnSpLocks/>
          </p:cNvCxnSpPr>
          <p:nvPr/>
        </p:nvCxnSpPr>
        <p:spPr bwMode="gray">
          <a:xfrm>
            <a:off x="0" y="2716926"/>
            <a:ext cx="12192000" cy="0"/>
          </a:xfrm>
          <a:prstGeom prst="straightConnector1">
            <a:avLst/>
          </a:prstGeom>
          <a:ln w="12700" cap="rnd">
            <a:gradFill>
              <a:gsLst>
                <a:gs pos="0">
                  <a:schemeClr val="bg2"/>
                </a:gs>
                <a:gs pos="100000">
                  <a:schemeClr val="accent1"/>
                </a:gs>
              </a:gsLst>
              <a:lin ang="5400000" scaled="1"/>
            </a:gradFill>
            <a:round/>
            <a:tailEnd type="none" w="lg" len="lg"/>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9C6F2ADD-1F68-5AA3-6E37-B44D70ACF84C}"/>
              </a:ext>
            </a:extLst>
          </p:cNvPr>
          <p:cNvSpPr/>
          <p:nvPr/>
        </p:nvSpPr>
        <p:spPr bwMode="gray">
          <a:xfrm flipV="1">
            <a:off x="1858651"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a:ln>
                <a:noFill/>
              </a:ln>
              <a:solidFill>
                <a:srgbClr val="E1242A"/>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B9490FC9-C2B7-6698-2394-55D27B1ECCC4}"/>
              </a:ext>
            </a:extLst>
          </p:cNvPr>
          <p:cNvSpPr/>
          <p:nvPr/>
        </p:nvSpPr>
        <p:spPr bwMode="gray">
          <a:xfrm flipV="1">
            <a:off x="5967494"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806B2399-7CA4-3A3E-FBA8-E0EF2C567744}"/>
              </a:ext>
            </a:extLst>
          </p:cNvPr>
          <p:cNvSpPr/>
          <p:nvPr/>
        </p:nvSpPr>
        <p:spPr bwMode="gray">
          <a:xfrm flipV="1">
            <a:off x="9830589" y="2716926"/>
            <a:ext cx="258551" cy="222890"/>
          </a:xfrm>
          <a:prstGeom prst="triangle">
            <a:avLst/>
          </a:prstGeom>
          <a:solidFill>
            <a:schemeClr val="tx2"/>
          </a:solidFill>
          <a:ln w="6350">
            <a:noFill/>
            <a:miter lim="800000"/>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Pct val="110000"/>
              <a:buFontTx/>
              <a:buNone/>
              <a:tabLst/>
              <a:defRPr/>
            </a:pPr>
            <a:endParaRPr kumimoji="0" lang="en-US" sz="1200" b="0" i="0" u="none" strike="noStrike" kern="1200" cap="none" spc="0" normalizeH="0" baseline="0" noProof="0" err="1">
              <a:ln>
                <a:noFill/>
              </a:ln>
              <a:solidFill>
                <a:srgbClr val="E1242A"/>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27C2CE2F-DD6A-6EB6-5A6A-08C146CB85AA}"/>
              </a:ext>
            </a:extLst>
          </p:cNvPr>
          <p:cNvSpPr/>
          <p:nvPr/>
        </p:nvSpPr>
        <p:spPr>
          <a:xfrm>
            <a:off x="1749625"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4" name="Oval 23">
            <a:extLst>
              <a:ext uri="{FF2B5EF4-FFF2-40B4-BE49-F238E27FC236}">
                <a16:creationId xmlns:a16="http://schemas.microsoft.com/office/drawing/2014/main" id="{4AA4EDB3-C7DB-E85D-C6C9-B07F29DE9741}"/>
              </a:ext>
            </a:extLst>
          </p:cNvPr>
          <p:cNvSpPr/>
          <p:nvPr/>
        </p:nvSpPr>
        <p:spPr>
          <a:xfrm>
            <a:off x="9721563"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sp>
        <p:nvSpPr>
          <p:cNvPr id="25" name="Graphic 66">
            <a:extLst>
              <a:ext uri="{FF2B5EF4-FFF2-40B4-BE49-F238E27FC236}">
                <a16:creationId xmlns:a16="http://schemas.microsoft.com/office/drawing/2014/main" id="{7B035425-AAD8-53F2-66A8-25060F6F9FF8}"/>
              </a:ext>
            </a:extLst>
          </p:cNvPr>
          <p:cNvSpPr/>
          <p:nvPr/>
        </p:nvSpPr>
        <p:spPr>
          <a:xfrm>
            <a:off x="9863911" y="1825287"/>
            <a:ext cx="195613" cy="244781"/>
          </a:xfrm>
          <a:custGeom>
            <a:avLst/>
            <a:gdLst>
              <a:gd name="csX0" fmla="*/ 60258 w 331697"/>
              <a:gd name="csY0" fmla="*/ 0 h 415070"/>
              <a:gd name="csX1" fmla="*/ 0 w 331697"/>
              <a:gd name="csY1" fmla="*/ 60310 h 415070"/>
              <a:gd name="csX2" fmla="*/ 60258 w 331697"/>
              <a:gd name="csY2" fmla="*/ 120674 h 415070"/>
              <a:gd name="csX3" fmla="*/ 120568 w 331697"/>
              <a:gd name="csY3" fmla="*/ 60310 h 415070"/>
              <a:gd name="csX4" fmla="*/ 60258 w 331697"/>
              <a:gd name="csY4" fmla="*/ 0 h 415070"/>
              <a:gd name="csX5" fmla="*/ 60258 w 331697"/>
              <a:gd name="csY5" fmla="*/ 12971 h 415070"/>
              <a:gd name="csX6" fmla="*/ 107594 w 331697"/>
              <a:gd name="csY6" fmla="*/ 60308 h 415070"/>
              <a:gd name="csX7" fmla="*/ 60258 w 331697"/>
              <a:gd name="csY7" fmla="*/ 107697 h 415070"/>
              <a:gd name="csX8" fmla="*/ 12952 w 331697"/>
              <a:gd name="csY8" fmla="*/ 60308 h 415070"/>
              <a:gd name="csX9" fmla="*/ 60258 w 331697"/>
              <a:gd name="csY9" fmla="*/ 12971 h 415070"/>
              <a:gd name="csX10" fmla="*/ 156778 w 331697"/>
              <a:gd name="csY10" fmla="*/ 32506 h 415070"/>
              <a:gd name="csX11" fmla="*/ 152161 w 331697"/>
              <a:gd name="csY11" fmla="*/ 34401 h 415070"/>
              <a:gd name="csX12" fmla="*/ 150266 w 331697"/>
              <a:gd name="csY12" fmla="*/ 39018 h 415070"/>
              <a:gd name="csX13" fmla="*/ 152179 w 331697"/>
              <a:gd name="csY13" fmla="*/ 43600 h 415070"/>
              <a:gd name="csX14" fmla="*/ 156778 w 331697"/>
              <a:gd name="csY14" fmla="*/ 45478 h 415070"/>
              <a:gd name="csX15" fmla="*/ 325185 w 331697"/>
              <a:gd name="csY15" fmla="*/ 45478 h 415070"/>
              <a:gd name="csX16" fmla="*/ 329785 w 331697"/>
              <a:gd name="csY16" fmla="*/ 43600 h 415070"/>
              <a:gd name="csX17" fmla="*/ 331697 w 331697"/>
              <a:gd name="csY17" fmla="*/ 39018 h 415070"/>
              <a:gd name="csX18" fmla="*/ 329785 w 331697"/>
              <a:gd name="csY18" fmla="*/ 34401 h 415070"/>
              <a:gd name="csX19" fmla="*/ 325185 w 331697"/>
              <a:gd name="csY19" fmla="*/ 32506 h 415070"/>
              <a:gd name="csX20" fmla="*/ 82947 w 331697"/>
              <a:gd name="csY20" fmla="*/ 38984 h 415070"/>
              <a:gd name="csX21" fmla="*/ 82947 w 331697"/>
              <a:gd name="csY21" fmla="*/ 38966 h 415070"/>
              <a:gd name="csX22" fmla="*/ 78399 w 331697"/>
              <a:gd name="csY22" fmla="*/ 40982 h 415070"/>
              <a:gd name="csX23" fmla="*/ 54540 w 331697"/>
              <a:gd name="csY23" fmla="*/ 65839 h 415070"/>
              <a:gd name="csX24" fmla="*/ 42103 w 331697"/>
              <a:gd name="csY24" fmla="*/ 52902 h 415070"/>
              <a:gd name="csX25" fmla="*/ 42120 w 331697"/>
              <a:gd name="csY25" fmla="*/ 52885 h 415070"/>
              <a:gd name="csX26" fmla="*/ 32973 w 331697"/>
              <a:gd name="csY26" fmla="*/ 52747 h 415070"/>
              <a:gd name="csX27" fmla="*/ 32784 w 331697"/>
              <a:gd name="csY27" fmla="*/ 61894 h 415070"/>
              <a:gd name="csX28" fmla="*/ 49941 w 331697"/>
              <a:gd name="csY28" fmla="*/ 79707 h 415070"/>
              <a:gd name="csX29" fmla="*/ 49924 w 331697"/>
              <a:gd name="csY29" fmla="*/ 79707 h 415070"/>
              <a:gd name="csX30" fmla="*/ 54592 w 331697"/>
              <a:gd name="csY30" fmla="*/ 81688 h 415070"/>
              <a:gd name="csX31" fmla="*/ 59261 w 331697"/>
              <a:gd name="csY31" fmla="*/ 79707 h 415070"/>
              <a:gd name="csX32" fmla="*/ 87788 w 331697"/>
              <a:gd name="csY32" fmla="*/ 49974 h 415070"/>
              <a:gd name="csX33" fmla="*/ 89596 w 331697"/>
              <a:gd name="csY33" fmla="*/ 45340 h 415070"/>
              <a:gd name="csX34" fmla="*/ 87598 w 331697"/>
              <a:gd name="csY34" fmla="*/ 40775 h 415070"/>
              <a:gd name="csX35" fmla="*/ 82947 w 331697"/>
              <a:gd name="csY35" fmla="*/ 38966 h 415070"/>
              <a:gd name="csX36" fmla="*/ 156778 w 331697"/>
              <a:gd name="csY36" fmla="*/ 75228 h 415070"/>
              <a:gd name="csX37" fmla="*/ 156778 w 331697"/>
              <a:gd name="csY37" fmla="*/ 75211 h 415070"/>
              <a:gd name="csX38" fmla="*/ 152179 w 331697"/>
              <a:gd name="csY38" fmla="*/ 77088 h 415070"/>
              <a:gd name="csX39" fmla="*/ 150266 w 331697"/>
              <a:gd name="csY39" fmla="*/ 81671 h 415070"/>
              <a:gd name="csX40" fmla="*/ 152161 w 331697"/>
              <a:gd name="csY40" fmla="*/ 86288 h 415070"/>
              <a:gd name="csX41" fmla="*/ 156778 w 331697"/>
              <a:gd name="csY41" fmla="*/ 88183 h 415070"/>
              <a:gd name="csX42" fmla="*/ 243614 w 331697"/>
              <a:gd name="csY42" fmla="*/ 88183 h 415070"/>
              <a:gd name="csX43" fmla="*/ 248214 w 331697"/>
              <a:gd name="csY43" fmla="*/ 86288 h 415070"/>
              <a:gd name="csX44" fmla="*/ 250109 w 331697"/>
              <a:gd name="csY44" fmla="*/ 81671 h 415070"/>
              <a:gd name="csX45" fmla="*/ 243614 w 331697"/>
              <a:gd name="csY45" fmla="*/ 75211 h 415070"/>
              <a:gd name="csX46" fmla="*/ 60258 w 331697"/>
              <a:gd name="csY46" fmla="*/ 147163 h 415070"/>
              <a:gd name="csX47" fmla="*/ 0 w 331697"/>
              <a:gd name="csY47" fmla="*/ 207527 h 415070"/>
              <a:gd name="csX48" fmla="*/ 60258 w 331697"/>
              <a:gd name="csY48" fmla="*/ 267855 h 415070"/>
              <a:gd name="csX49" fmla="*/ 120568 w 331697"/>
              <a:gd name="csY49" fmla="*/ 207527 h 415070"/>
              <a:gd name="csX50" fmla="*/ 60258 w 331697"/>
              <a:gd name="csY50" fmla="*/ 147163 h 415070"/>
              <a:gd name="csX51" fmla="*/ 60258 w 331697"/>
              <a:gd name="csY51" fmla="*/ 160152 h 415070"/>
              <a:gd name="csX52" fmla="*/ 107594 w 331697"/>
              <a:gd name="csY52" fmla="*/ 207541 h 415070"/>
              <a:gd name="csX53" fmla="*/ 60258 w 331697"/>
              <a:gd name="csY53" fmla="*/ 254877 h 415070"/>
              <a:gd name="csX54" fmla="*/ 12952 w 331697"/>
              <a:gd name="csY54" fmla="*/ 207541 h 415070"/>
              <a:gd name="csX55" fmla="*/ 60258 w 331697"/>
              <a:gd name="csY55" fmla="*/ 160152 h 415070"/>
              <a:gd name="csX56" fmla="*/ 156778 w 331697"/>
              <a:gd name="csY56" fmla="*/ 179687 h 415070"/>
              <a:gd name="csX57" fmla="*/ 156778 w 331697"/>
              <a:gd name="csY57" fmla="*/ 179669 h 415070"/>
              <a:gd name="csX58" fmla="*/ 152161 w 331697"/>
              <a:gd name="csY58" fmla="*/ 181564 h 415070"/>
              <a:gd name="csX59" fmla="*/ 150266 w 331697"/>
              <a:gd name="csY59" fmla="*/ 186181 h 415070"/>
              <a:gd name="csX60" fmla="*/ 152179 w 331697"/>
              <a:gd name="csY60" fmla="*/ 190746 h 415070"/>
              <a:gd name="csX61" fmla="*/ 156778 w 331697"/>
              <a:gd name="csY61" fmla="*/ 192641 h 415070"/>
              <a:gd name="csX62" fmla="*/ 325185 w 331697"/>
              <a:gd name="csY62" fmla="*/ 192641 h 415070"/>
              <a:gd name="csX63" fmla="*/ 329768 w 331697"/>
              <a:gd name="csY63" fmla="*/ 190746 h 415070"/>
              <a:gd name="csX64" fmla="*/ 331697 w 331697"/>
              <a:gd name="csY64" fmla="*/ 186181 h 415070"/>
              <a:gd name="csX65" fmla="*/ 329785 w 331697"/>
              <a:gd name="csY65" fmla="*/ 181564 h 415070"/>
              <a:gd name="csX66" fmla="*/ 325185 w 331697"/>
              <a:gd name="csY66" fmla="*/ 179669 h 415070"/>
              <a:gd name="csX67" fmla="*/ 240982 w 331697"/>
              <a:gd name="csY67" fmla="*/ 179669 h 415070"/>
              <a:gd name="csX68" fmla="*/ 82947 w 331697"/>
              <a:gd name="csY68" fmla="*/ 186198 h 415070"/>
              <a:gd name="csX69" fmla="*/ 82947 w 331697"/>
              <a:gd name="csY69" fmla="*/ 186181 h 415070"/>
              <a:gd name="csX70" fmla="*/ 78399 w 331697"/>
              <a:gd name="csY70" fmla="*/ 188145 h 415070"/>
              <a:gd name="csX71" fmla="*/ 54540 w 331697"/>
              <a:gd name="csY71" fmla="*/ 212985 h 415070"/>
              <a:gd name="csX72" fmla="*/ 42103 w 331697"/>
              <a:gd name="csY72" fmla="*/ 200065 h 415070"/>
              <a:gd name="csX73" fmla="*/ 42120 w 331697"/>
              <a:gd name="csY73" fmla="*/ 200065 h 415070"/>
              <a:gd name="csX74" fmla="*/ 32973 w 331697"/>
              <a:gd name="csY74" fmla="*/ 199910 h 415070"/>
              <a:gd name="csX75" fmla="*/ 32784 w 331697"/>
              <a:gd name="csY75" fmla="*/ 209057 h 415070"/>
              <a:gd name="csX76" fmla="*/ 49941 w 331697"/>
              <a:gd name="csY76" fmla="*/ 226870 h 415070"/>
              <a:gd name="csX77" fmla="*/ 49924 w 331697"/>
              <a:gd name="csY77" fmla="*/ 226852 h 415070"/>
              <a:gd name="csX78" fmla="*/ 54592 w 331697"/>
              <a:gd name="csY78" fmla="*/ 228833 h 415070"/>
              <a:gd name="csX79" fmla="*/ 59261 w 331697"/>
              <a:gd name="csY79" fmla="*/ 226852 h 415070"/>
              <a:gd name="csX80" fmla="*/ 87788 w 331697"/>
              <a:gd name="csY80" fmla="*/ 197120 h 415070"/>
              <a:gd name="csX81" fmla="*/ 87788 w 331697"/>
              <a:gd name="csY81" fmla="*/ 197137 h 415070"/>
              <a:gd name="csX82" fmla="*/ 89596 w 331697"/>
              <a:gd name="csY82" fmla="*/ 192486 h 415070"/>
              <a:gd name="csX83" fmla="*/ 87598 w 331697"/>
              <a:gd name="csY83" fmla="*/ 187938 h 415070"/>
              <a:gd name="csX84" fmla="*/ 82947 w 331697"/>
              <a:gd name="csY84" fmla="*/ 186181 h 415070"/>
              <a:gd name="csX85" fmla="*/ 156778 w 331697"/>
              <a:gd name="csY85" fmla="*/ 222391 h 415070"/>
              <a:gd name="csX86" fmla="*/ 156778 w 331697"/>
              <a:gd name="csY86" fmla="*/ 222356 h 415070"/>
              <a:gd name="csX87" fmla="*/ 152179 w 331697"/>
              <a:gd name="csY87" fmla="*/ 224251 h 415070"/>
              <a:gd name="csX88" fmla="*/ 150266 w 331697"/>
              <a:gd name="csY88" fmla="*/ 228816 h 415070"/>
              <a:gd name="csX89" fmla="*/ 152161 w 331697"/>
              <a:gd name="csY89" fmla="*/ 233433 h 415070"/>
              <a:gd name="csX90" fmla="*/ 156778 w 331697"/>
              <a:gd name="csY90" fmla="*/ 235328 h 415070"/>
              <a:gd name="csX91" fmla="*/ 243614 w 331697"/>
              <a:gd name="csY91" fmla="*/ 235328 h 415070"/>
              <a:gd name="csX92" fmla="*/ 248214 w 331697"/>
              <a:gd name="csY92" fmla="*/ 233433 h 415070"/>
              <a:gd name="csX93" fmla="*/ 250109 w 331697"/>
              <a:gd name="csY93" fmla="*/ 228816 h 415070"/>
              <a:gd name="csX94" fmla="*/ 243614 w 331697"/>
              <a:gd name="csY94" fmla="*/ 222357 h 415070"/>
              <a:gd name="csX95" fmla="*/ 60258 w 331697"/>
              <a:gd name="csY95" fmla="*/ 294343 h 415070"/>
              <a:gd name="csX96" fmla="*/ 0 w 331697"/>
              <a:gd name="csY96" fmla="*/ 354707 h 415070"/>
              <a:gd name="csX97" fmla="*/ 60258 w 331697"/>
              <a:gd name="csY97" fmla="*/ 415070 h 415070"/>
              <a:gd name="csX98" fmla="*/ 120568 w 331697"/>
              <a:gd name="csY98" fmla="*/ 354707 h 415070"/>
              <a:gd name="csX99" fmla="*/ 60258 w 331697"/>
              <a:gd name="csY99" fmla="*/ 294343 h 415070"/>
              <a:gd name="csX100" fmla="*/ 60258 w 331697"/>
              <a:gd name="csY100" fmla="*/ 307315 h 415070"/>
              <a:gd name="csX101" fmla="*/ 107594 w 331697"/>
              <a:gd name="csY101" fmla="*/ 354704 h 415070"/>
              <a:gd name="csX102" fmla="*/ 60258 w 331697"/>
              <a:gd name="csY102" fmla="*/ 402094 h 415070"/>
              <a:gd name="csX103" fmla="*/ 12952 w 331697"/>
              <a:gd name="csY103" fmla="*/ 354704 h 415070"/>
              <a:gd name="csX104" fmla="*/ 60258 w 331697"/>
              <a:gd name="csY104" fmla="*/ 307315 h 415070"/>
              <a:gd name="csX105" fmla="*/ 156778 w 331697"/>
              <a:gd name="csY105" fmla="*/ 326901 h 415070"/>
              <a:gd name="csX106" fmla="*/ 156778 w 331697"/>
              <a:gd name="csY106" fmla="*/ 326867 h 415070"/>
              <a:gd name="csX107" fmla="*/ 152179 w 331697"/>
              <a:gd name="csY107" fmla="*/ 328744 h 415070"/>
              <a:gd name="csX108" fmla="*/ 150266 w 331697"/>
              <a:gd name="csY108" fmla="*/ 333327 h 415070"/>
              <a:gd name="csX109" fmla="*/ 152161 w 331697"/>
              <a:gd name="csY109" fmla="*/ 337944 h 415070"/>
              <a:gd name="csX110" fmla="*/ 156778 w 331697"/>
              <a:gd name="csY110" fmla="*/ 339839 h 415070"/>
              <a:gd name="csX111" fmla="*/ 325185 w 331697"/>
              <a:gd name="csY111" fmla="*/ 339839 h 415070"/>
              <a:gd name="csX112" fmla="*/ 329785 w 331697"/>
              <a:gd name="csY112" fmla="*/ 337944 h 415070"/>
              <a:gd name="csX113" fmla="*/ 331697 w 331697"/>
              <a:gd name="csY113" fmla="*/ 333327 h 415070"/>
              <a:gd name="csX114" fmla="*/ 329768 w 331697"/>
              <a:gd name="csY114" fmla="*/ 328744 h 415070"/>
              <a:gd name="csX115" fmla="*/ 325185 w 331697"/>
              <a:gd name="csY115" fmla="*/ 326867 h 415070"/>
              <a:gd name="csX116" fmla="*/ 240982 w 331697"/>
              <a:gd name="csY116" fmla="*/ 326867 h 415070"/>
              <a:gd name="csX117" fmla="*/ 83445 w 331697"/>
              <a:gd name="csY117" fmla="*/ 333344 h 415070"/>
              <a:gd name="csX118" fmla="*/ 83428 w 331697"/>
              <a:gd name="csY118" fmla="*/ 333309 h 415070"/>
              <a:gd name="csX119" fmla="*/ 78398 w 331697"/>
              <a:gd name="csY119" fmla="*/ 335290 h 415070"/>
              <a:gd name="csX120" fmla="*/ 54539 w 331697"/>
              <a:gd name="csY120" fmla="*/ 360182 h 415070"/>
              <a:gd name="csX121" fmla="*/ 42102 w 331697"/>
              <a:gd name="csY121" fmla="*/ 347262 h 415070"/>
              <a:gd name="csX122" fmla="*/ 42119 w 331697"/>
              <a:gd name="csY122" fmla="*/ 347262 h 415070"/>
              <a:gd name="csX123" fmla="*/ 32972 w 331697"/>
              <a:gd name="csY123" fmla="*/ 347073 h 415070"/>
              <a:gd name="csX124" fmla="*/ 32782 w 331697"/>
              <a:gd name="csY124" fmla="*/ 356220 h 415070"/>
              <a:gd name="csX125" fmla="*/ 49940 w 331697"/>
              <a:gd name="csY125" fmla="*/ 374032 h 415070"/>
              <a:gd name="csX126" fmla="*/ 49923 w 331697"/>
              <a:gd name="csY126" fmla="*/ 374015 h 415070"/>
              <a:gd name="csX127" fmla="*/ 54591 w 331697"/>
              <a:gd name="csY127" fmla="*/ 376013 h 415070"/>
              <a:gd name="csX128" fmla="*/ 59259 w 331697"/>
              <a:gd name="csY128" fmla="*/ 374015 h 415070"/>
              <a:gd name="csX129" fmla="*/ 87786 w 331697"/>
              <a:gd name="csY129" fmla="*/ 344282 h 415070"/>
              <a:gd name="csX130" fmla="*/ 87786 w 331697"/>
              <a:gd name="csY130" fmla="*/ 344300 h 415070"/>
              <a:gd name="csX131" fmla="*/ 87597 w 331697"/>
              <a:gd name="csY131" fmla="*/ 335152 h 415070"/>
              <a:gd name="csX132" fmla="*/ 83428 w 331697"/>
              <a:gd name="csY132" fmla="*/ 333309 h 415070"/>
              <a:gd name="csX133" fmla="*/ 156778 w 331697"/>
              <a:gd name="csY133" fmla="*/ 369536 h 415070"/>
              <a:gd name="csX134" fmla="*/ 156778 w 331697"/>
              <a:gd name="csY134" fmla="*/ 369519 h 415070"/>
              <a:gd name="csX135" fmla="*/ 152179 w 331697"/>
              <a:gd name="csY135" fmla="*/ 371397 h 415070"/>
              <a:gd name="csX136" fmla="*/ 150266 w 331697"/>
              <a:gd name="csY136" fmla="*/ 375979 h 415070"/>
              <a:gd name="csX137" fmla="*/ 152161 w 331697"/>
              <a:gd name="csY137" fmla="*/ 380596 h 415070"/>
              <a:gd name="csX138" fmla="*/ 156778 w 331697"/>
              <a:gd name="csY138" fmla="*/ 382491 h 415070"/>
              <a:gd name="csX139" fmla="*/ 243614 w 331697"/>
              <a:gd name="csY139" fmla="*/ 382491 h 415070"/>
              <a:gd name="csX140" fmla="*/ 248214 w 331697"/>
              <a:gd name="csY140" fmla="*/ 380596 h 415070"/>
              <a:gd name="csX141" fmla="*/ 250109 w 331697"/>
              <a:gd name="csY141" fmla="*/ 375979 h 415070"/>
              <a:gd name="csX142" fmla="*/ 243614 w 331697"/>
              <a:gd name="csY142" fmla="*/ 369519 h 415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Lst>
            <a:rect l="l" t="t" r="r" b="b"/>
            <a:pathLst>
              <a:path w="331697" h="415070">
                <a:moveTo>
                  <a:pt x="60258" y="0"/>
                </a:moveTo>
                <a:cubicBezTo>
                  <a:pt x="27028" y="0"/>
                  <a:pt x="0" y="27063"/>
                  <a:pt x="0" y="60310"/>
                </a:cubicBezTo>
                <a:cubicBezTo>
                  <a:pt x="0" y="93558"/>
                  <a:pt x="27045" y="120674"/>
                  <a:pt x="60258" y="120674"/>
                </a:cubicBezTo>
                <a:cubicBezTo>
                  <a:pt x="93487" y="120674"/>
                  <a:pt x="120568" y="93560"/>
                  <a:pt x="120568" y="60310"/>
                </a:cubicBezTo>
                <a:cubicBezTo>
                  <a:pt x="120568" y="27063"/>
                  <a:pt x="93488" y="0"/>
                  <a:pt x="60258" y="0"/>
                </a:cubicBezTo>
                <a:close/>
                <a:moveTo>
                  <a:pt x="60258" y="12971"/>
                </a:moveTo>
                <a:cubicBezTo>
                  <a:pt x="86476" y="12971"/>
                  <a:pt x="107594" y="34074"/>
                  <a:pt x="107594" y="60308"/>
                </a:cubicBezTo>
                <a:cubicBezTo>
                  <a:pt x="107594" y="86561"/>
                  <a:pt x="86457" y="107697"/>
                  <a:pt x="60258" y="107697"/>
                </a:cubicBezTo>
                <a:cubicBezTo>
                  <a:pt x="34039" y="107697"/>
                  <a:pt x="12952" y="86543"/>
                  <a:pt x="12952" y="60308"/>
                </a:cubicBezTo>
                <a:cubicBezTo>
                  <a:pt x="12952" y="34055"/>
                  <a:pt x="34037" y="12971"/>
                  <a:pt x="60258" y="12971"/>
                </a:cubicBezTo>
                <a:close/>
                <a:moveTo>
                  <a:pt x="156778" y="32506"/>
                </a:moveTo>
                <a:cubicBezTo>
                  <a:pt x="155038" y="32489"/>
                  <a:pt x="153385" y="33178"/>
                  <a:pt x="152161" y="34401"/>
                </a:cubicBezTo>
                <a:cubicBezTo>
                  <a:pt x="150938" y="35624"/>
                  <a:pt x="150249" y="37278"/>
                  <a:pt x="150266" y="39018"/>
                </a:cubicBezTo>
                <a:cubicBezTo>
                  <a:pt x="150266" y="40741"/>
                  <a:pt x="150956" y="42377"/>
                  <a:pt x="152179" y="43600"/>
                </a:cubicBezTo>
                <a:cubicBezTo>
                  <a:pt x="153402" y="44806"/>
                  <a:pt x="155055" y="45495"/>
                  <a:pt x="156778" y="45478"/>
                </a:cubicBezTo>
                <a:lnTo>
                  <a:pt x="325185" y="45478"/>
                </a:lnTo>
                <a:cubicBezTo>
                  <a:pt x="326908" y="45495"/>
                  <a:pt x="328562" y="44806"/>
                  <a:pt x="329785" y="43600"/>
                </a:cubicBezTo>
                <a:cubicBezTo>
                  <a:pt x="331008" y="42377"/>
                  <a:pt x="331680" y="40741"/>
                  <a:pt x="331697" y="39018"/>
                </a:cubicBezTo>
                <a:cubicBezTo>
                  <a:pt x="331697" y="37278"/>
                  <a:pt x="331008" y="35624"/>
                  <a:pt x="329785" y="34401"/>
                </a:cubicBezTo>
                <a:cubicBezTo>
                  <a:pt x="328562" y="33178"/>
                  <a:pt x="326908" y="32489"/>
                  <a:pt x="325185" y="32506"/>
                </a:cubicBezTo>
                <a:close/>
                <a:moveTo>
                  <a:pt x="82947" y="38984"/>
                </a:moveTo>
                <a:lnTo>
                  <a:pt x="82947" y="38966"/>
                </a:lnTo>
                <a:cubicBezTo>
                  <a:pt x="81224" y="39018"/>
                  <a:pt x="79588" y="39724"/>
                  <a:pt x="78399" y="40982"/>
                </a:cubicBezTo>
                <a:lnTo>
                  <a:pt x="54540" y="65839"/>
                </a:lnTo>
                <a:lnTo>
                  <a:pt x="42103" y="52902"/>
                </a:lnTo>
                <a:lnTo>
                  <a:pt x="42120" y="52885"/>
                </a:lnTo>
                <a:cubicBezTo>
                  <a:pt x="39622" y="50336"/>
                  <a:pt x="35540" y="50284"/>
                  <a:pt x="32973" y="52747"/>
                </a:cubicBezTo>
                <a:cubicBezTo>
                  <a:pt x="30406" y="55228"/>
                  <a:pt x="30320" y="59311"/>
                  <a:pt x="32784" y="61894"/>
                </a:cubicBezTo>
                <a:lnTo>
                  <a:pt x="49941" y="79707"/>
                </a:lnTo>
                <a:lnTo>
                  <a:pt x="49924" y="79707"/>
                </a:lnTo>
                <a:cubicBezTo>
                  <a:pt x="51147" y="80981"/>
                  <a:pt x="52835" y="81688"/>
                  <a:pt x="54592" y="81688"/>
                </a:cubicBezTo>
                <a:cubicBezTo>
                  <a:pt x="56349" y="81688"/>
                  <a:pt x="58038" y="80981"/>
                  <a:pt x="59261" y="79707"/>
                </a:cubicBezTo>
                <a:lnTo>
                  <a:pt x="87788" y="49974"/>
                </a:lnTo>
                <a:cubicBezTo>
                  <a:pt x="88976" y="48734"/>
                  <a:pt x="89631" y="47063"/>
                  <a:pt x="89596" y="45340"/>
                </a:cubicBezTo>
                <a:cubicBezTo>
                  <a:pt x="89562" y="43617"/>
                  <a:pt x="88838" y="41981"/>
                  <a:pt x="87598" y="40775"/>
                </a:cubicBezTo>
                <a:cubicBezTo>
                  <a:pt x="86341" y="39586"/>
                  <a:pt x="84687" y="38931"/>
                  <a:pt x="82947" y="38966"/>
                </a:cubicBezTo>
                <a:close/>
                <a:moveTo>
                  <a:pt x="156778" y="75228"/>
                </a:moveTo>
                <a:lnTo>
                  <a:pt x="156778" y="75211"/>
                </a:lnTo>
                <a:cubicBezTo>
                  <a:pt x="155056" y="75211"/>
                  <a:pt x="153402" y="75883"/>
                  <a:pt x="152179" y="77088"/>
                </a:cubicBezTo>
                <a:cubicBezTo>
                  <a:pt x="150956" y="78312"/>
                  <a:pt x="150266" y="79948"/>
                  <a:pt x="150266" y="81671"/>
                </a:cubicBezTo>
                <a:cubicBezTo>
                  <a:pt x="150249" y="83393"/>
                  <a:pt x="150938" y="85064"/>
                  <a:pt x="152161" y="86288"/>
                </a:cubicBezTo>
                <a:cubicBezTo>
                  <a:pt x="153384" y="87511"/>
                  <a:pt x="155038" y="88183"/>
                  <a:pt x="156778" y="88183"/>
                </a:cubicBezTo>
                <a:lnTo>
                  <a:pt x="243614" y="88183"/>
                </a:lnTo>
                <a:cubicBezTo>
                  <a:pt x="245337" y="88183"/>
                  <a:pt x="246991" y="87511"/>
                  <a:pt x="248214" y="86288"/>
                </a:cubicBezTo>
                <a:cubicBezTo>
                  <a:pt x="249437" y="85065"/>
                  <a:pt x="250126" y="83394"/>
                  <a:pt x="250109" y="81671"/>
                </a:cubicBezTo>
                <a:cubicBezTo>
                  <a:pt x="250109" y="78088"/>
                  <a:pt x="247180" y="75194"/>
                  <a:pt x="243614" y="75211"/>
                </a:cubicBezTo>
                <a:close/>
                <a:moveTo>
                  <a:pt x="60258" y="147163"/>
                </a:moveTo>
                <a:cubicBezTo>
                  <a:pt x="27028" y="147163"/>
                  <a:pt x="0" y="174277"/>
                  <a:pt x="0" y="207527"/>
                </a:cubicBezTo>
                <a:cubicBezTo>
                  <a:pt x="0" y="240776"/>
                  <a:pt x="27045" y="267855"/>
                  <a:pt x="60258" y="267855"/>
                </a:cubicBezTo>
                <a:cubicBezTo>
                  <a:pt x="93487" y="267855"/>
                  <a:pt x="120568" y="240775"/>
                  <a:pt x="120568" y="207527"/>
                </a:cubicBezTo>
                <a:cubicBezTo>
                  <a:pt x="120568" y="174278"/>
                  <a:pt x="93488" y="147163"/>
                  <a:pt x="60258" y="147163"/>
                </a:cubicBezTo>
                <a:close/>
                <a:moveTo>
                  <a:pt x="60258" y="160152"/>
                </a:moveTo>
                <a:cubicBezTo>
                  <a:pt x="86476" y="160152"/>
                  <a:pt x="107594" y="181289"/>
                  <a:pt x="107594" y="207541"/>
                </a:cubicBezTo>
                <a:cubicBezTo>
                  <a:pt x="107594" y="233794"/>
                  <a:pt x="86457" y="254877"/>
                  <a:pt x="60258" y="254877"/>
                </a:cubicBezTo>
                <a:cubicBezTo>
                  <a:pt x="34039" y="254877"/>
                  <a:pt x="12952" y="233775"/>
                  <a:pt x="12952" y="207541"/>
                </a:cubicBezTo>
                <a:cubicBezTo>
                  <a:pt x="12952" y="181288"/>
                  <a:pt x="34037" y="160152"/>
                  <a:pt x="60258" y="160152"/>
                </a:cubicBezTo>
                <a:close/>
                <a:moveTo>
                  <a:pt x="156778" y="179687"/>
                </a:moveTo>
                <a:lnTo>
                  <a:pt x="156778" y="179669"/>
                </a:lnTo>
                <a:cubicBezTo>
                  <a:pt x="155038" y="179652"/>
                  <a:pt x="153385" y="180341"/>
                  <a:pt x="152161" y="181564"/>
                </a:cubicBezTo>
                <a:cubicBezTo>
                  <a:pt x="150938" y="182787"/>
                  <a:pt x="150249" y="184441"/>
                  <a:pt x="150266" y="186181"/>
                </a:cubicBezTo>
                <a:cubicBezTo>
                  <a:pt x="150266" y="187904"/>
                  <a:pt x="150956" y="189540"/>
                  <a:pt x="152179" y="190746"/>
                </a:cubicBezTo>
                <a:cubicBezTo>
                  <a:pt x="153402" y="191969"/>
                  <a:pt x="155055" y="192641"/>
                  <a:pt x="156778" y="192641"/>
                </a:cubicBezTo>
                <a:lnTo>
                  <a:pt x="325185" y="192641"/>
                </a:lnTo>
                <a:cubicBezTo>
                  <a:pt x="326908" y="192641"/>
                  <a:pt x="328544" y="191969"/>
                  <a:pt x="329768" y="190746"/>
                </a:cubicBezTo>
                <a:cubicBezTo>
                  <a:pt x="330991" y="189540"/>
                  <a:pt x="331680" y="187904"/>
                  <a:pt x="331697" y="186181"/>
                </a:cubicBezTo>
                <a:cubicBezTo>
                  <a:pt x="331697" y="184441"/>
                  <a:pt x="331008" y="182787"/>
                  <a:pt x="329785" y="181564"/>
                </a:cubicBezTo>
                <a:cubicBezTo>
                  <a:pt x="328562" y="180341"/>
                  <a:pt x="326908" y="179652"/>
                  <a:pt x="325185" y="179669"/>
                </a:cubicBezTo>
                <a:lnTo>
                  <a:pt x="240982" y="179669"/>
                </a:lnTo>
                <a:close/>
                <a:moveTo>
                  <a:pt x="82947" y="186198"/>
                </a:moveTo>
                <a:lnTo>
                  <a:pt x="82947" y="186181"/>
                </a:lnTo>
                <a:cubicBezTo>
                  <a:pt x="81224" y="186198"/>
                  <a:pt x="79605" y="186905"/>
                  <a:pt x="78399" y="188145"/>
                </a:cubicBezTo>
                <a:lnTo>
                  <a:pt x="54540" y="212985"/>
                </a:lnTo>
                <a:lnTo>
                  <a:pt x="42103" y="200065"/>
                </a:lnTo>
                <a:lnTo>
                  <a:pt x="42120" y="200065"/>
                </a:lnTo>
                <a:cubicBezTo>
                  <a:pt x="39622" y="197499"/>
                  <a:pt x="35540" y="197430"/>
                  <a:pt x="32973" y="199910"/>
                </a:cubicBezTo>
                <a:cubicBezTo>
                  <a:pt x="30406" y="202374"/>
                  <a:pt x="30320" y="206474"/>
                  <a:pt x="32784" y="209057"/>
                </a:cubicBezTo>
                <a:lnTo>
                  <a:pt x="49941" y="226870"/>
                </a:lnTo>
                <a:lnTo>
                  <a:pt x="49924" y="226852"/>
                </a:lnTo>
                <a:cubicBezTo>
                  <a:pt x="51147" y="228127"/>
                  <a:pt x="52835" y="228833"/>
                  <a:pt x="54592" y="228833"/>
                </a:cubicBezTo>
                <a:cubicBezTo>
                  <a:pt x="56349" y="228833"/>
                  <a:pt x="58038" y="228127"/>
                  <a:pt x="59261" y="226852"/>
                </a:cubicBezTo>
                <a:lnTo>
                  <a:pt x="87788" y="197120"/>
                </a:lnTo>
                <a:lnTo>
                  <a:pt x="87788" y="197137"/>
                </a:lnTo>
                <a:cubicBezTo>
                  <a:pt x="88976" y="195897"/>
                  <a:pt x="89631" y="194226"/>
                  <a:pt x="89596" y="192486"/>
                </a:cubicBezTo>
                <a:cubicBezTo>
                  <a:pt x="89562" y="190763"/>
                  <a:pt x="88838" y="189127"/>
                  <a:pt x="87598" y="187938"/>
                </a:cubicBezTo>
                <a:cubicBezTo>
                  <a:pt x="86341" y="186767"/>
                  <a:pt x="84670" y="186129"/>
                  <a:pt x="82947" y="186181"/>
                </a:cubicBezTo>
                <a:close/>
                <a:moveTo>
                  <a:pt x="156778" y="222391"/>
                </a:moveTo>
                <a:lnTo>
                  <a:pt x="156778" y="222356"/>
                </a:lnTo>
                <a:cubicBezTo>
                  <a:pt x="155056" y="222356"/>
                  <a:pt x="153402" y="223028"/>
                  <a:pt x="152179" y="224251"/>
                </a:cubicBezTo>
                <a:cubicBezTo>
                  <a:pt x="150956" y="225457"/>
                  <a:pt x="150266" y="227111"/>
                  <a:pt x="150266" y="228816"/>
                </a:cubicBezTo>
                <a:cubicBezTo>
                  <a:pt x="150249" y="230556"/>
                  <a:pt x="150938" y="232210"/>
                  <a:pt x="152161" y="233433"/>
                </a:cubicBezTo>
                <a:cubicBezTo>
                  <a:pt x="153384" y="234656"/>
                  <a:pt x="155038" y="235345"/>
                  <a:pt x="156778" y="235328"/>
                </a:cubicBezTo>
                <a:lnTo>
                  <a:pt x="243614" y="235328"/>
                </a:lnTo>
                <a:cubicBezTo>
                  <a:pt x="245337" y="235345"/>
                  <a:pt x="246991" y="234656"/>
                  <a:pt x="248214" y="233433"/>
                </a:cubicBezTo>
                <a:cubicBezTo>
                  <a:pt x="249437" y="232210"/>
                  <a:pt x="250126" y="230556"/>
                  <a:pt x="250109" y="228816"/>
                </a:cubicBezTo>
                <a:cubicBezTo>
                  <a:pt x="250109" y="225233"/>
                  <a:pt x="247180" y="222357"/>
                  <a:pt x="243614" y="222357"/>
                </a:cubicBezTo>
                <a:close/>
                <a:moveTo>
                  <a:pt x="60258" y="294343"/>
                </a:moveTo>
                <a:cubicBezTo>
                  <a:pt x="27028" y="294343"/>
                  <a:pt x="0" y="321458"/>
                  <a:pt x="0" y="354707"/>
                </a:cubicBezTo>
                <a:cubicBezTo>
                  <a:pt x="0" y="387956"/>
                  <a:pt x="27045" y="415070"/>
                  <a:pt x="60258" y="415070"/>
                </a:cubicBezTo>
                <a:cubicBezTo>
                  <a:pt x="93487" y="415070"/>
                  <a:pt x="120568" y="387956"/>
                  <a:pt x="120568" y="354707"/>
                </a:cubicBezTo>
                <a:cubicBezTo>
                  <a:pt x="120568" y="321458"/>
                  <a:pt x="93488" y="294343"/>
                  <a:pt x="60258" y="294343"/>
                </a:cubicBezTo>
                <a:close/>
                <a:moveTo>
                  <a:pt x="60258" y="307315"/>
                </a:moveTo>
                <a:cubicBezTo>
                  <a:pt x="86476" y="307315"/>
                  <a:pt x="107594" y="328469"/>
                  <a:pt x="107594" y="354704"/>
                </a:cubicBezTo>
                <a:cubicBezTo>
                  <a:pt x="107594" y="380957"/>
                  <a:pt x="86457" y="402094"/>
                  <a:pt x="60258" y="402094"/>
                </a:cubicBezTo>
                <a:cubicBezTo>
                  <a:pt x="34039" y="402094"/>
                  <a:pt x="12952" y="380957"/>
                  <a:pt x="12952" y="354704"/>
                </a:cubicBezTo>
                <a:cubicBezTo>
                  <a:pt x="12952" y="328452"/>
                  <a:pt x="34037" y="307315"/>
                  <a:pt x="60258" y="307315"/>
                </a:cubicBezTo>
                <a:close/>
                <a:moveTo>
                  <a:pt x="156778" y="326901"/>
                </a:moveTo>
                <a:lnTo>
                  <a:pt x="156778" y="326867"/>
                </a:lnTo>
                <a:cubicBezTo>
                  <a:pt x="155056" y="326867"/>
                  <a:pt x="153402" y="327539"/>
                  <a:pt x="152179" y="328744"/>
                </a:cubicBezTo>
                <a:cubicBezTo>
                  <a:pt x="150956" y="329968"/>
                  <a:pt x="150266" y="331604"/>
                  <a:pt x="150266" y="333327"/>
                </a:cubicBezTo>
                <a:cubicBezTo>
                  <a:pt x="150249" y="335049"/>
                  <a:pt x="150938" y="336720"/>
                  <a:pt x="152161" y="337944"/>
                </a:cubicBezTo>
                <a:cubicBezTo>
                  <a:pt x="153384" y="339167"/>
                  <a:pt x="155038" y="339839"/>
                  <a:pt x="156778" y="339839"/>
                </a:cubicBezTo>
                <a:lnTo>
                  <a:pt x="325185" y="339839"/>
                </a:lnTo>
                <a:cubicBezTo>
                  <a:pt x="326908" y="339839"/>
                  <a:pt x="328562" y="339167"/>
                  <a:pt x="329785" y="337944"/>
                </a:cubicBezTo>
                <a:cubicBezTo>
                  <a:pt x="331008" y="336721"/>
                  <a:pt x="331697" y="335050"/>
                  <a:pt x="331697" y="333327"/>
                </a:cubicBezTo>
                <a:cubicBezTo>
                  <a:pt x="331680" y="331604"/>
                  <a:pt x="330991" y="329968"/>
                  <a:pt x="329768" y="328744"/>
                </a:cubicBezTo>
                <a:cubicBezTo>
                  <a:pt x="328545" y="327539"/>
                  <a:pt x="326908" y="326867"/>
                  <a:pt x="325185" y="326867"/>
                </a:cubicBezTo>
                <a:lnTo>
                  <a:pt x="240982" y="326867"/>
                </a:lnTo>
                <a:close/>
                <a:moveTo>
                  <a:pt x="83445" y="333344"/>
                </a:moveTo>
                <a:lnTo>
                  <a:pt x="83428" y="333309"/>
                </a:lnTo>
                <a:cubicBezTo>
                  <a:pt x="81550" y="333206"/>
                  <a:pt x="79707" y="333929"/>
                  <a:pt x="78398" y="335290"/>
                </a:cubicBezTo>
                <a:lnTo>
                  <a:pt x="54539" y="360182"/>
                </a:lnTo>
                <a:lnTo>
                  <a:pt x="42102" y="347262"/>
                </a:lnTo>
                <a:lnTo>
                  <a:pt x="42119" y="347262"/>
                </a:lnTo>
                <a:cubicBezTo>
                  <a:pt x="39638" y="344696"/>
                  <a:pt x="35556" y="344610"/>
                  <a:pt x="32972" y="347073"/>
                </a:cubicBezTo>
                <a:cubicBezTo>
                  <a:pt x="30405" y="349536"/>
                  <a:pt x="30319" y="353636"/>
                  <a:pt x="32782" y="356220"/>
                </a:cubicBezTo>
                <a:lnTo>
                  <a:pt x="49940" y="374032"/>
                </a:lnTo>
                <a:lnTo>
                  <a:pt x="49923" y="374015"/>
                </a:lnTo>
                <a:cubicBezTo>
                  <a:pt x="51146" y="375290"/>
                  <a:pt x="52834" y="376013"/>
                  <a:pt x="54591" y="376013"/>
                </a:cubicBezTo>
                <a:cubicBezTo>
                  <a:pt x="56348" y="376013"/>
                  <a:pt x="58036" y="375290"/>
                  <a:pt x="59259" y="374015"/>
                </a:cubicBezTo>
                <a:lnTo>
                  <a:pt x="87786" y="344282"/>
                </a:lnTo>
                <a:lnTo>
                  <a:pt x="87786" y="344300"/>
                </a:lnTo>
                <a:cubicBezTo>
                  <a:pt x="90250" y="341716"/>
                  <a:pt x="90164" y="337633"/>
                  <a:pt x="87597" y="335152"/>
                </a:cubicBezTo>
                <a:cubicBezTo>
                  <a:pt x="86477" y="334050"/>
                  <a:pt x="84996" y="333413"/>
                  <a:pt x="83428" y="333309"/>
                </a:cubicBezTo>
                <a:close/>
                <a:moveTo>
                  <a:pt x="156778" y="369536"/>
                </a:moveTo>
                <a:lnTo>
                  <a:pt x="156778" y="369519"/>
                </a:lnTo>
                <a:cubicBezTo>
                  <a:pt x="155056" y="369502"/>
                  <a:pt x="153402" y="370191"/>
                  <a:pt x="152179" y="371397"/>
                </a:cubicBezTo>
                <a:cubicBezTo>
                  <a:pt x="150956" y="372602"/>
                  <a:pt x="150266" y="374256"/>
                  <a:pt x="150266" y="375979"/>
                </a:cubicBezTo>
                <a:cubicBezTo>
                  <a:pt x="150249" y="377702"/>
                  <a:pt x="150938" y="379373"/>
                  <a:pt x="152161" y="380596"/>
                </a:cubicBezTo>
                <a:cubicBezTo>
                  <a:pt x="153384" y="381819"/>
                  <a:pt x="155038" y="382508"/>
                  <a:pt x="156778" y="382491"/>
                </a:cubicBezTo>
                <a:lnTo>
                  <a:pt x="243614" y="382491"/>
                </a:lnTo>
                <a:cubicBezTo>
                  <a:pt x="245337" y="382508"/>
                  <a:pt x="247008" y="381819"/>
                  <a:pt x="248214" y="380596"/>
                </a:cubicBezTo>
                <a:cubicBezTo>
                  <a:pt x="249437" y="379373"/>
                  <a:pt x="250126" y="377702"/>
                  <a:pt x="250109" y="375979"/>
                </a:cubicBezTo>
                <a:cubicBezTo>
                  <a:pt x="250109" y="372396"/>
                  <a:pt x="247180" y="369502"/>
                  <a:pt x="243614" y="369519"/>
                </a:cubicBezTo>
                <a:close/>
              </a:path>
            </a:pathLst>
          </a:custGeom>
          <a:gradFill>
            <a:gsLst>
              <a:gs pos="0">
                <a:schemeClr val="accent1">
                  <a:lumMod val="75000"/>
                </a:schemeClr>
              </a:gs>
              <a:gs pos="100000">
                <a:schemeClr val="accent1"/>
              </a:gs>
            </a:gsLst>
            <a:lin ang="0" scaled="0"/>
          </a:gradFill>
          <a:ln w="438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6" name="Graphic 63">
            <a:extLst>
              <a:ext uri="{FF2B5EF4-FFF2-40B4-BE49-F238E27FC236}">
                <a16:creationId xmlns:a16="http://schemas.microsoft.com/office/drawing/2014/main" id="{07527F6E-90D2-F09E-0894-2B88BBC26F5F}"/>
              </a:ext>
            </a:extLst>
          </p:cNvPr>
          <p:cNvSpPr/>
          <p:nvPr/>
        </p:nvSpPr>
        <p:spPr>
          <a:xfrm>
            <a:off x="1857410" y="1825553"/>
            <a:ext cx="261033" cy="244248"/>
          </a:xfrm>
          <a:custGeom>
            <a:avLst/>
            <a:gdLst>
              <a:gd name="csX0" fmla="*/ 336872 w 338105"/>
              <a:gd name="csY0" fmla="*/ 269145 h 316364"/>
              <a:gd name="csX1" fmla="*/ 296883 w 338105"/>
              <a:gd name="csY1" fmla="*/ 229113 h 316364"/>
              <a:gd name="csX2" fmla="*/ 290940 w 338105"/>
              <a:gd name="csY2" fmla="*/ 229113 h 316364"/>
              <a:gd name="csX3" fmla="*/ 252183 w 338105"/>
              <a:gd name="csY3" fmla="*/ 267869 h 316364"/>
              <a:gd name="csX4" fmla="*/ 232302 w 338105"/>
              <a:gd name="csY4" fmla="*/ 267869 h 316364"/>
              <a:gd name="csX5" fmla="*/ 208501 w 338105"/>
              <a:gd name="csY5" fmla="*/ 244069 h 316364"/>
              <a:gd name="csX6" fmla="*/ 202558 w 338105"/>
              <a:gd name="csY6" fmla="*/ 244069 h 316364"/>
              <a:gd name="csX7" fmla="*/ 202558 w 338105"/>
              <a:gd name="csY7" fmla="*/ 250012 h 316364"/>
              <a:gd name="csX8" fmla="*/ 220388 w 338105"/>
              <a:gd name="csY8" fmla="*/ 267841 h 316364"/>
              <a:gd name="csX9" fmla="*/ 76395 w 338105"/>
              <a:gd name="csY9" fmla="*/ 267841 h 316364"/>
              <a:gd name="csX10" fmla="*/ 23655 w 338105"/>
              <a:gd name="csY10" fmla="*/ 215102 h 316364"/>
              <a:gd name="csX11" fmla="*/ 76395 w 338105"/>
              <a:gd name="csY11" fmla="*/ 162362 h 316364"/>
              <a:gd name="csX12" fmla="*/ 127323 w 338105"/>
              <a:gd name="csY12" fmla="*/ 162362 h 316364"/>
              <a:gd name="csX13" fmla="*/ 166080 w 338105"/>
              <a:gd name="csY13" fmla="*/ 201119 h 316364"/>
              <a:gd name="csX14" fmla="*/ 169051 w 338105"/>
              <a:gd name="csY14" fmla="*/ 202350 h 316364"/>
              <a:gd name="csX15" fmla="*/ 172023 w 338105"/>
              <a:gd name="csY15" fmla="*/ 201119 h 316364"/>
              <a:gd name="csX16" fmla="*/ 210780 w 338105"/>
              <a:gd name="csY16" fmla="*/ 162362 h 316364"/>
              <a:gd name="csX17" fmla="*/ 230661 w 338105"/>
              <a:gd name="csY17" fmla="*/ 162362 h 316364"/>
              <a:gd name="csX18" fmla="*/ 254745 w 338105"/>
              <a:gd name="csY18" fmla="*/ 186446 h 316364"/>
              <a:gd name="csX19" fmla="*/ 257716 w 338105"/>
              <a:gd name="csY19" fmla="*/ 187677 h 316364"/>
              <a:gd name="csX20" fmla="*/ 260688 w 338105"/>
              <a:gd name="csY20" fmla="*/ 186446 h 316364"/>
              <a:gd name="csX21" fmla="*/ 260688 w 338105"/>
              <a:gd name="csY21" fmla="*/ 180503 h 316364"/>
              <a:gd name="csX22" fmla="*/ 242533 w 338105"/>
              <a:gd name="csY22" fmla="*/ 162348 h 316364"/>
              <a:gd name="csX23" fmla="*/ 261693 w 338105"/>
              <a:gd name="csY23" fmla="*/ 162348 h 316364"/>
              <a:gd name="csX24" fmla="*/ 322880 w 338105"/>
              <a:gd name="csY24" fmla="*/ 101161 h 316364"/>
              <a:gd name="csX25" fmla="*/ 261693 w 338105"/>
              <a:gd name="csY25" fmla="*/ 39974 h 316364"/>
              <a:gd name="csX26" fmla="*/ 85919 w 338105"/>
              <a:gd name="csY26" fmla="*/ 39988 h 316364"/>
              <a:gd name="csX27" fmla="*/ 47163 w 338105"/>
              <a:gd name="csY27" fmla="*/ 1231 h 316364"/>
              <a:gd name="csX28" fmla="*/ 44191 w 338105"/>
              <a:gd name="csY28" fmla="*/ 0 h 316364"/>
              <a:gd name="csX29" fmla="*/ 41220 w 338105"/>
              <a:gd name="csY29" fmla="*/ 1231 h 316364"/>
              <a:gd name="csX30" fmla="*/ 1231 w 338105"/>
              <a:gd name="csY30" fmla="*/ 41292 h 316364"/>
              <a:gd name="csX31" fmla="*/ 0 w 338105"/>
              <a:gd name="csY31" fmla="*/ 44264 h 316364"/>
              <a:gd name="csX32" fmla="*/ 1231 w 338105"/>
              <a:gd name="csY32" fmla="*/ 47235 h 316364"/>
              <a:gd name="csX33" fmla="*/ 41220 w 338105"/>
              <a:gd name="csY33" fmla="*/ 87224 h 316364"/>
              <a:gd name="csX34" fmla="*/ 44191 w 338105"/>
              <a:gd name="csY34" fmla="*/ 88455 h 316364"/>
              <a:gd name="csX35" fmla="*/ 47163 w 338105"/>
              <a:gd name="csY35" fmla="*/ 87224 h 316364"/>
              <a:gd name="csX36" fmla="*/ 85919 w 338105"/>
              <a:gd name="csY36" fmla="*/ 48467 h 316364"/>
              <a:gd name="csX37" fmla="*/ 261722 w 338105"/>
              <a:gd name="csY37" fmla="*/ 48467 h 316364"/>
              <a:gd name="csX38" fmla="*/ 314461 w 338105"/>
              <a:gd name="csY38" fmla="*/ 101206 h 316364"/>
              <a:gd name="csX39" fmla="*/ 261722 w 338105"/>
              <a:gd name="csY39" fmla="*/ 153946 h 316364"/>
              <a:gd name="csX40" fmla="*/ 242562 w 338105"/>
              <a:gd name="csY40" fmla="*/ 153946 h 316364"/>
              <a:gd name="csX41" fmla="*/ 260391 w 338105"/>
              <a:gd name="csY41" fmla="*/ 136116 h 316364"/>
              <a:gd name="csX42" fmla="*/ 260391 w 338105"/>
              <a:gd name="csY42" fmla="*/ 130173 h 316364"/>
              <a:gd name="csX43" fmla="*/ 254448 w 338105"/>
              <a:gd name="csY43" fmla="*/ 130173 h 316364"/>
              <a:gd name="csX44" fmla="*/ 230648 w 338105"/>
              <a:gd name="csY44" fmla="*/ 153974 h 316364"/>
              <a:gd name="csX45" fmla="*/ 210766 w 338105"/>
              <a:gd name="csY45" fmla="*/ 153974 h 316364"/>
              <a:gd name="csX46" fmla="*/ 172010 w 338105"/>
              <a:gd name="csY46" fmla="*/ 115217 h 316364"/>
              <a:gd name="csX47" fmla="*/ 169052 w 338105"/>
              <a:gd name="csY47" fmla="*/ 114000 h 316364"/>
              <a:gd name="csX48" fmla="*/ 166081 w 338105"/>
              <a:gd name="csY48" fmla="*/ 115231 h 316364"/>
              <a:gd name="csX49" fmla="*/ 127324 w 338105"/>
              <a:gd name="csY49" fmla="*/ 153988 h 316364"/>
              <a:gd name="csX50" fmla="*/ 76396 w 338105"/>
              <a:gd name="csY50" fmla="*/ 153988 h 316364"/>
              <a:gd name="csX51" fmla="*/ 15208 w 338105"/>
              <a:gd name="csY51" fmla="*/ 215175 h 316364"/>
              <a:gd name="csX52" fmla="*/ 76396 w 338105"/>
              <a:gd name="csY52" fmla="*/ 276362 h 316364"/>
              <a:gd name="csX53" fmla="*/ 220432 w 338105"/>
              <a:gd name="csY53" fmla="*/ 276362 h 316364"/>
              <a:gd name="csX54" fmla="*/ 202277 w 338105"/>
              <a:gd name="csY54" fmla="*/ 294517 h 316364"/>
              <a:gd name="csX55" fmla="*/ 202277 w 338105"/>
              <a:gd name="csY55" fmla="*/ 300460 h 316364"/>
              <a:gd name="csX56" fmla="*/ 205249 w 338105"/>
              <a:gd name="csY56" fmla="*/ 301691 h 316364"/>
              <a:gd name="csX57" fmla="*/ 208221 w 338105"/>
              <a:gd name="csY57" fmla="*/ 300460 h 316364"/>
              <a:gd name="csX58" fmla="*/ 232304 w 338105"/>
              <a:gd name="csY58" fmla="*/ 276377 h 316364"/>
              <a:gd name="csX59" fmla="*/ 252185 w 338105"/>
              <a:gd name="csY59" fmla="*/ 276377 h 316364"/>
              <a:gd name="csX60" fmla="*/ 290942 w 338105"/>
              <a:gd name="csY60" fmla="*/ 315133 h 316364"/>
              <a:gd name="csX61" fmla="*/ 293914 w 338105"/>
              <a:gd name="csY61" fmla="*/ 316364 h 316364"/>
              <a:gd name="csX62" fmla="*/ 296885 w 338105"/>
              <a:gd name="csY62" fmla="*/ 315133 h 316364"/>
              <a:gd name="csX63" fmla="*/ 336874 w 338105"/>
              <a:gd name="csY63" fmla="*/ 275145 h 316364"/>
              <a:gd name="csX64" fmla="*/ 338105 w 338105"/>
              <a:gd name="csY64" fmla="*/ 272173 h 316364"/>
              <a:gd name="csX65" fmla="*/ 336874 w 338105"/>
              <a:gd name="csY65" fmla="*/ 269145 h 316364"/>
              <a:gd name="csX66" fmla="*/ 44187 w 338105"/>
              <a:gd name="csY66" fmla="*/ 78313 h 316364"/>
              <a:gd name="csX67" fmla="*/ 10142 w 338105"/>
              <a:gd name="csY67" fmla="*/ 44267 h 316364"/>
              <a:gd name="csX68" fmla="*/ 44187 w 338105"/>
              <a:gd name="csY68" fmla="*/ 10222 h 316364"/>
              <a:gd name="csX69" fmla="*/ 78232 w 338105"/>
              <a:gd name="csY69" fmla="*/ 44267 h 316364"/>
              <a:gd name="csX70" fmla="*/ 169050 w 338105"/>
              <a:gd name="csY70" fmla="*/ 124144 h 316364"/>
              <a:gd name="csX71" fmla="*/ 203095 w 338105"/>
              <a:gd name="csY71" fmla="*/ 158190 h 316364"/>
              <a:gd name="csX72" fmla="*/ 169050 w 338105"/>
              <a:gd name="csY72" fmla="*/ 192235 h 316364"/>
              <a:gd name="csX73" fmla="*/ 135004 w 338105"/>
              <a:gd name="csY73" fmla="*/ 158190 h 316364"/>
              <a:gd name="csX74" fmla="*/ 293913 w 338105"/>
              <a:gd name="csY74" fmla="*/ 306130 h 316364"/>
              <a:gd name="csX75" fmla="*/ 259867 w 338105"/>
              <a:gd name="csY75" fmla="*/ 272085 h 316364"/>
              <a:gd name="csX76" fmla="*/ 293913 w 338105"/>
              <a:gd name="csY76" fmla="*/ 238039 h 316364"/>
              <a:gd name="csX77" fmla="*/ 327958 w 338105"/>
              <a:gd name="csY77" fmla="*/ 272085 h 316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338105" h="316364">
                <a:moveTo>
                  <a:pt x="336872" y="269145"/>
                </a:moveTo>
                <a:lnTo>
                  <a:pt x="296883" y="229113"/>
                </a:lnTo>
                <a:cubicBezTo>
                  <a:pt x="295256" y="227485"/>
                  <a:pt x="292567" y="227485"/>
                  <a:pt x="290940" y="229113"/>
                </a:cubicBezTo>
                <a:lnTo>
                  <a:pt x="252183" y="267869"/>
                </a:lnTo>
                <a:lnTo>
                  <a:pt x="232302" y="267869"/>
                </a:lnTo>
                <a:lnTo>
                  <a:pt x="208501" y="244069"/>
                </a:lnTo>
                <a:cubicBezTo>
                  <a:pt x="206874" y="242441"/>
                  <a:pt x="204186" y="242441"/>
                  <a:pt x="202558" y="244069"/>
                </a:cubicBezTo>
                <a:cubicBezTo>
                  <a:pt x="200931" y="245696"/>
                  <a:pt x="200931" y="248385"/>
                  <a:pt x="202558" y="250012"/>
                </a:cubicBezTo>
                <a:lnTo>
                  <a:pt x="220388" y="267841"/>
                </a:lnTo>
                <a:lnTo>
                  <a:pt x="76395" y="267841"/>
                </a:lnTo>
                <a:cubicBezTo>
                  <a:pt x="47302" y="267841"/>
                  <a:pt x="23655" y="244182"/>
                  <a:pt x="23655" y="215102"/>
                </a:cubicBezTo>
                <a:cubicBezTo>
                  <a:pt x="23655" y="186009"/>
                  <a:pt x="47314" y="162362"/>
                  <a:pt x="76395" y="162362"/>
                </a:cubicBezTo>
                <a:lnTo>
                  <a:pt x="127323" y="162362"/>
                </a:lnTo>
                <a:lnTo>
                  <a:pt x="166080" y="201119"/>
                </a:lnTo>
                <a:cubicBezTo>
                  <a:pt x="166872" y="201911"/>
                  <a:pt x="167934" y="202350"/>
                  <a:pt x="169051" y="202350"/>
                </a:cubicBezTo>
                <a:cubicBezTo>
                  <a:pt x="170169" y="202350"/>
                  <a:pt x="171231" y="201911"/>
                  <a:pt x="172023" y="201119"/>
                </a:cubicBezTo>
                <a:lnTo>
                  <a:pt x="210780" y="162362"/>
                </a:lnTo>
                <a:lnTo>
                  <a:pt x="230661" y="162362"/>
                </a:lnTo>
                <a:lnTo>
                  <a:pt x="254745" y="186446"/>
                </a:lnTo>
                <a:cubicBezTo>
                  <a:pt x="255579" y="187281"/>
                  <a:pt x="256627" y="187677"/>
                  <a:pt x="257716" y="187677"/>
                </a:cubicBezTo>
                <a:cubicBezTo>
                  <a:pt x="258806" y="187677"/>
                  <a:pt x="259853" y="187281"/>
                  <a:pt x="260688" y="186446"/>
                </a:cubicBezTo>
                <a:cubicBezTo>
                  <a:pt x="262315" y="184818"/>
                  <a:pt x="262315" y="182130"/>
                  <a:pt x="260688" y="180503"/>
                </a:cubicBezTo>
                <a:lnTo>
                  <a:pt x="242533" y="162348"/>
                </a:lnTo>
                <a:lnTo>
                  <a:pt x="261693" y="162348"/>
                </a:lnTo>
                <a:cubicBezTo>
                  <a:pt x="295413" y="162348"/>
                  <a:pt x="322880" y="134925"/>
                  <a:pt x="322880" y="101161"/>
                </a:cubicBezTo>
                <a:cubicBezTo>
                  <a:pt x="322880" y="67398"/>
                  <a:pt x="295456" y="39974"/>
                  <a:pt x="261693" y="39974"/>
                </a:cubicBezTo>
                <a:lnTo>
                  <a:pt x="85919" y="39988"/>
                </a:lnTo>
                <a:lnTo>
                  <a:pt x="47163" y="1231"/>
                </a:lnTo>
                <a:cubicBezTo>
                  <a:pt x="46370" y="439"/>
                  <a:pt x="45309" y="0"/>
                  <a:pt x="44191" y="0"/>
                </a:cubicBezTo>
                <a:cubicBezTo>
                  <a:pt x="43073" y="0"/>
                  <a:pt x="42012" y="439"/>
                  <a:pt x="41220" y="1231"/>
                </a:cubicBezTo>
                <a:lnTo>
                  <a:pt x="1231" y="41292"/>
                </a:lnTo>
                <a:cubicBezTo>
                  <a:pt x="439" y="42084"/>
                  <a:pt x="0" y="43146"/>
                  <a:pt x="0" y="44264"/>
                </a:cubicBezTo>
                <a:cubicBezTo>
                  <a:pt x="0" y="45381"/>
                  <a:pt x="439" y="46443"/>
                  <a:pt x="1231" y="47235"/>
                </a:cubicBezTo>
                <a:lnTo>
                  <a:pt x="41220" y="87224"/>
                </a:lnTo>
                <a:cubicBezTo>
                  <a:pt x="42054" y="88058"/>
                  <a:pt x="43101" y="88455"/>
                  <a:pt x="44191" y="88455"/>
                </a:cubicBezTo>
                <a:cubicBezTo>
                  <a:pt x="45281" y="88455"/>
                  <a:pt x="46328" y="88058"/>
                  <a:pt x="47163" y="87224"/>
                </a:cubicBezTo>
                <a:lnTo>
                  <a:pt x="85919" y="48467"/>
                </a:lnTo>
                <a:lnTo>
                  <a:pt x="261722" y="48467"/>
                </a:lnTo>
                <a:cubicBezTo>
                  <a:pt x="290814" y="48467"/>
                  <a:pt x="314461" y="72126"/>
                  <a:pt x="314461" y="101206"/>
                </a:cubicBezTo>
                <a:cubicBezTo>
                  <a:pt x="314461" y="130299"/>
                  <a:pt x="290802" y="153946"/>
                  <a:pt x="261722" y="153946"/>
                </a:cubicBezTo>
                <a:lnTo>
                  <a:pt x="242562" y="153946"/>
                </a:lnTo>
                <a:lnTo>
                  <a:pt x="260391" y="136116"/>
                </a:lnTo>
                <a:cubicBezTo>
                  <a:pt x="262019" y="134489"/>
                  <a:pt x="262019" y="131801"/>
                  <a:pt x="260391" y="130173"/>
                </a:cubicBezTo>
                <a:cubicBezTo>
                  <a:pt x="258764" y="128546"/>
                  <a:pt x="256076" y="128546"/>
                  <a:pt x="254448" y="130173"/>
                </a:cubicBezTo>
                <a:lnTo>
                  <a:pt x="230648" y="153974"/>
                </a:lnTo>
                <a:lnTo>
                  <a:pt x="210766" y="153974"/>
                </a:lnTo>
                <a:lnTo>
                  <a:pt x="172010" y="115217"/>
                </a:lnTo>
                <a:cubicBezTo>
                  <a:pt x="171231" y="114439"/>
                  <a:pt x="170170" y="114000"/>
                  <a:pt x="169052" y="114000"/>
                </a:cubicBezTo>
                <a:cubicBezTo>
                  <a:pt x="167934" y="114000"/>
                  <a:pt x="166873" y="114439"/>
                  <a:pt x="166081" y="115231"/>
                </a:cubicBezTo>
                <a:lnTo>
                  <a:pt x="127324" y="153988"/>
                </a:lnTo>
                <a:lnTo>
                  <a:pt x="76396" y="153988"/>
                </a:lnTo>
                <a:cubicBezTo>
                  <a:pt x="42675" y="153988"/>
                  <a:pt x="15208" y="181411"/>
                  <a:pt x="15208" y="215175"/>
                </a:cubicBezTo>
                <a:cubicBezTo>
                  <a:pt x="15208" y="248938"/>
                  <a:pt x="42632" y="276362"/>
                  <a:pt x="76396" y="276362"/>
                </a:cubicBezTo>
                <a:lnTo>
                  <a:pt x="220432" y="276362"/>
                </a:lnTo>
                <a:lnTo>
                  <a:pt x="202277" y="294517"/>
                </a:lnTo>
                <a:cubicBezTo>
                  <a:pt x="200650" y="296144"/>
                  <a:pt x="200650" y="298833"/>
                  <a:pt x="202277" y="300460"/>
                </a:cubicBezTo>
                <a:cubicBezTo>
                  <a:pt x="203112" y="301295"/>
                  <a:pt x="204159" y="301691"/>
                  <a:pt x="205249" y="301691"/>
                </a:cubicBezTo>
                <a:cubicBezTo>
                  <a:pt x="206339" y="301691"/>
                  <a:pt x="207386" y="301295"/>
                  <a:pt x="208221" y="300460"/>
                </a:cubicBezTo>
                <a:lnTo>
                  <a:pt x="232304" y="276377"/>
                </a:lnTo>
                <a:lnTo>
                  <a:pt x="252185" y="276377"/>
                </a:lnTo>
                <a:lnTo>
                  <a:pt x="290942" y="315133"/>
                </a:lnTo>
                <a:cubicBezTo>
                  <a:pt x="291735" y="315926"/>
                  <a:pt x="292796" y="316364"/>
                  <a:pt x="293914" y="316364"/>
                </a:cubicBezTo>
                <a:cubicBezTo>
                  <a:pt x="295032" y="316364"/>
                  <a:pt x="296093" y="315926"/>
                  <a:pt x="296885" y="315133"/>
                </a:cubicBezTo>
                <a:lnTo>
                  <a:pt x="336874" y="275145"/>
                </a:lnTo>
                <a:cubicBezTo>
                  <a:pt x="337666" y="274353"/>
                  <a:pt x="338105" y="273291"/>
                  <a:pt x="338105" y="272173"/>
                </a:cubicBezTo>
                <a:cubicBezTo>
                  <a:pt x="338119" y="271027"/>
                  <a:pt x="337680" y="269909"/>
                  <a:pt x="336874" y="269145"/>
                </a:cubicBezTo>
                <a:close/>
                <a:moveTo>
                  <a:pt x="44187" y="78313"/>
                </a:moveTo>
                <a:lnTo>
                  <a:pt x="10142" y="44267"/>
                </a:lnTo>
                <a:lnTo>
                  <a:pt x="44187" y="10222"/>
                </a:lnTo>
                <a:lnTo>
                  <a:pt x="78232" y="44267"/>
                </a:lnTo>
                <a:close/>
                <a:moveTo>
                  <a:pt x="169050" y="124144"/>
                </a:moveTo>
                <a:lnTo>
                  <a:pt x="203095" y="158190"/>
                </a:lnTo>
                <a:lnTo>
                  <a:pt x="169050" y="192235"/>
                </a:lnTo>
                <a:lnTo>
                  <a:pt x="135004" y="158190"/>
                </a:lnTo>
                <a:close/>
                <a:moveTo>
                  <a:pt x="293913" y="306130"/>
                </a:moveTo>
                <a:lnTo>
                  <a:pt x="259867" y="272085"/>
                </a:lnTo>
                <a:lnTo>
                  <a:pt x="293913" y="238039"/>
                </a:lnTo>
                <a:lnTo>
                  <a:pt x="327958" y="272085"/>
                </a:lnTo>
                <a:close/>
              </a:path>
            </a:pathLst>
          </a:custGeom>
          <a:gradFill>
            <a:gsLst>
              <a:gs pos="0">
                <a:schemeClr val="accent1">
                  <a:lumMod val="75000"/>
                </a:schemeClr>
              </a:gs>
              <a:gs pos="100000">
                <a:schemeClr val="accent1"/>
              </a:gs>
            </a:gsLst>
            <a:lin ang="0" scaled="0"/>
          </a:gradFill>
          <a:ln w="3620" cap="flat">
            <a:no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841E61AB-76B8-3B89-900F-7F9152D9BE0A}"/>
              </a:ext>
            </a:extLst>
          </p:cNvPr>
          <p:cNvSpPr/>
          <p:nvPr/>
        </p:nvSpPr>
        <p:spPr>
          <a:xfrm>
            <a:off x="5858469" y="1709376"/>
            <a:ext cx="476602" cy="4766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Calibri" panose="020F0502020204030204"/>
              <a:ea typeface="+mn-ea"/>
              <a:cs typeface="Arial" panose="020B0604020202020204" pitchFamily="34" charset="0"/>
            </a:endParaRPr>
          </a:p>
        </p:txBody>
      </p:sp>
      <p:grpSp>
        <p:nvGrpSpPr>
          <p:cNvPr id="29" name="Graphic 519">
            <a:extLst>
              <a:ext uri="{FF2B5EF4-FFF2-40B4-BE49-F238E27FC236}">
                <a16:creationId xmlns:a16="http://schemas.microsoft.com/office/drawing/2014/main" id="{E9DF669F-A476-CEF3-8764-CC667E9F5657}"/>
              </a:ext>
            </a:extLst>
          </p:cNvPr>
          <p:cNvGrpSpPr>
            <a:grpSpLocks/>
          </p:cNvGrpSpPr>
          <p:nvPr/>
        </p:nvGrpSpPr>
        <p:grpSpPr>
          <a:xfrm>
            <a:off x="5927605" y="1778513"/>
            <a:ext cx="338328" cy="338328"/>
            <a:chOff x="5919691" y="3257550"/>
            <a:chExt cx="350329" cy="338899"/>
          </a:xfrm>
          <a:gradFill>
            <a:gsLst>
              <a:gs pos="0">
                <a:schemeClr val="accent1">
                  <a:lumMod val="75000"/>
                </a:schemeClr>
              </a:gs>
              <a:gs pos="100000">
                <a:schemeClr val="accent1"/>
              </a:gs>
            </a:gsLst>
            <a:lin ang="0" scaled="0"/>
          </a:gradFill>
        </p:grpSpPr>
        <p:sp>
          <p:nvSpPr>
            <p:cNvPr id="30" name="Freeform: Shape 29">
              <a:extLst>
                <a:ext uri="{FF2B5EF4-FFF2-40B4-BE49-F238E27FC236}">
                  <a16:creationId xmlns:a16="http://schemas.microsoft.com/office/drawing/2014/main" id="{1B7E72AC-FD2B-D321-A627-853D5B4336CA}"/>
                </a:ext>
              </a:extLst>
            </p:cNvPr>
            <p:cNvSpPr/>
            <p:nvPr/>
          </p:nvSpPr>
          <p:spPr>
            <a:xfrm>
              <a:off x="5921215" y="3258978"/>
              <a:ext cx="347567" cy="336042"/>
            </a:xfrm>
            <a:custGeom>
              <a:avLst/>
              <a:gdLst>
                <a:gd name="connsiteX0" fmla="*/ 267367 w 347567"/>
                <a:gd name="connsiteY0" fmla="*/ 229076 h 336042"/>
                <a:gd name="connsiteX1" fmla="*/ 302324 w 347567"/>
                <a:gd name="connsiteY1" fmla="*/ 280607 h 336042"/>
                <a:gd name="connsiteX2" fmla="*/ 246888 w 347567"/>
                <a:gd name="connsiteY2" fmla="*/ 336042 h 336042"/>
                <a:gd name="connsiteX3" fmla="*/ 191548 w 347567"/>
                <a:gd name="connsiteY3" fmla="*/ 284131 h 336042"/>
                <a:gd name="connsiteX4" fmla="*/ 155924 w 347567"/>
                <a:gd name="connsiteY4" fmla="*/ 284131 h 336042"/>
                <a:gd name="connsiteX5" fmla="*/ 100584 w 347567"/>
                <a:gd name="connsiteY5" fmla="*/ 336042 h 336042"/>
                <a:gd name="connsiteX6" fmla="*/ 45149 w 347567"/>
                <a:gd name="connsiteY6" fmla="*/ 280607 h 336042"/>
                <a:gd name="connsiteX7" fmla="*/ 80105 w 347567"/>
                <a:gd name="connsiteY7" fmla="*/ 229076 h 336042"/>
                <a:gd name="connsiteX8" fmla="*/ 69152 w 347567"/>
                <a:gd name="connsiteY8" fmla="*/ 195167 h 336042"/>
                <a:gd name="connsiteX9" fmla="*/ 55435 w 347567"/>
                <a:gd name="connsiteY9" fmla="*/ 196882 h 336042"/>
                <a:gd name="connsiteX10" fmla="*/ 0 w 347567"/>
                <a:gd name="connsiteY10" fmla="*/ 141446 h 336042"/>
                <a:gd name="connsiteX11" fmla="*/ 55435 w 347567"/>
                <a:gd name="connsiteY11" fmla="*/ 86011 h 336042"/>
                <a:gd name="connsiteX12" fmla="*/ 98108 w 347567"/>
                <a:gd name="connsiteY12" fmla="*/ 106109 h 336042"/>
                <a:gd name="connsiteX13" fmla="*/ 126968 w 347567"/>
                <a:gd name="connsiteY13" fmla="*/ 85154 h 336042"/>
                <a:gd name="connsiteX14" fmla="*/ 118396 w 347567"/>
                <a:gd name="connsiteY14" fmla="*/ 55531 h 336042"/>
                <a:gd name="connsiteX15" fmla="*/ 173736 w 347567"/>
                <a:gd name="connsiteY15" fmla="*/ 0 h 336042"/>
                <a:gd name="connsiteX16" fmla="*/ 229171 w 347567"/>
                <a:gd name="connsiteY16" fmla="*/ 55435 h 336042"/>
                <a:gd name="connsiteX17" fmla="*/ 220599 w 347567"/>
                <a:gd name="connsiteY17" fmla="*/ 85058 h 336042"/>
                <a:gd name="connsiteX18" fmla="*/ 249460 w 347567"/>
                <a:gd name="connsiteY18" fmla="*/ 106013 h 336042"/>
                <a:gd name="connsiteX19" fmla="*/ 292132 w 347567"/>
                <a:gd name="connsiteY19" fmla="*/ 85916 h 336042"/>
                <a:gd name="connsiteX20" fmla="*/ 347567 w 347567"/>
                <a:gd name="connsiteY20" fmla="*/ 141351 h 336042"/>
                <a:gd name="connsiteX21" fmla="*/ 292132 w 347567"/>
                <a:gd name="connsiteY21" fmla="*/ 196787 h 336042"/>
                <a:gd name="connsiteX22" fmla="*/ 278416 w 347567"/>
                <a:gd name="connsiteY22" fmla="*/ 195072 h 336042"/>
                <a:gd name="connsiteX23" fmla="*/ 267367 w 347567"/>
                <a:gd name="connsiteY23" fmla="*/ 228981 h 336042"/>
                <a:gd name="connsiteX24" fmla="*/ 267367 w 347567"/>
                <a:gd name="connsiteY24" fmla="*/ 228981 h 336042"/>
                <a:gd name="connsiteX25" fmla="*/ 274606 w 347567"/>
                <a:gd name="connsiteY25" fmla="*/ 320135 h 336042"/>
                <a:gd name="connsiteX26" fmla="*/ 274606 w 347567"/>
                <a:gd name="connsiteY26" fmla="*/ 320135 h 336042"/>
                <a:gd name="connsiteX27" fmla="*/ 274987 w 347567"/>
                <a:gd name="connsiteY27" fmla="*/ 315278 h 336042"/>
                <a:gd name="connsiteX28" fmla="*/ 256413 w 347567"/>
                <a:gd name="connsiteY28" fmla="*/ 288798 h 336042"/>
                <a:gd name="connsiteX29" fmla="*/ 254127 w 347567"/>
                <a:gd name="connsiteY29" fmla="*/ 286036 h 336042"/>
                <a:gd name="connsiteX30" fmla="*/ 255365 w 347567"/>
                <a:gd name="connsiteY30" fmla="*/ 282702 h 336042"/>
                <a:gd name="connsiteX31" fmla="*/ 260414 w 347567"/>
                <a:gd name="connsiteY31" fmla="*/ 272129 h 336042"/>
                <a:gd name="connsiteX32" fmla="*/ 246793 w 347567"/>
                <a:gd name="connsiteY32" fmla="*/ 258509 h 336042"/>
                <a:gd name="connsiteX33" fmla="*/ 233172 w 347567"/>
                <a:gd name="connsiteY33" fmla="*/ 272129 h 336042"/>
                <a:gd name="connsiteX34" fmla="*/ 238220 w 347567"/>
                <a:gd name="connsiteY34" fmla="*/ 282702 h 336042"/>
                <a:gd name="connsiteX35" fmla="*/ 239459 w 347567"/>
                <a:gd name="connsiteY35" fmla="*/ 286036 h 336042"/>
                <a:gd name="connsiteX36" fmla="*/ 237173 w 347567"/>
                <a:gd name="connsiteY36" fmla="*/ 288798 h 336042"/>
                <a:gd name="connsiteX37" fmla="*/ 218599 w 347567"/>
                <a:gd name="connsiteY37" fmla="*/ 315278 h 336042"/>
                <a:gd name="connsiteX38" fmla="*/ 218980 w 347567"/>
                <a:gd name="connsiteY38" fmla="*/ 320040 h 336042"/>
                <a:gd name="connsiteX39" fmla="*/ 218980 w 347567"/>
                <a:gd name="connsiteY39" fmla="*/ 320040 h 336042"/>
                <a:gd name="connsiteX40" fmla="*/ 246698 w 347567"/>
                <a:gd name="connsiteY40" fmla="*/ 328803 h 336042"/>
                <a:gd name="connsiteX41" fmla="*/ 274511 w 347567"/>
                <a:gd name="connsiteY41" fmla="*/ 320040 h 336042"/>
                <a:gd name="connsiteX42" fmla="*/ 274511 w 347567"/>
                <a:gd name="connsiteY42" fmla="*/ 320040 h 336042"/>
                <a:gd name="connsiteX43" fmla="*/ 128397 w 347567"/>
                <a:gd name="connsiteY43" fmla="*/ 320135 h 336042"/>
                <a:gd name="connsiteX44" fmla="*/ 128397 w 347567"/>
                <a:gd name="connsiteY44" fmla="*/ 320135 h 336042"/>
                <a:gd name="connsiteX45" fmla="*/ 128778 w 347567"/>
                <a:gd name="connsiteY45" fmla="*/ 315278 h 336042"/>
                <a:gd name="connsiteX46" fmla="*/ 110204 w 347567"/>
                <a:gd name="connsiteY46" fmla="*/ 288798 h 336042"/>
                <a:gd name="connsiteX47" fmla="*/ 107918 w 347567"/>
                <a:gd name="connsiteY47" fmla="*/ 286036 h 336042"/>
                <a:gd name="connsiteX48" fmla="*/ 109157 w 347567"/>
                <a:gd name="connsiteY48" fmla="*/ 282702 h 336042"/>
                <a:gd name="connsiteX49" fmla="*/ 114205 w 347567"/>
                <a:gd name="connsiteY49" fmla="*/ 272129 h 336042"/>
                <a:gd name="connsiteX50" fmla="*/ 100584 w 347567"/>
                <a:gd name="connsiteY50" fmla="*/ 258509 h 336042"/>
                <a:gd name="connsiteX51" fmla="*/ 86963 w 347567"/>
                <a:gd name="connsiteY51" fmla="*/ 272129 h 336042"/>
                <a:gd name="connsiteX52" fmla="*/ 92012 w 347567"/>
                <a:gd name="connsiteY52" fmla="*/ 282702 h 336042"/>
                <a:gd name="connsiteX53" fmla="*/ 93250 w 347567"/>
                <a:gd name="connsiteY53" fmla="*/ 286036 h 336042"/>
                <a:gd name="connsiteX54" fmla="*/ 90964 w 347567"/>
                <a:gd name="connsiteY54" fmla="*/ 288798 h 336042"/>
                <a:gd name="connsiteX55" fmla="*/ 72390 w 347567"/>
                <a:gd name="connsiteY55" fmla="*/ 315278 h 336042"/>
                <a:gd name="connsiteX56" fmla="*/ 72771 w 347567"/>
                <a:gd name="connsiteY56" fmla="*/ 320040 h 336042"/>
                <a:gd name="connsiteX57" fmla="*/ 72771 w 347567"/>
                <a:gd name="connsiteY57" fmla="*/ 320040 h 336042"/>
                <a:gd name="connsiteX58" fmla="*/ 100489 w 347567"/>
                <a:gd name="connsiteY58" fmla="*/ 328803 h 336042"/>
                <a:gd name="connsiteX59" fmla="*/ 128207 w 347567"/>
                <a:gd name="connsiteY59" fmla="*/ 320040 h 336042"/>
                <a:gd name="connsiteX60" fmla="*/ 128207 w 347567"/>
                <a:gd name="connsiteY60" fmla="*/ 320040 h 336042"/>
                <a:gd name="connsiteX61" fmla="*/ 282035 w 347567"/>
                <a:gd name="connsiteY61" fmla="*/ 313658 h 336042"/>
                <a:gd name="connsiteX62" fmla="*/ 295180 w 347567"/>
                <a:gd name="connsiteY62" fmla="*/ 280511 h 336042"/>
                <a:gd name="connsiteX63" fmla="*/ 246888 w 347567"/>
                <a:gd name="connsiteY63" fmla="*/ 232220 h 336042"/>
                <a:gd name="connsiteX64" fmla="*/ 198596 w 347567"/>
                <a:gd name="connsiteY64" fmla="*/ 280511 h 336042"/>
                <a:gd name="connsiteX65" fmla="*/ 211646 w 347567"/>
                <a:gd name="connsiteY65" fmla="*/ 313658 h 336042"/>
                <a:gd name="connsiteX66" fmla="*/ 230029 w 347567"/>
                <a:gd name="connsiteY66" fmla="*/ 284321 h 336042"/>
                <a:gd name="connsiteX67" fmla="*/ 226124 w 347567"/>
                <a:gd name="connsiteY67" fmla="*/ 272225 h 336042"/>
                <a:gd name="connsiteX68" fmla="*/ 246888 w 347567"/>
                <a:gd name="connsiteY68" fmla="*/ 251460 h 336042"/>
                <a:gd name="connsiteX69" fmla="*/ 267653 w 347567"/>
                <a:gd name="connsiteY69" fmla="*/ 272225 h 336042"/>
                <a:gd name="connsiteX70" fmla="*/ 263747 w 347567"/>
                <a:gd name="connsiteY70" fmla="*/ 284321 h 336042"/>
                <a:gd name="connsiteX71" fmla="*/ 282131 w 347567"/>
                <a:gd name="connsiteY71" fmla="*/ 313658 h 336042"/>
                <a:gd name="connsiteX72" fmla="*/ 282131 w 347567"/>
                <a:gd name="connsiteY72" fmla="*/ 313658 h 336042"/>
                <a:gd name="connsiteX73" fmla="*/ 135827 w 347567"/>
                <a:gd name="connsiteY73" fmla="*/ 313658 h 336042"/>
                <a:gd name="connsiteX74" fmla="*/ 148971 w 347567"/>
                <a:gd name="connsiteY74" fmla="*/ 280511 h 336042"/>
                <a:gd name="connsiteX75" fmla="*/ 100584 w 347567"/>
                <a:gd name="connsiteY75" fmla="*/ 232220 h 336042"/>
                <a:gd name="connsiteX76" fmla="*/ 52292 w 347567"/>
                <a:gd name="connsiteY76" fmla="*/ 280511 h 336042"/>
                <a:gd name="connsiteX77" fmla="*/ 65342 w 347567"/>
                <a:gd name="connsiteY77" fmla="*/ 313658 h 336042"/>
                <a:gd name="connsiteX78" fmla="*/ 83725 w 347567"/>
                <a:gd name="connsiteY78" fmla="*/ 284321 h 336042"/>
                <a:gd name="connsiteX79" fmla="*/ 79820 w 347567"/>
                <a:gd name="connsiteY79" fmla="*/ 272225 h 336042"/>
                <a:gd name="connsiteX80" fmla="*/ 100584 w 347567"/>
                <a:gd name="connsiteY80" fmla="*/ 251460 h 336042"/>
                <a:gd name="connsiteX81" fmla="*/ 121349 w 347567"/>
                <a:gd name="connsiteY81" fmla="*/ 272225 h 336042"/>
                <a:gd name="connsiteX82" fmla="*/ 117443 w 347567"/>
                <a:gd name="connsiteY82" fmla="*/ 284321 h 336042"/>
                <a:gd name="connsiteX83" fmla="*/ 135827 w 347567"/>
                <a:gd name="connsiteY83" fmla="*/ 313658 h 336042"/>
                <a:gd name="connsiteX84" fmla="*/ 135827 w 347567"/>
                <a:gd name="connsiteY84" fmla="*/ 313658 h 336042"/>
                <a:gd name="connsiteX85" fmla="*/ 245269 w 347567"/>
                <a:gd name="connsiteY85" fmla="*/ 111824 h 336042"/>
                <a:gd name="connsiteX86" fmla="*/ 216408 w 347567"/>
                <a:gd name="connsiteY86" fmla="*/ 90868 h 336042"/>
                <a:gd name="connsiteX87" fmla="*/ 173736 w 347567"/>
                <a:gd name="connsiteY87" fmla="*/ 110966 h 336042"/>
                <a:gd name="connsiteX88" fmla="*/ 131064 w 347567"/>
                <a:gd name="connsiteY88" fmla="*/ 90868 h 336042"/>
                <a:gd name="connsiteX89" fmla="*/ 102203 w 347567"/>
                <a:gd name="connsiteY89" fmla="*/ 111824 h 336042"/>
                <a:gd name="connsiteX90" fmla="*/ 110776 w 347567"/>
                <a:gd name="connsiteY90" fmla="*/ 141446 h 336042"/>
                <a:gd name="connsiteX91" fmla="*/ 75819 w 347567"/>
                <a:gd name="connsiteY91" fmla="*/ 192977 h 336042"/>
                <a:gd name="connsiteX92" fmla="*/ 86868 w 347567"/>
                <a:gd name="connsiteY92" fmla="*/ 226886 h 336042"/>
                <a:gd name="connsiteX93" fmla="*/ 100584 w 347567"/>
                <a:gd name="connsiteY93" fmla="*/ 225171 h 336042"/>
                <a:gd name="connsiteX94" fmla="*/ 155924 w 347567"/>
                <a:gd name="connsiteY94" fmla="*/ 277082 h 336042"/>
                <a:gd name="connsiteX95" fmla="*/ 191548 w 347567"/>
                <a:gd name="connsiteY95" fmla="*/ 277082 h 336042"/>
                <a:gd name="connsiteX96" fmla="*/ 246888 w 347567"/>
                <a:gd name="connsiteY96" fmla="*/ 225171 h 336042"/>
                <a:gd name="connsiteX97" fmla="*/ 260604 w 347567"/>
                <a:gd name="connsiteY97" fmla="*/ 226886 h 336042"/>
                <a:gd name="connsiteX98" fmla="*/ 271558 w 347567"/>
                <a:gd name="connsiteY98" fmla="*/ 192977 h 336042"/>
                <a:gd name="connsiteX99" fmla="*/ 236601 w 347567"/>
                <a:gd name="connsiteY99" fmla="*/ 141446 h 336042"/>
                <a:gd name="connsiteX100" fmla="*/ 245174 w 347567"/>
                <a:gd name="connsiteY100" fmla="*/ 111824 h 336042"/>
                <a:gd name="connsiteX101" fmla="*/ 245174 w 347567"/>
                <a:gd name="connsiteY101" fmla="*/ 111824 h 336042"/>
                <a:gd name="connsiteX102" fmla="*/ 319754 w 347567"/>
                <a:gd name="connsiteY102" fmla="*/ 180975 h 336042"/>
                <a:gd name="connsiteX103" fmla="*/ 320135 w 347567"/>
                <a:gd name="connsiteY103" fmla="*/ 176213 h 336042"/>
                <a:gd name="connsiteX104" fmla="*/ 301562 w 347567"/>
                <a:gd name="connsiteY104" fmla="*/ 149733 h 336042"/>
                <a:gd name="connsiteX105" fmla="*/ 299276 w 347567"/>
                <a:gd name="connsiteY105" fmla="*/ 146971 h 336042"/>
                <a:gd name="connsiteX106" fmla="*/ 300514 w 347567"/>
                <a:gd name="connsiteY106" fmla="*/ 143637 h 336042"/>
                <a:gd name="connsiteX107" fmla="*/ 305562 w 347567"/>
                <a:gd name="connsiteY107" fmla="*/ 133064 h 336042"/>
                <a:gd name="connsiteX108" fmla="*/ 291941 w 347567"/>
                <a:gd name="connsiteY108" fmla="*/ 119443 h 336042"/>
                <a:gd name="connsiteX109" fmla="*/ 278321 w 347567"/>
                <a:gd name="connsiteY109" fmla="*/ 133064 h 336042"/>
                <a:gd name="connsiteX110" fmla="*/ 283369 w 347567"/>
                <a:gd name="connsiteY110" fmla="*/ 143637 h 336042"/>
                <a:gd name="connsiteX111" fmla="*/ 284607 w 347567"/>
                <a:gd name="connsiteY111" fmla="*/ 146971 h 336042"/>
                <a:gd name="connsiteX112" fmla="*/ 282321 w 347567"/>
                <a:gd name="connsiteY112" fmla="*/ 149733 h 336042"/>
                <a:gd name="connsiteX113" fmla="*/ 263747 w 347567"/>
                <a:gd name="connsiteY113" fmla="*/ 176213 h 336042"/>
                <a:gd name="connsiteX114" fmla="*/ 264128 w 347567"/>
                <a:gd name="connsiteY114" fmla="*/ 180975 h 336042"/>
                <a:gd name="connsiteX115" fmla="*/ 291846 w 347567"/>
                <a:gd name="connsiteY115" fmla="*/ 189738 h 336042"/>
                <a:gd name="connsiteX116" fmla="*/ 319564 w 347567"/>
                <a:gd name="connsiteY116" fmla="*/ 180975 h 336042"/>
                <a:gd name="connsiteX117" fmla="*/ 319564 w 347567"/>
                <a:gd name="connsiteY117" fmla="*/ 180975 h 336042"/>
                <a:gd name="connsiteX118" fmla="*/ 83439 w 347567"/>
                <a:gd name="connsiteY118" fmla="*/ 180784 h 336042"/>
                <a:gd name="connsiteX119" fmla="*/ 83820 w 347567"/>
                <a:gd name="connsiteY119" fmla="*/ 176213 h 336042"/>
                <a:gd name="connsiteX120" fmla="*/ 65246 w 347567"/>
                <a:gd name="connsiteY120" fmla="*/ 149733 h 336042"/>
                <a:gd name="connsiteX121" fmla="*/ 62960 w 347567"/>
                <a:gd name="connsiteY121" fmla="*/ 146971 h 336042"/>
                <a:gd name="connsiteX122" fmla="*/ 64199 w 347567"/>
                <a:gd name="connsiteY122" fmla="*/ 143637 h 336042"/>
                <a:gd name="connsiteX123" fmla="*/ 69247 w 347567"/>
                <a:gd name="connsiteY123" fmla="*/ 133064 h 336042"/>
                <a:gd name="connsiteX124" fmla="*/ 55626 w 347567"/>
                <a:gd name="connsiteY124" fmla="*/ 119443 h 336042"/>
                <a:gd name="connsiteX125" fmla="*/ 42005 w 347567"/>
                <a:gd name="connsiteY125" fmla="*/ 133064 h 336042"/>
                <a:gd name="connsiteX126" fmla="*/ 47054 w 347567"/>
                <a:gd name="connsiteY126" fmla="*/ 143637 h 336042"/>
                <a:gd name="connsiteX127" fmla="*/ 48292 w 347567"/>
                <a:gd name="connsiteY127" fmla="*/ 146971 h 336042"/>
                <a:gd name="connsiteX128" fmla="*/ 46006 w 347567"/>
                <a:gd name="connsiteY128" fmla="*/ 149733 h 336042"/>
                <a:gd name="connsiteX129" fmla="*/ 27432 w 347567"/>
                <a:gd name="connsiteY129" fmla="*/ 176213 h 336042"/>
                <a:gd name="connsiteX130" fmla="*/ 27813 w 347567"/>
                <a:gd name="connsiteY130" fmla="*/ 180975 h 336042"/>
                <a:gd name="connsiteX131" fmla="*/ 27908 w 347567"/>
                <a:gd name="connsiteY131" fmla="*/ 181261 h 336042"/>
                <a:gd name="connsiteX132" fmla="*/ 55340 w 347567"/>
                <a:gd name="connsiteY132" fmla="*/ 189738 h 336042"/>
                <a:gd name="connsiteX133" fmla="*/ 83344 w 347567"/>
                <a:gd name="connsiteY133" fmla="*/ 180784 h 336042"/>
                <a:gd name="connsiteX134" fmla="*/ 83344 w 347567"/>
                <a:gd name="connsiteY134" fmla="*/ 180784 h 336042"/>
                <a:gd name="connsiteX135" fmla="*/ 90868 w 347567"/>
                <a:gd name="connsiteY135" fmla="*/ 174308 h 336042"/>
                <a:gd name="connsiteX136" fmla="*/ 103727 w 347567"/>
                <a:gd name="connsiteY136" fmla="*/ 141446 h 336042"/>
                <a:gd name="connsiteX137" fmla="*/ 55435 w 347567"/>
                <a:gd name="connsiteY137" fmla="*/ 93059 h 336042"/>
                <a:gd name="connsiteX138" fmla="*/ 7144 w 347567"/>
                <a:gd name="connsiteY138" fmla="*/ 141446 h 336042"/>
                <a:gd name="connsiteX139" fmla="*/ 20479 w 347567"/>
                <a:gd name="connsiteY139" fmla="*/ 174784 h 336042"/>
                <a:gd name="connsiteX140" fmla="*/ 38862 w 347567"/>
                <a:gd name="connsiteY140" fmla="*/ 145161 h 336042"/>
                <a:gd name="connsiteX141" fmla="*/ 34957 w 347567"/>
                <a:gd name="connsiteY141" fmla="*/ 133064 h 336042"/>
                <a:gd name="connsiteX142" fmla="*/ 55721 w 347567"/>
                <a:gd name="connsiteY142" fmla="*/ 112395 h 336042"/>
                <a:gd name="connsiteX143" fmla="*/ 76486 w 347567"/>
                <a:gd name="connsiteY143" fmla="*/ 133064 h 336042"/>
                <a:gd name="connsiteX144" fmla="*/ 72581 w 347567"/>
                <a:gd name="connsiteY144" fmla="*/ 145161 h 336042"/>
                <a:gd name="connsiteX145" fmla="*/ 90964 w 347567"/>
                <a:gd name="connsiteY145" fmla="*/ 174308 h 336042"/>
                <a:gd name="connsiteX146" fmla="*/ 90964 w 347567"/>
                <a:gd name="connsiteY146" fmla="*/ 174308 h 336042"/>
                <a:gd name="connsiteX147" fmla="*/ 327279 w 347567"/>
                <a:gd name="connsiteY147" fmla="*/ 174498 h 336042"/>
                <a:gd name="connsiteX148" fmla="*/ 340424 w 347567"/>
                <a:gd name="connsiteY148" fmla="*/ 141446 h 336042"/>
                <a:gd name="connsiteX149" fmla="*/ 292037 w 347567"/>
                <a:gd name="connsiteY149" fmla="*/ 93059 h 336042"/>
                <a:gd name="connsiteX150" fmla="*/ 243745 w 347567"/>
                <a:gd name="connsiteY150" fmla="*/ 141446 h 336042"/>
                <a:gd name="connsiteX151" fmla="*/ 256794 w 347567"/>
                <a:gd name="connsiteY151" fmla="*/ 174498 h 336042"/>
                <a:gd name="connsiteX152" fmla="*/ 275177 w 347567"/>
                <a:gd name="connsiteY152" fmla="*/ 145161 h 336042"/>
                <a:gd name="connsiteX153" fmla="*/ 271272 w 347567"/>
                <a:gd name="connsiteY153" fmla="*/ 133064 h 336042"/>
                <a:gd name="connsiteX154" fmla="*/ 292037 w 347567"/>
                <a:gd name="connsiteY154" fmla="*/ 112395 h 336042"/>
                <a:gd name="connsiteX155" fmla="*/ 312801 w 347567"/>
                <a:gd name="connsiteY155" fmla="*/ 133064 h 336042"/>
                <a:gd name="connsiteX156" fmla="*/ 308896 w 347567"/>
                <a:gd name="connsiteY156" fmla="*/ 145161 h 336042"/>
                <a:gd name="connsiteX157" fmla="*/ 327279 w 347567"/>
                <a:gd name="connsiteY157" fmla="*/ 174498 h 336042"/>
                <a:gd name="connsiteX158" fmla="*/ 327279 w 347567"/>
                <a:gd name="connsiteY158" fmla="*/ 174498 h 336042"/>
                <a:gd name="connsiteX159" fmla="*/ 201454 w 347567"/>
                <a:gd name="connsiteY159" fmla="*/ 95060 h 336042"/>
                <a:gd name="connsiteX160" fmla="*/ 201835 w 347567"/>
                <a:gd name="connsiteY160" fmla="*/ 90202 h 336042"/>
                <a:gd name="connsiteX161" fmla="*/ 183261 w 347567"/>
                <a:gd name="connsiteY161" fmla="*/ 63722 h 336042"/>
                <a:gd name="connsiteX162" fmla="*/ 180975 w 347567"/>
                <a:gd name="connsiteY162" fmla="*/ 60960 h 336042"/>
                <a:gd name="connsiteX163" fmla="*/ 182213 w 347567"/>
                <a:gd name="connsiteY163" fmla="*/ 57626 h 336042"/>
                <a:gd name="connsiteX164" fmla="*/ 187262 w 347567"/>
                <a:gd name="connsiteY164" fmla="*/ 47054 h 336042"/>
                <a:gd name="connsiteX165" fmla="*/ 173641 w 347567"/>
                <a:gd name="connsiteY165" fmla="*/ 33433 h 336042"/>
                <a:gd name="connsiteX166" fmla="*/ 160020 w 347567"/>
                <a:gd name="connsiteY166" fmla="*/ 47054 h 336042"/>
                <a:gd name="connsiteX167" fmla="*/ 165068 w 347567"/>
                <a:gd name="connsiteY167" fmla="*/ 57626 h 336042"/>
                <a:gd name="connsiteX168" fmla="*/ 166307 w 347567"/>
                <a:gd name="connsiteY168" fmla="*/ 60960 h 336042"/>
                <a:gd name="connsiteX169" fmla="*/ 164021 w 347567"/>
                <a:gd name="connsiteY169" fmla="*/ 63722 h 336042"/>
                <a:gd name="connsiteX170" fmla="*/ 145447 w 347567"/>
                <a:gd name="connsiteY170" fmla="*/ 90202 h 336042"/>
                <a:gd name="connsiteX171" fmla="*/ 145828 w 347567"/>
                <a:gd name="connsiteY171" fmla="*/ 94964 h 336042"/>
                <a:gd name="connsiteX172" fmla="*/ 145828 w 347567"/>
                <a:gd name="connsiteY172" fmla="*/ 94964 h 336042"/>
                <a:gd name="connsiteX173" fmla="*/ 173641 w 347567"/>
                <a:gd name="connsiteY173" fmla="*/ 103727 h 336042"/>
                <a:gd name="connsiteX174" fmla="*/ 201359 w 347567"/>
                <a:gd name="connsiteY174" fmla="*/ 94964 h 336042"/>
                <a:gd name="connsiteX175" fmla="*/ 201359 w 347567"/>
                <a:gd name="connsiteY175" fmla="*/ 94964 h 336042"/>
                <a:gd name="connsiteX176" fmla="*/ 208979 w 347567"/>
                <a:gd name="connsiteY176" fmla="*/ 88583 h 336042"/>
                <a:gd name="connsiteX177" fmla="*/ 222028 w 347567"/>
                <a:gd name="connsiteY177" fmla="*/ 55435 h 336042"/>
                <a:gd name="connsiteX178" fmla="*/ 173736 w 347567"/>
                <a:gd name="connsiteY178" fmla="*/ 7144 h 336042"/>
                <a:gd name="connsiteX179" fmla="*/ 125349 w 347567"/>
                <a:gd name="connsiteY179" fmla="*/ 55435 h 336042"/>
                <a:gd name="connsiteX180" fmla="*/ 138494 w 347567"/>
                <a:gd name="connsiteY180" fmla="*/ 88583 h 336042"/>
                <a:gd name="connsiteX181" fmla="*/ 156877 w 347567"/>
                <a:gd name="connsiteY181" fmla="*/ 59246 h 336042"/>
                <a:gd name="connsiteX182" fmla="*/ 152971 w 347567"/>
                <a:gd name="connsiteY182" fmla="*/ 47149 h 336042"/>
                <a:gd name="connsiteX183" fmla="*/ 173736 w 347567"/>
                <a:gd name="connsiteY183" fmla="*/ 26384 h 336042"/>
                <a:gd name="connsiteX184" fmla="*/ 194501 w 347567"/>
                <a:gd name="connsiteY184" fmla="*/ 47149 h 336042"/>
                <a:gd name="connsiteX185" fmla="*/ 190595 w 347567"/>
                <a:gd name="connsiteY185" fmla="*/ 59246 h 336042"/>
                <a:gd name="connsiteX186" fmla="*/ 208979 w 347567"/>
                <a:gd name="connsiteY186" fmla="*/ 88583 h 336042"/>
                <a:gd name="connsiteX187" fmla="*/ 208979 w 347567"/>
                <a:gd name="connsiteY187" fmla="*/ 88583 h 33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347567" h="336042">
                  <a:moveTo>
                    <a:pt x="267367" y="229076"/>
                  </a:moveTo>
                  <a:cubicBezTo>
                    <a:pt x="287846" y="237268"/>
                    <a:pt x="302324" y="257270"/>
                    <a:pt x="302324" y="280607"/>
                  </a:cubicBezTo>
                  <a:cubicBezTo>
                    <a:pt x="302324" y="311182"/>
                    <a:pt x="277463" y="336042"/>
                    <a:pt x="246888" y="336042"/>
                  </a:cubicBezTo>
                  <a:cubicBezTo>
                    <a:pt x="216313" y="336042"/>
                    <a:pt x="193453" y="313087"/>
                    <a:pt x="191548" y="284131"/>
                  </a:cubicBezTo>
                  <a:lnTo>
                    <a:pt x="155924" y="284131"/>
                  </a:lnTo>
                  <a:cubicBezTo>
                    <a:pt x="154115" y="313087"/>
                    <a:pt x="130016" y="336042"/>
                    <a:pt x="100584" y="336042"/>
                  </a:cubicBezTo>
                  <a:cubicBezTo>
                    <a:pt x="71152" y="336042"/>
                    <a:pt x="45149" y="311182"/>
                    <a:pt x="45149" y="280607"/>
                  </a:cubicBezTo>
                  <a:cubicBezTo>
                    <a:pt x="45149" y="257270"/>
                    <a:pt x="59627" y="237268"/>
                    <a:pt x="80105" y="229076"/>
                  </a:cubicBezTo>
                  <a:lnTo>
                    <a:pt x="69152" y="195167"/>
                  </a:lnTo>
                  <a:cubicBezTo>
                    <a:pt x="64770" y="196310"/>
                    <a:pt x="60198" y="196882"/>
                    <a:pt x="55435" y="196882"/>
                  </a:cubicBezTo>
                  <a:cubicBezTo>
                    <a:pt x="24860" y="196882"/>
                    <a:pt x="0" y="172021"/>
                    <a:pt x="0" y="141446"/>
                  </a:cubicBezTo>
                  <a:cubicBezTo>
                    <a:pt x="0" y="110871"/>
                    <a:pt x="24860" y="86011"/>
                    <a:pt x="55435" y="86011"/>
                  </a:cubicBezTo>
                  <a:cubicBezTo>
                    <a:pt x="72581" y="86011"/>
                    <a:pt x="87916" y="93821"/>
                    <a:pt x="98108" y="106109"/>
                  </a:cubicBezTo>
                  <a:lnTo>
                    <a:pt x="126968" y="85154"/>
                  </a:lnTo>
                  <a:cubicBezTo>
                    <a:pt x="121539" y="76581"/>
                    <a:pt x="118396" y="66389"/>
                    <a:pt x="118396" y="55531"/>
                  </a:cubicBezTo>
                  <a:cubicBezTo>
                    <a:pt x="118301" y="24860"/>
                    <a:pt x="143161" y="0"/>
                    <a:pt x="173736" y="0"/>
                  </a:cubicBezTo>
                  <a:cubicBezTo>
                    <a:pt x="204311" y="0"/>
                    <a:pt x="229171" y="24860"/>
                    <a:pt x="229171" y="55435"/>
                  </a:cubicBezTo>
                  <a:cubicBezTo>
                    <a:pt x="229171" y="66294"/>
                    <a:pt x="226028" y="76486"/>
                    <a:pt x="220599" y="85058"/>
                  </a:cubicBezTo>
                  <a:lnTo>
                    <a:pt x="249460" y="106013"/>
                  </a:lnTo>
                  <a:cubicBezTo>
                    <a:pt x="259652" y="93726"/>
                    <a:pt x="274987" y="85916"/>
                    <a:pt x="292132" y="85916"/>
                  </a:cubicBezTo>
                  <a:cubicBezTo>
                    <a:pt x="322707" y="85916"/>
                    <a:pt x="347567" y="110776"/>
                    <a:pt x="347567" y="141351"/>
                  </a:cubicBezTo>
                  <a:cubicBezTo>
                    <a:pt x="347567" y="171926"/>
                    <a:pt x="322707" y="196787"/>
                    <a:pt x="292132" y="196787"/>
                  </a:cubicBezTo>
                  <a:cubicBezTo>
                    <a:pt x="287369" y="196787"/>
                    <a:pt x="282797" y="196215"/>
                    <a:pt x="278416" y="195072"/>
                  </a:cubicBezTo>
                  <a:lnTo>
                    <a:pt x="267367" y="228981"/>
                  </a:lnTo>
                  <a:lnTo>
                    <a:pt x="267367" y="228981"/>
                  </a:lnTo>
                  <a:close/>
                  <a:moveTo>
                    <a:pt x="274606" y="320135"/>
                  </a:moveTo>
                  <a:lnTo>
                    <a:pt x="274606" y="320135"/>
                  </a:lnTo>
                  <a:cubicBezTo>
                    <a:pt x="274892" y="318516"/>
                    <a:pt x="274987" y="316897"/>
                    <a:pt x="274987" y="315278"/>
                  </a:cubicBezTo>
                  <a:cubicBezTo>
                    <a:pt x="274987" y="303086"/>
                    <a:pt x="267272" y="292703"/>
                    <a:pt x="256413" y="288798"/>
                  </a:cubicBezTo>
                  <a:cubicBezTo>
                    <a:pt x="255175" y="288417"/>
                    <a:pt x="254318" y="287274"/>
                    <a:pt x="254127" y="286036"/>
                  </a:cubicBezTo>
                  <a:cubicBezTo>
                    <a:pt x="253937" y="284798"/>
                    <a:pt x="254413" y="283464"/>
                    <a:pt x="255365" y="282702"/>
                  </a:cubicBezTo>
                  <a:cubicBezTo>
                    <a:pt x="258413" y="280226"/>
                    <a:pt x="260414" y="276416"/>
                    <a:pt x="260414" y="272129"/>
                  </a:cubicBezTo>
                  <a:cubicBezTo>
                    <a:pt x="260414" y="264605"/>
                    <a:pt x="254318" y="258509"/>
                    <a:pt x="246793" y="258509"/>
                  </a:cubicBezTo>
                  <a:cubicBezTo>
                    <a:pt x="239268" y="258509"/>
                    <a:pt x="233172" y="264605"/>
                    <a:pt x="233172" y="272129"/>
                  </a:cubicBezTo>
                  <a:cubicBezTo>
                    <a:pt x="233172" y="276416"/>
                    <a:pt x="235172" y="280226"/>
                    <a:pt x="238220" y="282702"/>
                  </a:cubicBezTo>
                  <a:cubicBezTo>
                    <a:pt x="239173" y="283464"/>
                    <a:pt x="239649" y="284798"/>
                    <a:pt x="239459" y="286036"/>
                  </a:cubicBezTo>
                  <a:cubicBezTo>
                    <a:pt x="239268" y="287274"/>
                    <a:pt x="238411" y="288322"/>
                    <a:pt x="237173" y="288798"/>
                  </a:cubicBezTo>
                  <a:cubicBezTo>
                    <a:pt x="226314" y="292703"/>
                    <a:pt x="218599" y="303086"/>
                    <a:pt x="218599" y="315278"/>
                  </a:cubicBezTo>
                  <a:cubicBezTo>
                    <a:pt x="218599" y="316897"/>
                    <a:pt x="218694" y="318516"/>
                    <a:pt x="218980" y="320040"/>
                  </a:cubicBezTo>
                  <a:lnTo>
                    <a:pt x="218980" y="320040"/>
                  </a:lnTo>
                  <a:cubicBezTo>
                    <a:pt x="226790" y="325565"/>
                    <a:pt x="236411" y="328803"/>
                    <a:pt x="246698" y="328803"/>
                  </a:cubicBezTo>
                  <a:cubicBezTo>
                    <a:pt x="256984" y="328803"/>
                    <a:pt x="266605" y="325565"/>
                    <a:pt x="274511" y="320040"/>
                  </a:cubicBezTo>
                  <a:lnTo>
                    <a:pt x="274511" y="320040"/>
                  </a:lnTo>
                  <a:close/>
                  <a:moveTo>
                    <a:pt x="128397" y="320135"/>
                  </a:moveTo>
                  <a:lnTo>
                    <a:pt x="128397" y="320135"/>
                  </a:lnTo>
                  <a:cubicBezTo>
                    <a:pt x="128683" y="318516"/>
                    <a:pt x="128778" y="316897"/>
                    <a:pt x="128778" y="315278"/>
                  </a:cubicBezTo>
                  <a:cubicBezTo>
                    <a:pt x="128778" y="303086"/>
                    <a:pt x="121063" y="292703"/>
                    <a:pt x="110204" y="288798"/>
                  </a:cubicBezTo>
                  <a:cubicBezTo>
                    <a:pt x="108966" y="288417"/>
                    <a:pt x="108109" y="287274"/>
                    <a:pt x="107918" y="286036"/>
                  </a:cubicBezTo>
                  <a:cubicBezTo>
                    <a:pt x="107728" y="284798"/>
                    <a:pt x="108204" y="283464"/>
                    <a:pt x="109157" y="282702"/>
                  </a:cubicBezTo>
                  <a:cubicBezTo>
                    <a:pt x="112205" y="280226"/>
                    <a:pt x="114205" y="276416"/>
                    <a:pt x="114205" y="272129"/>
                  </a:cubicBezTo>
                  <a:cubicBezTo>
                    <a:pt x="114205" y="264605"/>
                    <a:pt x="108109" y="258509"/>
                    <a:pt x="100584" y="258509"/>
                  </a:cubicBezTo>
                  <a:cubicBezTo>
                    <a:pt x="93059" y="258509"/>
                    <a:pt x="86963" y="264605"/>
                    <a:pt x="86963" y="272129"/>
                  </a:cubicBezTo>
                  <a:cubicBezTo>
                    <a:pt x="86963" y="276416"/>
                    <a:pt x="88964" y="280226"/>
                    <a:pt x="92012" y="282702"/>
                  </a:cubicBezTo>
                  <a:cubicBezTo>
                    <a:pt x="92964" y="283464"/>
                    <a:pt x="93440" y="284798"/>
                    <a:pt x="93250" y="286036"/>
                  </a:cubicBezTo>
                  <a:cubicBezTo>
                    <a:pt x="93059" y="287274"/>
                    <a:pt x="92202" y="288322"/>
                    <a:pt x="90964" y="288798"/>
                  </a:cubicBezTo>
                  <a:cubicBezTo>
                    <a:pt x="80105" y="292703"/>
                    <a:pt x="72390" y="303086"/>
                    <a:pt x="72390" y="315278"/>
                  </a:cubicBezTo>
                  <a:cubicBezTo>
                    <a:pt x="72390" y="316897"/>
                    <a:pt x="72485" y="318516"/>
                    <a:pt x="72771" y="320040"/>
                  </a:cubicBezTo>
                  <a:lnTo>
                    <a:pt x="72771" y="320040"/>
                  </a:lnTo>
                  <a:cubicBezTo>
                    <a:pt x="80582" y="325565"/>
                    <a:pt x="90202" y="328803"/>
                    <a:pt x="100489" y="328803"/>
                  </a:cubicBezTo>
                  <a:cubicBezTo>
                    <a:pt x="110776" y="328803"/>
                    <a:pt x="120396" y="325565"/>
                    <a:pt x="128207" y="320040"/>
                  </a:cubicBezTo>
                  <a:lnTo>
                    <a:pt x="128207" y="320040"/>
                  </a:lnTo>
                  <a:close/>
                  <a:moveTo>
                    <a:pt x="282035" y="313658"/>
                  </a:moveTo>
                  <a:cubicBezTo>
                    <a:pt x="290132" y="304990"/>
                    <a:pt x="295180" y="293370"/>
                    <a:pt x="295180" y="280511"/>
                  </a:cubicBezTo>
                  <a:cubicBezTo>
                    <a:pt x="295180" y="253841"/>
                    <a:pt x="273558" y="232220"/>
                    <a:pt x="246888" y="232220"/>
                  </a:cubicBezTo>
                  <a:cubicBezTo>
                    <a:pt x="220218" y="232220"/>
                    <a:pt x="198596" y="253841"/>
                    <a:pt x="198596" y="280511"/>
                  </a:cubicBezTo>
                  <a:cubicBezTo>
                    <a:pt x="198596" y="293275"/>
                    <a:pt x="203549" y="304990"/>
                    <a:pt x="211646" y="313658"/>
                  </a:cubicBezTo>
                  <a:cubicBezTo>
                    <a:pt x="212217" y="300990"/>
                    <a:pt x="219551" y="290036"/>
                    <a:pt x="230029" y="284321"/>
                  </a:cubicBezTo>
                  <a:cubicBezTo>
                    <a:pt x="227552" y="280892"/>
                    <a:pt x="226124" y="276701"/>
                    <a:pt x="226124" y="272225"/>
                  </a:cubicBezTo>
                  <a:cubicBezTo>
                    <a:pt x="226124" y="260795"/>
                    <a:pt x="235458" y="251460"/>
                    <a:pt x="246888" y="251460"/>
                  </a:cubicBezTo>
                  <a:cubicBezTo>
                    <a:pt x="258318" y="251460"/>
                    <a:pt x="267653" y="260795"/>
                    <a:pt x="267653" y="272225"/>
                  </a:cubicBezTo>
                  <a:cubicBezTo>
                    <a:pt x="267653" y="276701"/>
                    <a:pt x="266224" y="280988"/>
                    <a:pt x="263747" y="284321"/>
                  </a:cubicBezTo>
                  <a:cubicBezTo>
                    <a:pt x="274320" y="290036"/>
                    <a:pt x="281559" y="300990"/>
                    <a:pt x="282131" y="313658"/>
                  </a:cubicBezTo>
                  <a:lnTo>
                    <a:pt x="282131" y="313658"/>
                  </a:lnTo>
                  <a:close/>
                  <a:moveTo>
                    <a:pt x="135827" y="313658"/>
                  </a:moveTo>
                  <a:cubicBezTo>
                    <a:pt x="143923" y="304990"/>
                    <a:pt x="148971" y="293370"/>
                    <a:pt x="148971" y="280511"/>
                  </a:cubicBezTo>
                  <a:cubicBezTo>
                    <a:pt x="148971" y="253841"/>
                    <a:pt x="127349" y="232220"/>
                    <a:pt x="100584" y="232220"/>
                  </a:cubicBezTo>
                  <a:cubicBezTo>
                    <a:pt x="73819" y="232220"/>
                    <a:pt x="52292" y="253841"/>
                    <a:pt x="52292" y="280511"/>
                  </a:cubicBezTo>
                  <a:cubicBezTo>
                    <a:pt x="52292" y="293275"/>
                    <a:pt x="57245" y="304990"/>
                    <a:pt x="65342" y="313658"/>
                  </a:cubicBezTo>
                  <a:cubicBezTo>
                    <a:pt x="65913" y="300990"/>
                    <a:pt x="73247" y="290036"/>
                    <a:pt x="83725" y="284321"/>
                  </a:cubicBezTo>
                  <a:cubicBezTo>
                    <a:pt x="81248" y="280892"/>
                    <a:pt x="79820" y="276701"/>
                    <a:pt x="79820" y="272225"/>
                  </a:cubicBezTo>
                  <a:cubicBezTo>
                    <a:pt x="79820" y="260795"/>
                    <a:pt x="89154" y="251460"/>
                    <a:pt x="100584" y="251460"/>
                  </a:cubicBezTo>
                  <a:cubicBezTo>
                    <a:pt x="112014" y="251460"/>
                    <a:pt x="121349" y="260795"/>
                    <a:pt x="121349" y="272225"/>
                  </a:cubicBezTo>
                  <a:cubicBezTo>
                    <a:pt x="121349" y="276701"/>
                    <a:pt x="119920" y="280988"/>
                    <a:pt x="117443" y="284321"/>
                  </a:cubicBezTo>
                  <a:cubicBezTo>
                    <a:pt x="128016" y="290036"/>
                    <a:pt x="135255" y="300990"/>
                    <a:pt x="135827" y="313658"/>
                  </a:cubicBezTo>
                  <a:lnTo>
                    <a:pt x="135827" y="313658"/>
                  </a:lnTo>
                  <a:close/>
                  <a:moveTo>
                    <a:pt x="245269" y="111824"/>
                  </a:moveTo>
                  <a:lnTo>
                    <a:pt x="216408" y="90868"/>
                  </a:lnTo>
                  <a:cubicBezTo>
                    <a:pt x="206216" y="103156"/>
                    <a:pt x="190881" y="110966"/>
                    <a:pt x="173736" y="110966"/>
                  </a:cubicBezTo>
                  <a:cubicBezTo>
                    <a:pt x="156591" y="110966"/>
                    <a:pt x="141256" y="103156"/>
                    <a:pt x="131064" y="90868"/>
                  </a:cubicBezTo>
                  <a:lnTo>
                    <a:pt x="102203" y="111824"/>
                  </a:lnTo>
                  <a:cubicBezTo>
                    <a:pt x="107633" y="120396"/>
                    <a:pt x="110776" y="130588"/>
                    <a:pt x="110776" y="141446"/>
                  </a:cubicBezTo>
                  <a:cubicBezTo>
                    <a:pt x="110776" y="164783"/>
                    <a:pt x="96298" y="184785"/>
                    <a:pt x="75819" y="192977"/>
                  </a:cubicBezTo>
                  <a:lnTo>
                    <a:pt x="86868" y="226886"/>
                  </a:lnTo>
                  <a:cubicBezTo>
                    <a:pt x="91249" y="225743"/>
                    <a:pt x="95822" y="225171"/>
                    <a:pt x="100584" y="225171"/>
                  </a:cubicBezTo>
                  <a:cubicBezTo>
                    <a:pt x="130016" y="225171"/>
                    <a:pt x="154115" y="248126"/>
                    <a:pt x="155924" y="277082"/>
                  </a:cubicBezTo>
                  <a:lnTo>
                    <a:pt x="191548" y="277082"/>
                  </a:lnTo>
                  <a:cubicBezTo>
                    <a:pt x="193358" y="248126"/>
                    <a:pt x="217456" y="225171"/>
                    <a:pt x="246888" y="225171"/>
                  </a:cubicBezTo>
                  <a:cubicBezTo>
                    <a:pt x="251651" y="225171"/>
                    <a:pt x="256223" y="225743"/>
                    <a:pt x="260604" y="226886"/>
                  </a:cubicBezTo>
                  <a:lnTo>
                    <a:pt x="271558" y="192977"/>
                  </a:lnTo>
                  <a:cubicBezTo>
                    <a:pt x="251079" y="184785"/>
                    <a:pt x="236601" y="164783"/>
                    <a:pt x="236601" y="141446"/>
                  </a:cubicBezTo>
                  <a:cubicBezTo>
                    <a:pt x="236601" y="130588"/>
                    <a:pt x="239744" y="120396"/>
                    <a:pt x="245174" y="111824"/>
                  </a:cubicBezTo>
                  <a:lnTo>
                    <a:pt x="245174" y="111824"/>
                  </a:lnTo>
                  <a:close/>
                  <a:moveTo>
                    <a:pt x="319754" y="180975"/>
                  </a:moveTo>
                  <a:cubicBezTo>
                    <a:pt x="320040" y="179451"/>
                    <a:pt x="320135" y="177832"/>
                    <a:pt x="320135" y="176213"/>
                  </a:cubicBezTo>
                  <a:cubicBezTo>
                    <a:pt x="320135" y="164021"/>
                    <a:pt x="312420" y="153638"/>
                    <a:pt x="301562" y="149733"/>
                  </a:cubicBezTo>
                  <a:cubicBezTo>
                    <a:pt x="300323" y="149257"/>
                    <a:pt x="299466" y="148209"/>
                    <a:pt x="299276" y="146971"/>
                  </a:cubicBezTo>
                  <a:cubicBezTo>
                    <a:pt x="299085" y="145733"/>
                    <a:pt x="299561" y="144399"/>
                    <a:pt x="300514" y="143637"/>
                  </a:cubicBezTo>
                  <a:cubicBezTo>
                    <a:pt x="303562" y="141161"/>
                    <a:pt x="305562" y="137351"/>
                    <a:pt x="305562" y="133064"/>
                  </a:cubicBezTo>
                  <a:cubicBezTo>
                    <a:pt x="305562" y="125540"/>
                    <a:pt x="299466" y="119443"/>
                    <a:pt x="291941" y="119443"/>
                  </a:cubicBezTo>
                  <a:cubicBezTo>
                    <a:pt x="284417" y="119443"/>
                    <a:pt x="278321" y="125540"/>
                    <a:pt x="278321" y="133064"/>
                  </a:cubicBezTo>
                  <a:cubicBezTo>
                    <a:pt x="278321" y="137351"/>
                    <a:pt x="280321" y="141161"/>
                    <a:pt x="283369" y="143637"/>
                  </a:cubicBezTo>
                  <a:cubicBezTo>
                    <a:pt x="284321" y="144399"/>
                    <a:pt x="284798" y="145733"/>
                    <a:pt x="284607" y="146971"/>
                  </a:cubicBezTo>
                  <a:cubicBezTo>
                    <a:pt x="284417" y="148209"/>
                    <a:pt x="283559" y="149257"/>
                    <a:pt x="282321" y="149733"/>
                  </a:cubicBezTo>
                  <a:cubicBezTo>
                    <a:pt x="271463" y="153638"/>
                    <a:pt x="263747" y="164021"/>
                    <a:pt x="263747" y="176213"/>
                  </a:cubicBezTo>
                  <a:cubicBezTo>
                    <a:pt x="263747" y="177832"/>
                    <a:pt x="263843" y="179451"/>
                    <a:pt x="264128" y="180975"/>
                  </a:cubicBezTo>
                  <a:cubicBezTo>
                    <a:pt x="271939" y="186500"/>
                    <a:pt x="281559" y="189738"/>
                    <a:pt x="291846" y="189738"/>
                  </a:cubicBezTo>
                  <a:cubicBezTo>
                    <a:pt x="302133" y="189738"/>
                    <a:pt x="311753" y="186500"/>
                    <a:pt x="319564" y="180975"/>
                  </a:cubicBezTo>
                  <a:lnTo>
                    <a:pt x="319564" y="180975"/>
                  </a:lnTo>
                  <a:close/>
                  <a:moveTo>
                    <a:pt x="83439" y="180784"/>
                  </a:moveTo>
                  <a:cubicBezTo>
                    <a:pt x="83725" y="179261"/>
                    <a:pt x="83820" y="177737"/>
                    <a:pt x="83820" y="176213"/>
                  </a:cubicBezTo>
                  <a:cubicBezTo>
                    <a:pt x="83820" y="164021"/>
                    <a:pt x="76105" y="153638"/>
                    <a:pt x="65246" y="149733"/>
                  </a:cubicBezTo>
                  <a:cubicBezTo>
                    <a:pt x="64008" y="149257"/>
                    <a:pt x="63151" y="148209"/>
                    <a:pt x="62960" y="146971"/>
                  </a:cubicBezTo>
                  <a:cubicBezTo>
                    <a:pt x="62770" y="145733"/>
                    <a:pt x="63246" y="144399"/>
                    <a:pt x="64199" y="143637"/>
                  </a:cubicBezTo>
                  <a:cubicBezTo>
                    <a:pt x="67247" y="141161"/>
                    <a:pt x="69247" y="137351"/>
                    <a:pt x="69247" y="133064"/>
                  </a:cubicBezTo>
                  <a:cubicBezTo>
                    <a:pt x="69247" y="125540"/>
                    <a:pt x="63151" y="119443"/>
                    <a:pt x="55626" y="119443"/>
                  </a:cubicBezTo>
                  <a:cubicBezTo>
                    <a:pt x="48101" y="119443"/>
                    <a:pt x="42005" y="125540"/>
                    <a:pt x="42005" y="133064"/>
                  </a:cubicBezTo>
                  <a:cubicBezTo>
                    <a:pt x="42005" y="137351"/>
                    <a:pt x="44006" y="141161"/>
                    <a:pt x="47054" y="143637"/>
                  </a:cubicBezTo>
                  <a:cubicBezTo>
                    <a:pt x="48006" y="144399"/>
                    <a:pt x="48482" y="145733"/>
                    <a:pt x="48292" y="146971"/>
                  </a:cubicBezTo>
                  <a:cubicBezTo>
                    <a:pt x="48101" y="148209"/>
                    <a:pt x="47244" y="149257"/>
                    <a:pt x="46006" y="149733"/>
                  </a:cubicBezTo>
                  <a:cubicBezTo>
                    <a:pt x="35147" y="153638"/>
                    <a:pt x="27432" y="164021"/>
                    <a:pt x="27432" y="176213"/>
                  </a:cubicBezTo>
                  <a:cubicBezTo>
                    <a:pt x="27432" y="177832"/>
                    <a:pt x="27527" y="179451"/>
                    <a:pt x="27813" y="180975"/>
                  </a:cubicBezTo>
                  <a:cubicBezTo>
                    <a:pt x="27813" y="180975"/>
                    <a:pt x="27813" y="181166"/>
                    <a:pt x="27908" y="181261"/>
                  </a:cubicBezTo>
                  <a:cubicBezTo>
                    <a:pt x="35719" y="186595"/>
                    <a:pt x="45149" y="189738"/>
                    <a:pt x="55340" y="189738"/>
                  </a:cubicBezTo>
                  <a:cubicBezTo>
                    <a:pt x="65532" y="189738"/>
                    <a:pt x="75438" y="186404"/>
                    <a:pt x="83344" y="180784"/>
                  </a:cubicBezTo>
                  <a:lnTo>
                    <a:pt x="83344" y="180784"/>
                  </a:lnTo>
                  <a:close/>
                  <a:moveTo>
                    <a:pt x="90868" y="174308"/>
                  </a:moveTo>
                  <a:cubicBezTo>
                    <a:pt x="98870" y="165640"/>
                    <a:pt x="103727" y="154115"/>
                    <a:pt x="103727" y="141446"/>
                  </a:cubicBezTo>
                  <a:cubicBezTo>
                    <a:pt x="103727" y="114776"/>
                    <a:pt x="82106" y="93059"/>
                    <a:pt x="55435" y="93059"/>
                  </a:cubicBezTo>
                  <a:cubicBezTo>
                    <a:pt x="28766" y="93059"/>
                    <a:pt x="7144" y="114776"/>
                    <a:pt x="7144" y="141446"/>
                  </a:cubicBezTo>
                  <a:cubicBezTo>
                    <a:pt x="7144" y="154400"/>
                    <a:pt x="12192" y="166116"/>
                    <a:pt x="20479" y="174784"/>
                  </a:cubicBezTo>
                  <a:cubicBezTo>
                    <a:pt x="20955" y="162020"/>
                    <a:pt x="28289" y="150971"/>
                    <a:pt x="38862" y="145161"/>
                  </a:cubicBezTo>
                  <a:cubicBezTo>
                    <a:pt x="36386" y="141732"/>
                    <a:pt x="34957" y="137541"/>
                    <a:pt x="34957" y="133064"/>
                  </a:cubicBezTo>
                  <a:cubicBezTo>
                    <a:pt x="34957" y="121634"/>
                    <a:pt x="44291" y="112395"/>
                    <a:pt x="55721" y="112395"/>
                  </a:cubicBezTo>
                  <a:cubicBezTo>
                    <a:pt x="67151" y="112395"/>
                    <a:pt x="76486" y="121730"/>
                    <a:pt x="76486" y="133064"/>
                  </a:cubicBezTo>
                  <a:cubicBezTo>
                    <a:pt x="76486" y="137636"/>
                    <a:pt x="75057" y="141827"/>
                    <a:pt x="72581" y="145161"/>
                  </a:cubicBezTo>
                  <a:cubicBezTo>
                    <a:pt x="83058" y="150876"/>
                    <a:pt x="90297" y="161734"/>
                    <a:pt x="90964" y="174308"/>
                  </a:cubicBezTo>
                  <a:lnTo>
                    <a:pt x="90964" y="174308"/>
                  </a:lnTo>
                  <a:close/>
                  <a:moveTo>
                    <a:pt x="327279" y="174498"/>
                  </a:moveTo>
                  <a:cubicBezTo>
                    <a:pt x="335375" y="165830"/>
                    <a:pt x="340424" y="154210"/>
                    <a:pt x="340424" y="141446"/>
                  </a:cubicBezTo>
                  <a:cubicBezTo>
                    <a:pt x="340424" y="114776"/>
                    <a:pt x="318802" y="93059"/>
                    <a:pt x="292037" y="93059"/>
                  </a:cubicBezTo>
                  <a:cubicBezTo>
                    <a:pt x="265271" y="93059"/>
                    <a:pt x="243745" y="114681"/>
                    <a:pt x="243745" y="141446"/>
                  </a:cubicBezTo>
                  <a:cubicBezTo>
                    <a:pt x="243745" y="154210"/>
                    <a:pt x="248698" y="165830"/>
                    <a:pt x="256794" y="174498"/>
                  </a:cubicBezTo>
                  <a:cubicBezTo>
                    <a:pt x="257366" y="161830"/>
                    <a:pt x="264700" y="150876"/>
                    <a:pt x="275177" y="145161"/>
                  </a:cubicBezTo>
                  <a:cubicBezTo>
                    <a:pt x="272701" y="141732"/>
                    <a:pt x="271272" y="137541"/>
                    <a:pt x="271272" y="133064"/>
                  </a:cubicBezTo>
                  <a:cubicBezTo>
                    <a:pt x="271272" y="121634"/>
                    <a:pt x="280607" y="112395"/>
                    <a:pt x="292037" y="112395"/>
                  </a:cubicBezTo>
                  <a:cubicBezTo>
                    <a:pt x="303466" y="112395"/>
                    <a:pt x="312801" y="121730"/>
                    <a:pt x="312801" y="133064"/>
                  </a:cubicBezTo>
                  <a:cubicBezTo>
                    <a:pt x="312801" y="137636"/>
                    <a:pt x="311372" y="141827"/>
                    <a:pt x="308896" y="145161"/>
                  </a:cubicBezTo>
                  <a:cubicBezTo>
                    <a:pt x="319469" y="150876"/>
                    <a:pt x="326708" y="161830"/>
                    <a:pt x="327279" y="174498"/>
                  </a:cubicBezTo>
                  <a:lnTo>
                    <a:pt x="327279" y="174498"/>
                  </a:lnTo>
                  <a:close/>
                  <a:moveTo>
                    <a:pt x="201454" y="95060"/>
                  </a:moveTo>
                  <a:cubicBezTo>
                    <a:pt x="201740" y="93440"/>
                    <a:pt x="201835" y="91916"/>
                    <a:pt x="201835" y="90202"/>
                  </a:cubicBezTo>
                  <a:cubicBezTo>
                    <a:pt x="201835" y="78010"/>
                    <a:pt x="194120" y="67628"/>
                    <a:pt x="183261" y="63722"/>
                  </a:cubicBezTo>
                  <a:cubicBezTo>
                    <a:pt x="182118" y="63341"/>
                    <a:pt x="181166" y="62198"/>
                    <a:pt x="180975" y="60960"/>
                  </a:cubicBezTo>
                  <a:cubicBezTo>
                    <a:pt x="180784" y="59722"/>
                    <a:pt x="181261" y="58388"/>
                    <a:pt x="182213" y="57626"/>
                  </a:cubicBezTo>
                  <a:cubicBezTo>
                    <a:pt x="185261" y="55150"/>
                    <a:pt x="187262" y="51340"/>
                    <a:pt x="187262" y="47054"/>
                  </a:cubicBezTo>
                  <a:cubicBezTo>
                    <a:pt x="187262" y="39529"/>
                    <a:pt x="181166" y="33433"/>
                    <a:pt x="173641" y="33433"/>
                  </a:cubicBezTo>
                  <a:cubicBezTo>
                    <a:pt x="166116" y="33433"/>
                    <a:pt x="160020" y="39529"/>
                    <a:pt x="160020" y="47054"/>
                  </a:cubicBezTo>
                  <a:cubicBezTo>
                    <a:pt x="160020" y="51340"/>
                    <a:pt x="162020" y="55150"/>
                    <a:pt x="165068" y="57626"/>
                  </a:cubicBezTo>
                  <a:cubicBezTo>
                    <a:pt x="166021" y="58388"/>
                    <a:pt x="166497" y="59722"/>
                    <a:pt x="166307" y="60960"/>
                  </a:cubicBezTo>
                  <a:cubicBezTo>
                    <a:pt x="166116" y="62198"/>
                    <a:pt x="165259" y="63246"/>
                    <a:pt x="164021" y="63722"/>
                  </a:cubicBezTo>
                  <a:cubicBezTo>
                    <a:pt x="153257" y="67628"/>
                    <a:pt x="145447" y="78010"/>
                    <a:pt x="145447" y="90202"/>
                  </a:cubicBezTo>
                  <a:cubicBezTo>
                    <a:pt x="145447" y="91821"/>
                    <a:pt x="145542" y="93440"/>
                    <a:pt x="145828" y="94964"/>
                  </a:cubicBezTo>
                  <a:lnTo>
                    <a:pt x="145828" y="94964"/>
                  </a:lnTo>
                  <a:cubicBezTo>
                    <a:pt x="153734" y="100489"/>
                    <a:pt x="163259" y="103727"/>
                    <a:pt x="173641" y="103727"/>
                  </a:cubicBezTo>
                  <a:cubicBezTo>
                    <a:pt x="184023" y="103727"/>
                    <a:pt x="193548" y="100489"/>
                    <a:pt x="201359" y="94964"/>
                  </a:cubicBezTo>
                  <a:lnTo>
                    <a:pt x="201359" y="94964"/>
                  </a:lnTo>
                  <a:close/>
                  <a:moveTo>
                    <a:pt x="208979" y="88583"/>
                  </a:moveTo>
                  <a:cubicBezTo>
                    <a:pt x="217075" y="79915"/>
                    <a:pt x="222028" y="68294"/>
                    <a:pt x="222028" y="55435"/>
                  </a:cubicBezTo>
                  <a:cubicBezTo>
                    <a:pt x="222028" y="28766"/>
                    <a:pt x="200406" y="7144"/>
                    <a:pt x="173736" y="7144"/>
                  </a:cubicBezTo>
                  <a:cubicBezTo>
                    <a:pt x="147066" y="7144"/>
                    <a:pt x="125349" y="28766"/>
                    <a:pt x="125349" y="55435"/>
                  </a:cubicBezTo>
                  <a:cubicBezTo>
                    <a:pt x="125349" y="68199"/>
                    <a:pt x="130302" y="79915"/>
                    <a:pt x="138494" y="88583"/>
                  </a:cubicBezTo>
                  <a:cubicBezTo>
                    <a:pt x="139065" y="75914"/>
                    <a:pt x="146399" y="64960"/>
                    <a:pt x="156877" y="59246"/>
                  </a:cubicBezTo>
                  <a:cubicBezTo>
                    <a:pt x="154400" y="55817"/>
                    <a:pt x="152971" y="51626"/>
                    <a:pt x="152971" y="47149"/>
                  </a:cubicBezTo>
                  <a:cubicBezTo>
                    <a:pt x="152971" y="35719"/>
                    <a:pt x="162306" y="26384"/>
                    <a:pt x="173736" y="26384"/>
                  </a:cubicBezTo>
                  <a:cubicBezTo>
                    <a:pt x="185166" y="26384"/>
                    <a:pt x="194501" y="35719"/>
                    <a:pt x="194501" y="47149"/>
                  </a:cubicBezTo>
                  <a:cubicBezTo>
                    <a:pt x="194501" y="51626"/>
                    <a:pt x="193072" y="55912"/>
                    <a:pt x="190595" y="59246"/>
                  </a:cubicBezTo>
                  <a:cubicBezTo>
                    <a:pt x="201073" y="64960"/>
                    <a:pt x="208407" y="75914"/>
                    <a:pt x="208979" y="88583"/>
                  </a:cubicBezTo>
                  <a:lnTo>
                    <a:pt x="208979" y="88583"/>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A9A1A401-1C8C-BE05-5FD9-615B7598D17F}"/>
                </a:ext>
              </a:extLst>
            </p:cNvPr>
            <p:cNvSpPr/>
            <p:nvPr/>
          </p:nvSpPr>
          <p:spPr>
            <a:xfrm>
              <a:off x="5919691" y="3257550"/>
              <a:ext cx="350329" cy="338899"/>
            </a:xfrm>
            <a:custGeom>
              <a:avLst/>
              <a:gdLst>
                <a:gd name="connsiteX0" fmla="*/ 248412 w 350329"/>
                <a:gd name="connsiteY0" fmla="*/ 338900 h 338899"/>
                <a:gd name="connsiteX1" fmla="*/ 191738 w 350329"/>
                <a:gd name="connsiteY1" fmla="*/ 286988 h 338899"/>
                <a:gd name="connsiteX2" fmla="*/ 158782 w 350329"/>
                <a:gd name="connsiteY2" fmla="*/ 286988 h 338899"/>
                <a:gd name="connsiteX3" fmla="*/ 102108 w 350329"/>
                <a:gd name="connsiteY3" fmla="*/ 338900 h 338899"/>
                <a:gd name="connsiteX4" fmla="*/ 45244 w 350329"/>
                <a:gd name="connsiteY4" fmla="*/ 282035 h 338899"/>
                <a:gd name="connsiteX5" fmla="*/ 79820 w 350329"/>
                <a:gd name="connsiteY5" fmla="*/ 229648 h 338899"/>
                <a:gd name="connsiteX6" fmla="*/ 69628 w 350329"/>
                <a:gd name="connsiteY6" fmla="*/ 198311 h 338899"/>
                <a:gd name="connsiteX7" fmla="*/ 56864 w 350329"/>
                <a:gd name="connsiteY7" fmla="*/ 199739 h 338899"/>
                <a:gd name="connsiteX8" fmla="*/ 0 w 350329"/>
                <a:gd name="connsiteY8" fmla="*/ 142875 h 338899"/>
                <a:gd name="connsiteX9" fmla="*/ 56864 w 350329"/>
                <a:gd name="connsiteY9" fmla="*/ 86011 h 338899"/>
                <a:gd name="connsiteX10" fmla="*/ 99727 w 350329"/>
                <a:gd name="connsiteY10" fmla="*/ 105537 h 338899"/>
                <a:gd name="connsiteX11" fmla="*/ 126397 w 350329"/>
                <a:gd name="connsiteY11" fmla="*/ 86106 h 338899"/>
                <a:gd name="connsiteX12" fmla="*/ 118301 w 350329"/>
                <a:gd name="connsiteY12" fmla="*/ 56864 h 338899"/>
                <a:gd name="connsiteX13" fmla="*/ 175165 w 350329"/>
                <a:gd name="connsiteY13" fmla="*/ 0 h 338899"/>
                <a:gd name="connsiteX14" fmla="*/ 232029 w 350329"/>
                <a:gd name="connsiteY14" fmla="*/ 56864 h 338899"/>
                <a:gd name="connsiteX15" fmla="*/ 223933 w 350329"/>
                <a:gd name="connsiteY15" fmla="*/ 86106 h 338899"/>
                <a:gd name="connsiteX16" fmla="*/ 250603 w 350329"/>
                <a:gd name="connsiteY16" fmla="*/ 105537 h 338899"/>
                <a:gd name="connsiteX17" fmla="*/ 293465 w 350329"/>
                <a:gd name="connsiteY17" fmla="*/ 86011 h 338899"/>
                <a:gd name="connsiteX18" fmla="*/ 350330 w 350329"/>
                <a:gd name="connsiteY18" fmla="*/ 142875 h 338899"/>
                <a:gd name="connsiteX19" fmla="*/ 293465 w 350329"/>
                <a:gd name="connsiteY19" fmla="*/ 199739 h 338899"/>
                <a:gd name="connsiteX20" fmla="*/ 280702 w 350329"/>
                <a:gd name="connsiteY20" fmla="*/ 198311 h 338899"/>
                <a:gd name="connsiteX21" fmla="*/ 270510 w 350329"/>
                <a:gd name="connsiteY21" fmla="*/ 229648 h 338899"/>
                <a:gd name="connsiteX22" fmla="*/ 305086 w 350329"/>
                <a:gd name="connsiteY22" fmla="*/ 282035 h 338899"/>
                <a:gd name="connsiteX23" fmla="*/ 248222 w 350329"/>
                <a:gd name="connsiteY23" fmla="*/ 338900 h 338899"/>
                <a:gd name="connsiteX24" fmla="*/ 156115 w 350329"/>
                <a:gd name="connsiteY24" fmla="*/ 284131 h 338899"/>
                <a:gd name="connsiteX25" fmla="*/ 194405 w 350329"/>
                <a:gd name="connsiteY25" fmla="*/ 284131 h 338899"/>
                <a:gd name="connsiteX26" fmla="*/ 194405 w 350329"/>
                <a:gd name="connsiteY26" fmla="*/ 285464 h 338899"/>
                <a:gd name="connsiteX27" fmla="*/ 248412 w 350329"/>
                <a:gd name="connsiteY27" fmla="*/ 336042 h 338899"/>
                <a:gd name="connsiteX28" fmla="*/ 302419 w 350329"/>
                <a:gd name="connsiteY28" fmla="*/ 282035 h 338899"/>
                <a:gd name="connsiteX29" fmla="*/ 268319 w 350329"/>
                <a:gd name="connsiteY29" fmla="*/ 231839 h 338899"/>
                <a:gd name="connsiteX30" fmla="*/ 267081 w 350329"/>
                <a:gd name="connsiteY30" fmla="*/ 231362 h 338899"/>
                <a:gd name="connsiteX31" fmla="*/ 278892 w 350329"/>
                <a:gd name="connsiteY31" fmla="*/ 194881 h 338899"/>
                <a:gd name="connsiteX32" fmla="*/ 280226 w 350329"/>
                <a:gd name="connsiteY32" fmla="*/ 195167 h 338899"/>
                <a:gd name="connsiteX33" fmla="*/ 293561 w 350329"/>
                <a:gd name="connsiteY33" fmla="*/ 196787 h 338899"/>
                <a:gd name="connsiteX34" fmla="*/ 347567 w 350329"/>
                <a:gd name="connsiteY34" fmla="*/ 142780 h 338899"/>
                <a:gd name="connsiteX35" fmla="*/ 293561 w 350329"/>
                <a:gd name="connsiteY35" fmla="*/ 88773 h 338899"/>
                <a:gd name="connsiteX36" fmla="*/ 252032 w 350329"/>
                <a:gd name="connsiteY36" fmla="*/ 108299 h 338899"/>
                <a:gd name="connsiteX37" fmla="*/ 251174 w 350329"/>
                <a:gd name="connsiteY37" fmla="*/ 109347 h 338899"/>
                <a:gd name="connsiteX38" fmla="*/ 220123 w 350329"/>
                <a:gd name="connsiteY38" fmla="*/ 86773 h 338899"/>
                <a:gd name="connsiteX39" fmla="*/ 220885 w 350329"/>
                <a:gd name="connsiteY39" fmla="*/ 85630 h 338899"/>
                <a:gd name="connsiteX40" fmla="*/ 229267 w 350329"/>
                <a:gd name="connsiteY40" fmla="*/ 56769 h 338899"/>
                <a:gd name="connsiteX41" fmla="*/ 175260 w 350329"/>
                <a:gd name="connsiteY41" fmla="*/ 2762 h 338899"/>
                <a:gd name="connsiteX42" fmla="*/ 121253 w 350329"/>
                <a:gd name="connsiteY42" fmla="*/ 56769 h 338899"/>
                <a:gd name="connsiteX43" fmla="*/ 129635 w 350329"/>
                <a:gd name="connsiteY43" fmla="*/ 85630 h 338899"/>
                <a:gd name="connsiteX44" fmla="*/ 130397 w 350329"/>
                <a:gd name="connsiteY44" fmla="*/ 86773 h 338899"/>
                <a:gd name="connsiteX45" fmla="*/ 99441 w 350329"/>
                <a:gd name="connsiteY45" fmla="*/ 109347 h 338899"/>
                <a:gd name="connsiteX46" fmla="*/ 98584 w 350329"/>
                <a:gd name="connsiteY46" fmla="*/ 108299 h 338899"/>
                <a:gd name="connsiteX47" fmla="*/ 57055 w 350329"/>
                <a:gd name="connsiteY47" fmla="*/ 88773 h 338899"/>
                <a:gd name="connsiteX48" fmla="*/ 2953 w 350329"/>
                <a:gd name="connsiteY48" fmla="*/ 142875 h 338899"/>
                <a:gd name="connsiteX49" fmla="*/ 56959 w 350329"/>
                <a:gd name="connsiteY49" fmla="*/ 196882 h 338899"/>
                <a:gd name="connsiteX50" fmla="*/ 70390 w 350329"/>
                <a:gd name="connsiteY50" fmla="*/ 195263 h 338899"/>
                <a:gd name="connsiteX51" fmla="*/ 71723 w 350329"/>
                <a:gd name="connsiteY51" fmla="*/ 194977 h 338899"/>
                <a:gd name="connsiteX52" fmla="*/ 83534 w 350329"/>
                <a:gd name="connsiteY52" fmla="*/ 231458 h 338899"/>
                <a:gd name="connsiteX53" fmla="*/ 82296 w 350329"/>
                <a:gd name="connsiteY53" fmla="*/ 231934 h 338899"/>
                <a:gd name="connsiteX54" fmla="*/ 48292 w 350329"/>
                <a:gd name="connsiteY54" fmla="*/ 282131 h 338899"/>
                <a:gd name="connsiteX55" fmla="*/ 102298 w 350329"/>
                <a:gd name="connsiteY55" fmla="*/ 336137 h 338899"/>
                <a:gd name="connsiteX56" fmla="*/ 156210 w 350329"/>
                <a:gd name="connsiteY56" fmla="*/ 285560 h 338899"/>
                <a:gd name="connsiteX57" fmla="*/ 156210 w 350329"/>
                <a:gd name="connsiteY57" fmla="*/ 284226 h 338899"/>
                <a:gd name="connsiteX58" fmla="*/ 248412 w 350329"/>
                <a:gd name="connsiteY58" fmla="*/ 331851 h 338899"/>
                <a:gd name="connsiteX59" fmla="*/ 219837 w 350329"/>
                <a:gd name="connsiteY59" fmla="*/ 322802 h 338899"/>
                <a:gd name="connsiteX60" fmla="*/ 219266 w 350329"/>
                <a:gd name="connsiteY60" fmla="*/ 322421 h 338899"/>
                <a:gd name="connsiteX61" fmla="*/ 219266 w 350329"/>
                <a:gd name="connsiteY61" fmla="*/ 321659 h 338899"/>
                <a:gd name="connsiteX62" fmla="*/ 218885 w 350329"/>
                <a:gd name="connsiteY62" fmla="*/ 316801 h 338899"/>
                <a:gd name="connsiteX63" fmla="*/ 238316 w 350329"/>
                <a:gd name="connsiteY63" fmla="*/ 288989 h 338899"/>
                <a:gd name="connsiteX64" fmla="*/ 239649 w 350329"/>
                <a:gd name="connsiteY64" fmla="*/ 287369 h 338899"/>
                <a:gd name="connsiteX65" fmla="*/ 238887 w 350329"/>
                <a:gd name="connsiteY65" fmla="*/ 285369 h 338899"/>
                <a:gd name="connsiteX66" fmla="*/ 233363 w 350329"/>
                <a:gd name="connsiteY66" fmla="*/ 273653 h 338899"/>
                <a:gd name="connsiteX67" fmla="*/ 248412 w 350329"/>
                <a:gd name="connsiteY67" fmla="*/ 258604 h 338899"/>
                <a:gd name="connsiteX68" fmla="*/ 263462 w 350329"/>
                <a:gd name="connsiteY68" fmla="*/ 273653 h 338899"/>
                <a:gd name="connsiteX69" fmla="*/ 257937 w 350329"/>
                <a:gd name="connsiteY69" fmla="*/ 285369 h 338899"/>
                <a:gd name="connsiteX70" fmla="*/ 257175 w 350329"/>
                <a:gd name="connsiteY70" fmla="*/ 287369 h 338899"/>
                <a:gd name="connsiteX71" fmla="*/ 258508 w 350329"/>
                <a:gd name="connsiteY71" fmla="*/ 288989 h 338899"/>
                <a:gd name="connsiteX72" fmla="*/ 278035 w 350329"/>
                <a:gd name="connsiteY72" fmla="*/ 316801 h 338899"/>
                <a:gd name="connsiteX73" fmla="*/ 277654 w 350329"/>
                <a:gd name="connsiteY73" fmla="*/ 321850 h 338899"/>
                <a:gd name="connsiteX74" fmla="*/ 277654 w 350329"/>
                <a:gd name="connsiteY74" fmla="*/ 322612 h 338899"/>
                <a:gd name="connsiteX75" fmla="*/ 277082 w 350329"/>
                <a:gd name="connsiteY75" fmla="*/ 322802 h 338899"/>
                <a:gd name="connsiteX76" fmla="*/ 248507 w 350329"/>
                <a:gd name="connsiteY76" fmla="*/ 331851 h 338899"/>
                <a:gd name="connsiteX77" fmla="*/ 221933 w 350329"/>
                <a:gd name="connsiteY77" fmla="*/ 320802 h 338899"/>
                <a:gd name="connsiteX78" fmla="*/ 248412 w 350329"/>
                <a:gd name="connsiteY78" fmla="*/ 328994 h 338899"/>
                <a:gd name="connsiteX79" fmla="*/ 274892 w 350329"/>
                <a:gd name="connsiteY79" fmla="*/ 320802 h 338899"/>
                <a:gd name="connsiteX80" fmla="*/ 275177 w 350329"/>
                <a:gd name="connsiteY80" fmla="*/ 316801 h 338899"/>
                <a:gd name="connsiteX81" fmla="*/ 257556 w 350329"/>
                <a:gd name="connsiteY81" fmla="*/ 291656 h 338899"/>
                <a:gd name="connsiteX82" fmla="*/ 254318 w 350329"/>
                <a:gd name="connsiteY82" fmla="*/ 287750 h 338899"/>
                <a:gd name="connsiteX83" fmla="*/ 256032 w 350329"/>
                <a:gd name="connsiteY83" fmla="*/ 283083 h 338899"/>
                <a:gd name="connsiteX84" fmla="*/ 260509 w 350329"/>
                <a:gd name="connsiteY84" fmla="*/ 273653 h 338899"/>
                <a:gd name="connsiteX85" fmla="*/ 248317 w 350329"/>
                <a:gd name="connsiteY85" fmla="*/ 261461 h 338899"/>
                <a:gd name="connsiteX86" fmla="*/ 236125 w 350329"/>
                <a:gd name="connsiteY86" fmla="*/ 273653 h 338899"/>
                <a:gd name="connsiteX87" fmla="*/ 240602 w 350329"/>
                <a:gd name="connsiteY87" fmla="*/ 283083 h 338899"/>
                <a:gd name="connsiteX88" fmla="*/ 242316 w 350329"/>
                <a:gd name="connsiteY88" fmla="*/ 287750 h 338899"/>
                <a:gd name="connsiteX89" fmla="*/ 239173 w 350329"/>
                <a:gd name="connsiteY89" fmla="*/ 291560 h 338899"/>
                <a:gd name="connsiteX90" fmla="*/ 221552 w 350329"/>
                <a:gd name="connsiteY90" fmla="*/ 316706 h 338899"/>
                <a:gd name="connsiteX91" fmla="*/ 221837 w 350329"/>
                <a:gd name="connsiteY91" fmla="*/ 320707 h 338899"/>
                <a:gd name="connsiteX92" fmla="*/ 102108 w 350329"/>
                <a:gd name="connsiteY92" fmla="*/ 331851 h 338899"/>
                <a:gd name="connsiteX93" fmla="*/ 73533 w 350329"/>
                <a:gd name="connsiteY93" fmla="*/ 322802 h 338899"/>
                <a:gd name="connsiteX94" fmla="*/ 72962 w 350329"/>
                <a:gd name="connsiteY94" fmla="*/ 322421 h 338899"/>
                <a:gd name="connsiteX95" fmla="*/ 72962 w 350329"/>
                <a:gd name="connsiteY95" fmla="*/ 321659 h 338899"/>
                <a:gd name="connsiteX96" fmla="*/ 72581 w 350329"/>
                <a:gd name="connsiteY96" fmla="*/ 316801 h 338899"/>
                <a:gd name="connsiteX97" fmla="*/ 92012 w 350329"/>
                <a:gd name="connsiteY97" fmla="*/ 288989 h 338899"/>
                <a:gd name="connsiteX98" fmla="*/ 93345 w 350329"/>
                <a:gd name="connsiteY98" fmla="*/ 287369 h 338899"/>
                <a:gd name="connsiteX99" fmla="*/ 92583 w 350329"/>
                <a:gd name="connsiteY99" fmla="*/ 285369 h 338899"/>
                <a:gd name="connsiteX100" fmla="*/ 87059 w 350329"/>
                <a:gd name="connsiteY100" fmla="*/ 273653 h 338899"/>
                <a:gd name="connsiteX101" fmla="*/ 102108 w 350329"/>
                <a:gd name="connsiteY101" fmla="*/ 258604 h 338899"/>
                <a:gd name="connsiteX102" fmla="*/ 117158 w 350329"/>
                <a:gd name="connsiteY102" fmla="*/ 273653 h 338899"/>
                <a:gd name="connsiteX103" fmla="*/ 111633 w 350329"/>
                <a:gd name="connsiteY103" fmla="*/ 285369 h 338899"/>
                <a:gd name="connsiteX104" fmla="*/ 110871 w 350329"/>
                <a:gd name="connsiteY104" fmla="*/ 287369 h 338899"/>
                <a:gd name="connsiteX105" fmla="*/ 112205 w 350329"/>
                <a:gd name="connsiteY105" fmla="*/ 288989 h 338899"/>
                <a:gd name="connsiteX106" fmla="*/ 131731 w 350329"/>
                <a:gd name="connsiteY106" fmla="*/ 316801 h 338899"/>
                <a:gd name="connsiteX107" fmla="*/ 131350 w 350329"/>
                <a:gd name="connsiteY107" fmla="*/ 321850 h 338899"/>
                <a:gd name="connsiteX108" fmla="*/ 131350 w 350329"/>
                <a:gd name="connsiteY108" fmla="*/ 322326 h 338899"/>
                <a:gd name="connsiteX109" fmla="*/ 130778 w 350329"/>
                <a:gd name="connsiteY109" fmla="*/ 322802 h 338899"/>
                <a:gd name="connsiteX110" fmla="*/ 102203 w 350329"/>
                <a:gd name="connsiteY110" fmla="*/ 331851 h 338899"/>
                <a:gd name="connsiteX111" fmla="*/ 75724 w 350329"/>
                <a:gd name="connsiteY111" fmla="*/ 320802 h 338899"/>
                <a:gd name="connsiteX112" fmla="*/ 102203 w 350329"/>
                <a:gd name="connsiteY112" fmla="*/ 328994 h 338899"/>
                <a:gd name="connsiteX113" fmla="*/ 128683 w 350329"/>
                <a:gd name="connsiteY113" fmla="*/ 320802 h 338899"/>
                <a:gd name="connsiteX114" fmla="*/ 128969 w 350329"/>
                <a:gd name="connsiteY114" fmla="*/ 316801 h 338899"/>
                <a:gd name="connsiteX115" fmla="*/ 111347 w 350329"/>
                <a:gd name="connsiteY115" fmla="*/ 291656 h 338899"/>
                <a:gd name="connsiteX116" fmla="*/ 108109 w 350329"/>
                <a:gd name="connsiteY116" fmla="*/ 287846 h 338899"/>
                <a:gd name="connsiteX117" fmla="*/ 109823 w 350329"/>
                <a:gd name="connsiteY117" fmla="*/ 283178 h 338899"/>
                <a:gd name="connsiteX118" fmla="*/ 114300 w 350329"/>
                <a:gd name="connsiteY118" fmla="*/ 273749 h 338899"/>
                <a:gd name="connsiteX119" fmla="*/ 102108 w 350329"/>
                <a:gd name="connsiteY119" fmla="*/ 261556 h 338899"/>
                <a:gd name="connsiteX120" fmla="*/ 89916 w 350329"/>
                <a:gd name="connsiteY120" fmla="*/ 273749 h 338899"/>
                <a:gd name="connsiteX121" fmla="*/ 94393 w 350329"/>
                <a:gd name="connsiteY121" fmla="*/ 283178 h 338899"/>
                <a:gd name="connsiteX122" fmla="*/ 96107 w 350329"/>
                <a:gd name="connsiteY122" fmla="*/ 287846 h 338899"/>
                <a:gd name="connsiteX123" fmla="*/ 92964 w 350329"/>
                <a:gd name="connsiteY123" fmla="*/ 291656 h 338899"/>
                <a:gd name="connsiteX124" fmla="*/ 75343 w 350329"/>
                <a:gd name="connsiteY124" fmla="*/ 316801 h 338899"/>
                <a:gd name="connsiteX125" fmla="*/ 75629 w 350329"/>
                <a:gd name="connsiteY125" fmla="*/ 320802 h 338899"/>
                <a:gd name="connsiteX126" fmla="*/ 214408 w 350329"/>
                <a:gd name="connsiteY126" fmla="*/ 318611 h 338899"/>
                <a:gd name="connsiteX127" fmla="*/ 212122 w 350329"/>
                <a:gd name="connsiteY127" fmla="*/ 316135 h 338899"/>
                <a:gd name="connsiteX128" fmla="*/ 198596 w 350329"/>
                <a:gd name="connsiteY128" fmla="*/ 282035 h 338899"/>
                <a:gd name="connsiteX129" fmla="*/ 248317 w 350329"/>
                <a:gd name="connsiteY129" fmla="*/ 232315 h 338899"/>
                <a:gd name="connsiteX130" fmla="*/ 298133 w 350329"/>
                <a:gd name="connsiteY130" fmla="*/ 282035 h 338899"/>
                <a:gd name="connsiteX131" fmla="*/ 284607 w 350329"/>
                <a:gd name="connsiteY131" fmla="*/ 316135 h 338899"/>
                <a:gd name="connsiteX132" fmla="*/ 282321 w 350329"/>
                <a:gd name="connsiteY132" fmla="*/ 318611 h 338899"/>
                <a:gd name="connsiteX133" fmla="*/ 282131 w 350329"/>
                <a:gd name="connsiteY133" fmla="*/ 315278 h 338899"/>
                <a:gd name="connsiteX134" fmla="*/ 264414 w 350329"/>
                <a:gd name="connsiteY134" fmla="*/ 287084 h 338899"/>
                <a:gd name="connsiteX135" fmla="*/ 262985 w 350329"/>
                <a:gd name="connsiteY135" fmla="*/ 286322 h 338899"/>
                <a:gd name="connsiteX136" fmla="*/ 263938 w 350329"/>
                <a:gd name="connsiteY136" fmla="*/ 284988 h 338899"/>
                <a:gd name="connsiteX137" fmla="*/ 267557 w 350329"/>
                <a:gd name="connsiteY137" fmla="*/ 273653 h 338899"/>
                <a:gd name="connsiteX138" fmla="*/ 248222 w 350329"/>
                <a:gd name="connsiteY138" fmla="*/ 254318 h 338899"/>
                <a:gd name="connsiteX139" fmla="*/ 228886 w 350329"/>
                <a:gd name="connsiteY139" fmla="*/ 273653 h 338899"/>
                <a:gd name="connsiteX140" fmla="*/ 232505 w 350329"/>
                <a:gd name="connsiteY140" fmla="*/ 284988 h 338899"/>
                <a:gd name="connsiteX141" fmla="*/ 233458 w 350329"/>
                <a:gd name="connsiteY141" fmla="*/ 286322 h 338899"/>
                <a:gd name="connsiteX142" fmla="*/ 232029 w 350329"/>
                <a:gd name="connsiteY142" fmla="*/ 287084 h 338899"/>
                <a:gd name="connsiteX143" fmla="*/ 214408 w 350329"/>
                <a:gd name="connsiteY143" fmla="*/ 315278 h 338899"/>
                <a:gd name="connsiteX144" fmla="*/ 214217 w 350329"/>
                <a:gd name="connsiteY144" fmla="*/ 318611 h 338899"/>
                <a:gd name="connsiteX145" fmla="*/ 267272 w 350329"/>
                <a:gd name="connsiteY145" fmla="*/ 285274 h 338899"/>
                <a:gd name="connsiteX146" fmla="*/ 284702 w 350329"/>
                <a:gd name="connsiteY146" fmla="*/ 311658 h 338899"/>
                <a:gd name="connsiteX147" fmla="*/ 295275 w 350329"/>
                <a:gd name="connsiteY147" fmla="*/ 281940 h 338899"/>
                <a:gd name="connsiteX148" fmla="*/ 248412 w 350329"/>
                <a:gd name="connsiteY148" fmla="*/ 235077 h 338899"/>
                <a:gd name="connsiteX149" fmla="*/ 201549 w 350329"/>
                <a:gd name="connsiteY149" fmla="*/ 281940 h 338899"/>
                <a:gd name="connsiteX150" fmla="*/ 212122 w 350329"/>
                <a:gd name="connsiteY150" fmla="*/ 311658 h 338899"/>
                <a:gd name="connsiteX151" fmla="*/ 229648 w 350329"/>
                <a:gd name="connsiteY151" fmla="*/ 285274 h 338899"/>
                <a:gd name="connsiteX152" fmla="*/ 226314 w 350329"/>
                <a:gd name="connsiteY152" fmla="*/ 273653 h 338899"/>
                <a:gd name="connsiteX153" fmla="*/ 248507 w 350329"/>
                <a:gd name="connsiteY153" fmla="*/ 251460 h 338899"/>
                <a:gd name="connsiteX154" fmla="*/ 270701 w 350329"/>
                <a:gd name="connsiteY154" fmla="*/ 273653 h 338899"/>
                <a:gd name="connsiteX155" fmla="*/ 267367 w 350329"/>
                <a:gd name="connsiteY155" fmla="*/ 285274 h 338899"/>
                <a:gd name="connsiteX156" fmla="*/ 136112 w 350329"/>
                <a:gd name="connsiteY156" fmla="*/ 318611 h 338899"/>
                <a:gd name="connsiteX157" fmla="*/ 135922 w 350329"/>
                <a:gd name="connsiteY157" fmla="*/ 315278 h 338899"/>
                <a:gd name="connsiteX158" fmla="*/ 118301 w 350329"/>
                <a:gd name="connsiteY158" fmla="*/ 287084 h 338899"/>
                <a:gd name="connsiteX159" fmla="*/ 116872 w 350329"/>
                <a:gd name="connsiteY159" fmla="*/ 286322 h 338899"/>
                <a:gd name="connsiteX160" fmla="*/ 117824 w 350329"/>
                <a:gd name="connsiteY160" fmla="*/ 284988 h 338899"/>
                <a:gd name="connsiteX161" fmla="*/ 121444 w 350329"/>
                <a:gd name="connsiteY161" fmla="*/ 273653 h 338899"/>
                <a:gd name="connsiteX162" fmla="*/ 102108 w 350329"/>
                <a:gd name="connsiteY162" fmla="*/ 254318 h 338899"/>
                <a:gd name="connsiteX163" fmla="*/ 82772 w 350329"/>
                <a:gd name="connsiteY163" fmla="*/ 273653 h 338899"/>
                <a:gd name="connsiteX164" fmla="*/ 86392 w 350329"/>
                <a:gd name="connsiteY164" fmla="*/ 284988 h 338899"/>
                <a:gd name="connsiteX165" fmla="*/ 87344 w 350329"/>
                <a:gd name="connsiteY165" fmla="*/ 286322 h 338899"/>
                <a:gd name="connsiteX166" fmla="*/ 85916 w 350329"/>
                <a:gd name="connsiteY166" fmla="*/ 287084 h 338899"/>
                <a:gd name="connsiteX167" fmla="*/ 68199 w 350329"/>
                <a:gd name="connsiteY167" fmla="*/ 315278 h 338899"/>
                <a:gd name="connsiteX168" fmla="*/ 68009 w 350329"/>
                <a:gd name="connsiteY168" fmla="*/ 318611 h 338899"/>
                <a:gd name="connsiteX169" fmla="*/ 65723 w 350329"/>
                <a:gd name="connsiteY169" fmla="*/ 316135 h 338899"/>
                <a:gd name="connsiteX170" fmla="*/ 52197 w 350329"/>
                <a:gd name="connsiteY170" fmla="*/ 282035 h 338899"/>
                <a:gd name="connsiteX171" fmla="*/ 101917 w 350329"/>
                <a:gd name="connsiteY171" fmla="*/ 232315 h 338899"/>
                <a:gd name="connsiteX172" fmla="*/ 151638 w 350329"/>
                <a:gd name="connsiteY172" fmla="*/ 282035 h 338899"/>
                <a:gd name="connsiteX173" fmla="*/ 138113 w 350329"/>
                <a:gd name="connsiteY173" fmla="*/ 316135 h 338899"/>
                <a:gd name="connsiteX174" fmla="*/ 135827 w 350329"/>
                <a:gd name="connsiteY174" fmla="*/ 318611 h 338899"/>
                <a:gd name="connsiteX175" fmla="*/ 102108 w 350329"/>
                <a:gd name="connsiteY175" fmla="*/ 235077 h 338899"/>
                <a:gd name="connsiteX176" fmla="*/ 55245 w 350329"/>
                <a:gd name="connsiteY176" fmla="*/ 281940 h 338899"/>
                <a:gd name="connsiteX177" fmla="*/ 65818 w 350329"/>
                <a:gd name="connsiteY177" fmla="*/ 311658 h 338899"/>
                <a:gd name="connsiteX178" fmla="*/ 83344 w 350329"/>
                <a:gd name="connsiteY178" fmla="*/ 285274 h 338899"/>
                <a:gd name="connsiteX179" fmla="*/ 80010 w 350329"/>
                <a:gd name="connsiteY179" fmla="*/ 273653 h 338899"/>
                <a:gd name="connsiteX180" fmla="*/ 102203 w 350329"/>
                <a:gd name="connsiteY180" fmla="*/ 251460 h 338899"/>
                <a:gd name="connsiteX181" fmla="*/ 124397 w 350329"/>
                <a:gd name="connsiteY181" fmla="*/ 273653 h 338899"/>
                <a:gd name="connsiteX182" fmla="*/ 121063 w 350329"/>
                <a:gd name="connsiteY182" fmla="*/ 285274 h 338899"/>
                <a:gd name="connsiteX183" fmla="*/ 138589 w 350329"/>
                <a:gd name="connsiteY183" fmla="*/ 311658 h 338899"/>
                <a:gd name="connsiteX184" fmla="*/ 149162 w 350329"/>
                <a:gd name="connsiteY184" fmla="*/ 281940 h 338899"/>
                <a:gd name="connsiteX185" fmla="*/ 102298 w 350329"/>
                <a:gd name="connsiteY185" fmla="*/ 235077 h 338899"/>
                <a:gd name="connsiteX186" fmla="*/ 194405 w 350329"/>
                <a:gd name="connsiteY186" fmla="*/ 279940 h 338899"/>
                <a:gd name="connsiteX187" fmla="*/ 156115 w 350329"/>
                <a:gd name="connsiteY187" fmla="*/ 279940 h 338899"/>
                <a:gd name="connsiteX188" fmla="*/ 156115 w 350329"/>
                <a:gd name="connsiteY188" fmla="*/ 278606 h 338899"/>
                <a:gd name="connsiteX189" fmla="*/ 102108 w 350329"/>
                <a:gd name="connsiteY189" fmla="*/ 228029 h 338899"/>
                <a:gd name="connsiteX190" fmla="*/ 88773 w 350329"/>
                <a:gd name="connsiteY190" fmla="*/ 229648 h 338899"/>
                <a:gd name="connsiteX191" fmla="*/ 87440 w 350329"/>
                <a:gd name="connsiteY191" fmla="*/ 229934 h 338899"/>
                <a:gd name="connsiteX192" fmla="*/ 75629 w 350329"/>
                <a:gd name="connsiteY192" fmla="*/ 193453 h 338899"/>
                <a:gd name="connsiteX193" fmla="*/ 76867 w 350329"/>
                <a:gd name="connsiteY193" fmla="*/ 192977 h 338899"/>
                <a:gd name="connsiteX194" fmla="*/ 110966 w 350329"/>
                <a:gd name="connsiteY194" fmla="*/ 142780 h 338899"/>
                <a:gd name="connsiteX195" fmla="*/ 102584 w 350329"/>
                <a:gd name="connsiteY195" fmla="*/ 113919 h 338899"/>
                <a:gd name="connsiteX196" fmla="*/ 101822 w 350329"/>
                <a:gd name="connsiteY196" fmla="*/ 112776 h 338899"/>
                <a:gd name="connsiteX197" fmla="*/ 132779 w 350329"/>
                <a:gd name="connsiteY197" fmla="*/ 90202 h 338899"/>
                <a:gd name="connsiteX198" fmla="*/ 133636 w 350329"/>
                <a:gd name="connsiteY198" fmla="*/ 91250 h 338899"/>
                <a:gd name="connsiteX199" fmla="*/ 175165 w 350329"/>
                <a:gd name="connsiteY199" fmla="*/ 110776 h 338899"/>
                <a:gd name="connsiteX200" fmla="*/ 216694 w 350329"/>
                <a:gd name="connsiteY200" fmla="*/ 91250 h 338899"/>
                <a:gd name="connsiteX201" fmla="*/ 217551 w 350329"/>
                <a:gd name="connsiteY201" fmla="*/ 90202 h 338899"/>
                <a:gd name="connsiteX202" fmla="*/ 248507 w 350329"/>
                <a:gd name="connsiteY202" fmla="*/ 112776 h 338899"/>
                <a:gd name="connsiteX203" fmla="*/ 247745 w 350329"/>
                <a:gd name="connsiteY203" fmla="*/ 113919 h 338899"/>
                <a:gd name="connsiteX204" fmla="*/ 239363 w 350329"/>
                <a:gd name="connsiteY204" fmla="*/ 142780 h 338899"/>
                <a:gd name="connsiteX205" fmla="*/ 273368 w 350329"/>
                <a:gd name="connsiteY205" fmla="*/ 192977 h 338899"/>
                <a:gd name="connsiteX206" fmla="*/ 274606 w 350329"/>
                <a:gd name="connsiteY206" fmla="*/ 193453 h 338899"/>
                <a:gd name="connsiteX207" fmla="*/ 262795 w 350329"/>
                <a:gd name="connsiteY207" fmla="*/ 229934 h 338899"/>
                <a:gd name="connsiteX208" fmla="*/ 261461 w 350329"/>
                <a:gd name="connsiteY208" fmla="*/ 229648 h 338899"/>
                <a:gd name="connsiteX209" fmla="*/ 248031 w 350329"/>
                <a:gd name="connsiteY209" fmla="*/ 228029 h 338899"/>
                <a:gd name="connsiteX210" fmla="*/ 194120 w 350329"/>
                <a:gd name="connsiteY210" fmla="*/ 278606 h 338899"/>
                <a:gd name="connsiteX211" fmla="*/ 194120 w 350329"/>
                <a:gd name="connsiteY211" fmla="*/ 279940 h 338899"/>
                <a:gd name="connsiteX212" fmla="*/ 158782 w 350329"/>
                <a:gd name="connsiteY212" fmla="*/ 277082 h 338899"/>
                <a:gd name="connsiteX213" fmla="*/ 191738 w 350329"/>
                <a:gd name="connsiteY213" fmla="*/ 277082 h 338899"/>
                <a:gd name="connsiteX214" fmla="*/ 248412 w 350329"/>
                <a:gd name="connsiteY214" fmla="*/ 225171 h 338899"/>
                <a:gd name="connsiteX215" fmla="*/ 261176 w 350329"/>
                <a:gd name="connsiteY215" fmla="*/ 226600 h 338899"/>
                <a:gd name="connsiteX216" fmla="*/ 271367 w 350329"/>
                <a:gd name="connsiteY216" fmla="*/ 195263 h 338899"/>
                <a:gd name="connsiteX217" fmla="*/ 236792 w 350329"/>
                <a:gd name="connsiteY217" fmla="*/ 142875 h 338899"/>
                <a:gd name="connsiteX218" fmla="*/ 244888 w 350329"/>
                <a:gd name="connsiteY218" fmla="*/ 113633 h 338899"/>
                <a:gd name="connsiteX219" fmla="*/ 218218 w 350329"/>
                <a:gd name="connsiteY219" fmla="*/ 94202 h 338899"/>
                <a:gd name="connsiteX220" fmla="*/ 175355 w 350329"/>
                <a:gd name="connsiteY220" fmla="*/ 113728 h 338899"/>
                <a:gd name="connsiteX221" fmla="*/ 132493 w 350329"/>
                <a:gd name="connsiteY221" fmla="*/ 94202 h 338899"/>
                <a:gd name="connsiteX222" fmla="*/ 105823 w 350329"/>
                <a:gd name="connsiteY222" fmla="*/ 113633 h 338899"/>
                <a:gd name="connsiteX223" fmla="*/ 113919 w 350329"/>
                <a:gd name="connsiteY223" fmla="*/ 142875 h 338899"/>
                <a:gd name="connsiteX224" fmla="*/ 79343 w 350329"/>
                <a:gd name="connsiteY224" fmla="*/ 195263 h 338899"/>
                <a:gd name="connsiteX225" fmla="*/ 89535 w 350329"/>
                <a:gd name="connsiteY225" fmla="*/ 226600 h 338899"/>
                <a:gd name="connsiteX226" fmla="*/ 102298 w 350329"/>
                <a:gd name="connsiteY226" fmla="*/ 225171 h 338899"/>
                <a:gd name="connsiteX227" fmla="*/ 158972 w 350329"/>
                <a:gd name="connsiteY227" fmla="*/ 277082 h 338899"/>
                <a:gd name="connsiteX228" fmla="*/ 293561 w 350329"/>
                <a:gd name="connsiteY228" fmla="*/ 192596 h 338899"/>
                <a:gd name="connsiteX229" fmla="*/ 264986 w 350329"/>
                <a:gd name="connsiteY229" fmla="*/ 183547 h 338899"/>
                <a:gd name="connsiteX230" fmla="*/ 264509 w 350329"/>
                <a:gd name="connsiteY230" fmla="*/ 183166 h 338899"/>
                <a:gd name="connsiteX231" fmla="*/ 264509 w 350329"/>
                <a:gd name="connsiteY231" fmla="*/ 182594 h 338899"/>
                <a:gd name="connsiteX232" fmla="*/ 263938 w 350329"/>
                <a:gd name="connsiteY232" fmla="*/ 177546 h 338899"/>
                <a:gd name="connsiteX233" fmla="*/ 283464 w 350329"/>
                <a:gd name="connsiteY233" fmla="*/ 149733 h 338899"/>
                <a:gd name="connsiteX234" fmla="*/ 284798 w 350329"/>
                <a:gd name="connsiteY234" fmla="*/ 148114 h 338899"/>
                <a:gd name="connsiteX235" fmla="*/ 284036 w 350329"/>
                <a:gd name="connsiteY235" fmla="*/ 146114 h 338899"/>
                <a:gd name="connsiteX236" fmla="*/ 278511 w 350329"/>
                <a:gd name="connsiteY236" fmla="*/ 134398 h 338899"/>
                <a:gd name="connsiteX237" fmla="*/ 293561 w 350329"/>
                <a:gd name="connsiteY237" fmla="*/ 119348 h 338899"/>
                <a:gd name="connsiteX238" fmla="*/ 308610 w 350329"/>
                <a:gd name="connsiteY238" fmla="*/ 134398 h 338899"/>
                <a:gd name="connsiteX239" fmla="*/ 303086 w 350329"/>
                <a:gd name="connsiteY239" fmla="*/ 146114 h 338899"/>
                <a:gd name="connsiteX240" fmla="*/ 302324 w 350329"/>
                <a:gd name="connsiteY240" fmla="*/ 148114 h 338899"/>
                <a:gd name="connsiteX241" fmla="*/ 303752 w 350329"/>
                <a:gd name="connsiteY241" fmla="*/ 149733 h 338899"/>
                <a:gd name="connsiteX242" fmla="*/ 323183 w 350329"/>
                <a:gd name="connsiteY242" fmla="*/ 177546 h 338899"/>
                <a:gd name="connsiteX243" fmla="*/ 322707 w 350329"/>
                <a:gd name="connsiteY243" fmla="*/ 182594 h 338899"/>
                <a:gd name="connsiteX244" fmla="*/ 322707 w 350329"/>
                <a:gd name="connsiteY244" fmla="*/ 183166 h 338899"/>
                <a:gd name="connsiteX245" fmla="*/ 322136 w 350329"/>
                <a:gd name="connsiteY245" fmla="*/ 183547 h 338899"/>
                <a:gd name="connsiteX246" fmla="*/ 293561 w 350329"/>
                <a:gd name="connsiteY246" fmla="*/ 192596 h 338899"/>
                <a:gd name="connsiteX247" fmla="*/ 267176 w 350329"/>
                <a:gd name="connsiteY247" fmla="*/ 181642 h 338899"/>
                <a:gd name="connsiteX248" fmla="*/ 293656 w 350329"/>
                <a:gd name="connsiteY248" fmla="*/ 189833 h 338899"/>
                <a:gd name="connsiteX249" fmla="*/ 320135 w 350329"/>
                <a:gd name="connsiteY249" fmla="*/ 181642 h 338899"/>
                <a:gd name="connsiteX250" fmla="*/ 320421 w 350329"/>
                <a:gd name="connsiteY250" fmla="*/ 177641 h 338899"/>
                <a:gd name="connsiteX251" fmla="*/ 302800 w 350329"/>
                <a:gd name="connsiteY251" fmla="*/ 152495 h 338899"/>
                <a:gd name="connsiteX252" fmla="*/ 299561 w 350329"/>
                <a:gd name="connsiteY252" fmla="*/ 148685 h 338899"/>
                <a:gd name="connsiteX253" fmla="*/ 301276 w 350329"/>
                <a:gd name="connsiteY253" fmla="*/ 144018 h 338899"/>
                <a:gd name="connsiteX254" fmla="*/ 305753 w 350329"/>
                <a:gd name="connsiteY254" fmla="*/ 134493 h 338899"/>
                <a:gd name="connsiteX255" fmla="*/ 293561 w 350329"/>
                <a:gd name="connsiteY255" fmla="*/ 122301 h 338899"/>
                <a:gd name="connsiteX256" fmla="*/ 281369 w 350329"/>
                <a:gd name="connsiteY256" fmla="*/ 134493 h 338899"/>
                <a:gd name="connsiteX257" fmla="*/ 285845 w 350329"/>
                <a:gd name="connsiteY257" fmla="*/ 144018 h 338899"/>
                <a:gd name="connsiteX258" fmla="*/ 287560 w 350329"/>
                <a:gd name="connsiteY258" fmla="*/ 148685 h 338899"/>
                <a:gd name="connsiteX259" fmla="*/ 284417 w 350329"/>
                <a:gd name="connsiteY259" fmla="*/ 152495 h 338899"/>
                <a:gd name="connsiteX260" fmla="*/ 266795 w 350329"/>
                <a:gd name="connsiteY260" fmla="*/ 177641 h 338899"/>
                <a:gd name="connsiteX261" fmla="*/ 267081 w 350329"/>
                <a:gd name="connsiteY261" fmla="*/ 181642 h 338899"/>
                <a:gd name="connsiteX262" fmla="*/ 56959 w 350329"/>
                <a:gd name="connsiteY262" fmla="*/ 192596 h 338899"/>
                <a:gd name="connsiteX263" fmla="*/ 28766 w 350329"/>
                <a:gd name="connsiteY263" fmla="*/ 183833 h 338899"/>
                <a:gd name="connsiteX264" fmla="*/ 28480 w 350329"/>
                <a:gd name="connsiteY264" fmla="*/ 183642 h 338899"/>
                <a:gd name="connsiteX265" fmla="*/ 28099 w 350329"/>
                <a:gd name="connsiteY265" fmla="*/ 182785 h 338899"/>
                <a:gd name="connsiteX266" fmla="*/ 27623 w 350329"/>
                <a:gd name="connsiteY266" fmla="*/ 177641 h 338899"/>
                <a:gd name="connsiteX267" fmla="*/ 47054 w 350329"/>
                <a:gd name="connsiteY267" fmla="*/ 149828 h 338899"/>
                <a:gd name="connsiteX268" fmla="*/ 48387 w 350329"/>
                <a:gd name="connsiteY268" fmla="*/ 148209 h 338899"/>
                <a:gd name="connsiteX269" fmla="*/ 47625 w 350329"/>
                <a:gd name="connsiteY269" fmla="*/ 146209 h 338899"/>
                <a:gd name="connsiteX270" fmla="*/ 42101 w 350329"/>
                <a:gd name="connsiteY270" fmla="*/ 134493 h 338899"/>
                <a:gd name="connsiteX271" fmla="*/ 57150 w 350329"/>
                <a:gd name="connsiteY271" fmla="*/ 119444 h 338899"/>
                <a:gd name="connsiteX272" fmla="*/ 72200 w 350329"/>
                <a:gd name="connsiteY272" fmla="*/ 134493 h 338899"/>
                <a:gd name="connsiteX273" fmla="*/ 66675 w 350329"/>
                <a:gd name="connsiteY273" fmla="*/ 146209 h 338899"/>
                <a:gd name="connsiteX274" fmla="*/ 65913 w 350329"/>
                <a:gd name="connsiteY274" fmla="*/ 148209 h 338899"/>
                <a:gd name="connsiteX275" fmla="*/ 67342 w 350329"/>
                <a:gd name="connsiteY275" fmla="*/ 149828 h 338899"/>
                <a:gd name="connsiteX276" fmla="*/ 86773 w 350329"/>
                <a:gd name="connsiteY276" fmla="*/ 177641 h 338899"/>
                <a:gd name="connsiteX277" fmla="*/ 86392 w 350329"/>
                <a:gd name="connsiteY277" fmla="*/ 182499 h 338899"/>
                <a:gd name="connsiteX278" fmla="*/ 86392 w 350329"/>
                <a:gd name="connsiteY278" fmla="*/ 183071 h 338899"/>
                <a:gd name="connsiteX279" fmla="*/ 85820 w 350329"/>
                <a:gd name="connsiteY279" fmla="*/ 183452 h 338899"/>
                <a:gd name="connsiteX280" fmla="*/ 56959 w 350329"/>
                <a:gd name="connsiteY280" fmla="*/ 192691 h 338899"/>
                <a:gd name="connsiteX281" fmla="*/ 30766 w 350329"/>
                <a:gd name="connsiteY281" fmla="*/ 181832 h 338899"/>
                <a:gd name="connsiteX282" fmla="*/ 56959 w 350329"/>
                <a:gd name="connsiteY282" fmla="*/ 189833 h 338899"/>
                <a:gd name="connsiteX283" fmla="*/ 83725 w 350329"/>
                <a:gd name="connsiteY283" fmla="*/ 181451 h 338899"/>
                <a:gd name="connsiteX284" fmla="*/ 84011 w 350329"/>
                <a:gd name="connsiteY284" fmla="*/ 177641 h 338899"/>
                <a:gd name="connsiteX285" fmla="*/ 66389 w 350329"/>
                <a:gd name="connsiteY285" fmla="*/ 152495 h 338899"/>
                <a:gd name="connsiteX286" fmla="*/ 63151 w 350329"/>
                <a:gd name="connsiteY286" fmla="*/ 148685 h 338899"/>
                <a:gd name="connsiteX287" fmla="*/ 64865 w 350329"/>
                <a:gd name="connsiteY287" fmla="*/ 144018 h 338899"/>
                <a:gd name="connsiteX288" fmla="*/ 69342 w 350329"/>
                <a:gd name="connsiteY288" fmla="*/ 134493 h 338899"/>
                <a:gd name="connsiteX289" fmla="*/ 57150 w 350329"/>
                <a:gd name="connsiteY289" fmla="*/ 122301 h 338899"/>
                <a:gd name="connsiteX290" fmla="*/ 44958 w 350329"/>
                <a:gd name="connsiteY290" fmla="*/ 134493 h 338899"/>
                <a:gd name="connsiteX291" fmla="*/ 49435 w 350329"/>
                <a:gd name="connsiteY291" fmla="*/ 144018 h 338899"/>
                <a:gd name="connsiteX292" fmla="*/ 51149 w 350329"/>
                <a:gd name="connsiteY292" fmla="*/ 148685 h 338899"/>
                <a:gd name="connsiteX293" fmla="*/ 48006 w 350329"/>
                <a:gd name="connsiteY293" fmla="*/ 152495 h 338899"/>
                <a:gd name="connsiteX294" fmla="*/ 30385 w 350329"/>
                <a:gd name="connsiteY294" fmla="*/ 177641 h 338899"/>
                <a:gd name="connsiteX295" fmla="*/ 30671 w 350329"/>
                <a:gd name="connsiteY295" fmla="*/ 181832 h 338899"/>
                <a:gd name="connsiteX296" fmla="*/ 23241 w 350329"/>
                <a:gd name="connsiteY296" fmla="*/ 179642 h 338899"/>
                <a:gd name="connsiteX297" fmla="*/ 20955 w 350329"/>
                <a:gd name="connsiteY297" fmla="*/ 177165 h 338899"/>
                <a:gd name="connsiteX298" fmla="*/ 7239 w 350329"/>
                <a:gd name="connsiteY298" fmla="*/ 142875 h 338899"/>
                <a:gd name="connsiteX299" fmla="*/ 56959 w 350329"/>
                <a:gd name="connsiteY299" fmla="*/ 93059 h 338899"/>
                <a:gd name="connsiteX300" fmla="*/ 106775 w 350329"/>
                <a:gd name="connsiteY300" fmla="*/ 142875 h 338899"/>
                <a:gd name="connsiteX301" fmla="*/ 93536 w 350329"/>
                <a:gd name="connsiteY301" fmla="*/ 176689 h 338899"/>
                <a:gd name="connsiteX302" fmla="*/ 91250 w 350329"/>
                <a:gd name="connsiteY302" fmla="*/ 179165 h 338899"/>
                <a:gd name="connsiteX303" fmla="*/ 91059 w 350329"/>
                <a:gd name="connsiteY303" fmla="*/ 175831 h 338899"/>
                <a:gd name="connsiteX304" fmla="*/ 73343 w 350329"/>
                <a:gd name="connsiteY304" fmla="*/ 147923 h 338899"/>
                <a:gd name="connsiteX305" fmla="*/ 71914 w 350329"/>
                <a:gd name="connsiteY305" fmla="*/ 147161 h 338899"/>
                <a:gd name="connsiteX306" fmla="*/ 72866 w 350329"/>
                <a:gd name="connsiteY306" fmla="*/ 145828 h 338899"/>
                <a:gd name="connsiteX307" fmla="*/ 76486 w 350329"/>
                <a:gd name="connsiteY307" fmla="*/ 134493 h 338899"/>
                <a:gd name="connsiteX308" fmla="*/ 57150 w 350329"/>
                <a:gd name="connsiteY308" fmla="*/ 115253 h 338899"/>
                <a:gd name="connsiteX309" fmla="*/ 37814 w 350329"/>
                <a:gd name="connsiteY309" fmla="*/ 134493 h 338899"/>
                <a:gd name="connsiteX310" fmla="*/ 41434 w 350329"/>
                <a:gd name="connsiteY310" fmla="*/ 145828 h 338899"/>
                <a:gd name="connsiteX311" fmla="*/ 42386 w 350329"/>
                <a:gd name="connsiteY311" fmla="*/ 147161 h 338899"/>
                <a:gd name="connsiteX312" fmla="*/ 40958 w 350329"/>
                <a:gd name="connsiteY312" fmla="*/ 147923 h 338899"/>
                <a:gd name="connsiteX313" fmla="*/ 23241 w 350329"/>
                <a:gd name="connsiteY313" fmla="*/ 176308 h 338899"/>
                <a:gd name="connsiteX314" fmla="*/ 23241 w 350329"/>
                <a:gd name="connsiteY314" fmla="*/ 179642 h 338899"/>
                <a:gd name="connsiteX315" fmla="*/ 56959 w 350329"/>
                <a:gd name="connsiteY315" fmla="*/ 95917 h 338899"/>
                <a:gd name="connsiteX316" fmla="*/ 10097 w 350329"/>
                <a:gd name="connsiteY316" fmla="*/ 142875 h 338899"/>
                <a:gd name="connsiteX317" fmla="*/ 20860 w 350329"/>
                <a:gd name="connsiteY317" fmla="*/ 172784 h 338899"/>
                <a:gd name="connsiteX318" fmla="*/ 38386 w 350329"/>
                <a:gd name="connsiteY318" fmla="*/ 146114 h 338899"/>
                <a:gd name="connsiteX319" fmla="*/ 35052 w 350329"/>
                <a:gd name="connsiteY319" fmla="*/ 134493 h 338899"/>
                <a:gd name="connsiteX320" fmla="*/ 57245 w 350329"/>
                <a:gd name="connsiteY320" fmla="*/ 112395 h 338899"/>
                <a:gd name="connsiteX321" fmla="*/ 79439 w 350329"/>
                <a:gd name="connsiteY321" fmla="*/ 134493 h 338899"/>
                <a:gd name="connsiteX322" fmla="*/ 76105 w 350329"/>
                <a:gd name="connsiteY322" fmla="*/ 146114 h 338899"/>
                <a:gd name="connsiteX323" fmla="*/ 93536 w 350329"/>
                <a:gd name="connsiteY323" fmla="*/ 172212 h 338899"/>
                <a:gd name="connsiteX324" fmla="*/ 103918 w 350329"/>
                <a:gd name="connsiteY324" fmla="*/ 142780 h 338899"/>
                <a:gd name="connsiteX325" fmla="*/ 57055 w 350329"/>
                <a:gd name="connsiteY325" fmla="*/ 95822 h 338899"/>
                <a:gd name="connsiteX326" fmla="*/ 327565 w 350329"/>
                <a:gd name="connsiteY326" fmla="*/ 179356 h 338899"/>
                <a:gd name="connsiteX327" fmla="*/ 327374 w 350329"/>
                <a:gd name="connsiteY327" fmla="*/ 176022 h 338899"/>
                <a:gd name="connsiteX328" fmla="*/ 309658 w 350329"/>
                <a:gd name="connsiteY328" fmla="*/ 147828 h 338899"/>
                <a:gd name="connsiteX329" fmla="*/ 308229 w 350329"/>
                <a:gd name="connsiteY329" fmla="*/ 147066 h 338899"/>
                <a:gd name="connsiteX330" fmla="*/ 309182 w 350329"/>
                <a:gd name="connsiteY330" fmla="*/ 145733 h 338899"/>
                <a:gd name="connsiteX331" fmla="*/ 312801 w 350329"/>
                <a:gd name="connsiteY331" fmla="*/ 134398 h 338899"/>
                <a:gd name="connsiteX332" fmla="*/ 293465 w 350329"/>
                <a:gd name="connsiteY332" fmla="*/ 115157 h 338899"/>
                <a:gd name="connsiteX333" fmla="*/ 274130 w 350329"/>
                <a:gd name="connsiteY333" fmla="*/ 134398 h 338899"/>
                <a:gd name="connsiteX334" fmla="*/ 277749 w 350329"/>
                <a:gd name="connsiteY334" fmla="*/ 145733 h 338899"/>
                <a:gd name="connsiteX335" fmla="*/ 278702 w 350329"/>
                <a:gd name="connsiteY335" fmla="*/ 147066 h 338899"/>
                <a:gd name="connsiteX336" fmla="*/ 277273 w 350329"/>
                <a:gd name="connsiteY336" fmla="*/ 147828 h 338899"/>
                <a:gd name="connsiteX337" fmla="*/ 259556 w 350329"/>
                <a:gd name="connsiteY337" fmla="*/ 176022 h 338899"/>
                <a:gd name="connsiteX338" fmla="*/ 259366 w 350329"/>
                <a:gd name="connsiteY338" fmla="*/ 179356 h 338899"/>
                <a:gd name="connsiteX339" fmla="*/ 257080 w 350329"/>
                <a:gd name="connsiteY339" fmla="*/ 176879 h 338899"/>
                <a:gd name="connsiteX340" fmla="*/ 243554 w 350329"/>
                <a:gd name="connsiteY340" fmla="*/ 142780 h 338899"/>
                <a:gd name="connsiteX341" fmla="*/ 293275 w 350329"/>
                <a:gd name="connsiteY341" fmla="*/ 92964 h 338899"/>
                <a:gd name="connsiteX342" fmla="*/ 343090 w 350329"/>
                <a:gd name="connsiteY342" fmla="*/ 142780 h 338899"/>
                <a:gd name="connsiteX343" fmla="*/ 329565 w 350329"/>
                <a:gd name="connsiteY343" fmla="*/ 176879 h 338899"/>
                <a:gd name="connsiteX344" fmla="*/ 327279 w 350329"/>
                <a:gd name="connsiteY344" fmla="*/ 179356 h 338899"/>
                <a:gd name="connsiteX345" fmla="*/ 312420 w 350329"/>
                <a:gd name="connsiteY345" fmla="*/ 146114 h 338899"/>
                <a:gd name="connsiteX346" fmla="*/ 329946 w 350329"/>
                <a:gd name="connsiteY346" fmla="*/ 172498 h 338899"/>
                <a:gd name="connsiteX347" fmla="*/ 340519 w 350329"/>
                <a:gd name="connsiteY347" fmla="*/ 142875 h 338899"/>
                <a:gd name="connsiteX348" fmla="*/ 293656 w 350329"/>
                <a:gd name="connsiteY348" fmla="*/ 95917 h 338899"/>
                <a:gd name="connsiteX349" fmla="*/ 246793 w 350329"/>
                <a:gd name="connsiteY349" fmla="*/ 142875 h 338899"/>
                <a:gd name="connsiteX350" fmla="*/ 257366 w 350329"/>
                <a:gd name="connsiteY350" fmla="*/ 172498 h 338899"/>
                <a:gd name="connsiteX351" fmla="*/ 274796 w 350329"/>
                <a:gd name="connsiteY351" fmla="*/ 146114 h 338899"/>
                <a:gd name="connsiteX352" fmla="*/ 271463 w 350329"/>
                <a:gd name="connsiteY352" fmla="*/ 134493 h 338899"/>
                <a:gd name="connsiteX353" fmla="*/ 293656 w 350329"/>
                <a:gd name="connsiteY353" fmla="*/ 112395 h 338899"/>
                <a:gd name="connsiteX354" fmla="*/ 315849 w 350329"/>
                <a:gd name="connsiteY354" fmla="*/ 134493 h 338899"/>
                <a:gd name="connsiteX355" fmla="*/ 312515 w 350329"/>
                <a:gd name="connsiteY355" fmla="*/ 146114 h 338899"/>
                <a:gd name="connsiteX356" fmla="*/ 175260 w 350329"/>
                <a:gd name="connsiteY356" fmla="*/ 106680 h 338899"/>
                <a:gd name="connsiteX357" fmla="*/ 146685 w 350329"/>
                <a:gd name="connsiteY357" fmla="*/ 97631 h 338899"/>
                <a:gd name="connsiteX358" fmla="*/ 146114 w 350329"/>
                <a:gd name="connsiteY358" fmla="*/ 97250 h 338899"/>
                <a:gd name="connsiteX359" fmla="*/ 146114 w 350329"/>
                <a:gd name="connsiteY359" fmla="*/ 96488 h 338899"/>
                <a:gd name="connsiteX360" fmla="*/ 145733 w 350329"/>
                <a:gd name="connsiteY360" fmla="*/ 91631 h 338899"/>
                <a:gd name="connsiteX361" fmla="*/ 165164 w 350329"/>
                <a:gd name="connsiteY361" fmla="*/ 63818 h 338899"/>
                <a:gd name="connsiteX362" fmla="*/ 166497 w 350329"/>
                <a:gd name="connsiteY362" fmla="*/ 62198 h 338899"/>
                <a:gd name="connsiteX363" fmla="*/ 165735 w 350329"/>
                <a:gd name="connsiteY363" fmla="*/ 60198 h 338899"/>
                <a:gd name="connsiteX364" fmla="*/ 160211 w 350329"/>
                <a:gd name="connsiteY364" fmla="*/ 48482 h 338899"/>
                <a:gd name="connsiteX365" fmla="*/ 175260 w 350329"/>
                <a:gd name="connsiteY365" fmla="*/ 33433 h 338899"/>
                <a:gd name="connsiteX366" fmla="*/ 190310 w 350329"/>
                <a:gd name="connsiteY366" fmla="*/ 48482 h 338899"/>
                <a:gd name="connsiteX367" fmla="*/ 184785 w 350329"/>
                <a:gd name="connsiteY367" fmla="*/ 60198 h 338899"/>
                <a:gd name="connsiteX368" fmla="*/ 184023 w 350329"/>
                <a:gd name="connsiteY368" fmla="*/ 62198 h 338899"/>
                <a:gd name="connsiteX369" fmla="*/ 185357 w 350329"/>
                <a:gd name="connsiteY369" fmla="*/ 63818 h 338899"/>
                <a:gd name="connsiteX370" fmla="*/ 204883 w 350329"/>
                <a:gd name="connsiteY370" fmla="*/ 91631 h 338899"/>
                <a:gd name="connsiteX371" fmla="*/ 204502 w 350329"/>
                <a:gd name="connsiteY371" fmla="*/ 96679 h 338899"/>
                <a:gd name="connsiteX372" fmla="*/ 204502 w 350329"/>
                <a:gd name="connsiteY372" fmla="*/ 97250 h 338899"/>
                <a:gd name="connsiteX373" fmla="*/ 203930 w 350329"/>
                <a:gd name="connsiteY373" fmla="*/ 97631 h 338899"/>
                <a:gd name="connsiteX374" fmla="*/ 175355 w 350329"/>
                <a:gd name="connsiteY374" fmla="*/ 106680 h 338899"/>
                <a:gd name="connsiteX375" fmla="*/ 148781 w 350329"/>
                <a:gd name="connsiteY375" fmla="*/ 95631 h 338899"/>
                <a:gd name="connsiteX376" fmla="*/ 175260 w 350329"/>
                <a:gd name="connsiteY376" fmla="*/ 103823 h 338899"/>
                <a:gd name="connsiteX377" fmla="*/ 201740 w 350329"/>
                <a:gd name="connsiteY377" fmla="*/ 95631 h 338899"/>
                <a:gd name="connsiteX378" fmla="*/ 202025 w 350329"/>
                <a:gd name="connsiteY378" fmla="*/ 91631 h 338899"/>
                <a:gd name="connsiteX379" fmla="*/ 184404 w 350329"/>
                <a:gd name="connsiteY379" fmla="*/ 66485 h 338899"/>
                <a:gd name="connsiteX380" fmla="*/ 181261 w 350329"/>
                <a:gd name="connsiteY380" fmla="*/ 62579 h 338899"/>
                <a:gd name="connsiteX381" fmla="*/ 182975 w 350329"/>
                <a:gd name="connsiteY381" fmla="*/ 57912 h 338899"/>
                <a:gd name="connsiteX382" fmla="*/ 187452 w 350329"/>
                <a:gd name="connsiteY382" fmla="*/ 48482 h 338899"/>
                <a:gd name="connsiteX383" fmla="*/ 175260 w 350329"/>
                <a:gd name="connsiteY383" fmla="*/ 36290 h 338899"/>
                <a:gd name="connsiteX384" fmla="*/ 163068 w 350329"/>
                <a:gd name="connsiteY384" fmla="*/ 48482 h 338899"/>
                <a:gd name="connsiteX385" fmla="*/ 167545 w 350329"/>
                <a:gd name="connsiteY385" fmla="*/ 57912 h 338899"/>
                <a:gd name="connsiteX386" fmla="*/ 169259 w 350329"/>
                <a:gd name="connsiteY386" fmla="*/ 62579 h 338899"/>
                <a:gd name="connsiteX387" fmla="*/ 166021 w 350329"/>
                <a:gd name="connsiteY387" fmla="*/ 66389 h 338899"/>
                <a:gd name="connsiteX388" fmla="*/ 148400 w 350329"/>
                <a:gd name="connsiteY388" fmla="*/ 91535 h 338899"/>
                <a:gd name="connsiteX389" fmla="*/ 148685 w 350329"/>
                <a:gd name="connsiteY389" fmla="*/ 95536 h 338899"/>
                <a:gd name="connsiteX390" fmla="*/ 141351 w 350329"/>
                <a:gd name="connsiteY390" fmla="*/ 93440 h 338899"/>
                <a:gd name="connsiteX391" fmla="*/ 139065 w 350329"/>
                <a:gd name="connsiteY391" fmla="*/ 90964 h 338899"/>
                <a:gd name="connsiteX392" fmla="*/ 125540 w 350329"/>
                <a:gd name="connsiteY392" fmla="*/ 56864 h 338899"/>
                <a:gd name="connsiteX393" fmla="*/ 175355 w 350329"/>
                <a:gd name="connsiteY393" fmla="*/ 7144 h 338899"/>
                <a:gd name="connsiteX394" fmla="*/ 225076 w 350329"/>
                <a:gd name="connsiteY394" fmla="*/ 56864 h 338899"/>
                <a:gd name="connsiteX395" fmla="*/ 211550 w 350329"/>
                <a:gd name="connsiteY395" fmla="*/ 90964 h 338899"/>
                <a:gd name="connsiteX396" fmla="*/ 209264 w 350329"/>
                <a:gd name="connsiteY396" fmla="*/ 93440 h 338899"/>
                <a:gd name="connsiteX397" fmla="*/ 209074 w 350329"/>
                <a:gd name="connsiteY397" fmla="*/ 90107 h 338899"/>
                <a:gd name="connsiteX398" fmla="*/ 191357 w 350329"/>
                <a:gd name="connsiteY398" fmla="*/ 61913 h 338899"/>
                <a:gd name="connsiteX399" fmla="*/ 189929 w 350329"/>
                <a:gd name="connsiteY399" fmla="*/ 61151 h 338899"/>
                <a:gd name="connsiteX400" fmla="*/ 190881 w 350329"/>
                <a:gd name="connsiteY400" fmla="*/ 59817 h 338899"/>
                <a:gd name="connsiteX401" fmla="*/ 194501 w 350329"/>
                <a:gd name="connsiteY401" fmla="*/ 48482 h 338899"/>
                <a:gd name="connsiteX402" fmla="*/ 175165 w 350329"/>
                <a:gd name="connsiteY402" fmla="*/ 29147 h 338899"/>
                <a:gd name="connsiteX403" fmla="*/ 155829 w 350329"/>
                <a:gd name="connsiteY403" fmla="*/ 48482 h 338899"/>
                <a:gd name="connsiteX404" fmla="*/ 159449 w 350329"/>
                <a:gd name="connsiteY404" fmla="*/ 59817 h 338899"/>
                <a:gd name="connsiteX405" fmla="*/ 160401 w 350329"/>
                <a:gd name="connsiteY405" fmla="*/ 61151 h 338899"/>
                <a:gd name="connsiteX406" fmla="*/ 158972 w 350329"/>
                <a:gd name="connsiteY406" fmla="*/ 61913 h 338899"/>
                <a:gd name="connsiteX407" fmla="*/ 141351 w 350329"/>
                <a:gd name="connsiteY407" fmla="*/ 90107 h 338899"/>
                <a:gd name="connsiteX408" fmla="*/ 141161 w 350329"/>
                <a:gd name="connsiteY408" fmla="*/ 93440 h 338899"/>
                <a:gd name="connsiteX409" fmla="*/ 194120 w 350329"/>
                <a:gd name="connsiteY409" fmla="*/ 60103 h 338899"/>
                <a:gd name="connsiteX410" fmla="*/ 211645 w 350329"/>
                <a:gd name="connsiteY410" fmla="*/ 86487 h 338899"/>
                <a:gd name="connsiteX411" fmla="*/ 222218 w 350329"/>
                <a:gd name="connsiteY411" fmla="*/ 56769 h 338899"/>
                <a:gd name="connsiteX412" fmla="*/ 175355 w 350329"/>
                <a:gd name="connsiteY412" fmla="*/ 9906 h 338899"/>
                <a:gd name="connsiteX413" fmla="*/ 128492 w 350329"/>
                <a:gd name="connsiteY413" fmla="*/ 56769 h 338899"/>
                <a:gd name="connsiteX414" fmla="*/ 139065 w 350329"/>
                <a:gd name="connsiteY414" fmla="*/ 86487 h 338899"/>
                <a:gd name="connsiteX415" fmla="*/ 156496 w 350329"/>
                <a:gd name="connsiteY415" fmla="*/ 60103 h 338899"/>
                <a:gd name="connsiteX416" fmla="*/ 153162 w 350329"/>
                <a:gd name="connsiteY416" fmla="*/ 48482 h 338899"/>
                <a:gd name="connsiteX417" fmla="*/ 175355 w 350329"/>
                <a:gd name="connsiteY417" fmla="*/ 26289 h 338899"/>
                <a:gd name="connsiteX418" fmla="*/ 197549 w 350329"/>
                <a:gd name="connsiteY418" fmla="*/ 48482 h 338899"/>
                <a:gd name="connsiteX419" fmla="*/ 194215 w 350329"/>
                <a:gd name="connsiteY419" fmla="*/ 60103 h 33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Lst>
              <a:rect l="l" t="t" r="r" b="b"/>
              <a:pathLst>
                <a:path w="350329" h="338899">
                  <a:moveTo>
                    <a:pt x="248412" y="338900"/>
                  </a:moveTo>
                  <a:cubicBezTo>
                    <a:pt x="218980" y="338900"/>
                    <a:pt x="194310" y="316230"/>
                    <a:pt x="191738" y="286988"/>
                  </a:cubicBezTo>
                  <a:lnTo>
                    <a:pt x="158782" y="286988"/>
                  </a:lnTo>
                  <a:cubicBezTo>
                    <a:pt x="156210" y="316230"/>
                    <a:pt x="131636" y="338900"/>
                    <a:pt x="102108" y="338900"/>
                  </a:cubicBezTo>
                  <a:cubicBezTo>
                    <a:pt x="70771" y="338900"/>
                    <a:pt x="45244" y="313373"/>
                    <a:pt x="45244" y="282035"/>
                  </a:cubicBezTo>
                  <a:cubicBezTo>
                    <a:pt x="45244" y="259080"/>
                    <a:pt x="58769" y="238601"/>
                    <a:pt x="79820" y="229648"/>
                  </a:cubicBezTo>
                  <a:lnTo>
                    <a:pt x="69628" y="198311"/>
                  </a:lnTo>
                  <a:cubicBezTo>
                    <a:pt x="65437" y="199263"/>
                    <a:pt x="61151" y="199739"/>
                    <a:pt x="56864" y="199739"/>
                  </a:cubicBezTo>
                  <a:cubicBezTo>
                    <a:pt x="25527" y="199739"/>
                    <a:pt x="0" y="174212"/>
                    <a:pt x="0" y="142875"/>
                  </a:cubicBezTo>
                  <a:cubicBezTo>
                    <a:pt x="0" y="111538"/>
                    <a:pt x="25527" y="86011"/>
                    <a:pt x="56864" y="86011"/>
                  </a:cubicBezTo>
                  <a:cubicBezTo>
                    <a:pt x="73438" y="86011"/>
                    <a:pt x="88964" y="93155"/>
                    <a:pt x="99727" y="105537"/>
                  </a:cubicBezTo>
                  <a:lnTo>
                    <a:pt x="126397" y="86106"/>
                  </a:lnTo>
                  <a:cubicBezTo>
                    <a:pt x="121063" y="77248"/>
                    <a:pt x="118301" y="67151"/>
                    <a:pt x="118301" y="56864"/>
                  </a:cubicBezTo>
                  <a:cubicBezTo>
                    <a:pt x="118301" y="25527"/>
                    <a:pt x="143828" y="0"/>
                    <a:pt x="175165" y="0"/>
                  </a:cubicBezTo>
                  <a:cubicBezTo>
                    <a:pt x="206502" y="0"/>
                    <a:pt x="232029" y="25527"/>
                    <a:pt x="232029" y="56864"/>
                  </a:cubicBezTo>
                  <a:cubicBezTo>
                    <a:pt x="232029" y="67247"/>
                    <a:pt x="229267" y="77343"/>
                    <a:pt x="223933" y="86106"/>
                  </a:cubicBezTo>
                  <a:lnTo>
                    <a:pt x="250603" y="105537"/>
                  </a:lnTo>
                  <a:cubicBezTo>
                    <a:pt x="261366" y="93059"/>
                    <a:pt x="276987" y="86011"/>
                    <a:pt x="293465" y="86011"/>
                  </a:cubicBezTo>
                  <a:cubicBezTo>
                    <a:pt x="324803" y="86011"/>
                    <a:pt x="350330" y="111538"/>
                    <a:pt x="350330" y="142875"/>
                  </a:cubicBezTo>
                  <a:cubicBezTo>
                    <a:pt x="350330" y="174212"/>
                    <a:pt x="324803" y="199739"/>
                    <a:pt x="293465" y="199739"/>
                  </a:cubicBezTo>
                  <a:cubicBezTo>
                    <a:pt x="289179" y="199739"/>
                    <a:pt x="284893" y="199263"/>
                    <a:pt x="280702" y="198311"/>
                  </a:cubicBezTo>
                  <a:lnTo>
                    <a:pt x="270510" y="229648"/>
                  </a:lnTo>
                  <a:cubicBezTo>
                    <a:pt x="291560" y="238601"/>
                    <a:pt x="305086" y="258985"/>
                    <a:pt x="305086" y="282035"/>
                  </a:cubicBezTo>
                  <a:cubicBezTo>
                    <a:pt x="305086" y="313373"/>
                    <a:pt x="279559" y="338900"/>
                    <a:pt x="248222" y="338900"/>
                  </a:cubicBezTo>
                  <a:close/>
                  <a:moveTo>
                    <a:pt x="156115" y="284131"/>
                  </a:moveTo>
                  <a:lnTo>
                    <a:pt x="194405" y="284131"/>
                  </a:lnTo>
                  <a:lnTo>
                    <a:pt x="194405" y="285464"/>
                  </a:lnTo>
                  <a:cubicBezTo>
                    <a:pt x="196310" y="313849"/>
                    <a:pt x="219932" y="336042"/>
                    <a:pt x="248412" y="336042"/>
                  </a:cubicBezTo>
                  <a:cubicBezTo>
                    <a:pt x="276892" y="336042"/>
                    <a:pt x="302419" y="311849"/>
                    <a:pt x="302419" y="282035"/>
                  </a:cubicBezTo>
                  <a:cubicBezTo>
                    <a:pt x="302419" y="259747"/>
                    <a:pt x="289084" y="240125"/>
                    <a:pt x="268319" y="231839"/>
                  </a:cubicBezTo>
                  <a:lnTo>
                    <a:pt x="267081" y="231362"/>
                  </a:lnTo>
                  <a:lnTo>
                    <a:pt x="278892" y="194881"/>
                  </a:lnTo>
                  <a:lnTo>
                    <a:pt x="280226" y="195167"/>
                  </a:lnTo>
                  <a:cubicBezTo>
                    <a:pt x="284512" y="196310"/>
                    <a:pt x="289084" y="196787"/>
                    <a:pt x="293561" y="196787"/>
                  </a:cubicBezTo>
                  <a:cubicBezTo>
                    <a:pt x="323374" y="196787"/>
                    <a:pt x="347567" y="172593"/>
                    <a:pt x="347567" y="142780"/>
                  </a:cubicBezTo>
                  <a:cubicBezTo>
                    <a:pt x="347567" y="112967"/>
                    <a:pt x="323374" y="88773"/>
                    <a:pt x="293561" y="88773"/>
                  </a:cubicBezTo>
                  <a:cubicBezTo>
                    <a:pt x="277463" y="88773"/>
                    <a:pt x="262319" y="95917"/>
                    <a:pt x="252032" y="108299"/>
                  </a:cubicBezTo>
                  <a:lnTo>
                    <a:pt x="251174" y="109347"/>
                  </a:lnTo>
                  <a:lnTo>
                    <a:pt x="220123" y="86773"/>
                  </a:lnTo>
                  <a:lnTo>
                    <a:pt x="220885" y="85630"/>
                  </a:lnTo>
                  <a:cubicBezTo>
                    <a:pt x="226314" y="76962"/>
                    <a:pt x="229267" y="66961"/>
                    <a:pt x="229267" y="56769"/>
                  </a:cubicBezTo>
                  <a:cubicBezTo>
                    <a:pt x="229267" y="26956"/>
                    <a:pt x="205073" y="2762"/>
                    <a:pt x="175260" y="2762"/>
                  </a:cubicBezTo>
                  <a:cubicBezTo>
                    <a:pt x="145447" y="2762"/>
                    <a:pt x="121253" y="26956"/>
                    <a:pt x="121253" y="56769"/>
                  </a:cubicBezTo>
                  <a:cubicBezTo>
                    <a:pt x="121253" y="66961"/>
                    <a:pt x="124111" y="76962"/>
                    <a:pt x="129635" y="85630"/>
                  </a:cubicBezTo>
                  <a:lnTo>
                    <a:pt x="130397" y="86773"/>
                  </a:lnTo>
                  <a:lnTo>
                    <a:pt x="99441" y="109347"/>
                  </a:lnTo>
                  <a:lnTo>
                    <a:pt x="98584" y="108299"/>
                  </a:lnTo>
                  <a:cubicBezTo>
                    <a:pt x="88297" y="95822"/>
                    <a:pt x="73152" y="88773"/>
                    <a:pt x="57055" y="88773"/>
                  </a:cubicBezTo>
                  <a:cubicBezTo>
                    <a:pt x="27146" y="88868"/>
                    <a:pt x="2953" y="113062"/>
                    <a:pt x="2953" y="142875"/>
                  </a:cubicBezTo>
                  <a:cubicBezTo>
                    <a:pt x="2953" y="172688"/>
                    <a:pt x="27146" y="196882"/>
                    <a:pt x="56959" y="196882"/>
                  </a:cubicBezTo>
                  <a:cubicBezTo>
                    <a:pt x="61532" y="196882"/>
                    <a:pt x="66008" y="196310"/>
                    <a:pt x="70390" y="195263"/>
                  </a:cubicBezTo>
                  <a:lnTo>
                    <a:pt x="71723" y="194977"/>
                  </a:lnTo>
                  <a:lnTo>
                    <a:pt x="83534" y="231458"/>
                  </a:lnTo>
                  <a:lnTo>
                    <a:pt x="82296" y="231934"/>
                  </a:lnTo>
                  <a:cubicBezTo>
                    <a:pt x="61627" y="240221"/>
                    <a:pt x="48292" y="259842"/>
                    <a:pt x="48292" y="282131"/>
                  </a:cubicBezTo>
                  <a:cubicBezTo>
                    <a:pt x="48292" y="311944"/>
                    <a:pt x="72485" y="336137"/>
                    <a:pt x="102298" y="336137"/>
                  </a:cubicBezTo>
                  <a:cubicBezTo>
                    <a:pt x="132112" y="336137"/>
                    <a:pt x="154400" y="313944"/>
                    <a:pt x="156210" y="285560"/>
                  </a:cubicBezTo>
                  <a:lnTo>
                    <a:pt x="156210" y="284226"/>
                  </a:lnTo>
                  <a:close/>
                  <a:moveTo>
                    <a:pt x="248412" y="331851"/>
                  </a:moveTo>
                  <a:cubicBezTo>
                    <a:pt x="238125" y="331851"/>
                    <a:pt x="228219" y="328708"/>
                    <a:pt x="219837" y="322802"/>
                  </a:cubicBezTo>
                  <a:lnTo>
                    <a:pt x="219266" y="322421"/>
                  </a:lnTo>
                  <a:lnTo>
                    <a:pt x="219266" y="321659"/>
                  </a:lnTo>
                  <a:cubicBezTo>
                    <a:pt x="218980" y="320326"/>
                    <a:pt x="218885" y="318707"/>
                    <a:pt x="218885" y="316801"/>
                  </a:cubicBezTo>
                  <a:cubicBezTo>
                    <a:pt x="218885" y="304419"/>
                    <a:pt x="226695" y="293180"/>
                    <a:pt x="238316" y="288989"/>
                  </a:cubicBezTo>
                  <a:cubicBezTo>
                    <a:pt x="238982" y="288703"/>
                    <a:pt x="239554" y="288131"/>
                    <a:pt x="239649" y="287369"/>
                  </a:cubicBezTo>
                  <a:cubicBezTo>
                    <a:pt x="239744" y="286607"/>
                    <a:pt x="239458" y="285845"/>
                    <a:pt x="238887" y="285369"/>
                  </a:cubicBezTo>
                  <a:cubicBezTo>
                    <a:pt x="235363" y="282512"/>
                    <a:pt x="233363" y="278225"/>
                    <a:pt x="233363" y="273653"/>
                  </a:cubicBezTo>
                  <a:cubicBezTo>
                    <a:pt x="233363" y="265367"/>
                    <a:pt x="240125" y="258604"/>
                    <a:pt x="248412" y="258604"/>
                  </a:cubicBezTo>
                  <a:cubicBezTo>
                    <a:pt x="256699" y="258604"/>
                    <a:pt x="263462" y="265367"/>
                    <a:pt x="263462" y="273653"/>
                  </a:cubicBezTo>
                  <a:cubicBezTo>
                    <a:pt x="263462" y="278225"/>
                    <a:pt x="261461" y="282416"/>
                    <a:pt x="257937" y="285369"/>
                  </a:cubicBezTo>
                  <a:cubicBezTo>
                    <a:pt x="257366" y="285845"/>
                    <a:pt x="257080" y="286607"/>
                    <a:pt x="257175" y="287369"/>
                  </a:cubicBezTo>
                  <a:cubicBezTo>
                    <a:pt x="257270" y="288131"/>
                    <a:pt x="257842" y="288798"/>
                    <a:pt x="258508" y="288989"/>
                  </a:cubicBezTo>
                  <a:cubicBezTo>
                    <a:pt x="270129" y="293275"/>
                    <a:pt x="278035" y="304419"/>
                    <a:pt x="278035" y="316801"/>
                  </a:cubicBezTo>
                  <a:cubicBezTo>
                    <a:pt x="278035" y="318516"/>
                    <a:pt x="277844" y="320135"/>
                    <a:pt x="277654" y="321850"/>
                  </a:cubicBezTo>
                  <a:lnTo>
                    <a:pt x="277654" y="322612"/>
                  </a:lnTo>
                  <a:lnTo>
                    <a:pt x="277082" y="322802"/>
                  </a:lnTo>
                  <a:cubicBezTo>
                    <a:pt x="268605" y="328708"/>
                    <a:pt x="258794" y="331851"/>
                    <a:pt x="248507" y="331851"/>
                  </a:cubicBezTo>
                  <a:close/>
                  <a:moveTo>
                    <a:pt x="221933" y="320802"/>
                  </a:moveTo>
                  <a:cubicBezTo>
                    <a:pt x="229743" y="326136"/>
                    <a:pt x="238887" y="328994"/>
                    <a:pt x="248412" y="328994"/>
                  </a:cubicBezTo>
                  <a:cubicBezTo>
                    <a:pt x="257937" y="328994"/>
                    <a:pt x="266986" y="326136"/>
                    <a:pt x="274892" y="320802"/>
                  </a:cubicBezTo>
                  <a:cubicBezTo>
                    <a:pt x="275082" y="319373"/>
                    <a:pt x="275177" y="318135"/>
                    <a:pt x="275177" y="316801"/>
                  </a:cubicBezTo>
                  <a:cubicBezTo>
                    <a:pt x="275177" y="305562"/>
                    <a:pt x="268129" y="295466"/>
                    <a:pt x="257556" y="291656"/>
                  </a:cubicBezTo>
                  <a:cubicBezTo>
                    <a:pt x="255842" y="291084"/>
                    <a:pt x="254603" y="289560"/>
                    <a:pt x="254318" y="287750"/>
                  </a:cubicBezTo>
                  <a:cubicBezTo>
                    <a:pt x="254032" y="286036"/>
                    <a:pt x="254699" y="284226"/>
                    <a:pt x="256032" y="283083"/>
                  </a:cubicBezTo>
                  <a:cubicBezTo>
                    <a:pt x="258890" y="280702"/>
                    <a:pt x="260509" y="277273"/>
                    <a:pt x="260509" y="273653"/>
                  </a:cubicBezTo>
                  <a:cubicBezTo>
                    <a:pt x="260509" y="266891"/>
                    <a:pt x="254984" y="261461"/>
                    <a:pt x="248317" y="261461"/>
                  </a:cubicBezTo>
                  <a:cubicBezTo>
                    <a:pt x="241649" y="261461"/>
                    <a:pt x="236125" y="266986"/>
                    <a:pt x="236125" y="273653"/>
                  </a:cubicBezTo>
                  <a:cubicBezTo>
                    <a:pt x="236125" y="277368"/>
                    <a:pt x="237744" y="280797"/>
                    <a:pt x="240602" y="283083"/>
                  </a:cubicBezTo>
                  <a:cubicBezTo>
                    <a:pt x="242030" y="284226"/>
                    <a:pt x="242697" y="286036"/>
                    <a:pt x="242316" y="287750"/>
                  </a:cubicBezTo>
                  <a:cubicBezTo>
                    <a:pt x="242030" y="289560"/>
                    <a:pt x="240792" y="290989"/>
                    <a:pt x="239173" y="291560"/>
                  </a:cubicBezTo>
                  <a:cubicBezTo>
                    <a:pt x="228695" y="295370"/>
                    <a:pt x="221552" y="305467"/>
                    <a:pt x="221552" y="316706"/>
                  </a:cubicBezTo>
                  <a:cubicBezTo>
                    <a:pt x="221552" y="318135"/>
                    <a:pt x="221552" y="319469"/>
                    <a:pt x="221837" y="320707"/>
                  </a:cubicBezTo>
                  <a:close/>
                  <a:moveTo>
                    <a:pt x="102108" y="331851"/>
                  </a:moveTo>
                  <a:cubicBezTo>
                    <a:pt x="91821" y="331851"/>
                    <a:pt x="81915" y="328708"/>
                    <a:pt x="73533" y="322802"/>
                  </a:cubicBezTo>
                  <a:lnTo>
                    <a:pt x="72962" y="322421"/>
                  </a:lnTo>
                  <a:lnTo>
                    <a:pt x="72962" y="321659"/>
                  </a:lnTo>
                  <a:cubicBezTo>
                    <a:pt x="72676" y="320326"/>
                    <a:pt x="72581" y="318611"/>
                    <a:pt x="72581" y="316801"/>
                  </a:cubicBezTo>
                  <a:cubicBezTo>
                    <a:pt x="72581" y="304419"/>
                    <a:pt x="80391" y="293180"/>
                    <a:pt x="92012" y="288989"/>
                  </a:cubicBezTo>
                  <a:cubicBezTo>
                    <a:pt x="92678" y="288703"/>
                    <a:pt x="93250" y="288131"/>
                    <a:pt x="93345" y="287369"/>
                  </a:cubicBezTo>
                  <a:cubicBezTo>
                    <a:pt x="93440" y="286607"/>
                    <a:pt x="93155" y="285845"/>
                    <a:pt x="92583" y="285369"/>
                  </a:cubicBezTo>
                  <a:cubicBezTo>
                    <a:pt x="89059" y="282512"/>
                    <a:pt x="87059" y="278225"/>
                    <a:pt x="87059" y="273653"/>
                  </a:cubicBezTo>
                  <a:cubicBezTo>
                    <a:pt x="87059" y="265367"/>
                    <a:pt x="93821" y="258604"/>
                    <a:pt x="102108" y="258604"/>
                  </a:cubicBezTo>
                  <a:cubicBezTo>
                    <a:pt x="110395" y="258604"/>
                    <a:pt x="117158" y="265367"/>
                    <a:pt x="117158" y="273653"/>
                  </a:cubicBezTo>
                  <a:cubicBezTo>
                    <a:pt x="117158" y="278225"/>
                    <a:pt x="115157" y="282416"/>
                    <a:pt x="111633" y="285369"/>
                  </a:cubicBezTo>
                  <a:cubicBezTo>
                    <a:pt x="111062" y="285845"/>
                    <a:pt x="110776" y="286607"/>
                    <a:pt x="110871" y="287369"/>
                  </a:cubicBezTo>
                  <a:cubicBezTo>
                    <a:pt x="110966" y="288131"/>
                    <a:pt x="111538" y="288798"/>
                    <a:pt x="112205" y="288989"/>
                  </a:cubicBezTo>
                  <a:cubicBezTo>
                    <a:pt x="123825" y="293275"/>
                    <a:pt x="131731" y="304419"/>
                    <a:pt x="131731" y="316801"/>
                  </a:cubicBezTo>
                  <a:cubicBezTo>
                    <a:pt x="131731" y="318516"/>
                    <a:pt x="131540" y="320135"/>
                    <a:pt x="131350" y="321850"/>
                  </a:cubicBezTo>
                  <a:lnTo>
                    <a:pt x="131350" y="322326"/>
                  </a:lnTo>
                  <a:cubicBezTo>
                    <a:pt x="131350" y="322326"/>
                    <a:pt x="130778" y="322802"/>
                    <a:pt x="130778" y="322802"/>
                  </a:cubicBezTo>
                  <a:cubicBezTo>
                    <a:pt x="122396" y="328708"/>
                    <a:pt x="112490" y="331851"/>
                    <a:pt x="102203" y="331851"/>
                  </a:cubicBezTo>
                  <a:close/>
                  <a:moveTo>
                    <a:pt x="75724" y="320802"/>
                  </a:moveTo>
                  <a:cubicBezTo>
                    <a:pt x="83534" y="326136"/>
                    <a:pt x="92678" y="328994"/>
                    <a:pt x="102203" y="328994"/>
                  </a:cubicBezTo>
                  <a:cubicBezTo>
                    <a:pt x="111728" y="328994"/>
                    <a:pt x="120872" y="326136"/>
                    <a:pt x="128683" y="320802"/>
                  </a:cubicBezTo>
                  <a:cubicBezTo>
                    <a:pt x="128873" y="319469"/>
                    <a:pt x="128969" y="318135"/>
                    <a:pt x="128969" y="316801"/>
                  </a:cubicBezTo>
                  <a:cubicBezTo>
                    <a:pt x="128969" y="305562"/>
                    <a:pt x="121920" y="295466"/>
                    <a:pt x="111347" y="291656"/>
                  </a:cubicBezTo>
                  <a:cubicBezTo>
                    <a:pt x="109633" y="291084"/>
                    <a:pt x="108395" y="289560"/>
                    <a:pt x="108109" y="287846"/>
                  </a:cubicBezTo>
                  <a:cubicBezTo>
                    <a:pt x="107823" y="286131"/>
                    <a:pt x="108490" y="284321"/>
                    <a:pt x="109823" y="283178"/>
                  </a:cubicBezTo>
                  <a:cubicBezTo>
                    <a:pt x="112681" y="280797"/>
                    <a:pt x="114300" y="277368"/>
                    <a:pt x="114300" y="273749"/>
                  </a:cubicBezTo>
                  <a:cubicBezTo>
                    <a:pt x="114300" y="266986"/>
                    <a:pt x="108871" y="261556"/>
                    <a:pt x="102108" y="261556"/>
                  </a:cubicBezTo>
                  <a:cubicBezTo>
                    <a:pt x="95345" y="261556"/>
                    <a:pt x="89916" y="267081"/>
                    <a:pt x="89916" y="273749"/>
                  </a:cubicBezTo>
                  <a:cubicBezTo>
                    <a:pt x="89916" y="277463"/>
                    <a:pt x="91535" y="280892"/>
                    <a:pt x="94393" y="283178"/>
                  </a:cubicBezTo>
                  <a:cubicBezTo>
                    <a:pt x="95822" y="284321"/>
                    <a:pt x="96488" y="286131"/>
                    <a:pt x="96107" y="287846"/>
                  </a:cubicBezTo>
                  <a:cubicBezTo>
                    <a:pt x="95822" y="289655"/>
                    <a:pt x="94583" y="291084"/>
                    <a:pt x="92964" y="291656"/>
                  </a:cubicBezTo>
                  <a:cubicBezTo>
                    <a:pt x="82487" y="295466"/>
                    <a:pt x="75343" y="305562"/>
                    <a:pt x="75343" y="316801"/>
                  </a:cubicBezTo>
                  <a:cubicBezTo>
                    <a:pt x="75343" y="318230"/>
                    <a:pt x="75343" y="319564"/>
                    <a:pt x="75629" y="320802"/>
                  </a:cubicBezTo>
                  <a:close/>
                  <a:moveTo>
                    <a:pt x="214408" y="318611"/>
                  </a:moveTo>
                  <a:lnTo>
                    <a:pt x="212122" y="316135"/>
                  </a:lnTo>
                  <a:cubicBezTo>
                    <a:pt x="203454" y="306896"/>
                    <a:pt x="198596" y="294799"/>
                    <a:pt x="198596" y="282035"/>
                  </a:cubicBezTo>
                  <a:cubicBezTo>
                    <a:pt x="198596" y="254603"/>
                    <a:pt x="220885" y="232315"/>
                    <a:pt x="248317" y="232315"/>
                  </a:cubicBezTo>
                  <a:cubicBezTo>
                    <a:pt x="275749" y="232315"/>
                    <a:pt x="298133" y="254603"/>
                    <a:pt x="298133" y="282035"/>
                  </a:cubicBezTo>
                  <a:cubicBezTo>
                    <a:pt x="298133" y="294704"/>
                    <a:pt x="293370" y="306896"/>
                    <a:pt x="284607" y="316135"/>
                  </a:cubicBezTo>
                  <a:lnTo>
                    <a:pt x="282321" y="318611"/>
                  </a:lnTo>
                  <a:lnTo>
                    <a:pt x="282131" y="315278"/>
                  </a:lnTo>
                  <a:cubicBezTo>
                    <a:pt x="281559" y="303562"/>
                    <a:pt x="274796" y="292703"/>
                    <a:pt x="264414" y="287084"/>
                  </a:cubicBezTo>
                  <a:lnTo>
                    <a:pt x="262985" y="286322"/>
                  </a:lnTo>
                  <a:lnTo>
                    <a:pt x="263938" y="284988"/>
                  </a:lnTo>
                  <a:cubicBezTo>
                    <a:pt x="266319" y="281750"/>
                    <a:pt x="267557" y="277844"/>
                    <a:pt x="267557" y="273653"/>
                  </a:cubicBezTo>
                  <a:cubicBezTo>
                    <a:pt x="267557" y="262985"/>
                    <a:pt x="258890" y="254318"/>
                    <a:pt x="248222" y="254318"/>
                  </a:cubicBezTo>
                  <a:cubicBezTo>
                    <a:pt x="237554" y="254318"/>
                    <a:pt x="228886" y="262985"/>
                    <a:pt x="228886" y="273653"/>
                  </a:cubicBezTo>
                  <a:cubicBezTo>
                    <a:pt x="228886" y="277749"/>
                    <a:pt x="230124" y="281654"/>
                    <a:pt x="232505" y="284988"/>
                  </a:cubicBezTo>
                  <a:lnTo>
                    <a:pt x="233458" y="286322"/>
                  </a:lnTo>
                  <a:lnTo>
                    <a:pt x="232029" y="287084"/>
                  </a:lnTo>
                  <a:cubicBezTo>
                    <a:pt x="221647" y="292703"/>
                    <a:pt x="214884" y="303467"/>
                    <a:pt x="214408" y="315278"/>
                  </a:cubicBezTo>
                  <a:lnTo>
                    <a:pt x="214217" y="318611"/>
                  </a:lnTo>
                  <a:close/>
                  <a:moveTo>
                    <a:pt x="267272" y="285274"/>
                  </a:moveTo>
                  <a:cubicBezTo>
                    <a:pt x="276797" y="290989"/>
                    <a:pt x="283178" y="300800"/>
                    <a:pt x="284702" y="311658"/>
                  </a:cubicBezTo>
                  <a:cubicBezTo>
                    <a:pt x="291560" y="303276"/>
                    <a:pt x="295275" y="292894"/>
                    <a:pt x="295275" y="281940"/>
                  </a:cubicBezTo>
                  <a:cubicBezTo>
                    <a:pt x="295275" y="256032"/>
                    <a:pt x="274225" y="235077"/>
                    <a:pt x="248412" y="235077"/>
                  </a:cubicBezTo>
                  <a:cubicBezTo>
                    <a:pt x="222599" y="235077"/>
                    <a:pt x="201549" y="256127"/>
                    <a:pt x="201549" y="281940"/>
                  </a:cubicBezTo>
                  <a:cubicBezTo>
                    <a:pt x="201549" y="292799"/>
                    <a:pt x="205264" y="303276"/>
                    <a:pt x="212122" y="311658"/>
                  </a:cubicBezTo>
                  <a:cubicBezTo>
                    <a:pt x="213646" y="300800"/>
                    <a:pt x="220123" y="290989"/>
                    <a:pt x="229648" y="285274"/>
                  </a:cubicBezTo>
                  <a:cubicBezTo>
                    <a:pt x="227457" y="281750"/>
                    <a:pt x="226314" y="277749"/>
                    <a:pt x="226314" y="273653"/>
                  </a:cubicBezTo>
                  <a:cubicBezTo>
                    <a:pt x="226314" y="261461"/>
                    <a:pt x="236220" y="251460"/>
                    <a:pt x="248507" y="251460"/>
                  </a:cubicBezTo>
                  <a:cubicBezTo>
                    <a:pt x="260795" y="251460"/>
                    <a:pt x="270701" y="261366"/>
                    <a:pt x="270701" y="273653"/>
                  </a:cubicBezTo>
                  <a:cubicBezTo>
                    <a:pt x="270701" y="277844"/>
                    <a:pt x="269558" y="281845"/>
                    <a:pt x="267367" y="285274"/>
                  </a:cubicBezTo>
                  <a:close/>
                  <a:moveTo>
                    <a:pt x="136112" y="318611"/>
                  </a:moveTo>
                  <a:lnTo>
                    <a:pt x="135922" y="315278"/>
                  </a:lnTo>
                  <a:cubicBezTo>
                    <a:pt x="135350" y="303562"/>
                    <a:pt x="128588" y="292703"/>
                    <a:pt x="118301" y="287084"/>
                  </a:cubicBezTo>
                  <a:lnTo>
                    <a:pt x="116872" y="286322"/>
                  </a:lnTo>
                  <a:lnTo>
                    <a:pt x="117824" y="284988"/>
                  </a:lnTo>
                  <a:cubicBezTo>
                    <a:pt x="120206" y="281654"/>
                    <a:pt x="121444" y="277749"/>
                    <a:pt x="121444" y="273653"/>
                  </a:cubicBezTo>
                  <a:cubicBezTo>
                    <a:pt x="121444" y="262985"/>
                    <a:pt x="112776" y="254318"/>
                    <a:pt x="102108" y="254318"/>
                  </a:cubicBezTo>
                  <a:cubicBezTo>
                    <a:pt x="91440" y="254318"/>
                    <a:pt x="82772" y="262985"/>
                    <a:pt x="82772" y="273653"/>
                  </a:cubicBezTo>
                  <a:cubicBezTo>
                    <a:pt x="82772" y="277749"/>
                    <a:pt x="84011" y="281654"/>
                    <a:pt x="86392" y="284988"/>
                  </a:cubicBezTo>
                  <a:lnTo>
                    <a:pt x="87344" y="286322"/>
                  </a:lnTo>
                  <a:lnTo>
                    <a:pt x="85916" y="287084"/>
                  </a:lnTo>
                  <a:cubicBezTo>
                    <a:pt x="75533" y="292703"/>
                    <a:pt x="68771" y="303467"/>
                    <a:pt x="68199" y="315278"/>
                  </a:cubicBezTo>
                  <a:lnTo>
                    <a:pt x="68009" y="318611"/>
                  </a:lnTo>
                  <a:lnTo>
                    <a:pt x="65723" y="316135"/>
                  </a:lnTo>
                  <a:cubicBezTo>
                    <a:pt x="57055" y="306896"/>
                    <a:pt x="52197" y="294799"/>
                    <a:pt x="52197" y="282035"/>
                  </a:cubicBezTo>
                  <a:cubicBezTo>
                    <a:pt x="52197" y="254603"/>
                    <a:pt x="74486" y="232315"/>
                    <a:pt x="101917" y="232315"/>
                  </a:cubicBezTo>
                  <a:cubicBezTo>
                    <a:pt x="129350" y="232315"/>
                    <a:pt x="151638" y="254603"/>
                    <a:pt x="151638" y="282035"/>
                  </a:cubicBezTo>
                  <a:cubicBezTo>
                    <a:pt x="151638" y="294704"/>
                    <a:pt x="146876" y="306896"/>
                    <a:pt x="138113" y="316135"/>
                  </a:cubicBezTo>
                  <a:lnTo>
                    <a:pt x="135827" y="318611"/>
                  </a:lnTo>
                  <a:close/>
                  <a:moveTo>
                    <a:pt x="102108" y="235077"/>
                  </a:moveTo>
                  <a:cubicBezTo>
                    <a:pt x="76295" y="235077"/>
                    <a:pt x="55245" y="256127"/>
                    <a:pt x="55245" y="281940"/>
                  </a:cubicBezTo>
                  <a:cubicBezTo>
                    <a:pt x="55245" y="292799"/>
                    <a:pt x="58960" y="303276"/>
                    <a:pt x="65818" y="311658"/>
                  </a:cubicBezTo>
                  <a:cubicBezTo>
                    <a:pt x="67342" y="300800"/>
                    <a:pt x="73819" y="290989"/>
                    <a:pt x="83344" y="285274"/>
                  </a:cubicBezTo>
                  <a:cubicBezTo>
                    <a:pt x="81153" y="281750"/>
                    <a:pt x="80010" y="277749"/>
                    <a:pt x="80010" y="273653"/>
                  </a:cubicBezTo>
                  <a:cubicBezTo>
                    <a:pt x="80010" y="261461"/>
                    <a:pt x="89916" y="251460"/>
                    <a:pt x="102203" y="251460"/>
                  </a:cubicBezTo>
                  <a:cubicBezTo>
                    <a:pt x="114491" y="251460"/>
                    <a:pt x="124397" y="261366"/>
                    <a:pt x="124397" y="273653"/>
                  </a:cubicBezTo>
                  <a:cubicBezTo>
                    <a:pt x="124397" y="277844"/>
                    <a:pt x="123254" y="281845"/>
                    <a:pt x="121063" y="285274"/>
                  </a:cubicBezTo>
                  <a:cubicBezTo>
                    <a:pt x="130588" y="290989"/>
                    <a:pt x="136970" y="300800"/>
                    <a:pt x="138589" y="311658"/>
                  </a:cubicBezTo>
                  <a:cubicBezTo>
                    <a:pt x="145447" y="303276"/>
                    <a:pt x="149162" y="292894"/>
                    <a:pt x="149162" y="281940"/>
                  </a:cubicBezTo>
                  <a:cubicBezTo>
                    <a:pt x="149162" y="256032"/>
                    <a:pt x="128111" y="235077"/>
                    <a:pt x="102298" y="235077"/>
                  </a:cubicBezTo>
                  <a:close/>
                  <a:moveTo>
                    <a:pt x="194405" y="279940"/>
                  </a:moveTo>
                  <a:lnTo>
                    <a:pt x="156115" y="279940"/>
                  </a:lnTo>
                  <a:lnTo>
                    <a:pt x="156115" y="278606"/>
                  </a:lnTo>
                  <a:cubicBezTo>
                    <a:pt x="154210" y="250222"/>
                    <a:pt x="130588" y="228029"/>
                    <a:pt x="102108" y="228029"/>
                  </a:cubicBezTo>
                  <a:cubicBezTo>
                    <a:pt x="97536" y="228029"/>
                    <a:pt x="93059" y="228600"/>
                    <a:pt x="88773" y="229648"/>
                  </a:cubicBezTo>
                  <a:lnTo>
                    <a:pt x="87440" y="229934"/>
                  </a:lnTo>
                  <a:lnTo>
                    <a:pt x="75629" y="193453"/>
                  </a:lnTo>
                  <a:lnTo>
                    <a:pt x="76867" y="192977"/>
                  </a:lnTo>
                  <a:cubicBezTo>
                    <a:pt x="97536" y="184690"/>
                    <a:pt x="110966" y="165068"/>
                    <a:pt x="110966" y="142780"/>
                  </a:cubicBezTo>
                  <a:cubicBezTo>
                    <a:pt x="110966" y="132493"/>
                    <a:pt x="108109" y="122492"/>
                    <a:pt x="102584" y="113919"/>
                  </a:cubicBezTo>
                  <a:lnTo>
                    <a:pt x="101822" y="112776"/>
                  </a:lnTo>
                  <a:lnTo>
                    <a:pt x="132779" y="90202"/>
                  </a:lnTo>
                  <a:lnTo>
                    <a:pt x="133636" y="91250"/>
                  </a:lnTo>
                  <a:cubicBezTo>
                    <a:pt x="143923" y="103632"/>
                    <a:pt x="159068" y="110776"/>
                    <a:pt x="175165" y="110776"/>
                  </a:cubicBezTo>
                  <a:cubicBezTo>
                    <a:pt x="191262" y="110776"/>
                    <a:pt x="206407" y="103632"/>
                    <a:pt x="216694" y="91250"/>
                  </a:cubicBezTo>
                  <a:lnTo>
                    <a:pt x="217551" y="90202"/>
                  </a:lnTo>
                  <a:lnTo>
                    <a:pt x="248507" y="112776"/>
                  </a:lnTo>
                  <a:lnTo>
                    <a:pt x="247745" y="113919"/>
                  </a:lnTo>
                  <a:cubicBezTo>
                    <a:pt x="242316" y="122587"/>
                    <a:pt x="239363" y="132493"/>
                    <a:pt x="239363" y="142780"/>
                  </a:cubicBezTo>
                  <a:cubicBezTo>
                    <a:pt x="239363" y="165068"/>
                    <a:pt x="252698" y="184690"/>
                    <a:pt x="273368" y="192977"/>
                  </a:cubicBezTo>
                  <a:lnTo>
                    <a:pt x="274606" y="193453"/>
                  </a:lnTo>
                  <a:lnTo>
                    <a:pt x="262795" y="229934"/>
                  </a:lnTo>
                  <a:lnTo>
                    <a:pt x="261461" y="229648"/>
                  </a:lnTo>
                  <a:cubicBezTo>
                    <a:pt x="257080" y="228505"/>
                    <a:pt x="252603" y="228029"/>
                    <a:pt x="248031" y="228029"/>
                  </a:cubicBezTo>
                  <a:cubicBezTo>
                    <a:pt x="219647" y="228029"/>
                    <a:pt x="195929" y="250222"/>
                    <a:pt x="194120" y="278606"/>
                  </a:cubicBezTo>
                  <a:lnTo>
                    <a:pt x="194120" y="279940"/>
                  </a:lnTo>
                  <a:close/>
                  <a:moveTo>
                    <a:pt x="158782" y="277082"/>
                  </a:moveTo>
                  <a:lnTo>
                    <a:pt x="191738" y="277082"/>
                  </a:lnTo>
                  <a:cubicBezTo>
                    <a:pt x="194310" y="247841"/>
                    <a:pt x="218885" y="225171"/>
                    <a:pt x="248412" y="225171"/>
                  </a:cubicBezTo>
                  <a:cubicBezTo>
                    <a:pt x="252698" y="225171"/>
                    <a:pt x="256985" y="225647"/>
                    <a:pt x="261176" y="226600"/>
                  </a:cubicBezTo>
                  <a:lnTo>
                    <a:pt x="271367" y="195263"/>
                  </a:lnTo>
                  <a:cubicBezTo>
                    <a:pt x="250317" y="186309"/>
                    <a:pt x="236792" y="165926"/>
                    <a:pt x="236792" y="142875"/>
                  </a:cubicBezTo>
                  <a:cubicBezTo>
                    <a:pt x="236792" y="132493"/>
                    <a:pt x="239554" y="122396"/>
                    <a:pt x="244888" y="113633"/>
                  </a:cubicBezTo>
                  <a:lnTo>
                    <a:pt x="218218" y="94202"/>
                  </a:lnTo>
                  <a:cubicBezTo>
                    <a:pt x="207359" y="106680"/>
                    <a:pt x="191833" y="113728"/>
                    <a:pt x="175355" y="113728"/>
                  </a:cubicBezTo>
                  <a:cubicBezTo>
                    <a:pt x="158877" y="113728"/>
                    <a:pt x="143256" y="106585"/>
                    <a:pt x="132493" y="94202"/>
                  </a:cubicBezTo>
                  <a:lnTo>
                    <a:pt x="105823" y="113633"/>
                  </a:lnTo>
                  <a:cubicBezTo>
                    <a:pt x="111157" y="122396"/>
                    <a:pt x="113919" y="132493"/>
                    <a:pt x="113919" y="142875"/>
                  </a:cubicBezTo>
                  <a:cubicBezTo>
                    <a:pt x="113919" y="165830"/>
                    <a:pt x="100394" y="186214"/>
                    <a:pt x="79343" y="195263"/>
                  </a:cubicBezTo>
                  <a:lnTo>
                    <a:pt x="89535" y="226600"/>
                  </a:lnTo>
                  <a:cubicBezTo>
                    <a:pt x="93726" y="225647"/>
                    <a:pt x="98012" y="225171"/>
                    <a:pt x="102298" y="225171"/>
                  </a:cubicBezTo>
                  <a:cubicBezTo>
                    <a:pt x="131826" y="225171"/>
                    <a:pt x="156401" y="247841"/>
                    <a:pt x="158972" y="277082"/>
                  </a:cubicBezTo>
                  <a:close/>
                  <a:moveTo>
                    <a:pt x="293561" y="192596"/>
                  </a:moveTo>
                  <a:cubicBezTo>
                    <a:pt x="283274" y="192596"/>
                    <a:pt x="273368" y="189452"/>
                    <a:pt x="264986" y="183547"/>
                  </a:cubicBezTo>
                  <a:lnTo>
                    <a:pt x="264509" y="183166"/>
                  </a:lnTo>
                  <a:lnTo>
                    <a:pt x="264509" y="182594"/>
                  </a:lnTo>
                  <a:cubicBezTo>
                    <a:pt x="264128" y="180975"/>
                    <a:pt x="263938" y="179261"/>
                    <a:pt x="263938" y="177546"/>
                  </a:cubicBezTo>
                  <a:cubicBezTo>
                    <a:pt x="263938" y="165164"/>
                    <a:pt x="271748" y="153924"/>
                    <a:pt x="283464" y="149733"/>
                  </a:cubicBezTo>
                  <a:cubicBezTo>
                    <a:pt x="284131" y="149447"/>
                    <a:pt x="284702" y="148876"/>
                    <a:pt x="284798" y="148114"/>
                  </a:cubicBezTo>
                  <a:cubicBezTo>
                    <a:pt x="284893" y="147352"/>
                    <a:pt x="284607" y="146590"/>
                    <a:pt x="284036" y="146114"/>
                  </a:cubicBezTo>
                  <a:cubicBezTo>
                    <a:pt x="280511" y="143256"/>
                    <a:pt x="278511" y="138970"/>
                    <a:pt x="278511" y="134398"/>
                  </a:cubicBezTo>
                  <a:cubicBezTo>
                    <a:pt x="278511" y="126111"/>
                    <a:pt x="285274" y="119348"/>
                    <a:pt x="293561" y="119348"/>
                  </a:cubicBezTo>
                  <a:cubicBezTo>
                    <a:pt x="301847" y="119348"/>
                    <a:pt x="308610" y="126111"/>
                    <a:pt x="308610" y="134398"/>
                  </a:cubicBezTo>
                  <a:cubicBezTo>
                    <a:pt x="308610" y="138970"/>
                    <a:pt x="306610" y="143256"/>
                    <a:pt x="303086" y="146114"/>
                  </a:cubicBezTo>
                  <a:cubicBezTo>
                    <a:pt x="302514" y="146590"/>
                    <a:pt x="302228" y="147352"/>
                    <a:pt x="302324" y="148114"/>
                  </a:cubicBezTo>
                  <a:cubicBezTo>
                    <a:pt x="302419" y="148876"/>
                    <a:pt x="302990" y="149447"/>
                    <a:pt x="303752" y="149733"/>
                  </a:cubicBezTo>
                  <a:cubicBezTo>
                    <a:pt x="315373" y="154019"/>
                    <a:pt x="323183" y="165164"/>
                    <a:pt x="323183" y="177546"/>
                  </a:cubicBezTo>
                  <a:cubicBezTo>
                    <a:pt x="323183" y="179261"/>
                    <a:pt x="322993" y="180975"/>
                    <a:pt x="322707" y="182594"/>
                  </a:cubicBezTo>
                  <a:lnTo>
                    <a:pt x="322707" y="183166"/>
                  </a:lnTo>
                  <a:cubicBezTo>
                    <a:pt x="322707" y="183166"/>
                    <a:pt x="322136" y="183547"/>
                    <a:pt x="322136" y="183547"/>
                  </a:cubicBezTo>
                  <a:cubicBezTo>
                    <a:pt x="313754" y="189452"/>
                    <a:pt x="303848" y="192596"/>
                    <a:pt x="293561" y="192596"/>
                  </a:cubicBezTo>
                  <a:close/>
                  <a:moveTo>
                    <a:pt x="267176" y="181642"/>
                  </a:moveTo>
                  <a:cubicBezTo>
                    <a:pt x="274987" y="186976"/>
                    <a:pt x="284131" y="189833"/>
                    <a:pt x="293656" y="189833"/>
                  </a:cubicBezTo>
                  <a:cubicBezTo>
                    <a:pt x="303181" y="189833"/>
                    <a:pt x="312325" y="186976"/>
                    <a:pt x="320135" y="181642"/>
                  </a:cubicBezTo>
                  <a:cubicBezTo>
                    <a:pt x="320326" y="180404"/>
                    <a:pt x="320421" y="179070"/>
                    <a:pt x="320421" y="177641"/>
                  </a:cubicBezTo>
                  <a:cubicBezTo>
                    <a:pt x="320421" y="166402"/>
                    <a:pt x="313373" y="156305"/>
                    <a:pt x="302800" y="152495"/>
                  </a:cubicBezTo>
                  <a:cubicBezTo>
                    <a:pt x="301085" y="151829"/>
                    <a:pt x="299847" y="150400"/>
                    <a:pt x="299561" y="148685"/>
                  </a:cubicBezTo>
                  <a:cubicBezTo>
                    <a:pt x="299276" y="146876"/>
                    <a:pt x="299942" y="145161"/>
                    <a:pt x="301276" y="144018"/>
                  </a:cubicBezTo>
                  <a:cubicBezTo>
                    <a:pt x="304133" y="141637"/>
                    <a:pt x="305753" y="138208"/>
                    <a:pt x="305753" y="134493"/>
                  </a:cubicBezTo>
                  <a:cubicBezTo>
                    <a:pt x="305753" y="127730"/>
                    <a:pt x="300323" y="122301"/>
                    <a:pt x="293561" y="122301"/>
                  </a:cubicBezTo>
                  <a:cubicBezTo>
                    <a:pt x="286798" y="122301"/>
                    <a:pt x="281369" y="127730"/>
                    <a:pt x="281369" y="134493"/>
                  </a:cubicBezTo>
                  <a:cubicBezTo>
                    <a:pt x="281369" y="138208"/>
                    <a:pt x="282988" y="141637"/>
                    <a:pt x="285845" y="144018"/>
                  </a:cubicBezTo>
                  <a:cubicBezTo>
                    <a:pt x="287274" y="145161"/>
                    <a:pt x="287941" y="146971"/>
                    <a:pt x="287560" y="148685"/>
                  </a:cubicBezTo>
                  <a:cubicBezTo>
                    <a:pt x="287274" y="150400"/>
                    <a:pt x="286036" y="151924"/>
                    <a:pt x="284417" y="152495"/>
                  </a:cubicBezTo>
                  <a:cubicBezTo>
                    <a:pt x="273844" y="156305"/>
                    <a:pt x="266795" y="166402"/>
                    <a:pt x="266795" y="177641"/>
                  </a:cubicBezTo>
                  <a:cubicBezTo>
                    <a:pt x="266795" y="178975"/>
                    <a:pt x="266891" y="180308"/>
                    <a:pt x="267081" y="181642"/>
                  </a:cubicBezTo>
                  <a:close/>
                  <a:moveTo>
                    <a:pt x="56959" y="192596"/>
                  </a:moveTo>
                  <a:cubicBezTo>
                    <a:pt x="46768" y="192596"/>
                    <a:pt x="37052" y="189548"/>
                    <a:pt x="28766" y="183833"/>
                  </a:cubicBezTo>
                  <a:lnTo>
                    <a:pt x="28480" y="183642"/>
                  </a:lnTo>
                  <a:lnTo>
                    <a:pt x="28099" y="182785"/>
                  </a:lnTo>
                  <a:cubicBezTo>
                    <a:pt x="27813" y="181070"/>
                    <a:pt x="27623" y="179451"/>
                    <a:pt x="27623" y="177641"/>
                  </a:cubicBezTo>
                  <a:cubicBezTo>
                    <a:pt x="27623" y="165259"/>
                    <a:pt x="35433" y="154019"/>
                    <a:pt x="47054" y="149828"/>
                  </a:cubicBezTo>
                  <a:cubicBezTo>
                    <a:pt x="47720" y="149543"/>
                    <a:pt x="48292" y="148971"/>
                    <a:pt x="48387" y="148209"/>
                  </a:cubicBezTo>
                  <a:cubicBezTo>
                    <a:pt x="48482" y="147447"/>
                    <a:pt x="48197" y="146685"/>
                    <a:pt x="47625" y="146209"/>
                  </a:cubicBezTo>
                  <a:cubicBezTo>
                    <a:pt x="44101" y="143351"/>
                    <a:pt x="42101" y="139065"/>
                    <a:pt x="42101" y="134493"/>
                  </a:cubicBezTo>
                  <a:cubicBezTo>
                    <a:pt x="42101" y="126206"/>
                    <a:pt x="48863" y="119444"/>
                    <a:pt x="57150" y="119444"/>
                  </a:cubicBezTo>
                  <a:cubicBezTo>
                    <a:pt x="65437" y="119444"/>
                    <a:pt x="72200" y="126206"/>
                    <a:pt x="72200" y="134493"/>
                  </a:cubicBezTo>
                  <a:cubicBezTo>
                    <a:pt x="72200" y="139065"/>
                    <a:pt x="70199" y="143351"/>
                    <a:pt x="66675" y="146209"/>
                  </a:cubicBezTo>
                  <a:cubicBezTo>
                    <a:pt x="66104" y="146685"/>
                    <a:pt x="65818" y="147447"/>
                    <a:pt x="65913" y="148209"/>
                  </a:cubicBezTo>
                  <a:cubicBezTo>
                    <a:pt x="66008" y="148971"/>
                    <a:pt x="66580" y="149543"/>
                    <a:pt x="67342" y="149828"/>
                  </a:cubicBezTo>
                  <a:cubicBezTo>
                    <a:pt x="78962" y="154115"/>
                    <a:pt x="86773" y="165259"/>
                    <a:pt x="86773" y="177641"/>
                  </a:cubicBezTo>
                  <a:cubicBezTo>
                    <a:pt x="86773" y="179356"/>
                    <a:pt x="86678" y="180975"/>
                    <a:pt x="86392" y="182499"/>
                  </a:cubicBezTo>
                  <a:lnTo>
                    <a:pt x="86392" y="183071"/>
                  </a:lnTo>
                  <a:cubicBezTo>
                    <a:pt x="86392" y="183071"/>
                    <a:pt x="85820" y="183452"/>
                    <a:pt x="85820" y="183452"/>
                  </a:cubicBezTo>
                  <a:cubicBezTo>
                    <a:pt x="77343" y="189452"/>
                    <a:pt x="67437" y="192691"/>
                    <a:pt x="56959" y="192691"/>
                  </a:cubicBezTo>
                  <a:close/>
                  <a:moveTo>
                    <a:pt x="30766" y="181832"/>
                  </a:moveTo>
                  <a:cubicBezTo>
                    <a:pt x="38481" y="187071"/>
                    <a:pt x="47530" y="189833"/>
                    <a:pt x="56959" y="189833"/>
                  </a:cubicBezTo>
                  <a:cubicBezTo>
                    <a:pt x="66389" y="189833"/>
                    <a:pt x="75819" y="186976"/>
                    <a:pt x="83725" y="181451"/>
                  </a:cubicBezTo>
                  <a:cubicBezTo>
                    <a:pt x="83915" y="180213"/>
                    <a:pt x="84011" y="178975"/>
                    <a:pt x="84011" y="177641"/>
                  </a:cubicBezTo>
                  <a:cubicBezTo>
                    <a:pt x="84011" y="166402"/>
                    <a:pt x="76962" y="156305"/>
                    <a:pt x="66389" y="152495"/>
                  </a:cubicBezTo>
                  <a:cubicBezTo>
                    <a:pt x="64675" y="151829"/>
                    <a:pt x="63532" y="150400"/>
                    <a:pt x="63151" y="148685"/>
                  </a:cubicBezTo>
                  <a:cubicBezTo>
                    <a:pt x="62865" y="146971"/>
                    <a:pt x="63532" y="145161"/>
                    <a:pt x="64865" y="144018"/>
                  </a:cubicBezTo>
                  <a:cubicBezTo>
                    <a:pt x="67723" y="141637"/>
                    <a:pt x="69342" y="138208"/>
                    <a:pt x="69342" y="134493"/>
                  </a:cubicBezTo>
                  <a:cubicBezTo>
                    <a:pt x="69342" y="127730"/>
                    <a:pt x="63818" y="122301"/>
                    <a:pt x="57150" y="122301"/>
                  </a:cubicBezTo>
                  <a:cubicBezTo>
                    <a:pt x="50483" y="122301"/>
                    <a:pt x="44958" y="127730"/>
                    <a:pt x="44958" y="134493"/>
                  </a:cubicBezTo>
                  <a:cubicBezTo>
                    <a:pt x="44958" y="138208"/>
                    <a:pt x="46577" y="141637"/>
                    <a:pt x="49435" y="144018"/>
                  </a:cubicBezTo>
                  <a:cubicBezTo>
                    <a:pt x="50864" y="145161"/>
                    <a:pt x="51530" y="146971"/>
                    <a:pt x="51149" y="148685"/>
                  </a:cubicBezTo>
                  <a:cubicBezTo>
                    <a:pt x="50864" y="150400"/>
                    <a:pt x="49625" y="151924"/>
                    <a:pt x="48006" y="152495"/>
                  </a:cubicBezTo>
                  <a:cubicBezTo>
                    <a:pt x="37433" y="156305"/>
                    <a:pt x="30385" y="166402"/>
                    <a:pt x="30385" y="177641"/>
                  </a:cubicBezTo>
                  <a:cubicBezTo>
                    <a:pt x="30385" y="179165"/>
                    <a:pt x="30480" y="180499"/>
                    <a:pt x="30671" y="181832"/>
                  </a:cubicBezTo>
                  <a:close/>
                  <a:moveTo>
                    <a:pt x="23241" y="179642"/>
                  </a:moveTo>
                  <a:lnTo>
                    <a:pt x="20955" y="177165"/>
                  </a:lnTo>
                  <a:cubicBezTo>
                    <a:pt x="12097" y="167831"/>
                    <a:pt x="7239" y="155734"/>
                    <a:pt x="7239" y="142875"/>
                  </a:cubicBezTo>
                  <a:cubicBezTo>
                    <a:pt x="7239" y="115443"/>
                    <a:pt x="29528" y="93059"/>
                    <a:pt x="56959" y="93059"/>
                  </a:cubicBezTo>
                  <a:cubicBezTo>
                    <a:pt x="84392" y="93059"/>
                    <a:pt x="106775" y="115348"/>
                    <a:pt x="106775" y="142875"/>
                  </a:cubicBezTo>
                  <a:cubicBezTo>
                    <a:pt x="106775" y="155448"/>
                    <a:pt x="102013" y="167450"/>
                    <a:pt x="93536" y="176689"/>
                  </a:cubicBezTo>
                  <a:lnTo>
                    <a:pt x="91250" y="179165"/>
                  </a:lnTo>
                  <a:lnTo>
                    <a:pt x="91059" y="175831"/>
                  </a:lnTo>
                  <a:cubicBezTo>
                    <a:pt x="90392" y="164021"/>
                    <a:pt x="83820" y="153543"/>
                    <a:pt x="73343" y="147923"/>
                  </a:cubicBezTo>
                  <a:lnTo>
                    <a:pt x="71914" y="147161"/>
                  </a:lnTo>
                  <a:lnTo>
                    <a:pt x="72866" y="145828"/>
                  </a:lnTo>
                  <a:cubicBezTo>
                    <a:pt x="75248" y="142589"/>
                    <a:pt x="76486" y="138684"/>
                    <a:pt x="76486" y="134493"/>
                  </a:cubicBezTo>
                  <a:cubicBezTo>
                    <a:pt x="76486" y="123825"/>
                    <a:pt x="67818" y="115253"/>
                    <a:pt x="57150" y="115253"/>
                  </a:cubicBezTo>
                  <a:cubicBezTo>
                    <a:pt x="46482" y="115253"/>
                    <a:pt x="37814" y="123920"/>
                    <a:pt x="37814" y="134493"/>
                  </a:cubicBezTo>
                  <a:cubicBezTo>
                    <a:pt x="37814" y="138589"/>
                    <a:pt x="39053" y="142494"/>
                    <a:pt x="41434" y="145828"/>
                  </a:cubicBezTo>
                  <a:lnTo>
                    <a:pt x="42386" y="147161"/>
                  </a:lnTo>
                  <a:lnTo>
                    <a:pt x="40958" y="147923"/>
                  </a:lnTo>
                  <a:cubicBezTo>
                    <a:pt x="30480" y="153638"/>
                    <a:pt x="23717" y="164497"/>
                    <a:pt x="23241" y="176308"/>
                  </a:cubicBezTo>
                  <a:lnTo>
                    <a:pt x="23241" y="179642"/>
                  </a:lnTo>
                  <a:close/>
                  <a:moveTo>
                    <a:pt x="56959" y="95917"/>
                  </a:moveTo>
                  <a:cubicBezTo>
                    <a:pt x="31147" y="95917"/>
                    <a:pt x="10097" y="116967"/>
                    <a:pt x="10097" y="142875"/>
                  </a:cubicBezTo>
                  <a:cubicBezTo>
                    <a:pt x="10097" y="153829"/>
                    <a:pt x="13907" y="164402"/>
                    <a:pt x="20860" y="172784"/>
                  </a:cubicBezTo>
                  <a:cubicBezTo>
                    <a:pt x="22289" y="161830"/>
                    <a:pt x="28766" y="151924"/>
                    <a:pt x="38386" y="146114"/>
                  </a:cubicBezTo>
                  <a:cubicBezTo>
                    <a:pt x="36195" y="142589"/>
                    <a:pt x="35052" y="138589"/>
                    <a:pt x="35052" y="134493"/>
                  </a:cubicBezTo>
                  <a:cubicBezTo>
                    <a:pt x="35052" y="122301"/>
                    <a:pt x="44958" y="112395"/>
                    <a:pt x="57245" y="112395"/>
                  </a:cubicBezTo>
                  <a:cubicBezTo>
                    <a:pt x="69533" y="112395"/>
                    <a:pt x="79439" y="122301"/>
                    <a:pt x="79439" y="134493"/>
                  </a:cubicBezTo>
                  <a:cubicBezTo>
                    <a:pt x="79439" y="138684"/>
                    <a:pt x="78296" y="142685"/>
                    <a:pt x="76105" y="146114"/>
                  </a:cubicBezTo>
                  <a:cubicBezTo>
                    <a:pt x="85630" y="151829"/>
                    <a:pt x="92012" y="161354"/>
                    <a:pt x="93536" y="172212"/>
                  </a:cubicBezTo>
                  <a:cubicBezTo>
                    <a:pt x="100203" y="163925"/>
                    <a:pt x="103918" y="153543"/>
                    <a:pt x="103918" y="142780"/>
                  </a:cubicBezTo>
                  <a:cubicBezTo>
                    <a:pt x="103918" y="116872"/>
                    <a:pt x="82867" y="95822"/>
                    <a:pt x="57055" y="95822"/>
                  </a:cubicBezTo>
                  <a:close/>
                  <a:moveTo>
                    <a:pt x="327565" y="179356"/>
                  </a:moveTo>
                  <a:lnTo>
                    <a:pt x="327374" y="176022"/>
                  </a:lnTo>
                  <a:cubicBezTo>
                    <a:pt x="326803" y="164306"/>
                    <a:pt x="320040" y="153543"/>
                    <a:pt x="309658" y="147828"/>
                  </a:cubicBezTo>
                  <a:lnTo>
                    <a:pt x="308229" y="147066"/>
                  </a:lnTo>
                  <a:lnTo>
                    <a:pt x="309182" y="145733"/>
                  </a:lnTo>
                  <a:cubicBezTo>
                    <a:pt x="311563" y="142399"/>
                    <a:pt x="312801" y="138494"/>
                    <a:pt x="312801" y="134398"/>
                  </a:cubicBezTo>
                  <a:cubicBezTo>
                    <a:pt x="312801" y="123730"/>
                    <a:pt x="304133" y="115157"/>
                    <a:pt x="293465" y="115157"/>
                  </a:cubicBezTo>
                  <a:cubicBezTo>
                    <a:pt x="282797" y="115157"/>
                    <a:pt x="274130" y="123825"/>
                    <a:pt x="274130" y="134398"/>
                  </a:cubicBezTo>
                  <a:cubicBezTo>
                    <a:pt x="274130" y="138494"/>
                    <a:pt x="275368" y="142399"/>
                    <a:pt x="277749" y="145733"/>
                  </a:cubicBezTo>
                  <a:lnTo>
                    <a:pt x="278702" y="147066"/>
                  </a:lnTo>
                  <a:lnTo>
                    <a:pt x="277273" y="147828"/>
                  </a:lnTo>
                  <a:cubicBezTo>
                    <a:pt x="266891" y="153448"/>
                    <a:pt x="260128" y="164306"/>
                    <a:pt x="259556" y="176022"/>
                  </a:cubicBezTo>
                  <a:lnTo>
                    <a:pt x="259366" y="179356"/>
                  </a:lnTo>
                  <a:lnTo>
                    <a:pt x="257080" y="176879"/>
                  </a:lnTo>
                  <a:cubicBezTo>
                    <a:pt x="248412" y="167640"/>
                    <a:pt x="243554" y="155543"/>
                    <a:pt x="243554" y="142780"/>
                  </a:cubicBezTo>
                  <a:cubicBezTo>
                    <a:pt x="243554" y="115348"/>
                    <a:pt x="265843" y="92964"/>
                    <a:pt x="293275" y="92964"/>
                  </a:cubicBezTo>
                  <a:cubicBezTo>
                    <a:pt x="320707" y="92964"/>
                    <a:pt x="343090" y="115253"/>
                    <a:pt x="343090" y="142780"/>
                  </a:cubicBezTo>
                  <a:cubicBezTo>
                    <a:pt x="343090" y="155448"/>
                    <a:pt x="338328" y="167545"/>
                    <a:pt x="329565" y="176879"/>
                  </a:cubicBezTo>
                  <a:lnTo>
                    <a:pt x="327279" y="179356"/>
                  </a:lnTo>
                  <a:close/>
                  <a:moveTo>
                    <a:pt x="312420" y="146114"/>
                  </a:moveTo>
                  <a:cubicBezTo>
                    <a:pt x="321945" y="151829"/>
                    <a:pt x="328327" y="161639"/>
                    <a:pt x="329946" y="172498"/>
                  </a:cubicBezTo>
                  <a:cubicBezTo>
                    <a:pt x="336804" y="164116"/>
                    <a:pt x="340519" y="153734"/>
                    <a:pt x="340519" y="142875"/>
                  </a:cubicBezTo>
                  <a:cubicBezTo>
                    <a:pt x="340519" y="116967"/>
                    <a:pt x="319469" y="95917"/>
                    <a:pt x="293656" y="95917"/>
                  </a:cubicBezTo>
                  <a:cubicBezTo>
                    <a:pt x="267843" y="95917"/>
                    <a:pt x="246793" y="116967"/>
                    <a:pt x="246793" y="142875"/>
                  </a:cubicBezTo>
                  <a:cubicBezTo>
                    <a:pt x="246793" y="153734"/>
                    <a:pt x="250508" y="164211"/>
                    <a:pt x="257366" y="172498"/>
                  </a:cubicBezTo>
                  <a:cubicBezTo>
                    <a:pt x="258890" y="161639"/>
                    <a:pt x="265367" y="151829"/>
                    <a:pt x="274796" y="146114"/>
                  </a:cubicBezTo>
                  <a:cubicBezTo>
                    <a:pt x="272606" y="142589"/>
                    <a:pt x="271463" y="138589"/>
                    <a:pt x="271463" y="134493"/>
                  </a:cubicBezTo>
                  <a:cubicBezTo>
                    <a:pt x="271463" y="122301"/>
                    <a:pt x="281369" y="112395"/>
                    <a:pt x="293656" y="112395"/>
                  </a:cubicBezTo>
                  <a:cubicBezTo>
                    <a:pt x="305943" y="112395"/>
                    <a:pt x="315849" y="122301"/>
                    <a:pt x="315849" y="134493"/>
                  </a:cubicBezTo>
                  <a:cubicBezTo>
                    <a:pt x="315849" y="138684"/>
                    <a:pt x="314706" y="142685"/>
                    <a:pt x="312515" y="146114"/>
                  </a:cubicBezTo>
                  <a:close/>
                  <a:moveTo>
                    <a:pt x="175260" y="106680"/>
                  </a:moveTo>
                  <a:cubicBezTo>
                    <a:pt x="164973" y="106680"/>
                    <a:pt x="155067" y="103537"/>
                    <a:pt x="146685" y="97631"/>
                  </a:cubicBezTo>
                  <a:lnTo>
                    <a:pt x="146114" y="97250"/>
                  </a:lnTo>
                  <a:lnTo>
                    <a:pt x="146114" y="96488"/>
                  </a:lnTo>
                  <a:cubicBezTo>
                    <a:pt x="145828" y="95059"/>
                    <a:pt x="145733" y="93345"/>
                    <a:pt x="145733" y="91631"/>
                  </a:cubicBezTo>
                  <a:cubicBezTo>
                    <a:pt x="145733" y="79248"/>
                    <a:pt x="153543" y="68104"/>
                    <a:pt x="165164" y="63818"/>
                  </a:cubicBezTo>
                  <a:cubicBezTo>
                    <a:pt x="165926" y="63532"/>
                    <a:pt x="166402" y="62960"/>
                    <a:pt x="166497" y="62198"/>
                  </a:cubicBezTo>
                  <a:cubicBezTo>
                    <a:pt x="166592" y="61436"/>
                    <a:pt x="166307" y="60674"/>
                    <a:pt x="165735" y="60198"/>
                  </a:cubicBezTo>
                  <a:cubicBezTo>
                    <a:pt x="162211" y="57341"/>
                    <a:pt x="160211" y="53054"/>
                    <a:pt x="160211" y="48482"/>
                  </a:cubicBezTo>
                  <a:cubicBezTo>
                    <a:pt x="160211" y="40195"/>
                    <a:pt x="166973" y="33433"/>
                    <a:pt x="175260" y="33433"/>
                  </a:cubicBezTo>
                  <a:cubicBezTo>
                    <a:pt x="183547" y="33433"/>
                    <a:pt x="190310" y="40195"/>
                    <a:pt x="190310" y="48482"/>
                  </a:cubicBezTo>
                  <a:cubicBezTo>
                    <a:pt x="190310" y="53054"/>
                    <a:pt x="188309" y="57245"/>
                    <a:pt x="184785" y="60198"/>
                  </a:cubicBezTo>
                  <a:cubicBezTo>
                    <a:pt x="184214" y="60674"/>
                    <a:pt x="183928" y="61436"/>
                    <a:pt x="184023" y="62198"/>
                  </a:cubicBezTo>
                  <a:cubicBezTo>
                    <a:pt x="184118" y="62960"/>
                    <a:pt x="184690" y="63627"/>
                    <a:pt x="185357" y="63818"/>
                  </a:cubicBezTo>
                  <a:cubicBezTo>
                    <a:pt x="196977" y="68104"/>
                    <a:pt x="204883" y="79248"/>
                    <a:pt x="204883" y="91631"/>
                  </a:cubicBezTo>
                  <a:cubicBezTo>
                    <a:pt x="204883" y="93440"/>
                    <a:pt x="204788" y="95059"/>
                    <a:pt x="204502" y="96679"/>
                  </a:cubicBezTo>
                  <a:lnTo>
                    <a:pt x="204502" y="97250"/>
                  </a:lnTo>
                  <a:cubicBezTo>
                    <a:pt x="204502" y="97250"/>
                    <a:pt x="203930" y="97631"/>
                    <a:pt x="203930" y="97631"/>
                  </a:cubicBezTo>
                  <a:cubicBezTo>
                    <a:pt x="195548" y="103537"/>
                    <a:pt x="185642" y="106680"/>
                    <a:pt x="175355" y="106680"/>
                  </a:cubicBezTo>
                  <a:close/>
                  <a:moveTo>
                    <a:pt x="148781" y="95631"/>
                  </a:moveTo>
                  <a:cubicBezTo>
                    <a:pt x="156591" y="100965"/>
                    <a:pt x="165735" y="103823"/>
                    <a:pt x="175260" y="103823"/>
                  </a:cubicBezTo>
                  <a:cubicBezTo>
                    <a:pt x="184785" y="103823"/>
                    <a:pt x="193929" y="100965"/>
                    <a:pt x="201740" y="95631"/>
                  </a:cubicBezTo>
                  <a:cubicBezTo>
                    <a:pt x="201930" y="94393"/>
                    <a:pt x="202025" y="93059"/>
                    <a:pt x="202025" y="91631"/>
                  </a:cubicBezTo>
                  <a:cubicBezTo>
                    <a:pt x="202025" y="80391"/>
                    <a:pt x="194977" y="70295"/>
                    <a:pt x="184404" y="66485"/>
                  </a:cubicBezTo>
                  <a:cubicBezTo>
                    <a:pt x="182785" y="65913"/>
                    <a:pt x="181547" y="64389"/>
                    <a:pt x="181261" y="62579"/>
                  </a:cubicBezTo>
                  <a:cubicBezTo>
                    <a:pt x="180975" y="60865"/>
                    <a:pt x="181642" y="59055"/>
                    <a:pt x="182975" y="57912"/>
                  </a:cubicBezTo>
                  <a:cubicBezTo>
                    <a:pt x="185833" y="55531"/>
                    <a:pt x="187452" y="52102"/>
                    <a:pt x="187452" y="48482"/>
                  </a:cubicBezTo>
                  <a:cubicBezTo>
                    <a:pt x="187452" y="41720"/>
                    <a:pt x="181928" y="36290"/>
                    <a:pt x="175260" y="36290"/>
                  </a:cubicBezTo>
                  <a:cubicBezTo>
                    <a:pt x="168593" y="36290"/>
                    <a:pt x="163068" y="41815"/>
                    <a:pt x="163068" y="48482"/>
                  </a:cubicBezTo>
                  <a:cubicBezTo>
                    <a:pt x="163068" y="52197"/>
                    <a:pt x="164687" y="55626"/>
                    <a:pt x="167545" y="57912"/>
                  </a:cubicBezTo>
                  <a:cubicBezTo>
                    <a:pt x="168974" y="59055"/>
                    <a:pt x="169640" y="60865"/>
                    <a:pt x="169259" y="62579"/>
                  </a:cubicBezTo>
                  <a:cubicBezTo>
                    <a:pt x="168974" y="64389"/>
                    <a:pt x="167735" y="65818"/>
                    <a:pt x="166021" y="66389"/>
                  </a:cubicBezTo>
                  <a:cubicBezTo>
                    <a:pt x="155543" y="70199"/>
                    <a:pt x="148400" y="80296"/>
                    <a:pt x="148400" y="91535"/>
                  </a:cubicBezTo>
                  <a:cubicBezTo>
                    <a:pt x="148400" y="92869"/>
                    <a:pt x="148400" y="94202"/>
                    <a:pt x="148685" y="95536"/>
                  </a:cubicBezTo>
                  <a:close/>
                  <a:moveTo>
                    <a:pt x="141351" y="93440"/>
                  </a:moveTo>
                  <a:lnTo>
                    <a:pt x="139065" y="90964"/>
                  </a:lnTo>
                  <a:cubicBezTo>
                    <a:pt x="130302" y="81725"/>
                    <a:pt x="125540" y="69533"/>
                    <a:pt x="125540" y="56864"/>
                  </a:cubicBezTo>
                  <a:cubicBezTo>
                    <a:pt x="125540" y="29432"/>
                    <a:pt x="147828" y="7144"/>
                    <a:pt x="175355" y="7144"/>
                  </a:cubicBezTo>
                  <a:cubicBezTo>
                    <a:pt x="202883" y="7144"/>
                    <a:pt x="225076" y="29432"/>
                    <a:pt x="225076" y="56864"/>
                  </a:cubicBezTo>
                  <a:cubicBezTo>
                    <a:pt x="225076" y="69628"/>
                    <a:pt x="220313" y="81725"/>
                    <a:pt x="211550" y="90964"/>
                  </a:cubicBezTo>
                  <a:lnTo>
                    <a:pt x="209264" y="93440"/>
                  </a:lnTo>
                  <a:lnTo>
                    <a:pt x="209074" y="90107"/>
                  </a:lnTo>
                  <a:cubicBezTo>
                    <a:pt x="208502" y="78391"/>
                    <a:pt x="201740" y="67532"/>
                    <a:pt x="191357" y="61913"/>
                  </a:cubicBezTo>
                  <a:lnTo>
                    <a:pt x="189929" y="61151"/>
                  </a:lnTo>
                  <a:lnTo>
                    <a:pt x="190881" y="59817"/>
                  </a:lnTo>
                  <a:cubicBezTo>
                    <a:pt x="193262" y="56483"/>
                    <a:pt x="194501" y="52578"/>
                    <a:pt x="194501" y="48482"/>
                  </a:cubicBezTo>
                  <a:cubicBezTo>
                    <a:pt x="194501" y="37814"/>
                    <a:pt x="185833" y="29147"/>
                    <a:pt x="175165" y="29147"/>
                  </a:cubicBezTo>
                  <a:cubicBezTo>
                    <a:pt x="164497" y="29147"/>
                    <a:pt x="155829" y="37814"/>
                    <a:pt x="155829" y="48482"/>
                  </a:cubicBezTo>
                  <a:cubicBezTo>
                    <a:pt x="155829" y="52578"/>
                    <a:pt x="157067" y="56483"/>
                    <a:pt x="159449" y="59817"/>
                  </a:cubicBezTo>
                  <a:lnTo>
                    <a:pt x="160401" y="61151"/>
                  </a:lnTo>
                  <a:lnTo>
                    <a:pt x="158972" y="61913"/>
                  </a:lnTo>
                  <a:cubicBezTo>
                    <a:pt x="148590" y="67532"/>
                    <a:pt x="141827" y="78296"/>
                    <a:pt x="141351" y="90107"/>
                  </a:cubicBezTo>
                  <a:lnTo>
                    <a:pt x="141161" y="93440"/>
                  </a:lnTo>
                  <a:close/>
                  <a:moveTo>
                    <a:pt x="194120" y="60103"/>
                  </a:moveTo>
                  <a:cubicBezTo>
                    <a:pt x="203645" y="65818"/>
                    <a:pt x="210026" y="75629"/>
                    <a:pt x="211645" y="86487"/>
                  </a:cubicBezTo>
                  <a:cubicBezTo>
                    <a:pt x="218504" y="78105"/>
                    <a:pt x="222218" y="67723"/>
                    <a:pt x="222218" y="56769"/>
                  </a:cubicBezTo>
                  <a:cubicBezTo>
                    <a:pt x="222218" y="30861"/>
                    <a:pt x="201168" y="9906"/>
                    <a:pt x="175355" y="9906"/>
                  </a:cubicBezTo>
                  <a:cubicBezTo>
                    <a:pt x="149543" y="9906"/>
                    <a:pt x="128492" y="30956"/>
                    <a:pt x="128492" y="56769"/>
                  </a:cubicBezTo>
                  <a:cubicBezTo>
                    <a:pt x="128492" y="67628"/>
                    <a:pt x="132207" y="78105"/>
                    <a:pt x="139065" y="86487"/>
                  </a:cubicBezTo>
                  <a:cubicBezTo>
                    <a:pt x="140589" y="75629"/>
                    <a:pt x="147066" y="65818"/>
                    <a:pt x="156496" y="60103"/>
                  </a:cubicBezTo>
                  <a:cubicBezTo>
                    <a:pt x="154305" y="56579"/>
                    <a:pt x="153162" y="52673"/>
                    <a:pt x="153162" y="48482"/>
                  </a:cubicBezTo>
                  <a:cubicBezTo>
                    <a:pt x="153162" y="36290"/>
                    <a:pt x="163068" y="26289"/>
                    <a:pt x="175355" y="26289"/>
                  </a:cubicBezTo>
                  <a:cubicBezTo>
                    <a:pt x="187643" y="26289"/>
                    <a:pt x="197549" y="36195"/>
                    <a:pt x="197549" y="48482"/>
                  </a:cubicBezTo>
                  <a:cubicBezTo>
                    <a:pt x="197549" y="52673"/>
                    <a:pt x="196406" y="56579"/>
                    <a:pt x="194215" y="6010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4373F"/>
                </a:solidFill>
                <a:effectLst/>
                <a:uLnTx/>
                <a:uFillTx/>
                <a:latin typeface="Calibri" panose="020F0502020204030204"/>
                <a:ea typeface="+mn-ea"/>
                <a:cs typeface="+mn-cs"/>
              </a:endParaRPr>
            </a:p>
          </p:txBody>
        </p:sp>
      </p:grpSp>
      <p:grpSp>
        <p:nvGrpSpPr>
          <p:cNvPr id="38" name="Group 37">
            <a:extLst>
              <a:ext uri="{FF2B5EF4-FFF2-40B4-BE49-F238E27FC236}">
                <a16:creationId xmlns:a16="http://schemas.microsoft.com/office/drawing/2014/main" id="{55C96945-8098-BE8A-380D-2BAF0A8E65E9}"/>
              </a:ext>
            </a:extLst>
          </p:cNvPr>
          <p:cNvGrpSpPr/>
          <p:nvPr/>
        </p:nvGrpSpPr>
        <p:grpSpPr>
          <a:xfrm>
            <a:off x="496158" y="3110948"/>
            <a:ext cx="2983536" cy="2018045"/>
            <a:chOff x="248508" y="3177623"/>
            <a:chExt cx="2983536" cy="2018045"/>
          </a:xfrm>
        </p:grpSpPr>
        <p:sp>
          <p:nvSpPr>
            <p:cNvPr id="8" name="Subtitle 2">
              <a:extLst>
                <a:ext uri="{FF2B5EF4-FFF2-40B4-BE49-F238E27FC236}">
                  <a16:creationId xmlns:a16="http://schemas.microsoft.com/office/drawing/2014/main" id="{9F58AEB2-BEC3-BEDF-E176-CDBB322110FB}"/>
                </a:ext>
              </a:extLst>
            </p:cNvPr>
            <p:cNvSpPr txBox="1">
              <a:spLocks/>
            </p:cNvSpPr>
            <p:nvPr/>
          </p:nvSpPr>
          <p:spPr>
            <a:xfrm>
              <a:off x="334963" y="3177623"/>
              <a:ext cx="2810627"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Reconstruct longitudinal patient pathways across providers using claims-derived care transitions</a:t>
              </a:r>
            </a:p>
          </p:txBody>
        </p:sp>
        <p:cxnSp>
          <p:nvCxnSpPr>
            <p:cNvPr id="32" name="Straight Connector 31">
              <a:extLst>
                <a:ext uri="{FF2B5EF4-FFF2-40B4-BE49-F238E27FC236}">
                  <a16:creationId xmlns:a16="http://schemas.microsoft.com/office/drawing/2014/main" id="{5107029E-A229-DDA4-A6C5-1AC710C83D1E}"/>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Subtitle 2">
              <a:extLst>
                <a:ext uri="{FF2B5EF4-FFF2-40B4-BE49-F238E27FC236}">
                  <a16:creationId xmlns:a16="http://schemas.microsoft.com/office/drawing/2014/main" id="{7F3D725C-3BDD-974B-4B3B-667B974F5F40}"/>
                </a:ext>
              </a:extLst>
            </p:cNvPr>
            <p:cNvSpPr txBox="1">
              <a:spLocks/>
            </p:cNvSpPr>
            <p:nvPr/>
          </p:nvSpPr>
          <p:spPr>
            <a:xfrm>
              <a:off x="248508" y="3936780"/>
              <a:ext cx="2983536"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Establish expected routing patterns by specialty progression and temporal sequencing</a:t>
              </a:r>
            </a:p>
          </p:txBody>
        </p:sp>
        <p:cxnSp>
          <p:nvCxnSpPr>
            <p:cNvPr id="34" name="Straight Connector 33">
              <a:extLst>
                <a:ext uri="{FF2B5EF4-FFF2-40B4-BE49-F238E27FC236}">
                  <a16:creationId xmlns:a16="http://schemas.microsoft.com/office/drawing/2014/main" id="{12B6499B-F47A-E7E9-7E4E-71129CD0D087}"/>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Subtitle 2">
              <a:extLst>
                <a:ext uri="{FF2B5EF4-FFF2-40B4-BE49-F238E27FC236}">
                  <a16:creationId xmlns:a16="http://schemas.microsoft.com/office/drawing/2014/main" id="{82642ACB-D61F-A801-EF6A-637C85398F38}"/>
                </a:ext>
              </a:extLst>
            </p:cNvPr>
            <p:cNvSpPr txBox="1">
              <a:spLocks/>
            </p:cNvSpPr>
            <p:nvPr/>
          </p:nvSpPr>
          <p:spPr>
            <a:xfrm>
              <a:off x="334963" y="4695937"/>
              <a:ext cx="2810627"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Compare observed journeys against expected pathways to detect deviations and extended discontinuities</a:t>
              </a:r>
            </a:p>
          </p:txBody>
        </p:sp>
      </p:grpSp>
      <p:grpSp>
        <p:nvGrpSpPr>
          <p:cNvPr id="39" name="Group 38">
            <a:extLst>
              <a:ext uri="{FF2B5EF4-FFF2-40B4-BE49-F238E27FC236}">
                <a16:creationId xmlns:a16="http://schemas.microsoft.com/office/drawing/2014/main" id="{54F7B2ED-F71B-DFB9-71B2-48341201617B}"/>
              </a:ext>
            </a:extLst>
          </p:cNvPr>
          <p:cNvGrpSpPr/>
          <p:nvPr/>
        </p:nvGrpSpPr>
        <p:grpSpPr>
          <a:xfrm>
            <a:off x="4587240" y="3110948"/>
            <a:ext cx="3017520" cy="2018045"/>
            <a:chOff x="277250" y="3177623"/>
            <a:chExt cx="3017520" cy="2018045"/>
          </a:xfrm>
        </p:grpSpPr>
        <p:sp>
          <p:nvSpPr>
            <p:cNvPr id="40" name="Subtitle 2">
              <a:extLst>
                <a:ext uri="{FF2B5EF4-FFF2-40B4-BE49-F238E27FC236}">
                  <a16:creationId xmlns:a16="http://schemas.microsoft.com/office/drawing/2014/main" id="{FD90C629-7A16-B0D9-9855-35BFAE5B5B5C}"/>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Quantify transition drop-offs between key stages of diagnosis and treatment routing</a:t>
              </a:r>
            </a:p>
          </p:txBody>
        </p:sp>
        <p:cxnSp>
          <p:nvCxnSpPr>
            <p:cNvPr id="41" name="Straight Connector 40">
              <a:extLst>
                <a:ext uri="{FF2B5EF4-FFF2-40B4-BE49-F238E27FC236}">
                  <a16:creationId xmlns:a16="http://schemas.microsoft.com/office/drawing/2014/main" id="{730D4B81-FDE9-3D63-3722-F9B678947729}"/>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ubtitle 2">
              <a:extLst>
                <a:ext uri="{FF2B5EF4-FFF2-40B4-BE49-F238E27FC236}">
                  <a16:creationId xmlns:a16="http://schemas.microsoft.com/office/drawing/2014/main" id="{7C002EA2-B5E1-5580-BCF4-48E7E9636785}"/>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Identify under-referring providers and weak outbound pathways limiting downstream access</a:t>
              </a:r>
            </a:p>
          </p:txBody>
        </p:sp>
        <p:cxnSp>
          <p:nvCxnSpPr>
            <p:cNvPr id="43" name="Straight Connector 42">
              <a:extLst>
                <a:ext uri="{FF2B5EF4-FFF2-40B4-BE49-F238E27FC236}">
                  <a16:creationId xmlns:a16="http://schemas.microsoft.com/office/drawing/2014/main" id="{01261F4A-6D74-88A7-BA0D-9975F179C1B7}"/>
                </a:ext>
              </a:extLst>
            </p:cNvPr>
            <p:cNvCxnSpPr>
              <a:cxnSpLocks/>
            </p:cNvCxnSpPr>
            <p:nvPr/>
          </p:nvCxnSpPr>
          <p:spPr>
            <a:xfrm>
              <a:off x="1032683" y="4566224"/>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Subtitle 2">
              <a:extLst>
                <a:ext uri="{FF2B5EF4-FFF2-40B4-BE49-F238E27FC236}">
                  <a16:creationId xmlns:a16="http://schemas.microsoft.com/office/drawing/2014/main" id="{BBB7E212-15E3-2297-FF72-29F2133454A1}"/>
                </a:ext>
              </a:extLst>
            </p:cNvPr>
            <p:cNvSpPr txBox="1">
              <a:spLocks/>
            </p:cNvSpPr>
            <p:nvPr/>
          </p:nvSpPr>
          <p:spPr>
            <a:xfrm>
              <a:off x="277250" y="4695937"/>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Detect geographic gaps where patients exit ecosystems or fail to reach appropriate hubs for a long duration</a:t>
              </a:r>
            </a:p>
          </p:txBody>
        </p:sp>
      </p:grpSp>
      <p:sp>
        <p:nvSpPr>
          <p:cNvPr id="52" name="Rectangle 51">
            <a:extLst>
              <a:ext uri="{FF2B5EF4-FFF2-40B4-BE49-F238E27FC236}">
                <a16:creationId xmlns:a16="http://schemas.microsoft.com/office/drawing/2014/main" id="{8FF0324A-603A-D064-FFEF-9ED7237C8730}"/>
              </a:ext>
            </a:extLst>
          </p:cNvPr>
          <p:cNvSpPr/>
          <p:nvPr/>
        </p:nvSpPr>
        <p:spPr>
          <a:xfrm>
            <a:off x="0" y="5760370"/>
            <a:ext cx="12192000" cy="656305"/>
          </a:xfrm>
          <a:prstGeom prst="rect">
            <a:avLst/>
          </a:prstGeom>
          <a:solidFill>
            <a:schemeClr val="tx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Key Business Questions </a:t>
            </a:r>
            <a:b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br>
            <a:r>
              <a:rPr kumimoji="0" lang="en-US" sz="1200" b="1" i="0"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rPr>
              <a:t>Addressed</a:t>
            </a:r>
            <a:endParaRPr kumimoji="0" lang="en-US" sz="1200" b="0" i="1" u="none" strike="noStrike" kern="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3" name="Rectangle 52">
            <a:extLst>
              <a:ext uri="{FF2B5EF4-FFF2-40B4-BE49-F238E27FC236}">
                <a16:creationId xmlns:a16="http://schemas.microsoft.com/office/drawing/2014/main" id="{47A37869-8677-18DA-0062-DC8161B25CF5}"/>
              </a:ext>
            </a:extLst>
          </p:cNvPr>
          <p:cNvSpPr/>
          <p:nvPr/>
        </p:nvSpPr>
        <p:spPr>
          <a:xfrm>
            <a:off x="2181226"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Where and why are patients lost or delayed along referral journeys?</a:t>
            </a:r>
          </a:p>
        </p:txBody>
      </p:sp>
      <p:sp>
        <p:nvSpPr>
          <p:cNvPr id="54" name="Rectangle 53">
            <a:extLst>
              <a:ext uri="{FF2B5EF4-FFF2-40B4-BE49-F238E27FC236}">
                <a16:creationId xmlns:a16="http://schemas.microsoft.com/office/drawing/2014/main" id="{CF32F205-A684-E951-B59C-211973314EC6}"/>
              </a:ext>
            </a:extLst>
          </p:cNvPr>
          <p:cNvSpPr/>
          <p:nvPr/>
        </p:nvSpPr>
        <p:spPr>
          <a:xfrm>
            <a:off x="5532664"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Which providers, pathways, or regions contribute most to leakage risk?</a:t>
            </a:r>
          </a:p>
        </p:txBody>
      </p:sp>
      <p:sp>
        <p:nvSpPr>
          <p:cNvPr id="55" name="Rectangle 54">
            <a:extLst>
              <a:ext uri="{FF2B5EF4-FFF2-40B4-BE49-F238E27FC236}">
                <a16:creationId xmlns:a16="http://schemas.microsoft.com/office/drawing/2014/main" id="{E4561751-62C3-BA16-D18D-97B555417D3E}"/>
              </a:ext>
            </a:extLst>
          </p:cNvPr>
          <p:cNvSpPr/>
          <p:nvPr/>
        </p:nvSpPr>
        <p:spPr>
          <a:xfrm>
            <a:off x="8884102" y="5823409"/>
            <a:ext cx="3143250" cy="549275"/>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34373F"/>
                </a:solidFill>
                <a:effectLst/>
                <a:uLnTx/>
                <a:uFillTx/>
                <a:latin typeface="Calibri" panose="020F0502020204030204"/>
                <a:ea typeface="+mn-ea"/>
                <a:cs typeface="+mn-cs"/>
              </a:rPr>
              <a:t>What structural characteristics are associated with under-referral or access gaps?</a:t>
            </a:r>
          </a:p>
        </p:txBody>
      </p:sp>
      <p:grpSp>
        <p:nvGrpSpPr>
          <p:cNvPr id="27" name="Group 26">
            <a:extLst>
              <a:ext uri="{FF2B5EF4-FFF2-40B4-BE49-F238E27FC236}">
                <a16:creationId xmlns:a16="http://schemas.microsoft.com/office/drawing/2014/main" id="{ED0D571C-D0B5-E3FE-12DC-F1A717C8C682}"/>
              </a:ext>
            </a:extLst>
          </p:cNvPr>
          <p:cNvGrpSpPr/>
          <p:nvPr/>
        </p:nvGrpSpPr>
        <p:grpSpPr>
          <a:xfrm>
            <a:off x="8453309" y="3110948"/>
            <a:ext cx="3017520" cy="2018045"/>
            <a:chOff x="8500934" y="3110948"/>
            <a:chExt cx="3017520" cy="2018045"/>
          </a:xfrm>
        </p:grpSpPr>
        <p:grpSp>
          <p:nvGrpSpPr>
            <p:cNvPr id="2" name="Group 1">
              <a:extLst>
                <a:ext uri="{FF2B5EF4-FFF2-40B4-BE49-F238E27FC236}">
                  <a16:creationId xmlns:a16="http://schemas.microsoft.com/office/drawing/2014/main" id="{B16EECD2-5566-CB28-375A-2639B0B2E258}"/>
                </a:ext>
              </a:extLst>
            </p:cNvPr>
            <p:cNvGrpSpPr/>
            <p:nvPr/>
          </p:nvGrpSpPr>
          <p:grpSpPr>
            <a:xfrm>
              <a:off x="8500934" y="3110948"/>
              <a:ext cx="3017520" cy="1258888"/>
              <a:chOff x="277250" y="3177623"/>
              <a:chExt cx="3017520" cy="1258888"/>
            </a:xfrm>
          </p:grpSpPr>
          <p:sp>
            <p:nvSpPr>
              <p:cNvPr id="10" name="Subtitle 2">
                <a:extLst>
                  <a:ext uri="{FF2B5EF4-FFF2-40B4-BE49-F238E27FC236}">
                    <a16:creationId xmlns:a16="http://schemas.microsoft.com/office/drawing/2014/main" id="{41B201F5-1B14-542D-C4AB-26E938CF332C}"/>
                  </a:ext>
                </a:extLst>
              </p:cNvPr>
              <p:cNvSpPr txBox="1">
                <a:spLocks/>
              </p:cNvSpPr>
              <p:nvPr/>
            </p:nvSpPr>
            <p:spPr>
              <a:xfrm>
                <a:off x="279325" y="3177623"/>
                <a:ext cx="3013371" cy="499731"/>
              </a:xfrm>
              <a:prstGeom prst="rect">
                <a:avLst/>
              </a:prstGeom>
              <a:ln>
                <a:noFill/>
              </a:ln>
            </p:spPr>
            <p:txBody>
              <a:bodyPr vert="horz" wrap="square" lIns="0" tIns="0" rIns="0" bIns="0" numCol="1" spcCol="360000" rtlCol="0" anchor="t">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Profile structural attributes associated with leakage (network isolation, specialty scarcity, routing fragmentation)</a:t>
                </a:r>
              </a:p>
            </p:txBody>
          </p:sp>
          <p:cxnSp>
            <p:nvCxnSpPr>
              <p:cNvPr id="12" name="Straight Connector 11">
                <a:extLst>
                  <a:ext uri="{FF2B5EF4-FFF2-40B4-BE49-F238E27FC236}">
                    <a16:creationId xmlns:a16="http://schemas.microsoft.com/office/drawing/2014/main" id="{9B85E127-485F-CDEC-D560-57B40EA5D85B}"/>
                  </a:ext>
                </a:extLst>
              </p:cNvPr>
              <p:cNvCxnSpPr>
                <a:cxnSpLocks/>
              </p:cNvCxnSpPr>
              <p:nvPr/>
            </p:nvCxnSpPr>
            <p:spPr>
              <a:xfrm>
                <a:off x="1032683" y="3807067"/>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ubtitle 2">
                <a:extLst>
                  <a:ext uri="{FF2B5EF4-FFF2-40B4-BE49-F238E27FC236}">
                    <a16:creationId xmlns:a16="http://schemas.microsoft.com/office/drawing/2014/main" id="{B8877385-EE9E-D958-D64C-BA68CA1FA381}"/>
                  </a:ext>
                </a:extLst>
              </p:cNvPr>
              <p:cNvSpPr txBox="1">
                <a:spLocks/>
              </p:cNvSpPr>
              <p:nvPr/>
            </p:nvSpPr>
            <p:spPr>
              <a:xfrm>
                <a:off x="277250" y="3936780"/>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Evaluate ecosystem differences to surface systemic vs localized barriers</a:t>
                </a:r>
              </a:p>
            </p:txBody>
          </p:sp>
        </p:grpSp>
        <p:cxnSp>
          <p:nvCxnSpPr>
            <p:cNvPr id="21" name="Straight Connector 20">
              <a:extLst>
                <a:ext uri="{FF2B5EF4-FFF2-40B4-BE49-F238E27FC236}">
                  <a16:creationId xmlns:a16="http://schemas.microsoft.com/office/drawing/2014/main" id="{08286663-CE21-415C-740C-F11C48D3CA32}"/>
                </a:ext>
              </a:extLst>
            </p:cNvPr>
            <p:cNvCxnSpPr>
              <a:cxnSpLocks/>
            </p:cNvCxnSpPr>
            <p:nvPr/>
          </p:nvCxnSpPr>
          <p:spPr>
            <a:xfrm>
              <a:off x="9302101" y="4499549"/>
              <a:ext cx="141518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Subtitle 2">
              <a:extLst>
                <a:ext uri="{FF2B5EF4-FFF2-40B4-BE49-F238E27FC236}">
                  <a16:creationId xmlns:a16="http://schemas.microsoft.com/office/drawing/2014/main" id="{B0A43E20-A9E4-5EC7-9906-41689B6BAAF2}"/>
                </a:ext>
              </a:extLst>
            </p:cNvPr>
            <p:cNvSpPr txBox="1">
              <a:spLocks/>
            </p:cNvSpPr>
            <p:nvPr/>
          </p:nvSpPr>
          <p:spPr>
            <a:xfrm>
              <a:off x="8500934" y="4629262"/>
              <a:ext cx="3017520" cy="499731"/>
            </a:xfrm>
            <a:prstGeom prst="rect">
              <a:avLst/>
            </a:prstGeom>
            <a:ln>
              <a:noFill/>
            </a:ln>
          </p:spPr>
          <p:txBody>
            <a:bodyPr vert="horz" wrap="square" lIns="0" tIns="0" rIns="0" bIns="0" numCol="1" spcCol="360000" rtlCol="0" anchor="ctr">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ctr" defTabSz="649224" rtl="0" eaLnBrk="1" fontAlgn="auto" latinLnBrk="0" hangingPunct="1">
                <a:lnSpc>
                  <a:spcPct val="100000"/>
                </a:lnSpc>
                <a:spcBef>
                  <a:spcPts val="600"/>
                </a:spcBef>
                <a:spcAft>
                  <a:spcPts val="600"/>
                </a:spcAft>
                <a:buClr>
                  <a:srgbClr val="FFFFFF"/>
                </a:buClr>
                <a:buSzPct val="110000"/>
                <a:buFont typeface="Arial"/>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mn-ea"/>
                  <a:cs typeface="Open Sans Light"/>
                </a:rPr>
                <a:t>Link leakage patterns to provider and regional traits to inform intervention prioritization</a:t>
              </a:r>
            </a:p>
          </p:txBody>
        </p:sp>
      </p:grpSp>
    </p:spTree>
    <p:extLst>
      <p:ext uri="{BB962C8B-B14F-4D97-AF65-F5344CB8AC3E}">
        <p14:creationId xmlns:p14="http://schemas.microsoft.com/office/powerpoint/2010/main" val="2458491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AF05-27C8-2381-1E74-695053644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A37EF-AE2D-72BA-F0D4-16E34AD08A3B}"/>
              </a:ext>
            </a:extLst>
          </p:cNvPr>
          <p:cNvSpPr>
            <a:spLocks noGrp="1"/>
          </p:cNvSpPr>
          <p:nvPr>
            <p:ph type="title"/>
          </p:nvPr>
        </p:nvSpPr>
        <p:spPr>
          <a:xfrm>
            <a:off x="606078" y="161605"/>
            <a:ext cx="10014297" cy="685801"/>
          </a:xfrm>
        </p:spPr>
        <p:txBody>
          <a:bodyPr>
            <a:noAutofit/>
          </a:bodyPr>
          <a:lstStyle/>
          <a:p>
            <a:r>
              <a:rPr lang="en-US" sz="2000" dirty="0">
                <a:latin typeface="Calibri"/>
                <a:ea typeface="メイリオ"/>
                <a:cs typeface="Calibri"/>
              </a:rPr>
              <a:t>These metrics together help identify who receives patients, redirects them, ensures correct routing, and drives overall influence in the referral network</a:t>
            </a:r>
          </a:p>
        </p:txBody>
      </p:sp>
      <p:graphicFrame>
        <p:nvGraphicFramePr>
          <p:cNvPr id="3" name="Table 2">
            <a:extLst>
              <a:ext uri="{FF2B5EF4-FFF2-40B4-BE49-F238E27FC236}">
                <a16:creationId xmlns:a16="http://schemas.microsoft.com/office/drawing/2014/main" id="{043ADD9D-8A88-7D43-85D6-231F161819D3}"/>
              </a:ext>
            </a:extLst>
          </p:cNvPr>
          <p:cNvGraphicFramePr>
            <a:graphicFrameLocks noGrp="1"/>
          </p:cNvGraphicFramePr>
          <p:nvPr/>
        </p:nvGraphicFramePr>
        <p:xfrm>
          <a:off x="300037" y="1233488"/>
          <a:ext cx="11591926" cy="4261194"/>
        </p:xfrm>
        <a:graphic>
          <a:graphicData uri="http://schemas.openxmlformats.org/drawingml/2006/table">
            <a:tbl>
              <a:tblPr firstRow="1">
                <a:tableStyleId>{5C22544A-7EE6-4342-B048-85BDC9FD1C3A}</a:tableStyleId>
              </a:tblPr>
              <a:tblGrid>
                <a:gridCol w="2207986">
                  <a:extLst>
                    <a:ext uri="{9D8B030D-6E8A-4147-A177-3AD203B41FA5}">
                      <a16:colId xmlns:a16="http://schemas.microsoft.com/office/drawing/2014/main" val="2768715004"/>
                    </a:ext>
                  </a:extLst>
                </a:gridCol>
                <a:gridCol w="4691970">
                  <a:extLst>
                    <a:ext uri="{9D8B030D-6E8A-4147-A177-3AD203B41FA5}">
                      <a16:colId xmlns:a16="http://schemas.microsoft.com/office/drawing/2014/main" val="2624041268"/>
                    </a:ext>
                  </a:extLst>
                </a:gridCol>
                <a:gridCol w="4691970">
                  <a:extLst>
                    <a:ext uri="{9D8B030D-6E8A-4147-A177-3AD203B41FA5}">
                      <a16:colId xmlns:a16="http://schemas.microsoft.com/office/drawing/2014/main" val="58347247"/>
                    </a:ext>
                  </a:extLst>
                </a:gridCol>
              </a:tblGrid>
              <a:tr h="420714">
                <a:tc>
                  <a:txBody>
                    <a:bodyPr/>
                    <a:lstStyle/>
                    <a:p>
                      <a:pPr algn="ctr" fontAlgn="b">
                        <a:buNone/>
                      </a:pPr>
                      <a:r>
                        <a:rPr lang="en-IN" sz="1400" b="1" u="none" strike="noStrike" dirty="0">
                          <a:effectLst/>
                          <a:latin typeface="+mn-lt"/>
                        </a:rPr>
                        <a:t>Metric</a:t>
                      </a:r>
                      <a:endParaRPr lang="en-IN" sz="1400" b="1" i="0" u="none" strike="noStrike" dirty="0">
                        <a:solidFill>
                          <a:srgbClr val="000000"/>
                        </a:solidFill>
                        <a:effectLst/>
                        <a:latin typeface="+mn-lt"/>
                      </a:endParaRPr>
                    </a:p>
                  </a:txBody>
                  <a:tcPr marL="6350" marR="6350"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400" b="1" i="0" u="none" strike="noStrike" dirty="0">
                          <a:solidFill>
                            <a:schemeClr val="bg1"/>
                          </a:solidFill>
                          <a:effectLst/>
                          <a:latin typeface="+mn-lt"/>
                        </a:rPr>
                        <a:t>Definition</a:t>
                      </a:r>
                      <a:endParaRPr lang="en-IN" sz="1400" b="1" i="0" u="none" strike="noStrike" dirty="0">
                        <a:solidFill>
                          <a:schemeClr val="bg1"/>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400" b="1" i="0" u="none" strike="noStrike" dirty="0">
                          <a:solidFill>
                            <a:schemeClr val="bg1"/>
                          </a:solidFill>
                          <a:effectLst/>
                          <a:latin typeface="+mn-lt"/>
                        </a:rPr>
                        <a:t>Business Implication</a:t>
                      </a:r>
                      <a:endParaRPr lang="en-IN" sz="1400" b="1" i="0" u="none" strike="noStrike" dirty="0">
                        <a:solidFill>
                          <a:schemeClr val="bg1"/>
                        </a:solidFill>
                        <a:effectLst/>
                        <a:latin typeface="+mn-lt"/>
                      </a:endParaRPr>
                    </a:p>
                  </a:txBody>
                  <a:tcPr marL="6350" marR="6350"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450808910"/>
                  </a:ext>
                </a:extLst>
              </a:tr>
              <a:tr h="640080">
                <a:tc>
                  <a:txBody>
                    <a:bodyPr/>
                    <a:lstStyle/>
                    <a:p>
                      <a:pPr algn="l" fontAlgn="b">
                        <a:buNone/>
                      </a:pPr>
                      <a:r>
                        <a:rPr lang="en-IN" sz="1200" b="1" i="0" u="none" strike="noStrike" dirty="0">
                          <a:solidFill>
                            <a:srgbClr val="000000"/>
                          </a:solidFill>
                          <a:effectLst/>
                          <a:latin typeface="+mn-lt"/>
                        </a:rPr>
                        <a:t>Weighted Indegree</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mn-lt"/>
                        </a:rPr>
                        <a:t>The volume of patients being referred into an HCP, exponentially adjusted for the recency of such interaction</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mn-lt"/>
                        </a:rPr>
                        <a:t>A high indegree HCP is a destination others consistently route patients toward</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136168937"/>
                  </a:ext>
                </a:extLst>
              </a:tr>
              <a:tr h="640080">
                <a:tc>
                  <a:txBody>
                    <a:bodyPr/>
                    <a:lstStyle/>
                    <a:p>
                      <a:pPr algn="l" fontAlgn="b">
                        <a:buNone/>
                      </a:pPr>
                      <a:r>
                        <a:rPr lang="en-IN" sz="1200" b="1" i="0" u="none" strike="noStrike" dirty="0">
                          <a:solidFill>
                            <a:srgbClr val="000000"/>
                          </a:solidFill>
                          <a:effectLst/>
                          <a:latin typeface="+mn-lt"/>
                        </a:rPr>
                        <a:t>Weighted Outdegree</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The volume of patients an HCP refers out, exponentially adjusted for the recency of such interaction</a:t>
                      </a: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High outdegree HCPs are coordinators who are actively moving patients forward in the care journey</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571303938"/>
                  </a:ext>
                </a:extLst>
              </a:tr>
              <a:tr h="640080">
                <a:tc>
                  <a:txBody>
                    <a:bodyPr/>
                    <a:lstStyle/>
                    <a:p>
                      <a:pPr algn="l" fontAlgn="b">
                        <a:buNone/>
                      </a:pPr>
                      <a:r>
                        <a:rPr lang="en-IN" sz="1200" b="1" i="0" u="none" strike="noStrike" dirty="0">
                          <a:solidFill>
                            <a:srgbClr val="000000"/>
                          </a:solidFill>
                          <a:effectLst/>
                          <a:latin typeface="+mn-lt"/>
                        </a:rPr>
                        <a:t>Betweenness Subset Centrality</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mn-lt"/>
                        </a:rPr>
                        <a:t>How often an HCP sits on the path between two other HCPs who wouldn't otherwise be connected</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IN" sz="1100" b="0" i="0" u="none" strike="noStrike" dirty="0">
                          <a:solidFill>
                            <a:srgbClr val="000000"/>
                          </a:solidFill>
                          <a:effectLst/>
                          <a:latin typeface="+mn-lt"/>
                        </a:rPr>
                        <a:t>Highest-leverage engagement targets acting as </a:t>
                      </a:r>
                      <a:r>
                        <a:rPr lang="en-US" sz="1100" b="0" i="0" u="none" strike="noStrike" dirty="0">
                          <a:solidFill>
                            <a:srgbClr val="000000"/>
                          </a:solidFill>
                          <a:effectLst/>
                          <a:latin typeface="+mn-lt"/>
                        </a:rPr>
                        <a:t>the bridges of the network </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764512273"/>
                  </a:ext>
                </a:extLst>
              </a:tr>
              <a:tr h="640080">
                <a:tc>
                  <a:txBody>
                    <a:bodyPr/>
                    <a:lstStyle/>
                    <a:p>
                      <a:pPr algn="l" fontAlgn="b">
                        <a:buNone/>
                      </a:pPr>
                      <a:r>
                        <a:rPr lang="en-IN" sz="1200" b="1" i="0" u="none" strike="noStrike" dirty="0">
                          <a:solidFill>
                            <a:srgbClr val="000000"/>
                          </a:solidFill>
                          <a:effectLst/>
                          <a:latin typeface="+mn-lt"/>
                        </a:rPr>
                        <a:t>PageRank</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Not just how many referrals an HCP receives, but how important the HCPs sending those referrals are</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 It measures influence by the quality of who endorses you beyond how many patients are being referred</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059964094"/>
                  </a:ext>
                </a:extLst>
              </a:tr>
              <a:tr h="640080">
                <a:tc>
                  <a:txBody>
                    <a:bodyPr/>
                    <a:lstStyle/>
                    <a:p>
                      <a:pPr algn="l" fontAlgn="b">
                        <a:buNone/>
                      </a:pPr>
                      <a:r>
                        <a:rPr lang="en-IN" sz="1200" b="1" i="0" u="none" strike="noStrike" dirty="0">
                          <a:solidFill>
                            <a:srgbClr val="000000"/>
                          </a:solidFill>
                          <a:effectLst/>
                          <a:latin typeface="+mn-lt"/>
                        </a:rPr>
                        <a:t>Leiden Community Detection</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mn-lt"/>
                        </a:rPr>
                        <a:t>Identifies naturally occurring, well-separated clusters (communities) of HCPs who refer amongst themselves more than they refer outside their group</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l" fontAlgn="b">
                        <a:buNone/>
                      </a:pPr>
                      <a:r>
                        <a:rPr lang="en-IN" sz="1100" b="0" i="0" u="none" strike="noStrike" dirty="0">
                          <a:solidFill>
                            <a:srgbClr val="000000"/>
                          </a:solidFill>
                          <a:effectLst/>
                          <a:latin typeface="+mn-lt"/>
                        </a:rPr>
                        <a:t>Each community </a:t>
                      </a:r>
                      <a:r>
                        <a:rPr lang="en-US" sz="1100" b="0" i="0" u="none" strike="noStrike" dirty="0">
                          <a:solidFill>
                            <a:srgbClr val="000000"/>
                          </a:solidFill>
                          <a:effectLst/>
                          <a:latin typeface="+mn-lt"/>
                        </a:rPr>
                        <a:t>indicates where patient care is self-contained within a tight-knit group versus where it flows across broader networks</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534012392"/>
                  </a:ext>
                </a:extLst>
              </a:tr>
              <a:tr h="640080">
                <a:tc>
                  <a:txBody>
                    <a:bodyPr/>
                    <a:lstStyle/>
                    <a:p>
                      <a:pPr algn="l" fontAlgn="b">
                        <a:buNone/>
                      </a:pPr>
                      <a:r>
                        <a:rPr lang="en-IN" sz="1200" b="1" i="0" u="none" strike="noStrike" dirty="0">
                          <a:solidFill>
                            <a:srgbClr val="000000"/>
                          </a:solidFill>
                          <a:effectLst/>
                          <a:latin typeface="+mn-lt"/>
                        </a:rPr>
                        <a:t>Absorbing Markov Chains</a:t>
                      </a:r>
                    </a:p>
                  </a:txBody>
                  <a:tcPr marT="6350"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Maps the referral journey as a series of probabilistic steps, identifying which HCPs patients eventually landed at</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1100" b="0" i="0" u="none" strike="noStrike" dirty="0">
                          <a:solidFill>
                            <a:srgbClr val="000000"/>
                          </a:solidFill>
                          <a:effectLst/>
                          <a:latin typeface="+mn-lt"/>
                        </a:rPr>
                        <a:t>Identifies which HCPs are more likely to provide a referrals leading to misdiagnosis or mismanagement</a:t>
                      </a:r>
                      <a:endParaRPr lang="en-IN" sz="1100" b="0" i="0" u="none" strike="noStrike" dirty="0">
                        <a:solidFill>
                          <a:srgbClr val="000000"/>
                        </a:solidFill>
                        <a:effectLst/>
                        <a:latin typeface="+mn-lt"/>
                      </a:endParaRPr>
                    </a:p>
                  </a:txBody>
                  <a:tcPr marT="6350"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537027"/>
                  </a:ext>
                </a:extLst>
              </a:tr>
            </a:tbl>
          </a:graphicData>
        </a:graphic>
      </p:graphicFrame>
    </p:spTree>
    <p:extLst>
      <p:ext uri="{BB962C8B-B14F-4D97-AF65-F5344CB8AC3E}">
        <p14:creationId xmlns:p14="http://schemas.microsoft.com/office/powerpoint/2010/main" val="3919812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26587-0182-7422-1290-32731B9BEDF8}"/>
            </a:ext>
          </a:extLst>
        </p:cNvPr>
        <p:cNvGrpSpPr/>
        <p:nvPr/>
      </p:nvGrpSpPr>
      <p:grpSpPr>
        <a:xfrm>
          <a:off x="0" y="0"/>
          <a:ext cx="0" cy="0"/>
          <a:chOff x="0" y="0"/>
          <a:chExt cx="0" cy="0"/>
        </a:xfrm>
      </p:grpSpPr>
      <p:sp>
        <p:nvSpPr>
          <p:cNvPr id="29" name="Pentagon 3">
            <a:extLst>
              <a:ext uri="{FF2B5EF4-FFF2-40B4-BE49-F238E27FC236}">
                <a16:creationId xmlns:a16="http://schemas.microsoft.com/office/drawing/2014/main" id="{8F86F0E5-766B-3BC5-1F3C-2E599CF276B8}"/>
              </a:ext>
            </a:extLst>
          </p:cNvPr>
          <p:cNvSpPr/>
          <p:nvPr/>
        </p:nvSpPr>
        <p:spPr>
          <a:xfrm>
            <a:off x="8802079" y="1133958"/>
            <a:ext cx="2039674" cy="26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400" b="1" noProof="0">
                <a:solidFill>
                  <a:schemeClr val="tx1"/>
                </a:solidFill>
                <a:latin typeface="+mj-lt"/>
                <a:ea typeface="League Spartan" charset="0"/>
                <a:cs typeface="Poppins" pitchFamily="2" charset="77"/>
              </a:rPr>
              <a:t>AUXILIARY PERSONAS</a:t>
            </a:r>
          </a:p>
        </p:txBody>
      </p:sp>
      <p:grpSp>
        <p:nvGrpSpPr>
          <p:cNvPr id="32" name="Group 31">
            <a:extLst>
              <a:ext uri="{FF2B5EF4-FFF2-40B4-BE49-F238E27FC236}">
                <a16:creationId xmlns:a16="http://schemas.microsoft.com/office/drawing/2014/main" id="{D05245E6-6076-5619-3419-677ECFE6F0D6}"/>
              </a:ext>
            </a:extLst>
          </p:cNvPr>
          <p:cNvGrpSpPr/>
          <p:nvPr/>
        </p:nvGrpSpPr>
        <p:grpSpPr>
          <a:xfrm>
            <a:off x="8802079" y="1573252"/>
            <a:ext cx="2651760" cy="548640"/>
            <a:chOff x="656629" y="3472817"/>
            <a:chExt cx="2651760" cy="2032079"/>
          </a:xfrm>
        </p:grpSpPr>
        <p:sp>
          <p:nvSpPr>
            <p:cNvPr id="33" name="Pentagon 3">
              <a:extLst>
                <a:ext uri="{FF2B5EF4-FFF2-40B4-BE49-F238E27FC236}">
                  <a16:creationId xmlns:a16="http://schemas.microsoft.com/office/drawing/2014/main" id="{609A1D75-A1C1-21FB-50FC-45708DE98E80}"/>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rPr>
                <a:t>Low Value Treaters: </a:t>
              </a:r>
              <a:r>
                <a:rPr lang="en-US" sz="1200" b="1" dirty="0">
                  <a:solidFill>
                    <a:schemeClr val="tx1"/>
                  </a:solidFill>
                  <a:latin typeface="+mj-lt"/>
                  <a:ea typeface="League Spartan" charset="0"/>
                  <a:cs typeface="Poppins" pitchFamily="2" charset="77"/>
                </a:rPr>
                <a:t>0.42% </a:t>
              </a:r>
              <a:r>
                <a:rPr lang="en-US" sz="1000" i="1" dirty="0">
                  <a:solidFill>
                    <a:schemeClr val="tx1"/>
                  </a:solidFill>
                  <a:latin typeface="+mj-lt"/>
                  <a:ea typeface="League Spartan" charset="0"/>
                  <a:cs typeface="Poppins" pitchFamily="2" charset="77"/>
                </a:rPr>
                <a:t>(n=286)</a:t>
              </a:r>
              <a:endPar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endParaRPr>
            </a:p>
          </p:txBody>
        </p:sp>
        <p:sp>
          <p:nvSpPr>
            <p:cNvPr id="34" name="Pentagon 3">
              <a:extLst>
                <a:ext uri="{FF2B5EF4-FFF2-40B4-BE49-F238E27FC236}">
                  <a16:creationId xmlns:a16="http://schemas.microsoft.com/office/drawing/2014/main" id="{020BFA21-96A7-16BB-C0B3-34FF69DB9E03}"/>
                </a:ext>
              </a:extLst>
            </p:cNvPr>
            <p:cNvSpPr/>
            <p:nvPr/>
          </p:nvSpPr>
          <p:spPr>
            <a:xfrm>
              <a:off x="656630" y="3472817"/>
              <a:ext cx="45719" cy="2032079"/>
            </a:xfrm>
            <a:prstGeom prst="roundRect">
              <a:avLst/>
            </a:prstGeom>
            <a:solidFill>
              <a:srgbClr val="E1242A">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37" name="Group 36">
            <a:extLst>
              <a:ext uri="{FF2B5EF4-FFF2-40B4-BE49-F238E27FC236}">
                <a16:creationId xmlns:a16="http://schemas.microsoft.com/office/drawing/2014/main" id="{2CAEA03F-4330-769B-F703-299E7D652B2D}"/>
              </a:ext>
            </a:extLst>
          </p:cNvPr>
          <p:cNvGrpSpPr/>
          <p:nvPr/>
        </p:nvGrpSpPr>
        <p:grpSpPr>
          <a:xfrm>
            <a:off x="8802079" y="2259747"/>
            <a:ext cx="2651760" cy="548640"/>
            <a:chOff x="656629" y="3472817"/>
            <a:chExt cx="2651760" cy="2032079"/>
          </a:xfrm>
        </p:grpSpPr>
        <p:sp>
          <p:nvSpPr>
            <p:cNvPr id="40" name="Pentagon 3">
              <a:extLst>
                <a:ext uri="{FF2B5EF4-FFF2-40B4-BE49-F238E27FC236}">
                  <a16:creationId xmlns:a16="http://schemas.microsoft.com/office/drawing/2014/main" id="{93FB67C8-64D8-6092-50FB-4203D42F73C0}"/>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ea typeface="League Spartan" charset="0"/>
                  <a:cs typeface="Poppins" pitchFamily="2" charset="77"/>
                </a:rPr>
                <a:t>Low Value </a:t>
              </a:r>
              <a:r>
                <a:rPr kumimoji="0" lang="en-US" sz="1200" b="1" i="0" u="none" strike="noStrike" kern="1200" cap="none" spc="0" normalizeH="0" baseline="0" noProof="0" dirty="0" err="1">
                  <a:ln>
                    <a:noFill/>
                  </a:ln>
                  <a:solidFill>
                    <a:schemeClr val="tx1"/>
                  </a:solidFill>
                  <a:effectLst/>
                  <a:uLnTx/>
                  <a:uFillTx/>
                  <a:latin typeface="+mj-lt"/>
                  <a:ea typeface="League Spartan" charset="0"/>
                  <a:cs typeface="Poppins" pitchFamily="2" charset="77"/>
                </a:rPr>
                <a:t>Diagnosers</a:t>
              </a:r>
              <a:r>
                <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rPr>
                <a:t>: </a:t>
              </a:r>
              <a:r>
                <a:rPr lang="en-US" sz="1200" b="1" dirty="0">
                  <a:solidFill>
                    <a:schemeClr val="tx1"/>
                  </a:solidFill>
                  <a:latin typeface="+mj-lt"/>
                  <a:ea typeface="League Spartan" charset="0"/>
                  <a:cs typeface="Poppins" pitchFamily="2" charset="77"/>
                </a:rPr>
                <a:t>0.64% </a:t>
              </a:r>
              <a:r>
                <a:rPr lang="en-US" sz="1000" i="1" dirty="0">
                  <a:solidFill>
                    <a:schemeClr val="tx1"/>
                  </a:solidFill>
                  <a:latin typeface="+mj-lt"/>
                  <a:ea typeface="League Spartan" charset="0"/>
                  <a:cs typeface="Poppins" pitchFamily="2" charset="77"/>
                </a:rPr>
                <a:t>(n=430)</a:t>
              </a:r>
              <a:endPar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endParaRPr>
            </a:p>
          </p:txBody>
        </p:sp>
        <p:sp>
          <p:nvSpPr>
            <p:cNvPr id="43" name="Pentagon 3">
              <a:extLst>
                <a:ext uri="{FF2B5EF4-FFF2-40B4-BE49-F238E27FC236}">
                  <a16:creationId xmlns:a16="http://schemas.microsoft.com/office/drawing/2014/main" id="{57B22B8F-33C6-EA1E-8F1A-EE59787B87EE}"/>
                </a:ext>
              </a:extLst>
            </p:cNvPr>
            <p:cNvSpPr/>
            <p:nvPr/>
          </p:nvSpPr>
          <p:spPr>
            <a:xfrm>
              <a:off x="656630" y="3472817"/>
              <a:ext cx="45719" cy="2032079"/>
            </a:xfrm>
            <a:prstGeom prst="roundRect">
              <a:avLst/>
            </a:prstGeom>
            <a:solidFill>
              <a:srgbClr val="00B05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52" name="Group 51">
            <a:extLst>
              <a:ext uri="{FF2B5EF4-FFF2-40B4-BE49-F238E27FC236}">
                <a16:creationId xmlns:a16="http://schemas.microsoft.com/office/drawing/2014/main" id="{64633A0D-1F5C-EDB9-F1A3-9219B5458655}"/>
              </a:ext>
            </a:extLst>
          </p:cNvPr>
          <p:cNvGrpSpPr/>
          <p:nvPr/>
        </p:nvGrpSpPr>
        <p:grpSpPr>
          <a:xfrm>
            <a:off x="8802079" y="3632737"/>
            <a:ext cx="2651760" cy="548640"/>
            <a:chOff x="656630" y="3472817"/>
            <a:chExt cx="2651760" cy="2032079"/>
          </a:xfrm>
        </p:grpSpPr>
        <p:sp>
          <p:nvSpPr>
            <p:cNvPr id="53" name="Pentagon 3">
              <a:extLst>
                <a:ext uri="{FF2B5EF4-FFF2-40B4-BE49-F238E27FC236}">
                  <a16:creationId xmlns:a16="http://schemas.microsoft.com/office/drawing/2014/main" id="{6D712E94-7148-0C11-E126-3885B53F88C5}"/>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ea typeface="League Spartan" charset="0"/>
                  <a:cs typeface="Poppins" pitchFamily="2" charset="77"/>
                </a:rPr>
                <a:t>Low Value </a:t>
              </a:r>
              <a:r>
                <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rPr>
                <a:t>Influencers: </a:t>
              </a:r>
              <a:r>
                <a:rPr lang="en-US" sz="1200" b="1" dirty="0">
                  <a:solidFill>
                    <a:schemeClr val="tx1"/>
                  </a:solidFill>
                  <a:latin typeface="+mj-lt"/>
                  <a:ea typeface="League Spartan" charset="0"/>
                  <a:cs typeface="Poppins" pitchFamily="2" charset="77"/>
                </a:rPr>
                <a:t>0.93% </a:t>
              </a:r>
              <a:r>
                <a:rPr lang="en-US" sz="1000" i="1" dirty="0">
                  <a:solidFill>
                    <a:schemeClr val="tx1"/>
                  </a:solidFill>
                  <a:latin typeface="+mj-lt"/>
                  <a:ea typeface="League Spartan" charset="0"/>
                  <a:cs typeface="Poppins" pitchFamily="2" charset="77"/>
                </a:rPr>
                <a:t>(n=628)</a:t>
              </a:r>
              <a:endPar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endParaRPr>
            </a:p>
          </p:txBody>
        </p:sp>
        <p:sp>
          <p:nvSpPr>
            <p:cNvPr id="55" name="Pentagon 3">
              <a:extLst>
                <a:ext uri="{FF2B5EF4-FFF2-40B4-BE49-F238E27FC236}">
                  <a16:creationId xmlns:a16="http://schemas.microsoft.com/office/drawing/2014/main" id="{B4CAD15E-DCD6-59BB-AAF6-D926C3444A5D}"/>
                </a:ext>
              </a:extLst>
            </p:cNvPr>
            <p:cNvSpPr/>
            <p:nvPr/>
          </p:nvSpPr>
          <p:spPr>
            <a:xfrm>
              <a:off x="656630" y="3472817"/>
              <a:ext cx="45719" cy="2032079"/>
            </a:xfrm>
            <a:prstGeom prst="roundRect">
              <a:avLst/>
            </a:prstGeom>
            <a:solidFill>
              <a:srgbClr val="7030A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56" name="Group 55">
            <a:extLst>
              <a:ext uri="{FF2B5EF4-FFF2-40B4-BE49-F238E27FC236}">
                <a16:creationId xmlns:a16="http://schemas.microsoft.com/office/drawing/2014/main" id="{D29EA959-B3E5-08B9-8790-055B8667D0B4}"/>
              </a:ext>
            </a:extLst>
          </p:cNvPr>
          <p:cNvGrpSpPr/>
          <p:nvPr/>
        </p:nvGrpSpPr>
        <p:grpSpPr>
          <a:xfrm>
            <a:off x="8802079" y="4319233"/>
            <a:ext cx="2651760" cy="548640"/>
            <a:chOff x="656630" y="3472817"/>
            <a:chExt cx="2651760" cy="2032079"/>
          </a:xfrm>
        </p:grpSpPr>
        <p:sp>
          <p:nvSpPr>
            <p:cNvPr id="57" name="Pentagon 3">
              <a:extLst>
                <a:ext uri="{FF2B5EF4-FFF2-40B4-BE49-F238E27FC236}">
                  <a16:creationId xmlns:a16="http://schemas.microsoft.com/office/drawing/2014/main" id="{F45A8C2F-0111-CCEE-7E80-3FEB587E7B2D}"/>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ea typeface="League Spartan" charset="0"/>
                  <a:cs typeface="Poppins" pitchFamily="2" charset="77"/>
                </a:rPr>
                <a:t>Low Value </a:t>
              </a:r>
              <a:r>
                <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rPr>
                <a:t>Referrers: </a:t>
              </a:r>
              <a:r>
                <a:rPr lang="en-US" sz="1200" b="1" dirty="0">
                  <a:solidFill>
                    <a:schemeClr val="tx1"/>
                  </a:solidFill>
                  <a:latin typeface="+mj-lt"/>
                  <a:ea typeface="League Spartan" charset="0"/>
                  <a:cs typeface="Poppins" pitchFamily="2" charset="77"/>
                </a:rPr>
                <a:t>66.18% </a:t>
              </a:r>
              <a:r>
                <a:rPr lang="en-US" sz="1000" i="1" dirty="0">
                  <a:solidFill>
                    <a:schemeClr val="tx1"/>
                  </a:solidFill>
                  <a:latin typeface="+mj-lt"/>
                  <a:ea typeface="League Spartan" charset="0"/>
                  <a:cs typeface="Poppins" pitchFamily="2" charset="77"/>
                </a:rPr>
                <a:t>(n=44,753)</a:t>
              </a:r>
              <a:endParaRPr kumimoji="0" lang="en-US" sz="1200" b="1" i="0" u="none" strike="noStrike" kern="1200" cap="none" spc="0" normalizeH="0" baseline="0" noProof="0" dirty="0">
                <a:ln>
                  <a:noFill/>
                </a:ln>
                <a:solidFill>
                  <a:schemeClr val="tx1"/>
                </a:solidFill>
                <a:effectLst/>
                <a:uLnTx/>
                <a:uFillTx/>
                <a:latin typeface="+mj-lt"/>
                <a:ea typeface="League Spartan" charset="0"/>
                <a:cs typeface="Poppins" pitchFamily="2" charset="77"/>
              </a:endParaRPr>
            </a:p>
          </p:txBody>
        </p:sp>
        <p:sp>
          <p:nvSpPr>
            <p:cNvPr id="58" name="Pentagon 3">
              <a:extLst>
                <a:ext uri="{FF2B5EF4-FFF2-40B4-BE49-F238E27FC236}">
                  <a16:creationId xmlns:a16="http://schemas.microsoft.com/office/drawing/2014/main" id="{B7C821AF-0B24-3C5F-CA66-7B65A0EE003F}"/>
                </a:ext>
              </a:extLst>
            </p:cNvPr>
            <p:cNvSpPr/>
            <p:nvPr/>
          </p:nvSpPr>
          <p:spPr>
            <a:xfrm>
              <a:off x="656630" y="3472817"/>
              <a:ext cx="45719" cy="2032079"/>
            </a:xfrm>
            <a:prstGeom prst="round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pic>
        <p:nvPicPr>
          <p:cNvPr id="54" name="Picture 53">
            <a:extLst>
              <a:ext uri="{FF2B5EF4-FFF2-40B4-BE49-F238E27FC236}">
                <a16:creationId xmlns:a16="http://schemas.microsoft.com/office/drawing/2014/main" id="{42CD9F9A-6B07-4401-26B7-CC5D92E08726}"/>
              </a:ext>
            </a:extLst>
          </p:cNvPr>
          <p:cNvPicPr>
            <a:picLocks noChangeAspect="1"/>
          </p:cNvPicPr>
          <p:nvPr/>
        </p:nvPicPr>
        <p:blipFill>
          <a:blip r:embed="rId2"/>
          <a:stretch>
            <a:fillRect/>
          </a:stretch>
        </p:blipFill>
        <p:spPr>
          <a:xfrm>
            <a:off x="366033" y="1573252"/>
            <a:ext cx="3572264" cy="3501725"/>
          </a:xfrm>
          <a:prstGeom prst="rect">
            <a:avLst/>
          </a:prstGeom>
        </p:spPr>
      </p:pic>
      <p:sp>
        <p:nvSpPr>
          <p:cNvPr id="2" name="Title 1">
            <a:extLst>
              <a:ext uri="{FF2B5EF4-FFF2-40B4-BE49-F238E27FC236}">
                <a16:creationId xmlns:a16="http://schemas.microsoft.com/office/drawing/2014/main" id="{CD14C633-F89F-516F-9A2E-0AC4D9B8E737}"/>
              </a:ext>
            </a:extLst>
          </p:cNvPr>
          <p:cNvSpPr>
            <a:spLocks noGrp="1"/>
          </p:cNvSpPr>
          <p:nvPr>
            <p:ph type="title"/>
          </p:nvPr>
        </p:nvSpPr>
        <p:spPr>
          <a:xfrm>
            <a:off x="606078" y="161605"/>
            <a:ext cx="10014297" cy="685801"/>
          </a:xfrm>
        </p:spPr>
        <p:txBody>
          <a:bodyPr>
            <a:noAutofit/>
          </a:bodyPr>
          <a:lstStyle/>
          <a:p>
            <a:r>
              <a:rPr lang="en-US" sz="2000">
                <a:solidFill>
                  <a:schemeClr val="accent1"/>
                </a:solidFill>
                <a:latin typeface="Calibri"/>
                <a:ea typeface="メイリオ"/>
                <a:cs typeface="Calibri"/>
              </a:rPr>
              <a:t>Key Personas:</a:t>
            </a:r>
            <a:r>
              <a:rPr lang="en-US" sz="2000">
                <a:latin typeface="Calibri"/>
                <a:ea typeface="メイリオ"/>
                <a:cs typeface="Calibri"/>
              </a:rPr>
              <a:t> A small, high-impact cohort of 5% HCPs accounts for a disproportionate share of 53% of top-decile targets in the NT network</a:t>
            </a:r>
          </a:p>
        </p:txBody>
      </p:sp>
      <p:grpSp>
        <p:nvGrpSpPr>
          <p:cNvPr id="92" name="Group 91">
            <a:extLst>
              <a:ext uri="{FF2B5EF4-FFF2-40B4-BE49-F238E27FC236}">
                <a16:creationId xmlns:a16="http://schemas.microsoft.com/office/drawing/2014/main" id="{54ACE8D6-FA44-7BAA-03A3-146188505226}"/>
              </a:ext>
            </a:extLst>
          </p:cNvPr>
          <p:cNvGrpSpPr/>
          <p:nvPr/>
        </p:nvGrpSpPr>
        <p:grpSpPr>
          <a:xfrm>
            <a:off x="4813096" y="1573252"/>
            <a:ext cx="2651760" cy="548640"/>
            <a:chOff x="656629" y="3472817"/>
            <a:chExt cx="2651760" cy="2032079"/>
          </a:xfrm>
        </p:grpSpPr>
        <p:sp>
          <p:nvSpPr>
            <p:cNvPr id="93" name="Pentagon 3">
              <a:extLst>
                <a:ext uri="{FF2B5EF4-FFF2-40B4-BE49-F238E27FC236}">
                  <a16:creationId xmlns:a16="http://schemas.microsoft.com/office/drawing/2014/main" id="{81A51EFD-81BA-0CA4-204C-B2E5375F38F5}"/>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Treaters: </a:t>
              </a:r>
              <a:r>
                <a:rPr lang="en-US" sz="1200" b="1">
                  <a:solidFill>
                    <a:schemeClr val="tx1"/>
                  </a:solidFill>
                  <a:latin typeface="+mj-lt"/>
                  <a:ea typeface="League Spartan" charset="0"/>
                  <a:cs typeface="Poppins" pitchFamily="2" charset="77"/>
                </a:rPr>
                <a:t>0.47% </a:t>
              </a:r>
              <a:r>
                <a:rPr lang="en-US" sz="1000" i="1">
                  <a:solidFill>
                    <a:schemeClr val="tx1"/>
                  </a:solidFill>
                  <a:latin typeface="+mj-lt"/>
                  <a:ea typeface="League Spartan" charset="0"/>
                  <a:cs typeface="Poppins" pitchFamily="2" charset="77"/>
                </a:rPr>
                <a:t>(n=315)</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Managing NT1 relevant treatment for a high-volume of patients</a:t>
              </a:r>
            </a:p>
          </p:txBody>
        </p:sp>
        <p:sp>
          <p:nvSpPr>
            <p:cNvPr id="94" name="Pentagon 3">
              <a:extLst>
                <a:ext uri="{FF2B5EF4-FFF2-40B4-BE49-F238E27FC236}">
                  <a16:creationId xmlns:a16="http://schemas.microsoft.com/office/drawing/2014/main" id="{08F43E0F-477C-312D-89E6-15EAA53ED6E6}"/>
                </a:ext>
              </a:extLst>
            </p:cNvPr>
            <p:cNvSpPr/>
            <p:nvPr/>
          </p:nvSpPr>
          <p:spPr>
            <a:xfrm>
              <a:off x="656630" y="3472817"/>
              <a:ext cx="45719" cy="203207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sp>
        <p:nvSpPr>
          <p:cNvPr id="134" name="Rectangle: Rounded Corners 133">
            <a:extLst>
              <a:ext uri="{FF2B5EF4-FFF2-40B4-BE49-F238E27FC236}">
                <a16:creationId xmlns:a16="http://schemas.microsoft.com/office/drawing/2014/main" id="{D924409F-9561-0A5E-82A7-5FA597B188F5}"/>
              </a:ext>
            </a:extLst>
          </p:cNvPr>
          <p:cNvSpPr/>
          <p:nvPr/>
        </p:nvSpPr>
        <p:spPr>
          <a:xfrm>
            <a:off x="4813095" y="5126845"/>
            <a:ext cx="3083619"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100" b="1"/>
              <a:t>Total HCPs</a:t>
            </a:r>
            <a:r>
              <a:rPr kumimoji="1" lang="en-US" sz="1100"/>
              <a:t>: 3,132 </a:t>
            </a:r>
            <a:r>
              <a:rPr kumimoji="1" lang="en-US" sz="1050" i="1"/>
              <a:t>(5% of the Universe)</a:t>
            </a:r>
          </a:p>
          <a:p>
            <a:pPr>
              <a:spcBef>
                <a:spcPts val="600"/>
              </a:spcBef>
            </a:pPr>
            <a:r>
              <a:rPr kumimoji="1" lang="en-US" sz="1100" b="1"/>
              <a:t>% of Identified Targets Covered</a:t>
            </a:r>
            <a:r>
              <a:rPr kumimoji="1" lang="en-US" sz="1100" b="1" baseline="30000"/>
              <a:t>*</a:t>
            </a:r>
            <a:r>
              <a:rPr kumimoji="1" lang="en-US" sz="1100" b="1"/>
              <a:t>: </a:t>
            </a:r>
            <a:r>
              <a:rPr kumimoji="1" lang="en-US" sz="1100"/>
              <a:t>29%</a:t>
            </a:r>
            <a:r>
              <a:rPr kumimoji="1" lang="en-US" sz="1100" b="1"/>
              <a:t> </a:t>
            </a:r>
          </a:p>
          <a:p>
            <a:pPr>
              <a:spcBef>
                <a:spcPts val="600"/>
              </a:spcBef>
            </a:pPr>
            <a:r>
              <a:rPr kumimoji="1" lang="en-US" sz="1100" b="1"/>
              <a:t>% of Identified Decile 5-10 Targets Covered</a:t>
            </a:r>
            <a:r>
              <a:rPr kumimoji="1" lang="en-US" sz="1100" b="1" baseline="30000"/>
              <a:t>^</a:t>
            </a:r>
            <a:r>
              <a:rPr kumimoji="1" lang="en-US" sz="1100" b="1"/>
              <a:t>: </a:t>
            </a:r>
            <a:r>
              <a:rPr kumimoji="1" lang="en-US" sz="1100"/>
              <a:t>53%</a:t>
            </a:r>
          </a:p>
        </p:txBody>
      </p:sp>
      <p:sp>
        <p:nvSpPr>
          <p:cNvPr id="12" name="Rectangle 11">
            <a:extLst>
              <a:ext uri="{FF2B5EF4-FFF2-40B4-BE49-F238E27FC236}">
                <a16:creationId xmlns:a16="http://schemas.microsoft.com/office/drawing/2014/main" id="{89ED8031-164C-7920-3D9D-A3D129541B91}"/>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a:t>* Amongst target list HCPs who are part of Referral Universe : N=7,562</a:t>
            </a:r>
          </a:p>
          <a:p>
            <a:r>
              <a:rPr kumimoji="1" lang="en-US" sz="800"/>
              <a:t>^ Amongst Decile 5-10 target list HCPs who are part of Referral Universe : N=2,584</a:t>
            </a:r>
          </a:p>
        </p:txBody>
      </p:sp>
      <p:grpSp>
        <p:nvGrpSpPr>
          <p:cNvPr id="6" name="Group 5">
            <a:extLst>
              <a:ext uri="{FF2B5EF4-FFF2-40B4-BE49-F238E27FC236}">
                <a16:creationId xmlns:a16="http://schemas.microsoft.com/office/drawing/2014/main" id="{8983A85E-D06C-7E8C-EA1F-E33DB2C01E6E}"/>
              </a:ext>
            </a:extLst>
          </p:cNvPr>
          <p:cNvGrpSpPr/>
          <p:nvPr/>
        </p:nvGrpSpPr>
        <p:grpSpPr>
          <a:xfrm>
            <a:off x="4813096" y="2259747"/>
            <a:ext cx="2651760" cy="548640"/>
            <a:chOff x="656629" y="3472817"/>
            <a:chExt cx="2651760" cy="2032079"/>
          </a:xfrm>
        </p:grpSpPr>
        <p:sp>
          <p:nvSpPr>
            <p:cNvPr id="7" name="Pentagon 3">
              <a:extLst>
                <a:ext uri="{FF2B5EF4-FFF2-40B4-BE49-F238E27FC236}">
                  <a16:creationId xmlns:a16="http://schemas.microsoft.com/office/drawing/2014/main" id="{265CA2F9-7A87-E843-3E4A-DB6598132558}"/>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a:t>
              </a:r>
              <a:r>
                <a:rPr kumimoji="0" lang="en-US" sz="1200" b="1" i="0" u="none" strike="noStrike" kern="1200" cap="none" spc="0" normalizeH="0" baseline="0" noProof="0" err="1">
                  <a:ln>
                    <a:noFill/>
                  </a:ln>
                  <a:solidFill>
                    <a:schemeClr val="tx1"/>
                  </a:solidFill>
                  <a:effectLst/>
                  <a:uLnTx/>
                  <a:uFillTx/>
                  <a:latin typeface="+mj-lt"/>
                  <a:ea typeface="League Spartan" charset="0"/>
                  <a:cs typeface="Poppins" pitchFamily="2" charset="77"/>
                </a:rPr>
                <a:t>Diagnosers</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 </a:t>
              </a:r>
              <a:r>
                <a:rPr lang="en-US" sz="1200" b="1">
                  <a:solidFill>
                    <a:schemeClr val="tx1"/>
                  </a:solidFill>
                  <a:latin typeface="+mj-lt"/>
                  <a:ea typeface="League Spartan" charset="0"/>
                  <a:cs typeface="Poppins" pitchFamily="2" charset="77"/>
                </a:rPr>
                <a:t>1.06% </a:t>
              </a:r>
              <a:r>
                <a:rPr lang="en-US" sz="1000" i="1">
                  <a:solidFill>
                    <a:schemeClr val="tx1"/>
                  </a:solidFill>
                  <a:latin typeface="+mj-lt"/>
                  <a:ea typeface="League Spartan" charset="0"/>
                  <a:cs typeface="Poppins" pitchFamily="2" charset="77"/>
                </a:rPr>
                <a:t>(n=717)</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Consistently seeing and diagnosing a high-volume of patients with NT1</a:t>
              </a:r>
            </a:p>
          </p:txBody>
        </p:sp>
        <p:sp>
          <p:nvSpPr>
            <p:cNvPr id="8" name="Pentagon 3">
              <a:extLst>
                <a:ext uri="{FF2B5EF4-FFF2-40B4-BE49-F238E27FC236}">
                  <a16:creationId xmlns:a16="http://schemas.microsoft.com/office/drawing/2014/main" id="{A1A50B21-60D1-300B-0D48-036612E8213A}"/>
                </a:ext>
              </a:extLst>
            </p:cNvPr>
            <p:cNvSpPr/>
            <p:nvPr/>
          </p:nvSpPr>
          <p:spPr>
            <a:xfrm>
              <a:off x="656630" y="3472817"/>
              <a:ext cx="45719" cy="203207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9" name="Group 8">
            <a:extLst>
              <a:ext uri="{FF2B5EF4-FFF2-40B4-BE49-F238E27FC236}">
                <a16:creationId xmlns:a16="http://schemas.microsoft.com/office/drawing/2014/main" id="{FA1F13E8-6610-321F-CAAB-368DF54303FD}"/>
              </a:ext>
            </a:extLst>
          </p:cNvPr>
          <p:cNvGrpSpPr/>
          <p:nvPr/>
        </p:nvGrpSpPr>
        <p:grpSpPr>
          <a:xfrm>
            <a:off x="4813097" y="2946242"/>
            <a:ext cx="2651760" cy="548640"/>
            <a:chOff x="656630" y="3472817"/>
            <a:chExt cx="2651760" cy="2032079"/>
          </a:xfrm>
        </p:grpSpPr>
        <p:sp>
          <p:nvSpPr>
            <p:cNvPr id="10" name="Pentagon 3">
              <a:extLst>
                <a:ext uri="{FF2B5EF4-FFF2-40B4-BE49-F238E27FC236}">
                  <a16:creationId xmlns:a16="http://schemas.microsoft.com/office/drawing/2014/main" id="{6D5A25E2-BE06-D5B1-AD53-E09931EB1CE5}"/>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Bridgers: </a:t>
              </a:r>
              <a:r>
                <a:rPr lang="en-US" sz="1200" b="1">
                  <a:solidFill>
                    <a:schemeClr val="tx1"/>
                  </a:solidFill>
                  <a:latin typeface="+mj-lt"/>
                  <a:ea typeface="League Spartan" charset="0"/>
                  <a:cs typeface="Poppins" pitchFamily="2" charset="77"/>
                </a:rPr>
                <a:t>0.41% </a:t>
              </a:r>
              <a:r>
                <a:rPr lang="en-US" sz="1000" i="1">
                  <a:solidFill>
                    <a:schemeClr val="tx1"/>
                  </a:solidFill>
                  <a:latin typeface="+mj-lt"/>
                  <a:ea typeface="League Spartan" charset="0"/>
                  <a:cs typeface="Poppins" pitchFamily="2" charset="77"/>
                </a:rPr>
                <a:t>(n=280)</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Key HCP redirecting the patient to the targeted HCPs for NT1 diagnosis or referrals</a:t>
              </a:r>
            </a:p>
          </p:txBody>
        </p:sp>
        <p:sp>
          <p:nvSpPr>
            <p:cNvPr id="11" name="Pentagon 3">
              <a:extLst>
                <a:ext uri="{FF2B5EF4-FFF2-40B4-BE49-F238E27FC236}">
                  <a16:creationId xmlns:a16="http://schemas.microsoft.com/office/drawing/2014/main" id="{059EEA42-06CE-DB1D-EC3F-64ADBB9036FA}"/>
                </a:ext>
              </a:extLst>
            </p:cNvPr>
            <p:cNvSpPr/>
            <p:nvPr/>
          </p:nvSpPr>
          <p:spPr>
            <a:xfrm>
              <a:off x="656630" y="3472817"/>
              <a:ext cx="45719" cy="203207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13" name="Group 12">
            <a:extLst>
              <a:ext uri="{FF2B5EF4-FFF2-40B4-BE49-F238E27FC236}">
                <a16:creationId xmlns:a16="http://schemas.microsoft.com/office/drawing/2014/main" id="{86F2A31C-C89B-0F43-5647-A638C3550668}"/>
              </a:ext>
            </a:extLst>
          </p:cNvPr>
          <p:cNvGrpSpPr/>
          <p:nvPr/>
        </p:nvGrpSpPr>
        <p:grpSpPr>
          <a:xfrm>
            <a:off x="4813097" y="3632737"/>
            <a:ext cx="2651760" cy="548640"/>
            <a:chOff x="656630" y="3472817"/>
            <a:chExt cx="2651760" cy="2032079"/>
          </a:xfrm>
        </p:grpSpPr>
        <p:sp>
          <p:nvSpPr>
            <p:cNvPr id="14" name="Pentagon 3">
              <a:extLst>
                <a:ext uri="{FF2B5EF4-FFF2-40B4-BE49-F238E27FC236}">
                  <a16:creationId xmlns:a16="http://schemas.microsoft.com/office/drawing/2014/main" id="{18919FA2-C7CC-FDCC-C6F0-85205FA880D4}"/>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Key Influencers: </a:t>
              </a:r>
              <a:r>
                <a:rPr lang="en-US" sz="1200" b="1">
                  <a:solidFill>
                    <a:schemeClr val="tx1"/>
                  </a:solidFill>
                  <a:latin typeface="+mj-lt"/>
                  <a:ea typeface="League Spartan" charset="0"/>
                  <a:cs typeface="Poppins" pitchFamily="2" charset="77"/>
                </a:rPr>
                <a:t>1.88% </a:t>
              </a:r>
              <a:r>
                <a:rPr lang="en-US" sz="1000" i="1">
                  <a:solidFill>
                    <a:schemeClr val="tx1"/>
                  </a:solidFill>
                  <a:latin typeface="+mj-lt"/>
                  <a:ea typeface="League Spartan" charset="0"/>
                  <a:cs typeface="Poppins" pitchFamily="2" charset="77"/>
                </a:rPr>
                <a:t>(n=1,271)</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Highly connected HCPs managing and redirecting a high-volume of patients </a:t>
              </a:r>
            </a:p>
          </p:txBody>
        </p:sp>
        <p:sp>
          <p:nvSpPr>
            <p:cNvPr id="15" name="Pentagon 3">
              <a:extLst>
                <a:ext uri="{FF2B5EF4-FFF2-40B4-BE49-F238E27FC236}">
                  <a16:creationId xmlns:a16="http://schemas.microsoft.com/office/drawing/2014/main" id="{B1D372A1-980A-91CE-54D7-D2D09470904B}"/>
                </a:ext>
              </a:extLst>
            </p:cNvPr>
            <p:cNvSpPr/>
            <p:nvPr/>
          </p:nvSpPr>
          <p:spPr>
            <a:xfrm>
              <a:off x="656630" y="3472817"/>
              <a:ext cx="45719" cy="203207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16" name="Group 15">
            <a:extLst>
              <a:ext uri="{FF2B5EF4-FFF2-40B4-BE49-F238E27FC236}">
                <a16:creationId xmlns:a16="http://schemas.microsoft.com/office/drawing/2014/main" id="{E25FE221-629A-97AE-9BEA-85054B773296}"/>
              </a:ext>
            </a:extLst>
          </p:cNvPr>
          <p:cNvGrpSpPr/>
          <p:nvPr/>
        </p:nvGrpSpPr>
        <p:grpSpPr>
          <a:xfrm>
            <a:off x="4813097" y="4319233"/>
            <a:ext cx="2651760" cy="548640"/>
            <a:chOff x="656630" y="3472817"/>
            <a:chExt cx="2651760" cy="2032079"/>
          </a:xfrm>
        </p:grpSpPr>
        <p:sp>
          <p:nvSpPr>
            <p:cNvPr id="17" name="Pentagon 3">
              <a:extLst>
                <a:ext uri="{FF2B5EF4-FFF2-40B4-BE49-F238E27FC236}">
                  <a16:creationId xmlns:a16="http://schemas.microsoft.com/office/drawing/2014/main" id="{BA15F06A-69B4-2134-03F5-CF72CA0DB491}"/>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Referrers: </a:t>
              </a:r>
              <a:r>
                <a:rPr lang="en-US" sz="1200" b="1">
                  <a:solidFill>
                    <a:schemeClr val="tx1"/>
                  </a:solidFill>
                  <a:latin typeface="+mj-lt"/>
                  <a:ea typeface="League Spartan" charset="0"/>
                  <a:cs typeface="Poppins" pitchFamily="2" charset="77"/>
                </a:rPr>
                <a:t>0.81% </a:t>
              </a:r>
              <a:r>
                <a:rPr lang="en-US" sz="1000" i="1">
                  <a:solidFill>
                    <a:schemeClr val="tx1"/>
                  </a:solidFill>
                  <a:latin typeface="+mj-lt"/>
                  <a:ea typeface="League Spartan" charset="0"/>
                  <a:cs typeface="Poppins" pitchFamily="2" charset="77"/>
                </a:rPr>
                <a:t>(n=549)</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HCPs actively redirecting patients to other HCPs in their referral network</a:t>
              </a:r>
            </a:p>
          </p:txBody>
        </p:sp>
        <p:sp>
          <p:nvSpPr>
            <p:cNvPr id="20" name="Pentagon 3">
              <a:extLst>
                <a:ext uri="{FF2B5EF4-FFF2-40B4-BE49-F238E27FC236}">
                  <a16:creationId xmlns:a16="http://schemas.microsoft.com/office/drawing/2014/main" id="{9A4137EB-37BA-E0C8-B517-D133F7708393}"/>
                </a:ext>
              </a:extLst>
            </p:cNvPr>
            <p:cNvSpPr/>
            <p:nvPr/>
          </p:nvSpPr>
          <p:spPr>
            <a:xfrm>
              <a:off x="656630" y="3472817"/>
              <a:ext cx="45719" cy="203207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sp>
        <p:nvSpPr>
          <p:cNvPr id="21" name="Pentagon 3">
            <a:extLst>
              <a:ext uri="{FF2B5EF4-FFF2-40B4-BE49-F238E27FC236}">
                <a16:creationId xmlns:a16="http://schemas.microsoft.com/office/drawing/2014/main" id="{C4CF650B-6C5E-2C32-A972-2C974A314275}"/>
              </a:ext>
            </a:extLst>
          </p:cNvPr>
          <p:cNvSpPr/>
          <p:nvPr/>
        </p:nvSpPr>
        <p:spPr>
          <a:xfrm>
            <a:off x="4813096" y="1133958"/>
            <a:ext cx="2039674" cy="26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400" b="1" noProof="0">
                <a:solidFill>
                  <a:schemeClr val="tx1"/>
                </a:solidFill>
                <a:latin typeface="+mj-lt"/>
                <a:ea typeface="League Spartan" charset="0"/>
                <a:cs typeface="Poppins" pitchFamily="2" charset="77"/>
              </a:rPr>
              <a:t>KEY PERSONAS</a:t>
            </a:r>
          </a:p>
        </p:txBody>
      </p:sp>
      <p:sp>
        <p:nvSpPr>
          <p:cNvPr id="60" name="Rectangle: Rounded Corners 59">
            <a:extLst>
              <a:ext uri="{FF2B5EF4-FFF2-40B4-BE49-F238E27FC236}">
                <a16:creationId xmlns:a16="http://schemas.microsoft.com/office/drawing/2014/main" id="{34ED12CF-1B2D-99B5-70DA-22ACD55DFB2E}"/>
              </a:ext>
            </a:extLst>
          </p:cNvPr>
          <p:cNvSpPr/>
          <p:nvPr/>
        </p:nvSpPr>
        <p:spPr>
          <a:xfrm>
            <a:off x="8802079" y="5126845"/>
            <a:ext cx="3083619"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100" b="1"/>
              <a:t>Total HCPs</a:t>
            </a:r>
            <a:r>
              <a:rPr kumimoji="1" lang="en-US" sz="1100"/>
              <a:t>: 46,097 </a:t>
            </a:r>
            <a:r>
              <a:rPr kumimoji="1" lang="en-US" sz="1050" i="1"/>
              <a:t>(69% of the Universe)</a:t>
            </a:r>
          </a:p>
          <a:p>
            <a:pPr>
              <a:spcBef>
                <a:spcPts val="600"/>
              </a:spcBef>
            </a:pPr>
            <a:r>
              <a:rPr kumimoji="1" lang="en-US" sz="1100" b="1"/>
              <a:t>% of Identified Targets Covered</a:t>
            </a:r>
            <a:r>
              <a:rPr kumimoji="1" lang="en-US" sz="1100" b="1" baseline="30000"/>
              <a:t>*</a:t>
            </a:r>
            <a:r>
              <a:rPr kumimoji="1" lang="en-US" sz="1100" b="1"/>
              <a:t>: </a:t>
            </a:r>
            <a:r>
              <a:rPr kumimoji="1" lang="en-US" sz="1100"/>
              <a:t>46%</a:t>
            </a:r>
            <a:r>
              <a:rPr kumimoji="1" lang="en-US" sz="1100" b="1"/>
              <a:t> </a:t>
            </a:r>
          </a:p>
          <a:p>
            <a:pPr>
              <a:spcBef>
                <a:spcPts val="600"/>
              </a:spcBef>
            </a:pPr>
            <a:r>
              <a:rPr kumimoji="1" lang="en-US" sz="1100" b="1"/>
              <a:t>% of Identified Decile 5-10 Targets Covered</a:t>
            </a:r>
            <a:r>
              <a:rPr kumimoji="1" lang="en-US" sz="1100" b="1" baseline="30000"/>
              <a:t>^</a:t>
            </a:r>
            <a:r>
              <a:rPr kumimoji="1" lang="en-US" sz="1100" b="1"/>
              <a:t>: </a:t>
            </a:r>
            <a:r>
              <a:rPr kumimoji="1" lang="en-US" sz="1100"/>
              <a:t>33%</a:t>
            </a:r>
          </a:p>
        </p:txBody>
      </p:sp>
    </p:spTree>
    <p:extLst>
      <p:ext uri="{BB962C8B-B14F-4D97-AF65-F5344CB8AC3E}">
        <p14:creationId xmlns:p14="http://schemas.microsoft.com/office/powerpoint/2010/main" val="4270929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F2EAC-45C4-94E3-03C2-FADBD253C2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40CDF0-FAFE-5E25-CF63-D6F7BAC8FC33}"/>
              </a:ext>
            </a:extLst>
          </p:cNvPr>
          <p:cNvSpPr>
            <a:spLocks noGrp="1"/>
          </p:cNvSpPr>
          <p:nvPr>
            <p:ph type="title"/>
          </p:nvPr>
        </p:nvSpPr>
        <p:spPr>
          <a:xfrm>
            <a:off x="615603" y="161605"/>
            <a:ext cx="10111766" cy="685801"/>
          </a:xfrm>
        </p:spPr>
        <p:txBody>
          <a:bodyPr>
            <a:noAutofit/>
          </a:bodyPr>
          <a:lstStyle/>
          <a:p>
            <a:r>
              <a:rPr lang="en-US" sz="2000" noProof="0" dirty="0">
                <a:latin typeface="+mj-lt"/>
              </a:rPr>
              <a:t>Innovators are the most represented group in the identified set of personas followed by Holistic Treaters</a:t>
            </a:r>
          </a:p>
        </p:txBody>
      </p:sp>
      <p:sp>
        <p:nvSpPr>
          <p:cNvPr id="39" name="Slide Number Placeholder 4">
            <a:extLst>
              <a:ext uri="{FF2B5EF4-FFF2-40B4-BE49-F238E27FC236}">
                <a16:creationId xmlns:a16="http://schemas.microsoft.com/office/drawing/2014/main" id="{589DD694-0577-EB41-AE93-43352A79382B}"/>
              </a:ext>
            </a:extLst>
          </p:cNvPr>
          <p:cNvSpPr>
            <a:spLocks noGrp="1"/>
          </p:cNvSpPr>
          <p:nvPr>
            <p:ph type="sldNum" sz="quarter" idx="4"/>
          </p:nvPr>
        </p:nvSpPr>
        <p:spPr>
          <a:xfrm>
            <a:off x="311150" y="6523001"/>
            <a:ext cx="294928" cy="196131"/>
          </a:xfrm>
        </p:spPr>
        <p:txBody>
          <a:bodyPr/>
          <a:lstStyle/>
          <a:p>
            <a:pPr defTabSz="1218810"/>
            <a:fld id="{E9B57936-92EF-4126-AE48-1D9D36D15E98}" type="slidenum">
              <a:rPr lang="ja-JP" altLang="en-US" smtClean="0"/>
              <a:pPr defTabSz="1218810"/>
              <a:t>35</a:t>
            </a:fld>
            <a:endParaRPr lang="ja-JP" altLang="en-US"/>
          </a:p>
        </p:txBody>
      </p:sp>
      <p:graphicFrame>
        <p:nvGraphicFramePr>
          <p:cNvPr id="2" name="Table 1">
            <a:extLst>
              <a:ext uri="{FF2B5EF4-FFF2-40B4-BE49-F238E27FC236}">
                <a16:creationId xmlns:a16="http://schemas.microsoft.com/office/drawing/2014/main" id="{B6A56DD6-7775-2E0F-0326-E18E63882BA1}"/>
              </a:ext>
            </a:extLst>
          </p:cNvPr>
          <p:cNvGraphicFramePr>
            <a:graphicFrameLocks noGrp="1"/>
          </p:cNvGraphicFramePr>
          <p:nvPr/>
        </p:nvGraphicFramePr>
        <p:xfrm>
          <a:off x="311150" y="1371981"/>
          <a:ext cx="11365738" cy="4205858"/>
        </p:xfrm>
        <a:graphic>
          <a:graphicData uri="http://schemas.openxmlformats.org/drawingml/2006/table">
            <a:tbl>
              <a:tblPr>
                <a:tableStyleId>{3B4B98B0-60AC-42C2-AFA5-B58CD77FA1E5}</a:tableStyleId>
              </a:tblPr>
              <a:tblGrid>
                <a:gridCol w="1891548">
                  <a:extLst>
                    <a:ext uri="{9D8B030D-6E8A-4147-A177-3AD203B41FA5}">
                      <a16:colId xmlns:a16="http://schemas.microsoft.com/office/drawing/2014/main" val="375951651"/>
                    </a:ext>
                  </a:extLst>
                </a:gridCol>
                <a:gridCol w="1894838">
                  <a:extLst>
                    <a:ext uri="{9D8B030D-6E8A-4147-A177-3AD203B41FA5}">
                      <a16:colId xmlns:a16="http://schemas.microsoft.com/office/drawing/2014/main" val="2899241206"/>
                    </a:ext>
                  </a:extLst>
                </a:gridCol>
                <a:gridCol w="1894838">
                  <a:extLst>
                    <a:ext uri="{9D8B030D-6E8A-4147-A177-3AD203B41FA5}">
                      <a16:colId xmlns:a16="http://schemas.microsoft.com/office/drawing/2014/main" val="1538156644"/>
                    </a:ext>
                  </a:extLst>
                </a:gridCol>
                <a:gridCol w="1894838">
                  <a:extLst>
                    <a:ext uri="{9D8B030D-6E8A-4147-A177-3AD203B41FA5}">
                      <a16:colId xmlns:a16="http://schemas.microsoft.com/office/drawing/2014/main" val="3045201847"/>
                    </a:ext>
                  </a:extLst>
                </a:gridCol>
                <a:gridCol w="1894838">
                  <a:extLst>
                    <a:ext uri="{9D8B030D-6E8A-4147-A177-3AD203B41FA5}">
                      <a16:colId xmlns:a16="http://schemas.microsoft.com/office/drawing/2014/main" val="3086766727"/>
                    </a:ext>
                  </a:extLst>
                </a:gridCol>
                <a:gridCol w="1894838">
                  <a:extLst>
                    <a:ext uri="{9D8B030D-6E8A-4147-A177-3AD203B41FA5}">
                      <a16:colId xmlns:a16="http://schemas.microsoft.com/office/drawing/2014/main" val="3629152780"/>
                    </a:ext>
                  </a:extLst>
                </a:gridCol>
              </a:tblGrid>
              <a:tr h="410954">
                <a:tc>
                  <a:txBody>
                    <a:bodyPr/>
                    <a:lstStyle/>
                    <a:p>
                      <a:pPr marL="0" algn="l" defTabSz="914150" rtl="0" eaLnBrk="1" fontAlgn="b" latinLnBrk="0" hangingPunct="1">
                        <a:buNone/>
                      </a:pPr>
                      <a:r>
                        <a:rPr kumimoji="1" lang="en-US" sz="1200" b="1" i="0" u="none" strike="noStrike" kern="1200" dirty="0">
                          <a:solidFill>
                            <a:schemeClr val="bg1"/>
                          </a:solidFill>
                          <a:effectLst/>
                          <a:latin typeface="+mj-lt"/>
                          <a:ea typeface="+mn-ea"/>
                          <a:cs typeface="+mn-cs"/>
                        </a:rPr>
                        <a:t>Personas</a:t>
                      </a:r>
                      <a:endParaRPr kumimoji="1" lang="en-IN" sz="1200" b="1" i="0" u="none" strike="noStrike" kern="1200" dirty="0">
                        <a:solidFill>
                          <a:schemeClr val="bg1"/>
                        </a:solidFill>
                        <a:effectLst/>
                        <a:latin typeface="+mj-lt"/>
                        <a:ea typeface="+mn-ea"/>
                        <a:cs typeface="+mn-cs"/>
                      </a:endParaRPr>
                    </a:p>
                  </a:txBody>
                  <a:tcPr marR="9525" marT="9525" marB="0" anchor="ctr">
                    <a:solidFill>
                      <a:schemeClr val="accent1"/>
                    </a:solidFill>
                  </a:tcPr>
                </a:tc>
                <a:tc>
                  <a:txBody>
                    <a:bodyPr/>
                    <a:lstStyle/>
                    <a:p>
                      <a:pPr algn="ctr" fontAlgn="b">
                        <a:buNone/>
                      </a:pPr>
                      <a:r>
                        <a:rPr lang="en-US" sz="1200" b="1" i="0" u="none" strike="noStrike" dirty="0">
                          <a:solidFill>
                            <a:schemeClr val="bg1"/>
                          </a:solidFill>
                          <a:effectLst/>
                          <a:latin typeface="+mj-lt"/>
                        </a:rPr>
                        <a:t>N-Size</a:t>
                      </a:r>
                      <a:endParaRPr lang="en-IN" sz="1200" b="1" i="0" u="none" strike="noStrike" dirty="0">
                        <a:solidFill>
                          <a:schemeClr val="bg1"/>
                        </a:solidFill>
                        <a:effectLst/>
                        <a:latin typeface="+mj-lt"/>
                      </a:endParaRPr>
                    </a:p>
                  </a:txBody>
                  <a:tcPr marL="9525" marR="9525" marT="9525" marB="0" anchor="ctr">
                    <a:lnR w="6350" cap="flat" cmpd="sng" algn="ctr">
                      <a:solidFill>
                        <a:schemeClr val="tx1">
                          <a:lumMod val="60000"/>
                          <a:lumOff val="40000"/>
                        </a:schemeClr>
                      </a:solidFill>
                      <a:prstDash val="solid"/>
                      <a:round/>
                      <a:headEnd type="none" w="med" len="med"/>
                      <a:tailEnd type="none" w="med" len="med"/>
                    </a:lnR>
                    <a:solidFill>
                      <a:schemeClr val="accent1"/>
                    </a:solidFill>
                  </a:tcPr>
                </a:tc>
                <a:tc>
                  <a:txBody>
                    <a:bodyPr/>
                    <a:lstStyle/>
                    <a:p>
                      <a:pPr algn="ctr" fontAlgn="b">
                        <a:buNone/>
                      </a:pPr>
                      <a:r>
                        <a:rPr lang="en-IN" sz="1200" b="1" u="none" strike="noStrike" dirty="0">
                          <a:solidFill>
                            <a:schemeClr val="bg1"/>
                          </a:solidFill>
                          <a:effectLst/>
                          <a:latin typeface="+mj-lt"/>
                        </a:rPr>
                        <a:t>Holistic Treaters</a:t>
                      </a:r>
                      <a:endParaRPr lang="en-IN" sz="1200" b="1" i="0" u="none" strike="noStrike" dirty="0">
                        <a:solidFill>
                          <a:schemeClr val="bg1"/>
                        </a:solidFill>
                        <a:effectLst/>
                        <a:latin typeface="+mj-lt"/>
                      </a:endParaRPr>
                    </a:p>
                  </a:txBody>
                  <a:tcPr marL="9525" marR="9525" marT="9525" marB="0" anchor="ctr">
                    <a:lnL w="6350" cap="flat" cmpd="sng" algn="ctr">
                      <a:solidFill>
                        <a:schemeClr val="tx1">
                          <a:lumMod val="60000"/>
                          <a:lumOff val="40000"/>
                        </a:schemeClr>
                      </a:solidFill>
                      <a:prstDash val="solid"/>
                      <a:round/>
                      <a:headEnd type="none" w="med" len="med"/>
                      <a:tailEnd type="none" w="med" len="med"/>
                    </a:lnL>
                    <a:solidFill>
                      <a:schemeClr val="accent1"/>
                    </a:solidFill>
                  </a:tcPr>
                </a:tc>
                <a:tc>
                  <a:txBody>
                    <a:bodyPr/>
                    <a:lstStyle/>
                    <a:p>
                      <a:pPr algn="ctr" fontAlgn="b">
                        <a:buNone/>
                      </a:pPr>
                      <a:r>
                        <a:rPr lang="en-IN" sz="1200" b="1" u="none" strike="noStrike" dirty="0">
                          <a:solidFill>
                            <a:schemeClr val="bg1"/>
                          </a:solidFill>
                          <a:effectLst/>
                          <a:latin typeface="+mj-lt"/>
                        </a:rPr>
                        <a:t>Traditionalists</a:t>
                      </a:r>
                      <a:endParaRPr lang="en-IN" sz="1200" b="1" i="0" u="none" strike="noStrike" dirty="0">
                        <a:solidFill>
                          <a:schemeClr val="bg1"/>
                        </a:solidFill>
                        <a:effectLst/>
                        <a:latin typeface="+mj-lt"/>
                      </a:endParaRPr>
                    </a:p>
                  </a:txBody>
                  <a:tcPr marL="9525" marR="9525" marT="9525" marB="0" anchor="ctr">
                    <a:solidFill>
                      <a:schemeClr val="accent1"/>
                    </a:solidFill>
                  </a:tcPr>
                </a:tc>
                <a:tc>
                  <a:txBody>
                    <a:bodyPr/>
                    <a:lstStyle/>
                    <a:p>
                      <a:pPr algn="ctr" fontAlgn="b">
                        <a:buNone/>
                      </a:pPr>
                      <a:r>
                        <a:rPr lang="en-IN" sz="1200" b="1" u="none" strike="noStrike" dirty="0">
                          <a:solidFill>
                            <a:schemeClr val="bg1"/>
                          </a:solidFill>
                          <a:effectLst/>
                          <a:latin typeface="+mj-lt"/>
                        </a:rPr>
                        <a:t>Innovators</a:t>
                      </a:r>
                      <a:endParaRPr lang="en-IN" sz="1200" b="1" i="0" u="none" strike="noStrike" dirty="0">
                        <a:solidFill>
                          <a:schemeClr val="bg1"/>
                        </a:solidFill>
                        <a:effectLst/>
                        <a:latin typeface="+mj-lt"/>
                      </a:endParaRPr>
                    </a:p>
                  </a:txBody>
                  <a:tcPr marL="9525" marR="9525" marT="9525" marB="0" anchor="ctr">
                    <a:solidFill>
                      <a:schemeClr val="accent1"/>
                    </a:solidFill>
                  </a:tcPr>
                </a:tc>
                <a:tc>
                  <a:txBody>
                    <a:bodyPr/>
                    <a:lstStyle/>
                    <a:p>
                      <a:pPr algn="ctr" fontAlgn="b">
                        <a:buNone/>
                      </a:pPr>
                      <a:r>
                        <a:rPr lang="en-IN" sz="1200" b="1" u="none" strike="noStrike" dirty="0">
                          <a:solidFill>
                            <a:schemeClr val="bg1"/>
                          </a:solidFill>
                          <a:effectLst/>
                          <a:latin typeface="+mj-lt"/>
                        </a:rPr>
                        <a:t>Off-Target</a:t>
                      </a:r>
                      <a:endParaRPr lang="en-IN" sz="1200" b="1" i="0" u="none" strike="noStrike" dirty="0">
                        <a:solidFill>
                          <a:schemeClr val="bg1"/>
                        </a:solidFill>
                        <a:effectLst/>
                        <a:latin typeface="+mj-lt"/>
                      </a:endParaRPr>
                    </a:p>
                  </a:txBody>
                  <a:tcPr marL="9525" marR="9525" marT="9525" marB="0" anchor="ctr">
                    <a:solidFill>
                      <a:schemeClr val="accent1"/>
                    </a:solidFill>
                  </a:tcPr>
                </a:tc>
                <a:extLst>
                  <a:ext uri="{0D108BD9-81ED-4DB2-BD59-A6C34878D82A}">
                    <a16:rowId xmlns:a16="http://schemas.microsoft.com/office/drawing/2014/main" val="3988175111"/>
                  </a:ext>
                </a:extLst>
              </a:tr>
              <a:tr h="421656">
                <a:tc>
                  <a:txBody>
                    <a:bodyPr/>
                    <a:lstStyle/>
                    <a:p>
                      <a:pPr algn="l" fontAlgn="b">
                        <a:buNone/>
                      </a:pPr>
                      <a:r>
                        <a:rPr lang="en-IN" sz="1200" b="1" u="none" strike="noStrike" dirty="0">
                          <a:effectLst/>
                        </a:rPr>
                        <a:t>Super Treaters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315</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22%</a:t>
                      </a:r>
                      <a:br>
                        <a:rPr lang="en-IN" sz="1200" b="0" i="0" u="none" strike="noStrike" dirty="0">
                          <a:solidFill>
                            <a:srgbClr val="000000"/>
                          </a:solidFill>
                          <a:effectLst/>
                          <a:latin typeface="+mj-lt"/>
                        </a:rPr>
                      </a:br>
                      <a:r>
                        <a:rPr lang="en-IN" sz="1100" b="0" i="1" u="none" strike="noStrike" dirty="0">
                          <a:solidFill>
                            <a:srgbClr val="000000"/>
                          </a:solidFill>
                          <a:effectLst/>
                          <a:latin typeface="+mj-lt"/>
                        </a:rPr>
                        <a:t>(68)</a:t>
                      </a:r>
                      <a:endParaRPr lang="en-IN" sz="1200" b="0" i="1" u="none" strike="noStrike" dirty="0">
                        <a:solidFill>
                          <a:srgbClr val="000000"/>
                        </a:solidFill>
                        <a:effectLst/>
                        <a:latin typeface="+mj-lt"/>
                      </a:endParaRP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2%</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solidFill>
                          <a:effectLst/>
                          <a:latin typeface="+mj-lt"/>
                        </a:rPr>
                        <a:t>72%</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(226)</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B w="6350" cap="flat" cmpd="sng" algn="ctr">
                      <a:solidFill>
                        <a:schemeClr val="bg2">
                          <a:lumMod val="65000"/>
                        </a:schemeClr>
                      </a:solidFill>
                      <a:prstDash val="sysDash"/>
                      <a:round/>
                      <a:headEnd type="none" w="med" len="med"/>
                      <a:tailEnd type="none" w="med" len="med"/>
                    </a:lnB>
                    <a:solidFill>
                      <a:schemeClr val="accent2"/>
                    </a:solidFill>
                  </a:tcPr>
                </a:tc>
                <a:tc>
                  <a:txBody>
                    <a:bodyPr/>
                    <a:lstStyle/>
                    <a:p>
                      <a:pPr algn="ctr" fontAlgn="b">
                        <a:buNone/>
                      </a:pPr>
                      <a:r>
                        <a:rPr lang="en-IN" sz="1200" b="0" i="0" u="none" strike="noStrike" dirty="0">
                          <a:solidFill>
                            <a:schemeClr val="bg1">
                              <a:lumMod val="50000"/>
                            </a:schemeClr>
                          </a:solidFill>
                          <a:effectLst/>
                          <a:latin typeface="+mj-lt"/>
                        </a:rPr>
                        <a:t>4%</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(14)</a:t>
                      </a:r>
                    </a:p>
                  </a:txBody>
                  <a:tcPr marL="9525" marR="9525" marT="9525" marB="0" anchor="ctr">
                    <a:lnL w="6350" cap="flat" cmpd="sng" algn="ctr">
                      <a:solidFill>
                        <a:schemeClr val="bg2">
                          <a:lumMod val="65000"/>
                        </a:schemeClr>
                      </a:solidFill>
                      <a:prstDash val="sysDash"/>
                      <a:round/>
                      <a:headEnd type="none" w="med" len="med"/>
                      <a:tailEnd type="none" w="med" len="med"/>
                    </a:lnL>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4223402940"/>
                  </a:ext>
                </a:extLst>
              </a:tr>
              <a:tr h="421656">
                <a:tc>
                  <a:txBody>
                    <a:bodyPr/>
                    <a:lstStyle/>
                    <a:p>
                      <a:pPr algn="l" fontAlgn="b">
                        <a:buNone/>
                      </a:pPr>
                      <a:r>
                        <a:rPr lang="en-IN" sz="1200" b="1" u="none" strike="noStrike" dirty="0">
                          <a:effectLst/>
                        </a:rPr>
                        <a:t>Super </a:t>
                      </a:r>
                      <a:r>
                        <a:rPr lang="en-IN" sz="1200" b="1" u="none" strike="noStrike" dirty="0" err="1">
                          <a:effectLst/>
                        </a:rPr>
                        <a:t>Diagnosers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717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23%</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(162)</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3%</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(19)</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solidFill>
                          <a:effectLst/>
                          <a:latin typeface="+mj-lt"/>
                        </a:rPr>
                        <a:t>69%</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(495)</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00B050"/>
                    </a:solidFill>
                  </a:tcPr>
                </a:tc>
                <a:tc>
                  <a:txBody>
                    <a:bodyPr/>
                    <a:lstStyle/>
                    <a:p>
                      <a:pPr algn="ctr" fontAlgn="b">
                        <a:buNone/>
                      </a:pPr>
                      <a:r>
                        <a:rPr lang="en-IN" sz="1200" b="0" i="0" u="none" strike="noStrike" dirty="0">
                          <a:solidFill>
                            <a:schemeClr val="bg1">
                              <a:lumMod val="50000"/>
                            </a:schemeClr>
                          </a:solidFill>
                          <a:effectLst/>
                          <a:latin typeface="+mj-lt"/>
                        </a:rPr>
                        <a:t>6%</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(41)</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632992750"/>
                  </a:ext>
                </a:extLst>
              </a:tr>
              <a:tr h="421656">
                <a:tc>
                  <a:txBody>
                    <a:bodyPr/>
                    <a:lstStyle/>
                    <a:p>
                      <a:pPr algn="l" fontAlgn="b">
                        <a:buNone/>
                      </a:pPr>
                      <a:r>
                        <a:rPr lang="en-IN" sz="1200" b="1" u="none" strike="noStrike" dirty="0">
                          <a:effectLst/>
                        </a:rPr>
                        <a:t>Bridger</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280</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chemeClr val="bg1"/>
                          </a:solidFill>
                          <a:effectLst/>
                          <a:latin typeface="+mj-lt"/>
                        </a:rPr>
                        <a:t>26%</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(72)</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E2AC00"/>
                    </a:solidFill>
                  </a:tcPr>
                </a:tc>
                <a:tc>
                  <a:txBody>
                    <a:bodyPr/>
                    <a:lstStyle/>
                    <a:p>
                      <a:pPr algn="ctr" fontAlgn="b">
                        <a:buNone/>
                      </a:pPr>
                      <a:r>
                        <a:rPr lang="en-IN" sz="1200" b="0" i="0" u="none" strike="noStrike" dirty="0">
                          <a:solidFill>
                            <a:srgbClr val="000000"/>
                          </a:solidFill>
                          <a:effectLst/>
                          <a:latin typeface="+mj-lt"/>
                        </a:rPr>
                        <a:t>8%</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(22)</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solidFill>
                          <a:effectLst/>
                          <a:latin typeface="+mj-lt"/>
                        </a:rPr>
                        <a:t>28%</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(77)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E2AC00"/>
                    </a:solidFill>
                  </a:tcPr>
                </a:tc>
                <a:tc>
                  <a:txBody>
                    <a:bodyPr/>
                    <a:lstStyle/>
                    <a:p>
                      <a:pPr algn="ctr" fontAlgn="b">
                        <a:buNone/>
                      </a:pPr>
                      <a:r>
                        <a:rPr lang="en-IN" sz="1200" b="0" i="0" u="none" strike="noStrike" dirty="0">
                          <a:solidFill>
                            <a:schemeClr val="bg1">
                              <a:lumMod val="50000"/>
                            </a:schemeClr>
                          </a:solidFill>
                          <a:effectLst/>
                          <a:latin typeface="+mj-lt"/>
                        </a:rPr>
                        <a:t>39%</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(109)</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773186477"/>
                  </a:ext>
                </a:extLst>
              </a:tr>
              <a:tr h="421656">
                <a:tc>
                  <a:txBody>
                    <a:bodyPr/>
                    <a:lstStyle/>
                    <a:p>
                      <a:pPr algn="l" fontAlgn="b">
                        <a:buNone/>
                      </a:pPr>
                      <a:r>
                        <a:rPr lang="en-IN" sz="1200" b="1" u="none" strike="noStrike" dirty="0">
                          <a:effectLst/>
                        </a:rPr>
                        <a:t>Key Influencers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1271</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28%</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(353)</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(90)</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solidFill>
                          <a:effectLst/>
                          <a:latin typeface="+mj-lt"/>
                        </a:rPr>
                        <a:t>35%</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(447)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7030A0"/>
                    </a:solidFill>
                  </a:tcPr>
                </a:tc>
                <a:tc>
                  <a:txBody>
                    <a:bodyPr/>
                    <a:lstStyle/>
                    <a:p>
                      <a:pPr algn="ctr" fontAlgn="b">
                        <a:buNone/>
                      </a:pPr>
                      <a:r>
                        <a:rPr lang="en-IN" sz="1200" b="0" i="0" u="none" strike="noStrike" dirty="0">
                          <a:solidFill>
                            <a:schemeClr val="bg1">
                              <a:lumMod val="50000"/>
                            </a:schemeClr>
                          </a:solidFill>
                          <a:effectLst/>
                          <a:latin typeface="+mj-lt"/>
                        </a:rPr>
                        <a:t>30%</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(381)</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94809992"/>
                  </a:ext>
                </a:extLst>
              </a:tr>
              <a:tr h="421656">
                <a:tc>
                  <a:txBody>
                    <a:bodyPr/>
                    <a:lstStyle/>
                    <a:p>
                      <a:pPr algn="l" fontAlgn="b">
                        <a:buNone/>
                      </a:pPr>
                      <a:r>
                        <a:rPr lang="en-IN" sz="1200" b="1" u="none" strike="noStrike" dirty="0">
                          <a:effectLst/>
                        </a:rPr>
                        <a:t>Super Referrers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549</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chemeClr val="bg1"/>
                          </a:solidFill>
                          <a:effectLst/>
                          <a:latin typeface="+mj-lt"/>
                        </a:rPr>
                        <a:t>17%</a:t>
                      </a:r>
                      <a:br>
                        <a:rPr lang="en-IN" sz="1200" b="0" i="0" u="none" strike="noStrike" dirty="0">
                          <a:solidFill>
                            <a:schemeClr val="bg1"/>
                          </a:solidFill>
                          <a:effectLst/>
                          <a:latin typeface="+mj-lt"/>
                        </a:rPr>
                      </a:br>
                      <a:r>
                        <a:rPr kumimoji="1" lang="en-IN" sz="1100" b="0" i="1" u="none" strike="noStrike" kern="1200" dirty="0">
                          <a:solidFill>
                            <a:schemeClr val="bg1"/>
                          </a:solidFill>
                          <a:effectLst/>
                          <a:latin typeface="+mj-lt"/>
                          <a:ea typeface="+mn-ea"/>
                          <a:cs typeface="+mn-cs"/>
                        </a:rPr>
                        <a:t>(93)</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006BBE"/>
                    </a:solidFill>
                  </a:tcPr>
                </a:tc>
                <a:tc>
                  <a:txBody>
                    <a:bodyPr/>
                    <a:lstStyle/>
                    <a:p>
                      <a:pPr algn="ctr" fontAlgn="b">
                        <a:buNone/>
                      </a:pPr>
                      <a:r>
                        <a:rPr lang="en-IN" sz="1200" b="0" i="0" u="none" strike="noStrike" dirty="0">
                          <a:solidFill>
                            <a:srgbClr val="000000"/>
                          </a:solidFill>
                          <a:effectLst/>
                          <a:latin typeface="+mj-lt"/>
                        </a:rPr>
                        <a:t>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(36)</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8%</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(45)</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chemeClr val="bg1">
                              <a:lumMod val="50000"/>
                            </a:schemeClr>
                          </a:solidFill>
                          <a:effectLst/>
                          <a:latin typeface="+mj-lt"/>
                        </a:rPr>
                        <a:t>68%</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(375)</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635574600"/>
                  </a:ext>
                </a:extLst>
              </a:tr>
              <a:tr h="421656">
                <a:tc>
                  <a:txBody>
                    <a:bodyPr/>
                    <a:lstStyle/>
                    <a:p>
                      <a:pPr algn="l" fontAlgn="b">
                        <a:buNone/>
                      </a:pPr>
                      <a:r>
                        <a:rPr lang="en-IN" sz="1200" b="1" u="none" strike="noStrike" dirty="0">
                          <a:effectLst/>
                        </a:rPr>
                        <a:t>Low value Treaters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286</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31%</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(89)</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12%</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(35)</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40%</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(114)</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4CCCD"/>
                    </a:solidFill>
                  </a:tcPr>
                </a:tc>
                <a:tc>
                  <a:txBody>
                    <a:bodyPr/>
                    <a:lstStyle/>
                    <a:p>
                      <a:pPr algn="ctr" fontAlgn="b">
                        <a:buNone/>
                      </a:pPr>
                      <a:r>
                        <a:rPr lang="en-IN" sz="1200" b="0" i="0" u="none" strike="noStrike" dirty="0">
                          <a:solidFill>
                            <a:schemeClr val="bg1">
                              <a:lumMod val="50000"/>
                            </a:schemeClr>
                          </a:solidFill>
                          <a:effectLst/>
                          <a:latin typeface="+mj-lt"/>
                        </a:rPr>
                        <a:t>17%</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(48)</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530481654"/>
                  </a:ext>
                </a:extLst>
              </a:tr>
              <a:tr h="421656">
                <a:tc>
                  <a:txBody>
                    <a:bodyPr/>
                    <a:lstStyle/>
                    <a:p>
                      <a:pPr algn="l" fontAlgn="b">
                        <a:buNone/>
                      </a:pPr>
                      <a:r>
                        <a:rPr lang="en-IN" sz="1200" b="1" u="none" strike="noStrike" dirty="0">
                          <a:effectLst/>
                        </a:rPr>
                        <a:t>Low value </a:t>
                      </a:r>
                      <a:r>
                        <a:rPr lang="en-IN" sz="1200" b="1" u="none" strike="noStrike" dirty="0" err="1">
                          <a:effectLst/>
                        </a:rPr>
                        <a:t>Diagnosers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430</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25%</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(107)</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8%</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(33)</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33%</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(142)</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B2E7CA"/>
                    </a:solidFill>
                  </a:tcPr>
                </a:tc>
                <a:tc>
                  <a:txBody>
                    <a:bodyPr/>
                    <a:lstStyle/>
                    <a:p>
                      <a:pPr algn="ctr" fontAlgn="b">
                        <a:buNone/>
                      </a:pPr>
                      <a:r>
                        <a:rPr lang="en-IN" sz="1200" b="0" i="0" u="none" strike="noStrike" dirty="0">
                          <a:solidFill>
                            <a:schemeClr val="bg1">
                              <a:lumMod val="50000"/>
                            </a:schemeClr>
                          </a:solidFill>
                          <a:effectLst/>
                          <a:latin typeface="+mj-lt"/>
                        </a:rPr>
                        <a:t>34%</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(148)</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686002178"/>
                  </a:ext>
                </a:extLst>
              </a:tr>
              <a:tr h="421656">
                <a:tc>
                  <a:txBody>
                    <a:bodyPr/>
                    <a:lstStyle/>
                    <a:p>
                      <a:pPr algn="l" fontAlgn="b">
                        <a:buNone/>
                      </a:pPr>
                      <a:r>
                        <a:rPr lang="en-IN" sz="1200" b="1" u="none" strike="noStrike" dirty="0">
                          <a:effectLst/>
                        </a:rPr>
                        <a:t>Low value Influencers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1" i="0" u="none" strike="noStrike">
                          <a:solidFill>
                            <a:srgbClr val="000000"/>
                          </a:solidFill>
                          <a:effectLst/>
                          <a:latin typeface="+mj-lt"/>
                        </a:rPr>
                        <a:t>628</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FFFFFF"/>
                    </a:solidFill>
                  </a:tcPr>
                </a:tc>
                <a:tc>
                  <a:txBody>
                    <a:bodyPr/>
                    <a:lstStyle/>
                    <a:p>
                      <a:pPr algn="ctr" fontAlgn="b">
                        <a:buNone/>
                      </a:pPr>
                      <a:r>
                        <a:rPr lang="en-IN" sz="1200" b="0" i="0" u="none" strike="noStrike" dirty="0">
                          <a:solidFill>
                            <a:srgbClr val="000000"/>
                          </a:solidFill>
                          <a:effectLst/>
                          <a:latin typeface="+mj-lt"/>
                        </a:rPr>
                        <a:t>27%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(169)</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C39BE1"/>
                    </a:solidFill>
                  </a:tcPr>
                </a:tc>
                <a:tc>
                  <a:txBody>
                    <a:bodyPr/>
                    <a:lstStyle/>
                    <a:p>
                      <a:pPr algn="ctr" fontAlgn="b">
                        <a:buNone/>
                      </a:pPr>
                      <a:r>
                        <a:rPr lang="en-IN" sz="1200" b="0" i="0" u="none" strike="noStrike" dirty="0">
                          <a:solidFill>
                            <a:srgbClr val="000000"/>
                          </a:solidFill>
                          <a:effectLst/>
                          <a:latin typeface="+mj-lt"/>
                        </a:rPr>
                        <a:t>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(46)</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tcPr>
                </a:tc>
                <a:tc>
                  <a:txBody>
                    <a:bodyPr/>
                    <a:lstStyle/>
                    <a:p>
                      <a:pPr algn="ctr" fontAlgn="b">
                        <a:buNone/>
                      </a:pPr>
                      <a:r>
                        <a:rPr lang="en-IN" sz="1200" b="0" i="0" u="none" strike="noStrike" dirty="0">
                          <a:solidFill>
                            <a:srgbClr val="000000"/>
                          </a:solidFill>
                          <a:effectLst/>
                          <a:latin typeface="+mj-lt"/>
                        </a:rPr>
                        <a:t>27%</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(169)</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rgbClr val="C39BE1"/>
                    </a:solidFill>
                  </a:tcPr>
                </a:tc>
                <a:tc>
                  <a:txBody>
                    <a:bodyPr/>
                    <a:lstStyle/>
                    <a:p>
                      <a:pPr algn="ctr" fontAlgn="b">
                        <a:buNone/>
                      </a:pPr>
                      <a:r>
                        <a:rPr lang="en-IN" sz="1200" b="0" i="0" u="none" strike="noStrike" dirty="0">
                          <a:solidFill>
                            <a:schemeClr val="bg1">
                              <a:lumMod val="50000"/>
                            </a:schemeClr>
                          </a:solidFill>
                          <a:effectLst/>
                          <a:latin typeface="+mj-lt"/>
                        </a:rPr>
                        <a:t>39%</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(244)</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lnB w="6350" cap="flat" cmpd="sng" algn="ctr">
                      <a:solidFill>
                        <a:schemeClr val="bg2">
                          <a:lumMod val="6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444466339"/>
                  </a:ext>
                </a:extLst>
              </a:tr>
              <a:tr h="421656">
                <a:tc>
                  <a:txBody>
                    <a:bodyPr/>
                    <a:lstStyle/>
                    <a:p>
                      <a:pPr algn="l" fontAlgn="b">
                        <a:buNone/>
                      </a:pPr>
                      <a:r>
                        <a:rPr lang="en-IN" sz="1200" b="1" u="none" strike="noStrike" dirty="0">
                          <a:effectLst/>
                        </a:rPr>
                        <a:t>Low value Referrers</a:t>
                      </a:r>
                      <a:endParaRPr lang="en-IN" sz="1200" b="1" i="0" u="none" strike="noStrike" dirty="0">
                        <a:solidFill>
                          <a:srgbClr val="000000"/>
                        </a:solidFill>
                        <a:effectLst/>
                        <a:latin typeface="Aptos Narrow" panose="020B0004020202020204" pitchFamily="34" charset="0"/>
                      </a:endParaRPr>
                    </a:p>
                  </a:txBody>
                  <a:tcPr marR="9525" marT="9525" marB="0" anchor="ctr">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tcPr>
                </a:tc>
                <a:tc>
                  <a:txBody>
                    <a:bodyPr/>
                    <a:lstStyle/>
                    <a:p>
                      <a:pPr algn="ctr" fontAlgn="b">
                        <a:buNone/>
                      </a:pPr>
                      <a:r>
                        <a:rPr lang="en-IN" sz="1200" b="1" i="0" u="none" strike="noStrike" dirty="0">
                          <a:solidFill>
                            <a:srgbClr val="000000"/>
                          </a:solidFill>
                          <a:effectLst/>
                          <a:latin typeface="+mj-lt"/>
                        </a:rPr>
                        <a:t>44753</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tx1">
                          <a:lumMod val="60000"/>
                          <a:lumOff val="40000"/>
                        </a:schemeClr>
                      </a:solidFill>
                      <a:prstDash val="solid"/>
                      <a:round/>
                      <a:headEnd type="none" w="med" len="med"/>
                      <a:tailEnd type="none" w="med" len="med"/>
                    </a:lnR>
                    <a:lnT w="6350" cap="flat" cmpd="sng" algn="ctr">
                      <a:solidFill>
                        <a:schemeClr val="bg2">
                          <a:lumMod val="65000"/>
                        </a:schemeClr>
                      </a:solidFill>
                      <a:prstDash val="sysDash"/>
                      <a:round/>
                      <a:headEnd type="none" w="med" len="med"/>
                      <a:tailEnd type="none" w="med" len="med"/>
                    </a:lnT>
                    <a:solidFill>
                      <a:srgbClr val="FFFFFF"/>
                    </a:solidFill>
                  </a:tcPr>
                </a:tc>
                <a:tc>
                  <a:txBody>
                    <a:bodyPr/>
                    <a:lstStyle/>
                    <a:p>
                      <a:pPr algn="ctr" fontAlgn="b">
                        <a:buNone/>
                      </a:pPr>
                      <a:r>
                        <a:rPr lang="en-IN" sz="1200" b="0" i="0" u="none" strike="noStrike" dirty="0">
                          <a:solidFill>
                            <a:srgbClr val="000000"/>
                          </a:solidFill>
                          <a:effectLst/>
                          <a:latin typeface="+mj-lt"/>
                        </a:rPr>
                        <a:t>3%</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(1352)</a:t>
                      </a:r>
                    </a:p>
                  </a:txBody>
                  <a:tcPr marL="9525" marR="9525" marT="9525" marB="0" anchor="ctr">
                    <a:lnL w="6350" cap="flat" cmpd="sng" algn="ctr">
                      <a:solidFill>
                        <a:schemeClr val="tx1">
                          <a:lumMod val="60000"/>
                          <a:lumOff val="40000"/>
                        </a:schemeClr>
                      </a:solidFill>
                      <a:prstDash val="solid"/>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tcPr>
                </a:tc>
                <a:tc>
                  <a:txBody>
                    <a:bodyPr/>
                    <a:lstStyle/>
                    <a:p>
                      <a:pPr algn="ctr" fontAlgn="b">
                        <a:buNone/>
                      </a:pPr>
                      <a:r>
                        <a:rPr lang="en-IN" sz="1200" b="0" i="0" u="none" strike="noStrike" dirty="0">
                          <a:solidFill>
                            <a:srgbClr val="000000"/>
                          </a:solidFill>
                          <a:effectLst/>
                          <a:latin typeface="+mj-lt"/>
                        </a:rPr>
                        <a:t>2%</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(769)</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tcPr>
                </a:tc>
                <a:tc>
                  <a:txBody>
                    <a:bodyPr/>
                    <a:lstStyle/>
                    <a:p>
                      <a:pPr algn="ctr" fontAlgn="b">
                        <a:buNone/>
                      </a:pPr>
                      <a:r>
                        <a:rPr lang="en-IN" sz="1200" b="0" i="0" u="none" strike="noStrike" dirty="0">
                          <a:solidFill>
                            <a:srgbClr val="000000"/>
                          </a:solidFill>
                          <a:effectLst/>
                          <a:latin typeface="+mj-lt"/>
                        </a:rPr>
                        <a:t>1%</a:t>
                      </a:r>
                      <a:br>
                        <a:rPr lang="en-IN" sz="1200" b="0" i="0" u="none" strike="noStrike" dirty="0">
                          <a:solidFill>
                            <a:srgbClr val="000000"/>
                          </a:solidFill>
                          <a:effectLst/>
                          <a:latin typeface="+mj-lt"/>
                        </a:rPr>
                      </a:br>
                      <a:r>
                        <a:rPr kumimoji="1" lang="en-IN" sz="1100" b="0" i="1" u="none" strike="noStrike" kern="1200" dirty="0">
                          <a:solidFill>
                            <a:srgbClr val="000000"/>
                          </a:solidFill>
                          <a:effectLst/>
                          <a:latin typeface="+mj-lt"/>
                          <a:ea typeface="+mn-ea"/>
                          <a:cs typeface="+mn-cs"/>
                        </a:rPr>
                        <a:t>(437)</a:t>
                      </a:r>
                    </a:p>
                  </a:txBody>
                  <a:tcPr marL="9525" marR="9525" marT="9525" marB="0" anchor="ctr">
                    <a:lnL w="6350" cap="flat" cmpd="sng" algn="ctr">
                      <a:solidFill>
                        <a:schemeClr val="bg2">
                          <a:lumMod val="65000"/>
                        </a:schemeClr>
                      </a:solidFill>
                      <a:prstDash val="sysDash"/>
                      <a:round/>
                      <a:headEnd type="none" w="med" len="med"/>
                      <a:tailEnd type="none" w="med" len="med"/>
                    </a:lnL>
                    <a:lnR w="6350" cap="flat" cmpd="sng" algn="ctr">
                      <a:solidFill>
                        <a:schemeClr val="bg2">
                          <a:lumMod val="65000"/>
                        </a:schemeClr>
                      </a:solidFill>
                      <a:prstDash val="sysDash"/>
                      <a:round/>
                      <a:headEnd type="none" w="med" len="med"/>
                      <a:tailEnd type="none" w="med" len="med"/>
                    </a:lnR>
                    <a:lnT w="6350" cap="flat" cmpd="sng" algn="ctr">
                      <a:solidFill>
                        <a:schemeClr val="bg2">
                          <a:lumMod val="65000"/>
                        </a:schemeClr>
                      </a:solidFill>
                      <a:prstDash val="sysDash"/>
                      <a:round/>
                      <a:headEnd type="none" w="med" len="med"/>
                      <a:tailEnd type="none" w="med" len="med"/>
                    </a:lnT>
                  </a:tcPr>
                </a:tc>
                <a:tc>
                  <a:txBody>
                    <a:bodyPr/>
                    <a:lstStyle/>
                    <a:p>
                      <a:pPr algn="ctr" fontAlgn="b">
                        <a:buNone/>
                      </a:pPr>
                      <a:r>
                        <a:rPr lang="en-IN" sz="1200" b="0" i="0" u="none" strike="noStrike" dirty="0">
                          <a:solidFill>
                            <a:schemeClr val="bg1">
                              <a:lumMod val="50000"/>
                            </a:schemeClr>
                          </a:solidFill>
                          <a:effectLst/>
                          <a:latin typeface="+mj-lt"/>
                        </a:rPr>
                        <a:t>94%</a:t>
                      </a:r>
                      <a:br>
                        <a:rPr lang="en-IN" sz="1200" b="0" i="0" u="none" strike="noStrike" dirty="0">
                          <a:solidFill>
                            <a:schemeClr val="bg1">
                              <a:lumMod val="50000"/>
                            </a:schemeClr>
                          </a:solidFill>
                          <a:effectLst/>
                          <a:latin typeface="+mj-lt"/>
                        </a:rPr>
                      </a:br>
                      <a:r>
                        <a:rPr kumimoji="1" lang="en-IN" sz="1100" b="0" i="1" u="none" strike="noStrike" kern="1200" dirty="0">
                          <a:solidFill>
                            <a:schemeClr val="bg1">
                              <a:lumMod val="50000"/>
                            </a:schemeClr>
                          </a:solidFill>
                          <a:effectLst/>
                          <a:latin typeface="+mj-lt"/>
                          <a:ea typeface="+mn-ea"/>
                          <a:cs typeface="+mn-cs"/>
                        </a:rPr>
                        <a:t>(42195)</a:t>
                      </a:r>
                    </a:p>
                  </a:txBody>
                  <a:tcPr marL="9525" marR="9525" marT="9525" marB="0" anchor="ctr">
                    <a:lnL w="6350" cap="flat" cmpd="sng" algn="ctr">
                      <a:solidFill>
                        <a:schemeClr val="bg2">
                          <a:lumMod val="65000"/>
                        </a:schemeClr>
                      </a:solidFill>
                      <a:prstDash val="sysDash"/>
                      <a:round/>
                      <a:headEnd type="none" w="med" len="med"/>
                      <a:tailEnd type="none" w="med" len="med"/>
                    </a:lnL>
                    <a:lnT w="6350" cap="flat" cmpd="sng" algn="ctr">
                      <a:solidFill>
                        <a:schemeClr val="bg2">
                          <a:lumMod val="65000"/>
                        </a:schemeClr>
                      </a:solidFill>
                      <a:prstDash val="sysDash"/>
                      <a:round/>
                      <a:headEnd type="none" w="med" len="med"/>
                      <a:tailEnd type="none" w="med" len="med"/>
                    </a:lnT>
                    <a:solidFill>
                      <a:schemeClr val="bg1">
                        <a:lumMod val="95000"/>
                      </a:schemeClr>
                    </a:solidFill>
                  </a:tcPr>
                </a:tc>
                <a:extLst>
                  <a:ext uri="{0D108BD9-81ED-4DB2-BD59-A6C34878D82A}">
                    <a16:rowId xmlns:a16="http://schemas.microsoft.com/office/drawing/2014/main" val="2114383946"/>
                  </a:ext>
                </a:extLst>
              </a:tr>
            </a:tbl>
          </a:graphicData>
        </a:graphic>
      </p:graphicFrame>
    </p:spTree>
    <p:extLst>
      <p:ext uri="{BB962C8B-B14F-4D97-AF65-F5344CB8AC3E}">
        <p14:creationId xmlns:p14="http://schemas.microsoft.com/office/powerpoint/2010/main" val="13885990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73143-31CD-BF9A-D6A1-54E67DAE5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2071E-D3A6-D8E9-0CA6-0EE82B1BF375}"/>
              </a:ext>
            </a:extLst>
          </p:cNvPr>
          <p:cNvSpPr>
            <a:spLocks noGrp="1"/>
          </p:cNvSpPr>
          <p:nvPr>
            <p:ph type="title"/>
          </p:nvPr>
        </p:nvSpPr>
        <p:spPr>
          <a:xfrm>
            <a:off x="606078" y="161605"/>
            <a:ext cx="10014297" cy="685801"/>
          </a:xfrm>
        </p:spPr>
        <p:txBody>
          <a:bodyPr>
            <a:noAutofit/>
          </a:bodyPr>
          <a:lstStyle/>
          <a:p>
            <a:r>
              <a:rPr lang="en-US" sz="2000">
                <a:latin typeface="Calibri"/>
                <a:ea typeface="メイリオ"/>
                <a:cs typeface="Calibri"/>
              </a:rPr>
              <a:t>NT referral activity is geographically concentrated in the Southeast and mid-Atlantic, but high volume does not always signal a well-connected network</a:t>
            </a:r>
          </a:p>
        </p:txBody>
      </p:sp>
      <p:pic>
        <p:nvPicPr>
          <p:cNvPr id="23" name="Picture 22">
            <a:extLst>
              <a:ext uri="{FF2B5EF4-FFF2-40B4-BE49-F238E27FC236}">
                <a16:creationId xmlns:a16="http://schemas.microsoft.com/office/drawing/2014/main" id="{D15C9318-E530-19CB-BB47-7E3B9EF5B1D5}"/>
              </a:ext>
            </a:extLst>
          </p:cNvPr>
          <p:cNvPicPr>
            <a:picLocks/>
          </p:cNvPicPr>
          <p:nvPr/>
        </p:nvPicPr>
        <p:blipFill>
          <a:blip r:embed="rId2">
            <a:extLst>
              <a:ext uri="{28A0092B-C50C-407E-A947-70E740481C1C}">
                <a14:useLocalDpi xmlns:a14="http://schemas.microsoft.com/office/drawing/2010/main" val="0"/>
              </a:ext>
            </a:extLst>
          </a:blip>
          <a:srcRect r="24456"/>
          <a:stretch>
            <a:fillRect/>
          </a:stretch>
        </p:blipFill>
        <p:spPr>
          <a:xfrm>
            <a:off x="292168" y="1306528"/>
            <a:ext cx="5753032" cy="3123232"/>
          </a:xfrm>
          <a:prstGeom prst="rect">
            <a:avLst/>
          </a:prstGeom>
        </p:spPr>
      </p:pic>
      <p:pic>
        <p:nvPicPr>
          <p:cNvPr id="26" name="Picture 25">
            <a:extLst>
              <a:ext uri="{FF2B5EF4-FFF2-40B4-BE49-F238E27FC236}">
                <a16:creationId xmlns:a16="http://schemas.microsoft.com/office/drawing/2014/main" id="{553F8C1B-0A59-2444-66DD-72C1DB6C2614}"/>
              </a:ext>
            </a:extLst>
          </p:cNvPr>
          <p:cNvPicPr>
            <a:picLocks/>
          </p:cNvPicPr>
          <p:nvPr/>
        </p:nvPicPr>
        <p:blipFill>
          <a:blip r:embed="rId3">
            <a:extLst>
              <a:ext uri="{28A0092B-C50C-407E-A947-70E740481C1C}">
                <a14:useLocalDpi xmlns:a14="http://schemas.microsoft.com/office/drawing/2010/main" val="0"/>
              </a:ext>
            </a:extLst>
          </a:blip>
          <a:srcRect r="27300"/>
          <a:stretch>
            <a:fillRect/>
          </a:stretch>
        </p:blipFill>
        <p:spPr>
          <a:xfrm>
            <a:off x="5797078" y="1349421"/>
            <a:ext cx="5635267" cy="3123232"/>
          </a:xfrm>
          <a:prstGeom prst="rect">
            <a:avLst/>
          </a:prstGeom>
        </p:spPr>
      </p:pic>
      <p:sp>
        <p:nvSpPr>
          <p:cNvPr id="30" name="Rectangle: Rounded Corners 29">
            <a:extLst>
              <a:ext uri="{FF2B5EF4-FFF2-40B4-BE49-F238E27FC236}">
                <a16:creationId xmlns:a16="http://schemas.microsoft.com/office/drawing/2014/main" id="{D8B3D6E8-B408-25AA-D703-34E81326AC56}"/>
              </a:ext>
            </a:extLst>
          </p:cNvPr>
          <p:cNvSpPr/>
          <p:nvPr/>
        </p:nvSpPr>
        <p:spPr>
          <a:xfrm>
            <a:off x="1117" y="5586303"/>
            <a:ext cx="12190881" cy="1271689"/>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OH is the single most active referral hub in the country with HCPs referring and rendering activity, followed by MI, PA and NY</a:t>
            </a:r>
          </a:p>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The Southeast corridor (VA, TN, GA, NC, SC, FL) shows consistently elevated activity across both metrics indicating regional clusters with more structured referral activities</a:t>
            </a:r>
          </a:p>
        </p:txBody>
      </p:sp>
      <p:grpSp>
        <p:nvGrpSpPr>
          <p:cNvPr id="3" name="Group 2">
            <a:extLst>
              <a:ext uri="{FF2B5EF4-FFF2-40B4-BE49-F238E27FC236}">
                <a16:creationId xmlns:a16="http://schemas.microsoft.com/office/drawing/2014/main" id="{A270EF02-5588-1FAA-B429-D1BA6BB5076D}"/>
              </a:ext>
            </a:extLst>
          </p:cNvPr>
          <p:cNvGrpSpPr/>
          <p:nvPr/>
        </p:nvGrpSpPr>
        <p:grpSpPr>
          <a:xfrm>
            <a:off x="1113" y="5280485"/>
            <a:ext cx="5795965" cy="319265"/>
            <a:chOff x="0" y="2140992"/>
            <a:chExt cx="2880042" cy="347180"/>
          </a:xfrm>
        </p:grpSpPr>
        <p:sp>
          <p:nvSpPr>
            <p:cNvPr id="4" name="TextBox 3">
              <a:extLst>
                <a:ext uri="{FF2B5EF4-FFF2-40B4-BE49-F238E27FC236}">
                  <a16:creationId xmlns:a16="http://schemas.microsoft.com/office/drawing/2014/main" id="{17933BD6-24C6-E0E4-6A96-0FAACE52A71D}"/>
                </a:ext>
              </a:extLst>
            </p:cNvPr>
            <p:cNvSpPr txBox="1"/>
            <p:nvPr/>
          </p:nvSpPr>
          <p:spPr>
            <a:xfrm>
              <a:off x="1760219" y="2140992"/>
              <a:ext cx="1119823" cy="347180"/>
            </a:xfrm>
            <a:prstGeom prst="parallelogram">
              <a:avLst/>
            </a:prstGeom>
            <a:gradFill rotWithShape="1">
              <a:gsLst>
                <a:gs pos="0">
                  <a:schemeClr val="accent2"/>
                </a:gs>
                <a:gs pos="33000">
                  <a:schemeClr val="accent1"/>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3C61FF1-17B2-8844-F112-5555972D07BF}"/>
                </a:ext>
              </a:extLst>
            </p:cNvPr>
            <p:cNvSpPr txBox="1"/>
            <p:nvPr/>
          </p:nvSpPr>
          <p:spPr>
            <a:xfrm>
              <a:off x="0" y="2140992"/>
              <a:ext cx="2800190" cy="347180"/>
            </a:xfrm>
            <a:prstGeom prst="rect">
              <a:avLst/>
            </a:prstGeom>
            <a:gradFill rotWithShape="1">
              <a:gsLst>
                <a:gs pos="0">
                  <a:schemeClr val="accent2"/>
                </a:gs>
                <a:gs pos="100000">
                  <a:schemeClr val="accent1"/>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003847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7F6E5-D073-129C-588C-A407FF314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B5DD8-827E-43E6-F102-27307866516F}"/>
              </a:ext>
            </a:extLst>
          </p:cNvPr>
          <p:cNvSpPr>
            <a:spLocks noGrp="1"/>
          </p:cNvSpPr>
          <p:nvPr>
            <p:ph type="title"/>
          </p:nvPr>
        </p:nvSpPr>
        <p:spPr>
          <a:xfrm>
            <a:off x="606078" y="161605"/>
            <a:ext cx="10014297" cy="685801"/>
          </a:xfrm>
        </p:spPr>
        <p:txBody>
          <a:bodyPr>
            <a:noAutofit/>
          </a:bodyPr>
          <a:lstStyle/>
          <a:p>
            <a:r>
              <a:rPr lang="en-US" sz="2000">
                <a:latin typeface="Calibri"/>
                <a:ea typeface="メイリオ"/>
                <a:cs typeface="Calibri"/>
              </a:rPr>
              <a:t>Michigan, Pennsylvania, and Ohio form the structural backbone of the NT referral network, where engagement has the highest systemic leverage beyond raw volume</a:t>
            </a:r>
          </a:p>
        </p:txBody>
      </p:sp>
      <p:pic>
        <p:nvPicPr>
          <p:cNvPr id="5" name="Picture 4">
            <a:extLst>
              <a:ext uri="{FF2B5EF4-FFF2-40B4-BE49-F238E27FC236}">
                <a16:creationId xmlns:a16="http://schemas.microsoft.com/office/drawing/2014/main" id="{E3F8F7EF-F034-FD53-059F-E0855EDAB15D}"/>
              </a:ext>
            </a:extLst>
          </p:cNvPr>
          <p:cNvPicPr>
            <a:picLocks/>
          </p:cNvPicPr>
          <p:nvPr/>
        </p:nvPicPr>
        <p:blipFill>
          <a:blip r:embed="rId2">
            <a:extLst>
              <a:ext uri="{28A0092B-C50C-407E-A947-70E740481C1C}">
                <a14:useLocalDpi xmlns:a14="http://schemas.microsoft.com/office/drawing/2010/main" val="0"/>
              </a:ext>
            </a:extLst>
          </a:blip>
          <a:srcRect l="752" r="31285" b="729"/>
          <a:stretch>
            <a:fillRect/>
          </a:stretch>
        </p:blipFill>
        <p:spPr>
          <a:xfrm>
            <a:off x="259878" y="1284143"/>
            <a:ext cx="5547360" cy="3291610"/>
          </a:xfrm>
          <a:prstGeom prst="rect">
            <a:avLst/>
          </a:prstGeom>
        </p:spPr>
      </p:pic>
      <p:pic>
        <p:nvPicPr>
          <p:cNvPr id="28" name="Picture 27">
            <a:extLst>
              <a:ext uri="{FF2B5EF4-FFF2-40B4-BE49-F238E27FC236}">
                <a16:creationId xmlns:a16="http://schemas.microsoft.com/office/drawing/2014/main" id="{D9E147DE-0B8F-54CD-4657-1F9C43D89B2C}"/>
              </a:ext>
            </a:extLst>
          </p:cNvPr>
          <p:cNvPicPr>
            <a:picLocks/>
          </p:cNvPicPr>
          <p:nvPr/>
        </p:nvPicPr>
        <p:blipFill>
          <a:blip r:embed="rId3">
            <a:extLst>
              <a:ext uri="{28A0092B-C50C-407E-A947-70E740481C1C}">
                <a14:useLocalDpi xmlns:a14="http://schemas.microsoft.com/office/drawing/2010/main" val="0"/>
              </a:ext>
            </a:extLst>
          </a:blip>
          <a:srcRect r="25779"/>
          <a:stretch>
            <a:fillRect/>
          </a:stretch>
        </p:blipFill>
        <p:spPr>
          <a:xfrm>
            <a:off x="5977449" y="1287996"/>
            <a:ext cx="6003114" cy="3291609"/>
          </a:xfrm>
          <a:prstGeom prst="rect">
            <a:avLst/>
          </a:prstGeom>
        </p:spPr>
      </p:pic>
      <p:sp>
        <p:nvSpPr>
          <p:cNvPr id="3" name="Rectangle: Rounded Corners 2">
            <a:extLst>
              <a:ext uri="{FF2B5EF4-FFF2-40B4-BE49-F238E27FC236}">
                <a16:creationId xmlns:a16="http://schemas.microsoft.com/office/drawing/2014/main" id="{9B4BBD3D-B737-90A1-A8B4-E1075BB91798}"/>
              </a:ext>
            </a:extLst>
          </p:cNvPr>
          <p:cNvSpPr/>
          <p:nvPr/>
        </p:nvSpPr>
        <p:spPr>
          <a:xfrm>
            <a:off x="1117" y="5586303"/>
            <a:ext cx="12190881" cy="1271689"/>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FL and CA shows strong indegree and outdegree consistent with specialist concentration, but the network influence metrics indicate a lack of establish referral pattern</a:t>
            </a:r>
          </a:p>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MI, PA and OH show strongest signal of a mature, trusted referral network with most critical bridges and high-quality inflow making them most structurally complete market in the country</a:t>
            </a:r>
          </a:p>
        </p:txBody>
      </p:sp>
      <p:grpSp>
        <p:nvGrpSpPr>
          <p:cNvPr id="4" name="Group 3">
            <a:extLst>
              <a:ext uri="{FF2B5EF4-FFF2-40B4-BE49-F238E27FC236}">
                <a16:creationId xmlns:a16="http://schemas.microsoft.com/office/drawing/2014/main" id="{A770B46E-B9BD-A9B6-5117-15D740966A59}"/>
              </a:ext>
            </a:extLst>
          </p:cNvPr>
          <p:cNvGrpSpPr/>
          <p:nvPr/>
        </p:nvGrpSpPr>
        <p:grpSpPr>
          <a:xfrm>
            <a:off x="1113" y="5280485"/>
            <a:ext cx="5795965" cy="319265"/>
            <a:chOff x="0" y="2140992"/>
            <a:chExt cx="2880042" cy="347180"/>
          </a:xfrm>
        </p:grpSpPr>
        <p:sp>
          <p:nvSpPr>
            <p:cNvPr id="6" name="TextBox 5">
              <a:extLst>
                <a:ext uri="{FF2B5EF4-FFF2-40B4-BE49-F238E27FC236}">
                  <a16:creationId xmlns:a16="http://schemas.microsoft.com/office/drawing/2014/main" id="{0DCB45BF-5E73-815B-2C52-4B01868356EF}"/>
                </a:ext>
              </a:extLst>
            </p:cNvPr>
            <p:cNvSpPr txBox="1"/>
            <p:nvPr/>
          </p:nvSpPr>
          <p:spPr>
            <a:xfrm>
              <a:off x="1760219" y="2140992"/>
              <a:ext cx="1119823" cy="347180"/>
            </a:xfrm>
            <a:prstGeom prst="parallelogram">
              <a:avLst/>
            </a:prstGeom>
            <a:gradFill rotWithShape="1">
              <a:gsLst>
                <a:gs pos="0">
                  <a:schemeClr val="accent2"/>
                </a:gs>
                <a:gs pos="33000">
                  <a:schemeClr val="accent1"/>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3C3A4E6-2435-0A12-42B5-88B29EB5F496}"/>
                </a:ext>
              </a:extLst>
            </p:cNvPr>
            <p:cNvSpPr txBox="1"/>
            <p:nvPr/>
          </p:nvSpPr>
          <p:spPr>
            <a:xfrm>
              <a:off x="0" y="2140992"/>
              <a:ext cx="2800190" cy="347180"/>
            </a:xfrm>
            <a:prstGeom prst="rect">
              <a:avLst/>
            </a:prstGeom>
            <a:gradFill rotWithShape="1">
              <a:gsLst>
                <a:gs pos="0">
                  <a:schemeClr val="accent2"/>
                </a:gs>
                <a:gs pos="100000">
                  <a:schemeClr val="accent1"/>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3176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666E-7D7E-1F4C-32AF-F871F09D5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4DDFF-A4E0-74B6-71B2-09B65A823F92}"/>
              </a:ext>
            </a:extLst>
          </p:cNvPr>
          <p:cNvSpPr>
            <a:spLocks noGrp="1"/>
          </p:cNvSpPr>
          <p:nvPr>
            <p:ph type="title"/>
          </p:nvPr>
        </p:nvSpPr>
        <p:spPr>
          <a:xfrm>
            <a:off x="606078" y="161605"/>
            <a:ext cx="10014297" cy="685801"/>
          </a:xfrm>
        </p:spPr>
        <p:txBody>
          <a:bodyPr>
            <a:noAutofit/>
          </a:bodyPr>
          <a:lstStyle/>
          <a:p>
            <a:r>
              <a:rPr lang="en-US" sz="2000">
                <a:latin typeface="Calibri"/>
                <a:ea typeface="メイリオ"/>
                <a:cs typeface="Calibri"/>
              </a:rPr>
              <a:t>NT referral communities are defined by relationships, not institutions as HCPs consistently refer within their behavioral network regardless of where they practice</a:t>
            </a:r>
          </a:p>
        </p:txBody>
      </p:sp>
      <p:grpSp>
        <p:nvGrpSpPr>
          <p:cNvPr id="3" name="Group 2">
            <a:extLst>
              <a:ext uri="{FF2B5EF4-FFF2-40B4-BE49-F238E27FC236}">
                <a16:creationId xmlns:a16="http://schemas.microsoft.com/office/drawing/2014/main" id="{1F16F11F-F740-9B67-8405-5D8D3E2781C7}"/>
              </a:ext>
            </a:extLst>
          </p:cNvPr>
          <p:cNvGrpSpPr/>
          <p:nvPr/>
        </p:nvGrpSpPr>
        <p:grpSpPr>
          <a:xfrm>
            <a:off x="772333" y="1988168"/>
            <a:ext cx="2062535" cy="1968008"/>
            <a:chOff x="656630" y="3472821"/>
            <a:chExt cx="2062535" cy="1383909"/>
          </a:xfrm>
        </p:grpSpPr>
        <p:sp>
          <p:nvSpPr>
            <p:cNvPr id="4" name="Pentagon 3">
              <a:extLst>
                <a:ext uri="{FF2B5EF4-FFF2-40B4-BE49-F238E27FC236}">
                  <a16:creationId xmlns:a16="http://schemas.microsoft.com/office/drawing/2014/main" id="{CFD2B5E9-17A5-E446-A18F-76A59AD643BC}"/>
                </a:ext>
              </a:extLst>
            </p:cNvPr>
            <p:cNvSpPr/>
            <p:nvPr/>
          </p:nvSpPr>
          <p:spPr>
            <a:xfrm>
              <a:off x="656631" y="3472821"/>
              <a:ext cx="2062534" cy="1383909"/>
            </a:xfrm>
            <a:prstGeom prst="roundRect">
              <a:avLst>
                <a:gd name="adj" fmla="val 531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6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6,174</a:t>
              </a:r>
            </a:p>
            <a:p>
              <a:pPr algn="ctr"/>
              <a: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Total HCP Clusters</a:t>
              </a:r>
            </a:p>
            <a:p>
              <a:pPr algn="ctr"/>
              <a:endParaRPr lang="en-US" sz="1600" i="1">
                <a:solidFill>
                  <a:srgbClr val="34373F"/>
                </a:solidFill>
                <a:latin typeface="Calibri" panose="020F0502020204030204"/>
                <a:ea typeface="League Spartan" charset="0"/>
                <a:cs typeface="Poppins" pitchFamily="2" charset="77"/>
              </a:endParaRPr>
            </a:p>
            <a:p>
              <a:pPr algn="ctr"/>
              <a:r>
                <a:rPr kumimoji="0" lang="en-US" sz="120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Communities with 3 or more HCPs exchanging the referrals primarily amongst themselves</a:t>
              </a:r>
              <a:endParaRPr kumimoji="0" lang="en-US" sz="110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endParaRPr>
            </a:p>
          </p:txBody>
        </p:sp>
        <p:sp>
          <p:nvSpPr>
            <p:cNvPr id="5" name="Pentagon 3">
              <a:extLst>
                <a:ext uri="{FF2B5EF4-FFF2-40B4-BE49-F238E27FC236}">
                  <a16:creationId xmlns:a16="http://schemas.microsoft.com/office/drawing/2014/main" id="{9601D27C-D707-9BD4-EDD2-386D853F11DF}"/>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noProof="0">
                <a:solidFill>
                  <a:schemeClr val="bg1"/>
                </a:solidFill>
                <a:latin typeface="+mj-lt"/>
                <a:ea typeface="League Spartan" charset="0"/>
                <a:cs typeface="Poppins" pitchFamily="2" charset="77"/>
              </a:endParaRPr>
            </a:p>
          </p:txBody>
        </p:sp>
      </p:grpSp>
      <p:grpSp>
        <p:nvGrpSpPr>
          <p:cNvPr id="19" name="Group 18">
            <a:extLst>
              <a:ext uri="{FF2B5EF4-FFF2-40B4-BE49-F238E27FC236}">
                <a16:creationId xmlns:a16="http://schemas.microsoft.com/office/drawing/2014/main" id="{20EB1A3A-A123-7E24-14D2-1ABF5781CA26}"/>
              </a:ext>
            </a:extLst>
          </p:cNvPr>
          <p:cNvGrpSpPr/>
          <p:nvPr/>
        </p:nvGrpSpPr>
        <p:grpSpPr>
          <a:xfrm>
            <a:off x="5722" y="1064170"/>
            <a:ext cx="3312181" cy="319265"/>
            <a:chOff x="0" y="2140992"/>
            <a:chExt cx="2880042" cy="347180"/>
          </a:xfrm>
        </p:grpSpPr>
        <p:sp>
          <p:nvSpPr>
            <p:cNvPr id="20" name="TextBox 19">
              <a:extLst>
                <a:ext uri="{FF2B5EF4-FFF2-40B4-BE49-F238E27FC236}">
                  <a16:creationId xmlns:a16="http://schemas.microsoft.com/office/drawing/2014/main" id="{CCAFF68F-A2E8-8E7E-1404-281AAA5287DB}"/>
                </a:ext>
              </a:extLst>
            </p:cNvPr>
            <p:cNvSpPr txBox="1"/>
            <p:nvPr/>
          </p:nvSpPr>
          <p:spPr>
            <a:xfrm>
              <a:off x="1760219" y="2140992"/>
              <a:ext cx="1119823" cy="347180"/>
            </a:xfrm>
            <a:prstGeom prst="parallelogram">
              <a:avLst/>
            </a:prstGeom>
            <a:gradFill rotWithShape="1">
              <a:gsLst>
                <a:gs pos="0">
                  <a:schemeClr val="accent2"/>
                </a:gs>
                <a:gs pos="33000">
                  <a:schemeClr val="accent1"/>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52F1EA34-1301-DEF9-E5DA-706B1E6F282C}"/>
                </a:ext>
              </a:extLst>
            </p:cNvPr>
            <p:cNvSpPr txBox="1"/>
            <p:nvPr/>
          </p:nvSpPr>
          <p:spPr>
            <a:xfrm>
              <a:off x="0" y="2140992"/>
              <a:ext cx="2800190" cy="347180"/>
            </a:xfrm>
            <a:prstGeom prst="rect">
              <a:avLst/>
            </a:prstGeom>
            <a:gradFill rotWithShape="1">
              <a:gsLst>
                <a:gs pos="0">
                  <a:schemeClr val="accent2"/>
                </a:gs>
                <a:gs pos="100000">
                  <a:schemeClr val="accent1"/>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kern="0">
                  <a:solidFill>
                    <a:prstClr val="white"/>
                  </a:solidFill>
                  <a:latin typeface="Calibri" panose="020F0502020204030204" pitchFamily="34" charset="0"/>
                  <a:ea typeface="Calibri" panose="020F0502020204030204" pitchFamily="34" charset="0"/>
                  <a:cs typeface="Calibri" panose="020F0502020204030204" pitchFamily="34" charset="0"/>
                </a:rPr>
                <a:t>Identifying the underlying clusters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22" name="Group 21">
            <a:extLst>
              <a:ext uri="{FF2B5EF4-FFF2-40B4-BE49-F238E27FC236}">
                <a16:creationId xmlns:a16="http://schemas.microsoft.com/office/drawing/2014/main" id="{614A473F-B085-1890-961F-3B0D1CDAC455}"/>
              </a:ext>
            </a:extLst>
          </p:cNvPr>
          <p:cNvGrpSpPr/>
          <p:nvPr/>
        </p:nvGrpSpPr>
        <p:grpSpPr>
          <a:xfrm>
            <a:off x="5064732" y="1988168"/>
            <a:ext cx="2062535" cy="1968008"/>
            <a:chOff x="656630" y="3472821"/>
            <a:chExt cx="2062535" cy="1383909"/>
          </a:xfrm>
        </p:grpSpPr>
        <p:sp>
          <p:nvSpPr>
            <p:cNvPr id="23" name="Pentagon 3">
              <a:extLst>
                <a:ext uri="{FF2B5EF4-FFF2-40B4-BE49-F238E27FC236}">
                  <a16:creationId xmlns:a16="http://schemas.microsoft.com/office/drawing/2014/main" id="{919EC5B8-E663-7B4B-4653-60D4EE0E1506}"/>
                </a:ext>
              </a:extLst>
            </p:cNvPr>
            <p:cNvSpPr/>
            <p:nvPr/>
          </p:nvSpPr>
          <p:spPr>
            <a:xfrm>
              <a:off x="656631" y="3472821"/>
              <a:ext cx="2062534" cy="1383909"/>
            </a:xfrm>
            <a:prstGeom prst="roundRect">
              <a:avLst>
                <a:gd name="adj" fmla="val 5311"/>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6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548</a:t>
              </a:r>
            </a:p>
            <a:p>
              <a:pPr algn="ctr"/>
              <a: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Self-sustained </a:t>
              </a:r>
              <a:b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br>
              <a: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HCP HUBs</a:t>
              </a:r>
            </a:p>
            <a:p>
              <a:pPr algn="ctr"/>
              <a:endParaRPr lang="en-US" sz="300" i="1">
                <a:solidFill>
                  <a:srgbClr val="34373F"/>
                </a:solidFill>
                <a:latin typeface="Calibri" panose="020F0502020204030204"/>
                <a:ea typeface="League Spartan" charset="0"/>
                <a:cs typeface="Poppins" pitchFamily="2" charset="7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Communities with 1-2 HCPs managing 2+ patients and diagnosing or treating more than 67% of them</a:t>
              </a:r>
              <a:endParaRPr kumimoji="0" lang="en-US" sz="1100" b="0"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endParaRPr>
            </a:p>
          </p:txBody>
        </p:sp>
        <p:sp>
          <p:nvSpPr>
            <p:cNvPr id="24" name="Pentagon 3">
              <a:extLst>
                <a:ext uri="{FF2B5EF4-FFF2-40B4-BE49-F238E27FC236}">
                  <a16:creationId xmlns:a16="http://schemas.microsoft.com/office/drawing/2014/main" id="{533185A8-1BDA-196B-AB6C-FE37CD35895B}"/>
                </a:ext>
              </a:extLst>
            </p:cNvPr>
            <p:cNvSpPr/>
            <p:nvPr/>
          </p:nvSpPr>
          <p:spPr>
            <a:xfrm>
              <a:off x="656630" y="3472821"/>
              <a:ext cx="45719" cy="1383909"/>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noProof="0">
                <a:solidFill>
                  <a:schemeClr val="bg1"/>
                </a:solidFill>
                <a:latin typeface="+mj-lt"/>
                <a:ea typeface="League Spartan" charset="0"/>
                <a:cs typeface="Poppins" pitchFamily="2" charset="77"/>
              </a:endParaRPr>
            </a:p>
          </p:txBody>
        </p:sp>
      </p:grpSp>
      <p:grpSp>
        <p:nvGrpSpPr>
          <p:cNvPr id="25" name="Group 24">
            <a:extLst>
              <a:ext uri="{FF2B5EF4-FFF2-40B4-BE49-F238E27FC236}">
                <a16:creationId xmlns:a16="http://schemas.microsoft.com/office/drawing/2014/main" id="{A9D9D8C8-95CD-54AC-2E8B-0AB75EEE493A}"/>
              </a:ext>
            </a:extLst>
          </p:cNvPr>
          <p:cNvGrpSpPr/>
          <p:nvPr/>
        </p:nvGrpSpPr>
        <p:grpSpPr>
          <a:xfrm>
            <a:off x="9357131" y="1988168"/>
            <a:ext cx="2062535" cy="1968008"/>
            <a:chOff x="656630" y="3472821"/>
            <a:chExt cx="2062535" cy="1383909"/>
          </a:xfrm>
        </p:grpSpPr>
        <p:sp>
          <p:nvSpPr>
            <p:cNvPr id="26" name="Pentagon 3">
              <a:extLst>
                <a:ext uri="{FF2B5EF4-FFF2-40B4-BE49-F238E27FC236}">
                  <a16:creationId xmlns:a16="http://schemas.microsoft.com/office/drawing/2014/main" id="{4A5AA76B-22AE-E508-3276-57EFF45E808D}"/>
                </a:ext>
              </a:extLst>
            </p:cNvPr>
            <p:cNvSpPr/>
            <p:nvPr/>
          </p:nvSpPr>
          <p:spPr>
            <a:xfrm>
              <a:off x="656631" y="3472821"/>
              <a:ext cx="2062534" cy="1383909"/>
            </a:xfrm>
            <a:prstGeom prst="roundRect">
              <a:avLst>
                <a:gd name="adj" fmla="val 5311"/>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600" b="1"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4,871</a:t>
              </a:r>
            </a:p>
            <a:p>
              <a:pPr algn="ctr"/>
              <a:r>
                <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Standalone HCPs cohorts</a:t>
              </a:r>
            </a:p>
            <a:p>
              <a:pPr algn="ctr"/>
              <a:endParaRPr lang="en-US" sz="1600" i="1">
                <a:solidFill>
                  <a:srgbClr val="34373F"/>
                </a:solidFill>
                <a:latin typeface="Calibri" panose="020F0502020204030204"/>
                <a:ea typeface="League Spartan" charset="0"/>
                <a:cs typeface="Poppins" pitchFamily="2" charset="77"/>
              </a:endParaRPr>
            </a:p>
            <a:p>
              <a:pPr algn="ctr"/>
              <a:r>
                <a:rPr kumimoji="0" lang="en-US" sz="1200" b="0" i="0"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rPr>
                <a:t>1-2 connected HCPs with no prominent referral or treatment activity</a:t>
              </a:r>
              <a:endParaRPr kumimoji="0" lang="en-US" sz="1600" i="1" u="none" strike="noStrike" kern="1200" cap="none" spc="0" normalizeH="0" baseline="0" noProof="0">
                <a:ln>
                  <a:noFill/>
                </a:ln>
                <a:solidFill>
                  <a:srgbClr val="34373F"/>
                </a:solidFill>
                <a:effectLst/>
                <a:uLnTx/>
                <a:uFillTx/>
                <a:latin typeface="Calibri" panose="020F0502020204030204"/>
                <a:ea typeface="League Spartan" charset="0"/>
                <a:cs typeface="Poppins" pitchFamily="2" charset="77"/>
              </a:endParaRPr>
            </a:p>
          </p:txBody>
        </p:sp>
        <p:sp>
          <p:nvSpPr>
            <p:cNvPr id="27" name="Pentagon 3">
              <a:extLst>
                <a:ext uri="{FF2B5EF4-FFF2-40B4-BE49-F238E27FC236}">
                  <a16:creationId xmlns:a16="http://schemas.microsoft.com/office/drawing/2014/main" id="{301A7694-6B6A-0B97-414B-75FBE9524CAE}"/>
                </a:ext>
              </a:extLst>
            </p:cNvPr>
            <p:cNvSpPr/>
            <p:nvPr/>
          </p:nvSpPr>
          <p:spPr>
            <a:xfrm>
              <a:off x="656630" y="3472821"/>
              <a:ext cx="45719" cy="138390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noProof="0">
                <a:solidFill>
                  <a:schemeClr val="bg1"/>
                </a:solidFill>
                <a:latin typeface="+mj-lt"/>
                <a:ea typeface="League Spartan" charset="0"/>
                <a:cs typeface="Poppins" pitchFamily="2" charset="77"/>
              </a:endParaRPr>
            </a:p>
          </p:txBody>
        </p:sp>
      </p:grpSp>
    </p:spTree>
    <p:extLst>
      <p:ext uri="{BB962C8B-B14F-4D97-AF65-F5344CB8AC3E}">
        <p14:creationId xmlns:p14="http://schemas.microsoft.com/office/powerpoint/2010/main" val="563145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666E-7D7E-1F4C-32AF-F871F09D5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4DDFF-A4E0-74B6-71B2-09B65A823F92}"/>
              </a:ext>
            </a:extLst>
          </p:cNvPr>
          <p:cNvSpPr>
            <a:spLocks noGrp="1"/>
          </p:cNvSpPr>
          <p:nvPr>
            <p:ph type="title"/>
          </p:nvPr>
        </p:nvSpPr>
        <p:spPr>
          <a:xfrm>
            <a:off x="606078" y="161605"/>
            <a:ext cx="10014297" cy="685801"/>
          </a:xfrm>
        </p:spPr>
        <p:txBody>
          <a:bodyPr>
            <a:noAutofit/>
          </a:bodyPr>
          <a:lstStyle/>
          <a:p>
            <a:r>
              <a:rPr lang="en-US" sz="2000" dirty="0">
                <a:latin typeface="Calibri"/>
                <a:ea typeface="メイリオ"/>
                <a:cs typeface="Calibri"/>
              </a:rPr>
              <a:t>NT referral communities are defined by relationships, not institutions as HCPs consistently refer within their behavioral network regardless of where they practice</a:t>
            </a:r>
          </a:p>
        </p:txBody>
      </p:sp>
      <p:grpSp>
        <p:nvGrpSpPr>
          <p:cNvPr id="3" name="Group 2">
            <a:extLst>
              <a:ext uri="{FF2B5EF4-FFF2-40B4-BE49-F238E27FC236}">
                <a16:creationId xmlns:a16="http://schemas.microsoft.com/office/drawing/2014/main" id="{1F16F11F-F740-9B67-8405-5D8D3E2781C7}"/>
              </a:ext>
            </a:extLst>
          </p:cNvPr>
          <p:cNvGrpSpPr/>
          <p:nvPr/>
        </p:nvGrpSpPr>
        <p:grpSpPr>
          <a:xfrm>
            <a:off x="4480733" y="1601584"/>
            <a:ext cx="2062535" cy="1344176"/>
            <a:chOff x="656630" y="3472821"/>
            <a:chExt cx="2062535" cy="1383909"/>
          </a:xfrm>
        </p:grpSpPr>
        <p:sp>
          <p:nvSpPr>
            <p:cNvPr id="4" name="Pentagon 3">
              <a:extLst>
                <a:ext uri="{FF2B5EF4-FFF2-40B4-BE49-F238E27FC236}">
                  <a16:creationId xmlns:a16="http://schemas.microsoft.com/office/drawing/2014/main" id="{CFD2B5E9-17A5-E446-A18F-76A59AD643BC}"/>
                </a:ext>
              </a:extLst>
            </p:cNvPr>
            <p:cNvSpPr/>
            <p:nvPr/>
          </p:nvSpPr>
          <p:spPr>
            <a:xfrm>
              <a:off x="656631" y="3472821"/>
              <a:ext cx="2062534" cy="1383909"/>
            </a:xfrm>
            <a:prstGeom prst="roundRect">
              <a:avLst>
                <a:gd name="adj" fmla="val 531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6,174</a:t>
              </a:r>
            </a:p>
            <a:p>
              <a:pPr algn="ctr"/>
              <a:r>
                <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Total HCP Clusters</a:t>
              </a:r>
            </a:p>
            <a:p>
              <a:pPr algn="ctr"/>
              <a:endParaRPr lang="en-US" sz="1400" i="1" dirty="0">
                <a:solidFill>
                  <a:srgbClr val="34373F"/>
                </a:solidFill>
                <a:latin typeface="Calibri" panose="020F0502020204030204"/>
                <a:ea typeface="League Spartan" charset="0"/>
                <a:cs typeface="Poppins" pitchFamily="2" charset="77"/>
              </a:endParaRPr>
            </a:p>
            <a:p>
              <a:pPr algn="ctr"/>
              <a:r>
                <a:rPr kumimoji="0" lang="en-US" sz="110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Communities with 3 or more HCPs exchanging the referrals primarily amongst themselves</a:t>
              </a:r>
              <a:endParaRPr kumimoji="0" lang="en-US" sz="105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5" name="Pentagon 3">
              <a:extLst>
                <a:ext uri="{FF2B5EF4-FFF2-40B4-BE49-F238E27FC236}">
                  <a16:creationId xmlns:a16="http://schemas.microsoft.com/office/drawing/2014/main" id="{9601D27C-D707-9BD4-EDD2-386D853F11DF}"/>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aphicFrame>
        <p:nvGraphicFramePr>
          <p:cNvPr id="9" name="Chart 8">
            <a:extLst>
              <a:ext uri="{FF2B5EF4-FFF2-40B4-BE49-F238E27FC236}">
                <a16:creationId xmlns:a16="http://schemas.microsoft.com/office/drawing/2014/main" id="{CF8D9350-F151-5602-D500-30AB6B3BC56A}"/>
              </a:ext>
            </a:extLst>
          </p:cNvPr>
          <p:cNvGraphicFramePr/>
          <p:nvPr/>
        </p:nvGraphicFramePr>
        <p:xfrm>
          <a:off x="661212" y="1600200"/>
          <a:ext cx="2589831" cy="3364566"/>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Rounded Corners 9">
            <a:extLst>
              <a:ext uri="{FF2B5EF4-FFF2-40B4-BE49-F238E27FC236}">
                <a16:creationId xmlns:a16="http://schemas.microsoft.com/office/drawing/2014/main" id="{819D1745-319D-AF66-E698-869DF73357AD}"/>
              </a:ext>
            </a:extLst>
          </p:cNvPr>
          <p:cNvSpPr/>
          <p:nvPr/>
        </p:nvSpPr>
        <p:spPr>
          <a:xfrm>
            <a:off x="600076" y="5248656"/>
            <a:ext cx="2712103" cy="1241044"/>
          </a:xfrm>
          <a:prstGeom prst="roundRect">
            <a:avLst>
              <a:gd name="adj" fmla="val 6554"/>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en-US" sz="1200" dirty="0">
                <a:solidFill>
                  <a:schemeClr val="bg1"/>
                </a:solidFill>
              </a:rPr>
              <a:t>Only 26% of the referrals are within the same corporate account, indicating cross-institutional communities participating in referrals</a:t>
            </a:r>
          </a:p>
          <a:p>
            <a:pPr algn="ctr"/>
            <a:r>
              <a:rPr kumimoji="1" lang="en-US" sz="1200" dirty="0">
                <a:solidFill>
                  <a:schemeClr val="bg1"/>
                </a:solidFill>
              </a:rPr>
              <a:t>Identifying these communities requires uncovering HCP clusters</a:t>
            </a:r>
          </a:p>
        </p:txBody>
      </p:sp>
      <p:grpSp>
        <p:nvGrpSpPr>
          <p:cNvPr id="16" name="Group 15">
            <a:extLst>
              <a:ext uri="{FF2B5EF4-FFF2-40B4-BE49-F238E27FC236}">
                <a16:creationId xmlns:a16="http://schemas.microsoft.com/office/drawing/2014/main" id="{B7852AE5-F4FB-3459-F6FB-39AABC04BD69}"/>
              </a:ext>
            </a:extLst>
          </p:cNvPr>
          <p:cNvGrpSpPr/>
          <p:nvPr/>
        </p:nvGrpSpPr>
        <p:grpSpPr>
          <a:xfrm>
            <a:off x="0" y="1064170"/>
            <a:ext cx="3312180" cy="319265"/>
            <a:chOff x="0" y="2140992"/>
            <a:chExt cx="2880042" cy="347180"/>
          </a:xfrm>
        </p:grpSpPr>
        <p:sp>
          <p:nvSpPr>
            <p:cNvPr id="17" name="TextBox 16">
              <a:extLst>
                <a:ext uri="{FF2B5EF4-FFF2-40B4-BE49-F238E27FC236}">
                  <a16:creationId xmlns:a16="http://schemas.microsoft.com/office/drawing/2014/main" id="{DC01C099-F564-A514-B17C-94ABD36032D9}"/>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7508670A-3E3B-16C0-EDC3-CE454D5398E0}"/>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Referral activity concentration</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19" name="Group 18">
            <a:extLst>
              <a:ext uri="{FF2B5EF4-FFF2-40B4-BE49-F238E27FC236}">
                <a16:creationId xmlns:a16="http://schemas.microsoft.com/office/drawing/2014/main" id="{20EB1A3A-A123-7E24-14D2-1ABF5781CA26}"/>
              </a:ext>
            </a:extLst>
          </p:cNvPr>
          <p:cNvGrpSpPr/>
          <p:nvPr/>
        </p:nvGrpSpPr>
        <p:grpSpPr>
          <a:xfrm>
            <a:off x="4476122" y="1064170"/>
            <a:ext cx="3312180" cy="319265"/>
            <a:chOff x="0" y="2140992"/>
            <a:chExt cx="2880042" cy="347180"/>
          </a:xfrm>
        </p:grpSpPr>
        <p:sp>
          <p:nvSpPr>
            <p:cNvPr id="20" name="TextBox 19">
              <a:extLst>
                <a:ext uri="{FF2B5EF4-FFF2-40B4-BE49-F238E27FC236}">
                  <a16:creationId xmlns:a16="http://schemas.microsoft.com/office/drawing/2014/main" id="{CCAFF68F-A2E8-8E7E-1404-281AAA5287DB}"/>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52F1EA34-1301-DEF9-E5DA-706B1E6F282C}"/>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Calibri" panose="020F0502020204030204" pitchFamily="34" charset="0"/>
                  <a:ea typeface="Calibri" panose="020F0502020204030204" pitchFamily="34" charset="0"/>
                  <a:cs typeface="Calibri" panose="020F0502020204030204" pitchFamily="34" charset="0"/>
                </a:rPr>
                <a:t>Identifying the underlying clusters</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22" name="Group 21">
            <a:extLst>
              <a:ext uri="{FF2B5EF4-FFF2-40B4-BE49-F238E27FC236}">
                <a16:creationId xmlns:a16="http://schemas.microsoft.com/office/drawing/2014/main" id="{614A473F-B085-1890-961F-3B0D1CDAC455}"/>
              </a:ext>
            </a:extLst>
          </p:cNvPr>
          <p:cNvGrpSpPr/>
          <p:nvPr/>
        </p:nvGrpSpPr>
        <p:grpSpPr>
          <a:xfrm>
            <a:off x="7155081" y="1601584"/>
            <a:ext cx="2062535" cy="1344176"/>
            <a:chOff x="656630" y="3472821"/>
            <a:chExt cx="2062535" cy="1383909"/>
          </a:xfrm>
        </p:grpSpPr>
        <p:sp>
          <p:nvSpPr>
            <p:cNvPr id="23" name="Pentagon 3">
              <a:extLst>
                <a:ext uri="{FF2B5EF4-FFF2-40B4-BE49-F238E27FC236}">
                  <a16:creationId xmlns:a16="http://schemas.microsoft.com/office/drawing/2014/main" id="{919EC5B8-E663-7B4B-4653-60D4EE0E1506}"/>
                </a:ext>
              </a:extLst>
            </p:cNvPr>
            <p:cNvSpPr/>
            <p:nvPr/>
          </p:nvSpPr>
          <p:spPr>
            <a:xfrm>
              <a:off x="656631" y="3472821"/>
              <a:ext cx="2062534" cy="1383909"/>
            </a:xfrm>
            <a:prstGeom prst="roundRect">
              <a:avLst>
                <a:gd name="adj" fmla="val 531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548</a:t>
              </a:r>
            </a:p>
            <a:p>
              <a:pPr algn="ctr"/>
              <a:r>
                <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Self-sustained HCP HUBs</a:t>
              </a:r>
            </a:p>
            <a:p>
              <a:pPr algn="ctr"/>
              <a:endParaRPr lang="en-US" sz="200" i="1" dirty="0">
                <a:solidFill>
                  <a:srgbClr val="34373F"/>
                </a:solidFill>
                <a:latin typeface="Calibri" panose="020F0502020204030204"/>
                <a:ea typeface="League Spartan" charset="0"/>
                <a:cs typeface="Poppins" pitchFamily="2" charset="7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Communities with 1-2 HCPs managing 2+ patients and diagnosing or treating more than 67% of them</a:t>
              </a:r>
              <a:endParaRPr kumimoji="0" lang="en-US" sz="1050" b="0"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24" name="Pentagon 3">
              <a:extLst>
                <a:ext uri="{FF2B5EF4-FFF2-40B4-BE49-F238E27FC236}">
                  <a16:creationId xmlns:a16="http://schemas.microsoft.com/office/drawing/2014/main" id="{533185A8-1BDA-196B-AB6C-FE37CD35895B}"/>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grpSp>
        <p:nvGrpSpPr>
          <p:cNvPr id="25" name="Group 24">
            <a:extLst>
              <a:ext uri="{FF2B5EF4-FFF2-40B4-BE49-F238E27FC236}">
                <a16:creationId xmlns:a16="http://schemas.microsoft.com/office/drawing/2014/main" id="{A9D9D8C8-95CD-54AC-2E8B-0AB75EEE493A}"/>
              </a:ext>
            </a:extLst>
          </p:cNvPr>
          <p:cNvGrpSpPr/>
          <p:nvPr/>
        </p:nvGrpSpPr>
        <p:grpSpPr>
          <a:xfrm>
            <a:off x="9829428" y="1601584"/>
            <a:ext cx="2062535" cy="1344176"/>
            <a:chOff x="656630" y="3472821"/>
            <a:chExt cx="2062535" cy="1383909"/>
          </a:xfrm>
        </p:grpSpPr>
        <p:sp>
          <p:nvSpPr>
            <p:cNvPr id="26" name="Pentagon 3">
              <a:extLst>
                <a:ext uri="{FF2B5EF4-FFF2-40B4-BE49-F238E27FC236}">
                  <a16:creationId xmlns:a16="http://schemas.microsoft.com/office/drawing/2014/main" id="{4A5AA76B-22AE-E508-3276-57EFF45E808D}"/>
                </a:ext>
              </a:extLst>
            </p:cNvPr>
            <p:cNvSpPr/>
            <p:nvPr/>
          </p:nvSpPr>
          <p:spPr>
            <a:xfrm>
              <a:off x="656631" y="3472821"/>
              <a:ext cx="2062534" cy="1383909"/>
            </a:xfrm>
            <a:prstGeom prst="roundRect">
              <a:avLst>
                <a:gd name="adj" fmla="val 531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0" lang="en-US" sz="1400" b="1"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4,871</a:t>
              </a:r>
            </a:p>
            <a:p>
              <a:pPr algn="ctr"/>
              <a:r>
                <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Standalone HCPs cohorts</a:t>
              </a:r>
            </a:p>
            <a:p>
              <a:pPr algn="ctr"/>
              <a:endParaRPr lang="en-US" sz="1400" i="1" dirty="0">
                <a:solidFill>
                  <a:srgbClr val="34373F"/>
                </a:solidFill>
                <a:latin typeface="Calibri" panose="020F0502020204030204"/>
                <a:ea typeface="League Spartan" charset="0"/>
                <a:cs typeface="Poppins" pitchFamily="2" charset="77"/>
              </a:endParaRPr>
            </a:p>
            <a:p>
              <a:pPr algn="ctr"/>
              <a:r>
                <a:rPr kumimoji="0" lang="en-US" sz="1100" b="0" i="0"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rPr>
                <a:t>1-2 connected HCPs with no prominent referral or treatment activity</a:t>
              </a:r>
              <a:endParaRPr kumimoji="0" lang="en-US" sz="1400" i="1" u="none" strike="noStrike" kern="1200" cap="none" spc="0" normalizeH="0" baseline="0" noProof="0" dirty="0">
                <a:ln>
                  <a:noFill/>
                </a:ln>
                <a:solidFill>
                  <a:srgbClr val="34373F"/>
                </a:solidFill>
                <a:effectLst/>
                <a:uLnTx/>
                <a:uFillTx/>
                <a:latin typeface="Calibri" panose="020F0502020204030204"/>
                <a:ea typeface="League Spartan" charset="0"/>
                <a:cs typeface="Poppins" pitchFamily="2" charset="77"/>
              </a:endParaRPr>
            </a:p>
          </p:txBody>
        </p:sp>
        <p:sp>
          <p:nvSpPr>
            <p:cNvPr id="27" name="Pentagon 3">
              <a:extLst>
                <a:ext uri="{FF2B5EF4-FFF2-40B4-BE49-F238E27FC236}">
                  <a16:creationId xmlns:a16="http://schemas.microsoft.com/office/drawing/2014/main" id="{301A7694-6B6A-0B97-414B-75FBE9524CAE}"/>
                </a:ext>
              </a:extLst>
            </p:cNvPr>
            <p:cNvSpPr/>
            <p:nvPr/>
          </p:nvSpPr>
          <p:spPr>
            <a:xfrm>
              <a:off x="656630" y="3472821"/>
              <a:ext cx="45719" cy="138390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mj-lt"/>
                <a:ea typeface="League Spartan" charset="0"/>
                <a:cs typeface="Poppins" pitchFamily="2" charset="77"/>
              </a:endParaRPr>
            </a:p>
          </p:txBody>
        </p:sp>
      </p:grpSp>
      <p:sp>
        <p:nvSpPr>
          <p:cNvPr id="30" name="Rectangle 29">
            <a:extLst>
              <a:ext uri="{FF2B5EF4-FFF2-40B4-BE49-F238E27FC236}">
                <a16:creationId xmlns:a16="http://schemas.microsoft.com/office/drawing/2014/main" id="{B347EFE6-8F8D-0DBC-BB8B-EEFE402323B6}"/>
              </a:ext>
            </a:extLst>
          </p:cNvPr>
          <p:cNvSpPr/>
          <p:nvPr/>
        </p:nvSpPr>
        <p:spPr>
          <a:xfrm>
            <a:off x="4476122" y="3456701"/>
            <a:ext cx="7713336" cy="2229724"/>
          </a:xfrm>
          <a:prstGeom prst="rect">
            <a:avLst/>
          </a:prstGeom>
          <a:solidFill>
            <a:schemeClr val="bg1">
              <a:lumMod val="95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grpSp>
        <p:nvGrpSpPr>
          <p:cNvPr id="37" name="Group 36">
            <a:extLst>
              <a:ext uri="{FF2B5EF4-FFF2-40B4-BE49-F238E27FC236}">
                <a16:creationId xmlns:a16="http://schemas.microsoft.com/office/drawing/2014/main" id="{0B76AE13-83F6-E870-5FAC-E35CAFB69BC9}"/>
              </a:ext>
            </a:extLst>
          </p:cNvPr>
          <p:cNvGrpSpPr/>
          <p:nvPr/>
        </p:nvGrpSpPr>
        <p:grpSpPr>
          <a:xfrm>
            <a:off x="3999431" y="1233488"/>
            <a:ext cx="264669" cy="5500687"/>
            <a:chOff x="3999431" y="1233488"/>
            <a:chExt cx="264669" cy="5500687"/>
          </a:xfrm>
        </p:grpSpPr>
        <p:cxnSp>
          <p:nvCxnSpPr>
            <p:cNvPr id="32" name="Straight Connector 31">
              <a:extLst>
                <a:ext uri="{FF2B5EF4-FFF2-40B4-BE49-F238E27FC236}">
                  <a16:creationId xmlns:a16="http://schemas.microsoft.com/office/drawing/2014/main" id="{DCA1F243-800D-0204-B24D-BC5869CD8654}"/>
                </a:ext>
              </a:extLst>
            </p:cNvPr>
            <p:cNvCxnSpPr>
              <a:cxnSpLocks/>
            </p:cNvCxnSpPr>
            <p:nvPr/>
          </p:nvCxnSpPr>
          <p:spPr>
            <a:xfrm>
              <a:off x="4131772" y="1233488"/>
              <a:ext cx="0" cy="5500687"/>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9A5B222E-8EF2-AAB2-144E-E98790791A33}"/>
                </a:ext>
              </a:extLst>
            </p:cNvPr>
            <p:cNvGrpSpPr/>
            <p:nvPr/>
          </p:nvGrpSpPr>
          <p:grpSpPr>
            <a:xfrm>
              <a:off x="3999431" y="3872611"/>
              <a:ext cx="264669" cy="222441"/>
              <a:chOff x="3790950" y="3711384"/>
              <a:chExt cx="567344" cy="222441"/>
            </a:xfrm>
          </p:grpSpPr>
          <p:sp>
            <p:nvSpPr>
              <p:cNvPr id="33" name="Arrow: Chevron 32">
                <a:extLst>
                  <a:ext uri="{FF2B5EF4-FFF2-40B4-BE49-F238E27FC236}">
                    <a16:creationId xmlns:a16="http://schemas.microsoft.com/office/drawing/2014/main" id="{6690E29D-25EB-608F-D5DF-A0A08AE5751A}"/>
                  </a:ext>
                </a:extLst>
              </p:cNvPr>
              <p:cNvSpPr/>
              <p:nvPr/>
            </p:nvSpPr>
            <p:spPr>
              <a:xfrm>
                <a:off x="3790950"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34" name="Arrow: Chevron 33">
                <a:extLst>
                  <a:ext uri="{FF2B5EF4-FFF2-40B4-BE49-F238E27FC236}">
                    <a16:creationId xmlns:a16="http://schemas.microsoft.com/office/drawing/2014/main" id="{62C4CC7F-02F5-4B79-5415-65BDEBADD015}"/>
                  </a:ext>
                </a:extLst>
              </p:cNvPr>
              <p:cNvSpPr/>
              <p:nvPr/>
            </p:nvSpPr>
            <p:spPr>
              <a:xfrm>
                <a:off x="3957638"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35" name="Arrow: Chevron 34">
                <a:extLst>
                  <a:ext uri="{FF2B5EF4-FFF2-40B4-BE49-F238E27FC236}">
                    <a16:creationId xmlns:a16="http://schemas.microsoft.com/office/drawing/2014/main" id="{E93574D3-65A5-B2E0-7965-BD40784DAAB8}"/>
                  </a:ext>
                </a:extLst>
              </p:cNvPr>
              <p:cNvSpPr/>
              <p:nvPr/>
            </p:nvSpPr>
            <p:spPr>
              <a:xfrm>
                <a:off x="4135853"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grpSp>
      </p:grpSp>
      <p:sp>
        <p:nvSpPr>
          <p:cNvPr id="48" name="Rectangle: Rounded Corners 47">
            <a:extLst>
              <a:ext uri="{FF2B5EF4-FFF2-40B4-BE49-F238E27FC236}">
                <a16:creationId xmlns:a16="http://schemas.microsoft.com/office/drawing/2014/main" id="{7186CF39-D615-99D3-96A0-0CC155F4924B}"/>
              </a:ext>
            </a:extLst>
          </p:cNvPr>
          <p:cNvSpPr/>
          <p:nvPr/>
        </p:nvSpPr>
        <p:spPr>
          <a:xfrm>
            <a:off x="4626871" y="3666250"/>
            <a:ext cx="7265092" cy="1934450"/>
          </a:xfrm>
          <a:prstGeom prst="roundRect">
            <a:avLst>
              <a:gd name="adj" fmla="val 28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spcAft>
                <a:spcPts val="600"/>
              </a:spcAft>
              <a:buFont typeface="Arial" panose="020B0604020202020204" pitchFamily="34" charset="0"/>
              <a:buChar char="•"/>
            </a:pPr>
            <a:r>
              <a:rPr lang="en-US" sz="1200" dirty="0">
                <a:solidFill>
                  <a:schemeClr val="tx1"/>
                </a:solidFill>
                <a:cs typeface="Arial" panose="020B0604020202020204" pitchFamily="34" charset="0"/>
              </a:rPr>
              <a:t>Patients are not being systematically funneled toward high-expertise centers. Instead, wherever a patient lands, a micro-community of HCPs manages them in isolation</a:t>
            </a:r>
          </a:p>
          <a:p>
            <a:pPr marL="171450" indent="-171450">
              <a:spcBef>
                <a:spcPts val="600"/>
              </a:spcBef>
              <a:spcAft>
                <a:spcPts val="600"/>
              </a:spcAft>
              <a:buFont typeface="Arial" panose="020B0604020202020204" pitchFamily="34" charset="0"/>
              <a:buChar char="•"/>
            </a:pPr>
            <a:r>
              <a:rPr lang="en-US" sz="1200" dirty="0">
                <a:solidFill>
                  <a:schemeClr val="tx1"/>
                </a:solidFill>
                <a:cs typeface="Arial" panose="020B0604020202020204" pitchFamily="34" charset="0"/>
              </a:rPr>
              <a:t>99% of identified HCP clusters contain the majority of their referral activity within the community. Confirming that </a:t>
            </a:r>
            <a:r>
              <a:rPr lang="en-US" sz="1200" b="1" dirty="0">
                <a:solidFill>
                  <a:schemeClr val="accent1"/>
                </a:solidFill>
                <a:cs typeface="Arial" panose="020B0604020202020204" pitchFamily="34" charset="0"/>
              </a:rPr>
              <a:t>referral behavior in NT market is governed by established HCP relationships, not institutional proximity or affiliation</a:t>
            </a:r>
          </a:p>
          <a:p>
            <a:pPr marL="171450" indent="-171450">
              <a:spcBef>
                <a:spcPts val="600"/>
              </a:spcBef>
              <a:spcAft>
                <a:spcPts val="600"/>
              </a:spcAft>
              <a:buFont typeface="Arial" panose="020B0604020202020204" pitchFamily="34" charset="0"/>
              <a:buChar char="•"/>
            </a:pPr>
            <a:r>
              <a:rPr lang="en-US" sz="1200" dirty="0">
                <a:solidFill>
                  <a:schemeClr val="tx1"/>
                </a:solidFill>
                <a:cs typeface="Arial" panose="020B0604020202020204" pitchFamily="34" charset="0"/>
              </a:rPr>
              <a:t>With ~5 patients per cluster, individual HCPs never accumulate sufficient NT patient volume to become confident specialists, which could potentially perpetuate misdiagnosis, diagnostic delay, and suboptimal treatment decisions at the community level</a:t>
            </a:r>
          </a:p>
        </p:txBody>
      </p:sp>
      <p:grpSp>
        <p:nvGrpSpPr>
          <p:cNvPr id="49" name="Group 48">
            <a:extLst>
              <a:ext uri="{FF2B5EF4-FFF2-40B4-BE49-F238E27FC236}">
                <a16:creationId xmlns:a16="http://schemas.microsoft.com/office/drawing/2014/main" id="{92115AE0-F36D-296C-634F-769FAF0947AD}"/>
              </a:ext>
            </a:extLst>
          </p:cNvPr>
          <p:cNvGrpSpPr/>
          <p:nvPr/>
        </p:nvGrpSpPr>
        <p:grpSpPr>
          <a:xfrm>
            <a:off x="4480733" y="3289836"/>
            <a:ext cx="3312180" cy="319265"/>
            <a:chOff x="0" y="2140992"/>
            <a:chExt cx="2880042" cy="347180"/>
          </a:xfrm>
        </p:grpSpPr>
        <p:sp>
          <p:nvSpPr>
            <p:cNvPr id="50" name="TextBox 49">
              <a:extLst>
                <a:ext uri="{FF2B5EF4-FFF2-40B4-BE49-F238E27FC236}">
                  <a16:creationId xmlns:a16="http://schemas.microsoft.com/office/drawing/2014/main" id="{622DF6D0-B0B0-3F7F-2ED8-4EED7FDDAC87}"/>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799F30C3-493A-134D-4A24-AEDFAF05CFA4}"/>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648074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9835-0B57-3D59-A2B0-61DC968FB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F90E3-6538-2490-43CD-744071875EAA}"/>
              </a:ext>
            </a:extLst>
          </p:cNvPr>
          <p:cNvSpPr>
            <a:spLocks noGrp="1"/>
          </p:cNvSpPr>
          <p:nvPr>
            <p:ph type="title"/>
          </p:nvPr>
        </p:nvSpPr>
        <p:spPr>
          <a:xfrm>
            <a:off x="606078" y="161605"/>
            <a:ext cx="10328622" cy="685801"/>
          </a:xfrm>
        </p:spPr>
        <p:txBody>
          <a:bodyPr>
            <a:noAutofit/>
          </a:bodyPr>
          <a:lstStyle/>
          <a:p>
            <a:r>
              <a:rPr lang="en-US" sz="2000" spc="-40" dirty="0">
                <a:latin typeface="Calibri"/>
                <a:ea typeface="メイリオ"/>
                <a:cs typeface="Calibri"/>
              </a:rPr>
              <a:t>The majority of NT referral clusters are small, PCP-led communities with near-zero overlap with current target lists, indicating that most NT patient management is occurring below the commercial radar</a:t>
            </a:r>
          </a:p>
        </p:txBody>
      </p:sp>
      <p:grpSp>
        <p:nvGrpSpPr>
          <p:cNvPr id="16" name="Group 15">
            <a:extLst>
              <a:ext uri="{FF2B5EF4-FFF2-40B4-BE49-F238E27FC236}">
                <a16:creationId xmlns:a16="http://schemas.microsoft.com/office/drawing/2014/main" id="{83416F79-CF82-A512-3644-C78E9A2A13F0}"/>
              </a:ext>
            </a:extLst>
          </p:cNvPr>
          <p:cNvGrpSpPr/>
          <p:nvPr/>
        </p:nvGrpSpPr>
        <p:grpSpPr>
          <a:xfrm>
            <a:off x="0" y="1064170"/>
            <a:ext cx="3312180" cy="319265"/>
            <a:chOff x="0" y="2140992"/>
            <a:chExt cx="2880042" cy="347180"/>
          </a:xfrm>
        </p:grpSpPr>
        <p:sp>
          <p:nvSpPr>
            <p:cNvPr id="17" name="TextBox 16">
              <a:extLst>
                <a:ext uri="{FF2B5EF4-FFF2-40B4-BE49-F238E27FC236}">
                  <a16:creationId xmlns:a16="http://schemas.microsoft.com/office/drawing/2014/main" id="{6A35C463-42AD-531F-3CD7-64DBACB20129}"/>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0A940C8F-84F6-EB22-3C0A-025488A892A5}"/>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Cluster Profiling</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6" name="Group 5">
            <a:extLst>
              <a:ext uri="{FF2B5EF4-FFF2-40B4-BE49-F238E27FC236}">
                <a16:creationId xmlns:a16="http://schemas.microsoft.com/office/drawing/2014/main" id="{C03B96D7-8DC9-97F3-75A1-AA0749C2B9A5}"/>
              </a:ext>
            </a:extLst>
          </p:cNvPr>
          <p:cNvGrpSpPr/>
          <p:nvPr/>
        </p:nvGrpSpPr>
        <p:grpSpPr>
          <a:xfrm>
            <a:off x="-2353" y="4216151"/>
            <a:ext cx="3395611" cy="2717208"/>
            <a:chOff x="4512495" y="3270060"/>
            <a:chExt cx="3395611" cy="2717208"/>
          </a:xfrm>
        </p:grpSpPr>
        <p:sp>
          <p:nvSpPr>
            <p:cNvPr id="42" name="Rectangle 41">
              <a:extLst>
                <a:ext uri="{FF2B5EF4-FFF2-40B4-BE49-F238E27FC236}">
                  <a16:creationId xmlns:a16="http://schemas.microsoft.com/office/drawing/2014/main" id="{899479EC-EC5F-2D79-9BF7-D5958881FFDF}"/>
                </a:ext>
              </a:extLst>
            </p:cNvPr>
            <p:cNvSpPr/>
            <p:nvPr/>
          </p:nvSpPr>
          <p:spPr>
            <a:xfrm>
              <a:off x="5128176" y="327006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Target List Constitution Within Clusters</a:t>
              </a:r>
            </a:p>
          </p:txBody>
        </p:sp>
        <p:pic>
          <p:nvPicPr>
            <p:cNvPr id="45" name="Picture 44">
              <a:extLst>
                <a:ext uri="{FF2B5EF4-FFF2-40B4-BE49-F238E27FC236}">
                  <a16:creationId xmlns:a16="http://schemas.microsoft.com/office/drawing/2014/main" id="{6E3E0BED-2C54-BD3B-9DBF-7A6CF26014A2}"/>
                </a:ext>
              </a:extLst>
            </p:cNvPr>
            <p:cNvPicPr>
              <a:picLocks noChangeAspect="1"/>
            </p:cNvPicPr>
            <p:nvPr/>
          </p:nvPicPr>
          <p:blipFill>
            <a:blip r:embed="rId2"/>
            <a:stretch>
              <a:fillRect/>
            </a:stretch>
          </p:blipFill>
          <p:spPr>
            <a:xfrm>
              <a:off x="4512495" y="3599145"/>
              <a:ext cx="3395611" cy="2388123"/>
            </a:xfrm>
            <a:prstGeom prst="rect">
              <a:avLst/>
            </a:prstGeom>
          </p:spPr>
        </p:pic>
      </p:grpSp>
      <p:grpSp>
        <p:nvGrpSpPr>
          <p:cNvPr id="7" name="Group 6">
            <a:extLst>
              <a:ext uri="{FF2B5EF4-FFF2-40B4-BE49-F238E27FC236}">
                <a16:creationId xmlns:a16="http://schemas.microsoft.com/office/drawing/2014/main" id="{322A7C13-BCC0-1A44-E7B1-684B46FD3BAE}"/>
              </a:ext>
            </a:extLst>
          </p:cNvPr>
          <p:cNvGrpSpPr/>
          <p:nvPr/>
        </p:nvGrpSpPr>
        <p:grpSpPr>
          <a:xfrm>
            <a:off x="-16524" y="1500720"/>
            <a:ext cx="3328704" cy="2699239"/>
            <a:chOff x="8567803" y="3270060"/>
            <a:chExt cx="3328704" cy="2699239"/>
          </a:xfrm>
        </p:grpSpPr>
        <p:sp>
          <p:nvSpPr>
            <p:cNvPr id="43" name="Rectangle 42">
              <a:extLst>
                <a:ext uri="{FF2B5EF4-FFF2-40B4-BE49-F238E27FC236}">
                  <a16:creationId xmlns:a16="http://schemas.microsoft.com/office/drawing/2014/main" id="{48F92AC2-2514-35FA-A806-8568BB0D7703}"/>
                </a:ext>
              </a:extLst>
            </p:cNvPr>
            <p:cNvSpPr/>
            <p:nvPr/>
          </p:nvSpPr>
          <p:spPr>
            <a:xfrm>
              <a:off x="9150031" y="327006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NT Patients Managed Across Clusters</a:t>
              </a:r>
            </a:p>
          </p:txBody>
        </p:sp>
        <p:pic>
          <p:nvPicPr>
            <p:cNvPr id="47" name="Picture 46">
              <a:extLst>
                <a:ext uri="{FF2B5EF4-FFF2-40B4-BE49-F238E27FC236}">
                  <a16:creationId xmlns:a16="http://schemas.microsoft.com/office/drawing/2014/main" id="{BCF2F559-980D-CF67-7679-E84013098F65}"/>
                </a:ext>
              </a:extLst>
            </p:cNvPr>
            <p:cNvPicPr>
              <a:picLocks noChangeAspect="1"/>
            </p:cNvPicPr>
            <p:nvPr/>
          </p:nvPicPr>
          <p:blipFill>
            <a:blip r:embed="rId3"/>
            <a:stretch>
              <a:fillRect/>
            </a:stretch>
          </p:blipFill>
          <p:spPr>
            <a:xfrm>
              <a:off x="8567803" y="3628232"/>
              <a:ext cx="3328704" cy="2341067"/>
            </a:xfrm>
            <a:prstGeom prst="rect">
              <a:avLst/>
            </a:prstGeom>
          </p:spPr>
        </p:pic>
      </p:grpSp>
      <p:grpSp>
        <p:nvGrpSpPr>
          <p:cNvPr id="8" name="Group 7">
            <a:extLst>
              <a:ext uri="{FF2B5EF4-FFF2-40B4-BE49-F238E27FC236}">
                <a16:creationId xmlns:a16="http://schemas.microsoft.com/office/drawing/2014/main" id="{A60FA01D-980B-F6F6-EBDF-86A42C3EA200}"/>
              </a:ext>
            </a:extLst>
          </p:cNvPr>
          <p:cNvGrpSpPr/>
          <p:nvPr/>
        </p:nvGrpSpPr>
        <p:grpSpPr>
          <a:xfrm>
            <a:off x="3629739" y="1352391"/>
            <a:ext cx="264669" cy="2776292"/>
            <a:chOff x="3999431" y="1233488"/>
            <a:chExt cx="264669" cy="5500687"/>
          </a:xfrm>
        </p:grpSpPr>
        <p:cxnSp>
          <p:nvCxnSpPr>
            <p:cNvPr id="11" name="Straight Connector 10">
              <a:extLst>
                <a:ext uri="{FF2B5EF4-FFF2-40B4-BE49-F238E27FC236}">
                  <a16:creationId xmlns:a16="http://schemas.microsoft.com/office/drawing/2014/main" id="{99E1C884-9096-39C7-69F7-6C41A1C677D9}"/>
                </a:ext>
              </a:extLst>
            </p:cNvPr>
            <p:cNvCxnSpPr>
              <a:cxnSpLocks/>
            </p:cNvCxnSpPr>
            <p:nvPr/>
          </p:nvCxnSpPr>
          <p:spPr>
            <a:xfrm>
              <a:off x="4131772" y="1233488"/>
              <a:ext cx="0" cy="5500687"/>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9F029B07-48F6-FF79-6C62-0F771888DD65}"/>
                </a:ext>
              </a:extLst>
            </p:cNvPr>
            <p:cNvGrpSpPr/>
            <p:nvPr/>
          </p:nvGrpSpPr>
          <p:grpSpPr>
            <a:xfrm>
              <a:off x="3999431" y="3872611"/>
              <a:ext cx="264669" cy="222441"/>
              <a:chOff x="3790950" y="3711384"/>
              <a:chExt cx="567344" cy="222441"/>
            </a:xfrm>
          </p:grpSpPr>
          <p:sp>
            <p:nvSpPr>
              <p:cNvPr id="13" name="Arrow: Chevron 12">
                <a:extLst>
                  <a:ext uri="{FF2B5EF4-FFF2-40B4-BE49-F238E27FC236}">
                    <a16:creationId xmlns:a16="http://schemas.microsoft.com/office/drawing/2014/main" id="{70B7AB52-8EB5-0BF2-4124-5CF0F477F5AC}"/>
                  </a:ext>
                </a:extLst>
              </p:cNvPr>
              <p:cNvSpPr/>
              <p:nvPr/>
            </p:nvSpPr>
            <p:spPr>
              <a:xfrm>
                <a:off x="3790950"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14" name="Arrow: Chevron 13">
                <a:extLst>
                  <a:ext uri="{FF2B5EF4-FFF2-40B4-BE49-F238E27FC236}">
                    <a16:creationId xmlns:a16="http://schemas.microsoft.com/office/drawing/2014/main" id="{A66BFCDA-9641-5880-2705-D183B10E1B70}"/>
                  </a:ext>
                </a:extLst>
              </p:cNvPr>
              <p:cNvSpPr/>
              <p:nvPr/>
            </p:nvSpPr>
            <p:spPr>
              <a:xfrm>
                <a:off x="3957638"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15" name="Arrow: Chevron 14">
                <a:extLst>
                  <a:ext uri="{FF2B5EF4-FFF2-40B4-BE49-F238E27FC236}">
                    <a16:creationId xmlns:a16="http://schemas.microsoft.com/office/drawing/2014/main" id="{7D7A3BF8-314C-6D0D-278A-2393FADD71D5}"/>
                  </a:ext>
                </a:extLst>
              </p:cNvPr>
              <p:cNvSpPr/>
              <p:nvPr/>
            </p:nvSpPr>
            <p:spPr>
              <a:xfrm>
                <a:off x="4135853"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grpSp>
      </p:grpSp>
      <p:grpSp>
        <p:nvGrpSpPr>
          <p:cNvPr id="28" name="Group 27">
            <a:extLst>
              <a:ext uri="{FF2B5EF4-FFF2-40B4-BE49-F238E27FC236}">
                <a16:creationId xmlns:a16="http://schemas.microsoft.com/office/drawing/2014/main" id="{42F066CA-783E-9059-3F68-3CF34A929F0E}"/>
              </a:ext>
            </a:extLst>
          </p:cNvPr>
          <p:cNvGrpSpPr/>
          <p:nvPr/>
        </p:nvGrpSpPr>
        <p:grpSpPr>
          <a:xfrm>
            <a:off x="7662387" y="1352391"/>
            <a:ext cx="264669" cy="2776292"/>
            <a:chOff x="3999431" y="1233488"/>
            <a:chExt cx="264669" cy="5500687"/>
          </a:xfrm>
        </p:grpSpPr>
        <p:cxnSp>
          <p:nvCxnSpPr>
            <p:cNvPr id="31" name="Straight Connector 30">
              <a:extLst>
                <a:ext uri="{FF2B5EF4-FFF2-40B4-BE49-F238E27FC236}">
                  <a16:creationId xmlns:a16="http://schemas.microsoft.com/office/drawing/2014/main" id="{995D51D9-2B36-1CE5-C225-D9A4B61AB7C2}"/>
                </a:ext>
              </a:extLst>
            </p:cNvPr>
            <p:cNvCxnSpPr>
              <a:cxnSpLocks/>
            </p:cNvCxnSpPr>
            <p:nvPr/>
          </p:nvCxnSpPr>
          <p:spPr>
            <a:xfrm>
              <a:off x="4131772" y="1233488"/>
              <a:ext cx="0" cy="5500687"/>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5A86D31A-79A1-0017-1213-55529C0C4AE9}"/>
                </a:ext>
              </a:extLst>
            </p:cNvPr>
            <p:cNvGrpSpPr/>
            <p:nvPr/>
          </p:nvGrpSpPr>
          <p:grpSpPr>
            <a:xfrm>
              <a:off x="3999431" y="3872611"/>
              <a:ext cx="264669" cy="222441"/>
              <a:chOff x="3790950" y="3711384"/>
              <a:chExt cx="567344" cy="222441"/>
            </a:xfrm>
          </p:grpSpPr>
          <p:sp>
            <p:nvSpPr>
              <p:cNvPr id="39" name="Arrow: Chevron 38">
                <a:extLst>
                  <a:ext uri="{FF2B5EF4-FFF2-40B4-BE49-F238E27FC236}">
                    <a16:creationId xmlns:a16="http://schemas.microsoft.com/office/drawing/2014/main" id="{6E5011AB-147F-70B7-76C6-64B5F2B5F7E9}"/>
                  </a:ext>
                </a:extLst>
              </p:cNvPr>
              <p:cNvSpPr/>
              <p:nvPr/>
            </p:nvSpPr>
            <p:spPr>
              <a:xfrm>
                <a:off x="3790950"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40" name="Arrow: Chevron 39">
                <a:extLst>
                  <a:ext uri="{FF2B5EF4-FFF2-40B4-BE49-F238E27FC236}">
                    <a16:creationId xmlns:a16="http://schemas.microsoft.com/office/drawing/2014/main" id="{2603144C-E63E-DC19-26EE-CC1403DD032B}"/>
                  </a:ext>
                </a:extLst>
              </p:cNvPr>
              <p:cNvSpPr/>
              <p:nvPr/>
            </p:nvSpPr>
            <p:spPr>
              <a:xfrm>
                <a:off x="3957638"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sp>
            <p:nvSpPr>
              <p:cNvPr id="41" name="Arrow: Chevron 40">
                <a:extLst>
                  <a:ext uri="{FF2B5EF4-FFF2-40B4-BE49-F238E27FC236}">
                    <a16:creationId xmlns:a16="http://schemas.microsoft.com/office/drawing/2014/main" id="{A57C735D-7F37-B160-0331-4D7DFD4518A5}"/>
                  </a:ext>
                </a:extLst>
              </p:cNvPr>
              <p:cNvSpPr/>
              <p:nvPr/>
            </p:nvSpPr>
            <p:spPr>
              <a:xfrm>
                <a:off x="4135853" y="3711384"/>
                <a:ext cx="222441" cy="222441"/>
              </a:xfrm>
              <a:prstGeom prst="chevron">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solidFill>
                    <a:schemeClr val="tx1"/>
                  </a:solidFill>
                </a:endParaRPr>
              </a:p>
            </p:txBody>
          </p:sp>
        </p:grpSp>
      </p:grpSp>
      <p:graphicFrame>
        <p:nvGraphicFramePr>
          <p:cNvPr id="46" name="Table 45">
            <a:extLst>
              <a:ext uri="{FF2B5EF4-FFF2-40B4-BE49-F238E27FC236}">
                <a16:creationId xmlns:a16="http://schemas.microsoft.com/office/drawing/2014/main" id="{76F304C9-2031-F6EC-3512-C28A7ADF0549}"/>
              </a:ext>
            </a:extLst>
          </p:cNvPr>
          <p:cNvGraphicFramePr>
            <a:graphicFrameLocks noGrp="1"/>
          </p:cNvGraphicFramePr>
          <p:nvPr/>
        </p:nvGraphicFramePr>
        <p:xfrm>
          <a:off x="8410409" y="1905000"/>
          <a:ext cx="3540769" cy="2076563"/>
        </p:xfrm>
        <a:graphic>
          <a:graphicData uri="http://schemas.openxmlformats.org/drawingml/2006/table">
            <a:tbl>
              <a:tblPr firstRow="1">
                <a:tableStyleId>{5C22544A-7EE6-4342-B048-85BDC9FD1C3A}</a:tableStyleId>
              </a:tblPr>
              <a:tblGrid>
                <a:gridCol w="1133046">
                  <a:extLst>
                    <a:ext uri="{9D8B030D-6E8A-4147-A177-3AD203B41FA5}">
                      <a16:colId xmlns:a16="http://schemas.microsoft.com/office/drawing/2014/main" val="1478024431"/>
                    </a:ext>
                  </a:extLst>
                </a:gridCol>
                <a:gridCol w="2407723">
                  <a:extLst>
                    <a:ext uri="{9D8B030D-6E8A-4147-A177-3AD203B41FA5}">
                      <a16:colId xmlns:a16="http://schemas.microsoft.com/office/drawing/2014/main" val="1993261961"/>
                    </a:ext>
                  </a:extLst>
                </a:gridCol>
              </a:tblGrid>
              <a:tr h="177184">
                <a:tc>
                  <a:txBody>
                    <a:bodyPr/>
                    <a:lstStyle/>
                    <a:p>
                      <a:pPr algn="ctr" fontAlgn="b">
                        <a:buNone/>
                      </a:pPr>
                      <a:r>
                        <a:rPr lang="en-IN" sz="1200" b="1" u="none" strike="noStrike" dirty="0">
                          <a:effectLst/>
                          <a:latin typeface="+mn-lt"/>
                        </a:rPr>
                        <a:t>State Code</a:t>
                      </a:r>
                      <a:endParaRPr lang="en-IN" sz="1200" b="1" i="0" u="none" strike="noStrike" dirty="0">
                        <a:solidFill>
                          <a:srgbClr val="000000"/>
                        </a:solidFill>
                        <a:effectLst/>
                        <a:latin typeface="+mn-lt"/>
                      </a:endParaRPr>
                    </a:p>
                  </a:txBody>
                  <a:tcPr marL="3259" marR="3259" marT="3943"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200" b="1" i="0" u="none" strike="noStrike" dirty="0">
                          <a:solidFill>
                            <a:schemeClr val="bg1"/>
                          </a:solidFill>
                          <a:effectLst/>
                          <a:latin typeface="+mn-lt"/>
                        </a:rPr>
                        <a:t>% of Clusters Covered</a:t>
                      </a:r>
                    </a:p>
                  </a:txBody>
                  <a:tcPr marL="3259" marR="3259" marT="3943"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815401961"/>
                  </a:ext>
                </a:extLst>
              </a:tr>
              <a:tr h="188974">
                <a:tc>
                  <a:txBody>
                    <a:bodyPr/>
                    <a:lstStyle/>
                    <a:p>
                      <a:pPr algn="ctr" fontAlgn="b">
                        <a:buNone/>
                      </a:pPr>
                      <a:r>
                        <a:rPr lang="en-US" sz="1200" b="1" u="none" strike="noStrike" dirty="0">
                          <a:effectLst/>
                        </a:rPr>
                        <a:t>TX</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7%</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74632376"/>
                  </a:ext>
                </a:extLst>
              </a:tr>
              <a:tr h="188974">
                <a:tc>
                  <a:txBody>
                    <a:bodyPr/>
                    <a:lstStyle/>
                    <a:p>
                      <a:pPr algn="ctr" fontAlgn="b">
                        <a:buNone/>
                      </a:pPr>
                      <a:r>
                        <a:rPr lang="en-US" sz="1200" b="1" u="none" strike="noStrike" dirty="0">
                          <a:effectLst/>
                        </a:rPr>
                        <a:t>CA</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7%</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145789483"/>
                  </a:ext>
                </a:extLst>
              </a:tr>
              <a:tr h="188974">
                <a:tc>
                  <a:txBody>
                    <a:bodyPr/>
                    <a:lstStyle/>
                    <a:p>
                      <a:pPr algn="ctr" fontAlgn="b">
                        <a:buNone/>
                      </a:pPr>
                      <a:r>
                        <a:rPr lang="en-US" sz="1200" b="1" u="none" strike="noStrike" dirty="0">
                          <a:effectLst/>
                        </a:rPr>
                        <a:t>FL</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6%</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823939617"/>
                  </a:ext>
                </a:extLst>
              </a:tr>
              <a:tr h="188974">
                <a:tc>
                  <a:txBody>
                    <a:bodyPr/>
                    <a:lstStyle/>
                    <a:p>
                      <a:pPr algn="ctr" fontAlgn="b">
                        <a:buNone/>
                      </a:pPr>
                      <a:r>
                        <a:rPr lang="en-US" sz="1200" b="1" u="none" strike="noStrike" dirty="0">
                          <a:effectLst/>
                        </a:rPr>
                        <a:t>OH</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6%</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478130792"/>
                  </a:ext>
                </a:extLst>
              </a:tr>
              <a:tr h="188974">
                <a:tc>
                  <a:txBody>
                    <a:bodyPr/>
                    <a:lstStyle/>
                    <a:p>
                      <a:pPr algn="ctr" fontAlgn="b">
                        <a:buNone/>
                      </a:pPr>
                      <a:r>
                        <a:rPr lang="en-US" sz="1200" b="1" u="none" strike="noStrike" dirty="0">
                          <a:effectLst/>
                        </a:rPr>
                        <a:t>NY</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5%</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97841269"/>
                  </a:ext>
                </a:extLst>
              </a:tr>
              <a:tr h="188974">
                <a:tc>
                  <a:txBody>
                    <a:bodyPr/>
                    <a:lstStyle/>
                    <a:p>
                      <a:pPr algn="ctr" fontAlgn="b">
                        <a:buNone/>
                      </a:pPr>
                      <a:r>
                        <a:rPr lang="en-US" sz="1200" b="1" u="none" strike="noStrike">
                          <a:effectLst/>
                        </a:rPr>
                        <a:t>MI</a:t>
                      </a:r>
                      <a:endParaRPr lang="en-US" sz="1200" b="1" i="0" u="none" strike="noStrike">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4%</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842563923"/>
                  </a:ext>
                </a:extLst>
              </a:tr>
              <a:tr h="188974">
                <a:tc>
                  <a:txBody>
                    <a:bodyPr/>
                    <a:lstStyle/>
                    <a:p>
                      <a:pPr algn="ctr" fontAlgn="b">
                        <a:buNone/>
                      </a:pPr>
                      <a:r>
                        <a:rPr lang="en-US" sz="1200" b="1" u="none" strike="noStrike" dirty="0">
                          <a:effectLst/>
                        </a:rPr>
                        <a:t>PA</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4%</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993935077"/>
                  </a:ext>
                </a:extLst>
              </a:tr>
              <a:tr h="188974">
                <a:tc>
                  <a:txBody>
                    <a:bodyPr/>
                    <a:lstStyle/>
                    <a:p>
                      <a:pPr algn="ctr" fontAlgn="b">
                        <a:buNone/>
                      </a:pPr>
                      <a:r>
                        <a:rPr lang="en-US" sz="1200" b="1" u="none" strike="noStrike" dirty="0">
                          <a:effectLst/>
                        </a:rPr>
                        <a:t>NC</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3%</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83814941"/>
                  </a:ext>
                </a:extLst>
              </a:tr>
              <a:tr h="188974">
                <a:tc>
                  <a:txBody>
                    <a:bodyPr/>
                    <a:lstStyle/>
                    <a:p>
                      <a:pPr algn="ctr" fontAlgn="b">
                        <a:buNone/>
                      </a:pPr>
                      <a:r>
                        <a:rPr lang="en-US" sz="1200" b="1" u="none" strike="noStrike" dirty="0">
                          <a:effectLst/>
                        </a:rPr>
                        <a:t>IN</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algn="ctr" fontAlgn="b">
                        <a:buNone/>
                      </a:pPr>
                      <a:r>
                        <a:rPr lang="en-US" sz="1200" u="none" strike="noStrike" dirty="0">
                          <a:effectLst/>
                        </a:rPr>
                        <a:t>3%</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690928451"/>
                  </a:ext>
                </a:extLst>
              </a:tr>
              <a:tr h="188974">
                <a:tc>
                  <a:txBody>
                    <a:bodyPr/>
                    <a:lstStyle/>
                    <a:p>
                      <a:pPr algn="ctr" fontAlgn="b">
                        <a:buNone/>
                      </a:pPr>
                      <a:r>
                        <a:rPr lang="en-US" sz="1200" b="1" u="none" strike="noStrike" dirty="0">
                          <a:effectLst/>
                        </a:rPr>
                        <a:t>TN</a:t>
                      </a:r>
                      <a:endParaRPr lang="en-US" sz="1200" b="1" i="0" u="none" strike="noStrike" dirty="0">
                        <a:solidFill>
                          <a:srgbClr val="000000"/>
                        </a:solidFill>
                        <a:effectLst/>
                        <a:latin typeface="Aptos Narrow" panose="020B0004020202020204" pitchFamily="34" charset="0"/>
                      </a:endParaRPr>
                    </a:p>
                  </a:txBody>
                  <a:tcPr marL="4887" marR="4887" marT="5914"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algn="ctr" fontAlgn="b">
                        <a:buNone/>
                      </a:pPr>
                      <a:r>
                        <a:rPr lang="en-US" sz="1200" u="none" strike="noStrike" dirty="0">
                          <a:effectLst/>
                        </a:rPr>
                        <a:t>3%</a:t>
                      </a:r>
                      <a:endParaRPr lang="en-US" sz="1200" b="0" i="0" u="none" strike="noStrike" dirty="0">
                        <a:solidFill>
                          <a:srgbClr val="000000"/>
                        </a:solidFill>
                        <a:effectLst/>
                        <a:latin typeface="Aptos Narrow" panose="020B0004020202020204" pitchFamily="34" charset="0"/>
                      </a:endParaRPr>
                    </a:p>
                  </a:txBody>
                  <a:tcPr marL="4887" marR="4887" marT="5914"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708083065"/>
                  </a:ext>
                </a:extLst>
              </a:tr>
            </a:tbl>
          </a:graphicData>
        </a:graphic>
      </p:graphicFrame>
      <p:graphicFrame>
        <p:nvGraphicFramePr>
          <p:cNvPr id="49" name="Chart 48">
            <a:extLst>
              <a:ext uri="{FF2B5EF4-FFF2-40B4-BE49-F238E27FC236}">
                <a16:creationId xmlns:a16="http://schemas.microsoft.com/office/drawing/2014/main" id="{888F31D4-D8F4-11A3-2BC7-D000D36979B8}"/>
              </a:ext>
            </a:extLst>
          </p:cNvPr>
          <p:cNvGraphicFramePr>
            <a:graphicFrameLocks/>
          </p:cNvGraphicFramePr>
          <p:nvPr/>
        </p:nvGraphicFramePr>
        <p:xfrm>
          <a:off x="4114288" y="1873146"/>
          <a:ext cx="3328717" cy="2341262"/>
        </p:xfrm>
        <a:graphic>
          <a:graphicData uri="http://schemas.openxmlformats.org/drawingml/2006/chart">
            <c:chart xmlns:c="http://schemas.openxmlformats.org/drawingml/2006/chart" xmlns:r="http://schemas.openxmlformats.org/officeDocument/2006/relationships" r:id="rId4"/>
          </a:graphicData>
        </a:graphic>
      </p:graphicFrame>
      <p:sp>
        <p:nvSpPr>
          <p:cNvPr id="51" name="Rectangle 50">
            <a:extLst>
              <a:ext uri="{FF2B5EF4-FFF2-40B4-BE49-F238E27FC236}">
                <a16:creationId xmlns:a16="http://schemas.microsoft.com/office/drawing/2014/main" id="{51DE39B6-4F60-27D0-A5A0-8B37C6FAECE3}"/>
              </a:ext>
            </a:extLst>
          </p:cNvPr>
          <p:cNvSpPr/>
          <p:nvPr/>
        </p:nvSpPr>
        <p:spPr>
          <a:xfrm>
            <a:off x="4729485" y="150072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HCP Concentration Across Clusters</a:t>
            </a:r>
          </a:p>
        </p:txBody>
      </p:sp>
      <p:sp>
        <p:nvSpPr>
          <p:cNvPr id="52" name="Rectangle 51">
            <a:extLst>
              <a:ext uri="{FF2B5EF4-FFF2-40B4-BE49-F238E27FC236}">
                <a16:creationId xmlns:a16="http://schemas.microsoft.com/office/drawing/2014/main" id="{5663C4AE-CF18-A60D-36A5-0D028222FE5E}"/>
              </a:ext>
            </a:extLst>
          </p:cNvPr>
          <p:cNvSpPr/>
          <p:nvPr/>
        </p:nvSpPr>
        <p:spPr>
          <a:xfrm>
            <a:off x="9098669" y="150072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Top 10 States Accounting for 50% of Cluster Concentrations</a:t>
            </a:r>
          </a:p>
        </p:txBody>
      </p:sp>
      <p:graphicFrame>
        <p:nvGraphicFramePr>
          <p:cNvPr id="54" name="Chart 53">
            <a:extLst>
              <a:ext uri="{FF2B5EF4-FFF2-40B4-BE49-F238E27FC236}">
                <a16:creationId xmlns:a16="http://schemas.microsoft.com/office/drawing/2014/main" id="{888F31D4-D8F4-11A3-2BC7-D000D36979B8}"/>
              </a:ext>
            </a:extLst>
          </p:cNvPr>
          <p:cNvGraphicFramePr>
            <a:graphicFrameLocks/>
          </p:cNvGraphicFramePr>
          <p:nvPr/>
        </p:nvGraphicFramePr>
        <p:xfrm>
          <a:off x="4100067" y="4562475"/>
          <a:ext cx="3320643" cy="2361857"/>
        </p:xfrm>
        <a:graphic>
          <a:graphicData uri="http://schemas.openxmlformats.org/drawingml/2006/chart">
            <c:chart xmlns:c="http://schemas.openxmlformats.org/drawingml/2006/chart" xmlns:r="http://schemas.openxmlformats.org/officeDocument/2006/relationships" r:id="rId5"/>
          </a:graphicData>
        </a:graphic>
      </p:graphicFrame>
      <p:sp>
        <p:nvSpPr>
          <p:cNvPr id="60" name="Rectangle 59">
            <a:extLst>
              <a:ext uri="{FF2B5EF4-FFF2-40B4-BE49-F238E27FC236}">
                <a16:creationId xmlns:a16="http://schemas.microsoft.com/office/drawing/2014/main" id="{B3FBB44E-8DB8-D912-9B4C-BA2C4D399F75}"/>
              </a:ext>
            </a:extLst>
          </p:cNvPr>
          <p:cNvSpPr/>
          <p:nvPr/>
        </p:nvSpPr>
        <p:spPr>
          <a:xfrm>
            <a:off x="4678263" y="4216151"/>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Decile 6-10 Constitution Within Clusters</a:t>
            </a:r>
          </a:p>
        </p:txBody>
      </p:sp>
      <p:graphicFrame>
        <p:nvGraphicFramePr>
          <p:cNvPr id="61" name="Table 60">
            <a:extLst>
              <a:ext uri="{FF2B5EF4-FFF2-40B4-BE49-F238E27FC236}">
                <a16:creationId xmlns:a16="http://schemas.microsoft.com/office/drawing/2014/main" id="{4BBD60D6-A046-C1AD-12EA-075168D50938}"/>
              </a:ext>
            </a:extLst>
          </p:cNvPr>
          <p:cNvGraphicFramePr>
            <a:graphicFrameLocks noGrp="1"/>
          </p:cNvGraphicFramePr>
          <p:nvPr/>
        </p:nvGraphicFramePr>
        <p:xfrm>
          <a:off x="8410409" y="4633380"/>
          <a:ext cx="3474720" cy="1833493"/>
        </p:xfrm>
        <a:graphic>
          <a:graphicData uri="http://schemas.openxmlformats.org/drawingml/2006/table">
            <a:tbl>
              <a:tblPr firstRow="1">
                <a:tableStyleId>{5C22544A-7EE6-4342-B048-85BDC9FD1C3A}</a:tableStyleId>
              </a:tblPr>
              <a:tblGrid>
                <a:gridCol w="1920240">
                  <a:extLst>
                    <a:ext uri="{9D8B030D-6E8A-4147-A177-3AD203B41FA5}">
                      <a16:colId xmlns:a16="http://schemas.microsoft.com/office/drawing/2014/main" val="1478024431"/>
                    </a:ext>
                  </a:extLst>
                </a:gridCol>
                <a:gridCol w="1554480">
                  <a:extLst>
                    <a:ext uri="{9D8B030D-6E8A-4147-A177-3AD203B41FA5}">
                      <a16:colId xmlns:a16="http://schemas.microsoft.com/office/drawing/2014/main" val="1993261961"/>
                    </a:ext>
                  </a:extLst>
                </a:gridCol>
              </a:tblGrid>
              <a:tr h="136623">
                <a:tc>
                  <a:txBody>
                    <a:bodyPr/>
                    <a:lstStyle/>
                    <a:p>
                      <a:pPr algn="ctr" fontAlgn="b">
                        <a:buNone/>
                      </a:pPr>
                      <a:r>
                        <a:rPr lang="en-IN" sz="1200" b="1" u="none" strike="noStrike">
                          <a:effectLst/>
                          <a:latin typeface="+mn-lt"/>
                        </a:rPr>
                        <a:t>Speciality</a:t>
                      </a:r>
                      <a:endParaRPr lang="en-IN" sz="1200" b="1" i="0" u="none" strike="noStrike">
                        <a:solidFill>
                          <a:srgbClr val="000000"/>
                        </a:solidFill>
                        <a:effectLst/>
                        <a:latin typeface="+mn-lt"/>
                      </a:endParaRPr>
                    </a:p>
                  </a:txBody>
                  <a:tcPr marL="3259" marR="3259" marT="3943" marB="0" anchor="ctr">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tc>
                  <a:txBody>
                    <a:bodyPr/>
                    <a:lstStyle/>
                    <a:p>
                      <a:pPr algn="ctr" fontAlgn="b">
                        <a:buNone/>
                      </a:pPr>
                      <a:r>
                        <a:rPr lang="en-US" sz="1200" b="1" i="0" u="none" strike="noStrike" dirty="0">
                          <a:solidFill>
                            <a:schemeClr val="bg1"/>
                          </a:solidFill>
                          <a:effectLst/>
                          <a:latin typeface="+mn-lt"/>
                        </a:rPr>
                        <a:t>% of Clusters Covered</a:t>
                      </a:r>
                    </a:p>
                  </a:txBody>
                  <a:tcPr marL="3259" marR="3259" marT="3943" marB="0" anchor="ctr">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815401961"/>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Sleep Specialists</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3%</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74632376"/>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Neurology</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4%</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145789483"/>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Psychiatrist/ Psychologist</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18%</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823939617"/>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Pulmonologist</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4%</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397841269"/>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PCP/NP/PA</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58%</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779765420"/>
                  </a:ext>
                </a:extLst>
              </a:tr>
              <a:tr h="274445">
                <a:tc>
                  <a:txBody>
                    <a:bodyPr/>
                    <a:lstStyle/>
                    <a:p>
                      <a:pPr marL="0" algn="ctr" defTabSz="914150" rtl="0" eaLnBrk="1" fontAlgn="b" latinLnBrk="0" hangingPunct="1">
                        <a:buNone/>
                      </a:pPr>
                      <a:r>
                        <a:rPr kumimoji="1" lang="en-US" sz="1200" b="1" u="none" strike="noStrike" kern="1200" dirty="0">
                          <a:solidFill>
                            <a:schemeClr val="dk1"/>
                          </a:solidFill>
                          <a:effectLst/>
                          <a:latin typeface="+mn-lt"/>
                          <a:ea typeface="+mn-ea"/>
                          <a:cs typeface="+mn-cs"/>
                        </a:rPr>
                        <a:t>Others</a:t>
                      </a:r>
                    </a:p>
                  </a:txBody>
                  <a:tcPr marL="9525" marR="9525" marT="9525" marB="0" anchor="b">
                    <a:lnL w="12700" cap="flat" cmpd="sng" algn="ctr">
                      <a:no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tc>
                  <a:txBody>
                    <a:bodyPr/>
                    <a:lstStyle/>
                    <a:p>
                      <a:pPr marL="0" algn="ctr" defTabSz="914150" rtl="0" eaLnBrk="1" fontAlgn="b" latinLnBrk="0" hangingPunct="1">
                        <a:buNone/>
                      </a:pPr>
                      <a:r>
                        <a:rPr kumimoji="1" lang="en-US" sz="1200" u="none" strike="noStrike" kern="1200" dirty="0">
                          <a:solidFill>
                            <a:schemeClr val="dk1"/>
                          </a:solidFill>
                          <a:effectLst/>
                          <a:latin typeface="+mn-lt"/>
                          <a:ea typeface="+mn-ea"/>
                          <a:cs typeface="+mn-cs"/>
                        </a:rPr>
                        <a:t>13%</a:t>
                      </a:r>
                    </a:p>
                  </a:txBody>
                  <a:tcPr marL="9525" marR="9525" marT="9525" marB="0" anchor="b">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4181171767"/>
                  </a:ext>
                </a:extLst>
              </a:tr>
            </a:tbl>
          </a:graphicData>
        </a:graphic>
      </p:graphicFrame>
      <p:sp>
        <p:nvSpPr>
          <p:cNvPr id="62" name="Rectangle 61">
            <a:extLst>
              <a:ext uri="{FF2B5EF4-FFF2-40B4-BE49-F238E27FC236}">
                <a16:creationId xmlns:a16="http://schemas.microsoft.com/office/drawing/2014/main" id="{C45559A2-D734-9869-C919-3B10A8D79D25}"/>
              </a:ext>
            </a:extLst>
          </p:cNvPr>
          <p:cNvSpPr/>
          <p:nvPr/>
        </p:nvSpPr>
        <p:spPr>
          <a:xfrm>
            <a:off x="9098669" y="4229100"/>
            <a:ext cx="2164249" cy="383668"/>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200" b="1" dirty="0"/>
              <a:t>Primary Specialty Across Clusters</a:t>
            </a:r>
          </a:p>
        </p:txBody>
      </p:sp>
    </p:spTree>
    <p:extLst>
      <p:ext uri="{BB962C8B-B14F-4D97-AF65-F5344CB8AC3E}">
        <p14:creationId xmlns:p14="http://schemas.microsoft.com/office/powerpoint/2010/main" val="2837753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54B63-E1B2-8CF1-EEC0-5BE9E9621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7A923-353E-3CAB-18CB-1D6B7E1DB58F}"/>
              </a:ext>
            </a:extLst>
          </p:cNvPr>
          <p:cNvSpPr>
            <a:spLocks noGrp="1"/>
          </p:cNvSpPr>
          <p:nvPr>
            <p:ph type="title"/>
          </p:nvPr>
        </p:nvSpPr>
        <p:spPr>
          <a:xfrm>
            <a:off x="606078" y="161605"/>
            <a:ext cx="10261947" cy="685801"/>
          </a:xfrm>
        </p:spPr>
        <p:txBody>
          <a:bodyPr>
            <a:noAutofit/>
          </a:bodyPr>
          <a:lstStyle/>
          <a:p>
            <a:r>
              <a:rPr lang="en-US" sz="2000" spc="-40" dirty="0"/>
              <a:t>Misdiagnosis affects at least 70% of NT patients, with Anxiety and Fatigue driving early diagnostic misdirection and Sleep-related conditions serving as the most proximate gateway to NT identification</a:t>
            </a:r>
            <a:endParaRPr lang="en-US" sz="2000" spc="-40" dirty="0">
              <a:latin typeface="Calibri"/>
              <a:ea typeface="メイリオ"/>
              <a:cs typeface="Calibri"/>
            </a:endParaRPr>
          </a:p>
        </p:txBody>
      </p:sp>
      <p:sp>
        <p:nvSpPr>
          <p:cNvPr id="3" name="Rectangle: Rounded Corners 2">
            <a:extLst>
              <a:ext uri="{FF2B5EF4-FFF2-40B4-BE49-F238E27FC236}">
                <a16:creationId xmlns:a16="http://schemas.microsoft.com/office/drawing/2014/main" id="{7EEEC63D-1AD3-D3B5-5F07-5F9885FBC5A1}"/>
              </a:ext>
            </a:extLst>
          </p:cNvPr>
          <p:cNvSpPr/>
          <p:nvPr/>
        </p:nvSpPr>
        <p:spPr>
          <a:xfrm>
            <a:off x="1117" y="5291105"/>
            <a:ext cx="12190881" cy="1595790"/>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Arial" panose="020B0604020202020204" pitchFamily="34" charset="0"/>
              <a:buChar char="•"/>
            </a:pPr>
            <a:r>
              <a:rPr kumimoji="1" lang="en-US" sz="1200" dirty="0">
                <a:solidFill>
                  <a:schemeClr val="tx1">
                    <a:lumMod val="50000"/>
                  </a:schemeClr>
                </a:solidFill>
              </a:rPr>
              <a:t>The typical patient journey starts with non-specific psychological and fatigue-related conditions (Fatigue, Anxiety and Mood Disorder), transitions through neurological misclassifications (Epilepsy and ADHD), and eventually converges toward sleep-related diagnoses (Sleep Disorder, Sleep Apnea) just before narcolepsy is identified.</a:t>
            </a:r>
          </a:p>
          <a:p>
            <a:pPr marL="171450" indent="-171450">
              <a:spcBef>
                <a:spcPts val="600"/>
              </a:spcBef>
              <a:buFont typeface="Arial" panose="020B0604020202020204" pitchFamily="34" charset="0"/>
              <a:buChar char="•"/>
            </a:pPr>
            <a:r>
              <a:rPr lang="en-US" sz="1200" dirty="0">
                <a:solidFill>
                  <a:schemeClr val="tx1"/>
                </a:solidFill>
                <a:cs typeface="Arial" panose="020B0604020202020204" pitchFamily="34" charset="0"/>
              </a:rPr>
              <a:t>The proximity of a misdiagnosis to NT identification varies significantly by condition: </a:t>
            </a:r>
            <a:r>
              <a:rPr lang="en-US" sz="1200" b="1" dirty="0">
                <a:solidFill>
                  <a:schemeClr val="accent1"/>
                </a:solidFill>
                <a:cs typeface="Arial" panose="020B0604020202020204" pitchFamily="34" charset="0"/>
              </a:rPr>
              <a:t>Sleep Apnea and Sleep Disorder consistently appear as the final misdiagnosis before NT is confirmed, making the HCPs managing these patients, even beyond sleep specialists, the most actionable intervention point</a:t>
            </a:r>
          </a:p>
          <a:p>
            <a:pPr marL="171450" indent="-171450">
              <a:spcBef>
                <a:spcPts val="600"/>
              </a:spcBef>
              <a:buFont typeface="Arial" panose="020B0604020202020204" pitchFamily="34" charset="0"/>
              <a:buChar char="•"/>
            </a:pPr>
            <a:r>
              <a:rPr lang="en-US" sz="1200" dirty="0">
                <a:solidFill>
                  <a:schemeClr val="tx1"/>
                </a:solidFill>
                <a:cs typeface="Arial" panose="020B0604020202020204" pitchFamily="34" charset="0"/>
              </a:rPr>
              <a:t>Early journey HCPs: Those managing Fatigue, Anxiety, Mood Disorder pose an opportunity for awareness and earlier NT suspicion</a:t>
            </a:r>
          </a:p>
          <a:p>
            <a:pPr marL="171450" indent="-171450">
              <a:spcBef>
                <a:spcPts val="600"/>
              </a:spcBef>
              <a:buFont typeface="Arial" panose="020B0604020202020204" pitchFamily="34" charset="0"/>
              <a:buChar char="•"/>
            </a:pPr>
            <a:r>
              <a:rPr lang="en-US" sz="1200" dirty="0">
                <a:solidFill>
                  <a:schemeClr val="tx1"/>
                </a:solidFill>
                <a:cs typeface="Arial" panose="020B0604020202020204" pitchFamily="34" charset="0"/>
              </a:rPr>
              <a:t>Late journey HCPs: Those managing Sleep Apnea and ADHD showcase opportunity on building confirmation confidence for faster NT referrals &amp; Diagnosis</a:t>
            </a:r>
          </a:p>
        </p:txBody>
      </p:sp>
      <p:grpSp>
        <p:nvGrpSpPr>
          <p:cNvPr id="4" name="Group 3">
            <a:extLst>
              <a:ext uri="{FF2B5EF4-FFF2-40B4-BE49-F238E27FC236}">
                <a16:creationId xmlns:a16="http://schemas.microsoft.com/office/drawing/2014/main" id="{20BE8A77-88E7-507C-628A-466454D91544}"/>
              </a:ext>
            </a:extLst>
          </p:cNvPr>
          <p:cNvGrpSpPr/>
          <p:nvPr/>
        </p:nvGrpSpPr>
        <p:grpSpPr>
          <a:xfrm>
            <a:off x="1113" y="4985287"/>
            <a:ext cx="5795965" cy="319265"/>
            <a:chOff x="0" y="2140992"/>
            <a:chExt cx="2880042" cy="347180"/>
          </a:xfrm>
        </p:grpSpPr>
        <p:sp>
          <p:nvSpPr>
            <p:cNvPr id="6" name="TextBox 5">
              <a:extLst>
                <a:ext uri="{FF2B5EF4-FFF2-40B4-BE49-F238E27FC236}">
                  <a16:creationId xmlns:a16="http://schemas.microsoft.com/office/drawing/2014/main" id="{221549BE-BE08-9FE2-8366-4450CFFD8169}"/>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424911C-B5C9-B4EA-2C3A-A2EDB805049E}"/>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aphicFrame>
        <p:nvGraphicFramePr>
          <p:cNvPr id="10" name="Table 9">
            <a:extLst>
              <a:ext uri="{FF2B5EF4-FFF2-40B4-BE49-F238E27FC236}">
                <a16:creationId xmlns:a16="http://schemas.microsoft.com/office/drawing/2014/main" id="{FC27EBC2-9AB0-B82A-B51C-CEA5F2275CB0}"/>
              </a:ext>
            </a:extLst>
          </p:cNvPr>
          <p:cNvGraphicFramePr>
            <a:graphicFrameLocks noGrp="1"/>
          </p:cNvGraphicFramePr>
          <p:nvPr/>
        </p:nvGraphicFramePr>
        <p:xfrm>
          <a:off x="239347" y="1299814"/>
          <a:ext cx="11652618" cy="3537308"/>
        </p:xfrm>
        <a:graphic>
          <a:graphicData uri="http://schemas.openxmlformats.org/drawingml/2006/table">
            <a:tbl>
              <a:tblPr>
                <a:tableStyleId>{F5AB1C69-6EDB-4FF4-983F-18BD219EF322}</a:tableStyleId>
              </a:tblPr>
              <a:tblGrid>
                <a:gridCol w="1834208">
                  <a:extLst>
                    <a:ext uri="{9D8B030D-6E8A-4147-A177-3AD203B41FA5}">
                      <a16:colId xmlns:a16="http://schemas.microsoft.com/office/drawing/2014/main" val="3081656718"/>
                    </a:ext>
                  </a:extLst>
                </a:gridCol>
                <a:gridCol w="1402630">
                  <a:extLst>
                    <a:ext uri="{9D8B030D-6E8A-4147-A177-3AD203B41FA5}">
                      <a16:colId xmlns:a16="http://schemas.microsoft.com/office/drawing/2014/main" val="1486693464"/>
                    </a:ext>
                  </a:extLst>
                </a:gridCol>
                <a:gridCol w="1402630">
                  <a:extLst>
                    <a:ext uri="{9D8B030D-6E8A-4147-A177-3AD203B41FA5}">
                      <a16:colId xmlns:a16="http://schemas.microsoft.com/office/drawing/2014/main" val="3434168378"/>
                    </a:ext>
                  </a:extLst>
                </a:gridCol>
                <a:gridCol w="1402630">
                  <a:extLst>
                    <a:ext uri="{9D8B030D-6E8A-4147-A177-3AD203B41FA5}">
                      <a16:colId xmlns:a16="http://schemas.microsoft.com/office/drawing/2014/main" val="3044137385"/>
                    </a:ext>
                  </a:extLst>
                </a:gridCol>
                <a:gridCol w="1402630">
                  <a:extLst>
                    <a:ext uri="{9D8B030D-6E8A-4147-A177-3AD203B41FA5}">
                      <a16:colId xmlns:a16="http://schemas.microsoft.com/office/drawing/2014/main" val="3043087865"/>
                    </a:ext>
                  </a:extLst>
                </a:gridCol>
                <a:gridCol w="1402630">
                  <a:extLst>
                    <a:ext uri="{9D8B030D-6E8A-4147-A177-3AD203B41FA5}">
                      <a16:colId xmlns:a16="http://schemas.microsoft.com/office/drawing/2014/main" val="1643672433"/>
                    </a:ext>
                  </a:extLst>
                </a:gridCol>
                <a:gridCol w="1402630">
                  <a:extLst>
                    <a:ext uri="{9D8B030D-6E8A-4147-A177-3AD203B41FA5}">
                      <a16:colId xmlns:a16="http://schemas.microsoft.com/office/drawing/2014/main" val="2679980646"/>
                    </a:ext>
                  </a:extLst>
                </a:gridCol>
                <a:gridCol w="1402630">
                  <a:extLst>
                    <a:ext uri="{9D8B030D-6E8A-4147-A177-3AD203B41FA5}">
                      <a16:colId xmlns:a16="http://schemas.microsoft.com/office/drawing/2014/main" val="708283036"/>
                    </a:ext>
                  </a:extLst>
                </a:gridCol>
              </a:tblGrid>
              <a:tr h="182880">
                <a:tc>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gridSpan="4">
                  <a:txBody>
                    <a:bodyPr/>
                    <a:lstStyle/>
                    <a:p>
                      <a:pPr algn="ctr" fontAlgn="ctr">
                        <a:buNone/>
                      </a:pPr>
                      <a:r>
                        <a:rPr lang="en-US" sz="1200" b="1" i="0" u="none" strike="noStrike" dirty="0">
                          <a:solidFill>
                            <a:schemeClr val="bg1"/>
                          </a:solidFill>
                          <a:effectLst/>
                          <a:latin typeface="Calibri" panose="020F0502020204030204" pitchFamily="34" charset="0"/>
                        </a:rPr>
                        <a:t>Where in the patient Journey are patients getting dropped</a:t>
                      </a:r>
                    </a:p>
                  </a:txBody>
                  <a:tcPr marL="6045" marR="6045" marT="6045" marB="0" anchor="ctr">
                    <a:solidFill>
                      <a:schemeClr val="accent1"/>
                    </a:solidFill>
                  </a:tcPr>
                </a:tc>
                <a:tc hMerge="1">
                  <a:txBody>
                    <a:bodyPr/>
                    <a:lstStyle/>
                    <a:p>
                      <a:pPr algn="ctr" fontAlgn="ctr">
                        <a:buNone/>
                      </a:pPr>
                      <a:endParaRPr lang="en-US" sz="1200" b="0" i="1"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hMerge="1">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hMerge="1">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gridSpan="2">
                  <a:txBody>
                    <a:bodyPr/>
                    <a:lstStyle/>
                    <a:p>
                      <a:pPr algn="ctr" fontAlgn="ctr">
                        <a:buNone/>
                      </a:pPr>
                      <a:r>
                        <a:rPr lang="en-US" sz="1200" b="1" i="0" u="none" strike="noStrike" dirty="0">
                          <a:solidFill>
                            <a:schemeClr val="bg1"/>
                          </a:solidFill>
                          <a:effectLst/>
                          <a:latin typeface="Calibri" panose="020F0502020204030204" pitchFamily="34" charset="0"/>
                        </a:rPr>
                        <a:t>Traits associated with these Leakage points</a:t>
                      </a:r>
                    </a:p>
                  </a:txBody>
                  <a:tcPr marL="6045" marR="6045" marT="6045" marB="0" anchor="ctr">
                    <a:solidFill>
                      <a:schemeClr val="accent1"/>
                    </a:solidFill>
                  </a:tcPr>
                </a:tc>
                <a:tc hMerge="1">
                  <a:txBody>
                    <a:bodyPr/>
                    <a:lstStyle/>
                    <a:p>
                      <a:pPr algn="ctr" fontAlgn="ctr">
                        <a:buNone/>
                      </a:pP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extLst>
                  <a:ext uri="{0D108BD9-81ED-4DB2-BD59-A6C34878D82A}">
                    <a16:rowId xmlns:a16="http://schemas.microsoft.com/office/drawing/2014/main" val="507562316"/>
                  </a:ext>
                </a:extLst>
              </a:tr>
              <a:tr h="712678">
                <a:tc>
                  <a:txBody>
                    <a:bodyPr/>
                    <a:lstStyle/>
                    <a:p>
                      <a:pPr algn="ctr" fontAlgn="ctr">
                        <a:buNone/>
                      </a:pPr>
                      <a:r>
                        <a:rPr lang="en-US" sz="1200" b="1" u="none" strike="noStrike" dirty="0">
                          <a:solidFill>
                            <a:schemeClr val="bg1"/>
                          </a:solidFill>
                          <a:effectLst/>
                        </a:rPr>
                        <a:t>Misdiagnosis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Number of Patients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 of Patients that get this misdiagnosis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Avg Delay per Patient</a:t>
                      </a:r>
                      <a:br>
                        <a:rPr lang="en-US" sz="1200" b="1" u="none" strike="noStrike" dirty="0">
                          <a:solidFill>
                            <a:schemeClr val="bg1"/>
                          </a:solidFill>
                          <a:effectLst/>
                        </a:rPr>
                      </a:br>
                      <a:r>
                        <a:rPr lang="en-US" sz="1200" b="0" i="1" u="none" strike="noStrike" dirty="0">
                          <a:solidFill>
                            <a:schemeClr val="bg1"/>
                          </a:solidFill>
                          <a:effectLst/>
                        </a:rPr>
                        <a:t>(# days)</a:t>
                      </a:r>
                      <a:endParaRPr lang="en-US" sz="1200" b="0" i="1"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Median Delay per Patient</a:t>
                      </a:r>
                      <a:br>
                        <a:rPr lang="en-US" sz="1200" b="1" u="none" strike="noStrike" dirty="0">
                          <a:solidFill>
                            <a:schemeClr val="bg1"/>
                          </a:solidFill>
                          <a:effectLst/>
                        </a:rPr>
                      </a:br>
                      <a:r>
                        <a:rPr lang="en-US" sz="1200" b="0" i="1" u="none" strike="noStrike" dirty="0">
                          <a:solidFill>
                            <a:schemeClr val="bg1"/>
                          </a:solidFill>
                          <a:effectLst/>
                        </a:rPr>
                        <a:t>(# days)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u="none" strike="noStrike" dirty="0">
                          <a:solidFill>
                            <a:schemeClr val="bg1"/>
                          </a:solidFill>
                          <a:effectLst/>
                        </a:rPr>
                        <a:t>Total Delay for all Patients</a:t>
                      </a:r>
                      <a:br>
                        <a:rPr lang="en-US" sz="1200" b="1" u="none" strike="noStrike" dirty="0">
                          <a:solidFill>
                            <a:schemeClr val="bg1"/>
                          </a:solidFill>
                          <a:effectLst/>
                        </a:rPr>
                      </a:br>
                      <a:r>
                        <a:rPr lang="en-US" sz="1200" b="0" i="1" u="none" strike="noStrike" dirty="0">
                          <a:solidFill>
                            <a:schemeClr val="bg1"/>
                          </a:solidFill>
                          <a:effectLst/>
                        </a:rPr>
                        <a:t>(# days)</a:t>
                      </a:r>
                      <a:endParaRPr lang="en-US" sz="1200" b="1" i="0" u="none" strike="noStrike" dirty="0">
                        <a:solidFill>
                          <a:schemeClr val="bg1"/>
                        </a:solidFill>
                        <a:effectLst/>
                        <a:latin typeface="Calibri" panose="020F0502020204030204" pitchFamily="34" charset="0"/>
                      </a:endParaRPr>
                    </a:p>
                  </a:txBody>
                  <a:tcPr marL="6045" marR="6045" marT="6045" marB="0" anchor="ctr">
                    <a:solidFill>
                      <a:schemeClr val="accent1"/>
                    </a:solidFill>
                  </a:tcPr>
                </a:tc>
                <a:tc>
                  <a:txBody>
                    <a:bodyPr/>
                    <a:lstStyle/>
                    <a:p>
                      <a:pPr algn="ctr" fontAlgn="ctr">
                        <a:buNone/>
                      </a:pPr>
                      <a:r>
                        <a:rPr lang="en-US" sz="1200" b="1" i="0" u="none" strike="noStrike" dirty="0">
                          <a:solidFill>
                            <a:schemeClr val="bg1"/>
                          </a:solidFill>
                          <a:effectLst/>
                          <a:latin typeface="Calibri" panose="020F0502020204030204" pitchFamily="34" charset="0"/>
                        </a:rPr>
                        <a:t>Avg Days to NT Dx</a:t>
                      </a:r>
                      <a:br>
                        <a:rPr lang="en-US" sz="1200" b="1" i="0" u="none" strike="noStrike" dirty="0">
                          <a:solidFill>
                            <a:schemeClr val="bg1"/>
                          </a:solidFill>
                          <a:effectLst/>
                          <a:latin typeface="Calibri" panose="020F0502020204030204" pitchFamily="34" charset="0"/>
                        </a:rPr>
                      </a:br>
                      <a:r>
                        <a:rPr lang="en-US" sz="1200" b="1" i="0" u="none" strike="noStrike" dirty="0">
                          <a:solidFill>
                            <a:schemeClr val="bg1"/>
                          </a:solidFill>
                          <a:effectLst/>
                          <a:latin typeface="Calibri" panose="020F0502020204030204" pitchFamily="34" charset="0"/>
                        </a:rPr>
                        <a:t>(from the Last Dx)</a:t>
                      </a:r>
                    </a:p>
                  </a:txBody>
                  <a:tcPr marL="6045" marR="6045" marT="6045" marB="0" anchor="ctr">
                    <a:solidFill>
                      <a:schemeClr val="accent1"/>
                    </a:solidFill>
                  </a:tcPr>
                </a:tc>
                <a:tc>
                  <a:txBody>
                    <a:bodyPr/>
                    <a:lstStyle/>
                    <a:p>
                      <a:pPr algn="ctr" fontAlgn="ctr">
                        <a:buNone/>
                      </a:pPr>
                      <a:r>
                        <a:rPr lang="en-US" sz="1200" b="1" i="0" u="none" strike="noStrike" dirty="0">
                          <a:solidFill>
                            <a:schemeClr val="bg1"/>
                          </a:solidFill>
                          <a:effectLst/>
                          <a:latin typeface="Calibri" panose="020F0502020204030204" pitchFamily="34" charset="0"/>
                        </a:rPr>
                        <a:t>Median Days to NT Dx</a:t>
                      </a:r>
                      <a:br>
                        <a:rPr lang="en-US" sz="1200" b="1" i="0" u="none" strike="noStrike" dirty="0">
                          <a:solidFill>
                            <a:schemeClr val="bg1"/>
                          </a:solidFill>
                          <a:effectLst/>
                          <a:latin typeface="Calibri" panose="020F0502020204030204" pitchFamily="34" charset="0"/>
                        </a:rPr>
                      </a:br>
                      <a:r>
                        <a:rPr lang="en-US" sz="1200" b="1" i="0" u="none" strike="noStrike" dirty="0">
                          <a:solidFill>
                            <a:schemeClr val="bg1"/>
                          </a:solidFill>
                          <a:effectLst/>
                          <a:latin typeface="Calibri" panose="020F0502020204030204" pitchFamily="34" charset="0"/>
                        </a:rPr>
                        <a:t>(from the Last Dx)</a:t>
                      </a:r>
                    </a:p>
                  </a:txBody>
                  <a:tcPr marL="6045" marR="6045" marT="6045" marB="0" anchor="ctr">
                    <a:solidFill>
                      <a:schemeClr val="accent1"/>
                    </a:solidFill>
                  </a:tcPr>
                </a:tc>
                <a:extLst>
                  <a:ext uri="{0D108BD9-81ED-4DB2-BD59-A6C34878D82A}">
                    <a16:rowId xmlns:a16="http://schemas.microsoft.com/office/drawing/2014/main" val="2400844885"/>
                  </a:ext>
                </a:extLst>
              </a:tr>
              <a:tr h="269686">
                <a:tc>
                  <a:txBody>
                    <a:bodyPr/>
                    <a:lstStyle/>
                    <a:p>
                      <a:pPr algn="ctr" fontAlgn="ctr">
                        <a:buNone/>
                      </a:pPr>
                      <a:r>
                        <a:rPr lang="en-US" sz="1100" u="none" strike="noStrike" dirty="0">
                          <a:effectLst/>
                        </a:rPr>
                        <a:t>Anxiety Disorder</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23,680</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70%</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a:effectLst/>
                        </a:rPr>
                        <a:t>359</a:t>
                      </a:r>
                      <a:endParaRPr lang="en-US" sz="11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a:effectLst/>
                        </a:rPr>
                        <a:t>226</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8,492,939</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335.47</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122</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785940490"/>
                  </a:ext>
                </a:extLst>
              </a:tr>
              <a:tr h="269686">
                <a:tc>
                  <a:txBody>
                    <a:bodyPr/>
                    <a:lstStyle/>
                    <a:p>
                      <a:pPr algn="ctr" fontAlgn="ctr">
                        <a:buNone/>
                      </a:pPr>
                      <a:r>
                        <a:rPr lang="en-US" sz="1100" u="none" strike="noStrike">
                          <a:effectLst/>
                        </a:rPr>
                        <a:t>Mood Disorder</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ctr">
                        <a:buNone/>
                      </a:pPr>
                      <a:r>
                        <a:rPr lang="en-US" sz="1100" u="none" strike="noStrike" dirty="0">
                          <a:effectLst/>
                        </a:rPr>
                        <a:t>24,554</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ctr">
                        <a:buNone/>
                      </a:pPr>
                      <a:r>
                        <a:rPr lang="en-US" sz="1100" u="none" strike="noStrike" dirty="0">
                          <a:effectLst/>
                        </a:rPr>
                        <a:t>72%</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b">
                        <a:buNone/>
                      </a:pPr>
                      <a:r>
                        <a:rPr lang="en-US" sz="1100" u="none" strike="noStrike">
                          <a:effectLst/>
                        </a:rPr>
                        <a:t>361</a:t>
                      </a:r>
                      <a:endParaRPr lang="en-US" sz="1100" b="0" i="0" u="none" strike="noStrike">
                        <a:solidFill>
                          <a:srgbClr val="000000"/>
                        </a:solidFill>
                        <a:effectLst/>
                        <a:latin typeface="Calibri" panose="020F0502020204030204" pitchFamily="34" charset="0"/>
                      </a:endParaRPr>
                    </a:p>
                  </a:txBody>
                  <a:tcPr marL="6045" marR="6045" marT="6045" marB="0" anchor="ctr">
                    <a:solidFill>
                      <a:schemeClr val="bg2"/>
                    </a:solidFill>
                  </a:tcPr>
                </a:tc>
                <a:tc>
                  <a:txBody>
                    <a:bodyPr/>
                    <a:lstStyle/>
                    <a:p>
                      <a:pPr algn="ctr" fontAlgn="ctr">
                        <a:buNone/>
                      </a:pPr>
                      <a:r>
                        <a:rPr lang="en-US" sz="1100" u="none" strike="noStrike">
                          <a:effectLst/>
                        </a:rPr>
                        <a:t>225</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ctr">
                        <a:buNone/>
                      </a:pPr>
                      <a:r>
                        <a:rPr lang="en-US" sz="1100" u="none" strike="noStrike" dirty="0">
                          <a:effectLst/>
                        </a:rPr>
                        <a:t>8,857,740</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2"/>
                    </a:solidFill>
                  </a:tcPr>
                </a:tc>
                <a:tc>
                  <a:txBody>
                    <a:bodyPr/>
                    <a:lstStyle/>
                    <a:p>
                      <a:pPr algn="ctr" fontAlgn="ctr">
                        <a:buNone/>
                      </a:pPr>
                      <a:r>
                        <a:rPr lang="en-US" sz="1100" u="none" strike="noStrike" dirty="0">
                          <a:solidFill>
                            <a:schemeClr val="accent3">
                              <a:lumMod val="50000"/>
                            </a:schemeClr>
                          </a:solidFill>
                          <a:effectLst/>
                        </a:rPr>
                        <a:t>318.95</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2"/>
                    </a:solidFill>
                  </a:tcPr>
                </a:tc>
                <a:tc>
                  <a:txBody>
                    <a:bodyPr/>
                    <a:lstStyle/>
                    <a:p>
                      <a:pPr algn="ctr" fontAlgn="ctr">
                        <a:buNone/>
                      </a:pPr>
                      <a:r>
                        <a:rPr lang="en-US" sz="1100" u="none" strike="noStrike" dirty="0">
                          <a:solidFill>
                            <a:schemeClr val="accent3">
                              <a:lumMod val="50000"/>
                            </a:schemeClr>
                          </a:solidFill>
                          <a:effectLst/>
                        </a:rPr>
                        <a:t>117</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2"/>
                    </a:solidFill>
                  </a:tcPr>
                </a:tc>
                <a:extLst>
                  <a:ext uri="{0D108BD9-81ED-4DB2-BD59-A6C34878D82A}">
                    <a16:rowId xmlns:a16="http://schemas.microsoft.com/office/drawing/2014/main" val="3107227758"/>
                  </a:ext>
                </a:extLst>
              </a:tr>
              <a:tr h="269686">
                <a:tc>
                  <a:txBody>
                    <a:bodyPr/>
                    <a:lstStyle/>
                    <a:p>
                      <a:pPr algn="ctr" fontAlgn="ctr">
                        <a:buNone/>
                      </a:pPr>
                      <a:r>
                        <a:rPr lang="en-US" sz="1100" u="none" strike="noStrike" dirty="0">
                          <a:effectLst/>
                        </a:rPr>
                        <a:t>ADHD</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8,216</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24%</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dirty="0">
                          <a:effectLst/>
                        </a:rPr>
                        <a:t>346</a:t>
                      </a:r>
                      <a:endParaRPr lang="en-US" sz="11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a:effectLst/>
                        </a:rPr>
                        <a:t>213</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2,846,010</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331.42</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98</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491200668"/>
                  </a:ext>
                </a:extLst>
              </a:tr>
              <a:tr h="478217">
                <a:tc>
                  <a:txBody>
                    <a:bodyPr/>
                    <a:lstStyle/>
                    <a:p>
                      <a:pPr algn="ctr" fontAlgn="ctr">
                        <a:buNone/>
                      </a:pPr>
                      <a:r>
                        <a:rPr lang="en-US" sz="1100" u="none" strike="noStrike">
                          <a:effectLst/>
                        </a:rPr>
                        <a:t>Chronic Pulmonary Disease</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4,782</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14%</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b">
                        <a:buNone/>
                      </a:pPr>
                      <a:r>
                        <a:rPr lang="en-US" sz="1100" u="none" strike="noStrike" dirty="0">
                          <a:effectLst/>
                        </a:rPr>
                        <a:t>328</a:t>
                      </a:r>
                      <a:endParaRPr lang="en-US" sz="1100" b="0" i="0" u="none" strike="noStrike" dirty="0">
                        <a:solidFill>
                          <a:srgbClr val="000000"/>
                        </a:solidFill>
                        <a:effectLst/>
                        <a:latin typeface="Calibri" panose="020F0502020204030204" pitchFamily="34" charset="0"/>
                      </a:endParaRPr>
                    </a:p>
                  </a:txBody>
                  <a:tcPr marL="6045" marR="6045" marT="6045" marB="0" anchor="ctr">
                    <a:solidFill>
                      <a:schemeClr val="bg1"/>
                    </a:solidFill>
                  </a:tcPr>
                </a:tc>
                <a:tc>
                  <a:txBody>
                    <a:bodyPr/>
                    <a:lstStyle/>
                    <a:p>
                      <a:pPr algn="ctr" fontAlgn="ctr">
                        <a:buNone/>
                      </a:pPr>
                      <a:r>
                        <a:rPr lang="en-US" sz="1100" u="none" strike="noStrike">
                          <a:effectLst/>
                        </a:rPr>
                        <a:t>153</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1,566,489</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361.15</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130</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extLst>
                  <a:ext uri="{0D108BD9-81ED-4DB2-BD59-A6C34878D82A}">
                    <a16:rowId xmlns:a16="http://schemas.microsoft.com/office/drawing/2014/main" val="1224730998"/>
                  </a:ext>
                </a:extLst>
              </a:tr>
              <a:tr h="269686">
                <a:tc>
                  <a:txBody>
                    <a:bodyPr/>
                    <a:lstStyle/>
                    <a:p>
                      <a:pPr algn="ctr" fontAlgn="ctr">
                        <a:buNone/>
                      </a:pPr>
                      <a:r>
                        <a:rPr lang="en-US" sz="1100" u="none" strike="noStrike">
                          <a:effectLst/>
                        </a:rPr>
                        <a:t>Epilepsy</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2,907</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9%</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dirty="0">
                          <a:effectLst/>
                        </a:rPr>
                        <a:t>234</a:t>
                      </a:r>
                      <a:endParaRPr lang="en-US" sz="11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dirty="0">
                          <a:effectLst/>
                        </a:rPr>
                        <a:t>97</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679,325</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409.82</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179</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35959575"/>
                  </a:ext>
                </a:extLst>
              </a:tr>
              <a:tr h="269686">
                <a:tc>
                  <a:txBody>
                    <a:bodyPr/>
                    <a:lstStyle/>
                    <a:p>
                      <a:pPr algn="ctr" fontAlgn="ctr">
                        <a:buNone/>
                      </a:pPr>
                      <a:r>
                        <a:rPr lang="en-US" sz="1100" u="none" strike="noStrike" dirty="0">
                          <a:effectLst/>
                        </a:rPr>
                        <a:t>Sleep Apnea</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18,953</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56%</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marL="0" algn="ctr" defTabSz="914150" rtl="0" eaLnBrk="1" fontAlgn="b" latinLnBrk="0" hangingPunct="1">
                        <a:buNone/>
                      </a:pPr>
                      <a:r>
                        <a:rPr kumimoji="1" lang="en-US" sz="1100" u="none" strike="noStrike" kern="1200" dirty="0">
                          <a:solidFill>
                            <a:schemeClr val="dk1"/>
                          </a:solidFill>
                          <a:effectLst/>
                          <a:latin typeface="+mn-lt"/>
                          <a:ea typeface="+mn-ea"/>
                          <a:cs typeface="+mn-cs"/>
                        </a:rPr>
                        <a:t>344</a:t>
                      </a:r>
                    </a:p>
                  </a:txBody>
                  <a:tcPr marL="6045" marR="6045" marT="6045" marB="0" anchor="ctr">
                    <a:solidFill>
                      <a:schemeClr val="bg1"/>
                    </a:solidFill>
                  </a:tcPr>
                </a:tc>
                <a:tc>
                  <a:txBody>
                    <a:bodyPr/>
                    <a:lstStyle/>
                    <a:p>
                      <a:pPr algn="ctr" fontAlgn="ctr">
                        <a:buNone/>
                      </a:pPr>
                      <a:r>
                        <a:rPr lang="en-US" sz="1100" u="none" strike="noStrike" dirty="0">
                          <a:effectLst/>
                        </a:rPr>
                        <a:t>208</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6,512,208</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248.29</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43</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extLst>
                  <a:ext uri="{0D108BD9-81ED-4DB2-BD59-A6C34878D82A}">
                    <a16:rowId xmlns:a16="http://schemas.microsoft.com/office/drawing/2014/main" val="945264330"/>
                  </a:ext>
                </a:extLst>
              </a:tr>
              <a:tr h="269686">
                <a:tc>
                  <a:txBody>
                    <a:bodyPr/>
                    <a:lstStyle/>
                    <a:p>
                      <a:pPr algn="ctr" fontAlgn="ctr">
                        <a:buNone/>
                      </a:pPr>
                      <a:r>
                        <a:rPr lang="en-US" sz="1100" u="none" strike="noStrike">
                          <a:effectLst/>
                        </a:rPr>
                        <a:t>Sleep Disorder</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21,697</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64%</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dirty="0">
                          <a:effectLst/>
                        </a:rPr>
                        <a:t>171</a:t>
                      </a:r>
                      <a:endParaRPr lang="en-US" sz="11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dirty="0">
                          <a:effectLst/>
                        </a:rPr>
                        <a:t>97</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3,705,528</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324.17</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89</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432048037"/>
                  </a:ext>
                </a:extLst>
              </a:tr>
              <a:tr h="269686">
                <a:tc>
                  <a:txBody>
                    <a:bodyPr/>
                    <a:lstStyle/>
                    <a:p>
                      <a:pPr algn="ctr" fontAlgn="ctr">
                        <a:buNone/>
                      </a:pPr>
                      <a:r>
                        <a:rPr lang="en-US" sz="1100" u="none" strike="noStrike">
                          <a:effectLst/>
                        </a:rPr>
                        <a:t>IH</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2,155</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a:effectLst/>
                        </a:rPr>
                        <a:t>6%</a:t>
                      </a:r>
                      <a:endParaRPr lang="en-US" sz="1100" b="0" i="0" u="none" strike="noStrike">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b">
                        <a:buNone/>
                      </a:pPr>
                      <a:r>
                        <a:rPr lang="en-US" sz="1100" u="none" strike="noStrike">
                          <a:effectLst/>
                        </a:rPr>
                        <a:t>141</a:t>
                      </a:r>
                      <a:endParaRPr lang="en-US" sz="1100" b="0" i="0" u="none" strike="noStrike">
                        <a:solidFill>
                          <a:srgbClr val="000000"/>
                        </a:solidFill>
                        <a:effectLst/>
                        <a:latin typeface="Calibri" panose="020F050202020403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62</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effectLst/>
                        </a:rPr>
                        <a:t>304,070</a:t>
                      </a:r>
                      <a:endParaRPr lang="en-US" sz="1100" b="0" i="0" u="none" strike="noStrike" dirty="0">
                        <a:solidFill>
                          <a:srgbClr val="000000"/>
                        </a:solidFill>
                        <a:effectLst/>
                        <a:latin typeface="Aptos Narrow" panose="020B0004020202020204" pitchFamily="34" charset="0"/>
                      </a:endParaRPr>
                    </a:p>
                  </a:txBody>
                  <a:tcPr marL="6045" marR="6045" marT="6045"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317.81</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tc>
                  <a:txBody>
                    <a:bodyPr/>
                    <a:lstStyle/>
                    <a:p>
                      <a:pPr algn="ctr" fontAlgn="ctr">
                        <a:buNone/>
                      </a:pPr>
                      <a:r>
                        <a:rPr lang="en-US" sz="1100" u="none" strike="noStrike" dirty="0">
                          <a:solidFill>
                            <a:schemeClr val="accent3">
                              <a:lumMod val="50000"/>
                            </a:schemeClr>
                          </a:solidFill>
                          <a:effectLst/>
                        </a:rPr>
                        <a:t>94</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solidFill>
                      <a:schemeClr val="bg1"/>
                    </a:solidFill>
                  </a:tcPr>
                </a:tc>
                <a:extLst>
                  <a:ext uri="{0D108BD9-81ED-4DB2-BD59-A6C34878D82A}">
                    <a16:rowId xmlns:a16="http://schemas.microsoft.com/office/drawing/2014/main" val="254479943"/>
                  </a:ext>
                </a:extLst>
              </a:tr>
              <a:tr h="269686">
                <a:tc>
                  <a:txBody>
                    <a:bodyPr/>
                    <a:lstStyle/>
                    <a:p>
                      <a:pPr algn="ctr" fontAlgn="ctr">
                        <a:buNone/>
                      </a:pPr>
                      <a:r>
                        <a:rPr lang="en-US" sz="1100" u="none" strike="noStrike" dirty="0">
                          <a:effectLst/>
                        </a:rPr>
                        <a:t>Fatigue</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21,613</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a:effectLst/>
                        </a:rPr>
                        <a:t>64%</a:t>
                      </a:r>
                      <a:endParaRPr lang="en-US" sz="1100" b="0" i="0" u="none" strike="noStrike">
                        <a:solidFill>
                          <a:srgbClr val="000000"/>
                        </a:solidFill>
                        <a:effectLst/>
                        <a:latin typeface="Aptos Narrow" panose="020B0004020202020204" pitchFamily="34" charset="0"/>
                      </a:endParaRPr>
                    </a:p>
                  </a:txBody>
                  <a:tcPr marL="6045" marR="6045" marT="6045" marB="0" anchor="ctr"/>
                </a:tc>
                <a:tc>
                  <a:txBody>
                    <a:bodyPr/>
                    <a:lstStyle/>
                    <a:p>
                      <a:pPr algn="ctr" fontAlgn="b">
                        <a:buNone/>
                      </a:pPr>
                      <a:r>
                        <a:rPr lang="en-US" sz="1100" u="none" strike="noStrike">
                          <a:effectLst/>
                        </a:rPr>
                        <a:t>129</a:t>
                      </a:r>
                      <a:endParaRPr lang="en-US" sz="11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ctr">
                        <a:buNone/>
                      </a:pPr>
                      <a:r>
                        <a:rPr lang="en-US" sz="1100" u="none" strike="noStrike" dirty="0">
                          <a:effectLst/>
                        </a:rPr>
                        <a:t>72</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effectLst/>
                        </a:rPr>
                        <a:t>2,784,873</a:t>
                      </a:r>
                      <a:endParaRPr lang="en-US" sz="1100" b="0" i="0" u="none" strike="noStrike" dirty="0">
                        <a:solidFill>
                          <a:srgbClr val="000000"/>
                        </a:solidFill>
                        <a:effectLst/>
                        <a:latin typeface="Aptos Narrow" panose="020B0004020202020204" pitchFamily="34" charset="0"/>
                      </a:endParaRPr>
                    </a:p>
                  </a:txBody>
                  <a:tcPr marL="6045" marR="6045" marT="6045" marB="0" anchor="ctr"/>
                </a:tc>
                <a:tc>
                  <a:txBody>
                    <a:bodyPr/>
                    <a:lstStyle/>
                    <a:p>
                      <a:pPr algn="ctr" fontAlgn="ctr">
                        <a:buNone/>
                      </a:pPr>
                      <a:r>
                        <a:rPr lang="en-US" sz="1100" u="none" strike="noStrike" dirty="0">
                          <a:solidFill>
                            <a:schemeClr val="accent3">
                              <a:lumMod val="50000"/>
                            </a:schemeClr>
                          </a:solidFill>
                          <a:effectLst/>
                        </a:rPr>
                        <a:t>477.33</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tc>
                  <a:txBody>
                    <a:bodyPr/>
                    <a:lstStyle/>
                    <a:p>
                      <a:pPr algn="ctr" fontAlgn="ctr">
                        <a:buNone/>
                      </a:pPr>
                      <a:r>
                        <a:rPr lang="en-US" sz="1100" u="none" strike="noStrike" dirty="0">
                          <a:solidFill>
                            <a:schemeClr val="accent3">
                              <a:lumMod val="50000"/>
                            </a:schemeClr>
                          </a:solidFill>
                          <a:effectLst/>
                        </a:rPr>
                        <a:t>286</a:t>
                      </a:r>
                      <a:endParaRPr lang="en-US" sz="1100" b="0" i="0" u="none" strike="noStrike" dirty="0">
                        <a:solidFill>
                          <a:schemeClr val="accent3">
                            <a:lumMod val="50000"/>
                          </a:schemeClr>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826076843"/>
                  </a:ext>
                </a:extLst>
              </a:tr>
            </a:tbl>
          </a:graphicData>
        </a:graphic>
      </p:graphicFrame>
      <p:sp>
        <p:nvSpPr>
          <p:cNvPr id="16" name="Rectangle 15">
            <a:extLst>
              <a:ext uri="{FF2B5EF4-FFF2-40B4-BE49-F238E27FC236}">
                <a16:creationId xmlns:a16="http://schemas.microsoft.com/office/drawing/2014/main" id="{4E99A011-C6D0-732A-310F-7A9B6F3AAA52}"/>
              </a:ext>
            </a:extLst>
          </p:cNvPr>
          <p:cNvSpPr/>
          <p:nvPr/>
        </p:nvSpPr>
        <p:spPr>
          <a:xfrm>
            <a:off x="239347" y="3724275"/>
            <a:ext cx="11652618" cy="333375"/>
          </a:xfrm>
          <a:prstGeom prst="rect">
            <a:avLst/>
          </a:prstGeom>
          <a:noFill/>
          <a:ln w="190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
        <p:nvSpPr>
          <p:cNvPr id="18" name="Rectangle 17">
            <a:extLst>
              <a:ext uri="{FF2B5EF4-FFF2-40B4-BE49-F238E27FC236}">
                <a16:creationId xmlns:a16="http://schemas.microsoft.com/office/drawing/2014/main" id="{371FC270-7947-D62B-499F-14A7601CDE16}"/>
              </a:ext>
            </a:extLst>
          </p:cNvPr>
          <p:cNvSpPr/>
          <p:nvPr/>
        </p:nvSpPr>
        <p:spPr>
          <a:xfrm>
            <a:off x="239347" y="2712769"/>
            <a:ext cx="11652618" cy="333375"/>
          </a:xfrm>
          <a:prstGeom prst="rect">
            <a:avLst/>
          </a:prstGeom>
          <a:noFill/>
          <a:ln w="190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dirty="0"/>
          </a:p>
        </p:txBody>
      </p:sp>
    </p:spTree>
    <p:extLst>
      <p:ext uri="{BB962C8B-B14F-4D97-AF65-F5344CB8AC3E}">
        <p14:creationId xmlns:p14="http://schemas.microsoft.com/office/powerpoint/2010/main" val="3753992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FCB8E-4C1F-DC41-2CD2-CB1351ABB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5F477-BBA3-C05D-C0F1-8D19C22C607A}"/>
              </a:ext>
            </a:extLst>
          </p:cNvPr>
          <p:cNvSpPr>
            <a:spLocks noGrp="1"/>
          </p:cNvSpPr>
          <p:nvPr>
            <p:ph type="title"/>
          </p:nvPr>
        </p:nvSpPr>
        <p:spPr>
          <a:xfrm>
            <a:off x="606079" y="161605"/>
            <a:ext cx="9796353" cy="773879"/>
          </a:xfrm>
        </p:spPr>
        <p:txBody>
          <a:bodyPr>
            <a:noAutofit/>
          </a:bodyPr>
          <a:lstStyle/>
          <a:p>
            <a:r>
              <a:rPr lang="en-US" sz="2000"/>
              <a:t>Markov Chain Analysis Reveals Systemic Pre-Diagnosis Referral Leakage through Specialty and Persona</a:t>
            </a:r>
          </a:p>
        </p:txBody>
      </p:sp>
      <p:sp>
        <p:nvSpPr>
          <p:cNvPr id="3" name="Rectangle: Rounded Corners 2">
            <a:extLst>
              <a:ext uri="{FF2B5EF4-FFF2-40B4-BE49-F238E27FC236}">
                <a16:creationId xmlns:a16="http://schemas.microsoft.com/office/drawing/2014/main" id="{3584D88D-C7D4-3580-4675-C515C97411D5}"/>
              </a:ext>
            </a:extLst>
          </p:cNvPr>
          <p:cNvSpPr/>
          <p:nvPr/>
        </p:nvSpPr>
        <p:spPr>
          <a:xfrm>
            <a:off x="1117" y="6464808"/>
            <a:ext cx="12190881" cy="393184"/>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endParaRPr lang="en-US" sz="1200">
              <a:solidFill>
                <a:schemeClr val="tx1"/>
              </a:solidFill>
              <a:cs typeface="Arial" panose="020B0604020202020204" pitchFamily="34" charset="0"/>
            </a:endParaRPr>
          </a:p>
        </p:txBody>
      </p:sp>
      <p:graphicFrame>
        <p:nvGraphicFramePr>
          <p:cNvPr id="11" name="Table 10">
            <a:extLst>
              <a:ext uri="{FF2B5EF4-FFF2-40B4-BE49-F238E27FC236}">
                <a16:creationId xmlns:a16="http://schemas.microsoft.com/office/drawing/2014/main" id="{1F384452-DADB-90FE-EBD8-99BA59BAD502}"/>
              </a:ext>
            </a:extLst>
          </p:cNvPr>
          <p:cNvGraphicFramePr>
            <a:graphicFrameLocks noGrp="1"/>
          </p:cNvGraphicFramePr>
          <p:nvPr/>
        </p:nvGraphicFramePr>
        <p:xfrm>
          <a:off x="7579505" y="1252129"/>
          <a:ext cx="4389120" cy="3534872"/>
        </p:xfrm>
        <a:graphic>
          <a:graphicData uri="http://schemas.openxmlformats.org/drawingml/2006/table">
            <a:tbl>
              <a:tblPr>
                <a:tableStyleId>{F5AB1C69-6EDB-4FF4-983F-18BD219EF322}</a:tableStyleId>
              </a:tblPr>
              <a:tblGrid>
                <a:gridCol w="731520">
                  <a:extLst>
                    <a:ext uri="{9D8B030D-6E8A-4147-A177-3AD203B41FA5}">
                      <a16:colId xmlns:a16="http://schemas.microsoft.com/office/drawing/2014/main" val="1486693464"/>
                    </a:ext>
                  </a:extLst>
                </a:gridCol>
                <a:gridCol w="731520">
                  <a:extLst>
                    <a:ext uri="{9D8B030D-6E8A-4147-A177-3AD203B41FA5}">
                      <a16:colId xmlns:a16="http://schemas.microsoft.com/office/drawing/2014/main" val="3434168378"/>
                    </a:ext>
                  </a:extLst>
                </a:gridCol>
                <a:gridCol w="731520">
                  <a:extLst>
                    <a:ext uri="{9D8B030D-6E8A-4147-A177-3AD203B41FA5}">
                      <a16:colId xmlns:a16="http://schemas.microsoft.com/office/drawing/2014/main" val="3044137385"/>
                    </a:ext>
                  </a:extLst>
                </a:gridCol>
                <a:gridCol w="731520">
                  <a:extLst>
                    <a:ext uri="{9D8B030D-6E8A-4147-A177-3AD203B41FA5}">
                      <a16:colId xmlns:a16="http://schemas.microsoft.com/office/drawing/2014/main" val="889250899"/>
                    </a:ext>
                  </a:extLst>
                </a:gridCol>
                <a:gridCol w="731520">
                  <a:extLst>
                    <a:ext uri="{9D8B030D-6E8A-4147-A177-3AD203B41FA5}">
                      <a16:colId xmlns:a16="http://schemas.microsoft.com/office/drawing/2014/main" val="3731998289"/>
                    </a:ext>
                  </a:extLst>
                </a:gridCol>
                <a:gridCol w="731520">
                  <a:extLst>
                    <a:ext uri="{9D8B030D-6E8A-4147-A177-3AD203B41FA5}">
                      <a16:colId xmlns:a16="http://schemas.microsoft.com/office/drawing/2014/main" val="831353097"/>
                    </a:ext>
                  </a:extLst>
                </a:gridCol>
              </a:tblGrid>
              <a:tr h="640080">
                <a:tc>
                  <a:txBody>
                    <a:bodyPr/>
                    <a:lstStyle/>
                    <a:p>
                      <a:pPr algn="ctr" fontAlgn="ctr">
                        <a:buNone/>
                      </a:pPr>
                      <a:r>
                        <a:rPr lang="en-US" sz="1000" b="1" u="none" strike="noStrike" dirty="0">
                          <a:solidFill>
                            <a:schemeClr val="bg1"/>
                          </a:solidFill>
                          <a:effectLst/>
                        </a:rPr>
                        <a:t>BRIDGER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DIAGNOSER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INFLUENCER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REFERRER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TREATER</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ctr">
                        <a:buNone/>
                      </a:pPr>
                      <a:r>
                        <a:rPr lang="en-US" sz="1000" b="1" u="none" strike="noStrike" dirty="0">
                          <a:solidFill>
                            <a:schemeClr val="bg1"/>
                          </a:solidFill>
                          <a:effectLst/>
                        </a:rPr>
                        <a:t>All Other HCPs in Referral Universe</a:t>
                      </a:r>
                      <a:endParaRPr lang="en-US" sz="1000" b="1" i="0" u="none" strike="noStrike" dirty="0">
                        <a:solidFill>
                          <a:schemeClr val="bg1"/>
                        </a:solidFill>
                        <a:effectLst/>
                        <a:latin typeface="Calibri" panose="020F0502020204030204" pitchFamily="34" charset="0"/>
                      </a:endParaRPr>
                    </a:p>
                  </a:txBody>
                  <a:tcPr marL="6350" marR="6350" marT="6350" marB="0" anchor="ctr">
                    <a:solidFill>
                      <a:schemeClr val="accent1"/>
                    </a:solidFill>
                  </a:tcPr>
                </a:tc>
                <a:extLst>
                  <a:ext uri="{0D108BD9-81ED-4DB2-BD59-A6C34878D82A}">
                    <a16:rowId xmlns:a16="http://schemas.microsoft.com/office/drawing/2014/main" val="2400844885"/>
                  </a:ext>
                </a:extLst>
              </a:tr>
              <a:tr h="361849">
                <a:tc>
                  <a:txBody>
                    <a:bodyPr/>
                    <a:lstStyle/>
                    <a:p>
                      <a:pPr algn="ctr" fontAlgn="b">
                        <a:buNone/>
                      </a:pPr>
                      <a:r>
                        <a:rPr lang="en-US" sz="1100" u="none" strike="noStrike" dirty="0">
                          <a:effectLst/>
                        </a:rPr>
                        <a:t>25.00%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100.00%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36.20%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19.20%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100.00%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49.10%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1785940490"/>
                  </a:ext>
                </a:extLst>
              </a:tr>
              <a:tr h="361849">
                <a:tc>
                  <a:txBody>
                    <a:bodyPr/>
                    <a:lstStyle/>
                    <a:p>
                      <a:pPr algn="ctr" fontAlgn="b">
                        <a:buNone/>
                      </a:pPr>
                      <a:r>
                        <a:rPr lang="en-US" sz="1100" u="none" strike="noStrike" dirty="0">
                          <a:effectLst/>
                        </a:rPr>
                        <a:t>15.40%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4.90%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10.10%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2.70%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extLst>
                  <a:ext uri="{0D108BD9-81ED-4DB2-BD59-A6C34878D82A}">
                    <a16:rowId xmlns:a16="http://schemas.microsoft.com/office/drawing/2014/main" val="3107227758"/>
                  </a:ext>
                </a:extLst>
              </a:tr>
              <a:tr h="361849">
                <a:tc>
                  <a:txBody>
                    <a:bodyPr/>
                    <a:lstStyle/>
                    <a:p>
                      <a:pPr algn="ctr" fontAlgn="b">
                        <a:buNone/>
                      </a:pPr>
                      <a:r>
                        <a:rPr lang="en-US" sz="1100" u="none" strike="noStrike" dirty="0">
                          <a:effectLst/>
                        </a:rPr>
                        <a:t>27.50%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12.70%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21.90%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0.00%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6.60%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3491200668"/>
                  </a:ext>
                </a:extLst>
              </a:tr>
              <a:tr h="361849">
                <a:tc>
                  <a:txBody>
                    <a:bodyPr/>
                    <a:lstStyle/>
                    <a:p>
                      <a:pPr algn="ctr" fontAlgn="b">
                        <a:buNone/>
                      </a:pPr>
                      <a:r>
                        <a:rPr lang="en-US" sz="1100" u="none" strike="noStrike" dirty="0">
                          <a:effectLst/>
                        </a:rPr>
                        <a:t>21.80%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17.00%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23.10%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12.00%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extLst>
                  <a:ext uri="{0D108BD9-81ED-4DB2-BD59-A6C34878D82A}">
                    <a16:rowId xmlns:a16="http://schemas.microsoft.com/office/drawing/2014/main" val="1224730998"/>
                  </a:ext>
                </a:extLst>
              </a:tr>
              <a:tr h="361849">
                <a:tc>
                  <a:txBody>
                    <a:bodyPr/>
                    <a:lstStyle/>
                    <a:p>
                      <a:pPr algn="ctr" fontAlgn="b">
                        <a:buNone/>
                      </a:pPr>
                      <a:r>
                        <a:rPr lang="en-US" sz="1100" u="none" strike="noStrike">
                          <a:effectLst/>
                        </a:rPr>
                        <a:t>9.60%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0.00%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12.80%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16.50%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0.00%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7.60%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3235959575"/>
                  </a:ext>
                </a:extLst>
              </a:tr>
              <a:tr h="361849">
                <a:tc>
                  <a:txBody>
                    <a:bodyPr/>
                    <a:lstStyle/>
                    <a:p>
                      <a:pPr algn="ctr" fontAlgn="b">
                        <a:buNone/>
                      </a:pPr>
                      <a:r>
                        <a:rPr lang="en-US" sz="1100" u="none" strike="noStrike" dirty="0">
                          <a:effectLst/>
                        </a:rPr>
                        <a:t>0.70%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6.20%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5.50%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tc>
                  <a:txBody>
                    <a:bodyPr/>
                    <a:lstStyle/>
                    <a:p>
                      <a:pPr algn="ctr" fontAlgn="b">
                        <a:buNone/>
                      </a:pPr>
                      <a:r>
                        <a:rPr lang="en-US" sz="1100" u="none" strike="noStrike" dirty="0">
                          <a:effectLst/>
                        </a:rPr>
                        <a:t>3.80%</a:t>
                      </a:r>
                      <a:endParaRPr lang="en-US" sz="1100" b="0" i="0" u="none" strike="noStrike" dirty="0">
                        <a:solidFill>
                          <a:srgbClr val="000000"/>
                        </a:solidFill>
                        <a:effectLst/>
                        <a:latin typeface="Calibri" panose="020F0502020204030204" pitchFamily="34" charset="0"/>
                      </a:endParaRPr>
                    </a:p>
                  </a:txBody>
                  <a:tcPr marL="6350" marR="6350" marT="6350" marB="0" anchor="ctr">
                    <a:solidFill>
                      <a:srgbClr val="E8E8E8"/>
                    </a:solidFill>
                  </a:tcPr>
                </a:tc>
                <a:extLst>
                  <a:ext uri="{0D108BD9-81ED-4DB2-BD59-A6C34878D82A}">
                    <a16:rowId xmlns:a16="http://schemas.microsoft.com/office/drawing/2014/main" val="945264330"/>
                  </a:ext>
                </a:extLst>
              </a:tr>
              <a:tr h="361849">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0.00%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10.20%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3.60%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0.00%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dirty="0">
                          <a:effectLst/>
                        </a:rPr>
                        <a:t>18.10%</a:t>
                      </a:r>
                      <a:endParaRPr lang="en-US" sz="11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1432048037"/>
                  </a:ext>
                </a:extLst>
              </a:tr>
              <a:tr h="361849">
                <a:tc>
                  <a:txBody>
                    <a:bodyPr/>
                    <a:lstStyle/>
                    <a:p>
                      <a:pPr algn="ctr" fontAlgn="b">
                        <a:buNone/>
                      </a:pPr>
                      <a:r>
                        <a:rPr lang="en-US" sz="1100" b="0" i="0" u="none" strike="noStrike" dirty="0">
                          <a:solidFill>
                            <a:srgbClr val="000000"/>
                          </a:solidFill>
                          <a:effectLst/>
                          <a:latin typeface="Calibri" panose="020F0502020204030204" pitchFamily="34" charset="0"/>
                        </a:rPr>
                        <a:t>280</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717</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1271</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549</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315</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65039</a:t>
                      </a:r>
                    </a:p>
                  </a:txBody>
                  <a:tcPr marL="6350" marR="6350" marT="6350" marB="0" anchor="ctr">
                    <a:solidFill>
                      <a:schemeClr val="bg1">
                        <a:lumMod val="65000"/>
                      </a:schemeClr>
                    </a:solidFill>
                  </a:tcPr>
                </a:tc>
                <a:extLst>
                  <a:ext uri="{0D108BD9-81ED-4DB2-BD59-A6C34878D82A}">
                    <a16:rowId xmlns:a16="http://schemas.microsoft.com/office/drawing/2014/main" val="169328560"/>
                  </a:ext>
                </a:extLst>
              </a:tr>
            </a:tbl>
          </a:graphicData>
        </a:graphic>
      </p:graphicFrame>
      <p:graphicFrame>
        <p:nvGraphicFramePr>
          <p:cNvPr id="12" name="Table 11">
            <a:extLst>
              <a:ext uri="{FF2B5EF4-FFF2-40B4-BE49-F238E27FC236}">
                <a16:creationId xmlns:a16="http://schemas.microsoft.com/office/drawing/2014/main" id="{555111E6-4A09-9F66-D416-7A0E667EFF4C}"/>
              </a:ext>
            </a:extLst>
          </p:cNvPr>
          <p:cNvGraphicFramePr>
            <a:graphicFrameLocks noGrp="1"/>
          </p:cNvGraphicFramePr>
          <p:nvPr/>
        </p:nvGraphicFramePr>
        <p:xfrm>
          <a:off x="89057" y="1252129"/>
          <a:ext cx="7400861" cy="3548750"/>
        </p:xfrm>
        <a:graphic>
          <a:graphicData uri="http://schemas.openxmlformats.org/drawingml/2006/table">
            <a:tbl>
              <a:tblPr>
                <a:tableStyleId>{F5AB1C69-6EDB-4FF4-983F-18BD219EF322}</a:tableStyleId>
              </a:tblPr>
              <a:tblGrid>
                <a:gridCol w="817181">
                  <a:extLst>
                    <a:ext uri="{9D8B030D-6E8A-4147-A177-3AD203B41FA5}">
                      <a16:colId xmlns:a16="http://schemas.microsoft.com/office/drawing/2014/main" val="3081656718"/>
                    </a:ext>
                  </a:extLst>
                </a:gridCol>
                <a:gridCol w="731520">
                  <a:extLst>
                    <a:ext uri="{9D8B030D-6E8A-4147-A177-3AD203B41FA5}">
                      <a16:colId xmlns:a16="http://schemas.microsoft.com/office/drawing/2014/main" val="1486693464"/>
                    </a:ext>
                  </a:extLst>
                </a:gridCol>
                <a:gridCol w="731520">
                  <a:extLst>
                    <a:ext uri="{9D8B030D-6E8A-4147-A177-3AD203B41FA5}">
                      <a16:colId xmlns:a16="http://schemas.microsoft.com/office/drawing/2014/main" val="3434168378"/>
                    </a:ext>
                  </a:extLst>
                </a:gridCol>
                <a:gridCol w="731520">
                  <a:extLst>
                    <a:ext uri="{9D8B030D-6E8A-4147-A177-3AD203B41FA5}">
                      <a16:colId xmlns:a16="http://schemas.microsoft.com/office/drawing/2014/main" val="3044137385"/>
                    </a:ext>
                  </a:extLst>
                </a:gridCol>
                <a:gridCol w="731520">
                  <a:extLst>
                    <a:ext uri="{9D8B030D-6E8A-4147-A177-3AD203B41FA5}">
                      <a16:colId xmlns:a16="http://schemas.microsoft.com/office/drawing/2014/main" val="889250899"/>
                    </a:ext>
                  </a:extLst>
                </a:gridCol>
                <a:gridCol w="731520">
                  <a:extLst>
                    <a:ext uri="{9D8B030D-6E8A-4147-A177-3AD203B41FA5}">
                      <a16:colId xmlns:a16="http://schemas.microsoft.com/office/drawing/2014/main" val="3731998289"/>
                    </a:ext>
                  </a:extLst>
                </a:gridCol>
                <a:gridCol w="731520">
                  <a:extLst>
                    <a:ext uri="{9D8B030D-6E8A-4147-A177-3AD203B41FA5}">
                      <a16:colId xmlns:a16="http://schemas.microsoft.com/office/drawing/2014/main" val="831353097"/>
                    </a:ext>
                  </a:extLst>
                </a:gridCol>
                <a:gridCol w="731520">
                  <a:extLst>
                    <a:ext uri="{9D8B030D-6E8A-4147-A177-3AD203B41FA5}">
                      <a16:colId xmlns:a16="http://schemas.microsoft.com/office/drawing/2014/main" val="1990255430"/>
                    </a:ext>
                  </a:extLst>
                </a:gridCol>
                <a:gridCol w="731520">
                  <a:extLst>
                    <a:ext uri="{9D8B030D-6E8A-4147-A177-3AD203B41FA5}">
                      <a16:colId xmlns:a16="http://schemas.microsoft.com/office/drawing/2014/main" val="2694204362"/>
                    </a:ext>
                  </a:extLst>
                </a:gridCol>
                <a:gridCol w="731520">
                  <a:extLst>
                    <a:ext uri="{9D8B030D-6E8A-4147-A177-3AD203B41FA5}">
                      <a16:colId xmlns:a16="http://schemas.microsoft.com/office/drawing/2014/main" val="3983451042"/>
                    </a:ext>
                  </a:extLst>
                </a:gridCol>
              </a:tblGrid>
              <a:tr h="640080">
                <a:tc>
                  <a:txBody>
                    <a:bodyPr/>
                    <a:lstStyle/>
                    <a:p>
                      <a:pPr algn="ctr" fontAlgn="ctr">
                        <a:buNone/>
                      </a:pPr>
                      <a:r>
                        <a:rPr lang="en-US" sz="1000" b="1" i="0" u="none" strike="noStrike" dirty="0">
                          <a:solidFill>
                            <a:srgbClr val="FFFFFF"/>
                          </a:solidFill>
                          <a:effectLst/>
                          <a:latin typeface="Calibri" panose="020F0502020204030204" pitchFamily="34" charset="0"/>
                        </a:rPr>
                        <a:t>Misreferring Score</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NP/PA</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Neurology</a:t>
                      </a:r>
                    </a:p>
                  </a:txBody>
                  <a:tcPr marL="6350" marR="6350" marT="6350" marB="0" anchor="ctr">
                    <a:solidFill>
                      <a:schemeClr val="accent1"/>
                    </a:solidFill>
                  </a:tcPr>
                </a:tc>
                <a:tc>
                  <a:txBody>
                    <a:bodyPr/>
                    <a:lstStyle/>
                    <a:p>
                      <a:pPr algn="ctr" fontAlgn="ctr">
                        <a:buNone/>
                      </a:pPr>
                      <a:r>
                        <a:rPr lang="en-US" sz="1000" b="1" i="0" u="none" strike="noStrike">
                          <a:solidFill>
                            <a:srgbClr val="FFFFFF"/>
                          </a:solidFill>
                          <a:effectLst/>
                          <a:latin typeface="Calibri" panose="020F0502020204030204" pitchFamily="34" charset="0"/>
                        </a:rPr>
                        <a:t>Other Non-Specialists</a:t>
                      </a:r>
                    </a:p>
                  </a:txBody>
                  <a:tcPr marL="6350" marR="6350" marT="6350" marB="0" anchor="ctr">
                    <a:solidFill>
                      <a:schemeClr val="accent1"/>
                    </a:solidFill>
                  </a:tcPr>
                </a:tc>
                <a:tc>
                  <a:txBody>
                    <a:bodyPr/>
                    <a:lstStyle/>
                    <a:p>
                      <a:pPr algn="ctr" fontAlgn="ctr">
                        <a:buNone/>
                      </a:pPr>
                      <a:r>
                        <a:rPr lang="en-US" sz="1000" b="1" i="0" u="none" strike="noStrike">
                          <a:solidFill>
                            <a:srgbClr val="FFFFFF"/>
                          </a:solidFill>
                          <a:effectLst/>
                          <a:latin typeface="Calibri" panose="020F0502020204030204" pitchFamily="34" charset="0"/>
                        </a:rPr>
                        <a:t>Other Specialists</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PCP</a:t>
                      </a:r>
                    </a:p>
                  </a:txBody>
                  <a:tcPr marL="6350" marR="6350" marT="6350" marB="0" anchor="ctr">
                    <a:solidFill>
                      <a:schemeClr val="accent1"/>
                    </a:solidFill>
                  </a:tcPr>
                </a:tc>
                <a:tc>
                  <a:txBody>
                    <a:bodyPr/>
                    <a:lstStyle/>
                    <a:p>
                      <a:pPr algn="ctr" fontAlgn="ctr">
                        <a:buNone/>
                      </a:pPr>
                      <a:r>
                        <a:rPr lang="en-US" sz="1000" b="1" i="0" u="none" strike="noStrike">
                          <a:solidFill>
                            <a:srgbClr val="FFFFFF"/>
                          </a:solidFill>
                          <a:effectLst/>
                          <a:latin typeface="Calibri" panose="020F0502020204030204" pitchFamily="34" charset="0"/>
                        </a:rPr>
                        <a:t>Psychiatrist</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Psychologist</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Pulmonologist</a:t>
                      </a:r>
                    </a:p>
                  </a:txBody>
                  <a:tcPr marL="6350" marR="6350" marT="6350" marB="0" anchor="ctr">
                    <a:solidFill>
                      <a:schemeClr val="accent1"/>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Sleep Specialists</a:t>
                      </a:r>
                    </a:p>
                  </a:txBody>
                  <a:tcPr marL="6350" marR="6350" marT="6350" marB="0" anchor="ctr">
                    <a:solidFill>
                      <a:schemeClr val="accent1"/>
                    </a:solidFill>
                  </a:tcPr>
                </a:tc>
                <a:extLst>
                  <a:ext uri="{0D108BD9-81ED-4DB2-BD59-A6C34878D82A}">
                    <a16:rowId xmlns:a16="http://schemas.microsoft.com/office/drawing/2014/main" val="2400844885"/>
                  </a:ext>
                </a:extLst>
              </a:tr>
              <a:tr h="399928">
                <a:tc>
                  <a:txBody>
                    <a:bodyPr/>
                    <a:lstStyle/>
                    <a:p>
                      <a:pPr algn="ctr" fontAlgn="b">
                        <a:buNone/>
                      </a:pPr>
                      <a:r>
                        <a:rPr lang="en-US" sz="1100" b="0" i="0" u="none" strike="noStrike" dirty="0">
                          <a:solidFill>
                            <a:srgbClr val="000000"/>
                          </a:solidFill>
                          <a:effectLst/>
                          <a:latin typeface="Calibri" panose="020F0502020204030204" pitchFamily="34" charset="0"/>
                        </a:rPr>
                        <a:t>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47.70%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51.00%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46.30%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48.70%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52.30%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42.90%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46.50%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41.60%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55.70%</a:t>
                      </a:r>
                    </a:p>
                  </a:txBody>
                  <a:tcPr marL="6350" marR="6350" marT="6350" marB="0" anchor="ctr">
                    <a:solidFill>
                      <a:schemeClr val="bg1"/>
                    </a:solidFill>
                  </a:tcPr>
                </a:tc>
                <a:extLst>
                  <a:ext uri="{0D108BD9-81ED-4DB2-BD59-A6C34878D82A}">
                    <a16:rowId xmlns:a16="http://schemas.microsoft.com/office/drawing/2014/main" val="3693876274"/>
                  </a:ext>
                </a:extLst>
              </a:tr>
              <a:tr h="348581">
                <a:tc>
                  <a:txBody>
                    <a:bodyPr/>
                    <a:lstStyle/>
                    <a:p>
                      <a:pPr algn="ctr" fontAlgn="b">
                        <a:buNone/>
                      </a:pPr>
                      <a:r>
                        <a:rPr lang="en-US" sz="1100" b="0" i="0" u="none" strike="noStrike" dirty="0">
                          <a:solidFill>
                            <a:srgbClr val="000000"/>
                          </a:solidFill>
                          <a:effectLst/>
                          <a:latin typeface="Calibri" panose="020F0502020204030204" pitchFamily="34" charset="0"/>
                        </a:rPr>
                        <a:t>0.0–0.2</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2.70%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3.10%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2.50%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2.80%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2.70%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3.30%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3.50%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2.90%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3.10%</a:t>
                      </a:r>
                    </a:p>
                  </a:txBody>
                  <a:tcPr marL="6350" marR="6350" marT="6350" marB="0" anchor="ctr"/>
                </a:tc>
                <a:extLst>
                  <a:ext uri="{0D108BD9-81ED-4DB2-BD59-A6C34878D82A}">
                    <a16:rowId xmlns:a16="http://schemas.microsoft.com/office/drawing/2014/main" val="1785940490"/>
                  </a:ext>
                </a:extLst>
              </a:tr>
              <a:tr h="348581">
                <a:tc>
                  <a:txBody>
                    <a:bodyPr/>
                    <a:lstStyle/>
                    <a:p>
                      <a:pPr algn="ctr" fontAlgn="b">
                        <a:buNone/>
                      </a:pPr>
                      <a:r>
                        <a:rPr lang="en-US" sz="1100" b="0" i="0" u="none" strike="noStrike">
                          <a:solidFill>
                            <a:srgbClr val="000000"/>
                          </a:solidFill>
                          <a:effectLst/>
                          <a:latin typeface="Calibri" panose="020F0502020204030204" pitchFamily="34" charset="0"/>
                        </a:rPr>
                        <a:t>0.2–0.4</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6.60%</a:t>
                      </a:r>
                    </a:p>
                  </a:txBody>
                  <a:tcPr marL="6350" marR="6350" marT="6350" marB="0" anchor="ctr">
                    <a:solidFill>
                      <a:schemeClr val="bg2"/>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6.90%</a:t>
                      </a:r>
                    </a:p>
                  </a:txBody>
                  <a:tcPr marL="6350" marR="6350" marT="6350" marB="0" anchor="ctr">
                    <a:solidFill>
                      <a:schemeClr val="bg2"/>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7.20%</a:t>
                      </a:r>
                    </a:p>
                  </a:txBody>
                  <a:tcPr marL="6350" marR="6350" marT="6350" marB="0" anchor="ctr">
                    <a:solidFill>
                      <a:schemeClr val="bg2"/>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6.70%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6.50%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8.10%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7.20%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8.60%</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7.80%</a:t>
                      </a:r>
                    </a:p>
                  </a:txBody>
                  <a:tcPr marL="6350" marR="6350" marT="6350" marB="0" anchor="ctr">
                    <a:solidFill>
                      <a:schemeClr val="bg2"/>
                    </a:solidFill>
                  </a:tcPr>
                </a:tc>
                <a:extLst>
                  <a:ext uri="{0D108BD9-81ED-4DB2-BD59-A6C34878D82A}">
                    <a16:rowId xmlns:a16="http://schemas.microsoft.com/office/drawing/2014/main" val="3107227758"/>
                  </a:ext>
                </a:extLst>
              </a:tr>
              <a:tr h="399928">
                <a:tc>
                  <a:txBody>
                    <a:bodyPr/>
                    <a:lstStyle/>
                    <a:p>
                      <a:pPr algn="ctr" fontAlgn="b">
                        <a:buNone/>
                      </a:pPr>
                      <a:r>
                        <a:rPr lang="en-US" sz="1100" b="0" i="0" u="none" strike="noStrike">
                          <a:solidFill>
                            <a:srgbClr val="000000"/>
                          </a:solidFill>
                          <a:effectLst/>
                          <a:latin typeface="Calibri" panose="020F0502020204030204" pitchFamily="34" charset="0"/>
                        </a:rPr>
                        <a:t>0.4–0.6</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12.60%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10.30%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14.60%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10.50%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11.90%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13.60%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11.60%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13.50%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8.50%</a:t>
                      </a:r>
                    </a:p>
                  </a:txBody>
                  <a:tcPr marL="6350" marR="6350" marT="6350" marB="0" anchor="ctr"/>
                </a:tc>
                <a:extLst>
                  <a:ext uri="{0D108BD9-81ED-4DB2-BD59-A6C34878D82A}">
                    <a16:rowId xmlns:a16="http://schemas.microsoft.com/office/drawing/2014/main" val="3491200668"/>
                  </a:ext>
                </a:extLst>
              </a:tr>
              <a:tr h="348581">
                <a:tc>
                  <a:txBody>
                    <a:bodyPr/>
                    <a:lstStyle/>
                    <a:p>
                      <a:pPr algn="ctr" fontAlgn="b">
                        <a:buNone/>
                      </a:pPr>
                      <a:r>
                        <a:rPr lang="en-US" sz="1100" b="0" i="0" u="none" strike="noStrike">
                          <a:solidFill>
                            <a:srgbClr val="000000"/>
                          </a:solidFill>
                          <a:effectLst/>
                          <a:latin typeface="Calibri" panose="020F0502020204030204" pitchFamily="34" charset="0"/>
                        </a:rPr>
                        <a:t>0.6–0.8</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8.30%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6.90%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8.80%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6.50%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7.70%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8.10%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6.20%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8.90%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5.70%</a:t>
                      </a:r>
                    </a:p>
                  </a:txBody>
                  <a:tcPr marL="6350" marR="6350" marT="6350" marB="0" anchor="ctr">
                    <a:solidFill>
                      <a:schemeClr val="bg1"/>
                    </a:solidFill>
                  </a:tcPr>
                </a:tc>
                <a:extLst>
                  <a:ext uri="{0D108BD9-81ED-4DB2-BD59-A6C34878D82A}">
                    <a16:rowId xmlns:a16="http://schemas.microsoft.com/office/drawing/2014/main" val="1224730998"/>
                  </a:ext>
                </a:extLst>
              </a:tr>
              <a:tr h="348581">
                <a:tc>
                  <a:txBody>
                    <a:bodyPr/>
                    <a:lstStyle/>
                    <a:p>
                      <a:pPr algn="ctr" fontAlgn="b">
                        <a:buNone/>
                      </a:pPr>
                      <a:r>
                        <a:rPr lang="en-US" sz="1100" b="0" i="0" u="none" strike="noStrike">
                          <a:solidFill>
                            <a:srgbClr val="000000"/>
                          </a:solidFill>
                          <a:effectLst/>
                          <a:latin typeface="Calibri" panose="020F0502020204030204" pitchFamily="34" charset="0"/>
                        </a:rPr>
                        <a:t>0.8–1.0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4.90%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3.70%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4.70%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2.80%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3.70%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3.60%</a:t>
                      </a:r>
                    </a:p>
                  </a:txBody>
                  <a:tcPr marL="6350" marR="6350" marT="635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3.20%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4.70%</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3.00%</a:t>
                      </a:r>
                    </a:p>
                  </a:txBody>
                  <a:tcPr marL="6350" marR="6350" marT="6350" marB="0" anchor="ctr"/>
                </a:tc>
                <a:extLst>
                  <a:ext uri="{0D108BD9-81ED-4DB2-BD59-A6C34878D82A}">
                    <a16:rowId xmlns:a16="http://schemas.microsoft.com/office/drawing/2014/main" val="3235959575"/>
                  </a:ext>
                </a:extLst>
              </a:tr>
              <a:tr h="399928">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17.10%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18.00%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15.80%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22.20%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15.30%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20.40%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21.90%</a:t>
                      </a:r>
                    </a:p>
                  </a:txBody>
                  <a:tcPr marL="6350" marR="6350" marT="6350" marB="0" anchor="ctr">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19.80%</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16.20%</a:t>
                      </a:r>
                    </a:p>
                  </a:txBody>
                  <a:tcPr marL="6350" marR="6350" marT="6350" marB="0" anchor="ctr">
                    <a:solidFill>
                      <a:schemeClr val="bg1"/>
                    </a:solidFill>
                  </a:tcPr>
                </a:tc>
                <a:extLst>
                  <a:ext uri="{0D108BD9-81ED-4DB2-BD59-A6C34878D82A}">
                    <a16:rowId xmlns:a16="http://schemas.microsoft.com/office/drawing/2014/main" val="945264330"/>
                  </a:ext>
                </a:extLst>
              </a:tr>
              <a:tr h="314562">
                <a:tc>
                  <a:txBody>
                    <a:bodyPr/>
                    <a:lstStyle/>
                    <a:p>
                      <a:pPr algn="ctr" fontAlgn="b">
                        <a:buNone/>
                      </a:pPr>
                      <a:r>
                        <a:rPr lang="en-US" sz="1100" b="0" i="1" u="none" strike="noStrike" dirty="0">
                          <a:solidFill>
                            <a:srgbClr val="000000"/>
                          </a:solidFill>
                          <a:effectLst/>
                          <a:latin typeface="Calibri" panose="020F0502020204030204" pitchFamily="34" charset="0"/>
                        </a:rPr>
                        <a:t># of HCPS</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6724</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2274</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4786</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5033</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23499</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3950</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4051</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2303</a:t>
                      </a:r>
                    </a:p>
                  </a:txBody>
                  <a:tcPr marL="6350" marR="6350" marT="6350" marB="0" anchor="ctr">
                    <a:solidFill>
                      <a:schemeClr val="bg1">
                        <a:lumMod val="65000"/>
                      </a:schemeClr>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1407</a:t>
                      </a:r>
                    </a:p>
                  </a:txBody>
                  <a:tcPr marL="6350" marR="6350" marT="6350" marB="0" anchor="ctr">
                    <a:solidFill>
                      <a:schemeClr val="bg1">
                        <a:lumMod val="65000"/>
                      </a:schemeClr>
                    </a:solidFill>
                  </a:tcPr>
                </a:tc>
                <a:extLst>
                  <a:ext uri="{0D108BD9-81ED-4DB2-BD59-A6C34878D82A}">
                    <a16:rowId xmlns:a16="http://schemas.microsoft.com/office/drawing/2014/main" val="1432048037"/>
                  </a:ext>
                </a:extLst>
              </a:tr>
            </a:tbl>
          </a:graphicData>
        </a:graphic>
      </p:graphicFrame>
      <p:sp>
        <p:nvSpPr>
          <p:cNvPr id="4" name="Rectangle 3">
            <a:extLst>
              <a:ext uri="{FF2B5EF4-FFF2-40B4-BE49-F238E27FC236}">
                <a16:creationId xmlns:a16="http://schemas.microsoft.com/office/drawing/2014/main" id="{6E22599D-9B46-5843-3771-86F8FA704469}"/>
              </a:ext>
            </a:extLst>
          </p:cNvPr>
          <p:cNvSpPr/>
          <p:nvPr/>
        </p:nvSpPr>
        <p:spPr>
          <a:xfrm>
            <a:off x="89057" y="1886987"/>
            <a:ext cx="7400861" cy="421646"/>
          </a:xfrm>
          <a:prstGeom prst="rect">
            <a:avLst/>
          </a:prstGeom>
          <a:noFill/>
          <a:ln w="190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5" name="Rectangle: Rounded Corners 4">
            <a:extLst>
              <a:ext uri="{FF2B5EF4-FFF2-40B4-BE49-F238E27FC236}">
                <a16:creationId xmlns:a16="http://schemas.microsoft.com/office/drawing/2014/main" id="{BAF68232-EF0B-E54D-FADF-D24EA4CD2256}"/>
              </a:ext>
            </a:extLst>
          </p:cNvPr>
          <p:cNvSpPr/>
          <p:nvPr/>
        </p:nvSpPr>
        <p:spPr>
          <a:xfrm>
            <a:off x="0" y="5559536"/>
            <a:ext cx="12192000" cy="1296244"/>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Arial" panose="020B0604020202020204" pitchFamily="34" charset="0"/>
              <a:buChar char="•"/>
            </a:pPr>
            <a:r>
              <a:rPr lang="en-US" sz="1200" b="1" dirty="0">
                <a:solidFill>
                  <a:schemeClr val="tx1"/>
                </a:solidFill>
              </a:rPr>
              <a:t>~56% of Sleep Specialists reliably reach Treaters/</a:t>
            </a:r>
            <a:r>
              <a:rPr lang="en-US" sz="1200" b="1" dirty="0" err="1">
                <a:solidFill>
                  <a:schemeClr val="tx1"/>
                </a:solidFill>
              </a:rPr>
              <a:t>Diagnosers</a:t>
            </a:r>
            <a:r>
              <a:rPr lang="en-US" sz="1200" b="1" dirty="0">
                <a:solidFill>
                  <a:schemeClr val="tx1"/>
                </a:solidFill>
              </a:rPr>
              <a:t> </a:t>
            </a:r>
            <a:r>
              <a:rPr lang="en-US" sz="1200" dirty="0">
                <a:solidFill>
                  <a:schemeClr val="tx1"/>
                </a:solidFill>
              </a:rPr>
              <a:t>through referrals acting as the most effective entry points into the correct care pathways, whereas </a:t>
            </a:r>
            <a:r>
              <a:rPr lang="en-US" sz="1200" b="1" dirty="0">
                <a:solidFill>
                  <a:schemeClr val="tx1"/>
                </a:solidFill>
              </a:rPr>
              <a:t>Psychologists, Psychiatrists, and Pulmonologists </a:t>
            </a:r>
            <a:r>
              <a:rPr lang="en-US" sz="1200" dirty="0">
                <a:solidFill>
                  <a:schemeClr val="tx1"/>
                </a:solidFill>
              </a:rPr>
              <a:t>lag with </a:t>
            </a:r>
            <a:r>
              <a:rPr lang="en-US" sz="1200" b="1" dirty="0">
                <a:solidFill>
                  <a:schemeClr val="tx1"/>
                </a:solidFill>
              </a:rPr>
              <a:t>~40% </a:t>
            </a:r>
            <a:r>
              <a:rPr lang="en-US" sz="1200" dirty="0">
                <a:solidFill>
                  <a:schemeClr val="tx1"/>
                </a:solidFill>
              </a:rPr>
              <a:t>of HCPs reaching target nodes</a:t>
            </a:r>
          </a:p>
          <a:p>
            <a:pPr marL="171450" indent="-171450">
              <a:spcBef>
                <a:spcPts val="600"/>
              </a:spcBef>
              <a:buFont typeface="Arial" panose="020B0604020202020204" pitchFamily="34" charset="0"/>
              <a:buChar char="•"/>
            </a:pPr>
            <a:r>
              <a:rPr lang="en-US" sz="1200" b="1" dirty="0">
                <a:solidFill>
                  <a:schemeClr val="tx1"/>
                </a:solidFill>
              </a:rPr>
              <a:t>15–22% of HCPs</a:t>
            </a:r>
            <a:r>
              <a:rPr lang="en-US" sz="1200" dirty="0">
                <a:solidFill>
                  <a:schemeClr val="tx1"/>
                </a:solidFill>
              </a:rPr>
              <a:t> across most specialties fail to reroute their patients eventually for diagnosis and referrals. This consistent distribution across specialties suggest a systematic issue in the Narcolepsy Market beyond generalists</a:t>
            </a:r>
          </a:p>
          <a:p>
            <a:pPr marL="171450" indent="-171450">
              <a:spcBef>
                <a:spcPts val="600"/>
              </a:spcBef>
              <a:buFont typeface="Arial" panose="020B0604020202020204" pitchFamily="34" charset="0"/>
              <a:buChar char="•"/>
            </a:pPr>
            <a:r>
              <a:rPr lang="en-US" sz="1200" dirty="0">
                <a:solidFill>
                  <a:schemeClr val="tx1"/>
                </a:solidFill>
              </a:rPr>
              <a:t>The identified Bridgers consistently maintain at least some referral relationship which helps redirect patients to targeted HCPs </a:t>
            </a:r>
          </a:p>
        </p:txBody>
      </p:sp>
      <p:sp>
        <p:nvSpPr>
          <p:cNvPr id="6" name="Rectangle 5">
            <a:extLst>
              <a:ext uri="{FF2B5EF4-FFF2-40B4-BE49-F238E27FC236}">
                <a16:creationId xmlns:a16="http://schemas.microsoft.com/office/drawing/2014/main" id="{2AD39BDE-456B-AF3F-1E25-B76A8DFFCCF9}"/>
              </a:ext>
            </a:extLst>
          </p:cNvPr>
          <p:cNvSpPr/>
          <p:nvPr/>
        </p:nvSpPr>
        <p:spPr>
          <a:xfrm>
            <a:off x="89057" y="4042024"/>
            <a:ext cx="8983225" cy="421647"/>
          </a:xfrm>
          <a:prstGeom prst="rect">
            <a:avLst/>
          </a:prstGeom>
          <a:noFill/>
          <a:ln w="19050">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grpSp>
        <p:nvGrpSpPr>
          <p:cNvPr id="8" name="Group 7">
            <a:extLst>
              <a:ext uri="{FF2B5EF4-FFF2-40B4-BE49-F238E27FC236}">
                <a16:creationId xmlns:a16="http://schemas.microsoft.com/office/drawing/2014/main" id="{FFA03960-4384-62F1-4441-BBFCE5FF56AB}"/>
              </a:ext>
            </a:extLst>
          </p:cNvPr>
          <p:cNvGrpSpPr/>
          <p:nvPr/>
        </p:nvGrpSpPr>
        <p:grpSpPr>
          <a:xfrm>
            <a:off x="0" y="5250399"/>
            <a:ext cx="5795964" cy="319265"/>
            <a:chOff x="0" y="2140992"/>
            <a:chExt cx="2880042" cy="347180"/>
          </a:xfrm>
        </p:grpSpPr>
        <p:sp>
          <p:nvSpPr>
            <p:cNvPr id="9" name="TextBox 8">
              <a:extLst>
                <a:ext uri="{FF2B5EF4-FFF2-40B4-BE49-F238E27FC236}">
                  <a16:creationId xmlns:a16="http://schemas.microsoft.com/office/drawing/2014/main" id="{A4B3804A-E9CF-572E-3B66-B429D5974EC5}"/>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B199F95-ED33-374C-CB35-542207CBB4CD}"/>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
        <p:nvSpPr>
          <p:cNvPr id="14" name="TextBox 13">
            <a:extLst>
              <a:ext uri="{FF2B5EF4-FFF2-40B4-BE49-F238E27FC236}">
                <a16:creationId xmlns:a16="http://schemas.microsoft.com/office/drawing/2014/main" id="{2C7D946C-4439-DFD2-704C-FB250498D4CE}"/>
              </a:ext>
            </a:extLst>
          </p:cNvPr>
          <p:cNvSpPr txBox="1"/>
          <p:nvPr/>
        </p:nvSpPr>
        <p:spPr>
          <a:xfrm>
            <a:off x="8326839" y="1036685"/>
            <a:ext cx="3865161" cy="215444"/>
          </a:xfrm>
          <a:prstGeom prst="rect">
            <a:avLst/>
          </a:prstGeom>
          <a:noFill/>
        </p:spPr>
        <p:txBody>
          <a:bodyPr wrap="none" rtlCol="0">
            <a:spAutoFit/>
          </a:bodyPr>
          <a:lstStyle/>
          <a:p>
            <a:r>
              <a:rPr lang="en-US" sz="800" b="1">
                <a:solidFill>
                  <a:srgbClr val="FF0000"/>
                </a:solidFill>
              </a:rPr>
              <a:t>* Treaters and </a:t>
            </a:r>
            <a:r>
              <a:rPr lang="en-US" sz="800" b="1" err="1">
                <a:solidFill>
                  <a:srgbClr val="FF0000"/>
                </a:solidFill>
              </a:rPr>
              <a:t>Diagnosers</a:t>
            </a:r>
            <a:r>
              <a:rPr lang="en-US" sz="800" b="1">
                <a:solidFill>
                  <a:srgbClr val="FF0000"/>
                </a:solidFill>
              </a:rPr>
              <a:t> are part of the targets, thus they have a 0-misreferring score</a:t>
            </a:r>
          </a:p>
        </p:txBody>
      </p:sp>
    </p:spTree>
    <p:extLst>
      <p:ext uri="{BB962C8B-B14F-4D97-AF65-F5344CB8AC3E}">
        <p14:creationId xmlns:p14="http://schemas.microsoft.com/office/powerpoint/2010/main" val="2169162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F49C2-5AD1-725C-C7AD-F4011B204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EE411-0838-2327-068E-FC93220A00CF}"/>
              </a:ext>
            </a:extLst>
          </p:cNvPr>
          <p:cNvSpPr>
            <a:spLocks noGrp="1"/>
          </p:cNvSpPr>
          <p:nvPr>
            <p:ph type="title"/>
          </p:nvPr>
        </p:nvSpPr>
        <p:spPr>
          <a:xfrm>
            <a:off x="606078" y="161605"/>
            <a:ext cx="10014297" cy="685801"/>
          </a:xfrm>
        </p:spPr>
        <p:txBody>
          <a:bodyPr>
            <a:noAutofit/>
          </a:bodyPr>
          <a:lstStyle/>
          <a:p>
            <a:r>
              <a:rPr lang="en-US" sz="2000"/>
              <a:t>Misdiagnosis and referral gaps in key specialties are driving the longest delays”</a:t>
            </a:r>
            <a:br>
              <a:rPr lang="en-US" sz="2000"/>
            </a:br>
            <a:r>
              <a:rPr lang="en-US" sz="2000"/>
              <a:t>“Psychiatry, PCPs, and NP/PAs emerge as major Sink Nodes in the journey</a:t>
            </a:r>
            <a:r>
              <a:rPr lang="en-US" sz="2000">
                <a:latin typeface="Calibri"/>
                <a:ea typeface="メイリオ"/>
                <a:cs typeface="Calibri"/>
              </a:rPr>
              <a:t> </a:t>
            </a:r>
          </a:p>
        </p:txBody>
      </p:sp>
      <p:sp>
        <p:nvSpPr>
          <p:cNvPr id="3" name="Rectangle: Rounded Corners 2">
            <a:extLst>
              <a:ext uri="{FF2B5EF4-FFF2-40B4-BE49-F238E27FC236}">
                <a16:creationId xmlns:a16="http://schemas.microsoft.com/office/drawing/2014/main" id="{02C2C382-E4EF-C325-6141-0E642C8239E7}"/>
              </a:ext>
            </a:extLst>
          </p:cNvPr>
          <p:cNvSpPr/>
          <p:nvPr/>
        </p:nvSpPr>
        <p:spPr>
          <a:xfrm>
            <a:off x="1117" y="6464808"/>
            <a:ext cx="12190881" cy="393184"/>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endParaRPr lang="en-US" sz="1200">
              <a:solidFill>
                <a:schemeClr val="tx1"/>
              </a:solidFill>
              <a:cs typeface="Arial" panose="020B0604020202020204" pitchFamily="34" charset="0"/>
            </a:endParaRPr>
          </a:p>
        </p:txBody>
      </p:sp>
      <p:graphicFrame>
        <p:nvGraphicFramePr>
          <p:cNvPr id="10" name="Table 9">
            <a:extLst>
              <a:ext uri="{FF2B5EF4-FFF2-40B4-BE49-F238E27FC236}">
                <a16:creationId xmlns:a16="http://schemas.microsoft.com/office/drawing/2014/main" id="{673B337B-86B1-45B8-FE7F-8341C7B2A963}"/>
              </a:ext>
            </a:extLst>
          </p:cNvPr>
          <p:cNvGraphicFramePr>
            <a:graphicFrameLocks noGrp="1"/>
          </p:cNvGraphicFramePr>
          <p:nvPr/>
        </p:nvGraphicFramePr>
        <p:xfrm>
          <a:off x="420625" y="1415370"/>
          <a:ext cx="6540362" cy="2699430"/>
        </p:xfrm>
        <a:graphic>
          <a:graphicData uri="http://schemas.openxmlformats.org/drawingml/2006/table">
            <a:tbl>
              <a:tblPr>
                <a:tableStyleId>{F5AB1C69-6EDB-4FF4-983F-18BD219EF322}</a:tableStyleId>
              </a:tblPr>
              <a:tblGrid>
                <a:gridCol w="1075814">
                  <a:extLst>
                    <a:ext uri="{9D8B030D-6E8A-4147-A177-3AD203B41FA5}">
                      <a16:colId xmlns:a16="http://schemas.microsoft.com/office/drawing/2014/main" val="3081656718"/>
                    </a:ext>
                  </a:extLst>
                </a:gridCol>
                <a:gridCol w="731200">
                  <a:extLst>
                    <a:ext uri="{9D8B030D-6E8A-4147-A177-3AD203B41FA5}">
                      <a16:colId xmlns:a16="http://schemas.microsoft.com/office/drawing/2014/main" val="1486693464"/>
                    </a:ext>
                  </a:extLst>
                </a:gridCol>
                <a:gridCol w="1689960">
                  <a:extLst>
                    <a:ext uri="{9D8B030D-6E8A-4147-A177-3AD203B41FA5}">
                      <a16:colId xmlns:a16="http://schemas.microsoft.com/office/drawing/2014/main" val="3434168378"/>
                    </a:ext>
                  </a:extLst>
                </a:gridCol>
                <a:gridCol w="1689960">
                  <a:extLst>
                    <a:ext uri="{9D8B030D-6E8A-4147-A177-3AD203B41FA5}">
                      <a16:colId xmlns:a16="http://schemas.microsoft.com/office/drawing/2014/main" val="3044137385"/>
                    </a:ext>
                  </a:extLst>
                </a:gridCol>
                <a:gridCol w="1353428">
                  <a:extLst>
                    <a:ext uri="{9D8B030D-6E8A-4147-A177-3AD203B41FA5}">
                      <a16:colId xmlns:a16="http://schemas.microsoft.com/office/drawing/2014/main" val="4247428164"/>
                    </a:ext>
                  </a:extLst>
                </a:gridCol>
              </a:tblGrid>
              <a:tr h="386827">
                <a:tc>
                  <a:txBody>
                    <a:bodyPr/>
                    <a:lstStyle/>
                    <a:p>
                      <a:pPr algn="ctr" fontAlgn="b">
                        <a:buNone/>
                      </a:pPr>
                      <a:r>
                        <a:rPr lang="en-US" sz="1100" b="1" u="none" strike="noStrike">
                          <a:solidFill>
                            <a:schemeClr val="bg1"/>
                          </a:solidFill>
                          <a:effectLst/>
                        </a:rPr>
                        <a:t>Specialty</a:t>
                      </a:r>
                      <a:endParaRPr lang="en-US" sz="1100" b="1" i="0" u="none" strike="noStrike">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b">
                        <a:buNone/>
                      </a:pPr>
                      <a:r>
                        <a:rPr lang="en-US" sz="1100" b="1" u="none" strike="noStrike">
                          <a:solidFill>
                            <a:schemeClr val="bg1"/>
                          </a:solidFill>
                          <a:effectLst/>
                        </a:rPr>
                        <a:t>Avg. delay</a:t>
                      </a:r>
                    </a:p>
                    <a:p>
                      <a:pPr algn="ctr" fontAlgn="b">
                        <a:buNone/>
                      </a:pPr>
                      <a:r>
                        <a:rPr lang="en-US" sz="1100" b="1" u="none" strike="noStrike">
                          <a:solidFill>
                            <a:schemeClr val="bg1"/>
                          </a:solidFill>
                          <a:effectLst/>
                        </a:rPr>
                        <a:t>(#days) </a:t>
                      </a:r>
                      <a:endParaRPr lang="en-US" sz="1100" b="1" i="0" u="none" strike="noStrike">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b">
                        <a:buNone/>
                      </a:pPr>
                      <a:r>
                        <a:rPr lang="en-US" sz="1100" b="1" u="none" strike="noStrike">
                          <a:solidFill>
                            <a:schemeClr val="bg1"/>
                          </a:solidFill>
                          <a:effectLst/>
                        </a:rPr>
                        <a:t>Primary Point of Delay (Overall)</a:t>
                      </a:r>
                      <a:endParaRPr lang="en-US" sz="1100" b="1" i="0" u="none" strike="noStrike">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b">
                        <a:buNone/>
                      </a:pPr>
                      <a:r>
                        <a:rPr lang="en-US" sz="1100" b="1" u="none" strike="noStrike">
                          <a:solidFill>
                            <a:schemeClr val="bg1"/>
                          </a:solidFill>
                          <a:effectLst/>
                        </a:rPr>
                        <a:t>Primary Point of Delay</a:t>
                      </a:r>
                    </a:p>
                    <a:p>
                      <a:pPr algn="ctr" fontAlgn="b">
                        <a:buNone/>
                      </a:pPr>
                      <a:r>
                        <a:rPr lang="en-US" sz="1100" b="1" u="none" strike="noStrike">
                          <a:solidFill>
                            <a:schemeClr val="bg1"/>
                          </a:solidFill>
                          <a:effectLst/>
                        </a:rPr>
                        <a:t>(Misdiagnosis) </a:t>
                      </a:r>
                      <a:endParaRPr lang="en-US" sz="1100" b="1" i="0" u="none" strike="noStrike">
                        <a:solidFill>
                          <a:schemeClr val="bg1"/>
                        </a:solidFill>
                        <a:effectLst/>
                        <a:latin typeface="Calibri" panose="020F0502020204030204" pitchFamily="34" charset="0"/>
                      </a:endParaRPr>
                    </a:p>
                  </a:txBody>
                  <a:tcPr marL="6350" marR="6350" marT="6350" marB="0" anchor="ctr">
                    <a:solidFill>
                      <a:schemeClr val="accent1"/>
                    </a:solidFill>
                  </a:tcPr>
                </a:tc>
                <a:tc>
                  <a:txBody>
                    <a:bodyPr/>
                    <a:lstStyle/>
                    <a:p>
                      <a:pPr algn="ctr" fontAlgn="b">
                        <a:buNone/>
                      </a:pPr>
                      <a:r>
                        <a:rPr lang="en-US" sz="1100" b="1" i="0" u="none" strike="noStrike">
                          <a:solidFill>
                            <a:srgbClr val="FFFFFF"/>
                          </a:solidFill>
                          <a:effectLst/>
                          <a:latin typeface="Calibri" panose="020F0502020204030204" pitchFamily="34" charset="0"/>
                        </a:rPr>
                        <a:t>Referrals Made to Sink Nodes</a:t>
                      </a:r>
                    </a:p>
                  </a:txBody>
                  <a:tcPr marL="6350" marR="6350" marT="6350" marB="0" anchor="ctr">
                    <a:solidFill>
                      <a:schemeClr val="accent1"/>
                    </a:solidFill>
                  </a:tcPr>
                </a:tc>
                <a:extLst>
                  <a:ext uri="{0D108BD9-81ED-4DB2-BD59-A6C34878D82A}">
                    <a16:rowId xmlns:a16="http://schemas.microsoft.com/office/drawing/2014/main" val="2400844885"/>
                  </a:ext>
                </a:extLst>
              </a:tr>
              <a:tr h="337329">
                <a:tc>
                  <a:txBody>
                    <a:bodyPr/>
                    <a:lstStyle/>
                    <a:p>
                      <a:pPr algn="l" fontAlgn="b">
                        <a:buNone/>
                      </a:pPr>
                      <a:r>
                        <a:rPr lang="en-US" sz="1100" u="none" strike="noStrike">
                          <a:effectLst/>
                        </a:rPr>
                        <a:t>Sleep Specialists</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59.06</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Chronic Pulmonary Disease</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IH</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246</a:t>
                      </a:r>
                    </a:p>
                  </a:txBody>
                  <a:tcPr marL="6350" marR="6350" marT="6350" marB="0" anchor="ctr"/>
                </a:tc>
                <a:extLst>
                  <a:ext uri="{0D108BD9-81ED-4DB2-BD59-A6C34878D82A}">
                    <a16:rowId xmlns:a16="http://schemas.microsoft.com/office/drawing/2014/main" val="1785940490"/>
                  </a:ext>
                </a:extLst>
              </a:tr>
              <a:tr h="197009">
                <a:tc>
                  <a:txBody>
                    <a:bodyPr/>
                    <a:lstStyle/>
                    <a:p>
                      <a:pPr algn="l" fontAlgn="b">
                        <a:buNone/>
                      </a:pPr>
                      <a:r>
                        <a:rPr lang="en-US" sz="1100" u="none" strike="noStrike">
                          <a:effectLst/>
                        </a:rPr>
                        <a:t>Neurology</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2"/>
                    </a:solidFill>
                  </a:tcPr>
                </a:tc>
                <a:tc>
                  <a:txBody>
                    <a:bodyPr/>
                    <a:lstStyle/>
                    <a:p>
                      <a:pPr algn="ctr" fontAlgn="b">
                        <a:buNone/>
                      </a:pPr>
                      <a:r>
                        <a:rPr lang="en-US" sz="1100" u="none" strike="noStrike">
                          <a:effectLst/>
                        </a:rPr>
                        <a:t>71.70</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2"/>
                    </a:solidFill>
                  </a:tcP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2"/>
                    </a:solidFill>
                  </a:tcPr>
                </a:tc>
                <a:tc>
                  <a:txBody>
                    <a:bodyPr/>
                    <a:lstStyle/>
                    <a:p>
                      <a:pPr algn="ctr" fontAlgn="b">
                        <a:buNone/>
                      </a:pPr>
                      <a:r>
                        <a:rPr lang="en-US" sz="1100" u="none" strike="noStrike">
                          <a:effectLst/>
                        </a:rPr>
                        <a:t>Epilepsy</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435</a:t>
                      </a:r>
                    </a:p>
                  </a:txBody>
                  <a:tcPr marL="6350" marR="6350" marT="6350" marB="0" anchor="ctr">
                    <a:solidFill>
                      <a:schemeClr val="bg2"/>
                    </a:solidFill>
                  </a:tcPr>
                </a:tc>
                <a:extLst>
                  <a:ext uri="{0D108BD9-81ED-4DB2-BD59-A6C34878D82A}">
                    <a16:rowId xmlns:a16="http://schemas.microsoft.com/office/drawing/2014/main" val="3107227758"/>
                  </a:ext>
                </a:extLst>
              </a:tr>
              <a:tr h="197009">
                <a:tc>
                  <a:txBody>
                    <a:bodyPr/>
                    <a:lstStyle/>
                    <a:p>
                      <a:pPr algn="l" fontAlgn="b">
                        <a:buNone/>
                      </a:pPr>
                      <a:r>
                        <a:rPr lang="en-US" sz="1100" u="none" strike="noStrike">
                          <a:effectLst/>
                        </a:rPr>
                        <a:t>Psychiatrist</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149.55</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517</a:t>
                      </a:r>
                    </a:p>
                  </a:txBody>
                  <a:tcPr marL="6350" marR="6350" marT="6350" marB="0" anchor="ctr"/>
                </a:tc>
                <a:extLst>
                  <a:ext uri="{0D108BD9-81ED-4DB2-BD59-A6C34878D82A}">
                    <a16:rowId xmlns:a16="http://schemas.microsoft.com/office/drawing/2014/main" val="3491200668"/>
                  </a:ext>
                </a:extLst>
              </a:tr>
              <a:tr h="197009">
                <a:tc>
                  <a:txBody>
                    <a:bodyPr/>
                    <a:lstStyle/>
                    <a:p>
                      <a:pPr algn="l" fontAlgn="b">
                        <a:buNone/>
                      </a:pPr>
                      <a:r>
                        <a:rPr lang="en-US" sz="1100" u="none" strike="noStrike">
                          <a:effectLst/>
                        </a:rPr>
                        <a:t>Psychologist</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206.79</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IH</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Mood Disorder</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559</a:t>
                      </a:r>
                    </a:p>
                  </a:txBody>
                  <a:tcPr marL="6350" marR="6350" marT="6350" marB="0" anchor="ctr">
                    <a:solidFill>
                      <a:schemeClr val="bg1"/>
                    </a:solidFill>
                  </a:tcPr>
                </a:tc>
                <a:extLst>
                  <a:ext uri="{0D108BD9-81ED-4DB2-BD59-A6C34878D82A}">
                    <a16:rowId xmlns:a16="http://schemas.microsoft.com/office/drawing/2014/main" val="1224730998"/>
                  </a:ext>
                </a:extLst>
              </a:tr>
              <a:tr h="337329">
                <a:tc>
                  <a:txBody>
                    <a:bodyPr/>
                    <a:lstStyle/>
                    <a:p>
                      <a:pPr algn="l" fontAlgn="b">
                        <a:buNone/>
                      </a:pPr>
                      <a:r>
                        <a:rPr lang="en-US" sz="1100" u="none" strike="noStrike">
                          <a:effectLst/>
                        </a:rPr>
                        <a:t>Pulmonologist</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61.43</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Chronic Pulmonary Disease</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Chronic Pulmonary Disease</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646</a:t>
                      </a:r>
                    </a:p>
                  </a:txBody>
                  <a:tcPr marL="6350" marR="6350" marT="6350" marB="0" anchor="ctr"/>
                </a:tc>
                <a:extLst>
                  <a:ext uri="{0D108BD9-81ED-4DB2-BD59-A6C34878D82A}">
                    <a16:rowId xmlns:a16="http://schemas.microsoft.com/office/drawing/2014/main" val="3235959575"/>
                  </a:ext>
                </a:extLst>
              </a:tr>
              <a:tr h="197009">
                <a:tc>
                  <a:txBody>
                    <a:bodyPr/>
                    <a:lstStyle/>
                    <a:p>
                      <a:pPr algn="l" fontAlgn="b">
                        <a:buNone/>
                      </a:pPr>
                      <a:r>
                        <a:rPr lang="en-US" sz="1100" u="none" strike="noStrike">
                          <a:effectLst/>
                        </a:rPr>
                        <a:t>PCP</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83.06</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6452</a:t>
                      </a:r>
                    </a:p>
                  </a:txBody>
                  <a:tcPr marL="6350" marR="6350" marT="6350" marB="0" anchor="ctr">
                    <a:solidFill>
                      <a:schemeClr val="bg1"/>
                    </a:solidFill>
                  </a:tcPr>
                </a:tc>
                <a:extLst>
                  <a:ext uri="{0D108BD9-81ED-4DB2-BD59-A6C34878D82A}">
                    <a16:rowId xmlns:a16="http://schemas.microsoft.com/office/drawing/2014/main" val="945264330"/>
                  </a:ext>
                </a:extLst>
              </a:tr>
              <a:tr h="266073">
                <a:tc>
                  <a:txBody>
                    <a:bodyPr/>
                    <a:lstStyle/>
                    <a:p>
                      <a:pPr algn="l" fontAlgn="b">
                        <a:buNone/>
                      </a:pPr>
                      <a:r>
                        <a:rPr lang="en-US" sz="1100" u="none" strike="noStrike">
                          <a:effectLst/>
                        </a:rPr>
                        <a:t>NP/PA</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90.31</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ADHD</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1555</a:t>
                      </a:r>
                    </a:p>
                  </a:txBody>
                  <a:tcPr marL="6350" marR="6350" marT="6350" marB="0" anchor="ctr"/>
                </a:tc>
                <a:extLst>
                  <a:ext uri="{0D108BD9-81ED-4DB2-BD59-A6C34878D82A}">
                    <a16:rowId xmlns:a16="http://schemas.microsoft.com/office/drawing/2014/main" val="1432048037"/>
                  </a:ext>
                </a:extLst>
              </a:tr>
              <a:tr h="197009">
                <a:tc>
                  <a:txBody>
                    <a:bodyPr/>
                    <a:lstStyle/>
                    <a:p>
                      <a:pPr algn="l" fontAlgn="b">
                        <a:buNone/>
                      </a:pPr>
                      <a:r>
                        <a:rPr lang="en-US" sz="1100" u="none" strike="noStrike">
                          <a:effectLst/>
                        </a:rPr>
                        <a:t>Other Specialists</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55.65</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IH</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u="none" strike="noStrike">
                          <a:effectLst/>
                        </a:rPr>
                        <a:t>Sleep Disorder</a:t>
                      </a:r>
                      <a:endParaRPr lang="en-US" sz="1100" b="0" i="0" u="none" strike="noStrike">
                        <a:solidFill>
                          <a:srgbClr val="000000"/>
                        </a:solidFill>
                        <a:effectLst/>
                        <a:latin typeface="Calibri" panose="020F0502020204030204" pitchFamily="34" charset="0"/>
                      </a:endParaRP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880</a:t>
                      </a:r>
                    </a:p>
                  </a:txBody>
                  <a:tcPr marL="6350" marR="6350" marT="6350" marB="0" anchor="ctr">
                    <a:solidFill>
                      <a:schemeClr val="bg1"/>
                    </a:solidFill>
                  </a:tcPr>
                </a:tc>
                <a:extLst>
                  <a:ext uri="{0D108BD9-81ED-4DB2-BD59-A6C34878D82A}">
                    <a16:rowId xmlns:a16="http://schemas.microsoft.com/office/drawing/2014/main" val="254479943"/>
                  </a:ext>
                </a:extLst>
              </a:tr>
              <a:tr h="386827">
                <a:tc>
                  <a:txBody>
                    <a:bodyPr/>
                    <a:lstStyle/>
                    <a:p>
                      <a:pPr algn="l" fontAlgn="b">
                        <a:buNone/>
                      </a:pPr>
                      <a:r>
                        <a:rPr lang="en-US" sz="1100" u="none" strike="noStrike">
                          <a:effectLst/>
                        </a:rPr>
                        <a:t>Other Non-Specialists</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51.28</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Sleep Disorder</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u="none" strike="noStrike">
                          <a:effectLst/>
                        </a:rPr>
                        <a:t>Sleep Disorder</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1109</a:t>
                      </a:r>
                    </a:p>
                  </a:txBody>
                  <a:tcPr marL="6350" marR="6350" marT="6350" marB="0" anchor="ctr"/>
                </a:tc>
                <a:extLst>
                  <a:ext uri="{0D108BD9-81ED-4DB2-BD59-A6C34878D82A}">
                    <a16:rowId xmlns:a16="http://schemas.microsoft.com/office/drawing/2014/main" val="2826076843"/>
                  </a:ext>
                </a:extLst>
              </a:tr>
            </a:tbl>
          </a:graphicData>
        </a:graphic>
      </p:graphicFrame>
      <p:graphicFrame>
        <p:nvGraphicFramePr>
          <p:cNvPr id="15" name="Table 14">
            <a:extLst>
              <a:ext uri="{FF2B5EF4-FFF2-40B4-BE49-F238E27FC236}">
                <a16:creationId xmlns:a16="http://schemas.microsoft.com/office/drawing/2014/main" id="{516607CA-778D-C70D-47AE-818D381C4EE9}"/>
              </a:ext>
            </a:extLst>
          </p:cNvPr>
          <p:cNvGraphicFramePr>
            <a:graphicFrameLocks noGrp="1"/>
          </p:cNvGraphicFramePr>
          <p:nvPr/>
        </p:nvGraphicFramePr>
        <p:xfrm>
          <a:off x="8119871" y="1727878"/>
          <a:ext cx="3575305" cy="2240616"/>
        </p:xfrm>
        <a:graphic>
          <a:graphicData uri="http://schemas.openxmlformats.org/drawingml/2006/table">
            <a:tbl>
              <a:tblPr>
                <a:tableStyleId>{F5AB1C69-6EDB-4FF4-983F-18BD219EF322}</a:tableStyleId>
              </a:tblPr>
              <a:tblGrid>
                <a:gridCol w="2074744">
                  <a:extLst>
                    <a:ext uri="{9D8B030D-6E8A-4147-A177-3AD203B41FA5}">
                      <a16:colId xmlns:a16="http://schemas.microsoft.com/office/drawing/2014/main" val="3081656718"/>
                    </a:ext>
                  </a:extLst>
                </a:gridCol>
                <a:gridCol w="1500561">
                  <a:extLst>
                    <a:ext uri="{9D8B030D-6E8A-4147-A177-3AD203B41FA5}">
                      <a16:colId xmlns:a16="http://schemas.microsoft.com/office/drawing/2014/main" val="4281524914"/>
                    </a:ext>
                  </a:extLst>
                </a:gridCol>
              </a:tblGrid>
              <a:tr h="387678">
                <a:tc>
                  <a:txBody>
                    <a:bodyPr/>
                    <a:lstStyle/>
                    <a:p>
                      <a:pPr algn="ctr" fontAlgn="b">
                        <a:buNone/>
                      </a:pPr>
                      <a:r>
                        <a:rPr lang="en-US" sz="1100" b="1" i="0" u="none" strike="noStrike">
                          <a:solidFill>
                            <a:srgbClr val="FFFFFF"/>
                          </a:solidFill>
                          <a:effectLst/>
                          <a:latin typeface="Calibri" panose="020F0502020204030204" pitchFamily="34" charset="0"/>
                        </a:rPr>
                        <a:t>Specialty</a:t>
                      </a:r>
                    </a:p>
                  </a:txBody>
                  <a:tcPr marL="6350" marR="6350" marT="6350" marB="0" anchor="ctr">
                    <a:solidFill>
                      <a:schemeClr val="accent1"/>
                    </a:solidFill>
                  </a:tcPr>
                </a:tc>
                <a:tc>
                  <a:txBody>
                    <a:bodyPr/>
                    <a:lstStyle/>
                    <a:p>
                      <a:pPr algn="ctr" fontAlgn="b">
                        <a:buNone/>
                      </a:pPr>
                      <a:r>
                        <a:rPr lang="en-US" sz="1100" b="1" i="0" u="none" strike="noStrike">
                          <a:solidFill>
                            <a:schemeClr val="bg1"/>
                          </a:solidFill>
                          <a:effectLst/>
                          <a:latin typeface="Calibri" panose="020F0502020204030204" pitchFamily="34" charset="0"/>
                        </a:rPr>
                        <a:t># of Sink Nodes</a:t>
                      </a:r>
                    </a:p>
                  </a:txBody>
                  <a:tcPr marL="6350" marR="6350" marT="6350" marB="0" anchor="ctr">
                    <a:solidFill>
                      <a:schemeClr val="accent1"/>
                    </a:solidFill>
                  </a:tcPr>
                </a:tc>
                <a:extLst>
                  <a:ext uri="{0D108BD9-81ED-4DB2-BD59-A6C34878D82A}">
                    <a16:rowId xmlns:a16="http://schemas.microsoft.com/office/drawing/2014/main" val="2400844885"/>
                  </a:ext>
                </a:extLst>
              </a:tr>
              <a:tr h="209788">
                <a:tc>
                  <a:txBody>
                    <a:bodyPr/>
                    <a:lstStyle/>
                    <a:p>
                      <a:pPr algn="ctr" fontAlgn="b">
                        <a:buNone/>
                      </a:pPr>
                      <a:r>
                        <a:rPr lang="en-US" sz="1100" b="0" i="0" u="none" strike="noStrike">
                          <a:solidFill>
                            <a:srgbClr val="000000"/>
                          </a:solidFill>
                          <a:effectLst/>
                          <a:latin typeface="Calibri" panose="020F0502020204030204" pitchFamily="34" charset="0"/>
                        </a:rPr>
                        <a:t>PCP</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638</a:t>
                      </a:r>
                    </a:p>
                  </a:txBody>
                  <a:tcPr marL="6350" marR="6350" marT="6350" marB="0" anchor="ctr"/>
                </a:tc>
                <a:extLst>
                  <a:ext uri="{0D108BD9-81ED-4DB2-BD59-A6C34878D82A}">
                    <a16:rowId xmlns:a16="http://schemas.microsoft.com/office/drawing/2014/main" val="1785940490"/>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NP/PA</a:t>
                      </a:r>
                    </a:p>
                  </a:txBody>
                  <a:tcPr marL="6350" marR="6350" marT="6350" marB="0" anchor="c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rPr>
                        <a:t>417</a:t>
                      </a:r>
                    </a:p>
                  </a:txBody>
                  <a:tcPr marL="6350" marR="6350" marT="6350" marB="0" anchor="ctr">
                    <a:solidFill>
                      <a:schemeClr val="bg2"/>
                    </a:solidFill>
                  </a:tcPr>
                </a:tc>
                <a:extLst>
                  <a:ext uri="{0D108BD9-81ED-4DB2-BD59-A6C34878D82A}">
                    <a16:rowId xmlns:a16="http://schemas.microsoft.com/office/drawing/2014/main" val="3107227758"/>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Other Non-Specialist</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67</a:t>
                      </a:r>
                    </a:p>
                  </a:txBody>
                  <a:tcPr marL="6350" marR="6350" marT="6350" marB="0" anchor="ctr"/>
                </a:tc>
                <a:extLst>
                  <a:ext uri="{0D108BD9-81ED-4DB2-BD59-A6C34878D82A}">
                    <a16:rowId xmlns:a16="http://schemas.microsoft.com/office/drawing/2014/main" val="3491200668"/>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Other Specialist</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1218</a:t>
                      </a:r>
                    </a:p>
                  </a:txBody>
                  <a:tcPr marL="6350" marR="6350" marT="6350" marB="0" anchor="ctr">
                    <a:solidFill>
                      <a:schemeClr val="bg1"/>
                    </a:solidFill>
                  </a:tcPr>
                </a:tc>
                <a:extLst>
                  <a:ext uri="{0D108BD9-81ED-4DB2-BD59-A6C34878D82A}">
                    <a16:rowId xmlns:a16="http://schemas.microsoft.com/office/drawing/2014/main" val="1224730998"/>
                  </a:ext>
                </a:extLst>
              </a:tr>
              <a:tr h="209788">
                <a:tc>
                  <a:txBody>
                    <a:bodyPr/>
                    <a:lstStyle/>
                    <a:p>
                      <a:pPr algn="ctr" fontAlgn="b">
                        <a:buNone/>
                      </a:pPr>
                      <a:r>
                        <a:rPr lang="en-US" sz="1100" b="0" i="0" u="none" strike="noStrike">
                          <a:solidFill>
                            <a:srgbClr val="000000"/>
                          </a:solidFill>
                          <a:effectLst/>
                          <a:latin typeface="Calibri" panose="020F0502020204030204" pitchFamily="34" charset="0"/>
                        </a:rPr>
                        <a:t>Pulmonologist</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569</a:t>
                      </a:r>
                    </a:p>
                  </a:txBody>
                  <a:tcPr marL="6350" marR="6350" marT="6350" marB="0" anchor="ctr"/>
                </a:tc>
                <a:extLst>
                  <a:ext uri="{0D108BD9-81ED-4DB2-BD59-A6C34878D82A}">
                    <a16:rowId xmlns:a16="http://schemas.microsoft.com/office/drawing/2014/main" val="3235959575"/>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Psychologist</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486</a:t>
                      </a:r>
                    </a:p>
                  </a:txBody>
                  <a:tcPr marL="6350" marR="6350" marT="6350" marB="0" anchor="ctr">
                    <a:solidFill>
                      <a:schemeClr val="bg1"/>
                    </a:solidFill>
                  </a:tcPr>
                </a:tc>
                <a:extLst>
                  <a:ext uri="{0D108BD9-81ED-4DB2-BD59-A6C34878D82A}">
                    <a16:rowId xmlns:a16="http://schemas.microsoft.com/office/drawing/2014/main" val="945264330"/>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Psychiatrist</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934</a:t>
                      </a:r>
                    </a:p>
                  </a:txBody>
                  <a:tcPr marL="6350" marR="6350" marT="6350" marB="0" anchor="ctr"/>
                </a:tc>
                <a:extLst>
                  <a:ext uri="{0D108BD9-81ED-4DB2-BD59-A6C34878D82A}">
                    <a16:rowId xmlns:a16="http://schemas.microsoft.com/office/drawing/2014/main" val="1432048037"/>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Neurology</a:t>
                      </a:r>
                    </a:p>
                  </a:txBody>
                  <a:tcPr marL="6350" marR="6350" marT="6350" marB="0" anchor="ctr">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479</a:t>
                      </a:r>
                    </a:p>
                  </a:txBody>
                  <a:tcPr marL="6350" marR="6350" marT="6350" marB="0" anchor="ctr">
                    <a:solidFill>
                      <a:schemeClr val="bg1"/>
                    </a:solidFill>
                  </a:tcPr>
                </a:tc>
                <a:extLst>
                  <a:ext uri="{0D108BD9-81ED-4DB2-BD59-A6C34878D82A}">
                    <a16:rowId xmlns:a16="http://schemas.microsoft.com/office/drawing/2014/main" val="254479943"/>
                  </a:ext>
                </a:extLst>
              </a:tr>
              <a:tr h="204766">
                <a:tc>
                  <a:txBody>
                    <a:bodyPr/>
                    <a:lstStyle/>
                    <a:p>
                      <a:pPr algn="ctr" fontAlgn="b">
                        <a:buNone/>
                      </a:pPr>
                      <a:r>
                        <a:rPr lang="en-US" sz="1100" b="0" i="0" u="none" strike="noStrike">
                          <a:solidFill>
                            <a:srgbClr val="000000"/>
                          </a:solidFill>
                          <a:effectLst/>
                          <a:latin typeface="Calibri" panose="020F0502020204030204" pitchFamily="34" charset="0"/>
                        </a:rPr>
                        <a:t>Sleep Specialist</a:t>
                      </a:r>
                    </a:p>
                  </a:txBody>
                  <a:tcPr marL="6350" marR="6350" marT="6350" marB="0" anchor="ctr"/>
                </a:tc>
                <a:tc>
                  <a:txBody>
                    <a:bodyPr/>
                    <a:lstStyle/>
                    <a:p>
                      <a:pPr algn="ctr" fontAlgn="b">
                        <a:buNone/>
                      </a:pPr>
                      <a:r>
                        <a:rPr lang="en-US" sz="1100" b="0" i="0" u="none" strike="noStrike">
                          <a:solidFill>
                            <a:srgbClr val="000000"/>
                          </a:solidFill>
                          <a:effectLst/>
                          <a:latin typeface="Calibri" panose="020F0502020204030204" pitchFamily="34" charset="0"/>
                        </a:rPr>
                        <a:t>321</a:t>
                      </a:r>
                    </a:p>
                  </a:txBody>
                  <a:tcPr marL="6350" marR="6350" marT="6350" marB="0" anchor="ctr"/>
                </a:tc>
                <a:extLst>
                  <a:ext uri="{0D108BD9-81ED-4DB2-BD59-A6C34878D82A}">
                    <a16:rowId xmlns:a16="http://schemas.microsoft.com/office/drawing/2014/main" val="2826076843"/>
                  </a:ext>
                </a:extLst>
              </a:tr>
            </a:tbl>
          </a:graphicData>
        </a:graphic>
      </p:graphicFrame>
      <p:sp>
        <p:nvSpPr>
          <p:cNvPr id="17" name="Rectangle: Rounded Corners 16">
            <a:extLst>
              <a:ext uri="{FF2B5EF4-FFF2-40B4-BE49-F238E27FC236}">
                <a16:creationId xmlns:a16="http://schemas.microsoft.com/office/drawing/2014/main" id="{968B97D0-B4F2-37C7-C104-66C47AF5DC8C}"/>
              </a:ext>
            </a:extLst>
          </p:cNvPr>
          <p:cNvSpPr/>
          <p:nvPr/>
        </p:nvSpPr>
        <p:spPr>
          <a:xfrm>
            <a:off x="1119" y="4982039"/>
            <a:ext cx="12190881" cy="1755318"/>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Arial" panose="020B0604020202020204" pitchFamily="34" charset="0"/>
              <a:buChar char="•"/>
            </a:pPr>
            <a:r>
              <a:rPr lang="en-US" sz="1200" b="1">
                <a:solidFill>
                  <a:schemeClr val="tx1">
                    <a:lumMod val="50000"/>
                  </a:schemeClr>
                </a:solidFill>
              </a:rPr>
              <a:t>Post-diagnosis HCP gap:</a:t>
            </a:r>
            <a:r>
              <a:rPr lang="en-US" sz="1200">
                <a:solidFill>
                  <a:schemeClr val="tx1">
                    <a:lumMod val="50000"/>
                  </a:schemeClr>
                </a:solidFill>
              </a:rPr>
              <a:t> Of </a:t>
            </a:r>
            <a:r>
              <a:rPr lang="en-US" sz="1200" b="1">
                <a:solidFill>
                  <a:schemeClr val="tx1">
                    <a:lumMod val="50000"/>
                  </a:schemeClr>
                </a:solidFill>
              </a:rPr>
              <a:t>28,864 HCPs</a:t>
            </a:r>
            <a:r>
              <a:rPr lang="en-US" sz="1200">
                <a:solidFill>
                  <a:schemeClr val="tx1">
                    <a:lumMod val="50000"/>
                  </a:schemeClr>
                </a:solidFill>
              </a:rPr>
              <a:t> interacting post-diagnosis, only </a:t>
            </a:r>
            <a:r>
              <a:rPr lang="en-US" sz="1200" b="1">
                <a:solidFill>
                  <a:schemeClr val="tx1">
                    <a:lumMod val="50000"/>
                  </a:schemeClr>
                </a:solidFill>
              </a:rPr>
              <a:t>5,052 actively refer</a:t>
            </a:r>
            <a:r>
              <a:rPr lang="en-US" sz="1200">
                <a:solidFill>
                  <a:schemeClr val="tx1">
                    <a:lumMod val="50000"/>
                  </a:schemeClr>
                </a:solidFill>
              </a:rPr>
              <a:t>, and </a:t>
            </a:r>
            <a:r>
              <a:rPr lang="en-US" sz="1200" b="1">
                <a:solidFill>
                  <a:schemeClr val="tx1">
                    <a:lumMod val="50000"/>
                  </a:schemeClr>
                </a:solidFill>
              </a:rPr>
              <a:t>19,141 neither refer nor provide relevant narcolepsy treatment</a:t>
            </a:r>
            <a:r>
              <a:rPr lang="en-US" sz="1200">
                <a:solidFill>
                  <a:schemeClr val="tx1">
                    <a:lumMod val="50000"/>
                  </a:schemeClr>
                </a:solidFill>
              </a:rPr>
              <a:t>, highlighting major post NT diagnosis care gap</a:t>
            </a:r>
          </a:p>
          <a:p>
            <a:pPr marL="171450" indent="-171450">
              <a:spcBef>
                <a:spcPts val="600"/>
              </a:spcBef>
              <a:buFont typeface="Arial" panose="020B0604020202020204" pitchFamily="34" charset="0"/>
              <a:buChar char="•"/>
            </a:pPr>
            <a:r>
              <a:rPr lang="en-US" sz="1200" b="1">
                <a:solidFill>
                  <a:schemeClr val="tx1">
                    <a:lumMod val="75000"/>
                  </a:schemeClr>
                </a:solidFill>
              </a:rPr>
              <a:t>Treatment leakage post-diagnosis:</a:t>
            </a:r>
            <a:r>
              <a:rPr lang="en-US" sz="1200">
                <a:solidFill>
                  <a:schemeClr val="tx1">
                    <a:lumMod val="75000"/>
                  </a:schemeClr>
                </a:solidFill>
              </a:rPr>
              <a:t> </a:t>
            </a:r>
            <a:r>
              <a:rPr lang="en-US" sz="1200" b="1">
                <a:solidFill>
                  <a:schemeClr val="tx1">
                    <a:lumMod val="75000"/>
                  </a:schemeClr>
                </a:solidFill>
              </a:rPr>
              <a:t>3,454 patients</a:t>
            </a:r>
            <a:r>
              <a:rPr lang="en-US" sz="1200">
                <a:solidFill>
                  <a:schemeClr val="tx1">
                    <a:lumMod val="75000"/>
                  </a:schemeClr>
                </a:solidFill>
              </a:rPr>
              <a:t> receive no NT-specific treatment; most (</a:t>
            </a:r>
            <a:r>
              <a:rPr lang="en-US" sz="1200" b="1">
                <a:solidFill>
                  <a:schemeClr val="tx1">
                    <a:lumMod val="75000"/>
                  </a:schemeClr>
                </a:solidFill>
              </a:rPr>
              <a:t>3,333</a:t>
            </a:r>
            <a:r>
              <a:rPr lang="en-US" sz="1200">
                <a:solidFill>
                  <a:schemeClr val="tx1">
                    <a:lumMod val="75000"/>
                  </a:schemeClr>
                </a:solidFill>
              </a:rPr>
              <a:t>) remain in managed care, and </a:t>
            </a:r>
            <a:r>
              <a:rPr lang="en-US" sz="1200" b="1">
                <a:solidFill>
                  <a:schemeClr val="tx1">
                    <a:lumMod val="75000"/>
                  </a:schemeClr>
                </a:solidFill>
              </a:rPr>
              <a:t>2,152</a:t>
            </a:r>
            <a:r>
              <a:rPr lang="en-US" sz="1200">
                <a:solidFill>
                  <a:schemeClr val="tx1">
                    <a:lumMod val="75000"/>
                  </a:schemeClr>
                </a:solidFill>
              </a:rPr>
              <a:t> receive no further referrals—pointing to ineffective post-diagnosis management</a:t>
            </a:r>
            <a:endParaRPr lang="en-US" sz="1200">
              <a:solidFill>
                <a:schemeClr val="tx1">
                  <a:lumMod val="75000"/>
                </a:schemeClr>
              </a:solidFill>
              <a:cs typeface="Arial" panose="020B0604020202020204" pitchFamily="34" charset="0"/>
            </a:endParaRPr>
          </a:p>
          <a:p>
            <a:pPr marL="171450" indent="-171450">
              <a:spcBef>
                <a:spcPts val="600"/>
              </a:spcBef>
              <a:buFont typeface="Arial" panose="020B0604020202020204" pitchFamily="34" charset="0"/>
              <a:buChar char="•"/>
            </a:pPr>
            <a:endParaRPr lang="en-US" sz="1200" b="1">
              <a:solidFill>
                <a:schemeClr val="accent1"/>
              </a:solidFill>
              <a:cs typeface="Arial" panose="020B0604020202020204" pitchFamily="34" charset="0"/>
            </a:endParaRPr>
          </a:p>
        </p:txBody>
      </p:sp>
      <p:grpSp>
        <p:nvGrpSpPr>
          <p:cNvPr id="18" name="Group 17">
            <a:extLst>
              <a:ext uri="{FF2B5EF4-FFF2-40B4-BE49-F238E27FC236}">
                <a16:creationId xmlns:a16="http://schemas.microsoft.com/office/drawing/2014/main" id="{30592E9D-84D6-480E-7297-DED1D10E9152}"/>
              </a:ext>
            </a:extLst>
          </p:cNvPr>
          <p:cNvGrpSpPr/>
          <p:nvPr/>
        </p:nvGrpSpPr>
        <p:grpSpPr>
          <a:xfrm>
            <a:off x="0" y="4606906"/>
            <a:ext cx="5795964" cy="319265"/>
            <a:chOff x="0" y="2140992"/>
            <a:chExt cx="2880042" cy="347180"/>
          </a:xfrm>
        </p:grpSpPr>
        <p:sp>
          <p:nvSpPr>
            <p:cNvPr id="19" name="TextBox 18">
              <a:extLst>
                <a:ext uri="{FF2B5EF4-FFF2-40B4-BE49-F238E27FC236}">
                  <a16:creationId xmlns:a16="http://schemas.microsoft.com/office/drawing/2014/main" id="{5E24F803-ED8A-A2A6-2993-ED8FC986B6EA}"/>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FFBA76B3-AF57-5E7C-2373-A684C8C11721}"/>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
        <p:nvSpPr>
          <p:cNvPr id="25" name="Arrow: Notched Right 24">
            <a:extLst>
              <a:ext uri="{FF2B5EF4-FFF2-40B4-BE49-F238E27FC236}">
                <a16:creationId xmlns:a16="http://schemas.microsoft.com/office/drawing/2014/main" id="{F1FAC3FE-61F7-D2E0-3C8E-570A707D5CDD}"/>
              </a:ext>
            </a:extLst>
          </p:cNvPr>
          <p:cNvSpPr/>
          <p:nvPr/>
        </p:nvSpPr>
        <p:spPr>
          <a:xfrm>
            <a:off x="7061570" y="2523744"/>
            <a:ext cx="957718" cy="365760"/>
          </a:xfrm>
          <a:prstGeom prst="notchedRightArrow">
            <a:avLst/>
          </a:prstGeom>
          <a:solidFill>
            <a:schemeClr val="tx1">
              <a:lumMod val="40000"/>
              <a:lumOff val="60000"/>
            </a:schemeClr>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400"/>
              <a:t>Referral</a:t>
            </a:r>
          </a:p>
        </p:txBody>
      </p:sp>
      <p:sp>
        <p:nvSpPr>
          <p:cNvPr id="27" name="TextBox 26">
            <a:extLst>
              <a:ext uri="{FF2B5EF4-FFF2-40B4-BE49-F238E27FC236}">
                <a16:creationId xmlns:a16="http://schemas.microsoft.com/office/drawing/2014/main" id="{58F00732-EB39-0AA9-011B-049F494EF2B4}"/>
              </a:ext>
            </a:extLst>
          </p:cNvPr>
          <p:cNvSpPr txBox="1"/>
          <p:nvPr/>
        </p:nvSpPr>
        <p:spPr>
          <a:xfrm>
            <a:off x="-226026" y="6520675"/>
            <a:ext cx="10970226" cy="261610"/>
          </a:xfrm>
          <a:prstGeom prst="rect">
            <a:avLst/>
          </a:prstGeom>
          <a:noFill/>
        </p:spPr>
        <p:txBody>
          <a:bodyPr wrap="square">
            <a:spAutoFit/>
          </a:bodyPr>
          <a:lstStyle/>
          <a:p>
            <a:pPr algn="ctr"/>
            <a:r>
              <a:rPr lang="en-US" sz="1050" i="1">
                <a:solidFill>
                  <a:schemeClr val="accent1"/>
                </a:solidFill>
              </a:rPr>
              <a:t>*Sink Nodes ~ HCPS that only act as a rendering node (no outgoing referrals), have </a:t>
            </a:r>
            <a:r>
              <a:rPr lang="en-US" sz="1050" b="1" i="1">
                <a:solidFill>
                  <a:schemeClr val="accent1"/>
                </a:solidFill>
              </a:rPr>
              <a:t>No NT Activity</a:t>
            </a:r>
            <a:r>
              <a:rPr lang="en-US" sz="1050" i="1">
                <a:solidFill>
                  <a:schemeClr val="accent1"/>
                </a:solidFill>
              </a:rPr>
              <a:t>  and are interacting with</a:t>
            </a:r>
            <a:r>
              <a:rPr lang="en-US" sz="1050" b="1" i="1">
                <a:solidFill>
                  <a:schemeClr val="accent1"/>
                </a:solidFill>
              </a:rPr>
              <a:t> patients &gt;=1 are </a:t>
            </a:r>
            <a:r>
              <a:rPr lang="en-US" sz="1050" i="1">
                <a:solidFill>
                  <a:schemeClr val="accent1"/>
                </a:solidFill>
              </a:rPr>
              <a:t>classified as a </a:t>
            </a:r>
            <a:r>
              <a:rPr lang="en-US" sz="1050" b="1" i="1">
                <a:solidFill>
                  <a:schemeClr val="accent1"/>
                </a:solidFill>
              </a:rPr>
              <a:t>sink</a:t>
            </a:r>
            <a:r>
              <a:rPr lang="en-US" sz="1050" i="1">
                <a:solidFill>
                  <a:schemeClr val="accent1"/>
                </a:solidFill>
              </a:rPr>
              <a:t> </a:t>
            </a:r>
            <a:r>
              <a:rPr lang="en-US" sz="1050" b="1" i="1">
                <a:solidFill>
                  <a:schemeClr val="accent1"/>
                </a:solidFill>
              </a:rPr>
              <a:t>Nodes </a:t>
            </a:r>
            <a:endParaRPr kumimoji="1" lang="en-US" sz="1050" b="1" i="1">
              <a:solidFill>
                <a:schemeClr val="accent1"/>
              </a:solidFill>
            </a:endParaRPr>
          </a:p>
        </p:txBody>
      </p:sp>
    </p:spTree>
    <p:extLst>
      <p:ext uri="{BB962C8B-B14F-4D97-AF65-F5344CB8AC3E}">
        <p14:creationId xmlns:p14="http://schemas.microsoft.com/office/powerpoint/2010/main" val="40544505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C4802-FF01-7FE4-CF2F-4A76FF4DB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919D0-700B-818E-E7A9-4F8D8F9AF986}"/>
              </a:ext>
            </a:extLst>
          </p:cNvPr>
          <p:cNvSpPr>
            <a:spLocks noGrp="1"/>
          </p:cNvSpPr>
          <p:nvPr>
            <p:ph type="title"/>
          </p:nvPr>
        </p:nvSpPr>
        <p:spPr>
          <a:xfrm>
            <a:off x="606078" y="161605"/>
            <a:ext cx="10300047" cy="685801"/>
          </a:xfrm>
        </p:spPr>
        <p:txBody>
          <a:bodyPr>
            <a:noAutofit/>
          </a:bodyPr>
          <a:lstStyle/>
          <a:p>
            <a:r>
              <a:rPr lang="en-US" sz="2000" dirty="0">
                <a:latin typeface="Calibri"/>
                <a:ea typeface="メイリオ"/>
                <a:cs typeface="Calibri"/>
              </a:rPr>
              <a:t>States with the longest diagnostic gaps are not the same where treatment access is slowest, pointing to distinct regional intervention priorities</a:t>
            </a:r>
          </a:p>
        </p:txBody>
      </p:sp>
      <p:sp>
        <p:nvSpPr>
          <p:cNvPr id="3" name="Rectangle: Rounded Corners 2">
            <a:extLst>
              <a:ext uri="{FF2B5EF4-FFF2-40B4-BE49-F238E27FC236}">
                <a16:creationId xmlns:a16="http://schemas.microsoft.com/office/drawing/2014/main" id="{84878CC4-48B3-E96F-FAC6-17AA835262E2}"/>
              </a:ext>
            </a:extLst>
          </p:cNvPr>
          <p:cNvSpPr/>
          <p:nvPr/>
        </p:nvSpPr>
        <p:spPr>
          <a:xfrm>
            <a:off x="1117" y="5246586"/>
            <a:ext cx="12190881" cy="1611414"/>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US" sz="1200" b="1" dirty="0">
                <a:solidFill>
                  <a:schemeClr val="tx1"/>
                </a:solidFill>
              </a:rPr>
              <a:t>Pre-diagnosis inefficiency:</a:t>
            </a:r>
            <a:r>
              <a:rPr lang="en-US" sz="1200" dirty="0">
                <a:solidFill>
                  <a:schemeClr val="tx1"/>
                </a:solidFill>
              </a:rPr>
              <a:t> Only </a:t>
            </a:r>
            <a:r>
              <a:rPr lang="en-US" sz="1200" b="1" dirty="0">
                <a:solidFill>
                  <a:schemeClr val="tx1"/>
                </a:solidFill>
              </a:rPr>
              <a:t>2,572 patients</a:t>
            </a:r>
            <a:r>
              <a:rPr lang="en-US" sz="1200" dirty="0">
                <a:solidFill>
                  <a:schemeClr val="tx1"/>
                </a:solidFill>
              </a:rPr>
              <a:t> reach the diagnosing HCP without reaching a sink point in their journey, while </a:t>
            </a:r>
            <a:r>
              <a:rPr lang="en-US" sz="1200" b="1" dirty="0">
                <a:solidFill>
                  <a:schemeClr val="tx1"/>
                </a:solidFill>
              </a:rPr>
              <a:t>30,086 patients average 4.01 loops</a:t>
            </a:r>
            <a:r>
              <a:rPr lang="en-US" sz="1200" dirty="0">
                <a:solidFill>
                  <a:schemeClr val="tx1"/>
                </a:solidFill>
              </a:rPr>
              <a:t>, indicating significant referral bottlenecks.</a:t>
            </a:r>
          </a:p>
          <a:p>
            <a:pPr marL="171450" indent="-171450">
              <a:spcBef>
                <a:spcPts val="600"/>
              </a:spcBef>
              <a:buFont typeface="Arial" panose="020B0604020202020204" pitchFamily="34" charset="0"/>
              <a:buChar char="•"/>
            </a:pPr>
            <a:r>
              <a:rPr lang="en-US" sz="1200" b="1">
                <a:solidFill>
                  <a:schemeClr val="tx1">
                    <a:lumMod val="50000"/>
                  </a:schemeClr>
                </a:solidFill>
              </a:rPr>
              <a:t>Post-diagnosis treatment drop-off:</a:t>
            </a:r>
            <a:r>
              <a:rPr lang="en-US" sz="1200">
                <a:solidFill>
                  <a:schemeClr val="tx1">
                    <a:lumMod val="50000"/>
                  </a:schemeClr>
                </a:solidFill>
              </a:rPr>
              <a:t> Out of </a:t>
            </a:r>
            <a:r>
              <a:rPr lang="en-US" sz="1200" b="1">
                <a:solidFill>
                  <a:schemeClr val="tx1">
                    <a:lumMod val="50000"/>
                  </a:schemeClr>
                </a:solidFill>
              </a:rPr>
              <a:t>17.1K total treated patients</a:t>
            </a:r>
            <a:r>
              <a:rPr lang="en-US" sz="1200">
                <a:solidFill>
                  <a:schemeClr val="tx1">
                    <a:lumMod val="50000"/>
                  </a:schemeClr>
                </a:solidFill>
              </a:rPr>
              <a:t>, </a:t>
            </a:r>
            <a:r>
              <a:rPr lang="en-US" sz="1200" b="1">
                <a:solidFill>
                  <a:schemeClr val="tx1">
                    <a:lumMod val="50000"/>
                  </a:schemeClr>
                </a:solidFill>
              </a:rPr>
              <a:t>9.4K received treatment pre-diagnosis</a:t>
            </a:r>
            <a:r>
              <a:rPr lang="en-US" sz="1200">
                <a:solidFill>
                  <a:schemeClr val="tx1">
                    <a:lumMod val="50000"/>
                  </a:schemeClr>
                </a:solidFill>
              </a:rPr>
              <a:t>, but </a:t>
            </a:r>
            <a:r>
              <a:rPr lang="en-US" sz="1200" b="1">
                <a:solidFill>
                  <a:schemeClr val="tx1">
                    <a:lumMod val="50000"/>
                  </a:schemeClr>
                </a:solidFill>
              </a:rPr>
              <a:t>3.5K (~37%) discontinue post-diagnosis</a:t>
            </a:r>
            <a:r>
              <a:rPr lang="en-US" sz="1200">
                <a:solidFill>
                  <a:schemeClr val="tx1">
                    <a:lumMod val="50000"/>
                  </a:schemeClr>
                </a:solidFill>
              </a:rPr>
              <a:t>, indicating a major gap in treatment continuity</a:t>
            </a:r>
          </a:p>
          <a:p>
            <a:pPr marL="171450" indent="-171450">
              <a:spcBef>
                <a:spcPts val="600"/>
              </a:spcBef>
              <a:buFont typeface="Arial" panose="020B0604020202020204" pitchFamily="34" charset="0"/>
              <a:buChar char="•"/>
            </a:pPr>
            <a:endParaRPr lang="en-US" sz="1200">
              <a:solidFill>
                <a:schemeClr val="tx1"/>
              </a:solidFill>
            </a:endParaRPr>
          </a:p>
        </p:txBody>
      </p:sp>
      <p:grpSp>
        <p:nvGrpSpPr>
          <p:cNvPr id="4" name="Group 3">
            <a:extLst>
              <a:ext uri="{FF2B5EF4-FFF2-40B4-BE49-F238E27FC236}">
                <a16:creationId xmlns:a16="http://schemas.microsoft.com/office/drawing/2014/main" id="{4C62F7AA-DD46-6445-60F0-4971CAEC6243}"/>
              </a:ext>
            </a:extLst>
          </p:cNvPr>
          <p:cNvGrpSpPr/>
          <p:nvPr/>
        </p:nvGrpSpPr>
        <p:grpSpPr>
          <a:xfrm>
            <a:off x="1113" y="4940768"/>
            <a:ext cx="5795965" cy="319265"/>
            <a:chOff x="0" y="2140992"/>
            <a:chExt cx="2880042" cy="347180"/>
          </a:xfrm>
        </p:grpSpPr>
        <p:sp>
          <p:nvSpPr>
            <p:cNvPr id="6" name="TextBox 5">
              <a:extLst>
                <a:ext uri="{FF2B5EF4-FFF2-40B4-BE49-F238E27FC236}">
                  <a16:creationId xmlns:a16="http://schemas.microsoft.com/office/drawing/2014/main" id="{6E01602E-888D-9CEB-65C8-8BE8DC4DE8B2}"/>
                </a:ext>
              </a:extLst>
            </p:cNvPr>
            <p:cNvSpPr txBox="1"/>
            <p:nvPr/>
          </p:nvSpPr>
          <p:spPr>
            <a:xfrm>
              <a:off x="1760219" y="2140992"/>
              <a:ext cx="1119823" cy="347180"/>
            </a:xfrm>
            <a:prstGeom prst="parallelogram">
              <a:avLst/>
            </a:prstGeom>
            <a:gradFill rotWithShape="1">
              <a:gsLst>
                <a:gs pos="0">
                  <a:srgbClr val="001E96"/>
                </a:gs>
                <a:gs pos="33000">
                  <a:schemeClr val="accent1">
                    <a:lumMod val="60000"/>
                    <a:lumOff val="40000"/>
                  </a:schemeClr>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B9B4103-5746-A898-35C7-912EEEDEEBDF}"/>
                </a:ext>
              </a:extLst>
            </p:cNvPr>
            <p:cNvSpPr txBox="1"/>
            <p:nvPr/>
          </p:nvSpPr>
          <p:spPr>
            <a:xfrm>
              <a:off x="0" y="2140992"/>
              <a:ext cx="2800190" cy="347180"/>
            </a:xfrm>
            <a:prstGeom prst="rect">
              <a:avLst/>
            </a:prstGeom>
            <a:gradFill rotWithShape="1">
              <a:gsLst>
                <a:gs pos="0">
                  <a:schemeClr val="accent2"/>
                </a:gs>
                <a:gs pos="100000">
                  <a:schemeClr val="accent1">
                    <a:lumMod val="60000"/>
                    <a:lumOff val="40000"/>
                  </a:schemeClr>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pic>
        <p:nvPicPr>
          <p:cNvPr id="16" name="Picture 15">
            <a:extLst>
              <a:ext uri="{FF2B5EF4-FFF2-40B4-BE49-F238E27FC236}">
                <a16:creationId xmlns:a16="http://schemas.microsoft.com/office/drawing/2014/main" id="{FE66C756-E519-F713-5BCA-902FB0603353}"/>
              </a:ext>
            </a:extLst>
          </p:cNvPr>
          <p:cNvPicPr>
            <a:picLocks/>
          </p:cNvPicPr>
          <p:nvPr/>
        </p:nvPicPr>
        <p:blipFill>
          <a:blip r:embed="rId2"/>
          <a:stretch>
            <a:fillRect/>
          </a:stretch>
        </p:blipFill>
        <p:spPr>
          <a:xfrm>
            <a:off x="6254496" y="1063614"/>
            <a:ext cx="5486400" cy="3657600"/>
          </a:xfrm>
          <a:prstGeom prst="rect">
            <a:avLst/>
          </a:prstGeom>
        </p:spPr>
      </p:pic>
      <p:pic>
        <p:nvPicPr>
          <p:cNvPr id="20" name="Picture 19">
            <a:extLst>
              <a:ext uri="{FF2B5EF4-FFF2-40B4-BE49-F238E27FC236}">
                <a16:creationId xmlns:a16="http://schemas.microsoft.com/office/drawing/2014/main" id="{C2C3F400-D4A4-4D57-DF9B-F59F3E4552C8}"/>
              </a:ext>
            </a:extLst>
          </p:cNvPr>
          <p:cNvPicPr>
            <a:picLocks/>
          </p:cNvPicPr>
          <p:nvPr/>
        </p:nvPicPr>
        <p:blipFill>
          <a:blip r:embed="rId3"/>
          <a:stretch>
            <a:fillRect/>
          </a:stretch>
        </p:blipFill>
        <p:spPr>
          <a:xfrm>
            <a:off x="212285" y="1153224"/>
            <a:ext cx="5486400" cy="3657600"/>
          </a:xfrm>
          <a:prstGeom prst="rect">
            <a:avLst/>
          </a:prstGeom>
        </p:spPr>
      </p:pic>
    </p:spTree>
    <p:extLst>
      <p:ext uri="{BB962C8B-B14F-4D97-AF65-F5344CB8AC3E}">
        <p14:creationId xmlns:p14="http://schemas.microsoft.com/office/powerpoint/2010/main" val="235001675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FF097-72DB-DBCD-A740-E151A2D12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EEEC9-7D84-C755-3211-BAC1170A83A5}"/>
              </a:ext>
            </a:extLst>
          </p:cNvPr>
          <p:cNvSpPr>
            <a:spLocks noGrp="1"/>
          </p:cNvSpPr>
          <p:nvPr>
            <p:ph type="title"/>
          </p:nvPr>
        </p:nvSpPr>
        <p:spPr/>
        <p:txBody>
          <a:bodyPr>
            <a:noAutofit/>
          </a:bodyPr>
          <a:lstStyle/>
          <a:p>
            <a:r>
              <a:rPr lang="en-US" sz="2000">
                <a:latin typeface="Calibri"/>
                <a:ea typeface="メイリオ"/>
                <a:cs typeface="Calibri"/>
              </a:rPr>
              <a:t>The NT1 referral network is highly concentrated with a distinct group of HCPs forming its established core</a:t>
            </a:r>
            <a:endParaRPr lang="en-US" sz="2000"/>
          </a:p>
        </p:txBody>
      </p:sp>
      <p:sp>
        <p:nvSpPr>
          <p:cNvPr id="5" name="Text Placeholder 4">
            <a:extLst>
              <a:ext uri="{FF2B5EF4-FFF2-40B4-BE49-F238E27FC236}">
                <a16:creationId xmlns:a16="http://schemas.microsoft.com/office/drawing/2014/main" id="{2ACA6B5E-9910-AFAB-C9E2-AE51E88B96BF}"/>
              </a:ext>
            </a:extLst>
          </p:cNvPr>
          <p:cNvSpPr>
            <a:spLocks noGrp="1"/>
          </p:cNvSpPr>
          <p:nvPr>
            <p:ph type="body" sz="quarter" idx="16"/>
          </p:nvPr>
        </p:nvSpPr>
        <p:spPr>
          <a:xfrm>
            <a:off x="606078" y="6651476"/>
            <a:ext cx="6968348" cy="205613"/>
          </a:xfrm>
        </p:spPr>
        <p:txBody>
          <a:bodyPr/>
          <a:lstStyle/>
          <a:p>
            <a:r>
              <a:rPr lang="en-US"/>
              <a:t>* Observation period varies by patient with each patient having 6 years of lookback and </a:t>
            </a:r>
            <a:r>
              <a:rPr lang="en-US" err="1"/>
              <a:t>atleast</a:t>
            </a:r>
            <a:r>
              <a:rPr lang="en-US"/>
              <a:t> 4 years of </a:t>
            </a:r>
            <a:r>
              <a:rPr lang="en-US" err="1"/>
              <a:t>lookforward</a:t>
            </a:r>
            <a:r>
              <a:rPr lang="en-US"/>
              <a:t> between 2016-2025</a:t>
            </a:r>
          </a:p>
        </p:txBody>
      </p:sp>
      <p:sp>
        <p:nvSpPr>
          <p:cNvPr id="25" name="Oval 24">
            <a:extLst>
              <a:ext uri="{FF2B5EF4-FFF2-40B4-BE49-F238E27FC236}">
                <a16:creationId xmlns:a16="http://schemas.microsoft.com/office/drawing/2014/main" id="{64BF9056-40C9-1CBE-AE5C-5092D307CD83}"/>
              </a:ext>
            </a:extLst>
          </p:cNvPr>
          <p:cNvSpPr/>
          <p:nvPr/>
        </p:nvSpPr>
        <p:spPr>
          <a:xfrm>
            <a:off x="90255" y="1308019"/>
            <a:ext cx="4734391" cy="4734391"/>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 name="Oval 25">
            <a:extLst>
              <a:ext uri="{FF2B5EF4-FFF2-40B4-BE49-F238E27FC236}">
                <a16:creationId xmlns:a16="http://schemas.microsoft.com/office/drawing/2014/main" id="{07CED553-3EBD-63BA-6EF8-4D55E68A13DE}"/>
              </a:ext>
            </a:extLst>
          </p:cNvPr>
          <p:cNvSpPr/>
          <p:nvPr/>
        </p:nvSpPr>
        <p:spPr>
          <a:xfrm>
            <a:off x="511330" y="2150169"/>
            <a:ext cx="3892241" cy="38922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 name="Oval 26">
            <a:extLst>
              <a:ext uri="{FF2B5EF4-FFF2-40B4-BE49-F238E27FC236}">
                <a16:creationId xmlns:a16="http://schemas.microsoft.com/office/drawing/2014/main" id="{D3E6F202-57D2-5A24-C1C4-0CA12AF8AE86}"/>
              </a:ext>
            </a:extLst>
          </p:cNvPr>
          <p:cNvSpPr/>
          <p:nvPr/>
        </p:nvSpPr>
        <p:spPr>
          <a:xfrm>
            <a:off x="989146" y="3105802"/>
            <a:ext cx="2936608" cy="29366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Rectangle 20">
            <a:extLst>
              <a:ext uri="{FF2B5EF4-FFF2-40B4-BE49-F238E27FC236}">
                <a16:creationId xmlns:a16="http://schemas.microsoft.com/office/drawing/2014/main" id="{F5DD9FFD-A7B4-1A6D-69DA-5B64214665CA}"/>
              </a:ext>
            </a:extLst>
          </p:cNvPr>
          <p:cNvSpPr/>
          <p:nvPr/>
        </p:nvSpPr>
        <p:spPr>
          <a:xfrm>
            <a:off x="1213786" y="1476735"/>
            <a:ext cx="2487328"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29</a:t>
            </a: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9</a:t>
            </a:r>
            <a:r>
              <a:rPr kumimoji="0" 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K</a:t>
            </a:r>
            <a:br>
              <a:rPr kumimoji="0" lang="en-US" sz="14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b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HCPs interacting</a:t>
            </a: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with</a:t>
            </a: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NT Patients for Relevant Activities</a:t>
            </a:r>
            <a:endParaRPr kumimoji="0" lang="en-US" sz="14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22" name="Rectangle 21">
            <a:extLst>
              <a:ext uri="{FF2B5EF4-FFF2-40B4-BE49-F238E27FC236}">
                <a16:creationId xmlns:a16="http://schemas.microsoft.com/office/drawing/2014/main" id="{04F11A64-7CE3-EFFD-F229-0270D05CAB5D}"/>
              </a:ext>
            </a:extLst>
          </p:cNvPr>
          <p:cNvSpPr/>
          <p:nvPr/>
        </p:nvSpPr>
        <p:spPr>
          <a:xfrm>
            <a:off x="1308948" y="2432368"/>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179K</a:t>
            </a:r>
            <a:br>
              <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HCPs with NT referral history</a:t>
            </a:r>
            <a:endPar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4B06361E-8A59-E4C5-1B21-E9A3F4DC392D}"/>
              </a:ext>
            </a:extLst>
          </p:cNvPr>
          <p:cNvSpPr/>
          <p:nvPr/>
        </p:nvSpPr>
        <p:spPr>
          <a:xfrm>
            <a:off x="1308948" y="4313775"/>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20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67K</a:t>
            </a:r>
            <a:br>
              <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12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HCPs actively involved in NT referrals</a:t>
            </a:r>
            <a:endParaRPr lang="en-US" sz="1400" b="1">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84BD7042-5A56-DBD1-D7E2-62A44ABAC17D}"/>
              </a:ext>
            </a:extLst>
          </p:cNvPr>
          <p:cNvSpPr/>
          <p:nvPr/>
        </p:nvSpPr>
        <p:spPr>
          <a:xfrm>
            <a:off x="0" y="6245774"/>
            <a:ext cx="12191998" cy="407951"/>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sz="1400" b="1">
                <a:solidFill>
                  <a:schemeClr val="bg1"/>
                </a:solidFill>
              </a:rPr>
              <a:t>Understanding who these concentrated sub-cohort of HCPs are and how they're connected will help unlock strategic opportunity</a:t>
            </a:r>
          </a:p>
        </p:txBody>
      </p:sp>
      <p:grpSp>
        <p:nvGrpSpPr>
          <p:cNvPr id="7" name="Group 6">
            <a:extLst>
              <a:ext uri="{FF2B5EF4-FFF2-40B4-BE49-F238E27FC236}">
                <a16:creationId xmlns:a16="http://schemas.microsoft.com/office/drawing/2014/main" id="{2922E271-5207-4AD5-0257-B5C00A716654}"/>
              </a:ext>
            </a:extLst>
          </p:cNvPr>
          <p:cNvGrpSpPr/>
          <p:nvPr/>
        </p:nvGrpSpPr>
        <p:grpSpPr>
          <a:xfrm>
            <a:off x="6544598" y="858227"/>
            <a:ext cx="3558626" cy="3148438"/>
            <a:chOff x="6544598" y="1578489"/>
            <a:chExt cx="3558626" cy="3148438"/>
          </a:xfrm>
        </p:grpSpPr>
        <p:graphicFrame>
          <p:nvGraphicFramePr>
            <p:cNvPr id="8" name="Chart 7">
              <a:extLst>
                <a:ext uri="{FF2B5EF4-FFF2-40B4-BE49-F238E27FC236}">
                  <a16:creationId xmlns:a16="http://schemas.microsoft.com/office/drawing/2014/main" id="{800B40E0-93A5-A795-CF8A-793061A82F5E}"/>
                </a:ext>
              </a:extLst>
            </p:cNvPr>
            <p:cNvGraphicFramePr/>
            <p:nvPr/>
          </p:nvGraphicFramePr>
          <p:xfrm>
            <a:off x="6544598" y="1578489"/>
            <a:ext cx="3558626" cy="3148438"/>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968F077F-1D88-07FE-3DA0-60907BD25B8C}"/>
                </a:ext>
              </a:extLst>
            </p:cNvPr>
            <p:cNvSpPr/>
            <p:nvPr/>
          </p:nvSpPr>
          <p:spPr>
            <a:xfrm>
              <a:off x="7175409" y="2892377"/>
              <a:ext cx="2297005" cy="520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n-US" sz="1400" b="1">
                  <a:solidFill>
                    <a:schemeClr val="tx1"/>
                  </a:solidFill>
                  <a:latin typeface="Arial" panose="020B0604020202020204" pitchFamily="34" charset="0"/>
                  <a:cs typeface="Arial" panose="020B0604020202020204" pitchFamily="34" charset="0"/>
                </a:rPr>
                <a:t>67K</a:t>
              </a:r>
              <a:br>
                <a:rPr lang="en-US" sz="1050" b="1">
                  <a:solidFill>
                    <a:schemeClr val="tx1"/>
                  </a:solidFill>
                  <a:latin typeface="Arial" panose="020B0604020202020204" pitchFamily="34" charset="0"/>
                  <a:cs typeface="Arial" panose="020B0604020202020204" pitchFamily="34" charset="0"/>
                </a:rPr>
              </a:br>
              <a:r>
                <a:rPr lang="en-US" sz="1000" b="1">
                  <a:solidFill>
                    <a:schemeClr val="tx1"/>
                  </a:solidFill>
                  <a:latin typeface="Arial" panose="020B0604020202020204" pitchFamily="34" charset="0"/>
                  <a:cs typeface="Arial" panose="020B0604020202020204" pitchFamily="34" charset="0"/>
                </a:rPr>
                <a:t>HCPs actively involved </a:t>
              </a:r>
              <a:br>
                <a:rPr lang="en-US" sz="1000" b="1">
                  <a:solidFill>
                    <a:schemeClr val="tx1"/>
                  </a:solidFill>
                  <a:latin typeface="Arial" panose="020B0604020202020204" pitchFamily="34" charset="0"/>
                  <a:cs typeface="Arial" panose="020B0604020202020204" pitchFamily="34" charset="0"/>
                </a:rPr>
              </a:br>
              <a:r>
                <a:rPr lang="en-US" sz="1000" b="1">
                  <a:solidFill>
                    <a:schemeClr val="tx1"/>
                  </a:solidFill>
                  <a:latin typeface="Arial" panose="020B0604020202020204" pitchFamily="34" charset="0"/>
                  <a:cs typeface="Arial" panose="020B0604020202020204" pitchFamily="34" charset="0"/>
                </a:rPr>
                <a:t>in NT referrals</a:t>
              </a:r>
              <a:endParaRPr lang="en-US" sz="1050" b="1">
                <a:solidFill>
                  <a:schemeClr val="tx1"/>
                </a:solidFill>
                <a:latin typeface="Arial" panose="020B0604020202020204" pitchFamily="34" charset="0"/>
                <a:cs typeface="Arial" panose="020B0604020202020204" pitchFamily="34" charset="0"/>
              </a:endParaRPr>
            </a:p>
          </p:txBody>
        </p:sp>
      </p:grpSp>
      <p:cxnSp>
        <p:nvCxnSpPr>
          <p:cNvPr id="9" name="Connector: Elbow 8">
            <a:extLst>
              <a:ext uri="{FF2B5EF4-FFF2-40B4-BE49-F238E27FC236}">
                <a16:creationId xmlns:a16="http://schemas.microsoft.com/office/drawing/2014/main" id="{B7E67311-1F7C-5762-7991-3F2C5FD68E21}"/>
              </a:ext>
            </a:extLst>
          </p:cNvPr>
          <p:cNvCxnSpPr>
            <a:cxnSpLocks/>
            <a:stCxn id="27" idx="6"/>
          </p:cNvCxnSpPr>
          <p:nvPr/>
        </p:nvCxnSpPr>
        <p:spPr>
          <a:xfrm flipV="1">
            <a:off x="3925754" y="2432446"/>
            <a:ext cx="2618844" cy="2141660"/>
          </a:xfrm>
          <a:prstGeom prst="bentConnector3">
            <a:avLst>
              <a:gd name="adj1" fmla="val 50000"/>
            </a:avLst>
          </a:prstGeom>
          <a:ln>
            <a:solidFill>
              <a:schemeClr val="bg2">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2029AA6A-9B2E-D65B-11C8-9657638B482B}"/>
              </a:ext>
            </a:extLst>
          </p:cNvPr>
          <p:cNvGraphicFramePr>
            <a:graphicFrameLocks noGrp="1"/>
          </p:cNvGraphicFramePr>
          <p:nvPr/>
        </p:nvGraphicFramePr>
        <p:xfrm>
          <a:off x="5980388" y="4017487"/>
          <a:ext cx="5486400" cy="1828800"/>
        </p:xfrm>
        <a:graphic>
          <a:graphicData uri="http://schemas.openxmlformats.org/drawingml/2006/table">
            <a:tbl>
              <a:tblPr firstRow="1" bandRow="1">
                <a:tableStyleId>{69CF1AB2-1976-4502-BF36-3FF5EA218861}</a:tableStyleId>
              </a:tblPr>
              <a:tblGrid>
                <a:gridCol w="1554480">
                  <a:extLst>
                    <a:ext uri="{9D8B030D-6E8A-4147-A177-3AD203B41FA5}">
                      <a16:colId xmlns:a16="http://schemas.microsoft.com/office/drawing/2014/main" val="904371047"/>
                    </a:ext>
                  </a:extLst>
                </a:gridCol>
                <a:gridCol w="3931920">
                  <a:extLst>
                    <a:ext uri="{9D8B030D-6E8A-4147-A177-3AD203B41FA5}">
                      <a16:colId xmlns:a16="http://schemas.microsoft.com/office/drawing/2014/main" val="1152697607"/>
                    </a:ext>
                  </a:extLst>
                </a:gridCol>
              </a:tblGrid>
              <a:tr h="370840">
                <a:tc>
                  <a:txBody>
                    <a:bodyPr/>
                    <a:lstStyle/>
                    <a:p>
                      <a:r>
                        <a:rPr lang="en-US" sz="1200" b="1">
                          <a:solidFill>
                            <a:schemeClr val="bg1"/>
                          </a:solidFill>
                        </a:rPr>
                        <a:t>Key Personas</a:t>
                      </a:r>
                      <a:br>
                        <a:rPr lang="en-US" sz="1200" b="1">
                          <a:solidFill>
                            <a:schemeClr val="bg1"/>
                          </a:solidFill>
                        </a:rPr>
                      </a:br>
                      <a:r>
                        <a:rPr lang="en-US" sz="1100" b="0" i="1">
                          <a:solidFill>
                            <a:schemeClr val="bg1"/>
                          </a:solidFill>
                        </a:rPr>
                        <a:t>(n=3132)</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1242A"/>
                    </a:solidFill>
                  </a:tcPr>
                </a:tc>
                <a:tc>
                  <a:txBody>
                    <a:bodyPr/>
                    <a:lstStyle/>
                    <a:p>
                      <a:r>
                        <a:rPr lang="en-US" sz="1200" b="0"/>
                        <a:t>HCPs with an established and strategic role in the NT1 referral network</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9946589"/>
                  </a:ext>
                </a:extLst>
              </a:tr>
              <a:tr h="370840">
                <a:tc>
                  <a:txBody>
                    <a:bodyPr/>
                    <a:lstStyle/>
                    <a:p>
                      <a:r>
                        <a:rPr lang="en-US" sz="1200" b="1">
                          <a:solidFill>
                            <a:schemeClr val="bg1"/>
                          </a:solidFill>
                        </a:rPr>
                        <a:t>Leakage HCPs</a:t>
                      </a:r>
                      <a:br>
                        <a:rPr lang="en-US" sz="1200" b="1">
                          <a:solidFill>
                            <a:schemeClr val="bg1"/>
                          </a:solidFill>
                        </a:rPr>
                      </a:br>
                      <a:r>
                        <a:rPr lang="en-US" sz="1100" b="0" i="1">
                          <a:solidFill>
                            <a:schemeClr val="bg1"/>
                          </a:solidFill>
                        </a:rPr>
                        <a:t>(n=5023)</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A6A6A6"/>
                    </a:solidFill>
                  </a:tcPr>
                </a:tc>
                <a:tc>
                  <a:txBody>
                    <a:bodyPr/>
                    <a:lstStyle/>
                    <a:p>
                      <a:r>
                        <a:rPr lang="en-US" sz="1200"/>
                        <a:t>HCPs who are acting as a sink point with no further referrals, NT1 treatments or Diagnosis for patients</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8837448"/>
                  </a:ext>
                </a:extLst>
              </a:tr>
              <a:tr h="370840">
                <a:tc>
                  <a:txBody>
                    <a:bodyPr/>
                    <a:lstStyle/>
                    <a:p>
                      <a:r>
                        <a:rPr lang="en-US" sz="1200" b="1">
                          <a:solidFill>
                            <a:schemeClr val="bg1"/>
                          </a:solidFill>
                        </a:rPr>
                        <a:t>Auxiliary Personas</a:t>
                      </a:r>
                    </a:p>
                    <a:p>
                      <a:r>
                        <a:rPr lang="en-US" sz="1100" b="0" i="1">
                          <a:solidFill>
                            <a:schemeClr val="bg1"/>
                          </a:solidFill>
                        </a:rPr>
                        <a:t>(n=46,097)</a:t>
                      </a:r>
                      <a:endParaRPr lang="en-US" sz="1200" b="0" i="1">
                        <a:solidFill>
                          <a:schemeClr val="bg1"/>
                        </a:solidFill>
                      </a:endParaRPr>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34373F"/>
                    </a:solidFill>
                  </a:tcPr>
                </a:tc>
                <a:tc>
                  <a:txBody>
                    <a:bodyPr/>
                    <a:lstStyle/>
                    <a:p>
                      <a:r>
                        <a:rPr lang="en-US" sz="1200"/>
                        <a:t>HCPs with aligned referral roles but limited strategic presence within the NT1 ecosystem</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9901554"/>
                  </a:ext>
                </a:extLst>
              </a:tr>
              <a:tr h="370840">
                <a:tc>
                  <a:txBody>
                    <a:bodyPr/>
                    <a:lstStyle/>
                    <a:p>
                      <a:r>
                        <a:rPr lang="en-US" sz="1200" b="1"/>
                        <a:t>Undifferentiated HCPs </a:t>
                      </a:r>
                      <a:r>
                        <a:rPr lang="en-US" sz="1100" b="0" i="1"/>
                        <a:t>(n=13,313)</a:t>
                      </a:r>
                      <a:endParaRPr lang="en-US" sz="1200" b="0" i="1"/>
                    </a:p>
                  </a:txBody>
                  <a:tcP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tcPr>
                </a:tc>
                <a:tc>
                  <a:txBody>
                    <a:bodyPr/>
                    <a:lstStyle/>
                    <a:p>
                      <a:r>
                        <a:rPr lang="en-US" sz="1200"/>
                        <a:t>HCPs present within the NT1 referral network but without a defined strategic or functional role in referral management.</a:t>
                      </a:r>
                    </a:p>
                  </a:txBody>
                  <a:tcPr>
                    <a:lnL w="635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654856747"/>
                  </a:ext>
                </a:extLst>
              </a:tr>
            </a:tbl>
          </a:graphicData>
        </a:graphic>
      </p:graphicFrame>
    </p:spTree>
    <p:extLst>
      <p:ext uri="{BB962C8B-B14F-4D97-AF65-F5344CB8AC3E}">
        <p14:creationId xmlns:p14="http://schemas.microsoft.com/office/powerpoint/2010/main" val="2585623934"/>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26587-0182-7422-1290-32731B9BEDF8}"/>
            </a:ext>
          </a:extLst>
        </p:cNvPr>
        <p:cNvGrpSpPr/>
        <p:nvPr/>
      </p:nvGrpSpPr>
      <p:grpSpPr>
        <a:xfrm>
          <a:off x="0" y="0"/>
          <a:ext cx="0" cy="0"/>
          <a:chOff x="0" y="0"/>
          <a:chExt cx="0" cy="0"/>
        </a:xfrm>
      </p:grpSpPr>
      <p:sp>
        <p:nvSpPr>
          <p:cNvPr id="29" name="Pentagon 3">
            <a:extLst>
              <a:ext uri="{FF2B5EF4-FFF2-40B4-BE49-F238E27FC236}">
                <a16:creationId xmlns:a16="http://schemas.microsoft.com/office/drawing/2014/main" id="{8F86F0E5-766B-3BC5-1F3C-2E599CF276B8}"/>
              </a:ext>
            </a:extLst>
          </p:cNvPr>
          <p:cNvSpPr/>
          <p:nvPr/>
        </p:nvSpPr>
        <p:spPr>
          <a:xfrm>
            <a:off x="8802079" y="1133958"/>
            <a:ext cx="2039674" cy="26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400" b="1" noProof="0">
                <a:solidFill>
                  <a:schemeClr val="tx1"/>
                </a:solidFill>
                <a:latin typeface="+mj-lt"/>
                <a:ea typeface="League Spartan" charset="0"/>
                <a:cs typeface="Poppins" pitchFamily="2" charset="77"/>
              </a:rPr>
              <a:t>AUXILIARY PERSONAS</a:t>
            </a:r>
          </a:p>
        </p:txBody>
      </p:sp>
      <p:grpSp>
        <p:nvGrpSpPr>
          <p:cNvPr id="32" name="Group 31">
            <a:extLst>
              <a:ext uri="{FF2B5EF4-FFF2-40B4-BE49-F238E27FC236}">
                <a16:creationId xmlns:a16="http://schemas.microsoft.com/office/drawing/2014/main" id="{D05245E6-6076-5619-3419-677ECFE6F0D6}"/>
              </a:ext>
            </a:extLst>
          </p:cNvPr>
          <p:cNvGrpSpPr/>
          <p:nvPr/>
        </p:nvGrpSpPr>
        <p:grpSpPr>
          <a:xfrm>
            <a:off x="8802079" y="1573252"/>
            <a:ext cx="2651760" cy="548640"/>
            <a:chOff x="656629" y="3472817"/>
            <a:chExt cx="2651760" cy="2032079"/>
          </a:xfrm>
        </p:grpSpPr>
        <p:sp>
          <p:nvSpPr>
            <p:cNvPr id="33" name="Pentagon 3">
              <a:extLst>
                <a:ext uri="{FF2B5EF4-FFF2-40B4-BE49-F238E27FC236}">
                  <a16:creationId xmlns:a16="http://schemas.microsoft.com/office/drawing/2014/main" id="{609A1D75-A1C1-21FB-50FC-45708DE98E80}"/>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Low Value Treaters: </a:t>
              </a:r>
              <a:r>
                <a:rPr lang="en-US" sz="1200" b="1">
                  <a:solidFill>
                    <a:schemeClr val="tx1"/>
                  </a:solidFill>
                  <a:latin typeface="+mj-lt"/>
                  <a:ea typeface="League Spartan" charset="0"/>
                  <a:cs typeface="Poppins" pitchFamily="2" charset="77"/>
                </a:rPr>
                <a:t>0.42% </a:t>
              </a:r>
              <a:r>
                <a:rPr lang="en-US" sz="1000" i="1">
                  <a:solidFill>
                    <a:schemeClr val="tx1"/>
                  </a:solidFill>
                  <a:latin typeface="+mj-lt"/>
                  <a:ea typeface="League Spartan" charset="0"/>
                  <a:cs typeface="Poppins" pitchFamily="2" charset="77"/>
                </a:rPr>
                <a:t>(n=286)</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p:txBody>
        </p:sp>
        <p:sp>
          <p:nvSpPr>
            <p:cNvPr id="34" name="Pentagon 3">
              <a:extLst>
                <a:ext uri="{FF2B5EF4-FFF2-40B4-BE49-F238E27FC236}">
                  <a16:creationId xmlns:a16="http://schemas.microsoft.com/office/drawing/2014/main" id="{020BFA21-96A7-16BB-C0B3-34FF69DB9E03}"/>
                </a:ext>
              </a:extLst>
            </p:cNvPr>
            <p:cNvSpPr/>
            <p:nvPr/>
          </p:nvSpPr>
          <p:spPr>
            <a:xfrm>
              <a:off x="656630" y="3472817"/>
              <a:ext cx="45719" cy="2032079"/>
            </a:xfrm>
            <a:prstGeom prst="roundRect">
              <a:avLst/>
            </a:prstGeom>
            <a:solidFill>
              <a:srgbClr val="E1242A">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37" name="Group 36">
            <a:extLst>
              <a:ext uri="{FF2B5EF4-FFF2-40B4-BE49-F238E27FC236}">
                <a16:creationId xmlns:a16="http://schemas.microsoft.com/office/drawing/2014/main" id="{2CAEA03F-4330-769B-F703-299E7D652B2D}"/>
              </a:ext>
            </a:extLst>
          </p:cNvPr>
          <p:cNvGrpSpPr/>
          <p:nvPr/>
        </p:nvGrpSpPr>
        <p:grpSpPr>
          <a:xfrm>
            <a:off x="8802079" y="2259747"/>
            <a:ext cx="2651760" cy="548640"/>
            <a:chOff x="656629" y="3472817"/>
            <a:chExt cx="2651760" cy="2032079"/>
          </a:xfrm>
        </p:grpSpPr>
        <p:sp>
          <p:nvSpPr>
            <p:cNvPr id="40" name="Pentagon 3">
              <a:extLst>
                <a:ext uri="{FF2B5EF4-FFF2-40B4-BE49-F238E27FC236}">
                  <a16:creationId xmlns:a16="http://schemas.microsoft.com/office/drawing/2014/main" id="{93FB67C8-64D8-6092-50FB-4203D42F73C0}"/>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tx1"/>
                  </a:solidFill>
                  <a:ea typeface="League Spartan" charset="0"/>
                  <a:cs typeface="Poppins" pitchFamily="2" charset="77"/>
                </a:rPr>
                <a:t>Low Value </a:t>
              </a:r>
              <a:r>
                <a:rPr kumimoji="0" lang="en-US" sz="1200" b="1" i="0" u="none" strike="noStrike" kern="1200" cap="none" spc="0" normalizeH="0" baseline="0" noProof="0" err="1">
                  <a:ln>
                    <a:noFill/>
                  </a:ln>
                  <a:solidFill>
                    <a:schemeClr val="tx1"/>
                  </a:solidFill>
                  <a:effectLst/>
                  <a:uLnTx/>
                  <a:uFillTx/>
                  <a:latin typeface="+mj-lt"/>
                  <a:ea typeface="League Spartan" charset="0"/>
                  <a:cs typeface="Poppins" pitchFamily="2" charset="77"/>
                </a:rPr>
                <a:t>Diagnosers</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 </a:t>
              </a:r>
              <a:r>
                <a:rPr lang="en-US" sz="1200" b="1">
                  <a:solidFill>
                    <a:schemeClr val="tx1"/>
                  </a:solidFill>
                  <a:latin typeface="+mj-lt"/>
                  <a:ea typeface="League Spartan" charset="0"/>
                  <a:cs typeface="Poppins" pitchFamily="2" charset="77"/>
                </a:rPr>
                <a:t>0.64% </a:t>
              </a:r>
              <a:r>
                <a:rPr lang="en-US" sz="1000" i="1">
                  <a:solidFill>
                    <a:schemeClr val="tx1"/>
                  </a:solidFill>
                  <a:latin typeface="+mj-lt"/>
                  <a:ea typeface="League Spartan" charset="0"/>
                  <a:cs typeface="Poppins" pitchFamily="2" charset="77"/>
                </a:rPr>
                <a:t>(n=430)</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p:txBody>
        </p:sp>
        <p:sp>
          <p:nvSpPr>
            <p:cNvPr id="43" name="Pentagon 3">
              <a:extLst>
                <a:ext uri="{FF2B5EF4-FFF2-40B4-BE49-F238E27FC236}">
                  <a16:creationId xmlns:a16="http://schemas.microsoft.com/office/drawing/2014/main" id="{57B22B8F-33C6-EA1E-8F1A-EE59787B87EE}"/>
                </a:ext>
              </a:extLst>
            </p:cNvPr>
            <p:cNvSpPr/>
            <p:nvPr/>
          </p:nvSpPr>
          <p:spPr>
            <a:xfrm>
              <a:off x="656630" y="3472817"/>
              <a:ext cx="45719" cy="2032079"/>
            </a:xfrm>
            <a:prstGeom prst="roundRect">
              <a:avLst/>
            </a:prstGeom>
            <a:solidFill>
              <a:srgbClr val="00B05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52" name="Group 51">
            <a:extLst>
              <a:ext uri="{FF2B5EF4-FFF2-40B4-BE49-F238E27FC236}">
                <a16:creationId xmlns:a16="http://schemas.microsoft.com/office/drawing/2014/main" id="{64633A0D-1F5C-EDB9-F1A3-9219B5458655}"/>
              </a:ext>
            </a:extLst>
          </p:cNvPr>
          <p:cNvGrpSpPr/>
          <p:nvPr/>
        </p:nvGrpSpPr>
        <p:grpSpPr>
          <a:xfrm>
            <a:off x="8802079" y="3632737"/>
            <a:ext cx="2651760" cy="548640"/>
            <a:chOff x="656630" y="3472817"/>
            <a:chExt cx="2651760" cy="2032079"/>
          </a:xfrm>
        </p:grpSpPr>
        <p:sp>
          <p:nvSpPr>
            <p:cNvPr id="53" name="Pentagon 3">
              <a:extLst>
                <a:ext uri="{FF2B5EF4-FFF2-40B4-BE49-F238E27FC236}">
                  <a16:creationId xmlns:a16="http://schemas.microsoft.com/office/drawing/2014/main" id="{6D712E94-7148-0C11-E126-3885B53F88C5}"/>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tx1"/>
                  </a:solidFill>
                  <a:ea typeface="League Spartan" charset="0"/>
                  <a:cs typeface="Poppins" pitchFamily="2" charset="77"/>
                </a:rPr>
                <a:t>Low Value </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Influencers: </a:t>
              </a:r>
              <a:r>
                <a:rPr lang="en-US" sz="1200" b="1">
                  <a:solidFill>
                    <a:schemeClr val="tx1"/>
                  </a:solidFill>
                  <a:latin typeface="+mj-lt"/>
                  <a:ea typeface="League Spartan" charset="0"/>
                  <a:cs typeface="Poppins" pitchFamily="2" charset="77"/>
                </a:rPr>
                <a:t>0.93% </a:t>
              </a:r>
              <a:r>
                <a:rPr lang="en-US" sz="1000" i="1">
                  <a:solidFill>
                    <a:schemeClr val="tx1"/>
                  </a:solidFill>
                  <a:latin typeface="+mj-lt"/>
                  <a:ea typeface="League Spartan" charset="0"/>
                  <a:cs typeface="Poppins" pitchFamily="2" charset="77"/>
                </a:rPr>
                <a:t>(n=628)</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p:txBody>
        </p:sp>
        <p:sp>
          <p:nvSpPr>
            <p:cNvPr id="55" name="Pentagon 3">
              <a:extLst>
                <a:ext uri="{FF2B5EF4-FFF2-40B4-BE49-F238E27FC236}">
                  <a16:creationId xmlns:a16="http://schemas.microsoft.com/office/drawing/2014/main" id="{B4CAD15E-DCD6-59BB-AAF6-D926C3444A5D}"/>
                </a:ext>
              </a:extLst>
            </p:cNvPr>
            <p:cNvSpPr/>
            <p:nvPr/>
          </p:nvSpPr>
          <p:spPr>
            <a:xfrm>
              <a:off x="656630" y="3472817"/>
              <a:ext cx="45719" cy="2032079"/>
            </a:xfrm>
            <a:prstGeom prst="roundRect">
              <a:avLst/>
            </a:prstGeom>
            <a:solidFill>
              <a:srgbClr val="7030A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56" name="Group 55">
            <a:extLst>
              <a:ext uri="{FF2B5EF4-FFF2-40B4-BE49-F238E27FC236}">
                <a16:creationId xmlns:a16="http://schemas.microsoft.com/office/drawing/2014/main" id="{D29EA959-B3E5-08B9-8790-055B8667D0B4}"/>
              </a:ext>
            </a:extLst>
          </p:cNvPr>
          <p:cNvGrpSpPr/>
          <p:nvPr/>
        </p:nvGrpSpPr>
        <p:grpSpPr>
          <a:xfrm>
            <a:off x="8802079" y="4319233"/>
            <a:ext cx="2651760" cy="548640"/>
            <a:chOff x="656630" y="3472817"/>
            <a:chExt cx="2651760" cy="2032079"/>
          </a:xfrm>
        </p:grpSpPr>
        <p:sp>
          <p:nvSpPr>
            <p:cNvPr id="57" name="Pentagon 3">
              <a:extLst>
                <a:ext uri="{FF2B5EF4-FFF2-40B4-BE49-F238E27FC236}">
                  <a16:creationId xmlns:a16="http://schemas.microsoft.com/office/drawing/2014/main" id="{F45A8C2F-0111-CCEE-7E80-3FEB587E7B2D}"/>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tx1"/>
                  </a:solidFill>
                  <a:ea typeface="League Spartan" charset="0"/>
                  <a:cs typeface="Poppins" pitchFamily="2" charset="77"/>
                </a:rPr>
                <a:t>Low Value </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Referrers: </a:t>
              </a:r>
              <a:r>
                <a:rPr lang="en-US" sz="1200" b="1">
                  <a:solidFill>
                    <a:schemeClr val="tx1"/>
                  </a:solidFill>
                  <a:latin typeface="+mj-lt"/>
                  <a:ea typeface="League Spartan" charset="0"/>
                  <a:cs typeface="Poppins" pitchFamily="2" charset="77"/>
                </a:rPr>
                <a:t>66.18% </a:t>
              </a:r>
              <a:r>
                <a:rPr lang="en-US" sz="1000" i="1">
                  <a:solidFill>
                    <a:schemeClr val="tx1"/>
                  </a:solidFill>
                  <a:latin typeface="+mj-lt"/>
                  <a:ea typeface="League Spartan" charset="0"/>
                  <a:cs typeface="Poppins" pitchFamily="2" charset="77"/>
                </a:rPr>
                <a:t>(n=44,753)</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p:txBody>
        </p:sp>
        <p:sp>
          <p:nvSpPr>
            <p:cNvPr id="58" name="Pentagon 3">
              <a:extLst>
                <a:ext uri="{FF2B5EF4-FFF2-40B4-BE49-F238E27FC236}">
                  <a16:creationId xmlns:a16="http://schemas.microsoft.com/office/drawing/2014/main" id="{B7C821AF-0B24-3C5F-CA66-7B65A0EE003F}"/>
                </a:ext>
              </a:extLst>
            </p:cNvPr>
            <p:cNvSpPr/>
            <p:nvPr/>
          </p:nvSpPr>
          <p:spPr>
            <a:xfrm>
              <a:off x="656630" y="3472817"/>
              <a:ext cx="45719" cy="2032079"/>
            </a:xfrm>
            <a:prstGeom prst="round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pic>
        <p:nvPicPr>
          <p:cNvPr id="54" name="Picture 53">
            <a:extLst>
              <a:ext uri="{FF2B5EF4-FFF2-40B4-BE49-F238E27FC236}">
                <a16:creationId xmlns:a16="http://schemas.microsoft.com/office/drawing/2014/main" id="{42CD9F9A-6B07-4401-26B7-CC5D92E08726}"/>
              </a:ext>
            </a:extLst>
          </p:cNvPr>
          <p:cNvPicPr>
            <a:picLocks noChangeAspect="1"/>
          </p:cNvPicPr>
          <p:nvPr/>
        </p:nvPicPr>
        <p:blipFill>
          <a:blip r:embed="rId2"/>
          <a:stretch>
            <a:fillRect/>
          </a:stretch>
        </p:blipFill>
        <p:spPr>
          <a:xfrm>
            <a:off x="366033" y="1573252"/>
            <a:ext cx="3572264" cy="3501725"/>
          </a:xfrm>
          <a:prstGeom prst="rect">
            <a:avLst/>
          </a:prstGeom>
        </p:spPr>
      </p:pic>
      <p:sp>
        <p:nvSpPr>
          <p:cNvPr id="2" name="Title 1">
            <a:extLst>
              <a:ext uri="{FF2B5EF4-FFF2-40B4-BE49-F238E27FC236}">
                <a16:creationId xmlns:a16="http://schemas.microsoft.com/office/drawing/2014/main" id="{CD14C633-F89F-516F-9A2E-0AC4D9B8E737}"/>
              </a:ext>
            </a:extLst>
          </p:cNvPr>
          <p:cNvSpPr>
            <a:spLocks noGrp="1"/>
          </p:cNvSpPr>
          <p:nvPr>
            <p:ph type="title"/>
          </p:nvPr>
        </p:nvSpPr>
        <p:spPr>
          <a:xfrm>
            <a:off x="606078" y="161605"/>
            <a:ext cx="10014297" cy="685801"/>
          </a:xfrm>
        </p:spPr>
        <p:txBody>
          <a:bodyPr>
            <a:noAutofit/>
          </a:bodyPr>
          <a:lstStyle/>
          <a:p>
            <a:r>
              <a:rPr lang="en-US" sz="2000">
                <a:solidFill>
                  <a:schemeClr val="accent1"/>
                </a:solidFill>
                <a:latin typeface="Calibri"/>
                <a:ea typeface="メイリオ"/>
                <a:cs typeface="Calibri"/>
              </a:rPr>
              <a:t>Key Personas:</a:t>
            </a:r>
            <a:r>
              <a:rPr lang="en-US" sz="2000">
                <a:latin typeface="Calibri"/>
                <a:ea typeface="メイリオ"/>
                <a:cs typeface="Calibri"/>
              </a:rPr>
              <a:t> A small, high-impact cohort of 5% HCPs accounts for a disproportionate share of 53% of top-decile targets in the NT network</a:t>
            </a:r>
          </a:p>
        </p:txBody>
      </p:sp>
      <p:grpSp>
        <p:nvGrpSpPr>
          <p:cNvPr id="92" name="Group 91">
            <a:extLst>
              <a:ext uri="{FF2B5EF4-FFF2-40B4-BE49-F238E27FC236}">
                <a16:creationId xmlns:a16="http://schemas.microsoft.com/office/drawing/2014/main" id="{54ACE8D6-FA44-7BAA-03A3-146188505226}"/>
              </a:ext>
            </a:extLst>
          </p:cNvPr>
          <p:cNvGrpSpPr/>
          <p:nvPr/>
        </p:nvGrpSpPr>
        <p:grpSpPr>
          <a:xfrm>
            <a:off x="4813096" y="1573252"/>
            <a:ext cx="2651760" cy="548640"/>
            <a:chOff x="656629" y="3472817"/>
            <a:chExt cx="2651760" cy="2032079"/>
          </a:xfrm>
        </p:grpSpPr>
        <p:sp>
          <p:nvSpPr>
            <p:cNvPr id="93" name="Pentagon 3">
              <a:extLst>
                <a:ext uri="{FF2B5EF4-FFF2-40B4-BE49-F238E27FC236}">
                  <a16:creationId xmlns:a16="http://schemas.microsoft.com/office/drawing/2014/main" id="{81A51EFD-81BA-0CA4-204C-B2E5375F38F5}"/>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Treaters: </a:t>
              </a:r>
              <a:r>
                <a:rPr lang="en-US" sz="1200" b="1">
                  <a:solidFill>
                    <a:schemeClr val="tx1"/>
                  </a:solidFill>
                  <a:latin typeface="+mj-lt"/>
                  <a:ea typeface="League Spartan" charset="0"/>
                  <a:cs typeface="Poppins" pitchFamily="2" charset="77"/>
                </a:rPr>
                <a:t>0.47% </a:t>
              </a:r>
              <a:r>
                <a:rPr lang="en-US" sz="1000" i="1">
                  <a:solidFill>
                    <a:schemeClr val="tx1"/>
                  </a:solidFill>
                  <a:latin typeface="+mj-lt"/>
                  <a:ea typeface="League Spartan" charset="0"/>
                  <a:cs typeface="Poppins" pitchFamily="2" charset="77"/>
                </a:rPr>
                <a:t>(n=315)</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Managing NT1 relevant treatment for a high-volume of patients</a:t>
              </a:r>
            </a:p>
          </p:txBody>
        </p:sp>
        <p:sp>
          <p:nvSpPr>
            <p:cNvPr id="94" name="Pentagon 3">
              <a:extLst>
                <a:ext uri="{FF2B5EF4-FFF2-40B4-BE49-F238E27FC236}">
                  <a16:creationId xmlns:a16="http://schemas.microsoft.com/office/drawing/2014/main" id="{08F43E0F-477C-312D-89E6-15EAA53ED6E6}"/>
                </a:ext>
              </a:extLst>
            </p:cNvPr>
            <p:cNvSpPr/>
            <p:nvPr/>
          </p:nvSpPr>
          <p:spPr>
            <a:xfrm>
              <a:off x="656630" y="3472817"/>
              <a:ext cx="45719" cy="203207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sp>
        <p:nvSpPr>
          <p:cNvPr id="134" name="Rectangle: Rounded Corners 133">
            <a:extLst>
              <a:ext uri="{FF2B5EF4-FFF2-40B4-BE49-F238E27FC236}">
                <a16:creationId xmlns:a16="http://schemas.microsoft.com/office/drawing/2014/main" id="{D924409F-9561-0A5E-82A7-5FA597B188F5}"/>
              </a:ext>
            </a:extLst>
          </p:cNvPr>
          <p:cNvSpPr/>
          <p:nvPr/>
        </p:nvSpPr>
        <p:spPr>
          <a:xfrm>
            <a:off x="4813095" y="5126845"/>
            <a:ext cx="3083619"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100" b="1"/>
              <a:t>Total HCPs</a:t>
            </a:r>
            <a:r>
              <a:rPr kumimoji="1" lang="en-US" sz="1100"/>
              <a:t>: 3,132 </a:t>
            </a:r>
            <a:r>
              <a:rPr kumimoji="1" lang="en-US" sz="1050" i="1"/>
              <a:t>(5% of the Universe)</a:t>
            </a:r>
          </a:p>
          <a:p>
            <a:pPr>
              <a:spcBef>
                <a:spcPts val="600"/>
              </a:spcBef>
            </a:pPr>
            <a:r>
              <a:rPr kumimoji="1" lang="en-US" sz="1100" b="1"/>
              <a:t>% of Identified Targets Covered</a:t>
            </a:r>
            <a:r>
              <a:rPr kumimoji="1" lang="en-US" sz="1100" b="1" baseline="30000"/>
              <a:t>*</a:t>
            </a:r>
            <a:r>
              <a:rPr kumimoji="1" lang="en-US" sz="1100" b="1"/>
              <a:t>: </a:t>
            </a:r>
            <a:r>
              <a:rPr kumimoji="1" lang="en-US" sz="1100"/>
              <a:t>29%</a:t>
            </a:r>
            <a:r>
              <a:rPr kumimoji="1" lang="en-US" sz="1100" b="1"/>
              <a:t> </a:t>
            </a:r>
          </a:p>
          <a:p>
            <a:pPr>
              <a:spcBef>
                <a:spcPts val="600"/>
              </a:spcBef>
            </a:pPr>
            <a:r>
              <a:rPr kumimoji="1" lang="en-US" sz="1100" b="1"/>
              <a:t>% of Identified Decile 5-10 Targets Covered</a:t>
            </a:r>
            <a:r>
              <a:rPr kumimoji="1" lang="en-US" sz="1100" b="1" baseline="30000"/>
              <a:t>^</a:t>
            </a:r>
            <a:r>
              <a:rPr kumimoji="1" lang="en-US" sz="1100" b="1"/>
              <a:t>: </a:t>
            </a:r>
            <a:r>
              <a:rPr kumimoji="1" lang="en-US" sz="1100"/>
              <a:t>53%</a:t>
            </a:r>
          </a:p>
        </p:txBody>
      </p:sp>
      <p:sp>
        <p:nvSpPr>
          <p:cNvPr id="12" name="Rectangle 11">
            <a:extLst>
              <a:ext uri="{FF2B5EF4-FFF2-40B4-BE49-F238E27FC236}">
                <a16:creationId xmlns:a16="http://schemas.microsoft.com/office/drawing/2014/main" id="{89ED8031-164C-7920-3D9D-A3D129541B91}"/>
              </a:ext>
            </a:extLst>
          </p:cNvPr>
          <p:cNvSpPr/>
          <p:nvPr/>
        </p:nvSpPr>
        <p:spPr>
          <a:xfrm>
            <a:off x="606078" y="6417980"/>
            <a:ext cx="6507092" cy="266657"/>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wrap="none" rtlCol="0" anchor="t"/>
          <a:lstStyle/>
          <a:p>
            <a:r>
              <a:rPr kumimoji="1" lang="en-US" sz="800"/>
              <a:t>* Amongst target list HCPs who are part of Referral Universe : N=7,562</a:t>
            </a:r>
          </a:p>
          <a:p>
            <a:r>
              <a:rPr kumimoji="1" lang="en-US" sz="800"/>
              <a:t>^ Amongst Decile 5-10 target list HCPs who are part of Referral Universe : N=2,584</a:t>
            </a:r>
          </a:p>
        </p:txBody>
      </p:sp>
      <p:grpSp>
        <p:nvGrpSpPr>
          <p:cNvPr id="6" name="Group 5">
            <a:extLst>
              <a:ext uri="{FF2B5EF4-FFF2-40B4-BE49-F238E27FC236}">
                <a16:creationId xmlns:a16="http://schemas.microsoft.com/office/drawing/2014/main" id="{8983A85E-D06C-7E8C-EA1F-E33DB2C01E6E}"/>
              </a:ext>
            </a:extLst>
          </p:cNvPr>
          <p:cNvGrpSpPr/>
          <p:nvPr/>
        </p:nvGrpSpPr>
        <p:grpSpPr>
          <a:xfrm>
            <a:off x="4813096" y="2259747"/>
            <a:ext cx="2651760" cy="548640"/>
            <a:chOff x="656629" y="3472817"/>
            <a:chExt cx="2651760" cy="2032079"/>
          </a:xfrm>
        </p:grpSpPr>
        <p:sp>
          <p:nvSpPr>
            <p:cNvPr id="7" name="Pentagon 3">
              <a:extLst>
                <a:ext uri="{FF2B5EF4-FFF2-40B4-BE49-F238E27FC236}">
                  <a16:creationId xmlns:a16="http://schemas.microsoft.com/office/drawing/2014/main" id="{265CA2F9-7A87-E843-3E4A-DB6598132558}"/>
                </a:ext>
              </a:extLst>
            </p:cNvPr>
            <p:cNvSpPr/>
            <p:nvPr/>
          </p:nvSpPr>
          <p:spPr>
            <a:xfrm>
              <a:off x="656629"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a:t>
              </a:r>
              <a:r>
                <a:rPr kumimoji="0" lang="en-US" sz="1200" b="1" i="0" u="none" strike="noStrike" kern="1200" cap="none" spc="0" normalizeH="0" baseline="0" noProof="0" err="1">
                  <a:ln>
                    <a:noFill/>
                  </a:ln>
                  <a:solidFill>
                    <a:schemeClr val="tx1"/>
                  </a:solidFill>
                  <a:effectLst/>
                  <a:uLnTx/>
                  <a:uFillTx/>
                  <a:latin typeface="+mj-lt"/>
                  <a:ea typeface="League Spartan" charset="0"/>
                  <a:cs typeface="Poppins" pitchFamily="2" charset="77"/>
                </a:rPr>
                <a:t>Diagnosers</a:t>
              </a:r>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 </a:t>
              </a:r>
              <a:r>
                <a:rPr lang="en-US" sz="1200" b="1">
                  <a:solidFill>
                    <a:schemeClr val="tx1"/>
                  </a:solidFill>
                  <a:latin typeface="+mj-lt"/>
                  <a:ea typeface="League Spartan" charset="0"/>
                  <a:cs typeface="Poppins" pitchFamily="2" charset="77"/>
                </a:rPr>
                <a:t>1.06% </a:t>
              </a:r>
              <a:r>
                <a:rPr lang="en-US" sz="1000" i="1">
                  <a:solidFill>
                    <a:schemeClr val="tx1"/>
                  </a:solidFill>
                  <a:latin typeface="+mj-lt"/>
                  <a:ea typeface="League Spartan" charset="0"/>
                  <a:cs typeface="Poppins" pitchFamily="2" charset="77"/>
                </a:rPr>
                <a:t>(n=717)</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Consistently seeing and diagnosing a high-volume of patients with NT1</a:t>
              </a:r>
            </a:p>
          </p:txBody>
        </p:sp>
        <p:sp>
          <p:nvSpPr>
            <p:cNvPr id="8" name="Pentagon 3">
              <a:extLst>
                <a:ext uri="{FF2B5EF4-FFF2-40B4-BE49-F238E27FC236}">
                  <a16:creationId xmlns:a16="http://schemas.microsoft.com/office/drawing/2014/main" id="{A1A50B21-60D1-300B-0D48-036612E8213A}"/>
                </a:ext>
              </a:extLst>
            </p:cNvPr>
            <p:cNvSpPr/>
            <p:nvPr/>
          </p:nvSpPr>
          <p:spPr>
            <a:xfrm>
              <a:off x="656630" y="3472817"/>
              <a:ext cx="45719" cy="203207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9" name="Group 8">
            <a:extLst>
              <a:ext uri="{FF2B5EF4-FFF2-40B4-BE49-F238E27FC236}">
                <a16:creationId xmlns:a16="http://schemas.microsoft.com/office/drawing/2014/main" id="{FA1F13E8-6610-321F-CAAB-368DF54303FD}"/>
              </a:ext>
            </a:extLst>
          </p:cNvPr>
          <p:cNvGrpSpPr/>
          <p:nvPr/>
        </p:nvGrpSpPr>
        <p:grpSpPr>
          <a:xfrm>
            <a:off x="4813097" y="2946242"/>
            <a:ext cx="2651760" cy="548640"/>
            <a:chOff x="656630" y="3472817"/>
            <a:chExt cx="2651760" cy="2032079"/>
          </a:xfrm>
        </p:grpSpPr>
        <p:sp>
          <p:nvSpPr>
            <p:cNvPr id="10" name="Pentagon 3">
              <a:extLst>
                <a:ext uri="{FF2B5EF4-FFF2-40B4-BE49-F238E27FC236}">
                  <a16:creationId xmlns:a16="http://schemas.microsoft.com/office/drawing/2014/main" id="{6D5A25E2-BE06-D5B1-AD53-E09931EB1CE5}"/>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Bridgers: </a:t>
              </a:r>
              <a:r>
                <a:rPr lang="en-US" sz="1200" b="1">
                  <a:solidFill>
                    <a:schemeClr val="tx1"/>
                  </a:solidFill>
                  <a:latin typeface="+mj-lt"/>
                  <a:ea typeface="League Spartan" charset="0"/>
                  <a:cs typeface="Poppins" pitchFamily="2" charset="77"/>
                </a:rPr>
                <a:t>0.41% </a:t>
              </a:r>
              <a:r>
                <a:rPr lang="en-US" sz="1000" i="1">
                  <a:solidFill>
                    <a:schemeClr val="tx1"/>
                  </a:solidFill>
                  <a:latin typeface="+mj-lt"/>
                  <a:ea typeface="League Spartan" charset="0"/>
                  <a:cs typeface="Poppins" pitchFamily="2" charset="77"/>
                </a:rPr>
                <a:t>(n=280)</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Key HCP redirecting the patient to the targeted HCPs for NT1 diagnosis or referrals</a:t>
              </a:r>
            </a:p>
          </p:txBody>
        </p:sp>
        <p:sp>
          <p:nvSpPr>
            <p:cNvPr id="11" name="Pentagon 3">
              <a:extLst>
                <a:ext uri="{FF2B5EF4-FFF2-40B4-BE49-F238E27FC236}">
                  <a16:creationId xmlns:a16="http://schemas.microsoft.com/office/drawing/2014/main" id="{059EEA42-06CE-DB1D-EC3F-64ADBB9036FA}"/>
                </a:ext>
              </a:extLst>
            </p:cNvPr>
            <p:cNvSpPr/>
            <p:nvPr/>
          </p:nvSpPr>
          <p:spPr>
            <a:xfrm>
              <a:off x="656630" y="3472817"/>
              <a:ext cx="45719" cy="203207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13" name="Group 12">
            <a:extLst>
              <a:ext uri="{FF2B5EF4-FFF2-40B4-BE49-F238E27FC236}">
                <a16:creationId xmlns:a16="http://schemas.microsoft.com/office/drawing/2014/main" id="{86F2A31C-C89B-0F43-5647-A638C3550668}"/>
              </a:ext>
            </a:extLst>
          </p:cNvPr>
          <p:cNvGrpSpPr/>
          <p:nvPr/>
        </p:nvGrpSpPr>
        <p:grpSpPr>
          <a:xfrm>
            <a:off x="4813097" y="3632737"/>
            <a:ext cx="2651760" cy="548640"/>
            <a:chOff x="656630" y="3472817"/>
            <a:chExt cx="2651760" cy="2032079"/>
          </a:xfrm>
        </p:grpSpPr>
        <p:sp>
          <p:nvSpPr>
            <p:cNvPr id="14" name="Pentagon 3">
              <a:extLst>
                <a:ext uri="{FF2B5EF4-FFF2-40B4-BE49-F238E27FC236}">
                  <a16:creationId xmlns:a16="http://schemas.microsoft.com/office/drawing/2014/main" id="{18919FA2-C7CC-FDCC-C6F0-85205FA880D4}"/>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Key Influencers: </a:t>
              </a:r>
              <a:r>
                <a:rPr lang="en-US" sz="1200" b="1">
                  <a:solidFill>
                    <a:schemeClr val="tx1"/>
                  </a:solidFill>
                  <a:latin typeface="+mj-lt"/>
                  <a:ea typeface="League Spartan" charset="0"/>
                  <a:cs typeface="Poppins" pitchFamily="2" charset="77"/>
                </a:rPr>
                <a:t>1.88% </a:t>
              </a:r>
              <a:r>
                <a:rPr lang="en-US" sz="1000" i="1">
                  <a:solidFill>
                    <a:schemeClr val="tx1"/>
                  </a:solidFill>
                  <a:latin typeface="+mj-lt"/>
                  <a:ea typeface="League Spartan" charset="0"/>
                  <a:cs typeface="Poppins" pitchFamily="2" charset="77"/>
                </a:rPr>
                <a:t>(n=1,271)</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Highly connected HCPs managing and redirecting a high-volume of patients </a:t>
              </a:r>
            </a:p>
          </p:txBody>
        </p:sp>
        <p:sp>
          <p:nvSpPr>
            <p:cNvPr id="15" name="Pentagon 3">
              <a:extLst>
                <a:ext uri="{FF2B5EF4-FFF2-40B4-BE49-F238E27FC236}">
                  <a16:creationId xmlns:a16="http://schemas.microsoft.com/office/drawing/2014/main" id="{B1D372A1-980A-91CE-54D7-D2D09470904B}"/>
                </a:ext>
              </a:extLst>
            </p:cNvPr>
            <p:cNvSpPr/>
            <p:nvPr/>
          </p:nvSpPr>
          <p:spPr>
            <a:xfrm>
              <a:off x="656630" y="3472817"/>
              <a:ext cx="45719" cy="203207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grpSp>
        <p:nvGrpSpPr>
          <p:cNvPr id="16" name="Group 15">
            <a:extLst>
              <a:ext uri="{FF2B5EF4-FFF2-40B4-BE49-F238E27FC236}">
                <a16:creationId xmlns:a16="http://schemas.microsoft.com/office/drawing/2014/main" id="{E25FE221-629A-97AE-9BEA-85054B773296}"/>
              </a:ext>
            </a:extLst>
          </p:cNvPr>
          <p:cNvGrpSpPr/>
          <p:nvPr/>
        </p:nvGrpSpPr>
        <p:grpSpPr>
          <a:xfrm>
            <a:off x="4813097" y="4319233"/>
            <a:ext cx="2651760" cy="548640"/>
            <a:chOff x="656630" y="3472817"/>
            <a:chExt cx="2651760" cy="2032079"/>
          </a:xfrm>
        </p:grpSpPr>
        <p:sp>
          <p:nvSpPr>
            <p:cNvPr id="17" name="Pentagon 3">
              <a:extLst>
                <a:ext uri="{FF2B5EF4-FFF2-40B4-BE49-F238E27FC236}">
                  <a16:creationId xmlns:a16="http://schemas.microsoft.com/office/drawing/2014/main" id="{BA15F06A-69B4-2134-03F5-CF72CA0DB491}"/>
                </a:ext>
              </a:extLst>
            </p:cNvPr>
            <p:cNvSpPr/>
            <p:nvPr/>
          </p:nvSpPr>
          <p:spPr>
            <a:xfrm>
              <a:off x="656630" y="3472817"/>
              <a:ext cx="2651760" cy="2026012"/>
            </a:xfrm>
            <a:prstGeom prst="roundRect">
              <a:avLst>
                <a:gd name="adj" fmla="val 53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rPr>
                <a:t>Super Referrers: </a:t>
              </a:r>
              <a:r>
                <a:rPr lang="en-US" sz="1200" b="1">
                  <a:solidFill>
                    <a:schemeClr val="tx1"/>
                  </a:solidFill>
                  <a:latin typeface="+mj-lt"/>
                  <a:ea typeface="League Spartan" charset="0"/>
                  <a:cs typeface="Poppins" pitchFamily="2" charset="77"/>
                </a:rPr>
                <a:t>0.81% </a:t>
              </a:r>
              <a:r>
                <a:rPr lang="en-US" sz="1000" i="1">
                  <a:solidFill>
                    <a:schemeClr val="tx1"/>
                  </a:solidFill>
                  <a:latin typeface="+mj-lt"/>
                  <a:ea typeface="League Spartan" charset="0"/>
                  <a:cs typeface="Poppins" pitchFamily="2" charset="77"/>
                </a:rPr>
                <a:t>(n=549)</a:t>
              </a:r>
              <a:endParaRPr kumimoji="0" lang="en-US" sz="1200" b="1" i="0" u="none" strike="noStrike" kern="1200" cap="none" spc="0" normalizeH="0" baseline="0" noProof="0">
                <a:ln>
                  <a:noFill/>
                </a:ln>
                <a:solidFill>
                  <a:schemeClr val="tx1"/>
                </a:solidFill>
                <a:effectLst/>
                <a:uLnTx/>
                <a:uFillTx/>
                <a:latin typeface="+mj-lt"/>
                <a:ea typeface="League Spartan" charset="0"/>
                <a:cs typeface="Poppins" pitchFamily="2" charset="77"/>
              </a:endParaRPr>
            </a:p>
            <a:p>
              <a:r>
                <a:rPr lang="en-US" sz="1050">
                  <a:solidFill>
                    <a:schemeClr val="bg1">
                      <a:lumMod val="65000"/>
                    </a:schemeClr>
                  </a:solidFill>
                  <a:latin typeface="+mj-lt"/>
                </a:rPr>
                <a:t>HCPs actively redirecting patients to other HCPs in their referral network</a:t>
              </a:r>
            </a:p>
          </p:txBody>
        </p:sp>
        <p:sp>
          <p:nvSpPr>
            <p:cNvPr id="20" name="Pentagon 3">
              <a:extLst>
                <a:ext uri="{FF2B5EF4-FFF2-40B4-BE49-F238E27FC236}">
                  <a16:creationId xmlns:a16="http://schemas.microsoft.com/office/drawing/2014/main" id="{9A4137EB-37BA-E0C8-B517-D133F7708393}"/>
                </a:ext>
              </a:extLst>
            </p:cNvPr>
            <p:cNvSpPr/>
            <p:nvPr/>
          </p:nvSpPr>
          <p:spPr>
            <a:xfrm>
              <a:off x="656630" y="3472817"/>
              <a:ext cx="45719" cy="203207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bg1"/>
                </a:solidFill>
                <a:latin typeface="+mj-lt"/>
                <a:ea typeface="League Spartan" charset="0"/>
                <a:cs typeface="Poppins" pitchFamily="2" charset="77"/>
              </a:endParaRPr>
            </a:p>
          </p:txBody>
        </p:sp>
      </p:grpSp>
      <p:sp>
        <p:nvSpPr>
          <p:cNvPr id="21" name="Pentagon 3">
            <a:extLst>
              <a:ext uri="{FF2B5EF4-FFF2-40B4-BE49-F238E27FC236}">
                <a16:creationId xmlns:a16="http://schemas.microsoft.com/office/drawing/2014/main" id="{C4CF650B-6C5E-2C32-A972-2C974A314275}"/>
              </a:ext>
            </a:extLst>
          </p:cNvPr>
          <p:cNvSpPr/>
          <p:nvPr/>
        </p:nvSpPr>
        <p:spPr>
          <a:xfrm>
            <a:off x="4813096" y="1133958"/>
            <a:ext cx="2039674" cy="26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400" b="1" noProof="0">
                <a:solidFill>
                  <a:schemeClr val="tx1"/>
                </a:solidFill>
                <a:latin typeface="+mj-lt"/>
                <a:ea typeface="League Spartan" charset="0"/>
                <a:cs typeface="Poppins" pitchFamily="2" charset="77"/>
              </a:rPr>
              <a:t>KEY PERSONAS</a:t>
            </a:r>
          </a:p>
        </p:txBody>
      </p:sp>
      <p:sp>
        <p:nvSpPr>
          <p:cNvPr id="60" name="Rectangle: Rounded Corners 59">
            <a:extLst>
              <a:ext uri="{FF2B5EF4-FFF2-40B4-BE49-F238E27FC236}">
                <a16:creationId xmlns:a16="http://schemas.microsoft.com/office/drawing/2014/main" id="{34ED12CF-1B2D-99B5-70DA-22ACD55DFB2E}"/>
              </a:ext>
            </a:extLst>
          </p:cNvPr>
          <p:cNvSpPr/>
          <p:nvPr/>
        </p:nvSpPr>
        <p:spPr>
          <a:xfrm>
            <a:off x="8802079" y="5126845"/>
            <a:ext cx="3083619" cy="1028887"/>
          </a:xfrm>
          <a:prstGeom prst="roundRect">
            <a:avLst>
              <a:gd name="adj" fmla="val 7621"/>
            </a:avLst>
          </a:prstGeom>
          <a:solidFill>
            <a:schemeClr val="bg1">
              <a:lumMod val="85000"/>
            </a:schemeClr>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sz="1100" b="1"/>
              <a:t>Total HCPs</a:t>
            </a:r>
            <a:r>
              <a:rPr kumimoji="1" lang="en-US" sz="1100"/>
              <a:t>: 46,097 </a:t>
            </a:r>
            <a:r>
              <a:rPr kumimoji="1" lang="en-US" sz="1050" i="1"/>
              <a:t>(69% of the Universe)</a:t>
            </a:r>
          </a:p>
          <a:p>
            <a:pPr>
              <a:spcBef>
                <a:spcPts val="600"/>
              </a:spcBef>
            </a:pPr>
            <a:r>
              <a:rPr kumimoji="1" lang="en-US" sz="1100" b="1"/>
              <a:t>% of Identified Targets Covered</a:t>
            </a:r>
            <a:r>
              <a:rPr kumimoji="1" lang="en-US" sz="1100" b="1" baseline="30000"/>
              <a:t>*</a:t>
            </a:r>
            <a:r>
              <a:rPr kumimoji="1" lang="en-US" sz="1100" b="1"/>
              <a:t>: </a:t>
            </a:r>
            <a:r>
              <a:rPr kumimoji="1" lang="en-US" sz="1100"/>
              <a:t>46%</a:t>
            </a:r>
            <a:r>
              <a:rPr kumimoji="1" lang="en-US" sz="1100" b="1"/>
              <a:t> </a:t>
            </a:r>
          </a:p>
          <a:p>
            <a:pPr>
              <a:spcBef>
                <a:spcPts val="600"/>
              </a:spcBef>
            </a:pPr>
            <a:r>
              <a:rPr kumimoji="1" lang="en-US" sz="1100" b="1"/>
              <a:t>% of Identified Decile 5-10 Targets Covered</a:t>
            </a:r>
            <a:r>
              <a:rPr kumimoji="1" lang="en-US" sz="1100" b="1" baseline="30000"/>
              <a:t>^</a:t>
            </a:r>
            <a:r>
              <a:rPr kumimoji="1" lang="en-US" sz="1100" b="1"/>
              <a:t>: </a:t>
            </a:r>
            <a:r>
              <a:rPr kumimoji="1" lang="en-US" sz="1100"/>
              <a:t>33%</a:t>
            </a:r>
          </a:p>
        </p:txBody>
      </p:sp>
    </p:spTree>
    <p:extLst>
      <p:ext uri="{BB962C8B-B14F-4D97-AF65-F5344CB8AC3E}">
        <p14:creationId xmlns:p14="http://schemas.microsoft.com/office/powerpoint/2010/main" val="4270929345"/>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73143-31CD-BF9A-D6A1-54E67DAE5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2071E-D3A6-D8E9-0CA6-0EE82B1BF375}"/>
              </a:ext>
            </a:extLst>
          </p:cNvPr>
          <p:cNvSpPr>
            <a:spLocks noGrp="1"/>
          </p:cNvSpPr>
          <p:nvPr>
            <p:ph type="title"/>
          </p:nvPr>
        </p:nvSpPr>
        <p:spPr>
          <a:xfrm>
            <a:off x="606078" y="161605"/>
            <a:ext cx="10014297" cy="685801"/>
          </a:xfrm>
        </p:spPr>
        <p:txBody>
          <a:bodyPr>
            <a:noAutofit/>
          </a:bodyPr>
          <a:lstStyle/>
          <a:p>
            <a:r>
              <a:rPr lang="en-US" sz="2000">
                <a:latin typeface="Calibri"/>
                <a:ea typeface="メイリオ"/>
                <a:cs typeface="Calibri"/>
              </a:rPr>
              <a:t>NT referral activity is geographically concentrated in the Southeast and mid-Atlantic, but high volume does not always signal a well-connected network</a:t>
            </a:r>
          </a:p>
        </p:txBody>
      </p:sp>
      <p:pic>
        <p:nvPicPr>
          <p:cNvPr id="23" name="Picture 22">
            <a:extLst>
              <a:ext uri="{FF2B5EF4-FFF2-40B4-BE49-F238E27FC236}">
                <a16:creationId xmlns:a16="http://schemas.microsoft.com/office/drawing/2014/main" id="{D15C9318-E530-19CB-BB47-7E3B9EF5B1D5}"/>
              </a:ext>
            </a:extLst>
          </p:cNvPr>
          <p:cNvPicPr>
            <a:picLocks/>
          </p:cNvPicPr>
          <p:nvPr/>
        </p:nvPicPr>
        <p:blipFill>
          <a:blip r:embed="rId2">
            <a:extLst>
              <a:ext uri="{28A0092B-C50C-407E-A947-70E740481C1C}">
                <a14:useLocalDpi xmlns:a14="http://schemas.microsoft.com/office/drawing/2010/main" val="0"/>
              </a:ext>
            </a:extLst>
          </a:blip>
          <a:srcRect r="24456"/>
          <a:stretch>
            <a:fillRect/>
          </a:stretch>
        </p:blipFill>
        <p:spPr>
          <a:xfrm>
            <a:off x="292168" y="1306528"/>
            <a:ext cx="5753032" cy="3123232"/>
          </a:xfrm>
          <a:prstGeom prst="rect">
            <a:avLst/>
          </a:prstGeom>
        </p:spPr>
      </p:pic>
      <p:pic>
        <p:nvPicPr>
          <p:cNvPr id="26" name="Picture 25">
            <a:extLst>
              <a:ext uri="{FF2B5EF4-FFF2-40B4-BE49-F238E27FC236}">
                <a16:creationId xmlns:a16="http://schemas.microsoft.com/office/drawing/2014/main" id="{553F8C1B-0A59-2444-66DD-72C1DB6C2614}"/>
              </a:ext>
            </a:extLst>
          </p:cNvPr>
          <p:cNvPicPr>
            <a:picLocks/>
          </p:cNvPicPr>
          <p:nvPr/>
        </p:nvPicPr>
        <p:blipFill>
          <a:blip r:embed="rId3">
            <a:extLst>
              <a:ext uri="{28A0092B-C50C-407E-A947-70E740481C1C}">
                <a14:useLocalDpi xmlns:a14="http://schemas.microsoft.com/office/drawing/2010/main" val="0"/>
              </a:ext>
            </a:extLst>
          </a:blip>
          <a:srcRect r="27300"/>
          <a:stretch>
            <a:fillRect/>
          </a:stretch>
        </p:blipFill>
        <p:spPr>
          <a:xfrm>
            <a:off x="5797078" y="1349421"/>
            <a:ext cx="5635267" cy="3123232"/>
          </a:xfrm>
          <a:prstGeom prst="rect">
            <a:avLst/>
          </a:prstGeom>
        </p:spPr>
      </p:pic>
      <p:sp>
        <p:nvSpPr>
          <p:cNvPr id="30" name="Rectangle: Rounded Corners 29">
            <a:extLst>
              <a:ext uri="{FF2B5EF4-FFF2-40B4-BE49-F238E27FC236}">
                <a16:creationId xmlns:a16="http://schemas.microsoft.com/office/drawing/2014/main" id="{D8B3D6E8-B408-25AA-D703-34E81326AC56}"/>
              </a:ext>
            </a:extLst>
          </p:cNvPr>
          <p:cNvSpPr/>
          <p:nvPr/>
        </p:nvSpPr>
        <p:spPr>
          <a:xfrm>
            <a:off x="1117" y="5586303"/>
            <a:ext cx="12190881" cy="1271689"/>
          </a:xfrm>
          <a:prstGeom prst="roundRect">
            <a:avLst>
              <a:gd name="adj" fmla="val 2800"/>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OH is the single most active referral hub in the country with HCPs referring and rendering activity, followed by MI, PA and NY</a:t>
            </a:r>
          </a:p>
          <a:p>
            <a:pPr marL="171450" indent="-171450">
              <a:spcBef>
                <a:spcPts val="600"/>
              </a:spcBef>
              <a:buFont typeface="Arial" panose="020B0604020202020204" pitchFamily="34" charset="0"/>
              <a:buChar char="•"/>
            </a:pPr>
            <a:r>
              <a:rPr lang="en-US" sz="1200">
                <a:solidFill>
                  <a:schemeClr val="tx1"/>
                </a:solidFill>
                <a:cs typeface="Arial" panose="020B0604020202020204" pitchFamily="34" charset="0"/>
              </a:rPr>
              <a:t>The Southeast corridor (VA, TN, GA, NC, SC, FL) shows consistently elevated activity across both metrics indicating regional clusters with more structured referral activities</a:t>
            </a:r>
          </a:p>
        </p:txBody>
      </p:sp>
      <p:grpSp>
        <p:nvGrpSpPr>
          <p:cNvPr id="3" name="Group 2">
            <a:extLst>
              <a:ext uri="{FF2B5EF4-FFF2-40B4-BE49-F238E27FC236}">
                <a16:creationId xmlns:a16="http://schemas.microsoft.com/office/drawing/2014/main" id="{A270EF02-5588-1FAA-B429-D1BA6BB5076D}"/>
              </a:ext>
            </a:extLst>
          </p:cNvPr>
          <p:cNvGrpSpPr/>
          <p:nvPr/>
        </p:nvGrpSpPr>
        <p:grpSpPr>
          <a:xfrm>
            <a:off x="1113" y="5280485"/>
            <a:ext cx="5795965" cy="319265"/>
            <a:chOff x="0" y="2140992"/>
            <a:chExt cx="2880042" cy="347180"/>
          </a:xfrm>
        </p:grpSpPr>
        <p:sp>
          <p:nvSpPr>
            <p:cNvPr id="4" name="TextBox 3">
              <a:extLst>
                <a:ext uri="{FF2B5EF4-FFF2-40B4-BE49-F238E27FC236}">
                  <a16:creationId xmlns:a16="http://schemas.microsoft.com/office/drawing/2014/main" id="{17933BD6-24C6-E0E4-6A96-0FAACE52A71D}"/>
                </a:ext>
              </a:extLst>
            </p:cNvPr>
            <p:cNvSpPr txBox="1"/>
            <p:nvPr/>
          </p:nvSpPr>
          <p:spPr>
            <a:xfrm>
              <a:off x="1760219" y="2140992"/>
              <a:ext cx="1119823" cy="347180"/>
            </a:xfrm>
            <a:prstGeom prst="parallelogram">
              <a:avLst/>
            </a:prstGeom>
            <a:gradFill rotWithShape="1">
              <a:gsLst>
                <a:gs pos="0">
                  <a:schemeClr val="accent2"/>
                </a:gs>
                <a:gs pos="33000">
                  <a:schemeClr val="accent1"/>
                </a:gs>
              </a:gsLst>
              <a:lin ang="0" scaled="0"/>
            </a:gradFill>
            <a:ln w="6350" cap="flat" cmpd="sng" algn="ctr">
              <a:noFill/>
              <a:prstDash val="solid"/>
              <a:miter lim="800000"/>
            </a:ln>
            <a:effectLst/>
          </p:spPr>
          <p:txBody>
            <a:bodyPr rtlCol="0" anchor="ctr"/>
            <a:lstStyle>
              <a:defPPr>
                <a:defRPr lang="en-US"/>
              </a:defPPr>
              <a:lvl1pPr algn="ctr" defTabSz="914400">
                <a:defRPr sz="1400" b="1">
                  <a:latin typeface="Arial" panose="020B0604020202020204" pitchFamily="34" charset="0"/>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3C61FF1-17B2-8844-F112-5555972D07BF}"/>
                </a:ext>
              </a:extLst>
            </p:cNvPr>
            <p:cNvSpPr txBox="1"/>
            <p:nvPr/>
          </p:nvSpPr>
          <p:spPr>
            <a:xfrm>
              <a:off x="0" y="2140992"/>
              <a:ext cx="2800190" cy="347180"/>
            </a:xfrm>
            <a:prstGeom prst="rect">
              <a:avLst/>
            </a:prstGeom>
            <a:gradFill rotWithShape="1">
              <a:gsLst>
                <a:gs pos="0">
                  <a:schemeClr val="accent2"/>
                </a:gs>
                <a:gs pos="100000">
                  <a:schemeClr val="accent1"/>
                </a:gs>
              </a:gsLst>
              <a:lin ang="0" scaled="0"/>
            </a:gradFill>
            <a:ln w="6350" cap="flat" cmpd="sng" algn="ctr">
              <a:noFill/>
              <a:prstDash val="solid"/>
              <a:miter lim="800000"/>
            </a:ln>
            <a:effectLst/>
          </p:spPr>
          <p:txBody>
            <a:bodyPr lIns="182880" rtlCol="0" anchor="ctr"/>
            <a:lstStyle>
              <a:defPPr>
                <a:defRPr lang="en-US"/>
              </a:defPPr>
              <a:lvl1pPr algn="ctr" defTabSz="914400">
                <a:defRPr sz="1400" b="1">
                  <a:solidFill>
                    <a:schemeClr val="lt1"/>
                  </a:solidFill>
                  <a:latin typeface="Arial" panose="020B0604020202020204" pitchFamily="34" charset="0"/>
                  <a:cs typeface="Arial" panose="020B0604020202020204" pitchFamily="34" charset="0"/>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Key Insights</a:t>
              </a:r>
              <a:endParaRPr kumimoji="0" lang="en-IN" sz="1400" b="1" i="0" u="none" strike="noStrike" kern="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0038477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C0ADFC5632814CA7D2D3F1C5FF0BA5" ma:contentTypeVersion="3" ma:contentTypeDescription="Create a new document." ma:contentTypeScope="" ma:versionID="8f94ccf661bcddf2add3d3c527f6f2b2">
  <xsd:schema xmlns:xsd="http://www.w3.org/2001/XMLSchema" xmlns:xs="http://www.w3.org/2001/XMLSchema" xmlns:p="http://schemas.microsoft.com/office/2006/metadata/properties" xmlns:ns2="29515f28-0067-4e3d-88f7-fd77f71d03fc" targetNamespace="http://schemas.microsoft.com/office/2006/metadata/properties" ma:root="true" ma:fieldsID="b8ae23a0b97d05e64ad6aa8bf5fb757d" ns2:_="">
    <xsd:import namespace="29515f28-0067-4e3d-88f7-fd77f71d03f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515f28-0067-4e3d-88f7-fd77f71d03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5797554-F9B1-4A46-8A33-A166010062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515f28-0067-4e3d-88f7-fd77f71d03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4960FCA-FD5A-4701-BC2F-0304F08CEDA1}">
  <ds:schemaRefs>
    <ds:schemaRef ds:uri="http://schemas.microsoft.com/sharepoint/v3/contenttype/forms"/>
  </ds:schemaRefs>
</ds:datastoreItem>
</file>

<file path=customXml/itemProps3.xml><?xml version="1.0" encoding="utf-8"?>
<ds:datastoreItem xmlns:ds="http://schemas.openxmlformats.org/officeDocument/2006/customXml" ds:itemID="{CDA4DB93-A77A-46FC-9CEE-C36737AE5710}">
  <ds:schemaRefs>
    <ds:schemaRef ds:uri="29515f28-0067-4e3d-88f7-fd77f71d03fc"/>
    <ds:schemaRef ds:uri="http://purl.org/dc/dcmitype/"/>
    <ds:schemaRef ds:uri="http://purl.org/dc/elements/1.1/"/>
    <ds:schemaRef ds:uri="http://purl.org/dc/terms/"/>
    <ds:schemaRef ds:uri="http://schemas.microsoft.com/office/2006/metadata/properties"/>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s>
</ds:datastoreItem>
</file>

<file path=docMetadata/LabelInfo.xml><?xml version="1.0" encoding="utf-8"?>
<clbl:labelList xmlns:clbl="http://schemas.microsoft.com/office/2020/mipLabelMetadata">
  <clbl:label id="{40fc6179-cf92-4f92-9433-e720ff626f56}" enabled="0" method="" siteId="{40fc6179-cf92-4f92-9433-e720ff626f56}" removed="1"/>
</clbl:labelList>
</file>

<file path=docProps/app.xml><?xml version="1.0" encoding="utf-8"?>
<Properties xmlns="http://schemas.openxmlformats.org/officeDocument/2006/extended-properties" xmlns:vt="http://schemas.openxmlformats.org/officeDocument/2006/docPropsVTypes">
  <TotalTime>2052</TotalTime>
  <Words>10604</Words>
  <Application>Microsoft Office PowerPoint</Application>
  <PresentationFormat>Widescreen</PresentationFormat>
  <Paragraphs>1413</Paragraphs>
  <Slides>44</Slides>
  <Notes>11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5" baseType="lpstr">
      <vt:lpstr>Aptos</vt:lpstr>
      <vt:lpstr>Aptos Narrow</vt:lpstr>
      <vt:lpstr>Arial</vt:lpstr>
      <vt:lpstr>Calibri</vt:lpstr>
      <vt:lpstr>Courier New</vt:lpstr>
      <vt:lpstr>League Spartan</vt:lpstr>
      <vt:lpstr>Poppins</vt:lpstr>
      <vt:lpstr>Segoe UI</vt:lpstr>
      <vt:lpstr>Wingdings</vt:lpstr>
      <vt:lpstr>Takeda Slide Master</vt:lpstr>
      <vt:lpstr>think-cell Slide</vt:lpstr>
      <vt:lpstr>TAK-861 HCP Referral Analysis Insight Summary</vt:lpstr>
      <vt:lpstr>Content</vt:lpstr>
      <vt:lpstr>PowerPoint Presentation</vt:lpstr>
      <vt:lpstr>PowerPoint Presentation</vt:lpstr>
      <vt:lpstr>PowerPoint Presentation</vt:lpstr>
      <vt:lpstr>PowerPoint Presentation</vt:lpstr>
      <vt:lpstr>Content</vt:lpstr>
      <vt:lpstr>Patient – HCP Referral Identification</vt:lpstr>
      <vt:lpstr>Sequential business rules are applied to maximize diagnostic validity, longitudinal stability, and commercial relevance of the NT1/NT2 cohort</vt:lpstr>
      <vt:lpstr>Claims-based HCP universe for ~46.8K patients shows ~97% overlap with Top Decile (D10–6) HCPs, indicating strong alignment with the current target list</vt:lpstr>
      <vt:lpstr>Recognizing the complexity of NT1 patient journeys, we developed and aligned on a referral grid to systematically capture care transitions</vt:lpstr>
      <vt:lpstr>Diagnosis Journey</vt:lpstr>
      <vt:lpstr>NT1 diagnosis is anchored in PCP-led pathways, while post-diagnosis care disperses across specialist networks driven by referrals</vt:lpstr>
      <vt:lpstr>PCPs act as the central coordinators in the pre-diagnosis journey, directing patients across specialties through referral pathways</vt:lpstr>
      <vt:lpstr>Post-diagnosis management shifts to specialists, with referral pathways enabling continued care beyond the diagnosing HCP</vt:lpstr>
      <vt:lpstr>Referral Network Analysis</vt:lpstr>
      <vt:lpstr>PowerPoint Presentation</vt:lpstr>
      <vt:lpstr>As a first step, the tagged referral data was transformed into a weighted network graph and analyzed using network intelligence algorithms to identify key HCP personas</vt:lpstr>
      <vt:lpstr>The NT1 referral network is highly concentrated with a distinct group of HCPs forming its established core</vt:lpstr>
      <vt:lpstr>These HCP personas capture the distinct roles patients encounter as they navigate the NT1 referral network from initial symptoms to eventual treatment</vt:lpstr>
      <vt:lpstr>A small, high-impact cohort of 5% HCPs accounts for a disproportionate share of 62% of top-decile targets in the NT network</vt:lpstr>
      <vt:lpstr>While Super Diagnosers and Key Influencers drive the highest share of top-decile targets, they require fundamentally different engagement strategies due to distinct specialty and profile mix</vt:lpstr>
      <vt:lpstr>Deep Dive Insights</vt:lpstr>
      <vt:lpstr>Leveraging the referral network, we deep-dive into insights across geography, patient flow, and influence dynamics</vt:lpstr>
      <vt:lpstr>PowerPoint Presentation</vt:lpstr>
      <vt:lpstr>PowerPoint Presentation</vt:lpstr>
      <vt:lpstr>PowerPoint Presentation</vt:lpstr>
      <vt:lpstr>Appendix</vt:lpstr>
      <vt:lpstr>The foundation of the solution is to build a comprehensive patient-flow network to map real-world referral relationships</vt:lpstr>
      <vt:lpstr>As a next step, segment the referral ecosystem to reveal regional structures and connectivity roles</vt:lpstr>
      <vt:lpstr>Further understand how influence propagates across referral relationships to shape adoption behavior</vt:lpstr>
      <vt:lpstr>Pinpoint where patient flow breaks down to uncover referral inefficiencies and leakage hotspots</vt:lpstr>
      <vt:lpstr>These metrics together help identify who receives patients, redirects them, ensures correct routing, and drives overall influence in the referral network</vt:lpstr>
      <vt:lpstr>Key Personas: A small, high-impact cohort of 5% HCPs accounts for a disproportionate share of 53% of top-decile targets in the NT network</vt:lpstr>
      <vt:lpstr>Innovators are the most represented group in the identified set of personas followed by Holistic Treaters</vt:lpstr>
      <vt:lpstr>NT referral activity is geographically concentrated in the Southeast and mid-Atlantic, but high volume does not always signal a well-connected network</vt:lpstr>
      <vt:lpstr>Michigan, Pennsylvania, and Ohio form the structural backbone of the NT referral network, where engagement has the highest systemic leverage beyond raw volume</vt:lpstr>
      <vt:lpstr>NT referral communities are defined by relationships, not institutions as HCPs consistently refer within their behavioral network regardless of where they practice</vt:lpstr>
      <vt:lpstr>NT referral communities are defined by relationships, not institutions as HCPs consistently refer within their behavioral network regardless of where they practice</vt:lpstr>
      <vt:lpstr>The majority of NT referral clusters are small, PCP-led communities with near-zero overlap with current target lists, indicating that most NT patient management is occurring below the commercial radar</vt:lpstr>
      <vt:lpstr>Misdiagnosis affects at least 70% of NT patients, with Anxiety and Fatigue driving early diagnostic misdirection and Sleep-related conditions serving as the most proximate gateway to NT identification</vt:lpstr>
      <vt:lpstr>Markov Chain Analysis Reveals Systemic Pre-Diagnosis Referral Leakage through Specialty and Persona</vt:lpstr>
      <vt:lpstr>Misdiagnosis and referral gaps in key specialties are driving the longest delays” “Psychiatry, PCPs, and NP/PAs emerge as major Sink Nodes in the journey </vt:lpstr>
      <vt:lpstr>States with the longest diagnostic gaps are not the same where treatment access is slowest, pointing to distinct regional intervention priorities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Kanika Maheshwari</dc:creator>
  <cp:lastModifiedBy>Kanika Maheshwari</cp:lastModifiedBy>
  <cp:revision>1</cp:revision>
  <dcterms:created xsi:type="dcterms:W3CDTF">2026-06-02T12:09:14Z</dcterms:created>
  <dcterms:modified xsi:type="dcterms:W3CDTF">2026-06-03T22:21:17Z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0x0101004EC0ADFC5632814CA7D2D3F1C5FF0BA5</vt:lpwstr>
  </property>
</Properties>
</file>