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145707066" r:id="rId5"/>
    <p:sldId id="335" r:id="rId6"/>
    <p:sldId id="2145707075" r:id="rId7"/>
    <p:sldId id="2145707079" r:id="rId8"/>
    <p:sldId id="2145707077" r:id="rId9"/>
    <p:sldId id="338" r:id="rId10"/>
    <p:sldId id="2145707078" r:id="rId11"/>
    <p:sldId id="2145707080" r:id="rId12"/>
    <p:sldId id="2145707089" r:id="rId13"/>
    <p:sldId id="2145707090" r:id="rId14"/>
    <p:sldId id="2145707083" r:id="rId15"/>
    <p:sldId id="2145707086" r:id="rId16"/>
    <p:sldId id="2145707084" r:id="rId17"/>
    <p:sldId id="2145707088" r:id="rId18"/>
    <p:sldId id="2145707085" r:id="rId19"/>
    <p:sldId id="2145707087" r:id="rId20"/>
    <p:sldId id="2145707070" r:id="rId21"/>
    <p:sldId id="2145707071" r:id="rId22"/>
    <p:sldId id="2145707072" r:id="rId23"/>
    <p:sldId id="2145707073" r:id="rId24"/>
    <p:sldId id="2145707081" r:id="rId25"/>
    <p:sldId id="21457070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D36ED1-3B8F-49E1-B8B3-DA96116959A2}">
          <p14:sldIdLst>
            <p14:sldId id="2145707066"/>
            <p14:sldId id="335"/>
            <p14:sldId id="2145707075"/>
            <p14:sldId id="2145707079"/>
            <p14:sldId id="2145707077"/>
            <p14:sldId id="338"/>
            <p14:sldId id="2145707078"/>
            <p14:sldId id="2145707080"/>
            <p14:sldId id="2145707089"/>
            <p14:sldId id="2145707090"/>
            <p14:sldId id="2145707083"/>
            <p14:sldId id="2145707086"/>
            <p14:sldId id="2145707084"/>
            <p14:sldId id="2145707088"/>
            <p14:sldId id="2145707085"/>
            <p14:sldId id="2145707087"/>
          </p14:sldIdLst>
        </p14:section>
        <p14:section name="Graveyard" id="{A8309883-5204-4D0A-B1F4-333105CBB988}">
          <p14:sldIdLst>
            <p14:sldId id="2145707070"/>
            <p14:sldId id="2145707071"/>
            <p14:sldId id="2145707072"/>
            <p14:sldId id="2145707073"/>
            <p14:sldId id="2145707081"/>
            <p14:sldId id="21457070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88" userDrawn="1">
          <p15:clr>
            <a:srgbClr val="A4A3A4"/>
          </p15:clr>
        </p15:guide>
        <p15:guide id="4" orient="horz" pos="1008" userDrawn="1">
          <p15:clr>
            <a:srgbClr val="A4A3A4"/>
          </p15:clr>
        </p15:guide>
        <p15:guide id="5" orient="horz" pos="2760" userDrawn="1">
          <p15:clr>
            <a:srgbClr val="A4A3A4"/>
          </p15:clr>
        </p15:guide>
        <p15:guide id="6" orient="horz" pos="3528" userDrawn="1">
          <p15:clr>
            <a:srgbClr val="A4A3A4"/>
          </p15:clr>
        </p15:guide>
        <p15:guide id="7" orient="horz" pos="2688" userDrawn="1">
          <p15:clr>
            <a:srgbClr val="A4A3A4"/>
          </p15:clr>
        </p15:guide>
        <p15:guide id="8" orient="horz" pos="25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5F0FE9-01D7-8972-3EE7-E1F1D7727955}" name="Kanika Maheshwari" initials="KM" userId="Kanika Maheshwar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F9D3D4"/>
    <a:srgbClr val="E11E24"/>
    <a:srgbClr val="AC181C"/>
    <a:srgbClr val="671010"/>
    <a:srgbClr val="0070C0"/>
    <a:srgbClr val="99A6BF"/>
    <a:srgbClr val="FFC000"/>
    <a:srgbClr val="99DFB9"/>
    <a:srgbClr val="F3A7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68E03A-997C-4089-8C21-84AEF4AF0569}" v="16" dt="2026-05-05T05:57:48.732"/>
    <p1510:client id="{B372E30F-D2CC-4623-9F41-75A90E191D14}" v="2" dt="2026-05-05T06:24:11.2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200"/>
        <p:guide pos="3840"/>
        <p:guide orient="horz" pos="888"/>
        <p:guide orient="horz" pos="1008"/>
        <p:guide orient="horz" pos="2760"/>
        <p:guide orient="horz" pos="3528"/>
        <p:guide orient="horz" pos="2688"/>
        <p:guide orient="horz" pos="2544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 Wadhwa" userId="d98a2df7-91bf-4bfc-bb68-d4fa23ab8013" providerId="ADAL" clId="{9F1BD018-0F09-4734-9EFC-E87F84162C26}"/>
    <pc:docChg chg="modSld">
      <pc:chgData name="Kartik Wadhwa" userId="d98a2df7-91bf-4bfc-bb68-d4fa23ab8013" providerId="ADAL" clId="{9F1BD018-0F09-4734-9EFC-E87F84162C26}" dt="2026-05-05T06:24:11.205" v="1" actId="20577"/>
      <pc:docMkLst>
        <pc:docMk/>
      </pc:docMkLst>
      <pc:sldChg chg="modSp mod">
        <pc:chgData name="Kartik Wadhwa" userId="d98a2df7-91bf-4bfc-bb68-d4fa23ab8013" providerId="ADAL" clId="{9F1BD018-0F09-4734-9EFC-E87F84162C26}" dt="2026-05-05T06:24:11.205" v="1" actId="20577"/>
        <pc:sldMkLst>
          <pc:docMk/>
          <pc:sldMk cId="2585623934" sldId="2145707075"/>
        </pc:sldMkLst>
        <pc:spChg chg="mod">
          <ac:chgData name="Kartik Wadhwa" userId="d98a2df7-91bf-4bfc-bb68-d4fa23ab8013" providerId="ADAL" clId="{9F1BD018-0F09-4734-9EFC-E87F84162C26}" dt="2026-05-05T06:24:11.205" v="1" actId="20577"/>
          <ac:spMkLst>
            <pc:docMk/>
            <pc:sldMk cId="2585623934" sldId="2145707075"/>
            <ac:spMk id="21" creationId="{F5DD9FFD-A7B4-1A6D-69DA-5B64214665CA}"/>
          </ac:spMkLst>
        </pc:spChg>
      </pc:sldChg>
    </pc:docChg>
  </pc:docChgLst>
  <pc:docChgLst>
    <pc:chgData name="Aasheesh Bansal" userId="a5f9c14d-7401-4c56-a728-843e7fb392f1" providerId="ADAL" clId="{3E38CEF9-1001-4E9E-BAB5-F119030ACDA0}"/>
    <pc:docChg chg="modSld">
      <pc:chgData name="Aasheesh Bansal" userId="a5f9c14d-7401-4c56-a728-843e7fb392f1" providerId="ADAL" clId="{3E38CEF9-1001-4E9E-BAB5-F119030ACDA0}" dt="2026-05-05T05:57:48.732" v="15" actId="20577"/>
      <pc:docMkLst>
        <pc:docMk/>
      </pc:docMkLst>
      <pc:sldChg chg="modSp mod">
        <pc:chgData name="Aasheesh Bansal" userId="a5f9c14d-7401-4c56-a728-843e7fb392f1" providerId="ADAL" clId="{3E38CEF9-1001-4E9E-BAB5-F119030ACDA0}" dt="2026-05-05T05:57:48.732" v="15" actId="20577"/>
        <pc:sldMkLst>
          <pc:docMk/>
          <pc:sldMk cId="2585623934" sldId="2145707075"/>
        </pc:sldMkLst>
        <pc:spChg chg="mod">
          <ac:chgData name="Aasheesh Bansal" userId="a5f9c14d-7401-4c56-a728-843e7fb392f1" providerId="ADAL" clId="{3E38CEF9-1001-4E9E-BAB5-F119030ACDA0}" dt="2026-05-05T05:57:48.732" v="15" actId="20577"/>
          <ac:spMkLst>
            <pc:docMk/>
            <pc:sldMk cId="2585623934" sldId="2145707075"/>
            <ac:spMk id="21" creationId="{F5DD9FFD-A7B4-1A6D-69DA-5B64214665C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E4E44B_2190E9FB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procdna-my.sharepoint.com/personal/tushar_verma_procdna_com/Documents/Cluster_Profiling_Sumari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procdna-my.sharepoint.com/personal/tushar_verma_procdna_com/Documents/Cluster_Profiling_Sumari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Sheet1!$G$14</c:f>
              <c:strCache>
                <c:ptCount val="1"/>
                <c:pt idx="0">
                  <c:v>Referrers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419-479F-9B9B-AB7B7545129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419-479F-9B9B-AB7B7545129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419-479F-9B9B-AB7B7545129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419-479F-9B9B-AB7B7545129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419-479F-9B9B-AB7B75451294}"/>
              </c:ext>
            </c:extLst>
          </c:dPt>
          <c:dPt>
            <c:idx val="5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419-479F-9B9B-AB7B75451294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19-479F-9B9B-AB7B7545129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19-479F-9B9B-AB7B7545129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19-479F-9B9B-AB7B754512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Sheet1!$B$15:$B$20</c:f>
              <c:strCache>
                <c:ptCount val="6"/>
                <c:pt idx="0">
                  <c:v>Sleep Specialists</c:v>
                </c:pt>
                <c:pt idx="1">
                  <c:v>Neurologist</c:v>
                </c:pt>
                <c:pt idx="2">
                  <c:v>Pulmonologist</c:v>
                </c:pt>
                <c:pt idx="3">
                  <c:v>Psychiatrist/Psychologist</c:v>
                </c:pt>
                <c:pt idx="4">
                  <c:v>PCP/NP/PA</c:v>
                </c:pt>
                <c:pt idx="5">
                  <c:v>Others</c:v>
                </c:pt>
              </c:strCache>
            </c:strRef>
          </c:cat>
          <c:val>
            <c:numRef>
              <c:f>Sheet1!$G$15:$G$20</c:f>
              <c:numCache>
                <c:formatCode>0%</c:formatCode>
                <c:ptCount val="6"/>
                <c:pt idx="0">
                  <c:v>7.2859744990892532E-3</c:v>
                </c:pt>
                <c:pt idx="1">
                  <c:v>2.9143897996357013E-2</c:v>
                </c:pt>
                <c:pt idx="2">
                  <c:v>3.4608378870673952E-2</c:v>
                </c:pt>
                <c:pt idx="3">
                  <c:v>7.8324225865209471E-2</c:v>
                </c:pt>
                <c:pt idx="4">
                  <c:v>0.70673952641165749</c:v>
                </c:pt>
                <c:pt idx="5">
                  <c:v>0.14389799635701275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419-479F-9B9B-AB7B75451294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Referrals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9749-460A-969B-11C2DD9FCFF7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49-460A-969B-11C2DD9FCFF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749-460A-969B-11C2DD9FCFF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Internal referrals</c:v>
                </c:pt>
                <c:pt idx="1">
                  <c:v>External referrals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0.26358536108030528</c:v>
                </c:pt>
                <c:pt idx="1">
                  <c:v>0.73641463891969472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49-460A-969B-11C2DD9FCF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'Clusters Bucketing'!$C$8</c:f>
              <c:strCache>
                <c:ptCount val="1"/>
                <c:pt idx="0">
                  <c:v># Clusters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'Clusters Bucketing'!$B$9:$B$18</c:f>
              <c:strCach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6-10</c:v>
                </c:pt>
                <c:pt idx="4">
                  <c:v>11-20</c:v>
                </c:pt>
                <c:pt idx="5">
                  <c:v>21-30</c:v>
                </c:pt>
                <c:pt idx="6">
                  <c:v>31-50</c:v>
                </c:pt>
                <c:pt idx="7">
                  <c:v>51-100</c:v>
                </c:pt>
                <c:pt idx="8">
                  <c:v>101-150</c:v>
                </c:pt>
                <c:pt idx="9">
                  <c:v>151-200</c:v>
                </c:pt>
              </c:strCache>
            </c:strRef>
          </c:cat>
          <c:val>
            <c:numRef>
              <c:f>'Clusters Bucketing'!$C$9:$C$18</c:f>
              <c:numCache>
                <c:formatCode>General</c:formatCode>
                <c:ptCount val="10"/>
                <c:pt idx="0">
                  <c:v>1985</c:v>
                </c:pt>
                <c:pt idx="1">
                  <c:v>918</c:v>
                </c:pt>
                <c:pt idx="2">
                  <c:v>546</c:v>
                </c:pt>
                <c:pt idx="3">
                  <c:v>1090</c:v>
                </c:pt>
                <c:pt idx="4">
                  <c:v>942</c:v>
                </c:pt>
                <c:pt idx="5">
                  <c:v>433</c:v>
                </c:pt>
                <c:pt idx="6">
                  <c:v>187</c:v>
                </c:pt>
                <c:pt idx="7">
                  <c:v>63</c:v>
                </c:pt>
                <c:pt idx="8">
                  <c:v>9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1E-4F10-9727-920C956910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611800768"/>
        <c:axId val="611809888"/>
      </c:barChart>
      <c:catAx>
        <c:axId val="611800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HCPs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809888"/>
        <c:crosses val="autoZero"/>
        <c:auto val="1"/>
        <c:lblAlgn val="ctr"/>
        <c:lblOffset val="100"/>
        <c:noMultiLvlLbl val="0"/>
      </c:catAx>
      <c:valAx>
        <c:axId val="611809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clusters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800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'Clusters Bucketing'!$C$8</c:f>
              <c:strCache>
                <c:ptCount val="1"/>
                <c:pt idx="0">
                  <c:v># Clusters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'Clusters Bucketing'!$B$105:$B$111</c:f>
              <c:strCache>
                <c:ptCount val="7"/>
                <c:pt idx="0">
                  <c:v>0</c:v>
                </c:pt>
                <c:pt idx="1">
                  <c:v>1-10%</c:v>
                </c:pt>
                <c:pt idx="2">
                  <c:v>10-20%</c:v>
                </c:pt>
                <c:pt idx="3">
                  <c:v>20-35%</c:v>
                </c:pt>
                <c:pt idx="4">
                  <c:v>35-50%</c:v>
                </c:pt>
                <c:pt idx="5">
                  <c:v>50-70%</c:v>
                </c:pt>
                <c:pt idx="6">
                  <c:v>70%+</c:v>
                </c:pt>
              </c:strCache>
            </c:strRef>
          </c:cat>
          <c:val>
            <c:numRef>
              <c:f>'Clusters Bucketing'!$C$105:$C$111</c:f>
              <c:numCache>
                <c:formatCode>General</c:formatCode>
                <c:ptCount val="7"/>
                <c:pt idx="0">
                  <c:v>5114</c:v>
                </c:pt>
                <c:pt idx="1">
                  <c:v>23</c:v>
                </c:pt>
                <c:pt idx="2">
                  <c:v>312</c:v>
                </c:pt>
                <c:pt idx="3">
                  <c:v>433</c:v>
                </c:pt>
                <c:pt idx="4">
                  <c:v>211</c:v>
                </c:pt>
                <c:pt idx="5">
                  <c:v>79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A7-4F52-943B-532FFFE39E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611800768"/>
        <c:axId val="611809888"/>
      </c:barChart>
      <c:catAx>
        <c:axId val="611800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of Decile 6-10 Representation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809888"/>
        <c:crosses val="autoZero"/>
        <c:auto val="1"/>
        <c:lblAlgn val="ctr"/>
        <c:lblOffset val="100"/>
        <c:noMultiLvlLbl val="0"/>
      </c:catAx>
      <c:valAx>
        <c:axId val="611809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clusters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800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1CF55-92EF-4887-BE9B-476D680E62A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B9F3D-5686-4DD3-8AFC-EA4250A27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6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E0EA7B-6822-4EC8-8C65-EACC542A13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287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Total HCPs : 67,197</a:t>
            </a:r>
            <a:br>
              <a:rPr lang="en-US"/>
            </a:br>
            <a:r>
              <a:rPr lang="en-US"/>
              <a:t>Targeted Cohort: 5,207</a:t>
            </a:r>
            <a:br>
              <a:rPr lang="en-US"/>
            </a:br>
            <a:r>
              <a:rPr lang="en-US"/>
              <a:t>Treaters: 265</a:t>
            </a:r>
            <a:br>
              <a:rPr lang="en-US"/>
            </a:br>
            <a:r>
              <a:rPr lang="en-US"/>
              <a:t>Diagnosers: 296</a:t>
            </a:r>
            <a:br>
              <a:rPr lang="en-US"/>
            </a:br>
            <a:r>
              <a:rPr lang="en-US"/>
              <a:t>Bridgers: 96</a:t>
            </a:r>
            <a:br>
              <a:rPr lang="en-US"/>
            </a:br>
            <a:r>
              <a:rPr lang="en-US"/>
              <a:t>Influencers: 621</a:t>
            </a:r>
            <a:br>
              <a:rPr lang="en-US"/>
            </a:br>
            <a:r>
              <a:rPr lang="en-US"/>
              <a:t>Referrers: 3929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1BF8E-A7EF-4A76-BF6C-D76442A66E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6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FAA29-6634-47B9-DD64-360CF9FF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C9F4B-566A-8AB7-8772-209D351B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DD44F-DC83-4EE8-B35C-E84E29C9A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Total HCPs : 67,197</a:t>
            </a:r>
            <a:br>
              <a:rPr lang="en-US"/>
            </a:br>
            <a:r>
              <a:rPr lang="en-US"/>
              <a:t>Targeted Cohort: 5,207</a:t>
            </a:r>
            <a:br>
              <a:rPr lang="en-US"/>
            </a:br>
            <a:r>
              <a:rPr lang="en-US"/>
              <a:t>Treaters: 265</a:t>
            </a:r>
            <a:br>
              <a:rPr lang="en-US"/>
            </a:br>
            <a:r>
              <a:rPr lang="en-US"/>
              <a:t>Diagnosers: 296</a:t>
            </a:r>
            <a:br>
              <a:rPr lang="en-US"/>
            </a:br>
            <a:r>
              <a:rPr lang="en-US"/>
              <a:t>Bridgers: 96</a:t>
            </a:r>
            <a:br>
              <a:rPr lang="en-US"/>
            </a:br>
            <a:r>
              <a:rPr lang="en-US"/>
              <a:t>Influencers: 621</a:t>
            </a:r>
            <a:br>
              <a:rPr lang="en-US"/>
            </a:br>
            <a:r>
              <a:rPr lang="en-US"/>
              <a:t>Referrers: 3929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3ADCB-3A04-1F84-095C-1D96BED8D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1BF8E-A7EF-4A76-BF6C-D76442A66E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32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2B9CECE-7D8F-8C4A-AFC6-A963B1F05594}"/>
              </a:ext>
            </a:extLst>
          </p:cNvPr>
          <p:cNvSpPr/>
          <p:nvPr userDrawn="1"/>
        </p:nvSpPr>
        <p:spPr>
          <a:xfrm>
            <a:off x="0" y="61263"/>
            <a:ext cx="255181" cy="849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chemeClr val="accent1"/>
              </a:solidFill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1E79114-5B74-9547-8292-DAB8965D43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005" y="506"/>
            <a:ext cx="11459359" cy="3428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2246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579722" y="3362246"/>
                </a:lnTo>
                <a:cubicBezTo>
                  <a:pt x="259550" y="3362246"/>
                  <a:pt x="0" y="3102696"/>
                  <a:pt x="0" y="2782524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JP"/>
          </a:p>
        </p:txBody>
      </p:sp>
      <p:pic>
        <p:nvPicPr>
          <p:cNvPr id="18" name="Picture 17" descr="Takeda">
            <a:extLst>
              <a:ext uri="{FF2B5EF4-FFF2-40B4-BE49-F238E27FC236}">
                <a16:creationId xmlns:a16="http://schemas.microsoft.com/office/drawing/2014/main" id="{5F9376FC-2A9F-C644-AD88-C6E1B65B4D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516" y="3362752"/>
            <a:ext cx="2251710" cy="124886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F5E8E0A-41D4-8346-9248-0B9AAC7123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3956816"/>
            <a:ext cx="7699670" cy="1015681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</a:t>
            </a:r>
            <a:br>
              <a:rPr lang="en-GB"/>
            </a:br>
            <a:r>
              <a:rPr lang="en-GB"/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63B8E-5554-A04E-B4C5-97ECEE58B6CC}"/>
              </a:ext>
            </a:extLst>
          </p:cNvPr>
          <p:cNvSpPr/>
          <p:nvPr userDrawn="1"/>
        </p:nvSpPr>
        <p:spPr>
          <a:xfrm>
            <a:off x="749005" y="3764031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637423-F180-3943-B758-C8CCFA816E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7327E43-4F43-914D-BE65-DB0ADB5A5E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94728" y="5256031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A23AA60-6137-8841-B2ED-51B2F2E5C1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94728" y="5515045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B4FEAB2-22C6-3446-B4D2-5B610A729B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94728" y="5769532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085F378-E668-A648-B7B1-8C76C309ED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94728" y="4997510"/>
            <a:ext cx="7699670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E31EF6-BED5-C14F-94AD-4E5C55B855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8" y="6027352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546954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orient="horz" pos="2364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4354731" cy="1125969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02F3095-EA6E-F94A-AF04-18ED691DEB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66513" y="376180"/>
            <a:ext cx="6326533" cy="6108535"/>
          </a:xfrm>
          <a:custGeom>
            <a:avLst/>
            <a:gdLst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3409714 w 6462532"/>
              <a:gd name="connsiteY2" fmla="*/ 0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309764"/>
              <a:gd name="connsiteY0" fmla="*/ 3060215 h 6113033"/>
              <a:gd name="connsiteX1" fmla="*/ 3052818 w 7309764"/>
              <a:gd name="connsiteY1" fmla="*/ 7397 h 6113033"/>
              <a:gd name="connsiteX2" fmla="*/ 6592752 w 7309764"/>
              <a:gd name="connsiteY2" fmla="*/ 53695 h 6113033"/>
              <a:gd name="connsiteX3" fmla="*/ 6462532 w 7309764"/>
              <a:gd name="connsiteY3" fmla="*/ 3060215 h 6113033"/>
              <a:gd name="connsiteX4" fmla="*/ 6462532 w 7309764"/>
              <a:gd name="connsiteY4" fmla="*/ 3060215 h 6113033"/>
              <a:gd name="connsiteX5" fmla="*/ 3409714 w 7309764"/>
              <a:gd name="connsiteY5" fmla="*/ 6113033 h 6113033"/>
              <a:gd name="connsiteX6" fmla="*/ 3052818 w 7309764"/>
              <a:gd name="connsiteY6" fmla="*/ 6113033 h 6113033"/>
              <a:gd name="connsiteX7" fmla="*/ 0 w 7309764"/>
              <a:gd name="connsiteY7" fmla="*/ 3060215 h 6113033"/>
              <a:gd name="connsiteX0" fmla="*/ 0 w 7309764"/>
              <a:gd name="connsiteY0" fmla="*/ 3052818 h 6105636"/>
              <a:gd name="connsiteX1" fmla="*/ 3052818 w 7309764"/>
              <a:gd name="connsiteY1" fmla="*/ 0 h 6105636"/>
              <a:gd name="connsiteX2" fmla="*/ 6592752 w 7309764"/>
              <a:gd name="connsiteY2" fmla="*/ 46298 h 6105636"/>
              <a:gd name="connsiteX3" fmla="*/ 6462532 w 7309764"/>
              <a:gd name="connsiteY3" fmla="*/ 3052818 h 6105636"/>
              <a:gd name="connsiteX4" fmla="*/ 6462532 w 7309764"/>
              <a:gd name="connsiteY4" fmla="*/ 3052818 h 6105636"/>
              <a:gd name="connsiteX5" fmla="*/ 3409714 w 7309764"/>
              <a:gd name="connsiteY5" fmla="*/ 6105636 h 6105636"/>
              <a:gd name="connsiteX6" fmla="*/ 3052818 w 7309764"/>
              <a:gd name="connsiteY6" fmla="*/ 6105636 h 6105636"/>
              <a:gd name="connsiteX7" fmla="*/ 0 w 7309764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7162978"/>
              <a:gd name="connsiteY0" fmla="*/ 3052818 h 6105636"/>
              <a:gd name="connsiteX1" fmla="*/ 3052818 w 7162978"/>
              <a:gd name="connsiteY1" fmla="*/ 0 h 6105636"/>
              <a:gd name="connsiteX2" fmla="*/ 6395982 w 7162978"/>
              <a:gd name="connsiteY2" fmla="*/ 11574 h 6105636"/>
              <a:gd name="connsiteX3" fmla="*/ 6462532 w 7162978"/>
              <a:gd name="connsiteY3" fmla="*/ 3052818 h 6105636"/>
              <a:gd name="connsiteX4" fmla="*/ 6462532 w 7162978"/>
              <a:gd name="connsiteY4" fmla="*/ 3052818 h 6105636"/>
              <a:gd name="connsiteX5" fmla="*/ 3409714 w 7162978"/>
              <a:gd name="connsiteY5" fmla="*/ 6105636 h 6105636"/>
              <a:gd name="connsiteX6" fmla="*/ 3052818 w 7162978"/>
              <a:gd name="connsiteY6" fmla="*/ 6105636 h 6105636"/>
              <a:gd name="connsiteX7" fmla="*/ 0 w 7162978"/>
              <a:gd name="connsiteY7" fmla="*/ 3052818 h 6105636"/>
              <a:gd name="connsiteX0" fmla="*/ 0 w 6750471"/>
              <a:gd name="connsiteY0" fmla="*/ 3052818 h 6105636"/>
              <a:gd name="connsiteX1" fmla="*/ 3052818 w 6750471"/>
              <a:gd name="connsiteY1" fmla="*/ 0 h 6105636"/>
              <a:gd name="connsiteX2" fmla="*/ 6395982 w 6750471"/>
              <a:gd name="connsiteY2" fmla="*/ 11574 h 6105636"/>
              <a:gd name="connsiteX3" fmla="*/ 6462532 w 6750471"/>
              <a:gd name="connsiteY3" fmla="*/ 3052818 h 6105636"/>
              <a:gd name="connsiteX4" fmla="*/ 6462532 w 6750471"/>
              <a:gd name="connsiteY4" fmla="*/ 3052818 h 6105636"/>
              <a:gd name="connsiteX5" fmla="*/ 3409714 w 6750471"/>
              <a:gd name="connsiteY5" fmla="*/ 6105636 h 6105636"/>
              <a:gd name="connsiteX6" fmla="*/ 3052818 w 6750471"/>
              <a:gd name="connsiteY6" fmla="*/ 6105636 h 6105636"/>
              <a:gd name="connsiteX7" fmla="*/ 0 w 6750471"/>
              <a:gd name="connsiteY7" fmla="*/ 3052818 h 6105636"/>
              <a:gd name="connsiteX0" fmla="*/ 0 w 6462532"/>
              <a:gd name="connsiteY0" fmla="*/ 3052818 h 6105636"/>
              <a:gd name="connsiteX1" fmla="*/ 3052818 w 6462532"/>
              <a:gd name="connsiteY1" fmla="*/ 0 h 6105636"/>
              <a:gd name="connsiteX2" fmla="*/ 6395982 w 6462532"/>
              <a:gd name="connsiteY2" fmla="*/ 11574 h 6105636"/>
              <a:gd name="connsiteX3" fmla="*/ 6462532 w 6462532"/>
              <a:gd name="connsiteY3" fmla="*/ 3052818 h 6105636"/>
              <a:gd name="connsiteX4" fmla="*/ 6462532 w 6462532"/>
              <a:gd name="connsiteY4" fmla="*/ 3052818 h 6105636"/>
              <a:gd name="connsiteX5" fmla="*/ 3409714 w 6462532"/>
              <a:gd name="connsiteY5" fmla="*/ 6105636 h 6105636"/>
              <a:gd name="connsiteX6" fmla="*/ 3052818 w 6462532"/>
              <a:gd name="connsiteY6" fmla="*/ 6105636 h 6105636"/>
              <a:gd name="connsiteX7" fmla="*/ 0 w 6462532"/>
              <a:gd name="connsiteY7" fmla="*/ 3052818 h 6105636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6462532 w 6477004"/>
              <a:gd name="connsiteY4" fmla="*/ 3052819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5756477 w 6477004"/>
              <a:gd name="connsiteY4" fmla="*/ 3018095 h 6105637"/>
              <a:gd name="connsiteX5" fmla="*/ 3409714 w 6477004"/>
              <a:gd name="connsiteY5" fmla="*/ 6105637 h 6105637"/>
              <a:gd name="connsiteX6" fmla="*/ 3052818 w 6477004"/>
              <a:gd name="connsiteY6" fmla="*/ 6105637 h 6105637"/>
              <a:gd name="connsiteX7" fmla="*/ 0 w 6477004"/>
              <a:gd name="connsiteY7" fmla="*/ 3052819 h 6105637"/>
              <a:gd name="connsiteX0" fmla="*/ 0 w 6477004"/>
              <a:gd name="connsiteY0" fmla="*/ 3052819 h 6105637"/>
              <a:gd name="connsiteX1" fmla="*/ 3052818 w 6477004"/>
              <a:gd name="connsiteY1" fmla="*/ 1 h 6105637"/>
              <a:gd name="connsiteX2" fmla="*/ 6477004 w 6477004"/>
              <a:gd name="connsiteY2" fmla="*/ 0 h 6105637"/>
              <a:gd name="connsiteX3" fmla="*/ 6462532 w 6477004"/>
              <a:gd name="connsiteY3" fmla="*/ 3052819 h 6105637"/>
              <a:gd name="connsiteX4" fmla="*/ 3409714 w 6477004"/>
              <a:gd name="connsiteY4" fmla="*/ 6105637 h 6105637"/>
              <a:gd name="connsiteX5" fmla="*/ 3052818 w 6477004"/>
              <a:gd name="connsiteY5" fmla="*/ 6105637 h 6105637"/>
              <a:gd name="connsiteX6" fmla="*/ 0 w 6477004"/>
              <a:gd name="connsiteY6" fmla="*/ 3052819 h 6105637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462532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477004"/>
              <a:gd name="connsiteY0" fmla="*/ 3052819 h 6108535"/>
              <a:gd name="connsiteX1" fmla="*/ 3052818 w 6477004"/>
              <a:gd name="connsiteY1" fmla="*/ 1 h 6108535"/>
              <a:gd name="connsiteX2" fmla="*/ 6477004 w 6477004"/>
              <a:gd name="connsiteY2" fmla="*/ 0 h 6108535"/>
              <a:gd name="connsiteX3" fmla="*/ 6323635 w 6477004"/>
              <a:gd name="connsiteY3" fmla="*/ 6108535 h 6108535"/>
              <a:gd name="connsiteX4" fmla="*/ 3409714 w 6477004"/>
              <a:gd name="connsiteY4" fmla="*/ 6105637 h 6108535"/>
              <a:gd name="connsiteX5" fmla="*/ 3052818 w 6477004"/>
              <a:gd name="connsiteY5" fmla="*/ 6105637 h 6108535"/>
              <a:gd name="connsiteX6" fmla="*/ 0 w 6477004"/>
              <a:gd name="connsiteY6" fmla="*/ 3052819 h 6108535"/>
              <a:gd name="connsiteX0" fmla="*/ 0 w 6326533"/>
              <a:gd name="connsiteY0" fmla="*/ 3052819 h 6108535"/>
              <a:gd name="connsiteX1" fmla="*/ 3052818 w 6326533"/>
              <a:gd name="connsiteY1" fmla="*/ 1 h 6108535"/>
              <a:gd name="connsiteX2" fmla="*/ 6326533 w 6326533"/>
              <a:gd name="connsiteY2" fmla="*/ 0 h 6108535"/>
              <a:gd name="connsiteX3" fmla="*/ 6323635 w 6326533"/>
              <a:gd name="connsiteY3" fmla="*/ 6108535 h 6108535"/>
              <a:gd name="connsiteX4" fmla="*/ 3409714 w 6326533"/>
              <a:gd name="connsiteY4" fmla="*/ 6105637 h 6108535"/>
              <a:gd name="connsiteX5" fmla="*/ 3052818 w 6326533"/>
              <a:gd name="connsiteY5" fmla="*/ 6105637 h 6108535"/>
              <a:gd name="connsiteX6" fmla="*/ 0 w 6326533"/>
              <a:gd name="connsiteY6" fmla="*/ 3052819 h 610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6533" h="6108535">
                <a:moveTo>
                  <a:pt x="0" y="3052819"/>
                </a:moveTo>
                <a:cubicBezTo>
                  <a:pt x="0" y="1366794"/>
                  <a:pt x="1366793" y="1"/>
                  <a:pt x="3052818" y="1"/>
                </a:cubicBezTo>
                <a:lnTo>
                  <a:pt x="6326533" y="0"/>
                </a:lnTo>
                <a:lnTo>
                  <a:pt x="6323635" y="6108535"/>
                </a:lnTo>
                <a:lnTo>
                  <a:pt x="3409714" y="6105637"/>
                </a:lnTo>
                <a:lnTo>
                  <a:pt x="3052818" y="6105637"/>
                </a:lnTo>
                <a:cubicBezTo>
                  <a:pt x="1366793" y="6105637"/>
                  <a:pt x="0" y="4738844"/>
                  <a:pt x="0" y="3052819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Takeda">
            <a:extLst>
              <a:ext uri="{FF2B5EF4-FFF2-40B4-BE49-F238E27FC236}">
                <a16:creationId xmlns:a16="http://schemas.microsoft.com/office/drawing/2014/main" id="{F83AE827-0C93-0344-8F1E-82C9D7F8CD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417" y="-10972"/>
            <a:ext cx="2251710" cy="12488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19044E-3CA3-8043-AF11-ED42DE4ECF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4730" y="6367253"/>
            <a:ext cx="1958578" cy="11746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F239D86-1AC3-1D48-9675-22CEFBB26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4729" y="3835926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1BF6710-27B9-2444-8317-2C64F0D30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4729" y="4094940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69B2D41-B11D-9D45-B189-F838AC342B0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4729" y="4349427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7467C81-9D88-4140-B42C-28DFB5646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729" y="3577405"/>
            <a:ext cx="4354732" cy="234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23587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6862150" cy="1125969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8F239D86-1AC3-1D48-9675-22CEFBB263F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4729" y="3835926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of Position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1BF6710-27B9-2444-8317-2C64F0D30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4729" y="4094940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Department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69B2D41-B11D-9D45-B189-F838AC342B0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4729" y="4349427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D7467C81-9D88-4140-B42C-28DFB5646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94729" y="3577405"/>
            <a:ext cx="6862150" cy="2630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068" indent="0">
              <a:buNone/>
              <a:defRPr sz="1400">
                <a:solidFill>
                  <a:schemeClr val="tx1"/>
                </a:solidFill>
              </a:defRPr>
            </a:lvl2pPr>
            <a:lvl3pPr marL="914149" indent="0">
              <a:buNone/>
              <a:defRPr sz="1400">
                <a:solidFill>
                  <a:schemeClr val="tx1"/>
                </a:solidFill>
              </a:defRPr>
            </a:lvl3pPr>
            <a:lvl4pPr marL="1371219" indent="0">
              <a:buNone/>
              <a:defRPr sz="1400">
                <a:solidFill>
                  <a:schemeClr val="tx1"/>
                </a:solidFill>
              </a:defRPr>
            </a:lvl4pPr>
            <a:lvl5pPr marL="182829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819C41-2A79-B54D-9C44-C619DA694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1921" y="6357944"/>
            <a:ext cx="1958578" cy="117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2794BD-1A0D-7D48-855D-469111926B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516" y="-8600"/>
            <a:ext cx="2251710" cy="1248865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9909778-A51F-784D-ACA4-EC5DBA48BE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4729" y="6319955"/>
            <a:ext cx="7699670" cy="234001"/>
          </a:xfrm>
        </p:spPr>
        <p:txBody>
          <a:bodyPr tIns="0" rIns="0" bIns="0" anchor="ctr" anchorCtr="0">
            <a:no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510552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one-column layout. Click to add content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51A4825E-63A1-564F-BC3A-FBC167ECE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9CDB0-5730-E246-B31F-F5963CF8EFDC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4EB3013-FCB4-1B4E-A9F2-FD57CF727C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3551181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1102385"/>
            <a:ext cx="11569700" cy="5328857"/>
          </a:xfrm>
          <a:prstGeom prst="rect">
            <a:avLst/>
          </a:prstGeom>
        </p:spPr>
        <p:txBody>
          <a:bodyPr tIns="0" rIns="0" bIns="0" numCol="2" spcCol="54000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a two-column layout. Click to add content. 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CDA06C55-0643-C148-AAB1-C4BB26FD7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A75F5BF7-D49E-8A49-AE81-CB31E57D5A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86D2E5B8-9E2B-DB46-A55A-5F26569C4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Two-column layout. Click to add title</a:t>
            </a:r>
            <a:endParaRPr kumimoji="1" lang="ja-JP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9634AC-7DDA-D44D-88DB-5850289DD643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0" name="スライド番号プレースホルダ 5">
            <a:extLst>
              <a:ext uri="{FF2B5EF4-FFF2-40B4-BE49-F238E27FC236}">
                <a16:creationId xmlns:a16="http://schemas.microsoft.com/office/drawing/2014/main" id="{E22A984C-7436-8C4C-83C8-F2AD67592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6720AD-4FA4-A146-AEEB-A4E558BAA3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</p:spTree>
    <p:extLst>
      <p:ext uri="{BB962C8B-B14F-4D97-AF65-F5344CB8AC3E}">
        <p14:creationId xmlns:p14="http://schemas.microsoft.com/office/powerpoint/2010/main" val="2458637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E02383DA-65B3-044E-9E1B-2CC00A0B1C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4730" y="2303030"/>
            <a:ext cx="4354731" cy="227913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lnSpc>
                <a:spcPts val="3800"/>
              </a:lnSpc>
              <a:defRPr sz="3600" b="1" i="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</a:lstStyle>
          <a:p>
            <a:r>
              <a:rPr lang="en-GB"/>
              <a:t>Click to add section title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F9C2FE-7E43-3948-92F0-0CEA804BDBFE}"/>
              </a:ext>
            </a:extLst>
          </p:cNvPr>
          <p:cNvSpPr/>
          <p:nvPr userDrawn="1"/>
        </p:nvSpPr>
        <p:spPr>
          <a:xfrm>
            <a:off x="749005" y="2110246"/>
            <a:ext cx="97200" cy="27071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 altLang="en-US" sz="1800">
              <a:solidFill>
                <a:srgbClr val="FFFFFF"/>
              </a:solidFill>
            </a:endParaRP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6656F8F-0621-5F47-BF80-4A4E365A2D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2541" y="-1"/>
            <a:ext cx="5565823" cy="6416675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64472"/>
              <a:gd name="connsiteY0" fmla="*/ 0 h 6630428"/>
              <a:gd name="connsiteX1" fmla="*/ 11864472 w 11864472"/>
              <a:gd name="connsiteY1" fmla="*/ 188353 h 6630428"/>
              <a:gd name="connsiteX2" fmla="*/ 11855613 w 11864472"/>
              <a:gd name="connsiteY2" fmla="*/ 6628774 h 6630428"/>
              <a:gd name="connsiteX3" fmla="*/ 579722 w 11864472"/>
              <a:gd name="connsiteY3" fmla="*/ 6630428 h 6630428"/>
              <a:gd name="connsiteX4" fmla="*/ 0 w 11864472"/>
              <a:gd name="connsiteY4" fmla="*/ 6050706 h 6630428"/>
              <a:gd name="connsiteX5" fmla="*/ 0 w 11864472"/>
              <a:gd name="connsiteY5" fmla="*/ 0 h 6630428"/>
              <a:gd name="connsiteX0" fmla="*/ 0 w 11864472"/>
              <a:gd name="connsiteY0" fmla="*/ 13527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527 h 6643955"/>
              <a:gd name="connsiteX0" fmla="*/ 0 w 11864472"/>
              <a:gd name="connsiteY0" fmla="*/ 1319813 h 6643955"/>
              <a:gd name="connsiteX1" fmla="*/ 11864472 w 11864472"/>
              <a:gd name="connsiteY1" fmla="*/ 0 h 6643955"/>
              <a:gd name="connsiteX2" fmla="*/ 11855613 w 11864472"/>
              <a:gd name="connsiteY2" fmla="*/ 6642301 h 6643955"/>
              <a:gd name="connsiteX3" fmla="*/ 579722 w 11864472"/>
              <a:gd name="connsiteY3" fmla="*/ 6643955 h 6643955"/>
              <a:gd name="connsiteX4" fmla="*/ 0 w 11864472"/>
              <a:gd name="connsiteY4" fmla="*/ 6064233 h 6643955"/>
              <a:gd name="connsiteX5" fmla="*/ 0 w 11864472"/>
              <a:gd name="connsiteY5" fmla="*/ 1319813 h 6643955"/>
              <a:gd name="connsiteX0" fmla="*/ 0 w 11864472"/>
              <a:gd name="connsiteY0" fmla="*/ 135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3527 h 5337669"/>
              <a:gd name="connsiteX0" fmla="*/ 0 w 11864472"/>
              <a:gd name="connsiteY0" fmla="*/ 1652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1652 h 5337669"/>
              <a:gd name="connsiteX0" fmla="*/ 0 w 11864472"/>
              <a:gd name="connsiteY0" fmla="*/ 2201927 h 5337669"/>
              <a:gd name="connsiteX1" fmla="*/ 11864472 w 11864472"/>
              <a:gd name="connsiteY1" fmla="*/ 0 h 5337669"/>
              <a:gd name="connsiteX2" fmla="*/ 11855613 w 11864472"/>
              <a:gd name="connsiteY2" fmla="*/ 5336015 h 5337669"/>
              <a:gd name="connsiteX3" fmla="*/ 579722 w 11864472"/>
              <a:gd name="connsiteY3" fmla="*/ 5337669 h 5337669"/>
              <a:gd name="connsiteX4" fmla="*/ 0 w 11864472"/>
              <a:gd name="connsiteY4" fmla="*/ 4757947 h 5337669"/>
              <a:gd name="connsiteX5" fmla="*/ 0 w 11864472"/>
              <a:gd name="connsiteY5" fmla="*/ 2201927 h 5337669"/>
              <a:gd name="connsiteX0" fmla="*/ 0 w 11864472"/>
              <a:gd name="connsiteY0" fmla="*/ 1652 h 3137394"/>
              <a:gd name="connsiteX1" fmla="*/ 11864472 w 11864472"/>
              <a:gd name="connsiteY1" fmla="*/ 0 h 3137394"/>
              <a:gd name="connsiteX2" fmla="*/ 11855613 w 11864472"/>
              <a:gd name="connsiteY2" fmla="*/ 3135740 h 3137394"/>
              <a:gd name="connsiteX3" fmla="*/ 579722 w 11864472"/>
              <a:gd name="connsiteY3" fmla="*/ 3137394 h 3137394"/>
              <a:gd name="connsiteX4" fmla="*/ 0 w 11864472"/>
              <a:gd name="connsiteY4" fmla="*/ 2557672 h 3137394"/>
              <a:gd name="connsiteX5" fmla="*/ 0 w 11864472"/>
              <a:gd name="connsiteY5" fmla="*/ 1652 h 3137394"/>
              <a:gd name="connsiteX0" fmla="*/ 0 w 11864472"/>
              <a:gd name="connsiteY0" fmla="*/ 0 h 3420555"/>
              <a:gd name="connsiteX1" fmla="*/ 11864472 w 11864472"/>
              <a:gd name="connsiteY1" fmla="*/ 283161 h 3420555"/>
              <a:gd name="connsiteX2" fmla="*/ 11855613 w 11864472"/>
              <a:gd name="connsiteY2" fmla="*/ 3418901 h 3420555"/>
              <a:gd name="connsiteX3" fmla="*/ 579722 w 11864472"/>
              <a:gd name="connsiteY3" fmla="*/ 3420555 h 3420555"/>
              <a:gd name="connsiteX4" fmla="*/ 0 w 11864472"/>
              <a:gd name="connsiteY4" fmla="*/ 2840833 h 3420555"/>
              <a:gd name="connsiteX5" fmla="*/ 0 w 11864472"/>
              <a:gd name="connsiteY5" fmla="*/ 0 h 3420555"/>
              <a:gd name="connsiteX0" fmla="*/ 0 w 11864472"/>
              <a:gd name="connsiteY0" fmla="*/ 1652 h 3422207"/>
              <a:gd name="connsiteX1" fmla="*/ 11864472 w 11864472"/>
              <a:gd name="connsiteY1" fmla="*/ 0 h 3422207"/>
              <a:gd name="connsiteX2" fmla="*/ 11855613 w 11864472"/>
              <a:gd name="connsiteY2" fmla="*/ 3420553 h 3422207"/>
              <a:gd name="connsiteX3" fmla="*/ 579722 w 11864472"/>
              <a:gd name="connsiteY3" fmla="*/ 3422207 h 3422207"/>
              <a:gd name="connsiteX4" fmla="*/ 0 w 11864472"/>
              <a:gd name="connsiteY4" fmla="*/ 2842485 h 3422207"/>
              <a:gd name="connsiteX5" fmla="*/ 0 w 11864472"/>
              <a:gd name="connsiteY5" fmla="*/ 1652 h 3422207"/>
              <a:gd name="connsiteX0" fmla="*/ 0 w 11855613"/>
              <a:gd name="connsiteY0" fmla="*/ 0 h 3420555"/>
              <a:gd name="connsiteX1" fmla="*/ 11834492 w 11855613"/>
              <a:gd name="connsiteY1" fmla="*/ 58309 h 3420555"/>
              <a:gd name="connsiteX2" fmla="*/ 11855613 w 11855613"/>
              <a:gd name="connsiteY2" fmla="*/ 3418901 h 3420555"/>
              <a:gd name="connsiteX3" fmla="*/ 579722 w 11855613"/>
              <a:gd name="connsiteY3" fmla="*/ 3420555 h 3420555"/>
              <a:gd name="connsiteX4" fmla="*/ 0 w 11855613"/>
              <a:gd name="connsiteY4" fmla="*/ 2840833 h 3420555"/>
              <a:gd name="connsiteX5" fmla="*/ 0 w 11855613"/>
              <a:gd name="connsiteY5" fmla="*/ 0 h 3420555"/>
              <a:gd name="connsiteX0" fmla="*/ 0 w 11855613"/>
              <a:gd name="connsiteY0" fmla="*/ 1652 h 3362246"/>
              <a:gd name="connsiteX1" fmla="*/ 11834492 w 11855613"/>
              <a:gd name="connsiteY1" fmla="*/ 0 h 3362246"/>
              <a:gd name="connsiteX2" fmla="*/ 11855613 w 11855613"/>
              <a:gd name="connsiteY2" fmla="*/ 3360592 h 3362246"/>
              <a:gd name="connsiteX3" fmla="*/ 579722 w 11855613"/>
              <a:gd name="connsiteY3" fmla="*/ 3362246 h 3362246"/>
              <a:gd name="connsiteX4" fmla="*/ 0 w 11855613"/>
              <a:gd name="connsiteY4" fmla="*/ 2782524 h 3362246"/>
              <a:gd name="connsiteX5" fmla="*/ 0 w 11855613"/>
              <a:gd name="connsiteY5" fmla="*/ 1652 h 3362246"/>
              <a:gd name="connsiteX0" fmla="*/ 0 w 11864473"/>
              <a:gd name="connsiteY0" fmla="*/ 0 h 3360594"/>
              <a:gd name="connsiteX1" fmla="*/ 11864473 w 11864473"/>
              <a:gd name="connsiteY1" fmla="*/ 13338 h 3360594"/>
              <a:gd name="connsiteX2" fmla="*/ 11855613 w 11864473"/>
              <a:gd name="connsiteY2" fmla="*/ 3358940 h 3360594"/>
              <a:gd name="connsiteX3" fmla="*/ 579722 w 11864473"/>
              <a:gd name="connsiteY3" fmla="*/ 3360594 h 3360594"/>
              <a:gd name="connsiteX4" fmla="*/ 0 w 11864473"/>
              <a:gd name="connsiteY4" fmla="*/ 2780872 h 3360594"/>
              <a:gd name="connsiteX5" fmla="*/ 0 w 11864473"/>
              <a:gd name="connsiteY5" fmla="*/ 0 h 3360594"/>
              <a:gd name="connsiteX0" fmla="*/ 0 w 11864473"/>
              <a:gd name="connsiteY0" fmla="*/ 1652 h 3362246"/>
              <a:gd name="connsiteX1" fmla="*/ 11864473 w 11864473"/>
              <a:gd name="connsiteY1" fmla="*/ 0 h 3362246"/>
              <a:gd name="connsiteX2" fmla="*/ 11855613 w 11864473"/>
              <a:gd name="connsiteY2" fmla="*/ 3360592 h 3362246"/>
              <a:gd name="connsiteX3" fmla="*/ 579722 w 11864473"/>
              <a:gd name="connsiteY3" fmla="*/ 3362246 h 3362246"/>
              <a:gd name="connsiteX4" fmla="*/ 0 w 11864473"/>
              <a:gd name="connsiteY4" fmla="*/ 2782524 h 3362246"/>
              <a:gd name="connsiteX5" fmla="*/ 0 w 11864473"/>
              <a:gd name="connsiteY5" fmla="*/ 1652 h 3362246"/>
              <a:gd name="connsiteX0" fmla="*/ 0 w 11855629"/>
              <a:gd name="connsiteY0" fmla="*/ 1652 h 3362246"/>
              <a:gd name="connsiteX1" fmla="*/ 11459359 w 11855629"/>
              <a:gd name="connsiteY1" fmla="*/ 0 h 3362246"/>
              <a:gd name="connsiteX2" fmla="*/ 11855613 w 11855629"/>
              <a:gd name="connsiteY2" fmla="*/ 3360592 h 3362246"/>
              <a:gd name="connsiteX3" fmla="*/ 579722 w 11855629"/>
              <a:gd name="connsiteY3" fmla="*/ 3362246 h 3362246"/>
              <a:gd name="connsiteX4" fmla="*/ 0 w 11855629"/>
              <a:gd name="connsiteY4" fmla="*/ 2782524 h 3362246"/>
              <a:gd name="connsiteX5" fmla="*/ 0 w 1185562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57972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  <a:gd name="connsiteX0" fmla="*/ 0 w 11459359"/>
              <a:gd name="connsiteY0" fmla="*/ 1652 h 3362246"/>
              <a:gd name="connsiteX1" fmla="*/ 11459359 w 11459359"/>
              <a:gd name="connsiteY1" fmla="*/ 0 h 3362246"/>
              <a:gd name="connsiteX2" fmla="*/ 11438924 w 11459359"/>
              <a:gd name="connsiteY2" fmla="*/ 3360592 h 3362246"/>
              <a:gd name="connsiteX3" fmla="*/ 1584742 w 11459359"/>
              <a:gd name="connsiteY3" fmla="*/ 3362246 h 3362246"/>
              <a:gd name="connsiteX4" fmla="*/ 0 w 11459359"/>
              <a:gd name="connsiteY4" fmla="*/ 2782524 h 3362246"/>
              <a:gd name="connsiteX5" fmla="*/ 0 w 11459359"/>
              <a:gd name="connsiteY5" fmla="*/ 1652 h 3362246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782524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  <a:gd name="connsiteX0" fmla="*/ 0 w 11459359"/>
              <a:gd name="connsiteY0" fmla="*/ 1652 h 3360592"/>
              <a:gd name="connsiteX1" fmla="*/ 11459359 w 11459359"/>
              <a:gd name="connsiteY1" fmla="*/ 0 h 3360592"/>
              <a:gd name="connsiteX2" fmla="*/ 11438924 w 11459359"/>
              <a:gd name="connsiteY2" fmla="*/ 3360592 h 3360592"/>
              <a:gd name="connsiteX3" fmla="*/ 1188396 w 11459359"/>
              <a:gd name="connsiteY3" fmla="*/ 3358591 h 3360592"/>
              <a:gd name="connsiteX4" fmla="*/ 0 w 11459359"/>
              <a:gd name="connsiteY4" fmla="*/ 2946995 h 3360592"/>
              <a:gd name="connsiteX5" fmla="*/ 0 w 11459359"/>
              <a:gd name="connsiteY5" fmla="*/ 1652 h 3360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59359" h="3360592">
                <a:moveTo>
                  <a:pt x="0" y="1652"/>
                </a:moveTo>
                <a:lnTo>
                  <a:pt x="11459359" y="0"/>
                </a:lnTo>
                <a:cubicBezTo>
                  <a:pt x="11456406" y="1115201"/>
                  <a:pt x="11441877" y="2245391"/>
                  <a:pt x="11438924" y="3360592"/>
                </a:cubicBezTo>
                <a:lnTo>
                  <a:pt x="1188396" y="3358591"/>
                </a:lnTo>
                <a:cubicBezTo>
                  <a:pt x="848612" y="3356903"/>
                  <a:pt x="0" y="3267167"/>
                  <a:pt x="0" y="2946995"/>
                </a:cubicBezTo>
                <a:lnTo>
                  <a:pt x="0" y="16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9049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5DA52-BBAF-EA48-AEC6-EA08F428CF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371959"/>
            <a:ext cx="11591925" cy="60447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3000"/>
            </a:lvl1pPr>
          </a:lstStyle>
          <a:p>
            <a:pPr lvl="0"/>
            <a:r>
              <a:rPr lang="en-US"/>
              <a:t>Blank slide</a:t>
            </a:r>
            <a:endParaRPr lang="en-JP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EFB23A-4F82-7CFB-40DF-92A2A9183DDF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558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BB454FD-9C16-FC47-B46E-6675394572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3726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68F3A49-7287-1C4D-93C8-50E3C0B4F1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99967" y="3575904"/>
            <a:ext cx="3763545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1" name="Footer Placeholder 8">
            <a:extLst>
              <a:ext uri="{FF2B5EF4-FFF2-40B4-BE49-F238E27FC236}">
                <a16:creationId xmlns:a16="http://schemas.microsoft.com/office/drawing/2014/main" id="{519BC59F-4516-0043-8BAC-F9FE45B6A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0E2D4ABB-BC5B-754B-B0DE-676246A385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4" name="タイトル プレースホルダ 1">
            <a:extLst>
              <a:ext uri="{FF2B5EF4-FFF2-40B4-BE49-F238E27FC236}">
                <a16:creationId xmlns:a16="http://schemas.microsoft.com/office/drawing/2014/main" id="{CC986DF6-9894-F144-B9DA-A9DBE0000A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6528CE-2840-6C44-965A-04D8835743E3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7" name="スライド番号プレースホルダ 5">
            <a:extLst>
              <a:ext uri="{FF2B5EF4-FFF2-40B4-BE49-F238E27FC236}">
                <a16:creationId xmlns:a16="http://schemas.microsoft.com/office/drawing/2014/main" id="{854E474F-30B0-604E-9699-287AC57C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9681050-C142-4F4F-B3C6-6F52F3C55C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10504E2-40F0-054E-8424-D247EF2CA2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11569700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073E75F2-7FFB-DC4C-8964-799372FCF5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11569700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225601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B3311DE3-EC35-4C49-805E-57AB2D90E99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10743" y="1093767"/>
            <a:ext cx="7988356" cy="5322908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88356" h="5135028">
                <a:moveTo>
                  <a:pt x="0" y="0"/>
                </a:moveTo>
                <a:lnTo>
                  <a:pt x="7988281" y="7569"/>
                </a:lnTo>
                <a:cubicBezTo>
                  <a:pt x="7989186" y="2154376"/>
                  <a:pt x="7981645" y="2988221"/>
                  <a:pt x="7982550" y="5135028"/>
                </a:cubicBezTo>
                <a:lnTo>
                  <a:pt x="596656" y="5124807"/>
                </a:lnTo>
                <a:cubicBezTo>
                  <a:pt x="276484" y="5124807"/>
                  <a:pt x="16934" y="4865257"/>
                  <a:pt x="16934" y="4545085"/>
                </a:cubicBezTo>
                <a:cubicBezTo>
                  <a:pt x="11289" y="3022648"/>
                  <a:pt x="5645" y="1522437"/>
                  <a:pt x="0" y="0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E4ACE247-6DA5-F044-A880-12BDFE149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1397373C-4723-444D-99E3-0FBCAFDAD4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22" name="タイトル プレースホルダ 1">
            <a:extLst>
              <a:ext uri="{FF2B5EF4-FFF2-40B4-BE49-F238E27FC236}">
                <a16:creationId xmlns:a16="http://schemas.microsoft.com/office/drawing/2014/main" id="{1545CFCD-ABA6-1349-9917-1DDD2762C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730F84-B57E-C441-B81C-A0677388FA64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78815F79-70B9-A343-88C1-1B41F1510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6ACFB15D-3880-FB46-8B5A-E057FE4C9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F3CD883-F623-E54C-A27A-38B7EB9570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2D601E3-CC68-7845-AAF4-3AD141198B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693816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2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A0F537B-2380-C640-8119-936AD77864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85454" y="-5494"/>
            <a:ext cx="6024384" cy="6863494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4384"/>
              <a:gd name="connsiteY0" fmla="*/ 0 h 6857810"/>
              <a:gd name="connsiteX1" fmla="*/ 6015601 w 6024384"/>
              <a:gd name="connsiteY1" fmla="*/ 1730351 h 6857810"/>
              <a:gd name="connsiteX2" fmla="*/ 6024384 w 6024384"/>
              <a:gd name="connsiteY2" fmla="*/ 6857810 h 6857810"/>
              <a:gd name="connsiteX3" fmla="*/ 583404 w 6024384"/>
              <a:gd name="connsiteY3" fmla="*/ 6847589 h 6857810"/>
              <a:gd name="connsiteX4" fmla="*/ 3682 w 6024384"/>
              <a:gd name="connsiteY4" fmla="*/ 6267867 h 6857810"/>
              <a:gd name="connsiteX5" fmla="*/ 0 w 6024384"/>
              <a:gd name="connsiteY5" fmla="*/ 0 h 6857810"/>
              <a:gd name="connsiteX0" fmla="*/ 0 w 6024384"/>
              <a:gd name="connsiteY0" fmla="*/ 5684 h 6863494"/>
              <a:gd name="connsiteX1" fmla="*/ 6002349 w 6024384"/>
              <a:gd name="connsiteY1" fmla="*/ 0 h 6863494"/>
              <a:gd name="connsiteX2" fmla="*/ 6024384 w 6024384"/>
              <a:gd name="connsiteY2" fmla="*/ 6863494 h 6863494"/>
              <a:gd name="connsiteX3" fmla="*/ 583404 w 6024384"/>
              <a:gd name="connsiteY3" fmla="*/ 6853273 h 6863494"/>
              <a:gd name="connsiteX4" fmla="*/ 3682 w 6024384"/>
              <a:gd name="connsiteY4" fmla="*/ 6273551 h 6863494"/>
              <a:gd name="connsiteX5" fmla="*/ 0 w 6024384"/>
              <a:gd name="connsiteY5" fmla="*/ 5684 h 68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24384" h="6863494">
                <a:moveTo>
                  <a:pt x="0" y="5684"/>
                </a:moveTo>
                <a:lnTo>
                  <a:pt x="6002349" y="0"/>
                </a:lnTo>
                <a:cubicBezTo>
                  <a:pt x="6003254" y="2146807"/>
                  <a:pt x="6023479" y="4716687"/>
                  <a:pt x="6024384" y="6863494"/>
                </a:cubicBezTo>
                <a:lnTo>
                  <a:pt x="583404" y="6853273"/>
                </a:lnTo>
                <a:cubicBezTo>
                  <a:pt x="263232" y="6853273"/>
                  <a:pt x="3682" y="6593723"/>
                  <a:pt x="3682" y="6273551"/>
                </a:cubicBezTo>
                <a:cubicBezTo>
                  <a:pt x="-1963" y="4751114"/>
                  <a:pt x="5645" y="1528121"/>
                  <a:pt x="0" y="5684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5708650" cy="2859620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 </a:t>
            </a:r>
          </a:p>
        </p:txBody>
      </p:sp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86D6FEA8-06E4-474A-8491-CD1DDAE7D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9" y="161605"/>
            <a:ext cx="5413722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DBCF76-3461-2245-8BB1-FA50AE27F6CA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FB98B4FE-9AC1-D142-89B5-4D3791685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D5A74AA-F0D3-9243-967D-FEA6F7A20BC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5413722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16C870C-B0F9-5A43-81FD-66BD75CC33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5704886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64E591A-1A88-9244-AC81-5B42BFE347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5704886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106003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7660042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36961" y="1093767"/>
            <a:ext cx="4069500" cy="5331536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8853"/>
              <a:gd name="connsiteY0" fmla="*/ 0 h 5124807"/>
              <a:gd name="connsiteX1" fmla="*/ 6028853 w 6028853"/>
              <a:gd name="connsiteY1" fmla="*/ 7569 h 5124807"/>
              <a:gd name="connsiteX2" fmla="*/ 4063693 w 6028853"/>
              <a:gd name="connsiteY2" fmla="*/ 5105999 h 5124807"/>
              <a:gd name="connsiteX3" fmla="*/ 596656 w 6028853"/>
              <a:gd name="connsiteY3" fmla="*/ 5124807 h 5124807"/>
              <a:gd name="connsiteX4" fmla="*/ 16934 w 6028853"/>
              <a:gd name="connsiteY4" fmla="*/ 4545085 h 5124807"/>
              <a:gd name="connsiteX5" fmla="*/ 0 w 6028853"/>
              <a:gd name="connsiteY5" fmla="*/ 0 h 5124807"/>
              <a:gd name="connsiteX0" fmla="*/ 0 w 4069500"/>
              <a:gd name="connsiteY0" fmla="*/ 0 h 5124807"/>
              <a:gd name="connsiteX1" fmla="*/ 4069425 w 4069500"/>
              <a:gd name="connsiteY1" fmla="*/ 7569 h 5124807"/>
              <a:gd name="connsiteX2" fmla="*/ 4063693 w 4069500"/>
              <a:gd name="connsiteY2" fmla="*/ 5105999 h 5124807"/>
              <a:gd name="connsiteX3" fmla="*/ 596656 w 4069500"/>
              <a:gd name="connsiteY3" fmla="*/ 5124807 h 5124807"/>
              <a:gd name="connsiteX4" fmla="*/ 16934 w 4069500"/>
              <a:gd name="connsiteY4" fmla="*/ 4545085 h 5124807"/>
              <a:gd name="connsiteX5" fmla="*/ 0 w 4069500"/>
              <a:gd name="connsiteY5" fmla="*/ 0 h 5124807"/>
              <a:gd name="connsiteX0" fmla="*/ 0 w 4069500"/>
              <a:gd name="connsiteY0" fmla="*/ 6946 h 5131753"/>
              <a:gd name="connsiteX1" fmla="*/ 4069425 w 4069500"/>
              <a:gd name="connsiteY1" fmla="*/ 0 h 5131753"/>
              <a:gd name="connsiteX2" fmla="*/ 4063693 w 4069500"/>
              <a:gd name="connsiteY2" fmla="*/ 5112945 h 5131753"/>
              <a:gd name="connsiteX3" fmla="*/ 596656 w 4069500"/>
              <a:gd name="connsiteY3" fmla="*/ 5131753 h 5131753"/>
              <a:gd name="connsiteX4" fmla="*/ 16934 w 4069500"/>
              <a:gd name="connsiteY4" fmla="*/ 4552031 h 5131753"/>
              <a:gd name="connsiteX5" fmla="*/ 0 w 4069500"/>
              <a:gd name="connsiteY5" fmla="*/ 6946 h 513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9500" h="5131753">
                <a:moveTo>
                  <a:pt x="0" y="6946"/>
                </a:moveTo>
                <a:lnTo>
                  <a:pt x="4069425" y="0"/>
                </a:lnTo>
                <a:cubicBezTo>
                  <a:pt x="4070330" y="2146807"/>
                  <a:pt x="4062788" y="2966138"/>
                  <a:pt x="4063693" y="5112945"/>
                </a:cubicBezTo>
                <a:lnTo>
                  <a:pt x="596656" y="5131753"/>
                </a:lnTo>
                <a:cubicBezTo>
                  <a:pt x="276484" y="5131753"/>
                  <a:pt x="16934" y="4872203"/>
                  <a:pt x="16934" y="4552031"/>
                </a:cubicBezTo>
                <a:cubicBezTo>
                  <a:pt x="11289" y="3029594"/>
                  <a:pt x="5645" y="1529383"/>
                  <a:pt x="0" y="6946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334C6D4B-D00D-0346-BC97-8DCE371C28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CCEDFD04-9A53-9241-851E-1D01DC555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20" name="Footer Placeholder 8">
            <a:extLst>
              <a:ext uri="{FF2B5EF4-FFF2-40B4-BE49-F238E27FC236}">
                <a16:creationId xmlns:a16="http://schemas.microsoft.com/office/drawing/2014/main" id="{1E1D8887-7EAE-1A40-9285-7C632FEAA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5B3EBD-E4F5-8E40-B07A-C04F3B1E7F2C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6" name="スライド番号プレースホルダ 5">
            <a:extLst>
              <a:ext uri="{FF2B5EF4-FFF2-40B4-BE49-F238E27FC236}">
                <a16:creationId xmlns:a16="http://schemas.microsoft.com/office/drawing/2014/main" id="{3D5D14EF-A351-224D-8142-E1BEE44BB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D0A49B6-0BCC-C545-BF97-504B63062F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82FCE78-36AB-904B-98A8-CE3FFB1555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7660041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2ECF95F-F25E-8248-A0F3-BB1749A1B4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49" y="1093767"/>
            <a:ext cx="7660041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613925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1/3 Image (Full 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925D82-457F-D84D-B8DF-D8ADFD7E7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5708650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FD2406EE-A554-5348-AE6D-4D8B343E62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49" y="3575904"/>
            <a:ext cx="7663807" cy="2859621"/>
          </a:xfrm>
          <a:prstGeom prst="rect">
            <a:avLst/>
          </a:prstGeom>
        </p:spPr>
        <p:txBody>
          <a:bodyPr tIns="0" rIns="0" bIns="0" numCol="2" spcCol="12600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54C5EE8-C42D-B549-B4D4-C0F00D68A4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3708" y="-1378"/>
            <a:ext cx="4076946" cy="6860842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33463"/>
              <a:gd name="connsiteX1" fmla="*/ 8912928 w 8915642"/>
              <a:gd name="connsiteY1" fmla="*/ 191388 h 6633463"/>
              <a:gd name="connsiteX2" fmla="*/ 8915642 w 8915642"/>
              <a:gd name="connsiteY2" fmla="*/ 6631809 h 6633463"/>
              <a:gd name="connsiteX3" fmla="*/ 579722 w 8915642"/>
              <a:gd name="connsiteY3" fmla="*/ 6633463 h 6633463"/>
              <a:gd name="connsiteX4" fmla="*/ 0 w 8915642"/>
              <a:gd name="connsiteY4" fmla="*/ 6053741 h 6633463"/>
              <a:gd name="connsiteX5" fmla="*/ 0 w 8915642"/>
              <a:gd name="connsiteY5" fmla="*/ 1 h 6633463"/>
              <a:gd name="connsiteX0" fmla="*/ 0 w 8933278"/>
              <a:gd name="connsiteY0" fmla="*/ 1653 h 6635115"/>
              <a:gd name="connsiteX1" fmla="*/ 8933248 w 8933278"/>
              <a:gd name="connsiteY1" fmla="*/ 0 h 6635115"/>
              <a:gd name="connsiteX2" fmla="*/ 8915642 w 8933278"/>
              <a:gd name="connsiteY2" fmla="*/ 6633461 h 6635115"/>
              <a:gd name="connsiteX3" fmla="*/ 579722 w 8933278"/>
              <a:gd name="connsiteY3" fmla="*/ 6635115 h 6635115"/>
              <a:gd name="connsiteX4" fmla="*/ 0 w 8933278"/>
              <a:gd name="connsiteY4" fmla="*/ 6055393 h 6635115"/>
              <a:gd name="connsiteX5" fmla="*/ 0 w 8933278"/>
              <a:gd name="connsiteY5" fmla="*/ 1653 h 6635115"/>
              <a:gd name="connsiteX0" fmla="*/ 0 w 8933323"/>
              <a:gd name="connsiteY0" fmla="*/ 1653 h 6645336"/>
              <a:gd name="connsiteX1" fmla="*/ 8933248 w 8933323"/>
              <a:gd name="connsiteY1" fmla="*/ 0 h 6645336"/>
              <a:gd name="connsiteX2" fmla="*/ 8927517 w 8933323"/>
              <a:gd name="connsiteY2" fmla="*/ 6645336 h 6645336"/>
              <a:gd name="connsiteX3" fmla="*/ 579722 w 8933323"/>
              <a:gd name="connsiteY3" fmla="*/ 6635115 h 6645336"/>
              <a:gd name="connsiteX4" fmla="*/ 0 w 8933323"/>
              <a:gd name="connsiteY4" fmla="*/ 6055393 h 6645336"/>
              <a:gd name="connsiteX5" fmla="*/ 0 w 8933323"/>
              <a:gd name="connsiteY5" fmla="*/ 1653 h 6645336"/>
              <a:gd name="connsiteX0" fmla="*/ 0 w 8927517"/>
              <a:gd name="connsiteY0" fmla="*/ 1653 h 6645336"/>
              <a:gd name="connsiteX1" fmla="*/ 7971347 w 8927517"/>
              <a:gd name="connsiteY1" fmla="*/ 0 h 6645336"/>
              <a:gd name="connsiteX2" fmla="*/ 8927517 w 8927517"/>
              <a:gd name="connsiteY2" fmla="*/ 6645336 h 6645336"/>
              <a:gd name="connsiteX3" fmla="*/ 579722 w 8927517"/>
              <a:gd name="connsiteY3" fmla="*/ 6635115 h 6645336"/>
              <a:gd name="connsiteX4" fmla="*/ 0 w 8927517"/>
              <a:gd name="connsiteY4" fmla="*/ 6055393 h 6645336"/>
              <a:gd name="connsiteX5" fmla="*/ 0 w 8927517"/>
              <a:gd name="connsiteY5" fmla="*/ 1653 h 6645336"/>
              <a:gd name="connsiteX0" fmla="*/ 0 w 7971422"/>
              <a:gd name="connsiteY0" fmla="*/ 1653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653 h 6645336"/>
              <a:gd name="connsiteX0" fmla="*/ 0 w 7971422"/>
              <a:gd name="connsiteY0" fmla="*/ 1301816 h 6645336"/>
              <a:gd name="connsiteX1" fmla="*/ 7971347 w 7971422"/>
              <a:gd name="connsiteY1" fmla="*/ 0 h 6645336"/>
              <a:gd name="connsiteX2" fmla="*/ 7965616 w 7971422"/>
              <a:gd name="connsiteY2" fmla="*/ 6645336 h 6645336"/>
              <a:gd name="connsiteX3" fmla="*/ 579722 w 7971422"/>
              <a:gd name="connsiteY3" fmla="*/ 6635115 h 6645336"/>
              <a:gd name="connsiteX4" fmla="*/ 0 w 7971422"/>
              <a:gd name="connsiteY4" fmla="*/ 6055393 h 6645336"/>
              <a:gd name="connsiteX5" fmla="*/ 0 w 7971422"/>
              <a:gd name="connsiteY5" fmla="*/ 1301816 h 6645336"/>
              <a:gd name="connsiteX0" fmla="*/ 0 w 7965616"/>
              <a:gd name="connsiteY0" fmla="*/ 1653 h 5345173"/>
              <a:gd name="connsiteX1" fmla="*/ 7957060 w 7965616"/>
              <a:gd name="connsiteY1" fmla="*/ 0 h 5345173"/>
              <a:gd name="connsiteX2" fmla="*/ 7965616 w 7965616"/>
              <a:gd name="connsiteY2" fmla="*/ 5345173 h 5345173"/>
              <a:gd name="connsiteX3" fmla="*/ 579722 w 7965616"/>
              <a:gd name="connsiteY3" fmla="*/ 5334952 h 5345173"/>
              <a:gd name="connsiteX4" fmla="*/ 0 w 7965616"/>
              <a:gd name="connsiteY4" fmla="*/ 4755230 h 5345173"/>
              <a:gd name="connsiteX5" fmla="*/ 0 w 7965616"/>
              <a:gd name="connsiteY5" fmla="*/ 1653 h 5345173"/>
              <a:gd name="connsiteX0" fmla="*/ 0 w 7971422"/>
              <a:gd name="connsiteY0" fmla="*/ 1653 h 5345173"/>
              <a:gd name="connsiteX1" fmla="*/ 7971347 w 7971422"/>
              <a:gd name="connsiteY1" fmla="*/ 0 h 5345173"/>
              <a:gd name="connsiteX2" fmla="*/ 7965616 w 7971422"/>
              <a:gd name="connsiteY2" fmla="*/ 5345173 h 5345173"/>
              <a:gd name="connsiteX3" fmla="*/ 579722 w 7971422"/>
              <a:gd name="connsiteY3" fmla="*/ 5334952 h 5345173"/>
              <a:gd name="connsiteX4" fmla="*/ 0 w 7971422"/>
              <a:gd name="connsiteY4" fmla="*/ 4755230 h 5345173"/>
              <a:gd name="connsiteX5" fmla="*/ 0 w 7971422"/>
              <a:gd name="connsiteY5" fmla="*/ 1653 h 5345173"/>
              <a:gd name="connsiteX0" fmla="*/ 0 w 7988356"/>
              <a:gd name="connsiteY0" fmla="*/ 187920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187920 h 5345173"/>
              <a:gd name="connsiteX0" fmla="*/ 0 w 7988356"/>
              <a:gd name="connsiteY0" fmla="*/ 210145 h 5345173"/>
              <a:gd name="connsiteX1" fmla="*/ 7988281 w 7988356"/>
              <a:gd name="connsiteY1" fmla="*/ 0 h 5345173"/>
              <a:gd name="connsiteX2" fmla="*/ 7982550 w 7988356"/>
              <a:gd name="connsiteY2" fmla="*/ 5345173 h 5345173"/>
              <a:gd name="connsiteX3" fmla="*/ 596656 w 7988356"/>
              <a:gd name="connsiteY3" fmla="*/ 5334952 h 5345173"/>
              <a:gd name="connsiteX4" fmla="*/ 16934 w 7988356"/>
              <a:gd name="connsiteY4" fmla="*/ 4755230 h 5345173"/>
              <a:gd name="connsiteX5" fmla="*/ 0 w 7988356"/>
              <a:gd name="connsiteY5" fmla="*/ 210145 h 5345173"/>
              <a:gd name="connsiteX0" fmla="*/ 0 w 7988356"/>
              <a:gd name="connsiteY0" fmla="*/ 0 h 5135028"/>
              <a:gd name="connsiteX1" fmla="*/ 7988281 w 7988356"/>
              <a:gd name="connsiteY1" fmla="*/ 7569 h 5135028"/>
              <a:gd name="connsiteX2" fmla="*/ 7982550 w 7988356"/>
              <a:gd name="connsiteY2" fmla="*/ 5135028 h 5135028"/>
              <a:gd name="connsiteX3" fmla="*/ 596656 w 7988356"/>
              <a:gd name="connsiteY3" fmla="*/ 5124807 h 5135028"/>
              <a:gd name="connsiteX4" fmla="*/ 16934 w 7988356"/>
              <a:gd name="connsiteY4" fmla="*/ 4545085 h 5135028"/>
              <a:gd name="connsiteX5" fmla="*/ 0 w 7988356"/>
              <a:gd name="connsiteY5" fmla="*/ 0 h 5135028"/>
              <a:gd name="connsiteX0" fmla="*/ 0 w 7982550"/>
              <a:gd name="connsiteY0" fmla="*/ 0 h 5135028"/>
              <a:gd name="connsiteX1" fmla="*/ 6028853 w 7982550"/>
              <a:gd name="connsiteY1" fmla="*/ 7569 h 5135028"/>
              <a:gd name="connsiteX2" fmla="*/ 7982550 w 7982550"/>
              <a:gd name="connsiteY2" fmla="*/ 5135028 h 5135028"/>
              <a:gd name="connsiteX3" fmla="*/ 596656 w 7982550"/>
              <a:gd name="connsiteY3" fmla="*/ 5124807 h 5135028"/>
              <a:gd name="connsiteX4" fmla="*/ 16934 w 7982550"/>
              <a:gd name="connsiteY4" fmla="*/ 4545085 h 5135028"/>
              <a:gd name="connsiteX5" fmla="*/ 0 w 7982550"/>
              <a:gd name="connsiteY5" fmla="*/ 0 h 5135028"/>
              <a:gd name="connsiteX0" fmla="*/ 0 w 6037636"/>
              <a:gd name="connsiteY0" fmla="*/ 0 h 5135028"/>
              <a:gd name="connsiteX1" fmla="*/ 6028853 w 6037636"/>
              <a:gd name="connsiteY1" fmla="*/ 7569 h 5135028"/>
              <a:gd name="connsiteX2" fmla="*/ 6037636 w 6037636"/>
              <a:gd name="connsiteY2" fmla="*/ 5135028 h 5135028"/>
              <a:gd name="connsiteX3" fmla="*/ 596656 w 6037636"/>
              <a:gd name="connsiteY3" fmla="*/ 5124807 h 5135028"/>
              <a:gd name="connsiteX4" fmla="*/ 16934 w 6037636"/>
              <a:gd name="connsiteY4" fmla="*/ 4545085 h 5135028"/>
              <a:gd name="connsiteX5" fmla="*/ 0 w 6037636"/>
              <a:gd name="connsiteY5" fmla="*/ 0 h 5135028"/>
              <a:gd name="connsiteX0" fmla="*/ 0 w 6028853"/>
              <a:gd name="connsiteY0" fmla="*/ 0 h 5124807"/>
              <a:gd name="connsiteX1" fmla="*/ 6028853 w 6028853"/>
              <a:gd name="connsiteY1" fmla="*/ 7569 h 5124807"/>
              <a:gd name="connsiteX2" fmla="*/ 4063693 w 6028853"/>
              <a:gd name="connsiteY2" fmla="*/ 5105999 h 5124807"/>
              <a:gd name="connsiteX3" fmla="*/ 596656 w 6028853"/>
              <a:gd name="connsiteY3" fmla="*/ 5124807 h 5124807"/>
              <a:gd name="connsiteX4" fmla="*/ 16934 w 6028853"/>
              <a:gd name="connsiteY4" fmla="*/ 4545085 h 5124807"/>
              <a:gd name="connsiteX5" fmla="*/ 0 w 6028853"/>
              <a:gd name="connsiteY5" fmla="*/ 0 h 5124807"/>
              <a:gd name="connsiteX0" fmla="*/ 0 w 4069500"/>
              <a:gd name="connsiteY0" fmla="*/ 0 h 5124807"/>
              <a:gd name="connsiteX1" fmla="*/ 4069425 w 4069500"/>
              <a:gd name="connsiteY1" fmla="*/ 7569 h 5124807"/>
              <a:gd name="connsiteX2" fmla="*/ 4063693 w 4069500"/>
              <a:gd name="connsiteY2" fmla="*/ 5105999 h 5124807"/>
              <a:gd name="connsiteX3" fmla="*/ 596656 w 4069500"/>
              <a:gd name="connsiteY3" fmla="*/ 5124807 h 5124807"/>
              <a:gd name="connsiteX4" fmla="*/ 16934 w 4069500"/>
              <a:gd name="connsiteY4" fmla="*/ 4545085 h 5124807"/>
              <a:gd name="connsiteX5" fmla="*/ 0 w 4069500"/>
              <a:gd name="connsiteY5" fmla="*/ 0 h 5124807"/>
              <a:gd name="connsiteX0" fmla="*/ 0 w 4069500"/>
              <a:gd name="connsiteY0" fmla="*/ 6946 h 5131753"/>
              <a:gd name="connsiteX1" fmla="*/ 4069425 w 4069500"/>
              <a:gd name="connsiteY1" fmla="*/ 0 h 5131753"/>
              <a:gd name="connsiteX2" fmla="*/ 4063693 w 4069500"/>
              <a:gd name="connsiteY2" fmla="*/ 5112945 h 5131753"/>
              <a:gd name="connsiteX3" fmla="*/ 596656 w 4069500"/>
              <a:gd name="connsiteY3" fmla="*/ 5131753 h 5131753"/>
              <a:gd name="connsiteX4" fmla="*/ 16934 w 4069500"/>
              <a:gd name="connsiteY4" fmla="*/ 4552031 h 5131753"/>
              <a:gd name="connsiteX5" fmla="*/ 0 w 4069500"/>
              <a:gd name="connsiteY5" fmla="*/ 6946 h 5131753"/>
              <a:gd name="connsiteX0" fmla="*/ 0 w 4082753"/>
              <a:gd name="connsiteY0" fmla="*/ 2 h 6874096"/>
              <a:gd name="connsiteX1" fmla="*/ 4082678 w 4082753"/>
              <a:gd name="connsiteY1" fmla="*/ 1742343 h 6874096"/>
              <a:gd name="connsiteX2" fmla="*/ 4076946 w 4082753"/>
              <a:gd name="connsiteY2" fmla="*/ 6855288 h 6874096"/>
              <a:gd name="connsiteX3" fmla="*/ 609909 w 4082753"/>
              <a:gd name="connsiteY3" fmla="*/ 6874096 h 6874096"/>
              <a:gd name="connsiteX4" fmla="*/ 30187 w 4082753"/>
              <a:gd name="connsiteY4" fmla="*/ 6294374 h 6874096"/>
              <a:gd name="connsiteX5" fmla="*/ 0 w 4082753"/>
              <a:gd name="connsiteY5" fmla="*/ 2 h 6874096"/>
              <a:gd name="connsiteX0" fmla="*/ 0 w 4095958"/>
              <a:gd name="connsiteY0" fmla="*/ 6946 h 6881040"/>
              <a:gd name="connsiteX1" fmla="*/ 4095930 w 4095958"/>
              <a:gd name="connsiteY1" fmla="*/ 0 h 6881040"/>
              <a:gd name="connsiteX2" fmla="*/ 4076946 w 4095958"/>
              <a:gd name="connsiteY2" fmla="*/ 6862232 h 6881040"/>
              <a:gd name="connsiteX3" fmla="*/ 609909 w 4095958"/>
              <a:gd name="connsiteY3" fmla="*/ 6881040 h 6881040"/>
              <a:gd name="connsiteX4" fmla="*/ 30187 w 4095958"/>
              <a:gd name="connsiteY4" fmla="*/ 6301318 h 6881040"/>
              <a:gd name="connsiteX5" fmla="*/ 0 w 4095958"/>
              <a:gd name="connsiteY5" fmla="*/ 6946 h 6881040"/>
              <a:gd name="connsiteX0" fmla="*/ 0 w 4076946"/>
              <a:gd name="connsiteY0" fmla="*/ 0 h 6874094"/>
              <a:gd name="connsiteX1" fmla="*/ 3870643 w 4076946"/>
              <a:gd name="connsiteY1" fmla="*/ 191837 h 6874094"/>
              <a:gd name="connsiteX2" fmla="*/ 4076946 w 4076946"/>
              <a:gd name="connsiteY2" fmla="*/ 6855286 h 6874094"/>
              <a:gd name="connsiteX3" fmla="*/ 609909 w 4076946"/>
              <a:gd name="connsiteY3" fmla="*/ 6874094 h 6874094"/>
              <a:gd name="connsiteX4" fmla="*/ 30187 w 4076946"/>
              <a:gd name="connsiteY4" fmla="*/ 6294372 h 6874094"/>
              <a:gd name="connsiteX5" fmla="*/ 0 w 4076946"/>
              <a:gd name="connsiteY5" fmla="*/ 0 h 6874094"/>
              <a:gd name="connsiteX0" fmla="*/ 0 w 4076946"/>
              <a:gd name="connsiteY0" fmla="*/ 0 h 6874094"/>
              <a:gd name="connsiteX1" fmla="*/ 4069426 w 4076946"/>
              <a:gd name="connsiteY1" fmla="*/ 19559 h 6874094"/>
              <a:gd name="connsiteX2" fmla="*/ 4076946 w 4076946"/>
              <a:gd name="connsiteY2" fmla="*/ 6855286 h 6874094"/>
              <a:gd name="connsiteX3" fmla="*/ 609909 w 4076946"/>
              <a:gd name="connsiteY3" fmla="*/ 6874094 h 6874094"/>
              <a:gd name="connsiteX4" fmla="*/ 30187 w 4076946"/>
              <a:gd name="connsiteY4" fmla="*/ 6294372 h 6874094"/>
              <a:gd name="connsiteX5" fmla="*/ 0 w 4076946"/>
              <a:gd name="connsiteY5" fmla="*/ 0 h 6874094"/>
              <a:gd name="connsiteX0" fmla="*/ 0 w 4076946"/>
              <a:gd name="connsiteY0" fmla="*/ 99710 h 6854535"/>
              <a:gd name="connsiteX1" fmla="*/ 4069426 w 4076946"/>
              <a:gd name="connsiteY1" fmla="*/ 0 h 6854535"/>
              <a:gd name="connsiteX2" fmla="*/ 4076946 w 4076946"/>
              <a:gd name="connsiteY2" fmla="*/ 6835727 h 6854535"/>
              <a:gd name="connsiteX3" fmla="*/ 609909 w 4076946"/>
              <a:gd name="connsiteY3" fmla="*/ 6854535 h 6854535"/>
              <a:gd name="connsiteX4" fmla="*/ 30187 w 4076946"/>
              <a:gd name="connsiteY4" fmla="*/ 6274813 h 6854535"/>
              <a:gd name="connsiteX5" fmla="*/ 0 w 4076946"/>
              <a:gd name="connsiteY5" fmla="*/ 99710 h 6854535"/>
              <a:gd name="connsiteX0" fmla="*/ 0 w 4076946"/>
              <a:gd name="connsiteY0" fmla="*/ 0 h 6860842"/>
              <a:gd name="connsiteX1" fmla="*/ 4069426 w 4076946"/>
              <a:gd name="connsiteY1" fmla="*/ 6307 h 6860842"/>
              <a:gd name="connsiteX2" fmla="*/ 4076946 w 4076946"/>
              <a:gd name="connsiteY2" fmla="*/ 6842034 h 6860842"/>
              <a:gd name="connsiteX3" fmla="*/ 609909 w 4076946"/>
              <a:gd name="connsiteY3" fmla="*/ 6860842 h 6860842"/>
              <a:gd name="connsiteX4" fmla="*/ 30187 w 4076946"/>
              <a:gd name="connsiteY4" fmla="*/ 6281120 h 6860842"/>
              <a:gd name="connsiteX5" fmla="*/ 0 w 4076946"/>
              <a:gd name="connsiteY5" fmla="*/ 0 h 686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6946" h="6860842">
                <a:moveTo>
                  <a:pt x="0" y="0"/>
                </a:moveTo>
                <a:lnTo>
                  <a:pt x="4069426" y="6307"/>
                </a:lnTo>
                <a:cubicBezTo>
                  <a:pt x="4070331" y="2153114"/>
                  <a:pt x="4076041" y="4695227"/>
                  <a:pt x="4076946" y="6842034"/>
                </a:cubicBezTo>
                <a:lnTo>
                  <a:pt x="609909" y="6860842"/>
                </a:lnTo>
                <a:cubicBezTo>
                  <a:pt x="289737" y="6860842"/>
                  <a:pt x="30187" y="6601292"/>
                  <a:pt x="30187" y="6281120"/>
                </a:cubicBezTo>
                <a:cubicBezTo>
                  <a:pt x="24542" y="4758683"/>
                  <a:pt x="5645" y="1522437"/>
                  <a:pt x="0" y="0"/>
                </a:cubicBez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Photo</a:t>
            </a:r>
          </a:p>
        </p:txBody>
      </p:sp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6FB24DD6-99CB-CE43-A787-C9F60DC95F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9" y="161605"/>
            <a:ext cx="7368878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130E5B-E573-584B-8C83-F8409492B14B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1" name="スライド番号プレースホルダ 5">
            <a:extLst>
              <a:ext uri="{FF2B5EF4-FFF2-40B4-BE49-F238E27FC236}">
                <a16:creationId xmlns:a16="http://schemas.microsoft.com/office/drawing/2014/main" id="{C55CC856-2ADD-F44F-96B6-03734457C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94AACD-56D4-F146-AFC0-5CBE6630C5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3A8AA34-7C7D-A24F-AF24-5158DD2AB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7660042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F4B55CE-CF3E-7E44-A66A-599621CA5C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093767"/>
            <a:ext cx="7660042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310660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Image 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21DF8897-54F9-C24F-8261-0C5418827A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0737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marR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9141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C494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JP"/>
              <a:t>Insert Picture/Text Block</a:t>
            </a:r>
          </a:p>
          <a:p>
            <a:endParaRPr lang="en-JP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8D6B3691-FCAC-8A46-AA30-DEB2A719C7B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1373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Picture/Text Block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AA8F528A-C9DE-0B46-881A-43E0F9B6F67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244494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JP"/>
              <a:t>Insert Picture/Text Block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01CF285-75D7-154A-ACF2-9393FB0B38D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77615" y="3076286"/>
            <a:ext cx="2772041" cy="3138969"/>
          </a:xfrm>
          <a:custGeom>
            <a:avLst/>
            <a:gdLst>
              <a:gd name="connsiteX0" fmla="*/ 0 w 10888662"/>
              <a:gd name="connsiteY0" fmla="*/ 579722 h 6442075"/>
              <a:gd name="connsiteX1" fmla="*/ 579722 w 10888662"/>
              <a:gd name="connsiteY1" fmla="*/ 0 h 6442075"/>
              <a:gd name="connsiteX2" fmla="*/ 10308940 w 10888662"/>
              <a:gd name="connsiteY2" fmla="*/ 0 h 6442075"/>
              <a:gd name="connsiteX3" fmla="*/ 10888662 w 10888662"/>
              <a:gd name="connsiteY3" fmla="*/ 579722 h 6442075"/>
              <a:gd name="connsiteX4" fmla="*/ 10888662 w 10888662"/>
              <a:gd name="connsiteY4" fmla="*/ 5862353 h 6442075"/>
              <a:gd name="connsiteX5" fmla="*/ 10308940 w 10888662"/>
              <a:gd name="connsiteY5" fmla="*/ 6442075 h 6442075"/>
              <a:gd name="connsiteX6" fmla="*/ 579722 w 10888662"/>
              <a:gd name="connsiteY6" fmla="*/ 6442075 h 6442075"/>
              <a:gd name="connsiteX7" fmla="*/ 0 w 10888662"/>
              <a:gd name="connsiteY7" fmla="*/ 5862353 h 6442075"/>
              <a:gd name="connsiteX8" fmla="*/ 0 w 10888662"/>
              <a:gd name="connsiteY8" fmla="*/ 579722 h 6442075"/>
              <a:gd name="connsiteX0" fmla="*/ 0 w 10888662"/>
              <a:gd name="connsiteY0" fmla="*/ 659657 h 6522010"/>
              <a:gd name="connsiteX1" fmla="*/ 10308940 w 10888662"/>
              <a:gd name="connsiteY1" fmla="*/ 79935 h 6522010"/>
              <a:gd name="connsiteX2" fmla="*/ 10888662 w 10888662"/>
              <a:gd name="connsiteY2" fmla="*/ 659657 h 6522010"/>
              <a:gd name="connsiteX3" fmla="*/ 10888662 w 10888662"/>
              <a:gd name="connsiteY3" fmla="*/ 5942288 h 6522010"/>
              <a:gd name="connsiteX4" fmla="*/ 10308940 w 10888662"/>
              <a:gd name="connsiteY4" fmla="*/ 6522010 h 6522010"/>
              <a:gd name="connsiteX5" fmla="*/ 579722 w 10888662"/>
              <a:gd name="connsiteY5" fmla="*/ 6522010 h 6522010"/>
              <a:gd name="connsiteX6" fmla="*/ 0 w 10888662"/>
              <a:gd name="connsiteY6" fmla="*/ 5942288 h 6522010"/>
              <a:gd name="connsiteX7" fmla="*/ 0 w 10888662"/>
              <a:gd name="connsiteY7" fmla="*/ 659657 h 6522010"/>
              <a:gd name="connsiteX0" fmla="*/ 0 w 10888662"/>
              <a:gd name="connsiteY0" fmla="*/ 579722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579722 h 6442075"/>
              <a:gd name="connsiteX0" fmla="*/ 0 w 10888662"/>
              <a:gd name="connsiteY0" fmla="*/ 129257 h 6569679"/>
              <a:gd name="connsiteX1" fmla="*/ 10308940 w 10888662"/>
              <a:gd name="connsiteY1" fmla="*/ 127604 h 6569679"/>
              <a:gd name="connsiteX2" fmla="*/ 10888662 w 10888662"/>
              <a:gd name="connsiteY2" fmla="*/ 707326 h 6569679"/>
              <a:gd name="connsiteX3" fmla="*/ 10888662 w 10888662"/>
              <a:gd name="connsiteY3" fmla="*/ 5989957 h 6569679"/>
              <a:gd name="connsiteX4" fmla="*/ 10308940 w 10888662"/>
              <a:gd name="connsiteY4" fmla="*/ 6569679 h 6569679"/>
              <a:gd name="connsiteX5" fmla="*/ 579722 w 10888662"/>
              <a:gd name="connsiteY5" fmla="*/ 6569679 h 6569679"/>
              <a:gd name="connsiteX6" fmla="*/ 0 w 10888662"/>
              <a:gd name="connsiteY6" fmla="*/ 5989957 h 6569679"/>
              <a:gd name="connsiteX7" fmla="*/ 0 w 10888662"/>
              <a:gd name="connsiteY7" fmla="*/ 129257 h 6569679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10308940 w 10888662"/>
              <a:gd name="connsiteY4" fmla="*/ 64420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9657299 w 10888662"/>
              <a:gd name="connsiteY4" fmla="*/ 5527675 h 6442075"/>
              <a:gd name="connsiteX5" fmla="*/ 579722 w 10888662"/>
              <a:gd name="connsiteY5" fmla="*/ 6442075 h 6442075"/>
              <a:gd name="connsiteX6" fmla="*/ 0 w 10888662"/>
              <a:gd name="connsiteY6" fmla="*/ 5862353 h 6442075"/>
              <a:gd name="connsiteX7" fmla="*/ 0 w 10888662"/>
              <a:gd name="connsiteY7" fmla="*/ 1653 h 6442075"/>
              <a:gd name="connsiteX0" fmla="*/ 0 w 10888662"/>
              <a:gd name="connsiteY0" fmla="*/ 1653 h 6522010"/>
              <a:gd name="connsiteX1" fmla="*/ 10308940 w 10888662"/>
              <a:gd name="connsiteY1" fmla="*/ 0 h 6522010"/>
              <a:gd name="connsiteX2" fmla="*/ 10888662 w 10888662"/>
              <a:gd name="connsiteY2" fmla="*/ 579722 h 6522010"/>
              <a:gd name="connsiteX3" fmla="*/ 10888662 w 10888662"/>
              <a:gd name="connsiteY3" fmla="*/ 5862353 h 6522010"/>
              <a:gd name="connsiteX4" fmla="*/ 579722 w 10888662"/>
              <a:gd name="connsiteY4" fmla="*/ 6442075 h 6522010"/>
              <a:gd name="connsiteX5" fmla="*/ 0 w 10888662"/>
              <a:gd name="connsiteY5" fmla="*/ 5862353 h 6522010"/>
              <a:gd name="connsiteX6" fmla="*/ 0 w 10888662"/>
              <a:gd name="connsiteY6" fmla="*/ 1653 h 6522010"/>
              <a:gd name="connsiteX0" fmla="*/ 0 w 10888662"/>
              <a:gd name="connsiteY0" fmla="*/ 1653 h 6442075"/>
              <a:gd name="connsiteX1" fmla="*/ 10308940 w 10888662"/>
              <a:gd name="connsiteY1" fmla="*/ 0 h 6442075"/>
              <a:gd name="connsiteX2" fmla="*/ 10888662 w 10888662"/>
              <a:gd name="connsiteY2" fmla="*/ 579722 h 6442075"/>
              <a:gd name="connsiteX3" fmla="*/ 10888662 w 10888662"/>
              <a:gd name="connsiteY3" fmla="*/ 5862353 h 6442075"/>
              <a:gd name="connsiteX4" fmla="*/ 579722 w 10888662"/>
              <a:gd name="connsiteY4" fmla="*/ 6442075 h 6442075"/>
              <a:gd name="connsiteX5" fmla="*/ 0 w 10888662"/>
              <a:gd name="connsiteY5" fmla="*/ 5862353 h 6442075"/>
              <a:gd name="connsiteX6" fmla="*/ 0 w 10888662"/>
              <a:gd name="connsiteY6" fmla="*/ 1653 h 6442075"/>
              <a:gd name="connsiteX0" fmla="*/ 0 w 10888662"/>
              <a:gd name="connsiteY0" fmla="*/ 1653 h 6585432"/>
              <a:gd name="connsiteX1" fmla="*/ 10308940 w 10888662"/>
              <a:gd name="connsiteY1" fmla="*/ 0 h 6585432"/>
              <a:gd name="connsiteX2" fmla="*/ 10888662 w 10888662"/>
              <a:gd name="connsiteY2" fmla="*/ 579722 h 6585432"/>
              <a:gd name="connsiteX3" fmla="*/ 10878151 w 10888662"/>
              <a:gd name="connsiteY3" fmla="*/ 6461442 h 6585432"/>
              <a:gd name="connsiteX4" fmla="*/ 579722 w 10888662"/>
              <a:gd name="connsiteY4" fmla="*/ 6442075 h 6585432"/>
              <a:gd name="connsiteX5" fmla="*/ 0 w 10888662"/>
              <a:gd name="connsiteY5" fmla="*/ 5862353 h 6585432"/>
              <a:gd name="connsiteX6" fmla="*/ 0 w 10888662"/>
              <a:gd name="connsiteY6" fmla="*/ 1653 h 6585432"/>
              <a:gd name="connsiteX0" fmla="*/ 0 w 10888662"/>
              <a:gd name="connsiteY0" fmla="*/ 1653 h 6577502"/>
              <a:gd name="connsiteX1" fmla="*/ 10308940 w 10888662"/>
              <a:gd name="connsiteY1" fmla="*/ 0 h 6577502"/>
              <a:gd name="connsiteX2" fmla="*/ 10888662 w 10888662"/>
              <a:gd name="connsiteY2" fmla="*/ 579722 h 6577502"/>
              <a:gd name="connsiteX3" fmla="*/ 10878151 w 10888662"/>
              <a:gd name="connsiteY3" fmla="*/ 6450932 h 6577502"/>
              <a:gd name="connsiteX4" fmla="*/ 579722 w 10888662"/>
              <a:gd name="connsiteY4" fmla="*/ 6442075 h 6577502"/>
              <a:gd name="connsiteX5" fmla="*/ 0 w 10888662"/>
              <a:gd name="connsiteY5" fmla="*/ 5862353 h 6577502"/>
              <a:gd name="connsiteX6" fmla="*/ 0 w 10888662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577502"/>
              <a:gd name="connsiteX1" fmla="*/ 10308940 w 11750094"/>
              <a:gd name="connsiteY1" fmla="*/ 0 h 6577502"/>
              <a:gd name="connsiteX2" fmla="*/ 10888662 w 11750094"/>
              <a:gd name="connsiteY2" fmla="*/ 579722 h 6577502"/>
              <a:gd name="connsiteX3" fmla="*/ 10878151 w 11750094"/>
              <a:gd name="connsiteY3" fmla="*/ 6450932 h 6577502"/>
              <a:gd name="connsiteX4" fmla="*/ 579722 w 11750094"/>
              <a:gd name="connsiteY4" fmla="*/ 6442075 h 6577502"/>
              <a:gd name="connsiteX5" fmla="*/ 0 w 11750094"/>
              <a:gd name="connsiteY5" fmla="*/ 5862353 h 6577502"/>
              <a:gd name="connsiteX6" fmla="*/ 0 w 11750094"/>
              <a:gd name="connsiteY6" fmla="*/ 1653 h 657750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1750094"/>
              <a:gd name="connsiteY0" fmla="*/ 1653 h 6450932"/>
              <a:gd name="connsiteX1" fmla="*/ 10308940 w 11750094"/>
              <a:gd name="connsiteY1" fmla="*/ 0 h 6450932"/>
              <a:gd name="connsiteX2" fmla="*/ 10888662 w 11750094"/>
              <a:gd name="connsiteY2" fmla="*/ 579722 h 6450932"/>
              <a:gd name="connsiteX3" fmla="*/ 10878151 w 11750094"/>
              <a:gd name="connsiteY3" fmla="*/ 6450932 h 6450932"/>
              <a:gd name="connsiteX4" fmla="*/ 579722 w 11750094"/>
              <a:gd name="connsiteY4" fmla="*/ 6442075 h 6450932"/>
              <a:gd name="connsiteX5" fmla="*/ 0 w 11750094"/>
              <a:gd name="connsiteY5" fmla="*/ 5862353 h 6450932"/>
              <a:gd name="connsiteX6" fmla="*/ 0 w 11750094"/>
              <a:gd name="connsiteY6" fmla="*/ 1653 h 6450932"/>
              <a:gd name="connsiteX0" fmla="*/ 0 w 10888662"/>
              <a:gd name="connsiteY0" fmla="*/ 1653 h 6450932"/>
              <a:gd name="connsiteX1" fmla="*/ 10308940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0999550"/>
              <a:gd name="connsiteY0" fmla="*/ 1653 h 6450932"/>
              <a:gd name="connsiteX1" fmla="*/ 10844968 w 10999550"/>
              <a:gd name="connsiteY1" fmla="*/ 0 h 6450932"/>
              <a:gd name="connsiteX2" fmla="*/ 10888662 w 10999550"/>
              <a:gd name="connsiteY2" fmla="*/ 579722 h 6450932"/>
              <a:gd name="connsiteX3" fmla="*/ 10878151 w 10999550"/>
              <a:gd name="connsiteY3" fmla="*/ 6450932 h 6450932"/>
              <a:gd name="connsiteX4" fmla="*/ 579722 w 10999550"/>
              <a:gd name="connsiteY4" fmla="*/ 6442075 h 6450932"/>
              <a:gd name="connsiteX5" fmla="*/ 0 w 10999550"/>
              <a:gd name="connsiteY5" fmla="*/ 5862353 h 6450932"/>
              <a:gd name="connsiteX6" fmla="*/ 0 w 10999550"/>
              <a:gd name="connsiteY6" fmla="*/ 1653 h 6450932"/>
              <a:gd name="connsiteX0" fmla="*/ 0 w 11022020"/>
              <a:gd name="connsiteY0" fmla="*/ 1653 h 6450932"/>
              <a:gd name="connsiteX1" fmla="*/ 10876499 w 11022020"/>
              <a:gd name="connsiteY1" fmla="*/ 0 h 6450932"/>
              <a:gd name="connsiteX2" fmla="*/ 10888662 w 11022020"/>
              <a:gd name="connsiteY2" fmla="*/ 579722 h 6450932"/>
              <a:gd name="connsiteX3" fmla="*/ 10878151 w 11022020"/>
              <a:gd name="connsiteY3" fmla="*/ 6450932 h 6450932"/>
              <a:gd name="connsiteX4" fmla="*/ 579722 w 11022020"/>
              <a:gd name="connsiteY4" fmla="*/ 6442075 h 6450932"/>
              <a:gd name="connsiteX5" fmla="*/ 0 w 11022020"/>
              <a:gd name="connsiteY5" fmla="*/ 5862353 h 6450932"/>
              <a:gd name="connsiteX6" fmla="*/ 0 w 11022020"/>
              <a:gd name="connsiteY6" fmla="*/ 1653 h 6450932"/>
              <a:gd name="connsiteX0" fmla="*/ 0 w 10888662"/>
              <a:gd name="connsiteY0" fmla="*/ 1653 h 6450932"/>
              <a:gd name="connsiteX1" fmla="*/ 10876499 w 10888662"/>
              <a:gd name="connsiteY1" fmla="*/ 0 h 6450932"/>
              <a:gd name="connsiteX2" fmla="*/ 10888662 w 10888662"/>
              <a:gd name="connsiteY2" fmla="*/ 579722 h 6450932"/>
              <a:gd name="connsiteX3" fmla="*/ 10878151 w 10888662"/>
              <a:gd name="connsiteY3" fmla="*/ 6450932 h 6450932"/>
              <a:gd name="connsiteX4" fmla="*/ 579722 w 10888662"/>
              <a:gd name="connsiteY4" fmla="*/ 6442075 h 6450932"/>
              <a:gd name="connsiteX5" fmla="*/ 0 w 10888662"/>
              <a:gd name="connsiteY5" fmla="*/ 5862353 h 6450932"/>
              <a:gd name="connsiteX6" fmla="*/ 0 w 10888662"/>
              <a:gd name="connsiteY6" fmla="*/ 1653 h 6450932"/>
              <a:gd name="connsiteX0" fmla="*/ 0 w 12200990"/>
              <a:gd name="connsiteY0" fmla="*/ 1653 h 6450932"/>
              <a:gd name="connsiteX1" fmla="*/ 10876499 w 12200990"/>
              <a:gd name="connsiteY1" fmla="*/ 0 h 6450932"/>
              <a:gd name="connsiteX2" fmla="*/ 10878151 w 12200990"/>
              <a:gd name="connsiteY2" fmla="*/ 6450932 h 6450932"/>
              <a:gd name="connsiteX3" fmla="*/ 579722 w 12200990"/>
              <a:gd name="connsiteY3" fmla="*/ 6442075 h 6450932"/>
              <a:gd name="connsiteX4" fmla="*/ 0 w 12200990"/>
              <a:gd name="connsiteY4" fmla="*/ 5862353 h 6450932"/>
              <a:gd name="connsiteX5" fmla="*/ 0 w 12200990"/>
              <a:gd name="connsiteY5" fmla="*/ 1653 h 6450932"/>
              <a:gd name="connsiteX0" fmla="*/ 0 w 11640630"/>
              <a:gd name="connsiteY0" fmla="*/ 1653 h 6450932"/>
              <a:gd name="connsiteX1" fmla="*/ 10876499 w 11640630"/>
              <a:gd name="connsiteY1" fmla="*/ 0 h 6450932"/>
              <a:gd name="connsiteX2" fmla="*/ 10878151 w 11640630"/>
              <a:gd name="connsiteY2" fmla="*/ 6450932 h 6450932"/>
              <a:gd name="connsiteX3" fmla="*/ 579722 w 11640630"/>
              <a:gd name="connsiteY3" fmla="*/ 6442075 h 6450932"/>
              <a:gd name="connsiteX4" fmla="*/ 0 w 11640630"/>
              <a:gd name="connsiteY4" fmla="*/ 5862353 h 6450932"/>
              <a:gd name="connsiteX5" fmla="*/ 0 w 11640630"/>
              <a:gd name="connsiteY5" fmla="*/ 1653 h 6450932"/>
              <a:gd name="connsiteX0" fmla="*/ 0 w 10878151"/>
              <a:gd name="connsiteY0" fmla="*/ 1653 h 6450932"/>
              <a:gd name="connsiteX1" fmla="*/ 10876499 w 10878151"/>
              <a:gd name="connsiteY1" fmla="*/ 0 h 6450932"/>
              <a:gd name="connsiteX2" fmla="*/ 10878151 w 10878151"/>
              <a:gd name="connsiteY2" fmla="*/ 6450932 h 6450932"/>
              <a:gd name="connsiteX3" fmla="*/ 579722 w 10878151"/>
              <a:gd name="connsiteY3" fmla="*/ 6442075 h 6450932"/>
              <a:gd name="connsiteX4" fmla="*/ 0 w 10878151"/>
              <a:gd name="connsiteY4" fmla="*/ 5862353 h 6450932"/>
              <a:gd name="connsiteX5" fmla="*/ 0 w 10878151"/>
              <a:gd name="connsiteY5" fmla="*/ 1653 h 6450932"/>
              <a:gd name="connsiteX0" fmla="*/ 0 w 11843451"/>
              <a:gd name="connsiteY0" fmla="*/ 1653 h 6450932"/>
              <a:gd name="connsiteX1" fmla="*/ 11843451 w 11843451"/>
              <a:gd name="connsiteY1" fmla="*/ 0 h 6450932"/>
              <a:gd name="connsiteX2" fmla="*/ 10878151 w 11843451"/>
              <a:gd name="connsiteY2" fmla="*/ 6450932 h 6450932"/>
              <a:gd name="connsiteX3" fmla="*/ 579722 w 11843451"/>
              <a:gd name="connsiteY3" fmla="*/ 6442075 h 6450932"/>
              <a:gd name="connsiteX4" fmla="*/ 0 w 11843451"/>
              <a:gd name="connsiteY4" fmla="*/ 5862353 h 6450932"/>
              <a:gd name="connsiteX5" fmla="*/ 0 w 11843451"/>
              <a:gd name="connsiteY5" fmla="*/ 1653 h 6450932"/>
              <a:gd name="connsiteX0" fmla="*/ 0 w 11855613"/>
              <a:gd name="connsiteY0" fmla="*/ 1653 h 6450932"/>
              <a:gd name="connsiteX1" fmla="*/ 11843451 w 11855613"/>
              <a:gd name="connsiteY1" fmla="*/ 0 h 6450932"/>
              <a:gd name="connsiteX2" fmla="*/ 11855613 w 11855613"/>
              <a:gd name="connsiteY2" fmla="*/ 6450932 h 6450932"/>
              <a:gd name="connsiteX3" fmla="*/ 579722 w 11855613"/>
              <a:gd name="connsiteY3" fmla="*/ 6442075 h 6450932"/>
              <a:gd name="connsiteX4" fmla="*/ 0 w 11855613"/>
              <a:gd name="connsiteY4" fmla="*/ 5862353 h 6450932"/>
              <a:gd name="connsiteX5" fmla="*/ 0 w 11855613"/>
              <a:gd name="connsiteY5" fmla="*/ 1653 h 6450932"/>
              <a:gd name="connsiteX0" fmla="*/ 0 w 11864472"/>
              <a:gd name="connsiteY0" fmla="*/ 1653 h 6450932"/>
              <a:gd name="connsiteX1" fmla="*/ 11864472 w 11864472"/>
              <a:gd name="connsiteY1" fmla="*/ 0 h 6450932"/>
              <a:gd name="connsiteX2" fmla="*/ 11855613 w 11864472"/>
              <a:gd name="connsiteY2" fmla="*/ 6450932 h 6450932"/>
              <a:gd name="connsiteX3" fmla="*/ 579722 w 11864472"/>
              <a:gd name="connsiteY3" fmla="*/ 6442075 h 6450932"/>
              <a:gd name="connsiteX4" fmla="*/ 0 w 11864472"/>
              <a:gd name="connsiteY4" fmla="*/ 5862353 h 6450932"/>
              <a:gd name="connsiteX5" fmla="*/ 0 w 11864472"/>
              <a:gd name="connsiteY5" fmla="*/ 1653 h 6450932"/>
              <a:gd name="connsiteX0" fmla="*/ 0 w 11864472"/>
              <a:gd name="connsiteY0" fmla="*/ 1653 h 6442075"/>
              <a:gd name="connsiteX1" fmla="*/ 11864472 w 11864472"/>
              <a:gd name="connsiteY1" fmla="*/ 0 h 6442075"/>
              <a:gd name="connsiteX2" fmla="*/ 11855613 w 11864472"/>
              <a:gd name="connsiteY2" fmla="*/ 6440421 h 6442075"/>
              <a:gd name="connsiteX3" fmla="*/ 579722 w 11864472"/>
              <a:gd name="connsiteY3" fmla="*/ 6442075 h 6442075"/>
              <a:gd name="connsiteX4" fmla="*/ 0 w 11864472"/>
              <a:gd name="connsiteY4" fmla="*/ 5862353 h 6442075"/>
              <a:gd name="connsiteX5" fmla="*/ 0 w 11864472"/>
              <a:gd name="connsiteY5" fmla="*/ 1653 h 6442075"/>
              <a:gd name="connsiteX0" fmla="*/ 0 w 11855613"/>
              <a:gd name="connsiteY0" fmla="*/ 1653 h 6442075"/>
              <a:gd name="connsiteX1" fmla="*/ 8912928 w 11855613"/>
              <a:gd name="connsiteY1" fmla="*/ 0 h 6442075"/>
              <a:gd name="connsiteX2" fmla="*/ 11855613 w 11855613"/>
              <a:gd name="connsiteY2" fmla="*/ 6440421 h 6442075"/>
              <a:gd name="connsiteX3" fmla="*/ 579722 w 11855613"/>
              <a:gd name="connsiteY3" fmla="*/ 6442075 h 6442075"/>
              <a:gd name="connsiteX4" fmla="*/ 0 w 11855613"/>
              <a:gd name="connsiteY4" fmla="*/ 5862353 h 6442075"/>
              <a:gd name="connsiteX5" fmla="*/ 0 w 11855613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74032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36077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71615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38792"/>
              <a:gd name="connsiteY0" fmla="*/ 1653 h 6442075"/>
              <a:gd name="connsiteX1" fmla="*/ 8912928 w 8938792"/>
              <a:gd name="connsiteY1" fmla="*/ 0 h 6442075"/>
              <a:gd name="connsiteX2" fmla="*/ 8938792 w 8938792"/>
              <a:gd name="connsiteY2" fmla="*/ 6440421 h 6442075"/>
              <a:gd name="connsiteX3" fmla="*/ 579722 w 8938792"/>
              <a:gd name="connsiteY3" fmla="*/ 6442075 h 6442075"/>
              <a:gd name="connsiteX4" fmla="*/ 0 w 8938792"/>
              <a:gd name="connsiteY4" fmla="*/ 5862353 h 6442075"/>
              <a:gd name="connsiteX5" fmla="*/ 0 w 8938792"/>
              <a:gd name="connsiteY5" fmla="*/ 1653 h 6442075"/>
              <a:gd name="connsiteX0" fmla="*/ 0 w 8915642"/>
              <a:gd name="connsiteY0" fmla="*/ 1653 h 6442075"/>
              <a:gd name="connsiteX1" fmla="*/ 8912928 w 8915642"/>
              <a:gd name="connsiteY1" fmla="*/ 0 h 6442075"/>
              <a:gd name="connsiteX2" fmla="*/ 8915642 w 8915642"/>
              <a:gd name="connsiteY2" fmla="*/ 6440421 h 6442075"/>
              <a:gd name="connsiteX3" fmla="*/ 579722 w 8915642"/>
              <a:gd name="connsiteY3" fmla="*/ 6442075 h 6442075"/>
              <a:gd name="connsiteX4" fmla="*/ 0 w 8915642"/>
              <a:gd name="connsiteY4" fmla="*/ 5862353 h 6442075"/>
              <a:gd name="connsiteX5" fmla="*/ 0 w 8915642"/>
              <a:gd name="connsiteY5" fmla="*/ 1653 h 6442075"/>
              <a:gd name="connsiteX0" fmla="*/ 0 w 8915642"/>
              <a:gd name="connsiteY0" fmla="*/ 1 h 6618553"/>
              <a:gd name="connsiteX1" fmla="*/ 8912928 w 8915642"/>
              <a:gd name="connsiteY1" fmla="*/ 176478 h 6618553"/>
              <a:gd name="connsiteX2" fmla="*/ 8915642 w 8915642"/>
              <a:gd name="connsiteY2" fmla="*/ 6616899 h 6618553"/>
              <a:gd name="connsiteX3" fmla="*/ 579722 w 8915642"/>
              <a:gd name="connsiteY3" fmla="*/ 6618553 h 6618553"/>
              <a:gd name="connsiteX4" fmla="*/ 0 w 8915642"/>
              <a:gd name="connsiteY4" fmla="*/ 6038831 h 6618553"/>
              <a:gd name="connsiteX5" fmla="*/ 0 w 8915642"/>
              <a:gd name="connsiteY5" fmla="*/ 1 h 6618553"/>
              <a:gd name="connsiteX0" fmla="*/ 0 w 8915642"/>
              <a:gd name="connsiteY0" fmla="*/ 25404 h 6643956"/>
              <a:gd name="connsiteX1" fmla="*/ 6015348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25404 h 6643956"/>
              <a:gd name="connsiteX0" fmla="*/ 0 w 8915642"/>
              <a:gd name="connsiteY0" fmla="*/ 1653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1653 h 6620205"/>
              <a:gd name="connsiteX0" fmla="*/ 0 w 8915642"/>
              <a:gd name="connsiteY0" fmla="*/ 96656 h 6620205"/>
              <a:gd name="connsiteX1" fmla="*/ 6003473 w 8915642"/>
              <a:gd name="connsiteY1" fmla="*/ 0 h 6620205"/>
              <a:gd name="connsiteX2" fmla="*/ 8915642 w 8915642"/>
              <a:gd name="connsiteY2" fmla="*/ 6618551 h 6620205"/>
              <a:gd name="connsiteX3" fmla="*/ 579722 w 8915642"/>
              <a:gd name="connsiteY3" fmla="*/ 6620205 h 6620205"/>
              <a:gd name="connsiteX4" fmla="*/ 0 w 8915642"/>
              <a:gd name="connsiteY4" fmla="*/ 6040483 h 6620205"/>
              <a:gd name="connsiteX5" fmla="*/ 0 w 8915642"/>
              <a:gd name="connsiteY5" fmla="*/ 96656 h 6620205"/>
              <a:gd name="connsiteX0" fmla="*/ 0 w 8915642"/>
              <a:gd name="connsiteY0" fmla="*/ 0 h 6642302"/>
              <a:gd name="connsiteX1" fmla="*/ 6003473 w 8915642"/>
              <a:gd name="connsiteY1" fmla="*/ 22097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0 h 6642302"/>
              <a:gd name="connsiteX1" fmla="*/ 5932221 w 8915642"/>
              <a:gd name="connsiteY1" fmla="*/ 152725 h 6642302"/>
              <a:gd name="connsiteX2" fmla="*/ 8915642 w 8915642"/>
              <a:gd name="connsiteY2" fmla="*/ 6640648 h 6642302"/>
              <a:gd name="connsiteX3" fmla="*/ 579722 w 8915642"/>
              <a:gd name="connsiteY3" fmla="*/ 6642302 h 6642302"/>
              <a:gd name="connsiteX4" fmla="*/ 0 w 8915642"/>
              <a:gd name="connsiteY4" fmla="*/ 6062580 h 6642302"/>
              <a:gd name="connsiteX5" fmla="*/ 0 w 8915642"/>
              <a:gd name="connsiteY5" fmla="*/ 0 h 6642302"/>
              <a:gd name="connsiteX0" fmla="*/ 0 w 8915642"/>
              <a:gd name="connsiteY0" fmla="*/ 1654 h 6643956"/>
              <a:gd name="connsiteX1" fmla="*/ 6003473 w 8915642"/>
              <a:gd name="connsiteY1" fmla="*/ 0 h 6643956"/>
              <a:gd name="connsiteX2" fmla="*/ 8915642 w 8915642"/>
              <a:gd name="connsiteY2" fmla="*/ 6642302 h 6643956"/>
              <a:gd name="connsiteX3" fmla="*/ 579722 w 8915642"/>
              <a:gd name="connsiteY3" fmla="*/ 6643956 h 6643956"/>
              <a:gd name="connsiteX4" fmla="*/ 0 w 8915642"/>
              <a:gd name="connsiteY4" fmla="*/ 6064234 h 6643956"/>
              <a:gd name="connsiteX5" fmla="*/ 0 w 8915642"/>
              <a:gd name="connsiteY5" fmla="*/ 1654 h 6643956"/>
              <a:gd name="connsiteX0" fmla="*/ 0 w 6018062"/>
              <a:gd name="connsiteY0" fmla="*/ 1654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1654 h 6654178"/>
              <a:gd name="connsiteX0" fmla="*/ 0 w 6018062"/>
              <a:gd name="connsiteY0" fmla="*/ 203535 h 6654178"/>
              <a:gd name="connsiteX1" fmla="*/ 6003473 w 6018062"/>
              <a:gd name="connsiteY1" fmla="*/ 0 h 6654178"/>
              <a:gd name="connsiteX2" fmla="*/ 6018062 w 6018062"/>
              <a:gd name="connsiteY2" fmla="*/ 6654178 h 6654178"/>
              <a:gd name="connsiteX3" fmla="*/ 579722 w 6018062"/>
              <a:gd name="connsiteY3" fmla="*/ 6643956 h 6654178"/>
              <a:gd name="connsiteX4" fmla="*/ 0 w 6018062"/>
              <a:gd name="connsiteY4" fmla="*/ 6064234 h 6654178"/>
              <a:gd name="connsiteX5" fmla="*/ 0 w 6018062"/>
              <a:gd name="connsiteY5" fmla="*/ 203535 h 6654178"/>
              <a:gd name="connsiteX0" fmla="*/ 0 w 6018062"/>
              <a:gd name="connsiteY0" fmla="*/ 1655 h 6452298"/>
              <a:gd name="connsiteX1" fmla="*/ 4055920 w 6018062"/>
              <a:gd name="connsiteY1" fmla="*/ 0 h 6452298"/>
              <a:gd name="connsiteX2" fmla="*/ 6018062 w 6018062"/>
              <a:gd name="connsiteY2" fmla="*/ 6452298 h 6452298"/>
              <a:gd name="connsiteX3" fmla="*/ 579722 w 6018062"/>
              <a:gd name="connsiteY3" fmla="*/ 6442076 h 6452298"/>
              <a:gd name="connsiteX4" fmla="*/ 0 w 6018062"/>
              <a:gd name="connsiteY4" fmla="*/ 5862354 h 6452298"/>
              <a:gd name="connsiteX5" fmla="*/ 0 w 6018062"/>
              <a:gd name="connsiteY5" fmla="*/ 1655 h 6452298"/>
              <a:gd name="connsiteX0" fmla="*/ 0 w 4055973"/>
              <a:gd name="connsiteY0" fmla="*/ 1655 h 6452298"/>
              <a:gd name="connsiteX1" fmla="*/ 4055920 w 4055973"/>
              <a:gd name="connsiteY1" fmla="*/ 0 h 6452298"/>
              <a:gd name="connsiteX2" fmla="*/ 4046758 w 4055973"/>
              <a:gd name="connsiteY2" fmla="*/ 6452298 h 6452298"/>
              <a:gd name="connsiteX3" fmla="*/ 579722 w 4055973"/>
              <a:gd name="connsiteY3" fmla="*/ 6442076 h 6452298"/>
              <a:gd name="connsiteX4" fmla="*/ 0 w 4055973"/>
              <a:gd name="connsiteY4" fmla="*/ 5862354 h 6452298"/>
              <a:gd name="connsiteX5" fmla="*/ 0 w 4055973"/>
              <a:gd name="connsiteY5" fmla="*/ 1655 h 6452298"/>
              <a:gd name="connsiteX0" fmla="*/ 0 w 4055973"/>
              <a:gd name="connsiteY0" fmla="*/ 0 h 6652523"/>
              <a:gd name="connsiteX1" fmla="*/ 4055920 w 4055973"/>
              <a:gd name="connsiteY1" fmla="*/ 200225 h 6652523"/>
              <a:gd name="connsiteX2" fmla="*/ 4046758 w 4055973"/>
              <a:gd name="connsiteY2" fmla="*/ 6652523 h 6652523"/>
              <a:gd name="connsiteX3" fmla="*/ 579722 w 4055973"/>
              <a:gd name="connsiteY3" fmla="*/ 6642301 h 6652523"/>
              <a:gd name="connsiteX4" fmla="*/ 0 w 4055973"/>
              <a:gd name="connsiteY4" fmla="*/ 6062579 h 6652523"/>
              <a:gd name="connsiteX5" fmla="*/ 0 w 4055973"/>
              <a:gd name="connsiteY5" fmla="*/ 0 h 6652523"/>
              <a:gd name="connsiteX0" fmla="*/ 0 w 4046758"/>
              <a:gd name="connsiteY0" fmla="*/ 0 h 6652523"/>
              <a:gd name="connsiteX1" fmla="*/ 4044045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1655 h 6654178"/>
              <a:gd name="connsiteX1" fmla="*/ 3082144 w 4046758"/>
              <a:gd name="connsiteY1" fmla="*/ 0 h 6654178"/>
              <a:gd name="connsiteX2" fmla="*/ 4046758 w 4046758"/>
              <a:gd name="connsiteY2" fmla="*/ 6654178 h 6654178"/>
              <a:gd name="connsiteX3" fmla="*/ 579722 w 4046758"/>
              <a:gd name="connsiteY3" fmla="*/ 6643956 h 6654178"/>
              <a:gd name="connsiteX4" fmla="*/ 0 w 4046758"/>
              <a:gd name="connsiteY4" fmla="*/ 6064234 h 6654178"/>
              <a:gd name="connsiteX5" fmla="*/ 0 w 4046758"/>
              <a:gd name="connsiteY5" fmla="*/ 1655 h 6654178"/>
              <a:gd name="connsiteX0" fmla="*/ 0 w 4046758"/>
              <a:gd name="connsiteY0" fmla="*/ 0 h 6652523"/>
              <a:gd name="connsiteX1" fmla="*/ 2975266 w 4046758"/>
              <a:gd name="connsiteY1" fmla="*/ 93348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70268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4046758"/>
              <a:gd name="connsiteY0" fmla="*/ 0 h 6652523"/>
              <a:gd name="connsiteX1" fmla="*/ 3082144 w 4046758"/>
              <a:gd name="connsiteY1" fmla="*/ 10220 h 6652523"/>
              <a:gd name="connsiteX2" fmla="*/ 4046758 w 4046758"/>
              <a:gd name="connsiteY2" fmla="*/ 6652523 h 6652523"/>
              <a:gd name="connsiteX3" fmla="*/ 579722 w 4046758"/>
              <a:gd name="connsiteY3" fmla="*/ 6642301 h 6652523"/>
              <a:gd name="connsiteX4" fmla="*/ 0 w 4046758"/>
              <a:gd name="connsiteY4" fmla="*/ 6062579 h 6652523"/>
              <a:gd name="connsiteX5" fmla="*/ 0 w 4046758"/>
              <a:gd name="connsiteY5" fmla="*/ 0 h 6652523"/>
              <a:gd name="connsiteX0" fmla="*/ 0 w 3082197"/>
              <a:gd name="connsiteY0" fmla="*/ 0 h 6652523"/>
              <a:gd name="connsiteX1" fmla="*/ 3082144 w 3082197"/>
              <a:gd name="connsiteY1" fmla="*/ 10220 h 6652523"/>
              <a:gd name="connsiteX2" fmla="*/ 3072982 w 3082197"/>
              <a:gd name="connsiteY2" fmla="*/ 6652523 h 6652523"/>
              <a:gd name="connsiteX3" fmla="*/ 579722 w 3082197"/>
              <a:gd name="connsiteY3" fmla="*/ 6642301 h 6652523"/>
              <a:gd name="connsiteX4" fmla="*/ 0 w 3082197"/>
              <a:gd name="connsiteY4" fmla="*/ 6062579 h 6652523"/>
              <a:gd name="connsiteX5" fmla="*/ 0 w 3082197"/>
              <a:gd name="connsiteY5" fmla="*/ 0 h 6652523"/>
              <a:gd name="connsiteX0" fmla="*/ 0 w 3072982"/>
              <a:gd name="connsiteY0" fmla="*/ 0 h 6652523"/>
              <a:gd name="connsiteX1" fmla="*/ 3010892 w 3072982"/>
              <a:gd name="connsiteY1" fmla="*/ 164599 h 6652523"/>
              <a:gd name="connsiteX2" fmla="*/ 3072982 w 3072982"/>
              <a:gd name="connsiteY2" fmla="*/ 6652523 h 6652523"/>
              <a:gd name="connsiteX3" fmla="*/ 579722 w 3072982"/>
              <a:gd name="connsiteY3" fmla="*/ 6642301 h 6652523"/>
              <a:gd name="connsiteX4" fmla="*/ 0 w 3072982"/>
              <a:gd name="connsiteY4" fmla="*/ 6062579 h 6652523"/>
              <a:gd name="connsiteX5" fmla="*/ 0 w 3072982"/>
              <a:gd name="connsiteY5" fmla="*/ 0 h 6652523"/>
              <a:gd name="connsiteX0" fmla="*/ 0 w 3082197"/>
              <a:gd name="connsiteY0" fmla="*/ 1656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656 h 6654179"/>
              <a:gd name="connsiteX0" fmla="*/ 0 w 3082197"/>
              <a:gd name="connsiteY0" fmla="*/ 1316107 h 6654179"/>
              <a:gd name="connsiteX1" fmla="*/ 3082144 w 3082197"/>
              <a:gd name="connsiteY1" fmla="*/ 0 h 6654179"/>
              <a:gd name="connsiteX2" fmla="*/ 3072982 w 3082197"/>
              <a:gd name="connsiteY2" fmla="*/ 6654179 h 6654179"/>
              <a:gd name="connsiteX3" fmla="*/ 579722 w 3082197"/>
              <a:gd name="connsiteY3" fmla="*/ 6643957 h 6654179"/>
              <a:gd name="connsiteX4" fmla="*/ 0 w 3082197"/>
              <a:gd name="connsiteY4" fmla="*/ 6064235 h 6654179"/>
              <a:gd name="connsiteX5" fmla="*/ 0 w 3082197"/>
              <a:gd name="connsiteY5" fmla="*/ 1316107 h 6654179"/>
              <a:gd name="connsiteX0" fmla="*/ 0 w 3082197"/>
              <a:gd name="connsiteY0" fmla="*/ 1657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1657 h 5339729"/>
              <a:gd name="connsiteX0" fmla="*/ 0 w 3082197"/>
              <a:gd name="connsiteY0" fmla="*/ 2202416 h 5339729"/>
              <a:gd name="connsiteX1" fmla="*/ 3082144 w 3082197"/>
              <a:gd name="connsiteY1" fmla="*/ 0 h 5339729"/>
              <a:gd name="connsiteX2" fmla="*/ 3072982 w 3082197"/>
              <a:gd name="connsiteY2" fmla="*/ 5339729 h 5339729"/>
              <a:gd name="connsiteX3" fmla="*/ 579722 w 3082197"/>
              <a:gd name="connsiteY3" fmla="*/ 5329507 h 5339729"/>
              <a:gd name="connsiteX4" fmla="*/ 0 w 3082197"/>
              <a:gd name="connsiteY4" fmla="*/ 4749785 h 5339729"/>
              <a:gd name="connsiteX5" fmla="*/ 0 w 3082197"/>
              <a:gd name="connsiteY5" fmla="*/ 2202416 h 5339729"/>
              <a:gd name="connsiteX0" fmla="*/ 0 w 3082197"/>
              <a:gd name="connsiteY0" fmla="*/ 1656 h 3138969"/>
              <a:gd name="connsiteX1" fmla="*/ 3082144 w 3082197"/>
              <a:gd name="connsiteY1" fmla="*/ 0 h 3138969"/>
              <a:gd name="connsiteX2" fmla="*/ 3072982 w 3082197"/>
              <a:gd name="connsiteY2" fmla="*/ 3138969 h 3138969"/>
              <a:gd name="connsiteX3" fmla="*/ 579722 w 3082197"/>
              <a:gd name="connsiteY3" fmla="*/ 3128747 h 3138969"/>
              <a:gd name="connsiteX4" fmla="*/ 0 w 3082197"/>
              <a:gd name="connsiteY4" fmla="*/ 2549025 h 3138969"/>
              <a:gd name="connsiteX5" fmla="*/ 0 w 3082197"/>
              <a:gd name="connsiteY5" fmla="*/ 1656 h 3138969"/>
              <a:gd name="connsiteX0" fmla="*/ 0 w 3082145"/>
              <a:gd name="connsiteY0" fmla="*/ 1656 h 3150544"/>
              <a:gd name="connsiteX1" fmla="*/ 3082144 w 3082145"/>
              <a:gd name="connsiteY1" fmla="*/ 0 h 3150544"/>
              <a:gd name="connsiteX2" fmla="*/ 2772041 w 3082145"/>
              <a:gd name="connsiteY2" fmla="*/ 3150544 h 3150544"/>
              <a:gd name="connsiteX3" fmla="*/ 579722 w 3082145"/>
              <a:gd name="connsiteY3" fmla="*/ 3128747 h 3150544"/>
              <a:gd name="connsiteX4" fmla="*/ 0 w 3082145"/>
              <a:gd name="connsiteY4" fmla="*/ 2549025 h 3150544"/>
              <a:gd name="connsiteX5" fmla="*/ 0 w 3082145"/>
              <a:gd name="connsiteY5" fmla="*/ 1656 h 3150544"/>
              <a:gd name="connsiteX0" fmla="*/ 0 w 2772041"/>
              <a:gd name="connsiteY0" fmla="*/ 1656 h 3150544"/>
              <a:gd name="connsiteX1" fmla="*/ 2769627 w 2772041"/>
              <a:gd name="connsiteY1" fmla="*/ 0 h 3150544"/>
              <a:gd name="connsiteX2" fmla="*/ 2772041 w 2772041"/>
              <a:gd name="connsiteY2" fmla="*/ 3150544 h 3150544"/>
              <a:gd name="connsiteX3" fmla="*/ 579722 w 2772041"/>
              <a:gd name="connsiteY3" fmla="*/ 3128747 h 3150544"/>
              <a:gd name="connsiteX4" fmla="*/ 0 w 2772041"/>
              <a:gd name="connsiteY4" fmla="*/ 2549025 h 3150544"/>
              <a:gd name="connsiteX5" fmla="*/ 0 w 2772041"/>
              <a:gd name="connsiteY5" fmla="*/ 1656 h 3150544"/>
              <a:gd name="connsiteX0" fmla="*/ 0 w 2772041"/>
              <a:gd name="connsiteY0" fmla="*/ 1656 h 3138969"/>
              <a:gd name="connsiteX1" fmla="*/ 2769627 w 2772041"/>
              <a:gd name="connsiteY1" fmla="*/ 0 h 3138969"/>
              <a:gd name="connsiteX2" fmla="*/ 2772041 w 2772041"/>
              <a:gd name="connsiteY2" fmla="*/ 3138969 h 3138969"/>
              <a:gd name="connsiteX3" fmla="*/ 579722 w 2772041"/>
              <a:gd name="connsiteY3" fmla="*/ 3128747 h 3138969"/>
              <a:gd name="connsiteX4" fmla="*/ 0 w 2772041"/>
              <a:gd name="connsiteY4" fmla="*/ 2549025 h 3138969"/>
              <a:gd name="connsiteX5" fmla="*/ 0 w 2772041"/>
              <a:gd name="connsiteY5" fmla="*/ 1656 h 313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2041" h="3138969">
                <a:moveTo>
                  <a:pt x="0" y="1656"/>
                </a:moveTo>
                <a:lnTo>
                  <a:pt x="2769627" y="0"/>
                </a:lnTo>
                <a:cubicBezTo>
                  <a:pt x="2770532" y="2146807"/>
                  <a:pt x="2771136" y="992162"/>
                  <a:pt x="2772041" y="3138969"/>
                </a:cubicBezTo>
                <a:lnTo>
                  <a:pt x="579722" y="3128747"/>
                </a:lnTo>
                <a:cubicBezTo>
                  <a:pt x="259550" y="3128747"/>
                  <a:pt x="0" y="2869197"/>
                  <a:pt x="0" y="2549025"/>
                </a:cubicBezTo>
                <a:lnTo>
                  <a:pt x="0" y="1656"/>
                </a:lnTo>
                <a:close/>
              </a:path>
            </a:pathLst>
          </a:custGeom>
          <a:noFill/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Picture/Text Block</a:t>
            </a:r>
          </a:p>
          <a:p>
            <a:endParaRPr lang="en-US"/>
          </a:p>
          <a:p>
            <a:endParaRPr lang="en-JP"/>
          </a:p>
        </p:txBody>
      </p:sp>
      <p:pic>
        <p:nvPicPr>
          <p:cNvPr id="14" name="Picture 13" descr="Takeda">
            <a:extLst>
              <a:ext uri="{FF2B5EF4-FFF2-40B4-BE49-F238E27FC236}">
                <a16:creationId xmlns:a16="http://schemas.microsoft.com/office/drawing/2014/main" id="{47FD433F-488A-9D46-BDF0-87D0F082AE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8" name="タイトル プレースホルダ 1">
            <a:extLst>
              <a:ext uri="{FF2B5EF4-FFF2-40B4-BE49-F238E27FC236}">
                <a16:creationId xmlns:a16="http://schemas.microsoft.com/office/drawing/2014/main" id="{4FBB8310-69E6-7C4E-A4B1-C022B6FEE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4EF39473-C435-3C4E-9C7B-048D52C3C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  <a:endParaRPr lang="en-JP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EF9AE6-D84E-9F43-9506-6676EC51B210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8" name="スライド番号プレースホルダ 5">
            <a:extLst>
              <a:ext uri="{FF2B5EF4-FFF2-40B4-BE49-F238E27FC236}">
                <a16:creationId xmlns:a16="http://schemas.microsoft.com/office/drawing/2014/main" id="{F964ADE6-9B0D-EC45-959C-FEEA5CDD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70D8562-3CE7-7044-9BB0-2068A81BF5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99C450B-0755-7D4A-9672-E700D6F2E5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05B1BEB-AC9F-9643-A446-ABE1DDB961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690159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11571628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1" name="Picture 10" descr="Takeda">
            <a:extLst>
              <a:ext uri="{FF2B5EF4-FFF2-40B4-BE49-F238E27FC236}">
                <a16:creationId xmlns:a16="http://schemas.microsoft.com/office/drawing/2014/main" id="{7EBA21A8-EE4B-6E4B-A794-3FEA5B1599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2" name="タイトル プレースホルダ 1">
            <a:extLst>
              <a:ext uri="{FF2B5EF4-FFF2-40B4-BE49-F238E27FC236}">
                <a16:creationId xmlns:a16="http://schemas.microsoft.com/office/drawing/2014/main" id="{75E45CD2-2EBD-AE47-837E-9F752C565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2DC26CE8-1DEF-EE42-861C-B0406E8DC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6966D-3DF0-4D41-9D26-4860D147F807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3" name="スライド番号プレースホルダ 5">
            <a:extLst>
              <a:ext uri="{FF2B5EF4-FFF2-40B4-BE49-F238E27FC236}">
                <a16:creationId xmlns:a16="http://schemas.microsoft.com/office/drawing/2014/main" id="{600920FB-2D44-F645-865D-89FFECB09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7DE8F7E-1418-1C4C-A62B-2385714992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28A960D-6A45-6744-9BDB-7070B443CC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1493179-5EA4-604B-A9DF-BDA818F01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767460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227225" y="1093767"/>
            <a:ext cx="7653625" cy="53229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F65D74B-37DA-0D46-8B56-9B362C84E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50" y="3178298"/>
            <a:ext cx="3751966" cy="272786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F5F6A26-5AAA-884F-A319-DE9881530A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150" y="3575904"/>
            <a:ext cx="3751966" cy="2840771"/>
          </a:xfrm>
          <a:prstGeom prst="rect">
            <a:avLst/>
          </a:prstGeom>
        </p:spPr>
        <p:txBody>
          <a:bodyPr tIns="0" rIns="0" bIns="0" numCol="1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Secondary text.</a:t>
            </a:r>
          </a:p>
        </p:txBody>
      </p:sp>
      <p:pic>
        <p:nvPicPr>
          <p:cNvPr id="12" name="Picture 11" descr="Takeda">
            <a:extLst>
              <a:ext uri="{FF2B5EF4-FFF2-40B4-BE49-F238E27FC236}">
                <a16:creationId xmlns:a16="http://schemas.microsoft.com/office/drawing/2014/main" id="{5D7AA9CA-E651-9E48-B0F3-BDDA45B353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3" name="タイトル プレースホルダ 1">
            <a:extLst>
              <a:ext uri="{FF2B5EF4-FFF2-40B4-BE49-F238E27FC236}">
                <a16:creationId xmlns:a16="http://schemas.microsoft.com/office/drawing/2014/main" id="{2256F400-EDA8-7F44-BF13-278518497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7136781B-A49B-0A42-B748-01C379A12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C2B0AC-7801-6C42-BA03-0669DC118159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4" name="スライド番号プレースホルダ 5">
            <a:extLst>
              <a:ext uri="{FF2B5EF4-FFF2-40B4-BE49-F238E27FC236}">
                <a16:creationId xmlns:a16="http://schemas.microsoft.com/office/drawing/2014/main" id="{71FCF96E-3BB8-0745-B029-6B6BE4291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75659DC-941F-AA40-8336-C3B1BF32BA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5375A5A-6A84-7145-B49C-982F846194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1" y="1491373"/>
            <a:ext cx="3751965" cy="1464957"/>
          </a:xfrm>
        </p:spPr>
        <p:txBody>
          <a:bodyPr tIns="0" rIns="0" bIns="0" numCol="1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5F7E9041-544E-3547-AC30-65F55E91E1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50" y="1093767"/>
            <a:ext cx="3751965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960436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3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9" name="Chart Placeholder 7">
            <a:extLst>
              <a:ext uri="{FF2B5EF4-FFF2-40B4-BE49-F238E27FC236}">
                <a16:creationId xmlns:a16="http://schemas.microsoft.com/office/drawing/2014/main" id="{F1FC7466-185A-8B44-ABF0-5410C1127700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6206170" y="3076286"/>
            <a:ext cx="570865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0" name="Picture 9" descr="Takeda">
            <a:extLst>
              <a:ext uri="{FF2B5EF4-FFF2-40B4-BE49-F238E27FC236}">
                <a16:creationId xmlns:a16="http://schemas.microsoft.com/office/drawing/2014/main" id="{F183604A-2112-D443-8B35-2DFEE7121A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2" name="タイトル プレースホルダ 1">
            <a:extLst>
              <a:ext uri="{FF2B5EF4-FFF2-40B4-BE49-F238E27FC236}">
                <a16:creationId xmlns:a16="http://schemas.microsoft.com/office/drawing/2014/main" id="{906CE02B-33D8-B048-A73D-781A3402C2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C2587943-8F51-3542-B7BE-578171944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79FB0B-7616-F04F-9B4C-586869A82E96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2" name="スライド番号プレースホルダ 5">
            <a:extLst>
              <a:ext uri="{FF2B5EF4-FFF2-40B4-BE49-F238E27FC236}">
                <a16:creationId xmlns:a16="http://schemas.microsoft.com/office/drawing/2014/main" id="{8AFBB1AB-19B7-1347-93F8-D14235DD2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C168495-CA79-E440-A93B-B87B367483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6F06E4B-A978-4E46-AE6C-67B54F7E34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60366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FF373A1-4E48-6C48-A075-153436CF76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49" y="1093767"/>
            <a:ext cx="1160366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2439798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ed Char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6D4E593-FDCC-D14E-9C5E-5F309E415C26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309224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0" name="Chart Placeholder 7">
            <a:extLst>
              <a:ext uri="{FF2B5EF4-FFF2-40B4-BE49-F238E27FC236}">
                <a16:creationId xmlns:a16="http://schemas.microsoft.com/office/drawing/2014/main" id="{8D9BD23C-1777-C442-B4B0-BADF450483EA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4217095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sp>
        <p:nvSpPr>
          <p:cNvPr id="11" name="Chart Placeholder 7">
            <a:extLst>
              <a:ext uri="{FF2B5EF4-FFF2-40B4-BE49-F238E27FC236}">
                <a16:creationId xmlns:a16="http://schemas.microsoft.com/office/drawing/2014/main" id="{2D7D413C-2FF1-204A-83C6-B7426603B7C2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8123041" y="3076286"/>
            <a:ext cx="3757810" cy="334038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JP"/>
              <a:t>Insert Chart</a:t>
            </a:r>
          </a:p>
        </p:txBody>
      </p:sp>
      <p:pic>
        <p:nvPicPr>
          <p:cNvPr id="13" name="Picture 12" descr="Takeda">
            <a:extLst>
              <a:ext uri="{FF2B5EF4-FFF2-40B4-BE49-F238E27FC236}">
                <a16:creationId xmlns:a16="http://schemas.microsoft.com/office/drawing/2014/main" id="{0C4979BF-EBB2-214C-8087-7AC4B2163D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331" y="-1615"/>
            <a:ext cx="1696232" cy="940780"/>
          </a:xfrm>
          <a:prstGeom prst="rect">
            <a:avLst/>
          </a:prstGeom>
        </p:spPr>
      </p:pic>
      <p:sp>
        <p:nvSpPr>
          <p:cNvPr id="17" name="タイトル プレースホルダ 1">
            <a:extLst>
              <a:ext uri="{FF2B5EF4-FFF2-40B4-BE49-F238E27FC236}">
                <a16:creationId xmlns:a16="http://schemas.microsoft.com/office/drawing/2014/main" id="{2FFB1535-D35E-D242-B225-DDF1C53BB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078" y="161605"/>
            <a:ext cx="9940253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Click to add title</a:t>
            </a:r>
            <a:endParaRPr kumimoji="1" lang="ja-JP" altLang="en-US"/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47DB5E3C-7053-3645-A234-760F5ED12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523001"/>
            <a:ext cx="4114800" cy="19613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FC8CB7-67E9-8A46-B53F-F34ACE18BE87}"/>
              </a:ext>
            </a:extLst>
          </p:cNvPr>
          <p:cNvSpPr/>
          <p:nvPr userDrawn="1"/>
        </p:nvSpPr>
        <p:spPr>
          <a:xfrm>
            <a:off x="308038" y="161606"/>
            <a:ext cx="54000" cy="6858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JP">
              <a:solidFill>
                <a:schemeClr val="accent1"/>
              </a:solidFill>
            </a:endParaRPr>
          </a:p>
        </p:txBody>
      </p:sp>
      <p:sp>
        <p:nvSpPr>
          <p:cNvPr id="25" name="スライド番号プレースホルダ 5">
            <a:extLst>
              <a:ext uri="{FF2B5EF4-FFF2-40B4-BE49-F238E27FC236}">
                <a16:creationId xmlns:a16="http://schemas.microsoft.com/office/drawing/2014/main" id="{5EB1023E-4E73-AD49-83B0-D7B458250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4942DB0C-137A-4E4C-B926-77CEECC512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078" y="6523001"/>
            <a:ext cx="6968348" cy="205613"/>
          </a:xfrm>
          <a:prstGeom prst="rect">
            <a:avLst/>
          </a:prstGeom>
        </p:spPr>
        <p:txBody>
          <a:bodyPr wrap="none" tIns="0" rIns="0" bIns="72000" numCol="1" anchor="ctr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>
                <a:solidFill>
                  <a:schemeClr val="accent3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Private and confidential. For internal use only.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D1171B1-AEC6-164D-8FE0-E0B9353A55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50" y="1491373"/>
            <a:ext cx="11569699" cy="1464957"/>
          </a:xfrm>
        </p:spPr>
        <p:txBody>
          <a:bodyPr tIns="0" rIns="0" bIns="0" numCol="2" spcCol="12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/>
            </a:lvl1pPr>
            <a:lvl2pPr marL="457068" indent="0">
              <a:buNone/>
              <a:defRPr sz="1800" b="1"/>
            </a:lvl2pPr>
            <a:lvl3pPr marL="914149" indent="0">
              <a:buNone/>
              <a:defRPr sz="1800" b="1"/>
            </a:lvl3pPr>
            <a:lvl4pPr marL="1371219" indent="0">
              <a:buNone/>
              <a:defRPr sz="1800" b="1"/>
            </a:lvl4pPr>
            <a:lvl5pPr marL="1828290" indent="0">
              <a:buNone/>
              <a:defRPr sz="1800" b="1"/>
            </a:lvl5pPr>
          </a:lstStyle>
          <a:p>
            <a:pPr lvl="0"/>
            <a:r>
              <a:rPr lang="en-US"/>
              <a:t>This is your Primary Text.</a:t>
            </a:r>
            <a:endParaRPr lang="en-JP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6C4AA1F-8B09-5544-9C70-388A6E2940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49" y="1093767"/>
            <a:ext cx="11569699" cy="272786"/>
          </a:xfrm>
        </p:spPr>
        <p:txBody>
          <a:bodyPr tIns="0" rIns="0" bIns="0" numCol="1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 b="1">
                <a:solidFill>
                  <a:schemeClr val="accent1"/>
                </a:solidFill>
              </a:defRPr>
            </a:lvl1pPr>
            <a:lvl2pPr marL="457068" indent="0">
              <a:lnSpc>
                <a:spcPts val="1800"/>
              </a:lnSpc>
              <a:spcBef>
                <a:spcPts val="0"/>
              </a:spcBef>
              <a:buNone/>
              <a:defRPr sz="1400"/>
            </a:lvl2pPr>
            <a:lvl3pPr marL="914149" indent="0">
              <a:lnSpc>
                <a:spcPts val="1800"/>
              </a:lnSpc>
              <a:spcBef>
                <a:spcPts val="0"/>
              </a:spcBef>
              <a:buNone/>
              <a:defRPr sz="1400"/>
            </a:lvl3pPr>
            <a:lvl4pPr marL="1371219" indent="0">
              <a:lnSpc>
                <a:spcPts val="1800"/>
              </a:lnSpc>
              <a:spcBef>
                <a:spcPts val="0"/>
              </a:spcBef>
              <a:buNone/>
              <a:defRPr sz="1400"/>
            </a:lvl4pPr>
            <a:lvl5pPr marL="1828290" indent="0">
              <a:lnSpc>
                <a:spcPts val="18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/>
              <a:t>This is your Primary Title</a:t>
            </a:r>
          </a:p>
        </p:txBody>
      </p:sp>
    </p:spTree>
    <p:extLst>
      <p:ext uri="{BB962C8B-B14F-4D97-AF65-F5344CB8AC3E}">
        <p14:creationId xmlns:p14="http://schemas.microsoft.com/office/powerpoint/2010/main" val="710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283D300-2124-42DF-B73B-3D3D4C546E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35852690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395" imgH="394" progId="TCLayout.ActiveDocument.1">
                  <p:embed/>
                </p:oleObj>
              </mc:Choice>
              <mc:Fallback>
                <p:oleObj name="think-cell Slide" r:id="rId21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283D300-2124-42DF-B73B-3D3D4C546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B895B28-7064-4AD0-A15D-88F99BCA9BAD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2800" b="0" i="0" baseline="0">
              <a:latin typeface="Calibri" panose="020F0502020204030204" pitchFamily="34" charset="0"/>
              <a:ea typeface="メイリオ" panose="020B0604030504040204" pitchFamily="50" charset="-128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311150" y="1233487"/>
            <a:ext cx="11569700" cy="5183187"/>
          </a:xfrm>
          <a:prstGeom prst="rect">
            <a:avLst/>
          </a:prstGeom>
        </p:spPr>
        <p:txBody>
          <a:bodyPr vert="horz" lIns="0" tIns="45710" rIns="91420" bIns="45710" rtlCol="0">
            <a:normAutofit/>
          </a:bodyPr>
          <a:lstStyle/>
          <a:p>
            <a:pPr lvl="0"/>
            <a:r>
              <a:rPr kumimoji="1" lang="en-US" altLang="ja-JP"/>
              <a:t>Master text</a:t>
            </a:r>
            <a:endParaRPr kumimoji="1" lang="ja-JP" altLang="en-US"/>
          </a:p>
        </p:txBody>
      </p:sp>
      <p:sp>
        <p:nvSpPr>
          <p:cNvPr id="11" name="Footer Placeholder 8">
            <a:extLst>
              <a:ext uri="{FF2B5EF4-FFF2-40B4-BE49-F238E27FC236}">
                <a16:creationId xmlns:a16="http://schemas.microsoft.com/office/drawing/2014/main" id="{44E43001-C216-284A-9EBD-E54B5DD29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66050" y="6489701"/>
            <a:ext cx="4114800" cy="229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spc="100" baseline="0">
                <a:solidFill>
                  <a:schemeClr val="tx1"/>
                </a:solidFill>
              </a:defRPr>
            </a:lvl1pPr>
          </a:lstStyle>
          <a:p>
            <a:r>
              <a:rPr lang="en-JP"/>
              <a:t> </a:t>
            </a:r>
          </a:p>
        </p:txBody>
      </p:sp>
      <p:sp>
        <p:nvSpPr>
          <p:cNvPr id="9" name="タイトル プレースホルダ 1">
            <a:extLst>
              <a:ext uri="{FF2B5EF4-FFF2-40B4-BE49-F238E27FC236}">
                <a16:creationId xmlns:a16="http://schemas.microsoft.com/office/drawing/2014/main" id="{D7981A12-E00B-604C-B863-7CBF31AA6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9895084" cy="68580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en-US" altLang="ja-JP"/>
              <a:t>Master title</a:t>
            </a:r>
            <a:endParaRPr kumimoji="1" lang="ja-JP" altLang="en-US"/>
          </a:p>
        </p:txBody>
      </p:sp>
      <p:sp>
        <p:nvSpPr>
          <p:cNvPr id="13" name="スライド番号プレースホルダ 5">
            <a:extLst>
              <a:ext uri="{FF2B5EF4-FFF2-40B4-BE49-F238E27FC236}">
                <a16:creationId xmlns:a16="http://schemas.microsoft.com/office/drawing/2014/main" id="{C7AA5A17-3F2F-B94B-9342-A137057B8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489701"/>
            <a:ext cx="589856" cy="22943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l">
              <a:defRPr sz="800" b="1" i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anose="020F0502020204030204" pitchFamily="34" charset="0"/>
              </a:defRPr>
            </a:lvl1pPr>
          </a:lstStyle>
          <a:p>
            <a:pPr defTabSz="1218810"/>
            <a:fld id="{E9B57936-92EF-4126-AE48-1D9D36D15E98}" type="slidenum">
              <a:rPr lang="ja-JP" altLang="en-US" smtClean="0"/>
              <a:pPr defTabSz="121881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9182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914150" rtl="0" eaLnBrk="1" latinLnBrk="0" hangingPunct="1">
        <a:lnSpc>
          <a:spcPts val="2800"/>
        </a:lnSpc>
        <a:spcBef>
          <a:spcPct val="0"/>
        </a:spcBef>
        <a:buNone/>
        <a:defRPr kumimoji="1" sz="2800" b="1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</p:titleStyle>
    <p:bodyStyle>
      <a:lvl1pPr marL="457071" indent="-457071" algn="l" defTabSz="914150" rtl="0" eaLnBrk="1" latinLnBrk="0" hangingPunct="1">
        <a:spcBef>
          <a:spcPct val="20000"/>
        </a:spcBef>
        <a:buClr>
          <a:srgbClr val="4C4948"/>
        </a:buClr>
        <a:buFont typeface="Arial" panose="020B0604020202020204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1pPr>
      <a:lvl2pPr marL="742745" indent="-285677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2pPr>
      <a:lvl3pPr marL="114269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•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3pPr>
      <a:lvl4pPr marL="1599760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–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4pPr>
      <a:lvl5pPr marL="2056831" indent="-228541" algn="l" defTabSz="914150" rtl="0" eaLnBrk="1" latinLnBrk="0" hangingPunct="1">
        <a:spcBef>
          <a:spcPct val="20000"/>
        </a:spcBef>
        <a:buClr>
          <a:srgbClr val="4C4948"/>
        </a:buClr>
        <a:buFont typeface="Arial" pitchFamily="34" charset="0"/>
        <a:buChar char="»"/>
        <a:defRPr kumimoji="1" sz="2000" b="0" i="0" kern="1200" baseline="0">
          <a:solidFill>
            <a:schemeClr val="tx1"/>
          </a:solidFill>
          <a:latin typeface="Calibri" panose="020F0502020204030204" pitchFamily="34" charset="0"/>
          <a:ea typeface="メイリオ" pitchFamily="50" charset="-128"/>
          <a:cs typeface="Calibri" pitchFamily="34" charset="0"/>
        </a:defRPr>
      </a:lvl5pPr>
      <a:lvl6pPr marL="2513910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86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61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42" indent="-228541" algn="l" defTabSz="91415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07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1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226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30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382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45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199520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6591" algn="l" defTabSz="914150" rtl="0" eaLnBrk="1" latinLnBrk="0" hangingPunct="1"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77">
          <p15:clr>
            <a:srgbClr val="F26B43"/>
          </p15:clr>
        </p15:guide>
        <p15:guide id="2" pos="189">
          <p15:clr>
            <a:srgbClr val="F26B43"/>
          </p15:clr>
        </p15:guide>
        <p15:guide id="3" pos="7491">
          <p15:clr>
            <a:srgbClr val="F26B43"/>
          </p15:clr>
        </p15:guide>
        <p15:guide id="4" orient="horz" pos="4042">
          <p15:clr>
            <a:srgbClr val="F26B43"/>
          </p15:clr>
        </p15:guide>
        <p15:guide id="5" pos="370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icture containing spectacles&#10;&#10;Description automatically generated">
            <a:extLst>
              <a:ext uri="{FF2B5EF4-FFF2-40B4-BE49-F238E27FC236}">
                <a16:creationId xmlns:a16="http://schemas.microsoft.com/office/drawing/2014/main" id="{E23C27B3-162F-1A42-9548-CF89F730535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" r="303"/>
          <a:stretch/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5C2CD95-083B-1C42-8DFF-C7D865713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TAK-861 HCP Referral Analysis</a:t>
            </a:r>
            <a:br>
              <a:rPr lang="en-US" b="0" i="1"/>
            </a:br>
            <a:r>
              <a:rPr lang="en-US" sz="1600" b="0"/>
              <a:t>Project Updates Discussion</a:t>
            </a:r>
            <a:endParaRPr lang="en-JP" sz="1600" b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4D3D46D-4931-874B-8D76-08BA17742D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94728" y="5097672"/>
            <a:ext cx="7699670" cy="23400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600">
                <a:latin typeface="Calibri"/>
                <a:ea typeface="メイリオ"/>
                <a:cs typeface="Calibri"/>
              </a:rPr>
              <a:t>April 30, 2026</a:t>
            </a:r>
            <a:endParaRPr lang="en-JP" sz="1600">
              <a:latin typeface="Calibri"/>
              <a:ea typeface="メイリオ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CDFEE1-B310-00BD-1115-BAA81EF5A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94728" y="5814525"/>
            <a:ext cx="1048460" cy="60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7E5F-4E7F-802A-90BC-8C30F139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A626-973A-D31E-75EE-F9F88A7092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Agenda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DB303A-E89C-2007-083E-BF8515699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619790"/>
              </p:ext>
            </p:extLst>
          </p:nvPr>
        </p:nvGraphicFramePr>
        <p:xfrm>
          <a:off x="4702464" y="1197864"/>
          <a:ext cx="6454369" cy="4462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54369">
                  <a:extLst>
                    <a:ext uri="{9D8B030D-6E8A-4147-A177-3AD203B41FA5}">
                      <a16:colId xmlns:a16="http://schemas.microsoft.com/office/drawing/2014/main" val="3582590987"/>
                    </a:ext>
                  </a:extLst>
                </a:gridCol>
              </a:tblGrid>
              <a:tr h="937717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200000"/>
                        </a:lnSpc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v"/>
                      </a:pPr>
                      <a:r>
                        <a:rPr lang="en-IN" sz="2000" b="1"/>
                        <a:t>Project Status &amp; Timeline</a:t>
                      </a:r>
                    </a:p>
                    <a:p>
                      <a:pPr marL="342900" marR="0" lvl="0" indent="-342900" algn="l" defTabSz="91415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2000" b="1"/>
                        <a:t>Referral Network Insights</a:t>
                      </a:r>
                    </a:p>
                    <a:p>
                      <a:pPr marL="914271" marR="0" lvl="1" indent="-457200" algn="l" defTabSz="91415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2000" b="1"/>
                        <a:t>How large and active is this referral network?</a:t>
                      </a:r>
                      <a:endParaRPr lang="en-IN" sz="2000" b="1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955719"/>
                  </a:ext>
                </a:extLst>
              </a:tr>
              <a:tr h="937717">
                <a:tc>
                  <a:txBody>
                    <a:bodyPr/>
                    <a:lstStyle/>
                    <a:p>
                      <a:pPr marL="914271" marR="0" lvl="1" indent="-45720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sz="2000" b="1"/>
                        <a:t>What function does each node serve in this network?</a:t>
                      </a:r>
                      <a:endParaRPr lang="en-IN" sz="2000" b="1"/>
                    </a:p>
                    <a:p>
                      <a:pPr marL="914271" marR="0" lvl="1" indent="-45720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kumimoji="1" lang="en-US" sz="2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 do referral connections cluster geographically and structurally?</a:t>
                      </a:r>
                      <a:endParaRPr kumimoji="1" lang="en-IN" sz="2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783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271" marR="0" lvl="1" indent="-457200" algn="l" defTabSz="9141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kumimoji="1" lang="en-US" sz="2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 are patients falling out of the care pathway in this ecosystem?</a:t>
                      </a:r>
                      <a:endParaRPr kumimoji="1" lang="en-IN" sz="20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489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marR="0" lvl="0" indent="-342900" algn="l" defTabSz="91415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IN" sz="2000" b="1"/>
                        <a:t>Next Steps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351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37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F097-72DB-DBCD-A740-E151A2D12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EEC9-7D84-C755-3211-BAC1170A8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The NT referral network is highly concentrated with a distinct group of HCPs forming its established core</a:t>
            </a:r>
            <a:endParaRPr lang="en-US" sz="20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CA6B5E-9910-AFAB-C9E2-AE51E88B96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6078" y="6651476"/>
            <a:ext cx="6968348" cy="205613"/>
          </a:xfrm>
        </p:spPr>
        <p:txBody>
          <a:bodyPr/>
          <a:lstStyle/>
          <a:p>
            <a:r>
              <a:rPr lang="en-US"/>
              <a:t>* Observation period varies by patient with each patient having 6 years of lookback and </a:t>
            </a:r>
            <a:r>
              <a:rPr lang="en-US" err="1"/>
              <a:t>atleast</a:t>
            </a:r>
            <a:r>
              <a:rPr lang="en-US"/>
              <a:t> 4 years of </a:t>
            </a:r>
            <a:r>
              <a:rPr lang="en-US" err="1"/>
              <a:t>lookforward</a:t>
            </a:r>
            <a:r>
              <a:rPr lang="en-US"/>
              <a:t> between 2016-2025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A833CC-0B7F-2A86-A112-F9A7B28610E5}"/>
              </a:ext>
            </a:extLst>
          </p:cNvPr>
          <p:cNvSpPr/>
          <p:nvPr/>
        </p:nvSpPr>
        <p:spPr>
          <a:xfrm>
            <a:off x="6100489" y="1779692"/>
            <a:ext cx="6091511" cy="2076937"/>
          </a:xfrm>
          <a:prstGeom prst="roundRect">
            <a:avLst>
              <a:gd name="adj" fmla="val 1883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200" b="1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How large and active is this referral network?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34373F"/>
                </a:solidFill>
                <a:cs typeface="Arial" panose="020B0604020202020204" pitchFamily="34" charset="0"/>
              </a:rPr>
              <a:t>1 in 3 HCPs referring NT patients are part of the network actively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With 70.8K referrals exchanged over the observation period</a:t>
            </a:r>
            <a:r>
              <a:rPr lang="en-US" sz="1200" baseline="30000">
                <a:solidFill>
                  <a:schemeClr val="tx1"/>
                </a:solidFill>
                <a:cs typeface="Arial" panose="020B0604020202020204" pitchFamily="34" charset="0"/>
              </a:rPr>
              <a:t>*</a:t>
            </a: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 a 179K HCP universe, the average HCP has been involved in fewer than 1 referral</a:t>
            </a:r>
            <a:endParaRPr lang="en-US" sz="1200">
              <a:solidFill>
                <a:schemeClr val="accent1"/>
              </a:solidFill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200" b="1">
                <a:solidFill>
                  <a:schemeClr val="accent1"/>
                </a:solidFill>
                <a:cs typeface="Arial" panose="020B0604020202020204" pitchFamily="34" charset="0"/>
              </a:rPr>
              <a:t>The NT market has a highly concentrated referral ecosystem where most patient handoffs flow through a small, identifiable cohort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67279C-3602-C87A-5D3C-092E384600A7}"/>
              </a:ext>
            </a:extLst>
          </p:cNvPr>
          <p:cNvGrpSpPr/>
          <p:nvPr/>
        </p:nvGrpSpPr>
        <p:grpSpPr>
          <a:xfrm>
            <a:off x="90255" y="1308019"/>
            <a:ext cx="4734391" cy="4734391"/>
            <a:chOff x="3728805" y="1714541"/>
            <a:chExt cx="4734391" cy="473439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AE61C23-7E98-C5C7-81EC-02E4810866B7}"/>
                </a:ext>
              </a:extLst>
            </p:cNvPr>
            <p:cNvGrpSpPr/>
            <p:nvPr/>
          </p:nvGrpSpPr>
          <p:grpSpPr>
            <a:xfrm>
              <a:off x="3728805" y="1714541"/>
              <a:ext cx="4734391" cy="4734391"/>
              <a:chOff x="3728805" y="1714541"/>
              <a:chExt cx="4734391" cy="4734391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4BF9056-40C9-1CBE-AE5C-5092D307CD83}"/>
                  </a:ext>
                </a:extLst>
              </p:cNvPr>
              <p:cNvSpPr/>
              <p:nvPr/>
            </p:nvSpPr>
            <p:spPr>
              <a:xfrm>
                <a:off x="3728805" y="1714541"/>
                <a:ext cx="4734391" cy="4734391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7CED553-3EBD-63BA-6EF8-4D55E68A13DE}"/>
                  </a:ext>
                </a:extLst>
              </p:cNvPr>
              <p:cNvSpPr/>
              <p:nvPr/>
            </p:nvSpPr>
            <p:spPr>
              <a:xfrm>
                <a:off x="4149880" y="2556691"/>
                <a:ext cx="3892241" cy="3892241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3E6F202-57D2-5A24-C1C4-0CA12AF8AE86}"/>
                  </a:ext>
                </a:extLst>
              </p:cNvPr>
              <p:cNvSpPr/>
              <p:nvPr/>
            </p:nvSpPr>
            <p:spPr>
              <a:xfrm>
                <a:off x="4627696" y="3512324"/>
                <a:ext cx="2936608" cy="293660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5C68DC7-2073-2F44-FC0E-7330CED2ACE6}"/>
                  </a:ext>
                </a:extLst>
              </p:cNvPr>
              <p:cNvSpPr/>
              <p:nvPr/>
            </p:nvSpPr>
            <p:spPr>
              <a:xfrm>
                <a:off x="5187125" y="4631181"/>
                <a:ext cx="1817751" cy="1817751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DD9FFD-A7B4-1A6D-69DA-5B64214665CA}"/>
                </a:ext>
              </a:extLst>
            </p:cNvPr>
            <p:cNvSpPr/>
            <p:nvPr/>
          </p:nvSpPr>
          <p:spPr>
            <a:xfrm>
              <a:off x="4947498" y="1883257"/>
              <a:ext cx="2297005" cy="520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299K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</a:b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HCPs Interacting with NT Patients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4F11A64-7CE3-EFFD-F229-0270D05CAB5D}"/>
                </a:ext>
              </a:extLst>
            </p:cNvPr>
            <p:cNvSpPr/>
            <p:nvPr/>
          </p:nvSpPr>
          <p:spPr>
            <a:xfrm>
              <a:off x="4947498" y="2838890"/>
              <a:ext cx="2297005" cy="520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sz="20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179K</a:t>
              </a:r>
              <a:br>
                <a:rPr lang="en-US" sz="14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HCPs with NT referral history</a:t>
              </a:r>
              <a:endParaRPr lang="en-US" sz="14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D8DA2E2-73B2-71DE-DD48-9486A7DA46DA}"/>
                </a:ext>
              </a:extLst>
            </p:cNvPr>
            <p:cNvSpPr/>
            <p:nvPr/>
          </p:nvSpPr>
          <p:spPr>
            <a:xfrm>
              <a:off x="5183861" y="5091810"/>
              <a:ext cx="1824278" cy="520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3.1K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HCPs with an established role in the referral network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06361E-8A59-E4C5-1B21-E9A3F4DC392D}"/>
                </a:ext>
              </a:extLst>
            </p:cNvPr>
            <p:cNvSpPr/>
            <p:nvPr/>
          </p:nvSpPr>
          <p:spPr>
            <a:xfrm>
              <a:off x="4947498" y="3941371"/>
              <a:ext cx="2297005" cy="520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sz="20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67K</a:t>
              </a:r>
              <a:br>
                <a:rPr lang="en-US" sz="14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HCPs actively involved in NT referrals</a:t>
              </a:r>
              <a:endParaRPr lang="en-US" sz="14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A68498-68B2-D77F-DDBC-B8185705FE1F}"/>
              </a:ext>
            </a:extLst>
          </p:cNvPr>
          <p:cNvGrpSpPr/>
          <p:nvPr/>
        </p:nvGrpSpPr>
        <p:grpSpPr>
          <a:xfrm>
            <a:off x="6100485" y="1308019"/>
            <a:ext cx="6091513" cy="319265"/>
            <a:chOff x="0" y="2140992"/>
            <a:chExt cx="2880042" cy="34718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CF3685E-26AF-2861-D112-7F861EE31D82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B026D14-1CCC-E786-4986-0E99391666B0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4BD7042-5A56-DBD1-D7E2-62A44ABAC17D}"/>
              </a:ext>
            </a:extLst>
          </p:cNvPr>
          <p:cNvSpPr/>
          <p:nvPr/>
        </p:nvSpPr>
        <p:spPr>
          <a:xfrm>
            <a:off x="0" y="6245774"/>
            <a:ext cx="12191998" cy="407951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400" b="1">
                <a:solidFill>
                  <a:schemeClr val="bg1"/>
                </a:solidFill>
              </a:rPr>
              <a:t>Understanding who these concentrated sub-cohort of HCPs are and how they're connected will help unlock strategic opportunity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4706828-8BDD-CC9A-8F52-DF4F70299846}"/>
              </a:ext>
            </a:extLst>
          </p:cNvPr>
          <p:cNvSpPr/>
          <p:nvPr/>
        </p:nvSpPr>
        <p:spPr>
          <a:xfrm>
            <a:off x="6100489" y="4010031"/>
            <a:ext cx="6091511" cy="2076937"/>
          </a:xfrm>
          <a:prstGeom prst="roundRect">
            <a:avLst>
              <a:gd name="adj" fmla="val 1883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200" b="1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How well established is the referral ecosystem?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~5% of HCPs in the concentrated NT universe hold an established, recurring role in the referral network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Among HCPs actively receiving referrals, the average stands at ~2 across the observation period. Which, though low, is consistent with rare disease dynamics where patient volumes are inherently thin and referral paths are narrow</a:t>
            </a:r>
          </a:p>
          <a:p>
            <a:pPr>
              <a:spcBef>
                <a:spcPts val="600"/>
              </a:spcBef>
            </a:pPr>
            <a:r>
              <a:rPr lang="en-US" sz="1200" b="1">
                <a:solidFill>
                  <a:schemeClr val="accent1"/>
                </a:solidFill>
                <a:cs typeface="Arial" panose="020B0604020202020204" pitchFamily="34" charset="0"/>
              </a:rPr>
              <a:t>Referral relationships in NT are largely transactional rather than systematic</a:t>
            </a:r>
          </a:p>
        </p:txBody>
      </p:sp>
    </p:spTree>
    <p:extLst>
      <p:ext uri="{BB962C8B-B14F-4D97-AF65-F5344CB8AC3E}">
        <p14:creationId xmlns:p14="http://schemas.microsoft.com/office/powerpoint/2010/main" val="2585623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9BA66-2DEE-0881-1973-A744B990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8BCA-DA4C-AF86-25B3-000A25117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An average NT patient touches 7 HCPs before ever receiving a diagnosis, but only 2 of these interactions are through referrals and the journey doesn't simplify after</a:t>
            </a:r>
            <a:endParaRPr lang="en-US" sz="20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B663D-7C8A-92EF-D10C-85464E0909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C05DD4B-9CEF-E71B-4AF6-D10E7E9B2F6A}"/>
              </a:ext>
            </a:extLst>
          </p:cNvPr>
          <p:cNvCxnSpPr>
            <a:cxnSpLocks/>
          </p:cNvCxnSpPr>
          <p:nvPr/>
        </p:nvCxnSpPr>
        <p:spPr>
          <a:xfrm>
            <a:off x="300038" y="3013830"/>
            <a:ext cx="11591925" cy="0"/>
          </a:xfrm>
          <a:prstGeom prst="straightConnector1">
            <a:avLst/>
          </a:prstGeom>
          <a:ln w="57150" cap="rnd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D0DB242-4B96-4BBE-C8A7-C4E03D1563D5}"/>
              </a:ext>
            </a:extLst>
          </p:cNvPr>
          <p:cNvSpPr/>
          <p:nvPr/>
        </p:nvSpPr>
        <p:spPr>
          <a:xfrm>
            <a:off x="718361" y="2909055"/>
            <a:ext cx="209550" cy="2095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E12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89A134-0575-CE81-9D22-6041B7E0A6D7}"/>
              </a:ext>
            </a:extLst>
          </p:cNvPr>
          <p:cNvSpPr/>
          <p:nvPr/>
        </p:nvSpPr>
        <p:spPr>
          <a:xfrm>
            <a:off x="68009" y="3272008"/>
            <a:ext cx="1510255" cy="685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~49.8k patients 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Recently</a:t>
            </a:r>
            <a:r>
              <a:rPr lang="en-US" sz="1200" baseline="30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diagnosed and managed for NT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FBE92B-D87F-7E66-2723-D5ABBDB37D88}"/>
              </a:ext>
            </a:extLst>
          </p:cNvPr>
          <p:cNvSpPr/>
          <p:nvPr/>
        </p:nvSpPr>
        <p:spPr>
          <a:xfrm>
            <a:off x="2788019" y="2909055"/>
            <a:ext cx="209550" cy="2095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E12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878FF5-2ACA-BBB6-35B2-875CD2588A3E}"/>
              </a:ext>
            </a:extLst>
          </p:cNvPr>
          <p:cNvSpPr/>
          <p:nvPr/>
        </p:nvSpPr>
        <p:spPr>
          <a:xfrm>
            <a:off x="1895051" y="3272008"/>
            <a:ext cx="1995487" cy="685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~32.7k patients </a:t>
            </a:r>
          </a:p>
          <a:p>
            <a:pPr algn="ctr"/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Received at least one referral in their entire journey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B72CAB-DFCC-2FA6-B2B2-C4D5602F6164}"/>
              </a:ext>
            </a:extLst>
          </p:cNvPr>
          <p:cNvGrpSpPr/>
          <p:nvPr/>
        </p:nvGrpSpPr>
        <p:grpSpPr>
          <a:xfrm>
            <a:off x="3890526" y="3042404"/>
            <a:ext cx="8001414" cy="536575"/>
            <a:chOff x="6110548" y="2800349"/>
            <a:chExt cx="5781415" cy="536575"/>
          </a:xfrm>
        </p:grpSpPr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A28DCA0F-7184-93C0-44BA-67382EBE875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967673" y="2943224"/>
              <a:ext cx="536575" cy="250825"/>
            </a:xfrm>
            <a:prstGeom prst="curvedConnector3">
              <a:avLst>
                <a:gd name="adj1" fmla="val 99704"/>
              </a:avLst>
            </a:prstGeom>
            <a:ln w="571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D30F3A3-D58A-2767-CC79-0A2F068A84BD}"/>
                </a:ext>
              </a:extLst>
            </p:cNvPr>
            <p:cNvCxnSpPr>
              <a:cxnSpLocks/>
            </p:cNvCxnSpPr>
            <p:nvPr/>
          </p:nvCxnSpPr>
          <p:spPr>
            <a:xfrm>
              <a:off x="6235960" y="3336924"/>
              <a:ext cx="5656003" cy="0"/>
            </a:xfrm>
            <a:prstGeom prst="straightConnector1">
              <a:avLst/>
            </a:prstGeom>
            <a:ln w="57150" cap="rnd">
              <a:solidFill>
                <a:schemeClr val="accent1">
                  <a:lumMod val="40000"/>
                  <a:lumOff val="6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8EF0068-5B72-F139-ABA5-70C32325A6B2}"/>
              </a:ext>
            </a:extLst>
          </p:cNvPr>
          <p:cNvSpPr/>
          <p:nvPr/>
        </p:nvSpPr>
        <p:spPr>
          <a:xfrm>
            <a:off x="3941337" y="1440602"/>
            <a:ext cx="4109289" cy="94078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~1 referrals/patient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13.4k patients received 18.2k referrals involving 23.7k HCPs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~8 HCPs Visited by a patient before receiving an NT diagnosis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A8433FD-3A50-4540-5FD7-A3C3178F023B}"/>
              </a:ext>
            </a:extLst>
          </p:cNvPr>
          <p:cNvGrpSpPr/>
          <p:nvPr/>
        </p:nvGrpSpPr>
        <p:grpSpPr>
          <a:xfrm>
            <a:off x="3993391" y="951206"/>
            <a:ext cx="4171993" cy="426894"/>
            <a:chOff x="-6266" y="3696091"/>
            <a:chExt cx="1707243" cy="568195"/>
          </a:xfrm>
        </p:grpSpPr>
        <p:sp>
          <p:nvSpPr>
            <p:cNvPr id="40" name="Title 1">
              <a:extLst>
                <a:ext uri="{FF2B5EF4-FFF2-40B4-BE49-F238E27FC236}">
                  <a16:creationId xmlns:a16="http://schemas.microsoft.com/office/drawing/2014/main" id="{3ABA9C7F-83E4-20E9-1676-3E1C61D591B0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Title 1">
              <a:extLst>
                <a:ext uri="{FF2B5EF4-FFF2-40B4-BE49-F238E27FC236}">
                  <a16:creationId xmlns:a16="http://schemas.microsoft.com/office/drawing/2014/main" id="{E8CF52D2-982C-A646-4762-DE3582B8E771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Pre-Diagnosis Journey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408B7EC-EFF0-EA33-C095-542D35CCEB41}"/>
              </a:ext>
            </a:extLst>
          </p:cNvPr>
          <p:cNvGrpSpPr/>
          <p:nvPr/>
        </p:nvGrpSpPr>
        <p:grpSpPr>
          <a:xfrm>
            <a:off x="8401289" y="4700342"/>
            <a:ext cx="3360398" cy="426894"/>
            <a:chOff x="-6266" y="3696091"/>
            <a:chExt cx="1707243" cy="568195"/>
          </a:xfrm>
        </p:grpSpPr>
        <p:sp>
          <p:nvSpPr>
            <p:cNvPr id="49" name="Title 1">
              <a:extLst>
                <a:ext uri="{FF2B5EF4-FFF2-40B4-BE49-F238E27FC236}">
                  <a16:creationId xmlns:a16="http://schemas.microsoft.com/office/drawing/2014/main" id="{44290938-3E89-EA44-D5E0-CCCF0079069A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Title 1">
              <a:extLst>
                <a:ext uri="{FF2B5EF4-FFF2-40B4-BE49-F238E27FC236}">
                  <a16:creationId xmlns:a16="http://schemas.microsoft.com/office/drawing/2014/main" id="{200DCAFE-E413-98B7-B273-C3C3629C7DD3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Post-Diagnosis Journey</a:t>
              </a:r>
              <a:endPara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84A0183A-7154-7503-849A-4CDD15591B83}"/>
              </a:ext>
            </a:extLst>
          </p:cNvPr>
          <p:cNvSpPr/>
          <p:nvPr/>
        </p:nvSpPr>
        <p:spPr>
          <a:xfrm>
            <a:off x="5250469" y="2909055"/>
            <a:ext cx="209550" cy="209550"/>
          </a:xfrm>
          <a:prstGeom prst="ellipse">
            <a:avLst/>
          </a:prstGeom>
          <a:solidFill>
            <a:schemeClr val="bg1"/>
          </a:solidFill>
          <a:ln w="28575">
            <a:solidFill>
              <a:srgbClr val="E124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FC402E1-D540-6EFF-5976-EBA65ED97623}"/>
              </a:ext>
            </a:extLst>
          </p:cNvPr>
          <p:cNvSpPr/>
          <p:nvPr/>
        </p:nvSpPr>
        <p:spPr>
          <a:xfrm>
            <a:off x="1117" y="5586303"/>
            <a:ext cx="12190881" cy="1271689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With ~8 HCP touchpoints but only ~2 formal referrals pre-diagnosis, most patient movement through the system is self-directed rather than coordinated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More patients enter the formal referral network post-diagnosis than pre, suggesting that NT diagnosis acts as a trigger for structured care coordination. However, that alone doesn’t resolve care fragmentation</a:t>
            </a:r>
          </a:p>
          <a:p>
            <a:pPr>
              <a:spcBef>
                <a:spcPts val="600"/>
              </a:spcBef>
            </a:pPr>
            <a:r>
              <a:rPr lang="en-US" sz="1200" b="1">
                <a:solidFill>
                  <a:schemeClr val="accent1"/>
                </a:solidFill>
                <a:cs typeface="Arial" panose="020B0604020202020204" pitchFamily="34" charset="0"/>
              </a:rPr>
              <a:t>These high interaction but low referrals indicate that NT patients are being missed, misattributed, or deferred across specialties in their NT journey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90EE9CC-595F-979A-A7E8-9694E60B52F8}"/>
              </a:ext>
            </a:extLst>
          </p:cNvPr>
          <p:cNvGrpSpPr/>
          <p:nvPr/>
        </p:nvGrpSpPr>
        <p:grpSpPr>
          <a:xfrm>
            <a:off x="1113" y="5280485"/>
            <a:ext cx="5795965" cy="319265"/>
            <a:chOff x="0" y="2140992"/>
            <a:chExt cx="2880042" cy="34718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065803F-7654-8C59-4D57-459801837686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5D7003B-5531-C2AC-C6D1-06106E0562EC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C1C977-6DCD-1ECD-1696-E233B73D5D89}"/>
              </a:ext>
            </a:extLst>
          </p:cNvPr>
          <p:cNvCxnSpPr/>
          <p:nvPr/>
        </p:nvCxnSpPr>
        <p:spPr>
          <a:xfrm>
            <a:off x="3890538" y="1691338"/>
            <a:ext cx="0" cy="338281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AA6217-A76C-0A80-DEBD-913F1769E108}"/>
              </a:ext>
            </a:extLst>
          </p:cNvPr>
          <p:cNvCxnSpPr/>
          <p:nvPr/>
        </p:nvCxnSpPr>
        <p:spPr>
          <a:xfrm>
            <a:off x="8165387" y="1691338"/>
            <a:ext cx="0" cy="338281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F3F8CD8-5EAF-5F47-56E1-4DFAC889C783}"/>
              </a:ext>
            </a:extLst>
          </p:cNvPr>
          <p:cNvGrpSpPr/>
          <p:nvPr/>
        </p:nvGrpSpPr>
        <p:grpSpPr>
          <a:xfrm flipV="1">
            <a:off x="3890538" y="2461785"/>
            <a:ext cx="1438357" cy="536575"/>
            <a:chOff x="6110548" y="2800349"/>
            <a:chExt cx="1438357" cy="536575"/>
          </a:xfrm>
        </p:grpSpPr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DD746B55-F812-A8FE-41AF-45B5A82B80C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967673" y="2943224"/>
              <a:ext cx="536575" cy="250825"/>
            </a:xfrm>
            <a:prstGeom prst="curvedConnector3">
              <a:avLst>
                <a:gd name="adj1" fmla="val 99704"/>
              </a:avLst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E1D38D1-97F1-5E17-C56A-ED75AE014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5960" y="3336924"/>
              <a:ext cx="1312945" cy="0"/>
            </a:xfrm>
            <a:prstGeom prst="straightConnector1">
              <a:avLst/>
            </a:prstGeom>
            <a:ln w="57150" cap="rnd">
              <a:solidFill>
                <a:schemeClr val="accent1">
                  <a:lumMod val="7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88795CC-B4F9-AF57-1089-F489EF97D28E}"/>
              </a:ext>
            </a:extLst>
          </p:cNvPr>
          <p:cNvSpPr/>
          <p:nvPr/>
        </p:nvSpPr>
        <p:spPr>
          <a:xfrm>
            <a:off x="5499302" y="2549254"/>
            <a:ext cx="2551333" cy="940783"/>
          </a:xfrm>
          <a:prstGeom prst="rect">
            <a:avLst/>
          </a:prstGeom>
          <a:solidFill>
            <a:srgbClr val="E1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~2 referrals/patient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12.9k patients received 20.5k referrals involving 25.7k HCPs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~4 HCPs Visited by a patient before receiving an NT diagnosis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041F0D-890A-969F-7EB9-ABB6C1478510}"/>
              </a:ext>
            </a:extLst>
          </p:cNvPr>
          <p:cNvSpPr/>
          <p:nvPr/>
        </p:nvSpPr>
        <p:spPr>
          <a:xfrm>
            <a:off x="8401287" y="2549254"/>
            <a:ext cx="3360405" cy="940783"/>
          </a:xfrm>
          <a:prstGeom prst="rect">
            <a:avLst/>
          </a:prstGeom>
          <a:solidFill>
            <a:srgbClr val="E1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~2 referrals/patient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12.9k patients received 22.8k referrals involving 26.4k HCPs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~5 HCPs Visited by a patient after receiving an NT diagnosis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04494D-9AC4-F692-28C4-D3B281CF5C11}"/>
              </a:ext>
            </a:extLst>
          </p:cNvPr>
          <p:cNvSpPr/>
          <p:nvPr/>
        </p:nvSpPr>
        <p:spPr>
          <a:xfrm>
            <a:off x="8401289" y="3718414"/>
            <a:ext cx="3360399" cy="940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~1 referrals/patient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6.3k patients received 9.4k referrals involving 13k HCPs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~5 HCPs Visited by a patient after receiving an NT diagnosis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4A8AC92-8282-03E2-A31A-58343F1569A8}"/>
              </a:ext>
            </a:extLst>
          </p:cNvPr>
          <p:cNvSpPr txBox="1">
            <a:spLocks/>
          </p:cNvSpPr>
          <p:nvPr/>
        </p:nvSpPr>
        <p:spPr>
          <a:xfrm>
            <a:off x="606078" y="6651476"/>
            <a:ext cx="6968348" cy="205613"/>
          </a:xfrm>
          <a:prstGeom prst="rect">
            <a:avLst/>
          </a:prstGeom>
        </p:spPr>
        <p:txBody>
          <a:bodyPr vert="horz" wrap="none" lIns="0" tIns="0" rIns="0" bIns="72000" numCol="1" rtlCol="0" anchor="ctr">
            <a:noAutofit/>
          </a:bodyPr>
          <a:lstStyle>
            <a:lvl1pPr marL="0" indent="0" algn="l" defTabSz="914150" rtl="0" eaLnBrk="1" latinLnBrk="0" hangingPunct="1">
              <a:lnSpc>
                <a:spcPts val="1600"/>
              </a:lnSpc>
              <a:spcBef>
                <a:spcPts val="0"/>
              </a:spcBef>
              <a:spcAft>
                <a:spcPts val="600"/>
              </a:spcAft>
              <a:buClr>
                <a:srgbClr val="4C4948"/>
              </a:buClr>
              <a:buFont typeface="Arial" panose="020B0604020202020204" pitchFamily="34" charset="0"/>
              <a:buNone/>
              <a:defRPr kumimoji="1" sz="800" b="0" i="0" kern="1200" baseline="0">
                <a:solidFill>
                  <a:schemeClr val="accent3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1pPr>
            <a:lvl2pPr marL="457068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2pPr>
            <a:lvl3pPr marL="91414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3pPr>
            <a:lvl4pPr marL="1371219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4pPr>
            <a:lvl5pPr marL="1828290" indent="0" algn="l" defTabSz="914150" rtl="0" eaLnBrk="1" latinLnBrk="0" hangingPunct="1">
              <a:lnSpc>
                <a:spcPts val="1800"/>
              </a:lnSpc>
              <a:spcBef>
                <a:spcPts val="0"/>
              </a:spcBef>
              <a:buClr>
                <a:srgbClr val="4C4948"/>
              </a:buClr>
              <a:buFont typeface="Arial" pitchFamily="34" charset="0"/>
              <a:buNone/>
              <a:defRPr kumimoji="1" sz="1400" b="0" i="0" kern="1200" baseline="0">
                <a:solidFill>
                  <a:schemeClr val="tx1"/>
                </a:solidFill>
                <a:latin typeface="Calibri" panose="020F0502020204030204" pitchFamily="34" charset="0"/>
                <a:ea typeface="メイリオ" pitchFamily="50" charset="-128"/>
                <a:cs typeface="Calibri" pitchFamily="34" charset="0"/>
              </a:defRPr>
            </a:lvl5pPr>
            <a:lvl6pPr marL="2513910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86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061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142" indent="-228541" algn="l" defTabSz="91415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* Patients receiving their first NT diagnosis in 2022-2025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1A391CA-C98E-D839-892C-A45C92917459}"/>
              </a:ext>
            </a:extLst>
          </p:cNvPr>
          <p:cNvGrpSpPr/>
          <p:nvPr/>
        </p:nvGrpSpPr>
        <p:grpSpPr>
          <a:xfrm>
            <a:off x="87995" y="4593676"/>
            <a:ext cx="3283855" cy="203874"/>
            <a:chOff x="87995" y="4593676"/>
            <a:chExt cx="3283855" cy="20387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C26E042-7068-B045-90A7-DD2B2A4F28F6}"/>
                </a:ext>
              </a:extLst>
            </p:cNvPr>
            <p:cNvSpPr/>
            <p:nvPr/>
          </p:nvSpPr>
          <p:spPr>
            <a:xfrm>
              <a:off x="280502" y="4593676"/>
              <a:ext cx="3091348" cy="203874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/>
            <a:lstStyle/>
            <a:p>
              <a:r>
                <a:rPr kumimoji="1" lang="en-US" sz="800"/>
                <a:t>Patients with referrals only pre-diagnosis: 40% of referred patients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D27CC4-A75C-0A76-D060-406F213E83F3}"/>
                </a:ext>
              </a:extLst>
            </p:cNvPr>
            <p:cNvSpPr/>
            <p:nvPr/>
          </p:nvSpPr>
          <p:spPr>
            <a:xfrm>
              <a:off x="87995" y="4616697"/>
              <a:ext cx="192055" cy="157833"/>
            </a:xfrm>
            <a:prstGeom prst="rect">
              <a:avLst/>
            </a:prstGeom>
            <a:solidFill>
              <a:srgbClr val="AC181C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DCB915-78BA-0B34-C185-6F17F7FFD7A4}"/>
              </a:ext>
            </a:extLst>
          </p:cNvPr>
          <p:cNvGrpSpPr/>
          <p:nvPr/>
        </p:nvGrpSpPr>
        <p:grpSpPr>
          <a:xfrm>
            <a:off x="87995" y="4821874"/>
            <a:ext cx="3802530" cy="203874"/>
            <a:chOff x="87995" y="4835142"/>
            <a:chExt cx="3802530" cy="20387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6D760D-5CDC-427A-7AE4-F2ABE92B9CDB}"/>
                </a:ext>
              </a:extLst>
            </p:cNvPr>
            <p:cNvSpPr/>
            <p:nvPr/>
          </p:nvSpPr>
          <p:spPr>
            <a:xfrm>
              <a:off x="280502" y="4835142"/>
              <a:ext cx="3610023" cy="203874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/>
            <a:lstStyle/>
            <a:p>
              <a:r>
                <a:rPr kumimoji="1" lang="en-US" sz="800"/>
                <a:t>Patients with referrals both pre and post diagnosis: 39% of referred patients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8E4A72B-15D2-DD1B-4FAC-B9FEFFA42AC9}"/>
                </a:ext>
              </a:extLst>
            </p:cNvPr>
            <p:cNvSpPr/>
            <p:nvPr/>
          </p:nvSpPr>
          <p:spPr>
            <a:xfrm>
              <a:off x="87995" y="4858163"/>
              <a:ext cx="192055" cy="157833"/>
            </a:xfrm>
            <a:prstGeom prst="rect">
              <a:avLst/>
            </a:prstGeom>
            <a:solidFill>
              <a:srgbClr val="E11E24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FB13AD6-EB7C-48F6-5F42-52E7970C6095}"/>
              </a:ext>
            </a:extLst>
          </p:cNvPr>
          <p:cNvGrpSpPr/>
          <p:nvPr/>
        </p:nvGrpSpPr>
        <p:grpSpPr>
          <a:xfrm>
            <a:off x="87995" y="5050073"/>
            <a:ext cx="3802529" cy="203874"/>
            <a:chOff x="87995" y="4835142"/>
            <a:chExt cx="3802529" cy="20387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6C3C396-50D6-E778-1F03-52251E57DF02}"/>
                </a:ext>
              </a:extLst>
            </p:cNvPr>
            <p:cNvSpPr/>
            <p:nvPr/>
          </p:nvSpPr>
          <p:spPr>
            <a:xfrm>
              <a:off x="280502" y="4835142"/>
              <a:ext cx="3610022" cy="203874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/>
            <a:lstStyle/>
            <a:p>
              <a:r>
                <a:rPr kumimoji="1" lang="en-US" sz="800"/>
                <a:t>Patients with referrals only post-diagnosis: : 19% of referred patients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24BAB9D-0D19-5BA4-C545-A1988C66C336}"/>
                </a:ext>
              </a:extLst>
            </p:cNvPr>
            <p:cNvSpPr/>
            <p:nvPr/>
          </p:nvSpPr>
          <p:spPr>
            <a:xfrm>
              <a:off x="87995" y="4858163"/>
              <a:ext cx="192055" cy="157833"/>
            </a:xfrm>
            <a:prstGeom prst="rect">
              <a:avLst/>
            </a:prstGeom>
            <a:solidFill>
              <a:srgbClr val="F9D3D4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67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2" grpId="0" animBg="1"/>
      <p:bldP spid="23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5AF05-27C8-2381-1E74-69505364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37EF-AE2D-72BA-F0D4-16E34AD0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These metrics together help identify who receives patients, redirects them, ensures correct routing, and drives overall influence in the referral network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3ADD9D-8A88-7D43-85D6-231F16181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564366"/>
              </p:ext>
            </p:extLst>
          </p:nvPr>
        </p:nvGraphicFramePr>
        <p:xfrm>
          <a:off x="300037" y="1233488"/>
          <a:ext cx="11591926" cy="426119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07986">
                  <a:extLst>
                    <a:ext uri="{9D8B030D-6E8A-4147-A177-3AD203B41FA5}">
                      <a16:colId xmlns:a16="http://schemas.microsoft.com/office/drawing/2014/main" val="2768715004"/>
                    </a:ext>
                  </a:extLst>
                </a:gridCol>
                <a:gridCol w="4691970">
                  <a:extLst>
                    <a:ext uri="{9D8B030D-6E8A-4147-A177-3AD203B41FA5}">
                      <a16:colId xmlns:a16="http://schemas.microsoft.com/office/drawing/2014/main" val="2624041268"/>
                    </a:ext>
                  </a:extLst>
                </a:gridCol>
                <a:gridCol w="4691970">
                  <a:extLst>
                    <a:ext uri="{9D8B030D-6E8A-4147-A177-3AD203B41FA5}">
                      <a16:colId xmlns:a16="http://schemas.microsoft.com/office/drawing/2014/main" val="58347247"/>
                    </a:ext>
                  </a:extLst>
                </a:gridCol>
              </a:tblGrid>
              <a:tr h="420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  <a:latin typeface="+mn-lt"/>
                        </a:rPr>
                        <a:t>Metric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Definition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Business Implication</a:t>
                      </a:r>
                      <a:endParaRPr lang="en-IN" sz="14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80891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Weighted Indegree</a:t>
                      </a:r>
                    </a:p>
                  </a:txBody>
                  <a:tcPr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volume of patients being referred into an HCP, exponentially adjusted for the recency of such interaction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 high indegree HCP is a destination others consistently route patients toward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16893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Weighted Outdegree</a:t>
                      </a:r>
                    </a:p>
                  </a:txBody>
                  <a:tcPr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volume of patients an HCP refers out, exponentially adjusted for the recency of such interaction</a:t>
                      </a: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 outdegree HCPs are coordinators who are actively moving patients forward in the care journey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30393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Betweenness Subset Centrality</a:t>
                      </a:r>
                    </a:p>
                  </a:txBody>
                  <a:tcPr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How often an HCP sits on the path between two other HCPs who wouldn't otherwise be connected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Highest-leverage engagement targets acting as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bridges of the network 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51227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PageRank</a:t>
                      </a:r>
                    </a:p>
                  </a:txBody>
                  <a:tcPr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Not just how many referrals an HCP receives, but how important the HCPs sending those referrals 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It measures influence by the quality of who endorses you beyond how many patients are being referred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96409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Leiden Community Detection</a:t>
                      </a:r>
                    </a:p>
                  </a:txBody>
                  <a:tcPr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Identifies naturally occurring, well-separated clusters (communities) of HCPs who refer amongst themselves more than they refer outside their group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Each community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indicates where patient care is self-contained within a tight-knit group versus where it flows across broader networks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01239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Absorbing Markov Chains</a:t>
                      </a:r>
                    </a:p>
                  </a:txBody>
                  <a:tcPr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Maps the referral journey as a series of probabilistic steps, identifying which HCPs patients eventually landed 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Identifies which HCPs are more likely to provide a referrals leading to misdiagnosis or mismanagement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635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7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812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5E5D-C6ED-814B-777D-FF2E3776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CFE205-EBAE-EA72-AD80-0D5A79007893}"/>
              </a:ext>
            </a:extLst>
          </p:cNvPr>
          <p:cNvCxnSpPr>
            <a:stCxn id="5" idx="1"/>
          </p:cNvCxnSpPr>
          <p:nvPr/>
        </p:nvCxnSpPr>
        <p:spPr>
          <a:xfrm flipV="1">
            <a:off x="687410" y="2020371"/>
            <a:ext cx="10894990" cy="1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45F3BA94-8413-8485-1B99-D682CD305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03" y="161605"/>
            <a:ext cx="9940253" cy="68580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j-lt"/>
              </a:rPr>
              <a:t>These HCP personas capture the distinct roles patients encounter as they navigate the NT1 referral network from initial symptoms to eventual treatment</a:t>
            </a:r>
          </a:p>
        </p:txBody>
      </p:sp>
      <p:sp>
        <p:nvSpPr>
          <p:cNvPr id="39" name="Slide Number Placeholder 4">
            <a:extLst>
              <a:ext uri="{FF2B5EF4-FFF2-40B4-BE49-F238E27FC236}">
                <a16:creationId xmlns:a16="http://schemas.microsoft.com/office/drawing/2014/main" id="{3FFA458A-F23A-4E01-E5A6-DCB8A32D9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</p:spPr>
        <p:txBody>
          <a:bodyPr/>
          <a:lstStyle/>
          <a:p>
            <a:pPr defTabSz="1218810"/>
            <a:fld id="{E9B57936-92EF-4126-AE48-1D9D36D15E98}" type="slidenum">
              <a:rPr lang="ja-JP" altLang="en-US" smtClean="0"/>
              <a:pPr defTabSz="1218810"/>
              <a:t>6</a:t>
            </a:fld>
            <a:endParaRPr lang="ja-JP" alt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412E9D-1CCC-EFEB-2E68-89FB7FF39D4B}"/>
              </a:ext>
            </a:extLst>
          </p:cNvPr>
          <p:cNvSpPr/>
          <p:nvPr/>
        </p:nvSpPr>
        <p:spPr>
          <a:xfrm>
            <a:off x="606078" y="6417980"/>
            <a:ext cx="6507092" cy="266657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t"/>
          <a:lstStyle/>
          <a:p>
            <a:r>
              <a:rPr kumimoji="1" lang="en-US" sz="800"/>
              <a:t>A single HCP can have multiple personas; However, for a 1:1 tagging we have used the one they most often showcase</a:t>
            </a:r>
          </a:p>
          <a:p>
            <a:r>
              <a:rPr kumimoji="1" lang="en-US" sz="800"/>
              <a:t>All interacted patient volumes are based on the identified NT patient cohort throughout their journey, including pre-diagnosis </a:t>
            </a:r>
          </a:p>
          <a:p>
            <a:r>
              <a:rPr kumimoji="1" lang="en-US" sz="800"/>
              <a:t>All insights shown here are interim and subject to change post validation across all the dependent KBQs currently under analysis</a:t>
            </a:r>
          </a:p>
        </p:txBody>
      </p:sp>
      <p:sp>
        <p:nvSpPr>
          <p:cNvPr id="5" name="Pentagon 3">
            <a:extLst>
              <a:ext uri="{FF2B5EF4-FFF2-40B4-BE49-F238E27FC236}">
                <a16:creationId xmlns:a16="http://schemas.microsoft.com/office/drawing/2014/main" id="{D030EDDE-E88F-4B61-545F-AFF67F6DB381}"/>
              </a:ext>
            </a:extLst>
          </p:cNvPr>
          <p:cNvSpPr/>
          <p:nvPr/>
        </p:nvSpPr>
        <p:spPr>
          <a:xfrm>
            <a:off x="687410" y="1887042"/>
            <a:ext cx="2039674" cy="26665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Super Referrers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DBD0C05-65B6-4B63-0A5B-FEC41E2755B8}"/>
              </a:ext>
            </a:extLst>
          </p:cNvPr>
          <p:cNvSpPr txBox="1">
            <a:spLocks/>
          </p:cNvSpPr>
          <p:nvPr/>
        </p:nvSpPr>
        <p:spPr>
          <a:xfrm>
            <a:off x="783672" y="2192095"/>
            <a:ext cx="1847149" cy="72160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750"/>
              </a:lnSpc>
            </a:pPr>
            <a:r>
              <a:rPr lang="en-US" sz="12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HCPs actively </a:t>
            </a:r>
            <a:r>
              <a:rPr lang="en-US" sz="1200" b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redirecting patients to other HCPs</a:t>
            </a:r>
            <a:r>
              <a:rPr lang="en-US" sz="12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rPr>
              <a:t> in their referral network</a:t>
            </a:r>
            <a:endParaRPr lang="en-US" sz="1200" noProof="0">
              <a:solidFill>
                <a:schemeClr val="tx1"/>
              </a:solidFill>
              <a:latin typeface="+mj-lt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AF19045-3A7C-C323-E273-FDDCA8CB69AE}"/>
              </a:ext>
            </a:extLst>
          </p:cNvPr>
          <p:cNvGrpSpPr/>
          <p:nvPr/>
        </p:nvGrpSpPr>
        <p:grpSpPr>
          <a:xfrm>
            <a:off x="1464931" y="1235641"/>
            <a:ext cx="484632" cy="484631"/>
            <a:chOff x="10962044" y="4875330"/>
            <a:chExt cx="338329" cy="338059"/>
          </a:xfrm>
          <a:solidFill>
            <a:srgbClr val="002060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5C1FC37-9F97-32E2-E9C1-234791B36A9C}"/>
                </a:ext>
              </a:extLst>
            </p:cNvPr>
            <p:cNvSpPr/>
            <p:nvPr/>
          </p:nvSpPr>
          <p:spPr>
            <a:xfrm>
              <a:off x="10962044" y="4956914"/>
              <a:ext cx="208190" cy="256475"/>
            </a:xfrm>
            <a:custGeom>
              <a:avLst/>
              <a:gdLst>
                <a:gd name="connsiteX0" fmla="*/ 1567960 w 2326195"/>
                <a:gd name="connsiteY0" fmla="*/ 1192881 h 2865702"/>
                <a:gd name="connsiteX1" fmla="*/ 1626748 w 2326195"/>
                <a:gd name="connsiteY1" fmla="*/ 1095398 h 2865702"/>
                <a:gd name="connsiteX2" fmla="*/ 1628981 w 2326195"/>
                <a:gd name="connsiteY2" fmla="*/ 1090933 h 2865702"/>
                <a:gd name="connsiteX3" fmla="*/ 1658002 w 2326195"/>
                <a:gd name="connsiteY3" fmla="*/ 1033634 h 2865702"/>
                <a:gd name="connsiteX4" fmla="*/ 1670651 w 2326195"/>
                <a:gd name="connsiteY4" fmla="*/ 1005356 h 2865702"/>
                <a:gd name="connsiteX5" fmla="*/ 1687022 w 2326195"/>
                <a:gd name="connsiteY5" fmla="*/ 967405 h 2865702"/>
                <a:gd name="connsiteX6" fmla="*/ 1704884 w 2326195"/>
                <a:gd name="connsiteY6" fmla="*/ 920523 h 2865702"/>
                <a:gd name="connsiteX7" fmla="*/ 1713814 w 2326195"/>
                <a:gd name="connsiteY7" fmla="*/ 896710 h 2865702"/>
                <a:gd name="connsiteX8" fmla="*/ 1730929 w 2326195"/>
                <a:gd name="connsiteY8" fmla="*/ 840155 h 2865702"/>
                <a:gd name="connsiteX9" fmla="*/ 1736137 w 2326195"/>
                <a:gd name="connsiteY9" fmla="*/ 823040 h 2865702"/>
                <a:gd name="connsiteX10" fmla="*/ 1749533 w 2326195"/>
                <a:gd name="connsiteY10" fmla="*/ 764999 h 2865702"/>
                <a:gd name="connsiteX11" fmla="*/ 1753252 w 2326195"/>
                <a:gd name="connsiteY11" fmla="*/ 748627 h 2865702"/>
                <a:gd name="connsiteX12" fmla="*/ 1761439 w 2326195"/>
                <a:gd name="connsiteY12" fmla="*/ 692071 h 2865702"/>
                <a:gd name="connsiteX13" fmla="*/ 1763672 w 2326195"/>
                <a:gd name="connsiteY13" fmla="*/ 675700 h 2865702"/>
                <a:gd name="connsiteX14" fmla="*/ 1767391 w 2326195"/>
                <a:gd name="connsiteY14" fmla="*/ 607238 h 2865702"/>
                <a:gd name="connsiteX15" fmla="*/ 1160153 w 2326195"/>
                <a:gd name="connsiteY15" fmla="*/ 0 h 2865702"/>
                <a:gd name="connsiteX16" fmla="*/ 552915 w 2326195"/>
                <a:gd name="connsiteY16" fmla="*/ 607238 h 2865702"/>
                <a:gd name="connsiteX17" fmla="*/ 556637 w 2326195"/>
                <a:gd name="connsiteY17" fmla="*/ 675700 h 2865702"/>
                <a:gd name="connsiteX18" fmla="*/ 558870 w 2326195"/>
                <a:gd name="connsiteY18" fmla="*/ 693561 h 2865702"/>
                <a:gd name="connsiteX19" fmla="*/ 567054 w 2326195"/>
                <a:gd name="connsiteY19" fmla="*/ 748627 h 2865702"/>
                <a:gd name="connsiteX20" fmla="*/ 570776 w 2326195"/>
                <a:gd name="connsiteY20" fmla="*/ 767231 h 2865702"/>
                <a:gd name="connsiteX21" fmla="*/ 583425 w 2326195"/>
                <a:gd name="connsiteY21" fmla="*/ 823040 h 2865702"/>
                <a:gd name="connsiteX22" fmla="*/ 589377 w 2326195"/>
                <a:gd name="connsiteY22" fmla="*/ 843130 h 2865702"/>
                <a:gd name="connsiteX23" fmla="*/ 605748 w 2326195"/>
                <a:gd name="connsiteY23" fmla="*/ 896706 h 2865702"/>
                <a:gd name="connsiteX24" fmla="*/ 614679 w 2326195"/>
                <a:gd name="connsiteY24" fmla="*/ 922752 h 2865702"/>
                <a:gd name="connsiteX25" fmla="*/ 631793 w 2326195"/>
                <a:gd name="connsiteY25" fmla="*/ 968144 h 2865702"/>
                <a:gd name="connsiteX26" fmla="*/ 648165 w 2326195"/>
                <a:gd name="connsiteY26" fmla="*/ 1005349 h 2865702"/>
                <a:gd name="connsiteX27" fmla="*/ 661561 w 2326195"/>
                <a:gd name="connsiteY27" fmla="*/ 1034373 h 2865702"/>
                <a:gd name="connsiteX28" fmla="*/ 689092 w 2326195"/>
                <a:gd name="connsiteY28" fmla="*/ 1088696 h 2865702"/>
                <a:gd name="connsiteX29" fmla="*/ 692814 w 2326195"/>
                <a:gd name="connsiteY29" fmla="*/ 1095394 h 2865702"/>
                <a:gd name="connsiteX30" fmla="*/ 752346 w 2326195"/>
                <a:gd name="connsiteY30" fmla="*/ 1193616 h 2865702"/>
                <a:gd name="connsiteX31" fmla="*/ 2232 w 2326195"/>
                <a:gd name="connsiteY31" fmla="*/ 2123066 h 2865702"/>
                <a:gd name="connsiteX32" fmla="*/ 0 w 2326195"/>
                <a:gd name="connsiteY32" fmla="*/ 2190038 h 2865702"/>
                <a:gd name="connsiteX33" fmla="*/ 0 w 2326195"/>
                <a:gd name="connsiteY33" fmla="*/ 2865703 h 2865702"/>
                <a:gd name="connsiteX34" fmla="*/ 2326196 w 2326195"/>
                <a:gd name="connsiteY34" fmla="*/ 2865703 h 2865702"/>
                <a:gd name="connsiteX35" fmla="*/ 2326196 w 2326195"/>
                <a:gd name="connsiteY35" fmla="*/ 2190038 h 2865702"/>
                <a:gd name="connsiteX36" fmla="*/ 2323963 w 2326195"/>
                <a:gd name="connsiteY36" fmla="*/ 2121576 h 2865702"/>
                <a:gd name="connsiteX37" fmla="*/ 1567907 w 2326195"/>
                <a:gd name="connsiteY37" fmla="*/ 1192888 h 2865702"/>
                <a:gd name="connsiteX38" fmla="*/ 1159414 w 2326195"/>
                <a:gd name="connsiteY38" fmla="*/ 122804 h 2865702"/>
                <a:gd name="connsiteX39" fmla="*/ 1644579 w 2326195"/>
                <a:gd name="connsiteY39" fmla="*/ 607969 h 2865702"/>
                <a:gd name="connsiteX40" fmla="*/ 1640857 w 2326195"/>
                <a:gd name="connsiteY40" fmla="*/ 670476 h 2865702"/>
                <a:gd name="connsiteX41" fmla="*/ 1637138 w 2326195"/>
                <a:gd name="connsiteY41" fmla="*/ 700244 h 2865702"/>
                <a:gd name="connsiteX42" fmla="*/ 1631930 w 2326195"/>
                <a:gd name="connsiteY42" fmla="*/ 732983 h 2865702"/>
                <a:gd name="connsiteX43" fmla="*/ 1623742 w 2326195"/>
                <a:gd name="connsiteY43" fmla="*/ 773910 h 2865702"/>
                <a:gd name="connsiteX44" fmla="*/ 1620024 w 2326195"/>
                <a:gd name="connsiteY44" fmla="*/ 789539 h 2865702"/>
                <a:gd name="connsiteX45" fmla="*/ 1565701 w 2326195"/>
                <a:gd name="connsiteY45" fmla="*/ 948042 h 2865702"/>
                <a:gd name="connsiteX46" fmla="*/ 1557513 w 2326195"/>
                <a:gd name="connsiteY46" fmla="*/ 966647 h 2865702"/>
                <a:gd name="connsiteX47" fmla="*/ 1538166 w 2326195"/>
                <a:gd name="connsiteY47" fmla="*/ 1006831 h 2865702"/>
                <a:gd name="connsiteX48" fmla="*/ 1521051 w 2326195"/>
                <a:gd name="connsiteY48" fmla="*/ 1039574 h 2865702"/>
                <a:gd name="connsiteX49" fmla="*/ 1505423 w 2326195"/>
                <a:gd name="connsiteY49" fmla="*/ 1067848 h 2865702"/>
                <a:gd name="connsiteX50" fmla="*/ 1419846 w 2326195"/>
                <a:gd name="connsiteY50" fmla="*/ 1188400 h 2865702"/>
                <a:gd name="connsiteX51" fmla="*/ 1160884 w 2326195"/>
                <a:gd name="connsiteY51" fmla="*/ 1337226 h 2865702"/>
                <a:gd name="connsiteX52" fmla="*/ 904155 w 2326195"/>
                <a:gd name="connsiteY52" fmla="*/ 1190629 h 2865702"/>
                <a:gd name="connsiteX53" fmla="*/ 776162 w 2326195"/>
                <a:gd name="connsiteY53" fmla="*/ 991198 h 2865702"/>
                <a:gd name="connsiteX54" fmla="*/ 773186 w 2326195"/>
                <a:gd name="connsiteY54" fmla="*/ 985247 h 2865702"/>
                <a:gd name="connsiteX55" fmla="*/ 741933 w 2326195"/>
                <a:gd name="connsiteY55" fmla="*/ 913810 h 2865702"/>
                <a:gd name="connsiteX56" fmla="*/ 740443 w 2326195"/>
                <a:gd name="connsiteY56" fmla="*/ 910834 h 2865702"/>
                <a:gd name="connsiteX57" fmla="*/ 713655 w 2326195"/>
                <a:gd name="connsiteY57" fmla="*/ 833445 h 2865702"/>
                <a:gd name="connsiteX58" fmla="*/ 712912 w 2326195"/>
                <a:gd name="connsiteY58" fmla="*/ 831955 h 2865702"/>
                <a:gd name="connsiteX59" fmla="*/ 695051 w 2326195"/>
                <a:gd name="connsiteY59" fmla="*/ 764240 h 2865702"/>
                <a:gd name="connsiteX60" fmla="*/ 690589 w 2326195"/>
                <a:gd name="connsiteY60" fmla="*/ 743403 h 2865702"/>
                <a:gd name="connsiteX61" fmla="*/ 682402 w 2326195"/>
                <a:gd name="connsiteY61" fmla="*/ 693546 h 2865702"/>
                <a:gd name="connsiteX62" fmla="*/ 679426 w 2326195"/>
                <a:gd name="connsiteY62" fmla="*/ 672713 h 2865702"/>
                <a:gd name="connsiteX63" fmla="*/ 675704 w 2326195"/>
                <a:gd name="connsiteY63" fmla="*/ 608716 h 2865702"/>
                <a:gd name="connsiteX64" fmla="*/ 1159383 w 2326195"/>
                <a:gd name="connsiteY64" fmla="*/ 122789 h 2865702"/>
                <a:gd name="connsiteX65" fmla="*/ 1325358 w 2326195"/>
                <a:gd name="connsiteY65" fmla="*/ 1416109 h 2865702"/>
                <a:gd name="connsiteX66" fmla="*/ 1159414 w 2326195"/>
                <a:gd name="connsiteY66" fmla="*/ 1844733 h 2865702"/>
                <a:gd name="connsiteX67" fmla="*/ 993469 w 2326195"/>
                <a:gd name="connsiteY67" fmla="*/ 1416870 h 2865702"/>
                <a:gd name="connsiteX68" fmla="*/ 1158667 w 2326195"/>
                <a:gd name="connsiteY68" fmla="*/ 1459287 h 2865702"/>
                <a:gd name="connsiteX69" fmla="*/ 1325354 w 2326195"/>
                <a:gd name="connsiteY69" fmla="*/ 1416128 h 2865702"/>
                <a:gd name="connsiteX70" fmla="*/ 2204173 w 2326195"/>
                <a:gd name="connsiteY70" fmla="*/ 2745151 h 2865702"/>
                <a:gd name="connsiteX71" fmla="*/ 122084 w 2326195"/>
                <a:gd name="connsiteY71" fmla="*/ 2745151 h 2865702"/>
                <a:gd name="connsiteX72" fmla="*/ 122084 w 2326195"/>
                <a:gd name="connsiteY72" fmla="*/ 2191520 h 2865702"/>
                <a:gd name="connsiteX73" fmla="*/ 123572 w 2326195"/>
                <a:gd name="connsiteY73" fmla="*/ 2131246 h 2865702"/>
                <a:gd name="connsiteX74" fmla="*/ 819356 w 2326195"/>
                <a:gd name="connsiteY74" fmla="*/ 1303752 h 2865702"/>
                <a:gd name="connsiteX75" fmla="*/ 1158682 w 2326195"/>
                <a:gd name="connsiteY75" fmla="*/ 2182566 h 2865702"/>
                <a:gd name="connsiteX76" fmla="*/ 1500241 w 2326195"/>
                <a:gd name="connsiteY76" fmla="*/ 1301504 h 2865702"/>
                <a:gd name="connsiteX77" fmla="*/ 2201967 w 2326195"/>
                <a:gd name="connsiteY77" fmla="*/ 2130483 h 2865702"/>
                <a:gd name="connsiteX78" fmla="*/ 2203453 w 2326195"/>
                <a:gd name="connsiteY78" fmla="*/ 2191504 h 2865702"/>
                <a:gd name="connsiteX79" fmla="*/ 2203453 w 2326195"/>
                <a:gd name="connsiteY79" fmla="*/ 2745135 h 28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2326195" h="2865702">
                  <a:moveTo>
                    <a:pt x="1567960" y="1192881"/>
                  </a:moveTo>
                  <a:cubicBezTo>
                    <a:pt x="1588797" y="1162370"/>
                    <a:pt x="1608144" y="1129627"/>
                    <a:pt x="1626748" y="1095398"/>
                  </a:cubicBezTo>
                  <a:cubicBezTo>
                    <a:pt x="1627491" y="1093908"/>
                    <a:pt x="1628238" y="1092422"/>
                    <a:pt x="1628981" y="1090933"/>
                  </a:cubicBezTo>
                  <a:cubicBezTo>
                    <a:pt x="1639397" y="1072328"/>
                    <a:pt x="1649071" y="1052981"/>
                    <a:pt x="1658002" y="1033634"/>
                  </a:cubicBezTo>
                  <a:cubicBezTo>
                    <a:pt x="1662467" y="1023960"/>
                    <a:pt x="1666932" y="1015030"/>
                    <a:pt x="1670651" y="1005356"/>
                  </a:cubicBezTo>
                  <a:cubicBezTo>
                    <a:pt x="1675863" y="992707"/>
                    <a:pt x="1681814" y="980058"/>
                    <a:pt x="1687022" y="967405"/>
                  </a:cubicBezTo>
                  <a:cubicBezTo>
                    <a:pt x="1693720" y="951780"/>
                    <a:pt x="1698929" y="936151"/>
                    <a:pt x="1704884" y="920523"/>
                  </a:cubicBezTo>
                  <a:cubicBezTo>
                    <a:pt x="1707859" y="912339"/>
                    <a:pt x="1710835" y="904898"/>
                    <a:pt x="1713814" y="896710"/>
                  </a:cubicBezTo>
                  <a:cubicBezTo>
                    <a:pt x="1720509" y="878110"/>
                    <a:pt x="1725721" y="858759"/>
                    <a:pt x="1730929" y="840155"/>
                  </a:cubicBezTo>
                  <a:cubicBezTo>
                    <a:pt x="1732415" y="834203"/>
                    <a:pt x="1734647" y="828248"/>
                    <a:pt x="1736137" y="823040"/>
                  </a:cubicBezTo>
                  <a:cubicBezTo>
                    <a:pt x="1741345" y="803693"/>
                    <a:pt x="1745811" y="784346"/>
                    <a:pt x="1749533" y="764999"/>
                  </a:cubicBezTo>
                  <a:cubicBezTo>
                    <a:pt x="1750276" y="759790"/>
                    <a:pt x="1751766" y="753835"/>
                    <a:pt x="1753252" y="748627"/>
                  </a:cubicBezTo>
                  <a:cubicBezTo>
                    <a:pt x="1756974" y="729280"/>
                    <a:pt x="1759207" y="710676"/>
                    <a:pt x="1761439" y="692071"/>
                  </a:cubicBezTo>
                  <a:cubicBezTo>
                    <a:pt x="1762182" y="686863"/>
                    <a:pt x="1762925" y="680912"/>
                    <a:pt x="1763672" y="675700"/>
                  </a:cubicBezTo>
                  <a:cubicBezTo>
                    <a:pt x="1765901" y="652634"/>
                    <a:pt x="1767391" y="629564"/>
                    <a:pt x="1767391" y="607238"/>
                  </a:cubicBezTo>
                  <a:cubicBezTo>
                    <a:pt x="1767391" y="272373"/>
                    <a:pt x="1495037" y="0"/>
                    <a:pt x="1160153" y="0"/>
                  </a:cubicBezTo>
                  <a:cubicBezTo>
                    <a:pt x="825288" y="0"/>
                    <a:pt x="552915" y="272354"/>
                    <a:pt x="552915" y="607238"/>
                  </a:cubicBezTo>
                  <a:cubicBezTo>
                    <a:pt x="552915" y="629564"/>
                    <a:pt x="554405" y="652630"/>
                    <a:pt x="556637" y="675700"/>
                  </a:cubicBezTo>
                  <a:cubicBezTo>
                    <a:pt x="557380" y="681655"/>
                    <a:pt x="558123" y="687606"/>
                    <a:pt x="558870" y="693561"/>
                  </a:cubicBezTo>
                  <a:cubicBezTo>
                    <a:pt x="561103" y="711419"/>
                    <a:pt x="563331" y="730023"/>
                    <a:pt x="567054" y="748627"/>
                  </a:cubicBezTo>
                  <a:cubicBezTo>
                    <a:pt x="568544" y="754578"/>
                    <a:pt x="570029" y="761276"/>
                    <a:pt x="570776" y="767231"/>
                  </a:cubicBezTo>
                  <a:cubicBezTo>
                    <a:pt x="574495" y="785832"/>
                    <a:pt x="578960" y="804436"/>
                    <a:pt x="583425" y="823040"/>
                  </a:cubicBezTo>
                  <a:cubicBezTo>
                    <a:pt x="584911" y="829734"/>
                    <a:pt x="587144" y="836432"/>
                    <a:pt x="589377" y="843130"/>
                  </a:cubicBezTo>
                  <a:cubicBezTo>
                    <a:pt x="594589" y="860988"/>
                    <a:pt x="599797" y="878849"/>
                    <a:pt x="605748" y="896706"/>
                  </a:cubicBezTo>
                  <a:cubicBezTo>
                    <a:pt x="608728" y="905637"/>
                    <a:pt x="611703" y="913821"/>
                    <a:pt x="614679" y="922752"/>
                  </a:cubicBezTo>
                  <a:cubicBezTo>
                    <a:pt x="619887" y="937633"/>
                    <a:pt x="625842" y="953262"/>
                    <a:pt x="631793" y="968144"/>
                  </a:cubicBezTo>
                  <a:cubicBezTo>
                    <a:pt x="637002" y="980793"/>
                    <a:pt x="642214" y="993442"/>
                    <a:pt x="648165" y="1005349"/>
                  </a:cubicBezTo>
                  <a:cubicBezTo>
                    <a:pt x="652630" y="1015026"/>
                    <a:pt x="657096" y="1024700"/>
                    <a:pt x="661561" y="1034373"/>
                  </a:cubicBezTo>
                  <a:cubicBezTo>
                    <a:pt x="670492" y="1052974"/>
                    <a:pt x="679418" y="1070835"/>
                    <a:pt x="689092" y="1088696"/>
                  </a:cubicBezTo>
                  <a:cubicBezTo>
                    <a:pt x="690582" y="1090929"/>
                    <a:pt x="691325" y="1093161"/>
                    <a:pt x="692814" y="1095394"/>
                  </a:cubicBezTo>
                  <a:cubicBezTo>
                    <a:pt x="711419" y="1129623"/>
                    <a:pt x="731509" y="1163105"/>
                    <a:pt x="752346" y="1193616"/>
                  </a:cubicBezTo>
                  <a:cubicBezTo>
                    <a:pt x="330426" y="1320119"/>
                    <a:pt x="26807" y="1689948"/>
                    <a:pt x="2232" y="2123066"/>
                  </a:cubicBezTo>
                  <a:cubicBezTo>
                    <a:pt x="744" y="2145392"/>
                    <a:pt x="0" y="2167715"/>
                    <a:pt x="0" y="2190038"/>
                  </a:cubicBezTo>
                  <a:lnTo>
                    <a:pt x="0" y="2865703"/>
                  </a:lnTo>
                  <a:lnTo>
                    <a:pt x="2326196" y="2865703"/>
                  </a:lnTo>
                  <a:lnTo>
                    <a:pt x="2326196" y="2190038"/>
                  </a:lnTo>
                  <a:cubicBezTo>
                    <a:pt x="2326196" y="2166972"/>
                    <a:pt x="2325453" y="2144645"/>
                    <a:pt x="2323963" y="2121576"/>
                  </a:cubicBezTo>
                  <a:cubicBezTo>
                    <a:pt x="2298661" y="1687731"/>
                    <a:pt x="1992821" y="1317170"/>
                    <a:pt x="1567907" y="1192888"/>
                  </a:cubicBezTo>
                  <a:close/>
                  <a:moveTo>
                    <a:pt x="1159414" y="122804"/>
                  </a:moveTo>
                  <a:cubicBezTo>
                    <a:pt x="1427302" y="122804"/>
                    <a:pt x="1644579" y="340839"/>
                    <a:pt x="1644579" y="607969"/>
                  </a:cubicBezTo>
                  <a:cubicBezTo>
                    <a:pt x="1644579" y="628060"/>
                    <a:pt x="1643089" y="648896"/>
                    <a:pt x="1640857" y="670476"/>
                  </a:cubicBezTo>
                  <a:cubicBezTo>
                    <a:pt x="1640114" y="680150"/>
                    <a:pt x="1638628" y="689823"/>
                    <a:pt x="1637138" y="700244"/>
                  </a:cubicBezTo>
                  <a:cubicBezTo>
                    <a:pt x="1635648" y="710660"/>
                    <a:pt x="1633416" y="721824"/>
                    <a:pt x="1631930" y="732983"/>
                  </a:cubicBezTo>
                  <a:cubicBezTo>
                    <a:pt x="1629697" y="746379"/>
                    <a:pt x="1626718" y="759775"/>
                    <a:pt x="1623742" y="773910"/>
                  </a:cubicBezTo>
                  <a:cubicBezTo>
                    <a:pt x="1622256" y="779118"/>
                    <a:pt x="1620767" y="784330"/>
                    <a:pt x="1620024" y="789539"/>
                  </a:cubicBezTo>
                  <a:cubicBezTo>
                    <a:pt x="1606628" y="841629"/>
                    <a:pt x="1588023" y="895205"/>
                    <a:pt x="1565701" y="948042"/>
                  </a:cubicBezTo>
                  <a:cubicBezTo>
                    <a:pt x="1562721" y="953994"/>
                    <a:pt x="1560492" y="960692"/>
                    <a:pt x="1557513" y="966647"/>
                  </a:cubicBezTo>
                  <a:cubicBezTo>
                    <a:pt x="1551562" y="980039"/>
                    <a:pt x="1544864" y="993435"/>
                    <a:pt x="1538166" y="1006831"/>
                  </a:cubicBezTo>
                  <a:cubicBezTo>
                    <a:pt x="1532957" y="1017990"/>
                    <a:pt x="1527006" y="1028411"/>
                    <a:pt x="1521051" y="1039574"/>
                  </a:cubicBezTo>
                  <a:cubicBezTo>
                    <a:pt x="1515843" y="1049247"/>
                    <a:pt x="1510635" y="1058921"/>
                    <a:pt x="1505423" y="1067848"/>
                  </a:cubicBezTo>
                  <a:cubicBezTo>
                    <a:pt x="1479381" y="1111750"/>
                    <a:pt x="1451100" y="1152681"/>
                    <a:pt x="1419846" y="1188400"/>
                  </a:cubicBezTo>
                  <a:cubicBezTo>
                    <a:pt x="1343943" y="1277699"/>
                    <a:pt x="1254648" y="1337226"/>
                    <a:pt x="1160884" y="1337226"/>
                  </a:cubicBezTo>
                  <a:cubicBezTo>
                    <a:pt x="1067867" y="1337226"/>
                    <a:pt x="980058" y="1278438"/>
                    <a:pt x="904155" y="1190629"/>
                  </a:cubicBezTo>
                  <a:cubicBezTo>
                    <a:pt x="855787" y="1134820"/>
                    <a:pt x="812627" y="1065615"/>
                    <a:pt x="776162" y="991198"/>
                  </a:cubicBezTo>
                  <a:cubicBezTo>
                    <a:pt x="775419" y="988966"/>
                    <a:pt x="773929" y="987480"/>
                    <a:pt x="773186" y="985247"/>
                  </a:cubicBezTo>
                  <a:cubicBezTo>
                    <a:pt x="762023" y="961435"/>
                    <a:pt x="751606" y="937622"/>
                    <a:pt x="741933" y="913810"/>
                  </a:cubicBezTo>
                  <a:cubicBezTo>
                    <a:pt x="741190" y="913067"/>
                    <a:pt x="741190" y="911577"/>
                    <a:pt x="740443" y="910834"/>
                  </a:cubicBezTo>
                  <a:cubicBezTo>
                    <a:pt x="730027" y="885532"/>
                    <a:pt x="721096" y="859487"/>
                    <a:pt x="713655" y="833445"/>
                  </a:cubicBezTo>
                  <a:cubicBezTo>
                    <a:pt x="713655" y="832698"/>
                    <a:pt x="713655" y="831955"/>
                    <a:pt x="712912" y="831955"/>
                  </a:cubicBezTo>
                  <a:cubicBezTo>
                    <a:pt x="706214" y="808886"/>
                    <a:pt x="700263" y="786563"/>
                    <a:pt x="695051" y="764240"/>
                  </a:cubicBezTo>
                  <a:cubicBezTo>
                    <a:pt x="693565" y="757542"/>
                    <a:pt x="692075" y="750101"/>
                    <a:pt x="690589" y="743403"/>
                  </a:cubicBezTo>
                  <a:cubicBezTo>
                    <a:pt x="686867" y="726289"/>
                    <a:pt x="684634" y="709917"/>
                    <a:pt x="682402" y="693546"/>
                  </a:cubicBezTo>
                  <a:cubicBezTo>
                    <a:pt x="681659" y="686848"/>
                    <a:pt x="680169" y="679407"/>
                    <a:pt x="679426" y="672713"/>
                  </a:cubicBezTo>
                  <a:cubicBezTo>
                    <a:pt x="677193" y="650386"/>
                    <a:pt x="675704" y="628810"/>
                    <a:pt x="675704" y="608716"/>
                  </a:cubicBezTo>
                  <a:cubicBezTo>
                    <a:pt x="673471" y="340827"/>
                    <a:pt x="891506" y="122789"/>
                    <a:pt x="1159383" y="122789"/>
                  </a:cubicBezTo>
                  <a:close/>
                  <a:moveTo>
                    <a:pt x="1325358" y="1416109"/>
                  </a:moveTo>
                  <a:lnTo>
                    <a:pt x="1159414" y="1844733"/>
                  </a:lnTo>
                  <a:lnTo>
                    <a:pt x="993469" y="1416870"/>
                  </a:lnTo>
                  <a:cubicBezTo>
                    <a:pt x="1046302" y="1443659"/>
                    <a:pt x="1101368" y="1459287"/>
                    <a:pt x="1158667" y="1459287"/>
                  </a:cubicBezTo>
                  <a:cubicBezTo>
                    <a:pt x="1216708" y="1459287"/>
                    <a:pt x="1272521" y="1443659"/>
                    <a:pt x="1325354" y="1416128"/>
                  </a:cubicBezTo>
                  <a:close/>
                  <a:moveTo>
                    <a:pt x="2204173" y="2745151"/>
                  </a:moveTo>
                  <a:lnTo>
                    <a:pt x="122084" y="2745151"/>
                  </a:lnTo>
                  <a:lnTo>
                    <a:pt x="122084" y="2191520"/>
                  </a:lnTo>
                  <a:cubicBezTo>
                    <a:pt x="122084" y="2171430"/>
                    <a:pt x="122828" y="2151336"/>
                    <a:pt x="123572" y="2131246"/>
                  </a:cubicBezTo>
                  <a:cubicBezTo>
                    <a:pt x="145896" y="1739082"/>
                    <a:pt x="429414" y="1405707"/>
                    <a:pt x="819356" y="1303752"/>
                  </a:cubicBezTo>
                  <a:lnTo>
                    <a:pt x="1158682" y="2182566"/>
                  </a:lnTo>
                  <a:lnTo>
                    <a:pt x="1500241" y="1301504"/>
                  </a:lnTo>
                  <a:cubicBezTo>
                    <a:pt x="1893128" y="1401962"/>
                    <a:pt x="2178878" y="1735348"/>
                    <a:pt x="2201967" y="2130483"/>
                  </a:cubicBezTo>
                  <a:cubicBezTo>
                    <a:pt x="2203453" y="2150574"/>
                    <a:pt x="2203453" y="2171411"/>
                    <a:pt x="2203453" y="2191504"/>
                  </a:cubicBezTo>
                  <a:lnTo>
                    <a:pt x="2203453" y="2745135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DF25B0D-1A30-68FC-3C9A-03C8527D6E73}"/>
                </a:ext>
              </a:extLst>
            </p:cNvPr>
            <p:cNvSpPr/>
            <p:nvPr/>
          </p:nvSpPr>
          <p:spPr>
            <a:xfrm>
              <a:off x="11136738" y="4875330"/>
              <a:ext cx="163635" cy="154177"/>
            </a:xfrm>
            <a:custGeom>
              <a:avLst/>
              <a:gdLst>
                <a:gd name="connsiteX0" fmla="*/ 1466705 w 1828361"/>
                <a:gd name="connsiteY0" fmla="*/ 0 h 1722681"/>
                <a:gd name="connsiteX1" fmla="*/ 361653 w 1828361"/>
                <a:gd name="connsiteY1" fmla="*/ 0 h 1722681"/>
                <a:gd name="connsiteX2" fmla="*/ 0 w 1828361"/>
                <a:gd name="connsiteY2" fmla="*/ 361653 h 1722681"/>
                <a:gd name="connsiteX3" fmla="*/ 0 w 1828361"/>
                <a:gd name="connsiteY3" fmla="*/ 857983 h 1722681"/>
                <a:gd name="connsiteX4" fmla="*/ 300632 w 1828361"/>
                <a:gd name="connsiteY4" fmla="*/ 1214428 h 1722681"/>
                <a:gd name="connsiteX5" fmla="*/ 305840 w 1828361"/>
                <a:gd name="connsiteY5" fmla="*/ 1722682 h 1722681"/>
                <a:gd name="connsiteX6" fmla="*/ 880312 w 1828361"/>
                <a:gd name="connsiteY6" fmla="*/ 1219647 h 1722681"/>
                <a:gd name="connsiteX7" fmla="*/ 1466709 w 1828361"/>
                <a:gd name="connsiteY7" fmla="*/ 1219647 h 1722681"/>
                <a:gd name="connsiteX8" fmla="*/ 1828362 w 1828361"/>
                <a:gd name="connsiteY8" fmla="*/ 857995 h 1722681"/>
                <a:gd name="connsiteX9" fmla="*/ 1828362 w 1828361"/>
                <a:gd name="connsiteY9" fmla="*/ 361664 h 1722681"/>
                <a:gd name="connsiteX10" fmla="*/ 1466709 w 1828361"/>
                <a:gd name="connsiteY10" fmla="*/ 11 h 1722681"/>
                <a:gd name="connsiteX11" fmla="*/ 1706320 w 1828361"/>
                <a:gd name="connsiteY11" fmla="*/ 858014 h 1722681"/>
                <a:gd name="connsiteX12" fmla="*/ 1466705 w 1828361"/>
                <a:gd name="connsiteY12" fmla="*/ 1097628 h 1722681"/>
                <a:gd name="connsiteX13" fmla="*/ 834169 w 1828361"/>
                <a:gd name="connsiteY13" fmla="*/ 1097628 h 1722681"/>
                <a:gd name="connsiteX14" fmla="*/ 424899 w 1828361"/>
                <a:gd name="connsiteY14" fmla="*/ 1456306 h 1722681"/>
                <a:gd name="connsiteX15" fmla="*/ 421176 w 1828361"/>
                <a:gd name="connsiteY15" fmla="*/ 1097628 h 1722681"/>
                <a:gd name="connsiteX16" fmla="*/ 360902 w 1828361"/>
                <a:gd name="connsiteY16" fmla="*/ 1097628 h 1722681"/>
                <a:gd name="connsiteX17" fmla="*/ 121288 w 1828361"/>
                <a:gd name="connsiteY17" fmla="*/ 858014 h 1722681"/>
                <a:gd name="connsiteX18" fmla="*/ 121288 w 1828361"/>
                <a:gd name="connsiteY18" fmla="*/ 361683 h 1722681"/>
                <a:gd name="connsiteX19" fmla="*/ 360902 w 1828361"/>
                <a:gd name="connsiteY19" fmla="*/ 122069 h 1722681"/>
                <a:gd name="connsiteX20" fmla="*/ 1466679 w 1828361"/>
                <a:gd name="connsiteY20" fmla="*/ 122069 h 1722681"/>
                <a:gd name="connsiteX21" fmla="*/ 1706293 w 1828361"/>
                <a:gd name="connsiteY21" fmla="*/ 361683 h 1722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8361" h="1722681">
                  <a:moveTo>
                    <a:pt x="1466705" y="0"/>
                  </a:moveTo>
                  <a:lnTo>
                    <a:pt x="361653" y="0"/>
                  </a:lnTo>
                  <a:cubicBezTo>
                    <a:pt x="162222" y="0"/>
                    <a:pt x="0" y="162222"/>
                    <a:pt x="0" y="361653"/>
                  </a:cubicBezTo>
                  <a:lnTo>
                    <a:pt x="0" y="857983"/>
                  </a:lnTo>
                  <a:cubicBezTo>
                    <a:pt x="0" y="1036577"/>
                    <a:pt x="130226" y="1185407"/>
                    <a:pt x="300632" y="1214428"/>
                  </a:cubicBezTo>
                  <a:lnTo>
                    <a:pt x="305840" y="1722682"/>
                  </a:lnTo>
                  <a:lnTo>
                    <a:pt x="880312" y="1219647"/>
                  </a:lnTo>
                  <a:lnTo>
                    <a:pt x="1466709" y="1219647"/>
                  </a:lnTo>
                  <a:cubicBezTo>
                    <a:pt x="1666140" y="1219647"/>
                    <a:pt x="1828362" y="1057425"/>
                    <a:pt x="1828362" y="857995"/>
                  </a:cubicBezTo>
                  <a:lnTo>
                    <a:pt x="1828362" y="361664"/>
                  </a:lnTo>
                  <a:cubicBezTo>
                    <a:pt x="1828362" y="162234"/>
                    <a:pt x="1666140" y="11"/>
                    <a:pt x="1466709" y="11"/>
                  </a:cubicBezTo>
                  <a:close/>
                  <a:moveTo>
                    <a:pt x="1706320" y="858014"/>
                  </a:moveTo>
                  <a:cubicBezTo>
                    <a:pt x="1706320" y="989725"/>
                    <a:pt x="1599164" y="1097628"/>
                    <a:pt x="1466705" y="1097628"/>
                  </a:cubicBezTo>
                  <a:lnTo>
                    <a:pt x="834169" y="1097628"/>
                  </a:lnTo>
                  <a:lnTo>
                    <a:pt x="424899" y="1456306"/>
                  </a:lnTo>
                  <a:lnTo>
                    <a:pt x="421176" y="1097628"/>
                  </a:lnTo>
                  <a:lnTo>
                    <a:pt x="360902" y="1097628"/>
                  </a:lnTo>
                  <a:cubicBezTo>
                    <a:pt x="229191" y="1097628"/>
                    <a:pt x="121288" y="990472"/>
                    <a:pt x="121288" y="858014"/>
                  </a:cubicBezTo>
                  <a:lnTo>
                    <a:pt x="121288" y="361683"/>
                  </a:lnTo>
                  <a:cubicBezTo>
                    <a:pt x="121288" y="229972"/>
                    <a:pt x="228444" y="122069"/>
                    <a:pt x="360902" y="122069"/>
                  </a:cubicBezTo>
                  <a:lnTo>
                    <a:pt x="1466679" y="122069"/>
                  </a:lnTo>
                  <a:cubicBezTo>
                    <a:pt x="1598390" y="122069"/>
                    <a:pt x="1706293" y="229225"/>
                    <a:pt x="1706293" y="361683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713C4F5-147D-B06B-9880-62AC1328E25C}"/>
                </a:ext>
              </a:extLst>
            </p:cNvPr>
            <p:cNvSpPr/>
            <p:nvPr/>
          </p:nvSpPr>
          <p:spPr>
            <a:xfrm>
              <a:off x="11093116" y="5137133"/>
              <a:ext cx="49085" cy="10922"/>
            </a:xfrm>
            <a:custGeom>
              <a:avLst/>
              <a:gdLst>
                <a:gd name="connsiteX0" fmla="*/ 0 w 548449"/>
                <a:gd name="connsiteY0" fmla="*/ 0 h 122037"/>
                <a:gd name="connsiteX1" fmla="*/ 548450 w 548449"/>
                <a:gd name="connsiteY1" fmla="*/ 0 h 122037"/>
                <a:gd name="connsiteX2" fmla="*/ 548450 w 548449"/>
                <a:gd name="connsiteY2" fmla="*/ 122038 h 122037"/>
                <a:gd name="connsiteX3" fmla="*/ 0 w 548449"/>
                <a:gd name="connsiteY3" fmla="*/ 122038 h 122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8449" h="122037">
                  <a:moveTo>
                    <a:pt x="0" y="0"/>
                  </a:moveTo>
                  <a:lnTo>
                    <a:pt x="548450" y="0"/>
                  </a:lnTo>
                  <a:lnTo>
                    <a:pt x="548450" y="122038"/>
                  </a:lnTo>
                  <a:lnTo>
                    <a:pt x="0" y="122038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61BB5EA-F372-C3CF-AE2C-7E0688D49060}"/>
                </a:ext>
              </a:extLst>
            </p:cNvPr>
            <p:cNvSpPr/>
            <p:nvPr/>
          </p:nvSpPr>
          <p:spPr>
            <a:xfrm>
              <a:off x="11166244" y="4908097"/>
              <a:ext cx="39160" cy="38161"/>
            </a:xfrm>
            <a:custGeom>
              <a:avLst/>
              <a:gdLst>
                <a:gd name="connsiteX0" fmla="*/ 385462 w 437551"/>
                <a:gd name="connsiteY0" fmla="*/ 66229 h 426392"/>
                <a:gd name="connsiteX1" fmla="*/ 279795 w 437551"/>
                <a:gd name="connsiteY1" fmla="*/ 116087 h 426392"/>
                <a:gd name="connsiteX2" fmla="*/ 279795 w 437551"/>
                <a:gd name="connsiteY2" fmla="*/ 0 h 426392"/>
                <a:gd name="connsiteX3" fmla="*/ 157757 w 437551"/>
                <a:gd name="connsiteY3" fmla="*/ 0 h 426392"/>
                <a:gd name="connsiteX4" fmla="*/ 157757 w 437551"/>
                <a:gd name="connsiteY4" fmla="*/ 116087 h 426392"/>
                <a:gd name="connsiteX5" fmla="*/ 52833 w 437551"/>
                <a:gd name="connsiteY5" fmla="*/ 66229 h 426392"/>
                <a:gd name="connsiteX6" fmla="*/ 0 w 437551"/>
                <a:gd name="connsiteY6" fmla="*/ 176361 h 426392"/>
                <a:gd name="connsiteX7" fmla="*/ 77389 w 437551"/>
                <a:gd name="connsiteY7" fmla="*/ 212823 h 426392"/>
                <a:gd name="connsiteX8" fmla="*/ 0 w 437551"/>
                <a:gd name="connsiteY8" fmla="*/ 250031 h 426392"/>
                <a:gd name="connsiteX9" fmla="*/ 52833 w 437551"/>
                <a:gd name="connsiteY9" fmla="*/ 360163 h 426392"/>
                <a:gd name="connsiteX10" fmla="*/ 157757 w 437551"/>
                <a:gd name="connsiteY10" fmla="*/ 309562 h 426392"/>
                <a:gd name="connsiteX11" fmla="*/ 157757 w 437551"/>
                <a:gd name="connsiteY11" fmla="*/ 426392 h 426392"/>
                <a:gd name="connsiteX12" fmla="*/ 279795 w 437551"/>
                <a:gd name="connsiteY12" fmla="*/ 426392 h 426392"/>
                <a:gd name="connsiteX13" fmla="*/ 279795 w 437551"/>
                <a:gd name="connsiteY13" fmla="*/ 309562 h 426392"/>
                <a:gd name="connsiteX14" fmla="*/ 385462 w 437551"/>
                <a:gd name="connsiteY14" fmla="*/ 360163 h 426392"/>
                <a:gd name="connsiteX15" fmla="*/ 437552 w 437551"/>
                <a:gd name="connsiteY15" fmla="*/ 250031 h 426392"/>
                <a:gd name="connsiteX16" fmla="*/ 360163 w 437551"/>
                <a:gd name="connsiteY16" fmla="*/ 212823 h 426392"/>
                <a:gd name="connsiteX17" fmla="*/ 437552 w 437551"/>
                <a:gd name="connsiteY17" fmla="*/ 176361 h 426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7551" h="426392">
                  <a:moveTo>
                    <a:pt x="385462" y="66229"/>
                  </a:moveTo>
                  <a:lnTo>
                    <a:pt x="279795" y="116087"/>
                  </a:lnTo>
                  <a:lnTo>
                    <a:pt x="279795" y="0"/>
                  </a:lnTo>
                  <a:lnTo>
                    <a:pt x="157757" y="0"/>
                  </a:lnTo>
                  <a:lnTo>
                    <a:pt x="157757" y="116087"/>
                  </a:lnTo>
                  <a:lnTo>
                    <a:pt x="52833" y="66229"/>
                  </a:lnTo>
                  <a:lnTo>
                    <a:pt x="0" y="176361"/>
                  </a:lnTo>
                  <a:lnTo>
                    <a:pt x="77389" y="212823"/>
                  </a:lnTo>
                  <a:lnTo>
                    <a:pt x="0" y="250031"/>
                  </a:lnTo>
                  <a:lnTo>
                    <a:pt x="52833" y="360163"/>
                  </a:lnTo>
                  <a:lnTo>
                    <a:pt x="157757" y="309562"/>
                  </a:lnTo>
                  <a:lnTo>
                    <a:pt x="157757" y="426392"/>
                  </a:lnTo>
                  <a:lnTo>
                    <a:pt x="279795" y="426392"/>
                  </a:lnTo>
                  <a:lnTo>
                    <a:pt x="279795" y="309562"/>
                  </a:lnTo>
                  <a:lnTo>
                    <a:pt x="385462" y="360163"/>
                  </a:lnTo>
                  <a:lnTo>
                    <a:pt x="437552" y="250031"/>
                  </a:lnTo>
                  <a:lnTo>
                    <a:pt x="360163" y="212823"/>
                  </a:lnTo>
                  <a:lnTo>
                    <a:pt x="437552" y="17636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89AA598-C7A6-0290-003A-3AA280F89FFE}"/>
                </a:ext>
              </a:extLst>
            </p:cNvPr>
            <p:cNvSpPr/>
            <p:nvPr/>
          </p:nvSpPr>
          <p:spPr>
            <a:xfrm>
              <a:off x="11231709" y="4908097"/>
              <a:ext cx="39160" cy="38161"/>
            </a:xfrm>
            <a:custGeom>
              <a:avLst/>
              <a:gdLst>
                <a:gd name="connsiteX0" fmla="*/ 384719 w 437552"/>
                <a:gd name="connsiteY0" fmla="*/ 66229 h 426392"/>
                <a:gd name="connsiteX1" fmla="*/ 279795 w 437552"/>
                <a:gd name="connsiteY1" fmla="*/ 116087 h 426392"/>
                <a:gd name="connsiteX2" fmla="*/ 279795 w 437552"/>
                <a:gd name="connsiteY2" fmla="*/ 0 h 426392"/>
                <a:gd name="connsiteX3" fmla="*/ 157757 w 437552"/>
                <a:gd name="connsiteY3" fmla="*/ 0 h 426392"/>
                <a:gd name="connsiteX4" fmla="*/ 157757 w 437552"/>
                <a:gd name="connsiteY4" fmla="*/ 116087 h 426392"/>
                <a:gd name="connsiteX5" fmla="*/ 52833 w 437552"/>
                <a:gd name="connsiteY5" fmla="*/ 66229 h 426392"/>
                <a:gd name="connsiteX6" fmla="*/ 0 w 437552"/>
                <a:gd name="connsiteY6" fmla="*/ 176361 h 426392"/>
                <a:gd name="connsiteX7" fmla="*/ 77389 w 437552"/>
                <a:gd name="connsiteY7" fmla="*/ 212823 h 426392"/>
                <a:gd name="connsiteX8" fmla="*/ 0 w 437552"/>
                <a:gd name="connsiteY8" fmla="*/ 250031 h 426392"/>
                <a:gd name="connsiteX9" fmla="*/ 52833 w 437552"/>
                <a:gd name="connsiteY9" fmla="*/ 360163 h 426392"/>
                <a:gd name="connsiteX10" fmla="*/ 157757 w 437552"/>
                <a:gd name="connsiteY10" fmla="*/ 309562 h 426392"/>
                <a:gd name="connsiteX11" fmla="*/ 157757 w 437552"/>
                <a:gd name="connsiteY11" fmla="*/ 426392 h 426392"/>
                <a:gd name="connsiteX12" fmla="*/ 279795 w 437552"/>
                <a:gd name="connsiteY12" fmla="*/ 426392 h 426392"/>
                <a:gd name="connsiteX13" fmla="*/ 279795 w 437552"/>
                <a:gd name="connsiteY13" fmla="*/ 309562 h 426392"/>
                <a:gd name="connsiteX14" fmla="*/ 384719 w 437552"/>
                <a:gd name="connsiteY14" fmla="*/ 360163 h 426392"/>
                <a:gd name="connsiteX15" fmla="*/ 437552 w 437552"/>
                <a:gd name="connsiteY15" fmla="*/ 250031 h 426392"/>
                <a:gd name="connsiteX16" fmla="*/ 360163 w 437552"/>
                <a:gd name="connsiteY16" fmla="*/ 212823 h 426392"/>
                <a:gd name="connsiteX17" fmla="*/ 437552 w 437552"/>
                <a:gd name="connsiteY17" fmla="*/ 176361 h 426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7552" h="426392">
                  <a:moveTo>
                    <a:pt x="384719" y="66229"/>
                  </a:moveTo>
                  <a:lnTo>
                    <a:pt x="279795" y="116087"/>
                  </a:lnTo>
                  <a:lnTo>
                    <a:pt x="279795" y="0"/>
                  </a:lnTo>
                  <a:lnTo>
                    <a:pt x="157757" y="0"/>
                  </a:lnTo>
                  <a:lnTo>
                    <a:pt x="157757" y="116087"/>
                  </a:lnTo>
                  <a:lnTo>
                    <a:pt x="52833" y="66229"/>
                  </a:lnTo>
                  <a:lnTo>
                    <a:pt x="0" y="176361"/>
                  </a:lnTo>
                  <a:lnTo>
                    <a:pt x="77389" y="212823"/>
                  </a:lnTo>
                  <a:lnTo>
                    <a:pt x="0" y="250031"/>
                  </a:lnTo>
                  <a:lnTo>
                    <a:pt x="52833" y="360163"/>
                  </a:lnTo>
                  <a:lnTo>
                    <a:pt x="157757" y="309562"/>
                  </a:lnTo>
                  <a:lnTo>
                    <a:pt x="157757" y="426392"/>
                  </a:lnTo>
                  <a:lnTo>
                    <a:pt x="279795" y="426392"/>
                  </a:lnTo>
                  <a:lnTo>
                    <a:pt x="279795" y="309562"/>
                  </a:lnTo>
                  <a:lnTo>
                    <a:pt x="384719" y="360163"/>
                  </a:lnTo>
                  <a:lnTo>
                    <a:pt x="437552" y="250031"/>
                  </a:lnTo>
                  <a:lnTo>
                    <a:pt x="360163" y="212823"/>
                  </a:lnTo>
                  <a:lnTo>
                    <a:pt x="437552" y="17636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EDA0DEE-B1B2-A9A6-B28F-BD45BFDC0BE7}"/>
              </a:ext>
            </a:extLst>
          </p:cNvPr>
          <p:cNvGrpSpPr/>
          <p:nvPr/>
        </p:nvGrpSpPr>
        <p:grpSpPr>
          <a:xfrm>
            <a:off x="675980" y="3215259"/>
            <a:ext cx="2062535" cy="1888557"/>
            <a:chOff x="656630" y="3472821"/>
            <a:chExt cx="2062535" cy="1383909"/>
          </a:xfrm>
        </p:grpSpPr>
        <p:sp>
          <p:nvSpPr>
            <p:cNvPr id="55" name="Pentagon 3">
              <a:extLst>
                <a:ext uri="{FF2B5EF4-FFF2-40B4-BE49-F238E27FC236}">
                  <a16:creationId xmlns:a16="http://schemas.microsoft.com/office/drawing/2014/main" id="{36F9B5A8-B1FB-E584-0276-1D5244D2B57C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Referral Strength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: </a:t>
              </a:r>
              <a:r>
                <a:rPr lang="en-US" sz="1100" u="sng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Weighted outdegree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</a:t>
              </a:r>
              <a:r>
                <a:rPr lang="en-US" sz="1100" u="sng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&gt;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90</a:t>
              </a:r>
              <a:r>
                <a:rPr lang="en-US" sz="1100" baseline="300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th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Percentile and </a:t>
              </a:r>
              <a:r>
                <a:rPr lang="en-US" sz="1100" u="sng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Weighted indegree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</a:t>
              </a:r>
              <a:r>
                <a:rPr lang="en-US" sz="1100" u="sng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&lt;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10</a:t>
              </a:r>
              <a:r>
                <a:rPr lang="en-US" sz="1100" baseline="300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th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Percentile</a:t>
              </a:r>
            </a:p>
            <a:p>
              <a:pPr marL="114300" marR="0" lvl="0" indent="-1143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Patient Volume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: Interacted patient volume ≥ ~90th Percentile</a:t>
              </a:r>
            </a:p>
            <a:p>
              <a:pPr marL="114300" marR="0" lvl="0" indent="-1143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Referral Activity:</a:t>
              </a: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 Referral activity with 2+ patients</a:t>
              </a:r>
            </a:p>
          </p:txBody>
        </p:sp>
        <p:sp>
          <p:nvSpPr>
            <p:cNvPr id="56" name="Pentagon 3">
              <a:extLst>
                <a:ext uri="{FF2B5EF4-FFF2-40B4-BE49-F238E27FC236}">
                  <a16:creationId xmlns:a16="http://schemas.microsoft.com/office/drawing/2014/main" id="{D9C1DA62-4424-66FC-4ABF-D37185D7FB2C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sp>
        <p:nvSpPr>
          <p:cNvPr id="7" name="Chevron 5">
            <a:extLst>
              <a:ext uri="{FF2B5EF4-FFF2-40B4-BE49-F238E27FC236}">
                <a16:creationId xmlns:a16="http://schemas.microsoft.com/office/drawing/2014/main" id="{8277A0CA-532D-DD5F-3293-BB914F0DD9C6}"/>
              </a:ext>
            </a:extLst>
          </p:cNvPr>
          <p:cNvSpPr/>
          <p:nvPr/>
        </p:nvSpPr>
        <p:spPr>
          <a:xfrm>
            <a:off x="5083171" y="1887042"/>
            <a:ext cx="2039674" cy="26665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Bridgers</a:t>
            </a:r>
          </a:p>
        </p:txBody>
      </p:sp>
      <p:sp>
        <p:nvSpPr>
          <p:cNvPr id="14" name="Freeform 949">
            <a:extLst>
              <a:ext uri="{FF2B5EF4-FFF2-40B4-BE49-F238E27FC236}">
                <a16:creationId xmlns:a16="http://schemas.microsoft.com/office/drawing/2014/main" id="{ACBEE9AF-BF8C-5AC4-5A68-5141C45AE4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9271" y="1233488"/>
            <a:ext cx="487475" cy="488939"/>
          </a:xfrm>
          <a:custGeom>
            <a:avLst/>
            <a:gdLst>
              <a:gd name="T0" fmla="*/ 873075 w 291288"/>
              <a:gd name="T1" fmla="*/ 2795955 h 291739"/>
              <a:gd name="T2" fmla="*/ 825138 w 291288"/>
              <a:gd name="T3" fmla="*/ 3109255 h 291739"/>
              <a:gd name="T4" fmla="*/ 1567832 w 291288"/>
              <a:gd name="T5" fmla="*/ 3109255 h 291739"/>
              <a:gd name="T6" fmla="*/ 1567832 w 291288"/>
              <a:gd name="T7" fmla="*/ 2795955 h 291739"/>
              <a:gd name="T8" fmla="*/ 932966 w 291288"/>
              <a:gd name="T9" fmla="*/ 2427114 h 291739"/>
              <a:gd name="T10" fmla="*/ 889032 w 291288"/>
              <a:gd name="T11" fmla="*/ 2696803 h 291739"/>
              <a:gd name="T12" fmla="*/ 1615749 w 291288"/>
              <a:gd name="T13" fmla="*/ 2696803 h 291739"/>
              <a:gd name="T14" fmla="*/ 1663649 w 291288"/>
              <a:gd name="T15" fmla="*/ 2748367 h 291739"/>
              <a:gd name="T16" fmla="*/ 1663649 w 291288"/>
              <a:gd name="T17" fmla="*/ 3109255 h 291739"/>
              <a:gd name="T18" fmla="*/ 2973334 w 291288"/>
              <a:gd name="T19" fmla="*/ 3109255 h 291739"/>
              <a:gd name="T20" fmla="*/ 1603782 w 291288"/>
              <a:gd name="T21" fmla="*/ 2427114 h 291739"/>
              <a:gd name="T22" fmla="*/ 322044 w 291288"/>
              <a:gd name="T23" fmla="*/ 2427114 h 291739"/>
              <a:gd name="T24" fmla="*/ 114416 w 291288"/>
              <a:gd name="T25" fmla="*/ 3109255 h 291739"/>
              <a:gd name="T26" fmla="*/ 725308 w 291288"/>
              <a:gd name="T27" fmla="*/ 3109255 h 291739"/>
              <a:gd name="T28" fmla="*/ 837119 w 291288"/>
              <a:gd name="T29" fmla="*/ 2427114 h 291739"/>
              <a:gd name="T30" fmla="*/ 2861559 w 291288"/>
              <a:gd name="T31" fmla="*/ 2268491 h 291739"/>
              <a:gd name="T32" fmla="*/ 2178738 w 291288"/>
              <a:gd name="T33" fmla="*/ 2609551 h 291739"/>
              <a:gd name="T34" fmla="*/ 3101105 w 291288"/>
              <a:gd name="T35" fmla="*/ 3065636 h 291739"/>
              <a:gd name="T36" fmla="*/ 2090912 w 291288"/>
              <a:gd name="T37" fmla="*/ 1911559 h 291739"/>
              <a:gd name="T38" fmla="*/ 1695617 w 291288"/>
              <a:gd name="T39" fmla="*/ 2367632 h 291739"/>
              <a:gd name="T40" fmla="*/ 2070956 w 291288"/>
              <a:gd name="T41" fmla="*/ 2550070 h 291739"/>
              <a:gd name="T42" fmla="*/ 2833573 w 291288"/>
              <a:gd name="T43" fmla="*/ 2173303 h 291739"/>
              <a:gd name="T44" fmla="*/ 2753701 w 291288"/>
              <a:gd name="T45" fmla="*/ 1911559 h 291739"/>
              <a:gd name="T46" fmla="*/ 1020803 w 291288"/>
              <a:gd name="T47" fmla="*/ 1911559 h 291739"/>
              <a:gd name="T48" fmla="*/ 952932 w 291288"/>
              <a:gd name="T49" fmla="*/ 2331935 h 291739"/>
              <a:gd name="T50" fmla="*/ 1495937 w 291288"/>
              <a:gd name="T51" fmla="*/ 2331935 h 291739"/>
              <a:gd name="T52" fmla="*/ 1140594 w 291288"/>
              <a:gd name="T53" fmla="*/ 1911559 h 291739"/>
              <a:gd name="T54" fmla="*/ 477753 w 291288"/>
              <a:gd name="T55" fmla="*/ 1911559 h 291739"/>
              <a:gd name="T56" fmla="*/ 349984 w 291288"/>
              <a:gd name="T57" fmla="*/ 2331935 h 291739"/>
              <a:gd name="T58" fmla="*/ 853117 w 291288"/>
              <a:gd name="T59" fmla="*/ 2331935 h 291739"/>
              <a:gd name="T60" fmla="*/ 920988 w 291288"/>
              <a:gd name="T61" fmla="*/ 1911559 h 291739"/>
              <a:gd name="T62" fmla="*/ 1615749 w 291288"/>
              <a:gd name="T63" fmla="*/ 566600 h 291739"/>
              <a:gd name="T64" fmla="*/ 1277311 w 291288"/>
              <a:gd name="T65" fmla="*/ 907845 h 291739"/>
              <a:gd name="T66" fmla="*/ 1615749 w 291288"/>
              <a:gd name="T67" fmla="*/ 1245099 h 291739"/>
              <a:gd name="T68" fmla="*/ 1954201 w 291288"/>
              <a:gd name="T69" fmla="*/ 907845 h 291739"/>
              <a:gd name="T70" fmla="*/ 1615749 w 291288"/>
              <a:gd name="T71" fmla="*/ 566600 h 291739"/>
              <a:gd name="T72" fmla="*/ 1615749 w 291288"/>
              <a:gd name="T73" fmla="*/ 471356 h 291739"/>
              <a:gd name="T74" fmla="*/ 2053733 w 291288"/>
              <a:gd name="T75" fmla="*/ 907845 h 291739"/>
              <a:gd name="T76" fmla="*/ 1615749 w 291288"/>
              <a:gd name="T77" fmla="*/ 1340336 h 291739"/>
              <a:gd name="T78" fmla="*/ 1177757 w 291288"/>
              <a:gd name="T79" fmla="*/ 907845 h 291739"/>
              <a:gd name="T80" fmla="*/ 1615749 w 291288"/>
              <a:gd name="T81" fmla="*/ 471356 h 291739"/>
              <a:gd name="T82" fmla="*/ 1615749 w 291288"/>
              <a:gd name="T83" fmla="*/ 95201 h 291739"/>
              <a:gd name="T84" fmla="*/ 809176 w 291288"/>
              <a:gd name="T85" fmla="*/ 896289 h 291739"/>
              <a:gd name="T86" fmla="*/ 1615749 w 291288"/>
              <a:gd name="T87" fmla="*/ 2312106 h 291739"/>
              <a:gd name="T88" fmla="*/ 2418321 w 291288"/>
              <a:gd name="T89" fmla="*/ 896289 h 291739"/>
              <a:gd name="T90" fmla="*/ 1615749 w 291288"/>
              <a:gd name="T91" fmla="*/ 95201 h 291739"/>
              <a:gd name="T92" fmla="*/ 1615749 w 291288"/>
              <a:gd name="T93" fmla="*/ 0 h 291739"/>
              <a:gd name="T94" fmla="*/ 2514142 w 291288"/>
              <a:gd name="T95" fmla="*/ 896289 h 291739"/>
              <a:gd name="T96" fmla="*/ 2154774 w 291288"/>
              <a:gd name="T97" fmla="*/ 1812402 h 291739"/>
              <a:gd name="T98" fmla="*/ 2789634 w 291288"/>
              <a:gd name="T99" fmla="*/ 1812402 h 291739"/>
              <a:gd name="T100" fmla="*/ 2833573 w 291288"/>
              <a:gd name="T101" fmla="*/ 1848099 h 291739"/>
              <a:gd name="T102" fmla="*/ 3224882 w 291288"/>
              <a:gd name="T103" fmla="*/ 3140984 h 291739"/>
              <a:gd name="T104" fmla="*/ 3220897 w 291288"/>
              <a:gd name="T105" fmla="*/ 3188573 h 291739"/>
              <a:gd name="T106" fmla="*/ 3180961 w 291288"/>
              <a:gd name="T107" fmla="*/ 3208396 h 291739"/>
              <a:gd name="T108" fmla="*/ 46558 w 291288"/>
              <a:gd name="T109" fmla="*/ 3208396 h 291739"/>
              <a:gd name="T110" fmla="*/ 6633 w 291288"/>
              <a:gd name="T111" fmla="*/ 3188573 h 291739"/>
              <a:gd name="T112" fmla="*/ 2641 w 291288"/>
              <a:gd name="T113" fmla="*/ 3140984 h 291739"/>
              <a:gd name="T114" fmla="*/ 393917 w 291288"/>
              <a:gd name="T115" fmla="*/ 1848099 h 291739"/>
              <a:gd name="T116" fmla="*/ 441828 w 291288"/>
              <a:gd name="T117" fmla="*/ 1812402 h 291739"/>
              <a:gd name="T118" fmla="*/ 1068706 w 291288"/>
              <a:gd name="T119" fmla="*/ 1812402 h 291739"/>
              <a:gd name="T120" fmla="*/ 713343 w 291288"/>
              <a:gd name="T121" fmla="*/ 896289 h 291739"/>
              <a:gd name="T122" fmla="*/ 1615749 w 291288"/>
              <a:gd name="T123" fmla="*/ 0 h 291739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1288" h="291739">
                <a:moveTo>
                  <a:pt x="78754" y="254235"/>
                </a:moveTo>
                <a:lnTo>
                  <a:pt x="74431" y="282724"/>
                </a:lnTo>
                <a:lnTo>
                  <a:pt x="141424" y="282724"/>
                </a:lnTo>
                <a:lnTo>
                  <a:pt x="141424" y="254235"/>
                </a:lnTo>
                <a:lnTo>
                  <a:pt x="78754" y="254235"/>
                </a:lnTo>
                <a:close/>
                <a:moveTo>
                  <a:pt x="84156" y="220698"/>
                </a:moveTo>
                <a:lnTo>
                  <a:pt x="80194" y="245220"/>
                </a:lnTo>
                <a:lnTo>
                  <a:pt x="145746" y="245220"/>
                </a:lnTo>
                <a:cubicBezTo>
                  <a:pt x="147907" y="245220"/>
                  <a:pt x="150068" y="247384"/>
                  <a:pt x="150068" y="249908"/>
                </a:cubicBezTo>
                <a:lnTo>
                  <a:pt x="150068" y="282724"/>
                </a:lnTo>
                <a:lnTo>
                  <a:pt x="268205" y="282724"/>
                </a:lnTo>
                <a:lnTo>
                  <a:pt x="144666" y="220698"/>
                </a:lnTo>
                <a:lnTo>
                  <a:pt x="84156" y="220698"/>
                </a:lnTo>
                <a:close/>
                <a:moveTo>
                  <a:pt x="29050" y="220698"/>
                </a:moveTo>
                <a:lnTo>
                  <a:pt x="10321" y="282724"/>
                </a:lnTo>
                <a:lnTo>
                  <a:pt x="65427" y="282724"/>
                </a:lnTo>
                <a:lnTo>
                  <a:pt x="75512" y="220698"/>
                </a:lnTo>
                <a:lnTo>
                  <a:pt x="29050" y="220698"/>
                </a:lnTo>
                <a:close/>
                <a:moveTo>
                  <a:pt x="258120" y="206273"/>
                </a:moveTo>
                <a:lnTo>
                  <a:pt x="196530" y="237286"/>
                </a:lnTo>
                <a:lnTo>
                  <a:pt x="279730" y="278757"/>
                </a:lnTo>
                <a:lnTo>
                  <a:pt x="258120" y="206273"/>
                </a:lnTo>
                <a:close/>
                <a:moveTo>
                  <a:pt x="188607" y="173818"/>
                </a:moveTo>
                <a:cubicBezTo>
                  <a:pt x="174200" y="192930"/>
                  <a:pt x="160153" y="208076"/>
                  <a:pt x="152950" y="215289"/>
                </a:cubicBezTo>
                <a:lnTo>
                  <a:pt x="186806" y="231877"/>
                </a:lnTo>
                <a:lnTo>
                  <a:pt x="255599" y="197618"/>
                </a:lnTo>
                <a:lnTo>
                  <a:pt x="248395" y="173818"/>
                </a:lnTo>
                <a:lnTo>
                  <a:pt x="188607" y="173818"/>
                </a:lnTo>
                <a:close/>
                <a:moveTo>
                  <a:pt x="92080" y="173818"/>
                </a:moveTo>
                <a:lnTo>
                  <a:pt x="85957" y="212043"/>
                </a:lnTo>
                <a:lnTo>
                  <a:pt x="134941" y="212043"/>
                </a:lnTo>
                <a:cubicBezTo>
                  <a:pt x="127377" y="204109"/>
                  <a:pt x="115131" y="190406"/>
                  <a:pt x="102885" y="173818"/>
                </a:cubicBezTo>
                <a:lnTo>
                  <a:pt x="92080" y="173818"/>
                </a:lnTo>
                <a:close/>
                <a:moveTo>
                  <a:pt x="43096" y="173818"/>
                </a:moveTo>
                <a:lnTo>
                  <a:pt x="31571" y="212043"/>
                </a:lnTo>
                <a:lnTo>
                  <a:pt x="76953" y="212043"/>
                </a:lnTo>
                <a:lnTo>
                  <a:pt x="83076" y="173818"/>
                </a:lnTo>
                <a:lnTo>
                  <a:pt x="43096" y="173818"/>
                </a:lnTo>
                <a:close/>
                <a:moveTo>
                  <a:pt x="145746" y="51521"/>
                </a:moveTo>
                <a:cubicBezTo>
                  <a:pt x="128866" y="51521"/>
                  <a:pt x="115217" y="65592"/>
                  <a:pt x="115217" y="82550"/>
                </a:cubicBezTo>
                <a:cubicBezTo>
                  <a:pt x="115217" y="99507"/>
                  <a:pt x="128866" y="113217"/>
                  <a:pt x="145746" y="113217"/>
                </a:cubicBezTo>
                <a:cubicBezTo>
                  <a:pt x="162627" y="113217"/>
                  <a:pt x="176275" y="99507"/>
                  <a:pt x="176275" y="82550"/>
                </a:cubicBezTo>
                <a:cubicBezTo>
                  <a:pt x="176275" y="65592"/>
                  <a:pt x="162627" y="51521"/>
                  <a:pt x="145746" y="51521"/>
                </a:cubicBezTo>
                <a:close/>
                <a:moveTo>
                  <a:pt x="145746" y="42862"/>
                </a:moveTo>
                <a:cubicBezTo>
                  <a:pt x="167296" y="42862"/>
                  <a:pt x="185254" y="60541"/>
                  <a:pt x="185254" y="82550"/>
                </a:cubicBezTo>
                <a:cubicBezTo>
                  <a:pt x="185254" y="104197"/>
                  <a:pt x="167296" y="121876"/>
                  <a:pt x="145746" y="121876"/>
                </a:cubicBezTo>
                <a:cubicBezTo>
                  <a:pt x="123837" y="121876"/>
                  <a:pt x="106238" y="104197"/>
                  <a:pt x="106238" y="82550"/>
                </a:cubicBezTo>
                <a:cubicBezTo>
                  <a:pt x="106238" y="60541"/>
                  <a:pt x="123837" y="42862"/>
                  <a:pt x="145746" y="42862"/>
                </a:cubicBezTo>
                <a:close/>
                <a:moveTo>
                  <a:pt x="145746" y="8655"/>
                </a:moveTo>
                <a:cubicBezTo>
                  <a:pt x="105767" y="8655"/>
                  <a:pt x="72991" y="41471"/>
                  <a:pt x="72991" y="81500"/>
                </a:cubicBezTo>
                <a:cubicBezTo>
                  <a:pt x="72991" y="133428"/>
                  <a:pt x="131339" y="195815"/>
                  <a:pt x="145746" y="210240"/>
                </a:cubicBezTo>
                <a:cubicBezTo>
                  <a:pt x="159793" y="195815"/>
                  <a:pt x="218141" y="133068"/>
                  <a:pt x="218141" y="81500"/>
                </a:cubicBezTo>
                <a:cubicBezTo>
                  <a:pt x="218141" y="41471"/>
                  <a:pt x="185725" y="8655"/>
                  <a:pt x="145746" y="8655"/>
                </a:cubicBezTo>
                <a:close/>
                <a:moveTo>
                  <a:pt x="145746" y="0"/>
                </a:moveTo>
                <a:cubicBezTo>
                  <a:pt x="190408" y="0"/>
                  <a:pt x="226785" y="36422"/>
                  <a:pt x="226785" y="81500"/>
                </a:cubicBezTo>
                <a:cubicBezTo>
                  <a:pt x="226785" y="109628"/>
                  <a:pt x="211658" y="139920"/>
                  <a:pt x="194369" y="164802"/>
                </a:cubicBezTo>
                <a:lnTo>
                  <a:pt x="251637" y="164802"/>
                </a:lnTo>
                <a:cubicBezTo>
                  <a:pt x="253438" y="164802"/>
                  <a:pt x="255239" y="166245"/>
                  <a:pt x="255599" y="168048"/>
                </a:cubicBezTo>
                <a:lnTo>
                  <a:pt x="290896" y="285609"/>
                </a:lnTo>
                <a:cubicBezTo>
                  <a:pt x="291616" y="287051"/>
                  <a:pt x="291256" y="288494"/>
                  <a:pt x="290536" y="289936"/>
                </a:cubicBezTo>
                <a:cubicBezTo>
                  <a:pt x="289455" y="291018"/>
                  <a:pt x="288375" y="291739"/>
                  <a:pt x="286934" y="291739"/>
                </a:cubicBezTo>
                <a:lnTo>
                  <a:pt x="4198" y="291739"/>
                </a:lnTo>
                <a:cubicBezTo>
                  <a:pt x="3117" y="291739"/>
                  <a:pt x="1677" y="291018"/>
                  <a:pt x="596" y="289936"/>
                </a:cubicBezTo>
                <a:cubicBezTo>
                  <a:pt x="-124" y="288494"/>
                  <a:pt x="-124" y="287051"/>
                  <a:pt x="236" y="285609"/>
                </a:cubicBezTo>
                <a:lnTo>
                  <a:pt x="35533" y="168048"/>
                </a:lnTo>
                <a:cubicBezTo>
                  <a:pt x="36253" y="166245"/>
                  <a:pt x="37694" y="164802"/>
                  <a:pt x="39855" y="164802"/>
                </a:cubicBezTo>
                <a:lnTo>
                  <a:pt x="96402" y="164802"/>
                </a:lnTo>
                <a:cubicBezTo>
                  <a:pt x="79834" y="139920"/>
                  <a:pt x="64347" y="109628"/>
                  <a:pt x="64347" y="81500"/>
                </a:cubicBezTo>
                <a:cubicBezTo>
                  <a:pt x="64347" y="36422"/>
                  <a:pt x="100724" y="0"/>
                  <a:pt x="145746" y="0"/>
                </a:cubicBezTo>
                <a:close/>
              </a:path>
            </a:pathLst>
          </a:custGeom>
          <a:solidFill>
            <a:srgbClr val="CC9B00"/>
          </a:solidFill>
          <a:ln>
            <a:noFill/>
          </a:ln>
          <a:effectLst/>
        </p:spPr>
        <p:txBody>
          <a:bodyPr anchor="ctr"/>
          <a:lstStyle/>
          <a:p>
            <a:endParaRPr lang="en-US" sz="900" noProof="0">
              <a:latin typeface="+mj-lt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FB08387-871D-4E97-8D7A-6E943B0C34BE}"/>
              </a:ext>
            </a:extLst>
          </p:cNvPr>
          <p:cNvSpPr txBox="1">
            <a:spLocks/>
          </p:cNvSpPr>
          <p:nvPr/>
        </p:nvSpPr>
        <p:spPr>
          <a:xfrm>
            <a:off x="5179434" y="2164519"/>
            <a:ext cx="1847149" cy="721608"/>
          </a:xfrm>
          <a:prstGeom prst="rect">
            <a:avLst/>
          </a:prstGeom>
        </p:spPr>
        <p:txBody>
          <a:bodyPr vert="horz" wrap="square" lIns="45720" tIns="22860" rIns="0" bIns="22860" rtlCol="0" anchor="t">
            <a:spAutoFit/>
          </a:bodyPr>
          <a:lstStyle>
            <a:defPPr>
              <a:defRPr lang="en-US"/>
            </a:defPPr>
            <a:lvl1pPr indent="0" defTabSz="1087636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>
                <a:latin typeface="+mj-lt"/>
                <a:ea typeface="League Spartan" charset="0"/>
                <a:cs typeface="Poppins" pitchFamily="2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Key HCP </a:t>
            </a:r>
            <a:r>
              <a:rPr lang="en-US" b="1" noProof="0"/>
              <a:t>redirecting the patient to the targeted HCPs</a:t>
            </a:r>
            <a:r>
              <a:rPr lang="en-US" noProof="0"/>
              <a:t> for NT1 diagnosis or referrals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F78EF60-B25C-ED65-E835-102973C61751}"/>
              </a:ext>
            </a:extLst>
          </p:cNvPr>
          <p:cNvGrpSpPr/>
          <p:nvPr/>
        </p:nvGrpSpPr>
        <p:grpSpPr>
          <a:xfrm>
            <a:off x="5071741" y="3215260"/>
            <a:ext cx="2062534" cy="1927042"/>
            <a:chOff x="656630" y="3472821"/>
            <a:chExt cx="2062534" cy="1412110"/>
          </a:xfrm>
        </p:grpSpPr>
        <p:sp>
          <p:nvSpPr>
            <p:cNvPr id="51" name="Pentagon 3">
              <a:extLst>
                <a:ext uri="{FF2B5EF4-FFF2-40B4-BE49-F238E27FC236}">
                  <a16:creationId xmlns:a16="http://schemas.microsoft.com/office/drawing/2014/main" id="{A78E9A75-EC1D-073D-1C2C-51C04C4AFD9E}"/>
                </a:ext>
              </a:extLst>
            </p:cNvPr>
            <p:cNvSpPr/>
            <p:nvPr/>
          </p:nvSpPr>
          <p:spPr>
            <a:xfrm>
              <a:off x="656630" y="3501022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Network Influence: 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Top ~15% </a:t>
              </a:r>
              <a:r>
                <a:rPr lang="en-US" sz="1100" u="sng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betweenness subset centrality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Rerouting Intensity:</a:t>
              </a:r>
              <a:r>
                <a:rPr lang="en-US" sz="110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Min. 2 patients referred out</a:t>
              </a:r>
              <a:endParaRPr lang="en-US" sz="11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endParaRPr>
            </a:p>
            <a:p>
              <a:r>
                <a:rPr lang="en-US" sz="1100" i="1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OR</a:t>
              </a:r>
              <a:endParaRPr lang="en-US" sz="1100" i="1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endParaRP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Rerouting Value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: 25%+ patients received NT Dx/Tx immediately post referral (min n=3)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Connection Strength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: Inbound Referral Connections with ≥ 2 unique HCPs</a:t>
              </a:r>
            </a:p>
          </p:txBody>
        </p:sp>
        <p:sp>
          <p:nvSpPr>
            <p:cNvPr id="52" name="Pentagon 3">
              <a:extLst>
                <a:ext uri="{FF2B5EF4-FFF2-40B4-BE49-F238E27FC236}">
                  <a16:creationId xmlns:a16="http://schemas.microsoft.com/office/drawing/2014/main" id="{7329D9E0-BE94-F37C-C74C-9E3731AC22ED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sp>
        <p:nvSpPr>
          <p:cNvPr id="8" name="Chevron 6">
            <a:extLst>
              <a:ext uri="{FF2B5EF4-FFF2-40B4-BE49-F238E27FC236}">
                <a16:creationId xmlns:a16="http://schemas.microsoft.com/office/drawing/2014/main" id="{7D467CEC-8255-C388-3D3B-DF4A4AD00791}"/>
              </a:ext>
            </a:extLst>
          </p:cNvPr>
          <p:cNvSpPr/>
          <p:nvPr/>
        </p:nvSpPr>
        <p:spPr>
          <a:xfrm>
            <a:off x="7281051" y="1887042"/>
            <a:ext cx="2039674" cy="26665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Super </a:t>
            </a:r>
            <a:r>
              <a:rPr lang="en-US" sz="1400" b="1" noProof="0" err="1">
                <a:solidFill>
                  <a:schemeClr val="bg1"/>
                </a:solidFill>
                <a:latin typeface="+mj-lt"/>
                <a:cs typeface="Poppins" pitchFamily="2" charset="77"/>
              </a:rPr>
              <a:t>Diagnosers</a:t>
            </a:r>
            <a:endParaRPr lang="en-US" sz="1400" b="1" noProof="0">
              <a:solidFill>
                <a:schemeClr val="bg1"/>
              </a:solidFill>
              <a:latin typeface="+mj-lt"/>
              <a:cs typeface="Poppins" pitchFamily="2" charset="77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C585F2C-3A36-0B56-5E42-C4BB91D03360}"/>
              </a:ext>
            </a:extLst>
          </p:cNvPr>
          <p:cNvSpPr txBox="1">
            <a:spLocks/>
          </p:cNvSpPr>
          <p:nvPr/>
        </p:nvSpPr>
        <p:spPr>
          <a:xfrm>
            <a:off x="7377314" y="2164519"/>
            <a:ext cx="1847149" cy="72160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en-US"/>
            </a:defPPr>
            <a:lvl1pPr indent="0" defTabSz="1087636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>
                <a:latin typeface="+mj-lt"/>
                <a:ea typeface="League Spartan" charset="0"/>
                <a:cs typeface="Poppins" pitchFamily="2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Consistently </a:t>
            </a:r>
            <a:r>
              <a:rPr lang="en-US" b="1" noProof="0"/>
              <a:t>seeing and diagnosing</a:t>
            </a:r>
            <a:r>
              <a:rPr lang="en-US" noProof="0"/>
              <a:t> a high-volume of patients with NT1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EF8F9EB-4F4A-C057-C633-C764342D37F9}"/>
              </a:ext>
            </a:extLst>
          </p:cNvPr>
          <p:cNvSpPr>
            <a:spLocks noChangeAspect="1"/>
          </p:cNvSpPr>
          <p:nvPr/>
        </p:nvSpPr>
        <p:spPr>
          <a:xfrm>
            <a:off x="8050049" y="1249357"/>
            <a:ext cx="501678" cy="457200"/>
          </a:xfrm>
          <a:custGeom>
            <a:avLst/>
            <a:gdLst>
              <a:gd name="connsiteX0" fmla="*/ 168967 w 856359"/>
              <a:gd name="connsiteY0" fmla="*/ 125369 h 803463"/>
              <a:gd name="connsiteX1" fmla="*/ 138059 w 856359"/>
              <a:gd name="connsiteY1" fmla="*/ 120931 h 803463"/>
              <a:gd name="connsiteX2" fmla="*/ 104654 w 856359"/>
              <a:gd name="connsiteY2" fmla="*/ 141743 h 803463"/>
              <a:gd name="connsiteX3" fmla="*/ 104645 w 856359"/>
              <a:gd name="connsiteY3" fmla="*/ 141762 h 803463"/>
              <a:gd name="connsiteX4" fmla="*/ 95720 w 856359"/>
              <a:gd name="connsiteY4" fmla="*/ 180205 h 803463"/>
              <a:gd name="connsiteX5" fmla="*/ 109903 w 856359"/>
              <a:gd name="connsiteY5" fmla="*/ 207970 h 803463"/>
              <a:gd name="connsiteX6" fmla="*/ 168967 w 856359"/>
              <a:gd name="connsiteY6" fmla="*/ 125369 h 803463"/>
              <a:gd name="connsiteX7" fmla="*/ 168967 w 856359"/>
              <a:gd name="connsiteY7" fmla="*/ 125369 h 803463"/>
              <a:gd name="connsiteX8" fmla="*/ 594049 w 856359"/>
              <a:gd name="connsiteY8" fmla="*/ 131246 h 803463"/>
              <a:gd name="connsiteX9" fmla="*/ 655218 w 856359"/>
              <a:gd name="connsiteY9" fmla="*/ 131246 h 803463"/>
              <a:gd name="connsiteX10" fmla="*/ 663962 w 856359"/>
              <a:gd name="connsiteY10" fmla="*/ 139990 h 803463"/>
              <a:gd name="connsiteX11" fmla="*/ 663962 w 856359"/>
              <a:gd name="connsiteY11" fmla="*/ 192425 h 803463"/>
              <a:gd name="connsiteX12" fmla="*/ 716340 w 856359"/>
              <a:gd name="connsiteY12" fmla="*/ 192425 h 803463"/>
              <a:gd name="connsiteX13" fmla="*/ 725084 w 856359"/>
              <a:gd name="connsiteY13" fmla="*/ 201160 h 803463"/>
              <a:gd name="connsiteX14" fmla="*/ 725084 w 856359"/>
              <a:gd name="connsiteY14" fmla="*/ 262282 h 803463"/>
              <a:gd name="connsiteX15" fmla="*/ 716340 w 856359"/>
              <a:gd name="connsiteY15" fmla="*/ 271026 h 803463"/>
              <a:gd name="connsiteX16" fmla="*/ 663962 w 856359"/>
              <a:gd name="connsiteY16" fmla="*/ 271026 h 803463"/>
              <a:gd name="connsiteX17" fmla="*/ 663962 w 856359"/>
              <a:gd name="connsiteY17" fmla="*/ 323461 h 803463"/>
              <a:gd name="connsiteX18" fmla="*/ 655218 w 856359"/>
              <a:gd name="connsiteY18" fmla="*/ 332205 h 803463"/>
              <a:gd name="connsiteX19" fmla="*/ 594049 w 856359"/>
              <a:gd name="connsiteY19" fmla="*/ 332205 h 803463"/>
              <a:gd name="connsiteX20" fmla="*/ 585315 w 856359"/>
              <a:gd name="connsiteY20" fmla="*/ 323461 h 803463"/>
              <a:gd name="connsiteX21" fmla="*/ 585315 w 856359"/>
              <a:gd name="connsiteY21" fmla="*/ 271026 h 803463"/>
              <a:gd name="connsiteX22" fmla="*/ 532927 w 856359"/>
              <a:gd name="connsiteY22" fmla="*/ 271026 h 803463"/>
              <a:gd name="connsiteX23" fmla="*/ 524183 w 856359"/>
              <a:gd name="connsiteY23" fmla="*/ 262282 h 803463"/>
              <a:gd name="connsiteX24" fmla="*/ 524183 w 856359"/>
              <a:gd name="connsiteY24" fmla="*/ 201160 h 803463"/>
              <a:gd name="connsiteX25" fmla="*/ 532927 w 856359"/>
              <a:gd name="connsiteY25" fmla="*/ 192425 h 803463"/>
              <a:gd name="connsiteX26" fmla="*/ 585315 w 856359"/>
              <a:gd name="connsiteY26" fmla="*/ 192425 h 803463"/>
              <a:gd name="connsiteX27" fmla="*/ 585315 w 856359"/>
              <a:gd name="connsiteY27" fmla="*/ 139981 h 803463"/>
              <a:gd name="connsiteX28" fmla="*/ 594049 w 856359"/>
              <a:gd name="connsiteY28" fmla="*/ 131246 h 803463"/>
              <a:gd name="connsiteX29" fmla="*/ 594049 w 856359"/>
              <a:gd name="connsiteY29" fmla="*/ 131246 h 803463"/>
              <a:gd name="connsiteX30" fmla="*/ 646484 w 856359"/>
              <a:gd name="connsiteY30" fmla="*/ 148725 h 803463"/>
              <a:gd name="connsiteX31" fmla="*/ 602783 w 856359"/>
              <a:gd name="connsiteY31" fmla="*/ 148725 h 803463"/>
              <a:gd name="connsiteX32" fmla="*/ 602783 w 856359"/>
              <a:gd name="connsiteY32" fmla="*/ 201160 h 803463"/>
              <a:gd name="connsiteX33" fmla="*/ 594049 w 856359"/>
              <a:gd name="connsiteY33" fmla="*/ 209894 h 803463"/>
              <a:gd name="connsiteX34" fmla="*/ 541661 w 856359"/>
              <a:gd name="connsiteY34" fmla="*/ 209894 h 803463"/>
              <a:gd name="connsiteX35" fmla="*/ 541661 w 856359"/>
              <a:gd name="connsiteY35" fmla="*/ 253538 h 803463"/>
              <a:gd name="connsiteX36" fmla="*/ 594049 w 856359"/>
              <a:gd name="connsiteY36" fmla="*/ 253538 h 803463"/>
              <a:gd name="connsiteX37" fmla="*/ 602783 w 856359"/>
              <a:gd name="connsiteY37" fmla="*/ 262272 h 803463"/>
              <a:gd name="connsiteX38" fmla="*/ 602783 w 856359"/>
              <a:gd name="connsiteY38" fmla="*/ 314707 h 803463"/>
              <a:gd name="connsiteX39" fmla="*/ 646484 w 856359"/>
              <a:gd name="connsiteY39" fmla="*/ 314707 h 803463"/>
              <a:gd name="connsiteX40" fmla="*/ 646484 w 856359"/>
              <a:gd name="connsiteY40" fmla="*/ 262282 h 803463"/>
              <a:gd name="connsiteX41" fmla="*/ 655218 w 856359"/>
              <a:gd name="connsiteY41" fmla="*/ 253547 h 803463"/>
              <a:gd name="connsiteX42" fmla="*/ 707606 w 856359"/>
              <a:gd name="connsiteY42" fmla="*/ 253547 h 803463"/>
              <a:gd name="connsiteX43" fmla="*/ 707606 w 856359"/>
              <a:gd name="connsiteY43" fmla="*/ 209894 h 803463"/>
              <a:gd name="connsiteX44" fmla="*/ 655218 w 856359"/>
              <a:gd name="connsiteY44" fmla="*/ 209894 h 803463"/>
              <a:gd name="connsiteX45" fmla="*/ 646484 w 856359"/>
              <a:gd name="connsiteY45" fmla="*/ 201160 h 803463"/>
              <a:gd name="connsiteX46" fmla="*/ 646484 w 856359"/>
              <a:gd name="connsiteY46" fmla="*/ 148725 h 803463"/>
              <a:gd name="connsiteX47" fmla="*/ 646484 w 856359"/>
              <a:gd name="connsiteY47" fmla="*/ 148725 h 803463"/>
              <a:gd name="connsiteX48" fmla="*/ 240900 w 856359"/>
              <a:gd name="connsiteY48" fmla="*/ 503931 h 803463"/>
              <a:gd name="connsiteX49" fmla="*/ 270237 w 856359"/>
              <a:gd name="connsiteY49" fmla="*/ 516085 h 803463"/>
              <a:gd name="connsiteX50" fmla="*/ 282391 w 856359"/>
              <a:gd name="connsiteY50" fmla="*/ 545422 h 803463"/>
              <a:gd name="connsiteX51" fmla="*/ 270237 w 856359"/>
              <a:gd name="connsiteY51" fmla="*/ 574759 h 803463"/>
              <a:gd name="connsiteX52" fmla="*/ 240900 w 856359"/>
              <a:gd name="connsiteY52" fmla="*/ 586913 h 803463"/>
              <a:gd name="connsiteX53" fmla="*/ 211563 w 856359"/>
              <a:gd name="connsiteY53" fmla="*/ 574759 h 803463"/>
              <a:gd name="connsiteX54" fmla="*/ 199409 w 856359"/>
              <a:gd name="connsiteY54" fmla="*/ 545422 h 803463"/>
              <a:gd name="connsiteX55" fmla="*/ 211563 w 856359"/>
              <a:gd name="connsiteY55" fmla="*/ 516085 h 803463"/>
              <a:gd name="connsiteX56" fmla="*/ 240900 w 856359"/>
              <a:gd name="connsiteY56" fmla="*/ 503931 h 803463"/>
              <a:gd name="connsiteX57" fmla="*/ 240900 w 856359"/>
              <a:gd name="connsiteY57" fmla="*/ 503931 h 803463"/>
              <a:gd name="connsiteX58" fmla="*/ 257883 w 856359"/>
              <a:gd name="connsiteY58" fmla="*/ 528448 h 803463"/>
              <a:gd name="connsiteX59" fmla="*/ 240900 w 856359"/>
              <a:gd name="connsiteY59" fmla="*/ 521419 h 803463"/>
              <a:gd name="connsiteX60" fmla="*/ 223917 w 856359"/>
              <a:gd name="connsiteY60" fmla="*/ 528448 h 803463"/>
              <a:gd name="connsiteX61" fmla="*/ 216887 w 856359"/>
              <a:gd name="connsiteY61" fmla="*/ 545431 h 803463"/>
              <a:gd name="connsiteX62" fmla="*/ 223917 w 856359"/>
              <a:gd name="connsiteY62" fmla="*/ 562414 h 803463"/>
              <a:gd name="connsiteX63" fmla="*/ 240900 w 856359"/>
              <a:gd name="connsiteY63" fmla="*/ 569444 h 803463"/>
              <a:gd name="connsiteX64" fmla="*/ 257883 w 856359"/>
              <a:gd name="connsiteY64" fmla="*/ 562414 h 803463"/>
              <a:gd name="connsiteX65" fmla="*/ 264913 w 856359"/>
              <a:gd name="connsiteY65" fmla="*/ 545431 h 803463"/>
              <a:gd name="connsiteX66" fmla="*/ 257883 w 856359"/>
              <a:gd name="connsiteY66" fmla="*/ 528448 h 803463"/>
              <a:gd name="connsiteX67" fmla="*/ 257883 w 856359"/>
              <a:gd name="connsiteY67" fmla="*/ 528448 h 803463"/>
              <a:gd name="connsiteX68" fmla="*/ 332026 w 856359"/>
              <a:gd name="connsiteY68" fmla="*/ 568768 h 803463"/>
              <a:gd name="connsiteX69" fmla="*/ 289144 w 856359"/>
              <a:gd name="connsiteY69" fmla="*/ 586532 h 803463"/>
              <a:gd name="connsiteX70" fmla="*/ 271380 w 856359"/>
              <a:gd name="connsiteY70" fmla="*/ 629413 h 803463"/>
              <a:gd name="connsiteX71" fmla="*/ 289144 w 856359"/>
              <a:gd name="connsiteY71" fmla="*/ 672295 h 803463"/>
              <a:gd name="connsiteX72" fmla="*/ 332026 w 856359"/>
              <a:gd name="connsiteY72" fmla="*/ 690059 h 803463"/>
              <a:gd name="connsiteX73" fmla="*/ 374907 w 856359"/>
              <a:gd name="connsiteY73" fmla="*/ 672295 h 803463"/>
              <a:gd name="connsiteX74" fmla="*/ 392671 w 856359"/>
              <a:gd name="connsiteY74" fmla="*/ 629413 h 803463"/>
              <a:gd name="connsiteX75" fmla="*/ 374907 w 856359"/>
              <a:gd name="connsiteY75" fmla="*/ 586532 h 803463"/>
              <a:gd name="connsiteX76" fmla="*/ 332026 w 856359"/>
              <a:gd name="connsiteY76" fmla="*/ 568768 h 803463"/>
              <a:gd name="connsiteX77" fmla="*/ 332026 w 856359"/>
              <a:gd name="connsiteY77" fmla="*/ 568768 h 803463"/>
              <a:gd name="connsiteX78" fmla="*/ 362544 w 856359"/>
              <a:gd name="connsiteY78" fmla="*/ 598886 h 803463"/>
              <a:gd name="connsiteX79" fmla="*/ 375183 w 856359"/>
              <a:gd name="connsiteY79" fmla="*/ 629404 h 803463"/>
              <a:gd name="connsiteX80" fmla="*/ 362544 w 856359"/>
              <a:gd name="connsiteY80" fmla="*/ 659922 h 803463"/>
              <a:gd name="connsiteX81" fmla="*/ 332026 w 856359"/>
              <a:gd name="connsiteY81" fmla="*/ 672562 h 803463"/>
              <a:gd name="connsiteX82" fmla="*/ 301508 w 856359"/>
              <a:gd name="connsiteY82" fmla="*/ 659922 h 803463"/>
              <a:gd name="connsiteX83" fmla="*/ 288868 w 856359"/>
              <a:gd name="connsiteY83" fmla="*/ 629404 h 803463"/>
              <a:gd name="connsiteX84" fmla="*/ 301508 w 856359"/>
              <a:gd name="connsiteY84" fmla="*/ 598886 h 803463"/>
              <a:gd name="connsiteX85" fmla="*/ 332026 w 856359"/>
              <a:gd name="connsiteY85" fmla="*/ 586246 h 803463"/>
              <a:gd name="connsiteX86" fmla="*/ 362544 w 856359"/>
              <a:gd name="connsiteY86" fmla="*/ 598886 h 803463"/>
              <a:gd name="connsiteX87" fmla="*/ 362544 w 856359"/>
              <a:gd name="connsiteY87" fmla="*/ 598886 h 803463"/>
              <a:gd name="connsiteX88" fmla="*/ 175492 w 856359"/>
              <a:gd name="connsiteY88" fmla="*/ 595466 h 803463"/>
              <a:gd name="connsiteX89" fmla="*/ 230927 w 856359"/>
              <a:gd name="connsiteY89" fmla="*/ 618431 h 803463"/>
              <a:gd name="connsiteX90" fmla="*/ 253892 w 856359"/>
              <a:gd name="connsiteY90" fmla="*/ 673866 h 803463"/>
              <a:gd name="connsiteX91" fmla="*/ 230927 w 856359"/>
              <a:gd name="connsiteY91" fmla="*/ 729302 h 803463"/>
              <a:gd name="connsiteX92" fmla="*/ 175492 w 856359"/>
              <a:gd name="connsiteY92" fmla="*/ 752267 h 803463"/>
              <a:gd name="connsiteX93" fmla="*/ 120056 w 856359"/>
              <a:gd name="connsiteY93" fmla="*/ 729302 h 803463"/>
              <a:gd name="connsiteX94" fmla="*/ 97092 w 856359"/>
              <a:gd name="connsiteY94" fmla="*/ 673866 h 803463"/>
              <a:gd name="connsiteX95" fmla="*/ 120056 w 856359"/>
              <a:gd name="connsiteY95" fmla="*/ 618431 h 803463"/>
              <a:gd name="connsiteX96" fmla="*/ 175492 w 856359"/>
              <a:gd name="connsiteY96" fmla="*/ 595466 h 803463"/>
              <a:gd name="connsiteX97" fmla="*/ 175492 w 856359"/>
              <a:gd name="connsiteY97" fmla="*/ 595466 h 803463"/>
              <a:gd name="connsiteX98" fmla="*/ 218564 w 856359"/>
              <a:gd name="connsiteY98" fmla="*/ 630785 h 803463"/>
              <a:gd name="connsiteX99" fmla="*/ 175482 w 856359"/>
              <a:gd name="connsiteY99" fmla="*/ 612945 h 803463"/>
              <a:gd name="connsiteX100" fmla="*/ 132410 w 856359"/>
              <a:gd name="connsiteY100" fmla="*/ 630785 h 803463"/>
              <a:gd name="connsiteX101" fmla="*/ 114570 w 856359"/>
              <a:gd name="connsiteY101" fmla="*/ 673857 h 803463"/>
              <a:gd name="connsiteX102" fmla="*/ 132410 w 856359"/>
              <a:gd name="connsiteY102" fmla="*/ 716939 h 803463"/>
              <a:gd name="connsiteX103" fmla="*/ 175482 w 856359"/>
              <a:gd name="connsiteY103" fmla="*/ 734779 h 803463"/>
              <a:gd name="connsiteX104" fmla="*/ 218564 w 856359"/>
              <a:gd name="connsiteY104" fmla="*/ 716939 h 803463"/>
              <a:gd name="connsiteX105" fmla="*/ 236404 w 856359"/>
              <a:gd name="connsiteY105" fmla="*/ 673857 h 803463"/>
              <a:gd name="connsiteX106" fmla="*/ 218564 w 856359"/>
              <a:gd name="connsiteY106" fmla="*/ 630785 h 803463"/>
              <a:gd name="connsiteX107" fmla="*/ 218564 w 856359"/>
              <a:gd name="connsiteY107" fmla="*/ 630785 h 803463"/>
              <a:gd name="connsiteX108" fmla="*/ 332102 w 856359"/>
              <a:gd name="connsiteY108" fmla="*/ 342168 h 803463"/>
              <a:gd name="connsiteX109" fmla="*/ 352971 w 856359"/>
              <a:gd name="connsiteY109" fmla="*/ 333338 h 803463"/>
              <a:gd name="connsiteX110" fmla="*/ 361801 w 856359"/>
              <a:gd name="connsiteY110" fmla="*/ 312088 h 803463"/>
              <a:gd name="connsiteX111" fmla="*/ 352971 w 856359"/>
              <a:gd name="connsiteY111" fmla="*/ 290838 h 803463"/>
              <a:gd name="connsiteX112" fmla="*/ 331721 w 856359"/>
              <a:gd name="connsiteY112" fmla="*/ 282008 h 803463"/>
              <a:gd name="connsiteX113" fmla="*/ 163243 w 856359"/>
              <a:gd name="connsiteY113" fmla="*/ 282008 h 803463"/>
              <a:gd name="connsiteX114" fmla="*/ 141992 w 856359"/>
              <a:gd name="connsiteY114" fmla="*/ 290838 h 803463"/>
              <a:gd name="connsiteX115" fmla="*/ 133163 w 856359"/>
              <a:gd name="connsiteY115" fmla="*/ 312088 h 803463"/>
              <a:gd name="connsiteX116" fmla="*/ 141992 w 856359"/>
              <a:gd name="connsiteY116" fmla="*/ 333338 h 803463"/>
              <a:gd name="connsiteX117" fmla="*/ 162862 w 856359"/>
              <a:gd name="connsiteY117" fmla="*/ 342168 h 803463"/>
              <a:gd name="connsiteX118" fmla="*/ 162862 w 856359"/>
              <a:gd name="connsiteY118" fmla="*/ 381277 h 803463"/>
              <a:gd name="connsiteX119" fmla="*/ 162185 w 856359"/>
              <a:gd name="connsiteY119" fmla="*/ 389393 h 803463"/>
              <a:gd name="connsiteX120" fmla="*/ 160090 w 856359"/>
              <a:gd name="connsiteY120" fmla="*/ 395851 h 803463"/>
              <a:gd name="connsiteX121" fmla="*/ 159776 w 856359"/>
              <a:gd name="connsiteY121" fmla="*/ 396422 h 803463"/>
              <a:gd name="connsiteX122" fmla="*/ 6880 w 856359"/>
              <a:gd name="connsiteY122" fmla="*/ 702394 h 803463"/>
              <a:gd name="connsiteX123" fmla="*/ 6909 w 856359"/>
              <a:gd name="connsiteY123" fmla="*/ 702403 h 803463"/>
              <a:gd name="connsiteX124" fmla="*/ 222 w 856359"/>
              <a:gd name="connsiteY124" fmla="*/ 736703 h 803463"/>
              <a:gd name="connsiteX125" fmla="*/ 12310 w 856359"/>
              <a:gd name="connsiteY125" fmla="*/ 770869 h 803463"/>
              <a:gd name="connsiteX126" fmla="*/ 38151 w 856359"/>
              <a:gd name="connsiteY126" fmla="*/ 794996 h 803463"/>
              <a:gd name="connsiteX127" fmla="*/ 72412 w 856359"/>
              <a:gd name="connsiteY127" fmla="*/ 803464 h 803463"/>
              <a:gd name="connsiteX128" fmla="*/ 440735 w 856359"/>
              <a:gd name="connsiteY128" fmla="*/ 803464 h 803463"/>
              <a:gd name="connsiteX129" fmla="*/ 475729 w 856359"/>
              <a:gd name="connsiteY129" fmla="*/ 794586 h 803463"/>
              <a:gd name="connsiteX130" fmla="*/ 501714 w 856359"/>
              <a:gd name="connsiteY130" fmla="*/ 769536 h 803463"/>
              <a:gd name="connsiteX131" fmla="*/ 512658 w 856359"/>
              <a:gd name="connsiteY131" fmla="*/ 735122 h 803463"/>
              <a:gd name="connsiteX132" fmla="*/ 505066 w 856359"/>
              <a:gd name="connsiteY132" fmla="*/ 699851 h 803463"/>
              <a:gd name="connsiteX133" fmla="*/ 505066 w 856359"/>
              <a:gd name="connsiteY133" fmla="*/ 699851 h 803463"/>
              <a:gd name="connsiteX134" fmla="*/ 504866 w 856359"/>
              <a:gd name="connsiteY134" fmla="*/ 699470 h 803463"/>
              <a:gd name="connsiteX135" fmla="*/ 335864 w 856359"/>
              <a:gd name="connsiteY135" fmla="*/ 396879 h 803463"/>
              <a:gd name="connsiteX136" fmla="*/ 332950 w 856359"/>
              <a:gd name="connsiteY136" fmla="*/ 389164 h 803463"/>
              <a:gd name="connsiteX137" fmla="*/ 332102 w 856359"/>
              <a:gd name="connsiteY137" fmla="*/ 380182 h 803463"/>
              <a:gd name="connsiteX138" fmla="*/ 332102 w 856359"/>
              <a:gd name="connsiteY138" fmla="*/ 342168 h 803463"/>
              <a:gd name="connsiteX139" fmla="*/ 332102 w 856359"/>
              <a:gd name="connsiteY139" fmla="*/ 342168 h 803463"/>
              <a:gd name="connsiteX140" fmla="*/ 180331 w 856359"/>
              <a:gd name="connsiteY140" fmla="*/ 342168 h 803463"/>
              <a:gd name="connsiteX141" fmla="*/ 180331 w 856359"/>
              <a:gd name="connsiteY141" fmla="*/ 381277 h 803463"/>
              <a:gd name="connsiteX142" fmla="*/ 179311 w 856359"/>
              <a:gd name="connsiteY142" fmla="*/ 392746 h 803463"/>
              <a:gd name="connsiteX143" fmla="*/ 175730 w 856359"/>
              <a:gd name="connsiteY143" fmla="*/ 403490 h 803463"/>
              <a:gd name="connsiteX144" fmla="*/ 175416 w 856359"/>
              <a:gd name="connsiteY144" fmla="*/ 404214 h 803463"/>
              <a:gd name="connsiteX145" fmla="*/ 22520 w 856359"/>
              <a:gd name="connsiteY145" fmla="*/ 710176 h 803463"/>
              <a:gd name="connsiteX146" fmla="*/ 22492 w 856359"/>
              <a:gd name="connsiteY146" fmla="*/ 710166 h 803463"/>
              <a:gd name="connsiteX147" fmla="*/ 22482 w 856359"/>
              <a:gd name="connsiteY147" fmla="*/ 710176 h 803463"/>
              <a:gd name="connsiteX148" fmla="*/ 17624 w 856359"/>
              <a:gd name="connsiteY148" fmla="*/ 735341 h 803463"/>
              <a:gd name="connsiteX149" fmla="*/ 26911 w 856359"/>
              <a:gd name="connsiteY149" fmla="*/ 761392 h 803463"/>
              <a:gd name="connsiteX150" fmla="*/ 46409 w 856359"/>
              <a:gd name="connsiteY150" fmla="*/ 779642 h 803463"/>
              <a:gd name="connsiteX151" fmla="*/ 72412 w 856359"/>
              <a:gd name="connsiteY151" fmla="*/ 785985 h 803463"/>
              <a:gd name="connsiteX152" fmla="*/ 440735 w 856359"/>
              <a:gd name="connsiteY152" fmla="*/ 785985 h 803463"/>
              <a:gd name="connsiteX153" fmla="*/ 467262 w 856359"/>
              <a:gd name="connsiteY153" fmla="*/ 779365 h 803463"/>
              <a:gd name="connsiteX154" fmla="*/ 486893 w 856359"/>
              <a:gd name="connsiteY154" fmla="*/ 760325 h 803463"/>
              <a:gd name="connsiteX155" fmla="*/ 495246 w 856359"/>
              <a:gd name="connsiteY155" fmla="*/ 734303 h 803463"/>
              <a:gd name="connsiteX156" fmla="*/ 489464 w 856359"/>
              <a:gd name="connsiteY156" fmla="*/ 707642 h 803463"/>
              <a:gd name="connsiteX157" fmla="*/ 320634 w 856359"/>
              <a:gd name="connsiteY157" fmla="*/ 405347 h 803463"/>
              <a:gd name="connsiteX158" fmla="*/ 315881 w 856359"/>
              <a:gd name="connsiteY158" fmla="*/ 392860 h 803463"/>
              <a:gd name="connsiteX159" fmla="*/ 314624 w 856359"/>
              <a:gd name="connsiteY159" fmla="*/ 380192 h 803463"/>
              <a:gd name="connsiteX160" fmla="*/ 314624 w 856359"/>
              <a:gd name="connsiteY160" fmla="*/ 342168 h 803463"/>
              <a:gd name="connsiteX161" fmla="*/ 180331 w 856359"/>
              <a:gd name="connsiteY161" fmla="*/ 342168 h 803463"/>
              <a:gd name="connsiteX162" fmla="*/ 180331 w 856359"/>
              <a:gd name="connsiteY162" fmla="*/ 342168 h 803463"/>
              <a:gd name="connsiteX163" fmla="*/ 331721 w 856359"/>
              <a:gd name="connsiteY163" fmla="*/ 299486 h 803463"/>
              <a:gd name="connsiteX164" fmla="*/ 340617 w 856359"/>
              <a:gd name="connsiteY164" fmla="*/ 303192 h 803463"/>
              <a:gd name="connsiteX165" fmla="*/ 344322 w 856359"/>
              <a:gd name="connsiteY165" fmla="*/ 312088 h 803463"/>
              <a:gd name="connsiteX166" fmla="*/ 340617 w 856359"/>
              <a:gd name="connsiteY166" fmla="*/ 320984 h 803463"/>
              <a:gd name="connsiteX167" fmla="*/ 331721 w 856359"/>
              <a:gd name="connsiteY167" fmla="*/ 324689 h 803463"/>
              <a:gd name="connsiteX168" fmla="*/ 323367 w 856359"/>
              <a:gd name="connsiteY168" fmla="*/ 324689 h 803463"/>
              <a:gd name="connsiteX169" fmla="*/ 171596 w 856359"/>
              <a:gd name="connsiteY169" fmla="*/ 324689 h 803463"/>
              <a:gd name="connsiteX170" fmla="*/ 163243 w 856359"/>
              <a:gd name="connsiteY170" fmla="*/ 324689 h 803463"/>
              <a:gd name="connsiteX171" fmla="*/ 154346 w 856359"/>
              <a:gd name="connsiteY171" fmla="*/ 320984 h 803463"/>
              <a:gd name="connsiteX172" fmla="*/ 150632 w 856359"/>
              <a:gd name="connsiteY172" fmla="*/ 312088 h 803463"/>
              <a:gd name="connsiteX173" fmla="*/ 154346 w 856359"/>
              <a:gd name="connsiteY173" fmla="*/ 303192 h 803463"/>
              <a:gd name="connsiteX174" fmla="*/ 163243 w 856359"/>
              <a:gd name="connsiteY174" fmla="*/ 299486 h 803463"/>
              <a:gd name="connsiteX175" fmla="*/ 331721 w 856359"/>
              <a:gd name="connsiteY175" fmla="*/ 299486 h 803463"/>
              <a:gd name="connsiteX176" fmla="*/ 331721 w 856359"/>
              <a:gd name="connsiteY176" fmla="*/ 299486 h 803463"/>
              <a:gd name="connsiteX177" fmla="*/ 682098 w 856359"/>
              <a:gd name="connsiteY177" fmla="*/ 456258 h 803463"/>
              <a:gd name="connsiteX178" fmla="*/ 790626 w 856359"/>
              <a:gd name="connsiteY178" fmla="*/ 393422 h 803463"/>
              <a:gd name="connsiteX179" fmla="*/ 856339 w 856359"/>
              <a:gd name="connsiteY179" fmla="*/ 228706 h 803463"/>
              <a:gd name="connsiteX180" fmla="*/ 786330 w 856359"/>
              <a:gd name="connsiteY180" fmla="*/ 65733 h 803463"/>
              <a:gd name="connsiteX181" fmla="*/ 621614 w 856359"/>
              <a:gd name="connsiteY181" fmla="*/ 20 h 803463"/>
              <a:gd name="connsiteX182" fmla="*/ 458632 w 856359"/>
              <a:gd name="connsiteY182" fmla="*/ 70029 h 803463"/>
              <a:gd name="connsiteX183" fmla="*/ 392919 w 856359"/>
              <a:gd name="connsiteY183" fmla="*/ 234745 h 803463"/>
              <a:gd name="connsiteX184" fmla="*/ 462918 w 856359"/>
              <a:gd name="connsiteY184" fmla="*/ 397718 h 803463"/>
              <a:gd name="connsiteX185" fmla="*/ 568874 w 856359"/>
              <a:gd name="connsiteY185" fmla="*/ 456706 h 803463"/>
              <a:gd name="connsiteX186" fmla="*/ 569151 w 856359"/>
              <a:gd name="connsiteY186" fmla="*/ 540012 h 803463"/>
              <a:gd name="connsiteX187" fmla="*/ 559959 w 856359"/>
              <a:gd name="connsiteY187" fmla="*/ 545698 h 803463"/>
              <a:gd name="connsiteX188" fmla="*/ 544862 w 856359"/>
              <a:gd name="connsiteY188" fmla="*/ 574749 h 803463"/>
              <a:gd name="connsiteX189" fmla="*/ 543586 w 856359"/>
              <a:gd name="connsiteY189" fmla="*/ 762792 h 803463"/>
              <a:gd name="connsiteX190" fmla="*/ 558206 w 856359"/>
              <a:gd name="connsiteY190" fmla="*/ 791834 h 803463"/>
              <a:gd name="connsiteX191" fmla="*/ 591363 w 856359"/>
              <a:gd name="connsiteY191" fmla="*/ 803178 h 803463"/>
              <a:gd name="connsiteX192" fmla="*/ 656295 w 856359"/>
              <a:gd name="connsiteY192" fmla="*/ 803454 h 803463"/>
              <a:gd name="connsiteX193" fmla="*/ 689756 w 856359"/>
              <a:gd name="connsiteY193" fmla="*/ 792453 h 803463"/>
              <a:gd name="connsiteX194" fmla="*/ 704844 w 856359"/>
              <a:gd name="connsiteY194" fmla="*/ 763411 h 803463"/>
              <a:gd name="connsiteX195" fmla="*/ 706111 w 856359"/>
              <a:gd name="connsiteY195" fmla="*/ 576235 h 803463"/>
              <a:gd name="connsiteX196" fmla="*/ 706149 w 856359"/>
              <a:gd name="connsiteY196" fmla="*/ 575407 h 803463"/>
              <a:gd name="connsiteX197" fmla="*/ 706149 w 856359"/>
              <a:gd name="connsiteY197" fmla="*/ 575368 h 803463"/>
              <a:gd name="connsiteX198" fmla="*/ 706120 w 856359"/>
              <a:gd name="connsiteY198" fmla="*/ 575368 h 803463"/>
              <a:gd name="connsiteX199" fmla="*/ 691490 w 856359"/>
              <a:gd name="connsiteY199" fmla="*/ 546327 h 803463"/>
              <a:gd name="connsiteX200" fmla="*/ 682384 w 856359"/>
              <a:gd name="connsiteY200" fmla="*/ 540536 h 803463"/>
              <a:gd name="connsiteX201" fmla="*/ 682098 w 856359"/>
              <a:gd name="connsiteY201" fmla="*/ 456258 h 803463"/>
              <a:gd name="connsiteX202" fmla="*/ 682098 w 856359"/>
              <a:gd name="connsiteY202" fmla="*/ 456258 h 803463"/>
              <a:gd name="connsiteX203" fmla="*/ 625786 w 856359"/>
              <a:gd name="connsiteY203" fmla="*/ 552232 h 803463"/>
              <a:gd name="connsiteX204" fmla="*/ 658152 w 856359"/>
              <a:gd name="connsiteY204" fmla="*/ 552366 h 803463"/>
              <a:gd name="connsiteX205" fmla="*/ 658219 w 856359"/>
              <a:gd name="connsiteY205" fmla="*/ 552366 h 803463"/>
              <a:gd name="connsiteX206" fmla="*/ 680498 w 856359"/>
              <a:gd name="connsiteY206" fmla="*/ 559814 h 803463"/>
              <a:gd name="connsiteX207" fmla="*/ 688708 w 856359"/>
              <a:gd name="connsiteY207" fmla="*/ 575302 h 803463"/>
              <a:gd name="connsiteX208" fmla="*/ 688708 w 856359"/>
              <a:gd name="connsiteY208" fmla="*/ 575330 h 803463"/>
              <a:gd name="connsiteX209" fmla="*/ 688670 w 856359"/>
              <a:gd name="connsiteY209" fmla="*/ 575330 h 803463"/>
              <a:gd name="connsiteX210" fmla="*/ 688670 w 856359"/>
              <a:gd name="connsiteY210" fmla="*/ 575368 h 803463"/>
              <a:gd name="connsiteX211" fmla="*/ 688699 w 856359"/>
              <a:gd name="connsiteY211" fmla="*/ 576083 h 803463"/>
              <a:gd name="connsiteX212" fmla="*/ 687432 w 856359"/>
              <a:gd name="connsiteY212" fmla="*/ 763306 h 803463"/>
              <a:gd name="connsiteX213" fmla="*/ 678964 w 856359"/>
              <a:gd name="connsiteY213" fmla="*/ 778699 h 803463"/>
              <a:gd name="connsiteX214" fmla="*/ 656362 w 856359"/>
              <a:gd name="connsiteY214" fmla="*/ 786014 h 803463"/>
              <a:gd name="connsiteX215" fmla="*/ 591439 w 856359"/>
              <a:gd name="connsiteY215" fmla="*/ 785738 h 803463"/>
              <a:gd name="connsiteX216" fmla="*/ 569198 w 856359"/>
              <a:gd name="connsiteY216" fmla="*/ 778289 h 803463"/>
              <a:gd name="connsiteX217" fmla="*/ 560997 w 856359"/>
              <a:gd name="connsiteY217" fmla="*/ 762830 h 803463"/>
              <a:gd name="connsiteX218" fmla="*/ 562274 w 856359"/>
              <a:gd name="connsiteY218" fmla="*/ 574797 h 803463"/>
              <a:gd name="connsiteX219" fmla="*/ 570751 w 856359"/>
              <a:gd name="connsiteY219" fmla="*/ 559405 h 803463"/>
              <a:gd name="connsiteX220" fmla="*/ 588248 w 856359"/>
              <a:gd name="connsiteY220" fmla="*/ 552394 h 803463"/>
              <a:gd name="connsiteX221" fmla="*/ 625786 w 856359"/>
              <a:gd name="connsiteY221" fmla="*/ 552232 h 803463"/>
              <a:gd name="connsiteX222" fmla="*/ 625786 w 856359"/>
              <a:gd name="connsiteY222" fmla="*/ 552232 h 803463"/>
              <a:gd name="connsiteX223" fmla="*/ 586305 w 856359"/>
              <a:gd name="connsiteY223" fmla="*/ 460297 h 803463"/>
              <a:gd name="connsiteX224" fmla="*/ 627644 w 856359"/>
              <a:gd name="connsiteY224" fmla="*/ 463431 h 803463"/>
              <a:gd name="connsiteX225" fmla="*/ 664696 w 856359"/>
              <a:gd name="connsiteY225" fmla="*/ 459992 h 803463"/>
              <a:gd name="connsiteX226" fmla="*/ 664944 w 856359"/>
              <a:gd name="connsiteY226" fmla="*/ 534659 h 803463"/>
              <a:gd name="connsiteX227" fmla="*/ 625796 w 856359"/>
              <a:gd name="connsiteY227" fmla="*/ 534830 h 803463"/>
              <a:gd name="connsiteX228" fmla="*/ 593411 w 856359"/>
              <a:gd name="connsiteY228" fmla="*/ 534697 h 803463"/>
              <a:gd name="connsiteX229" fmla="*/ 587229 w 856359"/>
              <a:gd name="connsiteY229" fmla="*/ 535001 h 803463"/>
              <a:gd name="connsiteX230" fmla="*/ 586553 w 856359"/>
              <a:gd name="connsiteY230" fmla="*/ 535001 h 803463"/>
              <a:gd name="connsiteX231" fmla="*/ 586305 w 856359"/>
              <a:gd name="connsiteY231" fmla="*/ 460297 h 803463"/>
              <a:gd name="connsiteX232" fmla="*/ 586305 w 856359"/>
              <a:gd name="connsiteY232" fmla="*/ 460297 h 803463"/>
              <a:gd name="connsiteX233" fmla="*/ 622624 w 856359"/>
              <a:gd name="connsiteY233" fmla="*/ 69572 h 803463"/>
              <a:gd name="connsiteX234" fmla="*/ 622624 w 856359"/>
              <a:gd name="connsiteY234" fmla="*/ 69610 h 803463"/>
              <a:gd name="connsiteX235" fmla="*/ 622519 w 856359"/>
              <a:gd name="connsiteY235" fmla="*/ 69610 h 803463"/>
              <a:gd name="connsiteX236" fmla="*/ 508486 w 856359"/>
              <a:gd name="connsiteY236" fmla="*/ 118588 h 803463"/>
              <a:gd name="connsiteX237" fmla="*/ 462509 w 856359"/>
              <a:gd name="connsiteY237" fmla="*/ 233021 h 803463"/>
              <a:gd name="connsiteX238" fmla="*/ 462480 w 856359"/>
              <a:gd name="connsiteY238" fmla="*/ 233726 h 803463"/>
              <a:gd name="connsiteX239" fmla="*/ 462518 w 856359"/>
              <a:gd name="connsiteY239" fmla="*/ 233726 h 803463"/>
              <a:gd name="connsiteX240" fmla="*/ 462518 w 856359"/>
              <a:gd name="connsiteY240" fmla="*/ 233830 h 803463"/>
              <a:gd name="connsiteX241" fmla="*/ 511496 w 856359"/>
              <a:gd name="connsiteY241" fmla="*/ 347864 h 803463"/>
              <a:gd name="connsiteX242" fmla="*/ 626739 w 856359"/>
              <a:gd name="connsiteY242" fmla="*/ 393841 h 803463"/>
              <a:gd name="connsiteX243" fmla="*/ 740772 w 856359"/>
              <a:gd name="connsiteY243" fmla="*/ 344863 h 803463"/>
              <a:gd name="connsiteX244" fmla="*/ 786749 w 856359"/>
              <a:gd name="connsiteY244" fmla="*/ 230430 h 803463"/>
              <a:gd name="connsiteX245" fmla="*/ 786778 w 856359"/>
              <a:gd name="connsiteY245" fmla="*/ 229716 h 803463"/>
              <a:gd name="connsiteX246" fmla="*/ 786749 w 856359"/>
              <a:gd name="connsiteY246" fmla="*/ 229716 h 803463"/>
              <a:gd name="connsiteX247" fmla="*/ 786749 w 856359"/>
              <a:gd name="connsiteY247" fmla="*/ 229611 h 803463"/>
              <a:gd name="connsiteX248" fmla="*/ 737772 w 856359"/>
              <a:gd name="connsiteY248" fmla="*/ 115578 h 803463"/>
              <a:gd name="connsiteX249" fmla="*/ 623338 w 856359"/>
              <a:gd name="connsiteY249" fmla="*/ 69600 h 803463"/>
              <a:gd name="connsiteX250" fmla="*/ 622624 w 856359"/>
              <a:gd name="connsiteY250" fmla="*/ 69572 h 803463"/>
              <a:gd name="connsiteX251" fmla="*/ 622624 w 856359"/>
              <a:gd name="connsiteY251" fmla="*/ 69572 h 803463"/>
              <a:gd name="connsiteX252" fmla="*/ 622633 w 856359"/>
              <a:gd name="connsiteY252" fmla="*/ 87050 h 803463"/>
              <a:gd name="connsiteX253" fmla="*/ 622633 w 856359"/>
              <a:gd name="connsiteY253" fmla="*/ 87022 h 803463"/>
              <a:gd name="connsiteX254" fmla="*/ 520992 w 856359"/>
              <a:gd name="connsiteY254" fmla="*/ 130741 h 803463"/>
              <a:gd name="connsiteX255" fmla="*/ 479930 w 856359"/>
              <a:gd name="connsiteY255" fmla="*/ 232907 h 803463"/>
              <a:gd name="connsiteX256" fmla="*/ 479968 w 856359"/>
              <a:gd name="connsiteY256" fmla="*/ 233726 h 803463"/>
              <a:gd name="connsiteX257" fmla="*/ 479939 w 856359"/>
              <a:gd name="connsiteY257" fmla="*/ 233726 h 803463"/>
              <a:gd name="connsiteX258" fmla="*/ 523659 w 856359"/>
              <a:gd name="connsiteY258" fmla="*/ 335367 h 803463"/>
              <a:gd name="connsiteX259" fmla="*/ 626548 w 856359"/>
              <a:gd name="connsiteY259" fmla="*/ 376420 h 803463"/>
              <a:gd name="connsiteX260" fmla="*/ 728294 w 856359"/>
              <a:gd name="connsiteY260" fmla="*/ 332700 h 803463"/>
              <a:gd name="connsiteX261" fmla="*/ 769357 w 856359"/>
              <a:gd name="connsiteY261" fmla="*/ 230535 h 803463"/>
              <a:gd name="connsiteX262" fmla="*/ 769318 w 856359"/>
              <a:gd name="connsiteY262" fmla="*/ 229706 h 803463"/>
              <a:gd name="connsiteX263" fmla="*/ 769347 w 856359"/>
              <a:gd name="connsiteY263" fmla="*/ 229706 h 803463"/>
              <a:gd name="connsiteX264" fmla="*/ 725627 w 856359"/>
              <a:gd name="connsiteY264" fmla="*/ 128065 h 803463"/>
              <a:gd name="connsiteX265" fmla="*/ 623462 w 856359"/>
              <a:gd name="connsiteY265" fmla="*/ 87003 h 803463"/>
              <a:gd name="connsiteX266" fmla="*/ 622633 w 856359"/>
              <a:gd name="connsiteY266" fmla="*/ 87050 h 803463"/>
              <a:gd name="connsiteX267" fmla="*/ 622633 w 856359"/>
              <a:gd name="connsiteY267" fmla="*/ 87050 h 803463"/>
              <a:gd name="connsiteX268" fmla="*/ 774186 w 856359"/>
              <a:gd name="connsiteY268" fmla="*/ 78221 h 803463"/>
              <a:gd name="connsiteX269" fmla="*/ 621824 w 856359"/>
              <a:gd name="connsiteY269" fmla="*/ 17422 h 803463"/>
              <a:gd name="connsiteX270" fmla="*/ 471138 w 856359"/>
              <a:gd name="connsiteY270" fmla="*/ 82173 h 803463"/>
              <a:gd name="connsiteX271" fmla="*/ 410340 w 856359"/>
              <a:gd name="connsiteY271" fmla="*/ 234535 h 803463"/>
              <a:gd name="connsiteX272" fmla="*/ 475091 w 856359"/>
              <a:gd name="connsiteY272" fmla="*/ 385221 h 803463"/>
              <a:gd name="connsiteX273" fmla="*/ 627453 w 856359"/>
              <a:gd name="connsiteY273" fmla="*/ 446019 h 803463"/>
              <a:gd name="connsiteX274" fmla="*/ 778139 w 856359"/>
              <a:gd name="connsiteY274" fmla="*/ 381268 h 803463"/>
              <a:gd name="connsiteX275" fmla="*/ 838937 w 856359"/>
              <a:gd name="connsiteY275" fmla="*/ 228906 h 803463"/>
              <a:gd name="connsiteX276" fmla="*/ 774186 w 856359"/>
              <a:gd name="connsiteY276" fmla="*/ 78221 h 803463"/>
              <a:gd name="connsiteX277" fmla="*/ 774186 w 856359"/>
              <a:gd name="connsiteY277" fmla="*/ 78221 h 803463"/>
              <a:gd name="connsiteX278" fmla="*/ 256026 w 856359"/>
              <a:gd name="connsiteY278" fmla="*/ 127293 h 803463"/>
              <a:gd name="connsiteX279" fmla="*/ 256054 w 856359"/>
              <a:gd name="connsiteY279" fmla="*/ 127274 h 803463"/>
              <a:gd name="connsiteX280" fmla="*/ 256073 w 856359"/>
              <a:gd name="connsiteY280" fmla="*/ 127265 h 803463"/>
              <a:gd name="connsiteX281" fmla="*/ 304632 w 856359"/>
              <a:gd name="connsiteY281" fmla="*/ 97204 h 803463"/>
              <a:gd name="connsiteX282" fmla="*/ 306013 w 856359"/>
              <a:gd name="connsiteY282" fmla="*/ 96356 h 803463"/>
              <a:gd name="connsiteX283" fmla="*/ 340703 w 856359"/>
              <a:gd name="connsiteY283" fmla="*/ 91041 h 803463"/>
              <a:gd name="connsiteX284" fmla="*/ 369430 w 856359"/>
              <a:gd name="connsiteY284" fmla="*/ 111282 h 803463"/>
              <a:gd name="connsiteX285" fmla="*/ 370326 w 856359"/>
              <a:gd name="connsiteY285" fmla="*/ 112739 h 803463"/>
              <a:gd name="connsiteX286" fmla="*/ 375641 w 856359"/>
              <a:gd name="connsiteY286" fmla="*/ 147439 h 803463"/>
              <a:gd name="connsiteX287" fmla="*/ 354667 w 856359"/>
              <a:gd name="connsiteY287" fmla="*/ 176623 h 803463"/>
              <a:gd name="connsiteX288" fmla="*/ 305460 w 856359"/>
              <a:gd name="connsiteY288" fmla="*/ 207084 h 803463"/>
              <a:gd name="connsiteX289" fmla="*/ 305441 w 856359"/>
              <a:gd name="connsiteY289" fmla="*/ 207094 h 803463"/>
              <a:gd name="connsiteX290" fmla="*/ 305432 w 856359"/>
              <a:gd name="connsiteY290" fmla="*/ 207103 h 803463"/>
              <a:gd name="connsiteX291" fmla="*/ 256873 w 856359"/>
              <a:gd name="connsiteY291" fmla="*/ 237164 h 803463"/>
              <a:gd name="connsiteX292" fmla="*/ 255492 w 856359"/>
              <a:gd name="connsiteY292" fmla="*/ 238002 h 803463"/>
              <a:gd name="connsiteX293" fmla="*/ 220802 w 856359"/>
              <a:gd name="connsiteY293" fmla="*/ 243317 h 803463"/>
              <a:gd name="connsiteX294" fmla="*/ 192237 w 856359"/>
              <a:gd name="connsiteY294" fmla="*/ 223315 h 803463"/>
              <a:gd name="connsiteX295" fmla="*/ 157785 w 856359"/>
              <a:gd name="connsiteY295" fmla="*/ 239717 h 803463"/>
              <a:gd name="connsiteX296" fmla="*/ 106436 w 856359"/>
              <a:gd name="connsiteY296" fmla="*/ 227792 h 803463"/>
              <a:gd name="connsiteX297" fmla="*/ 106436 w 856359"/>
              <a:gd name="connsiteY297" fmla="*/ 227792 h 803463"/>
              <a:gd name="connsiteX298" fmla="*/ 78508 w 856359"/>
              <a:gd name="connsiteY298" fmla="*/ 182977 h 803463"/>
              <a:gd name="connsiteX299" fmla="*/ 90434 w 856359"/>
              <a:gd name="connsiteY299" fmla="*/ 131627 h 803463"/>
              <a:gd name="connsiteX300" fmla="*/ 135249 w 856359"/>
              <a:gd name="connsiteY300" fmla="*/ 103700 h 803463"/>
              <a:gd name="connsiteX301" fmla="*/ 186579 w 856359"/>
              <a:gd name="connsiteY301" fmla="*/ 115616 h 803463"/>
              <a:gd name="connsiteX302" fmla="*/ 186588 w 856359"/>
              <a:gd name="connsiteY302" fmla="*/ 115625 h 803463"/>
              <a:gd name="connsiteX303" fmla="*/ 186588 w 856359"/>
              <a:gd name="connsiteY303" fmla="*/ 115625 h 803463"/>
              <a:gd name="connsiteX304" fmla="*/ 186598 w 856359"/>
              <a:gd name="connsiteY304" fmla="*/ 115635 h 803463"/>
              <a:gd name="connsiteX305" fmla="*/ 186598 w 856359"/>
              <a:gd name="connsiteY305" fmla="*/ 115635 h 803463"/>
              <a:gd name="connsiteX306" fmla="*/ 213077 w 856359"/>
              <a:gd name="connsiteY306" fmla="*/ 153849 h 803463"/>
              <a:gd name="connsiteX307" fmla="*/ 256026 w 856359"/>
              <a:gd name="connsiteY307" fmla="*/ 127293 h 803463"/>
              <a:gd name="connsiteX308" fmla="*/ 256026 w 856359"/>
              <a:gd name="connsiteY308" fmla="*/ 127293 h 803463"/>
              <a:gd name="connsiteX309" fmla="*/ 272609 w 856359"/>
              <a:gd name="connsiteY309" fmla="*/ 137514 h 803463"/>
              <a:gd name="connsiteX310" fmla="*/ 303689 w 856359"/>
              <a:gd name="connsiteY310" fmla="*/ 187720 h 803463"/>
              <a:gd name="connsiteX311" fmla="*/ 345513 w 856359"/>
              <a:gd name="connsiteY311" fmla="*/ 161831 h 803463"/>
              <a:gd name="connsiteX312" fmla="*/ 358629 w 856359"/>
              <a:gd name="connsiteY312" fmla="*/ 143495 h 803463"/>
              <a:gd name="connsiteX313" fmla="*/ 355067 w 856359"/>
              <a:gd name="connsiteY313" fmla="*/ 121188 h 803463"/>
              <a:gd name="connsiteX314" fmla="*/ 355057 w 856359"/>
              <a:gd name="connsiteY314" fmla="*/ 121178 h 803463"/>
              <a:gd name="connsiteX315" fmla="*/ 336722 w 856359"/>
              <a:gd name="connsiteY315" fmla="*/ 108062 h 803463"/>
              <a:gd name="connsiteX316" fmla="*/ 314414 w 856359"/>
              <a:gd name="connsiteY316" fmla="*/ 111634 h 803463"/>
              <a:gd name="connsiteX317" fmla="*/ 272609 w 856359"/>
              <a:gd name="connsiteY317" fmla="*/ 137514 h 803463"/>
              <a:gd name="connsiteX318" fmla="*/ 272609 w 856359"/>
              <a:gd name="connsiteY318" fmla="*/ 137514 h 803463"/>
              <a:gd name="connsiteX319" fmla="*/ 288887 w 856359"/>
              <a:gd name="connsiteY319" fmla="*/ 196883 h 803463"/>
              <a:gd name="connsiteX320" fmla="*/ 257807 w 856359"/>
              <a:gd name="connsiteY320" fmla="*/ 146677 h 803463"/>
              <a:gd name="connsiteX321" fmla="*/ 215973 w 856359"/>
              <a:gd name="connsiteY321" fmla="*/ 172566 h 803463"/>
              <a:gd name="connsiteX322" fmla="*/ 215449 w 856359"/>
              <a:gd name="connsiteY322" fmla="*/ 172909 h 803463"/>
              <a:gd name="connsiteX323" fmla="*/ 204362 w 856359"/>
              <a:gd name="connsiteY323" fmla="*/ 209218 h 803463"/>
              <a:gd name="connsiteX324" fmla="*/ 204476 w 856359"/>
              <a:gd name="connsiteY324" fmla="*/ 209494 h 803463"/>
              <a:gd name="connsiteX325" fmla="*/ 206410 w 856359"/>
              <a:gd name="connsiteY325" fmla="*/ 213199 h 803463"/>
              <a:gd name="connsiteX326" fmla="*/ 206420 w 856359"/>
              <a:gd name="connsiteY326" fmla="*/ 213209 h 803463"/>
              <a:gd name="connsiteX327" fmla="*/ 224755 w 856359"/>
              <a:gd name="connsiteY327" fmla="*/ 226325 h 803463"/>
              <a:gd name="connsiteX328" fmla="*/ 247063 w 856359"/>
              <a:gd name="connsiteY328" fmla="*/ 222762 h 803463"/>
              <a:gd name="connsiteX329" fmla="*/ 288887 w 856359"/>
              <a:gd name="connsiteY329" fmla="*/ 196883 h 803463"/>
              <a:gd name="connsiteX330" fmla="*/ 288887 w 856359"/>
              <a:gd name="connsiteY330" fmla="*/ 196883 h 803463"/>
              <a:gd name="connsiteX331" fmla="*/ 124076 w 856359"/>
              <a:gd name="connsiteY331" fmla="*/ 218095 h 803463"/>
              <a:gd name="connsiteX332" fmla="*/ 183150 w 856359"/>
              <a:gd name="connsiteY332" fmla="*/ 135504 h 803463"/>
              <a:gd name="connsiteX333" fmla="*/ 197333 w 856359"/>
              <a:gd name="connsiteY333" fmla="*/ 163269 h 803463"/>
              <a:gd name="connsiteX334" fmla="*/ 188770 w 856359"/>
              <a:gd name="connsiteY334" fmla="*/ 201207 h 803463"/>
              <a:gd name="connsiteX335" fmla="*/ 188065 w 856359"/>
              <a:gd name="connsiteY335" fmla="*/ 202188 h 803463"/>
              <a:gd name="connsiteX336" fmla="*/ 154994 w 856359"/>
              <a:gd name="connsiteY336" fmla="*/ 222534 h 803463"/>
              <a:gd name="connsiteX337" fmla="*/ 124076 w 856359"/>
              <a:gd name="connsiteY337" fmla="*/ 218095 h 80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</a:cxnLst>
            <a:rect l="l" t="t" r="r" b="b"/>
            <a:pathLst>
              <a:path w="856359" h="803463">
                <a:moveTo>
                  <a:pt x="168967" y="125369"/>
                </a:moveTo>
                <a:cubicBezTo>
                  <a:pt x="159166" y="120616"/>
                  <a:pt x="148355" y="119216"/>
                  <a:pt x="138059" y="120931"/>
                </a:cubicBezTo>
                <a:cubicBezTo>
                  <a:pt x="125076" y="123083"/>
                  <a:pt x="112913" y="130189"/>
                  <a:pt x="104654" y="141743"/>
                </a:cubicBezTo>
                <a:lnTo>
                  <a:pt x="104645" y="141762"/>
                </a:lnTo>
                <a:cubicBezTo>
                  <a:pt x="96368" y="153335"/>
                  <a:pt x="93558" y="167184"/>
                  <a:pt x="95720" y="180205"/>
                </a:cubicBezTo>
                <a:cubicBezTo>
                  <a:pt x="97425" y="190482"/>
                  <a:pt x="102235" y="200245"/>
                  <a:pt x="109903" y="207970"/>
                </a:cubicBezTo>
                <a:lnTo>
                  <a:pt x="168967" y="125369"/>
                </a:lnTo>
                <a:lnTo>
                  <a:pt x="168967" y="125369"/>
                </a:lnTo>
                <a:close/>
                <a:moveTo>
                  <a:pt x="594049" y="131246"/>
                </a:moveTo>
                <a:lnTo>
                  <a:pt x="655218" y="131246"/>
                </a:lnTo>
                <a:cubicBezTo>
                  <a:pt x="660048" y="131246"/>
                  <a:pt x="663962" y="135161"/>
                  <a:pt x="663962" y="139990"/>
                </a:cubicBezTo>
                <a:lnTo>
                  <a:pt x="663962" y="192425"/>
                </a:lnTo>
                <a:lnTo>
                  <a:pt x="716340" y="192425"/>
                </a:lnTo>
                <a:cubicBezTo>
                  <a:pt x="721170" y="192425"/>
                  <a:pt x="725084" y="196340"/>
                  <a:pt x="725084" y="201160"/>
                </a:cubicBezTo>
                <a:lnTo>
                  <a:pt x="725084" y="262282"/>
                </a:lnTo>
                <a:cubicBezTo>
                  <a:pt x="725084" y="267111"/>
                  <a:pt x="721170" y="271026"/>
                  <a:pt x="716340" y="271026"/>
                </a:cubicBezTo>
                <a:lnTo>
                  <a:pt x="663962" y="271026"/>
                </a:lnTo>
                <a:lnTo>
                  <a:pt x="663962" y="323461"/>
                </a:lnTo>
                <a:cubicBezTo>
                  <a:pt x="663962" y="328290"/>
                  <a:pt x="660048" y="332205"/>
                  <a:pt x="655218" y="332205"/>
                </a:cubicBezTo>
                <a:lnTo>
                  <a:pt x="594049" y="332205"/>
                </a:lnTo>
                <a:cubicBezTo>
                  <a:pt x="589220" y="332205"/>
                  <a:pt x="585315" y="328290"/>
                  <a:pt x="585315" y="323461"/>
                </a:cubicBezTo>
                <a:lnTo>
                  <a:pt x="585315" y="271026"/>
                </a:lnTo>
                <a:lnTo>
                  <a:pt x="532927" y="271026"/>
                </a:lnTo>
                <a:cubicBezTo>
                  <a:pt x="528098" y="271026"/>
                  <a:pt x="524183" y="267111"/>
                  <a:pt x="524183" y="262282"/>
                </a:cubicBezTo>
                <a:lnTo>
                  <a:pt x="524183" y="201160"/>
                </a:lnTo>
                <a:cubicBezTo>
                  <a:pt x="524183" y="196331"/>
                  <a:pt x="528098" y="192425"/>
                  <a:pt x="532927" y="192425"/>
                </a:cubicBezTo>
                <a:lnTo>
                  <a:pt x="585315" y="192425"/>
                </a:lnTo>
                <a:lnTo>
                  <a:pt x="585315" y="139981"/>
                </a:lnTo>
                <a:cubicBezTo>
                  <a:pt x="585305" y="135161"/>
                  <a:pt x="589220" y="131246"/>
                  <a:pt x="594049" y="131246"/>
                </a:cubicBezTo>
                <a:lnTo>
                  <a:pt x="594049" y="131246"/>
                </a:lnTo>
                <a:close/>
                <a:moveTo>
                  <a:pt x="646484" y="148725"/>
                </a:moveTo>
                <a:lnTo>
                  <a:pt x="602783" y="148725"/>
                </a:lnTo>
                <a:lnTo>
                  <a:pt x="602783" y="201160"/>
                </a:lnTo>
                <a:cubicBezTo>
                  <a:pt x="602783" y="205989"/>
                  <a:pt x="598869" y="209894"/>
                  <a:pt x="594049" y="209894"/>
                </a:cubicBezTo>
                <a:lnTo>
                  <a:pt x="541661" y="209894"/>
                </a:lnTo>
                <a:lnTo>
                  <a:pt x="541661" y="253538"/>
                </a:lnTo>
                <a:lnTo>
                  <a:pt x="594049" y="253538"/>
                </a:lnTo>
                <a:cubicBezTo>
                  <a:pt x="598878" y="253538"/>
                  <a:pt x="602783" y="257452"/>
                  <a:pt x="602783" y="262272"/>
                </a:cubicBezTo>
                <a:lnTo>
                  <a:pt x="602783" y="314707"/>
                </a:lnTo>
                <a:lnTo>
                  <a:pt x="646484" y="314707"/>
                </a:lnTo>
                <a:lnTo>
                  <a:pt x="646484" y="262282"/>
                </a:lnTo>
                <a:cubicBezTo>
                  <a:pt x="646484" y="257452"/>
                  <a:pt x="650399" y="253547"/>
                  <a:pt x="655218" y="253547"/>
                </a:cubicBezTo>
                <a:lnTo>
                  <a:pt x="707606" y="253547"/>
                </a:lnTo>
                <a:lnTo>
                  <a:pt x="707606" y="209894"/>
                </a:lnTo>
                <a:lnTo>
                  <a:pt x="655218" y="209894"/>
                </a:lnTo>
                <a:cubicBezTo>
                  <a:pt x="650389" y="209894"/>
                  <a:pt x="646484" y="205979"/>
                  <a:pt x="646484" y="201160"/>
                </a:cubicBezTo>
                <a:lnTo>
                  <a:pt x="646484" y="148725"/>
                </a:lnTo>
                <a:lnTo>
                  <a:pt x="646484" y="148725"/>
                </a:lnTo>
                <a:close/>
                <a:moveTo>
                  <a:pt x="240900" y="503931"/>
                </a:moveTo>
                <a:cubicBezTo>
                  <a:pt x="252359" y="503931"/>
                  <a:pt x="262731" y="508579"/>
                  <a:pt x="270237" y="516085"/>
                </a:cubicBezTo>
                <a:cubicBezTo>
                  <a:pt x="277743" y="523590"/>
                  <a:pt x="282391" y="533963"/>
                  <a:pt x="282391" y="545422"/>
                </a:cubicBezTo>
                <a:cubicBezTo>
                  <a:pt x="282391" y="556880"/>
                  <a:pt x="277743" y="567253"/>
                  <a:pt x="270237" y="574759"/>
                </a:cubicBezTo>
                <a:cubicBezTo>
                  <a:pt x="262731" y="582265"/>
                  <a:pt x="252359" y="586913"/>
                  <a:pt x="240900" y="586913"/>
                </a:cubicBezTo>
                <a:cubicBezTo>
                  <a:pt x="229441" y="586913"/>
                  <a:pt x="219069" y="582265"/>
                  <a:pt x="211563" y="574759"/>
                </a:cubicBezTo>
                <a:cubicBezTo>
                  <a:pt x="204057" y="567253"/>
                  <a:pt x="199409" y="556880"/>
                  <a:pt x="199409" y="545422"/>
                </a:cubicBezTo>
                <a:cubicBezTo>
                  <a:pt x="199409" y="533963"/>
                  <a:pt x="204057" y="523590"/>
                  <a:pt x="211563" y="516085"/>
                </a:cubicBezTo>
                <a:cubicBezTo>
                  <a:pt x="219069" y="508579"/>
                  <a:pt x="229441" y="503931"/>
                  <a:pt x="240900" y="503931"/>
                </a:cubicBezTo>
                <a:lnTo>
                  <a:pt x="240900" y="503931"/>
                </a:lnTo>
                <a:close/>
                <a:moveTo>
                  <a:pt x="257883" y="528448"/>
                </a:moveTo>
                <a:cubicBezTo>
                  <a:pt x="253540" y="524105"/>
                  <a:pt x="247529" y="521419"/>
                  <a:pt x="240900" y="521419"/>
                </a:cubicBezTo>
                <a:cubicBezTo>
                  <a:pt x="234271" y="521419"/>
                  <a:pt x="228260" y="524105"/>
                  <a:pt x="223917" y="528448"/>
                </a:cubicBezTo>
                <a:cubicBezTo>
                  <a:pt x="219574" y="532792"/>
                  <a:pt x="216887" y="538792"/>
                  <a:pt x="216887" y="545431"/>
                </a:cubicBezTo>
                <a:cubicBezTo>
                  <a:pt x="216887" y="552061"/>
                  <a:pt x="219574" y="558071"/>
                  <a:pt x="223917" y="562414"/>
                </a:cubicBezTo>
                <a:cubicBezTo>
                  <a:pt x="228260" y="566758"/>
                  <a:pt x="234271" y="569444"/>
                  <a:pt x="240900" y="569444"/>
                </a:cubicBezTo>
                <a:cubicBezTo>
                  <a:pt x="247529" y="569444"/>
                  <a:pt x="253540" y="566758"/>
                  <a:pt x="257883" y="562414"/>
                </a:cubicBezTo>
                <a:cubicBezTo>
                  <a:pt x="262227" y="558071"/>
                  <a:pt x="264913" y="552061"/>
                  <a:pt x="264913" y="545431"/>
                </a:cubicBezTo>
                <a:cubicBezTo>
                  <a:pt x="264913" y="538792"/>
                  <a:pt x="262227" y="532792"/>
                  <a:pt x="257883" y="528448"/>
                </a:cubicBezTo>
                <a:lnTo>
                  <a:pt x="257883" y="528448"/>
                </a:lnTo>
                <a:close/>
                <a:moveTo>
                  <a:pt x="332026" y="568768"/>
                </a:moveTo>
                <a:cubicBezTo>
                  <a:pt x="315281" y="568768"/>
                  <a:pt x="300117" y="575559"/>
                  <a:pt x="289144" y="586532"/>
                </a:cubicBezTo>
                <a:cubicBezTo>
                  <a:pt x="278171" y="597505"/>
                  <a:pt x="271380" y="612668"/>
                  <a:pt x="271380" y="629413"/>
                </a:cubicBezTo>
                <a:cubicBezTo>
                  <a:pt x="271380" y="646158"/>
                  <a:pt x="278171" y="661322"/>
                  <a:pt x="289144" y="672295"/>
                </a:cubicBezTo>
                <a:cubicBezTo>
                  <a:pt x="300117" y="683268"/>
                  <a:pt x="315281" y="690059"/>
                  <a:pt x="332026" y="690059"/>
                </a:cubicBezTo>
                <a:cubicBezTo>
                  <a:pt x="348771" y="690059"/>
                  <a:pt x="363934" y="683268"/>
                  <a:pt x="374907" y="672295"/>
                </a:cubicBezTo>
                <a:cubicBezTo>
                  <a:pt x="385880" y="661322"/>
                  <a:pt x="392671" y="646158"/>
                  <a:pt x="392671" y="629413"/>
                </a:cubicBezTo>
                <a:cubicBezTo>
                  <a:pt x="392671" y="612668"/>
                  <a:pt x="385880" y="597505"/>
                  <a:pt x="374907" y="586532"/>
                </a:cubicBezTo>
                <a:cubicBezTo>
                  <a:pt x="363925" y="575559"/>
                  <a:pt x="348771" y="568768"/>
                  <a:pt x="332026" y="568768"/>
                </a:cubicBezTo>
                <a:lnTo>
                  <a:pt x="332026" y="568768"/>
                </a:lnTo>
                <a:close/>
                <a:moveTo>
                  <a:pt x="362544" y="598886"/>
                </a:moveTo>
                <a:cubicBezTo>
                  <a:pt x="370354" y="606696"/>
                  <a:pt x="375183" y="617488"/>
                  <a:pt x="375183" y="629404"/>
                </a:cubicBezTo>
                <a:cubicBezTo>
                  <a:pt x="375183" y="641320"/>
                  <a:pt x="370354" y="652111"/>
                  <a:pt x="362544" y="659922"/>
                </a:cubicBezTo>
                <a:cubicBezTo>
                  <a:pt x="354733" y="667732"/>
                  <a:pt x="343941" y="672562"/>
                  <a:pt x="332026" y="672562"/>
                </a:cubicBezTo>
                <a:cubicBezTo>
                  <a:pt x="320110" y="672562"/>
                  <a:pt x="309318" y="667732"/>
                  <a:pt x="301508" y="659922"/>
                </a:cubicBezTo>
                <a:cubicBezTo>
                  <a:pt x="293697" y="652111"/>
                  <a:pt x="288868" y="641320"/>
                  <a:pt x="288868" y="629404"/>
                </a:cubicBezTo>
                <a:cubicBezTo>
                  <a:pt x="288868" y="617478"/>
                  <a:pt x="293697" y="606696"/>
                  <a:pt x="301508" y="598886"/>
                </a:cubicBezTo>
                <a:cubicBezTo>
                  <a:pt x="309318" y="591075"/>
                  <a:pt x="320110" y="586246"/>
                  <a:pt x="332026" y="586246"/>
                </a:cubicBezTo>
                <a:cubicBezTo>
                  <a:pt x="343941" y="586246"/>
                  <a:pt x="354733" y="591075"/>
                  <a:pt x="362544" y="598886"/>
                </a:cubicBezTo>
                <a:lnTo>
                  <a:pt x="362544" y="598886"/>
                </a:lnTo>
                <a:close/>
                <a:moveTo>
                  <a:pt x="175492" y="595466"/>
                </a:moveTo>
                <a:cubicBezTo>
                  <a:pt x="197142" y="595466"/>
                  <a:pt x="216735" y="604239"/>
                  <a:pt x="230927" y="618431"/>
                </a:cubicBezTo>
                <a:cubicBezTo>
                  <a:pt x="245110" y="632623"/>
                  <a:pt x="253892" y="652216"/>
                  <a:pt x="253892" y="673866"/>
                </a:cubicBezTo>
                <a:cubicBezTo>
                  <a:pt x="253892" y="695517"/>
                  <a:pt x="245120" y="715110"/>
                  <a:pt x="230927" y="729302"/>
                </a:cubicBezTo>
                <a:cubicBezTo>
                  <a:pt x="216735" y="743494"/>
                  <a:pt x="197142" y="752267"/>
                  <a:pt x="175492" y="752267"/>
                </a:cubicBezTo>
                <a:cubicBezTo>
                  <a:pt x="153851" y="752267"/>
                  <a:pt x="134249" y="743494"/>
                  <a:pt x="120056" y="729302"/>
                </a:cubicBezTo>
                <a:cubicBezTo>
                  <a:pt x="105874" y="715119"/>
                  <a:pt x="97092" y="695517"/>
                  <a:pt x="97092" y="673866"/>
                </a:cubicBezTo>
                <a:cubicBezTo>
                  <a:pt x="97092" y="652226"/>
                  <a:pt x="105874" y="632623"/>
                  <a:pt x="120056" y="618431"/>
                </a:cubicBezTo>
                <a:cubicBezTo>
                  <a:pt x="134239" y="604248"/>
                  <a:pt x="153842" y="595466"/>
                  <a:pt x="175492" y="595466"/>
                </a:cubicBezTo>
                <a:lnTo>
                  <a:pt x="175492" y="595466"/>
                </a:lnTo>
                <a:close/>
                <a:moveTo>
                  <a:pt x="218564" y="630785"/>
                </a:moveTo>
                <a:cubicBezTo>
                  <a:pt x="207543" y="619764"/>
                  <a:pt x="192313" y="612945"/>
                  <a:pt x="175482" y="612945"/>
                </a:cubicBezTo>
                <a:cubicBezTo>
                  <a:pt x="158652" y="612945"/>
                  <a:pt x="143431" y="619764"/>
                  <a:pt x="132410" y="630785"/>
                </a:cubicBezTo>
                <a:cubicBezTo>
                  <a:pt x="121390" y="641805"/>
                  <a:pt x="114570" y="657036"/>
                  <a:pt x="114570" y="673857"/>
                </a:cubicBezTo>
                <a:cubicBezTo>
                  <a:pt x="114570" y="690678"/>
                  <a:pt x="121390" y="705909"/>
                  <a:pt x="132410" y="716939"/>
                </a:cubicBezTo>
                <a:cubicBezTo>
                  <a:pt x="143431" y="727959"/>
                  <a:pt x="158661" y="734779"/>
                  <a:pt x="175482" y="734779"/>
                </a:cubicBezTo>
                <a:cubicBezTo>
                  <a:pt x="192303" y="734779"/>
                  <a:pt x="207534" y="727959"/>
                  <a:pt x="218564" y="716939"/>
                </a:cubicBezTo>
                <a:cubicBezTo>
                  <a:pt x="229584" y="705918"/>
                  <a:pt x="236404" y="690688"/>
                  <a:pt x="236404" y="673857"/>
                </a:cubicBezTo>
                <a:cubicBezTo>
                  <a:pt x="236404" y="657036"/>
                  <a:pt x="229594" y="641805"/>
                  <a:pt x="218564" y="630785"/>
                </a:cubicBezTo>
                <a:lnTo>
                  <a:pt x="218564" y="630785"/>
                </a:lnTo>
                <a:close/>
                <a:moveTo>
                  <a:pt x="332102" y="342168"/>
                </a:moveTo>
                <a:cubicBezTo>
                  <a:pt x="340236" y="342063"/>
                  <a:pt x="347609" y="338701"/>
                  <a:pt x="352971" y="333338"/>
                </a:cubicBezTo>
                <a:cubicBezTo>
                  <a:pt x="358419" y="327890"/>
                  <a:pt x="361801" y="320365"/>
                  <a:pt x="361801" y="312088"/>
                </a:cubicBezTo>
                <a:cubicBezTo>
                  <a:pt x="361801" y="303811"/>
                  <a:pt x="358419" y="296286"/>
                  <a:pt x="352971" y="290838"/>
                </a:cubicBezTo>
                <a:cubicBezTo>
                  <a:pt x="347523" y="285389"/>
                  <a:pt x="339998" y="282008"/>
                  <a:pt x="331721" y="282008"/>
                </a:cubicBezTo>
                <a:lnTo>
                  <a:pt x="163243" y="282008"/>
                </a:lnTo>
                <a:cubicBezTo>
                  <a:pt x="154965" y="282008"/>
                  <a:pt x="147441" y="285389"/>
                  <a:pt x="141992" y="290838"/>
                </a:cubicBezTo>
                <a:cubicBezTo>
                  <a:pt x="136544" y="296286"/>
                  <a:pt x="133163" y="303811"/>
                  <a:pt x="133163" y="312088"/>
                </a:cubicBezTo>
                <a:cubicBezTo>
                  <a:pt x="133163" y="320365"/>
                  <a:pt x="136544" y="327890"/>
                  <a:pt x="141992" y="333338"/>
                </a:cubicBezTo>
                <a:cubicBezTo>
                  <a:pt x="147355" y="338701"/>
                  <a:pt x="154727" y="342063"/>
                  <a:pt x="162862" y="342168"/>
                </a:cubicBezTo>
                <a:lnTo>
                  <a:pt x="162862" y="381277"/>
                </a:lnTo>
                <a:cubicBezTo>
                  <a:pt x="162862" y="384211"/>
                  <a:pt x="162671" y="386897"/>
                  <a:pt x="162185" y="389393"/>
                </a:cubicBezTo>
                <a:cubicBezTo>
                  <a:pt x="161747" y="391631"/>
                  <a:pt x="161071" y="393765"/>
                  <a:pt x="160090" y="395851"/>
                </a:cubicBezTo>
                <a:cubicBezTo>
                  <a:pt x="159976" y="396032"/>
                  <a:pt x="159880" y="396222"/>
                  <a:pt x="159776" y="396422"/>
                </a:cubicBezTo>
                <a:lnTo>
                  <a:pt x="6880" y="702394"/>
                </a:lnTo>
                <a:lnTo>
                  <a:pt x="6909" y="702403"/>
                </a:lnTo>
                <a:cubicBezTo>
                  <a:pt x="1356" y="713519"/>
                  <a:pt x="-730" y="725206"/>
                  <a:pt x="222" y="736703"/>
                </a:cubicBezTo>
                <a:cubicBezTo>
                  <a:pt x="1194" y="748590"/>
                  <a:pt x="5394" y="760268"/>
                  <a:pt x="12310" y="770869"/>
                </a:cubicBezTo>
                <a:cubicBezTo>
                  <a:pt x="19120" y="781308"/>
                  <a:pt x="27921" y="789452"/>
                  <a:pt x="38151" y="794996"/>
                </a:cubicBezTo>
                <a:cubicBezTo>
                  <a:pt x="48390" y="800539"/>
                  <a:pt x="59992" y="803464"/>
                  <a:pt x="72412" y="803464"/>
                </a:cubicBezTo>
                <a:lnTo>
                  <a:pt x="440735" y="803464"/>
                </a:lnTo>
                <a:cubicBezTo>
                  <a:pt x="453431" y="803464"/>
                  <a:pt x="465300" y="800387"/>
                  <a:pt x="475729" y="794586"/>
                </a:cubicBezTo>
                <a:cubicBezTo>
                  <a:pt x="486140" y="788795"/>
                  <a:pt x="495008" y="780327"/>
                  <a:pt x="501714" y="769536"/>
                </a:cubicBezTo>
                <a:cubicBezTo>
                  <a:pt x="508419" y="758725"/>
                  <a:pt x="512086" y="747018"/>
                  <a:pt x="512658" y="735122"/>
                </a:cubicBezTo>
                <a:cubicBezTo>
                  <a:pt x="513229" y="723244"/>
                  <a:pt x="510715" y="711252"/>
                  <a:pt x="505066" y="699851"/>
                </a:cubicBezTo>
                <a:lnTo>
                  <a:pt x="505066" y="699851"/>
                </a:lnTo>
                <a:lnTo>
                  <a:pt x="504866" y="699470"/>
                </a:lnTo>
                <a:lnTo>
                  <a:pt x="335864" y="396879"/>
                </a:lnTo>
                <a:cubicBezTo>
                  <a:pt x="334464" y="394374"/>
                  <a:pt x="333540" y="391831"/>
                  <a:pt x="332950" y="389164"/>
                </a:cubicBezTo>
                <a:cubicBezTo>
                  <a:pt x="332340" y="386383"/>
                  <a:pt x="332102" y="383411"/>
                  <a:pt x="332102" y="380182"/>
                </a:cubicBezTo>
                <a:lnTo>
                  <a:pt x="332102" y="342168"/>
                </a:lnTo>
                <a:lnTo>
                  <a:pt x="332102" y="342168"/>
                </a:lnTo>
                <a:close/>
                <a:moveTo>
                  <a:pt x="180331" y="342168"/>
                </a:moveTo>
                <a:lnTo>
                  <a:pt x="180331" y="381277"/>
                </a:lnTo>
                <a:cubicBezTo>
                  <a:pt x="180331" y="385221"/>
                  <a:pt x="180045" y="388983"/>
                  <a:pt x="179311" y="392746"/>
                </a:cubicBezTo>
                <a:cubicBezTo>
                  <a:pt x="178607" y="396327"/>
                  <a:pt x="177464" y="399861"/>
                  <a:pt x="175730" y="403490"/>
                </a:cubicBezTo>
                <a:cubicBezTo>
                  <a:pt x="175635" y="403728"/>
                  <a:pt x="175530" y="403976"/>
                  <a:pt x="175416" y="404214"/>
                </a:cubicBezTo>
                <a:lnTo>
                  <a:pt x="22520" y="710176"/>
                </a:lnTo>
                <a:lnTo>
                  <a:pt x="22492" y="710166"/>
                </a:lnTo>
                <a:lnTo>
                  <a:pt x="22482" y="710176"/>
                </a:lnTo>
                <a:cubicBezTo>
                  <a:pt x="18444" y="718262"/>
                  <a:pt x="16929" y="726845"/>
                  <a:pt x="17624" y="735341"/>
                </a:cubicBezTo>
                <a:cubicBezTo>
                  <a:pt x="18358" y="744313"/>
                  <a:pt x="21587" y="753219"/>
                  <a:pt x="26911" y="761392"/>
                </a:cubicBezTo>
                <a:cubicBezTo>
                  <a:pt x="32093" y="769326"/>
                  <a:pt x="38722" y="775479"/>
                  <a:pt x="46409" y="779642"/>
                </a:cubicBezTo>
                <a:cubicBezTo>
                  <a:pt x="54086" y="783804"/>
                  <a:pt x="62887" y="785985"/>
                  <a:pt x="72412" y="785985"/>
                </a:cubicBezTo>
                <a:lnTo>
                  <a:pt x="440735" y="785985"/>
                </a:lnTo>
                <a:cubicBezTo>
                  <a:pt x="450488" y="785985"/>
                  <a:pt x="459480" y="783690"/>
                  <a:pt x="467262" y="779365"/>
                </a:cubicBezTo>
                <a:cubicBezTo>
                  <a:pt x="475063" y="775022"/>
                  <a:pt x="481759" y="768593"/>
                  <a:pt x="486893" y="760325"/>
                </a:cubicBezTo>
                <a:cubicBezTo>
                  <a:pt x="492017" y="752067"/>
                  <a:pt x="494808" y="743218"/>
                  <a:pt x="495246" y="734303"/>
                </a:cubicBezTo>
                <a:cubicBezTo>
                  <a:pt x="495675" y="725397"/>
                  <a:pt x="493751" y="716329"/>
                  <a:pt x="489464" y="707642"/>
                </a:cubicBezTo>
                <a:lnTo>
                  <a:pt x="320634" y="405347"/>
                </a:lnTo>
                <a:cubicBezTo>
                  <a:pt x="318329" y="401213"/>
                  <a:pt x="316814" y="397099"/>
                  <a:pt x="315881" y="392860"/>
                </a:cubicBezTo>
                <a:cubicBezTo>
                  <a:pt x="314976" y="388736"/>
                  <a:pt x="314624" y="384564"/>
                  <a:pt x="314624" y="380192"/>
                </a:cubicBezTo>
                <a:lnTo>
                  <a:pt x="314624" y="342168"/>
                </a:lnTo>
                <a:lnTo>
                  <a:pt x="180331" y="342168"/>
                </a:lnTo>
                <a:lnTo>
                  <a:pt x="180331" y="342168"/>
                </a:lnTo>
                <a:close/>
                <a:moveTo>
                  <a:pt x="331721" y="299486"/>
                </a:moveTo>
                <a:cubicBezTo>
                  <a:pt x="335178" y="299486"/>
                  <a:pt x="338331" y="300906"/>
                  <a:pt x="340617" y="303192"/>
                </a:cubicBezTo>
                <a:cubicBezTo>
                  <a:pt x="342903" y="305478"/>
                  <a:pt x="344322" y="308630"/>
                  <a:pt x="344322" y="312088"/>
                </a:cubicBezTo>
                <a:cubicBezTo>
                  <a:pt x="344322" y="315545"/>
                  <a:pt x="342903" y="318698"/>
                  <a:pt x="340617" y="320984"/>
                </a:cubicBezTo>
                <a:cubicBezTo>
                  <a:pt x="338331" y="323270"/>
                  <a:pt x="335178" y="324689"/>
                  <a:pt x="331721" y="324689"/>
                </a:cubicBezTo>
                <a:lnTo>
                  <a:pt x="323367" y="324689"/>
                </a:lnTo>
                <a:lnTo>
                  <a:pt x="171596" y="324689"/>
                </a:lnTo>
                <a:lnTo>
                  <a:pt x="163243" y="324689"/>
                </a:lnTo>
                <a:cubicBezTo>
                  <a:pt x="159785" y="324689"/>
                  <a:pt x="156632" y="323270"/>
                  <a:pt x="154346" y="320984"/>
                </a:cubicBezTo>
                <a:cubicBezTo>
                  <a:pt x="152060" y="318698"/>
                  <a:pt x="150632" y="315545"/>
                  <a:pt x="150632" y="312088"/>
                </a:cubicBezTo>
                <a:cubicBezTo>
                  <a:pt x="150632" y="308630"/>
                  <a:pt x="152051" y="305478"/>
                  <a:pt x="154346" y="303192"/>
                </a:cubicBezTo>
                <a:cubicBezTo>
                  <a:pt x="156632" y="300906"/>
                  <a:pt x="159785" y="299486"/>
                  <a:pt x="163243" y="299486"/>
                </a:cubicBezTo>
                <a:lnTo>
                  <a:pt x="331721" y="299486"/>
                </a:lnTo>
                <a:lnTo>
                  <a:pt x="331721" y="299486"/>
                </a:lnTo>
                <a:close/>
                <a:moveTo>
                  <a:pt x="682098" y="456258"/>
                </a:moveTo>
                <a:cubicBezTo>
                  <a:pt x="724056" y="445562"/>
                  <a:pt x="761394" y="423426"/>
                  <a:pt x="790626" y="393422"/>
                </a:cubicBezTo>
                <a:cubicBezTo>
                  <a:pt x="832003" y="350950"/>
                  <a:pt x="857177" y="292685"/>
                  <a:pt x="856339" y="228706"/>
                </a:cubicBezTo>
                <a:cubicBezTo>
                  <a:pt x="855501" y="164708"/>
                  <a:pt x="828812" y="107110"/>
                  <a:pt x="786330" y="65733"/>
                </a:cubicBezTo>
                <a:cubicBezTo>
                  <a:pt x="743858" y="24357"/>
                  <a:pt x="685594" y="-818"/>
                  <a:pt x="621614" y="20"/>
                </a:cubicBezTo>
                <a:cubicBezTo>
                  <a:pt x="557616" y="858"/>
                  <a:pt x="500018" y="27548"/>
                  <a:pt x="458632" y="70029"/>
                </a:cubicBezTo>
                <a:cubicBezTo>
                  <a:pt x="417255" y="112501"/>
                  <a:pt x="392081" y="170765"/>
                  <a:pt x="392919" y="234745"/>
                </a:cubicBezTo>
                <a:cubicBezTo>
                  <a:pt x="393757" y="298743"/>
                  <a:pt x="420446" y="356341"/>
                  <a:pt x="462918" y="397718"/>
                </a:cubicBezTo>
                <a:cubicBezTo>
                  <a:pt x="491931" y="425988"/>
                  <a:pt x="528326" y="446686"/>
                  <a:pt x="568874" y="456706"/>
                </a:cubicBezTo>
                <a:lnTo>
                  <a:pt x="569151" y="540012"/>
                </a:lnTo>
                <a:cubicBezTo>
                  <a:pt x="565807" y="541602"/>
                  <a:pt x="562721" y="543517"/>
                  <a:pt x="559959" y="545698"/>
                </a:cubicBezTo>
                <a:cubicBezTo>
                  <a:pt x="550720" y="552975"/>
                  <a:pt x="544938" y="563253"/>
                  <a:pt x="544862" y="574749"/>
                </a:cubicBezTo>
                <a:lnTo>
                  <a:pt x="543586" y="762792"/>
                </a:lnTo>
                <a:cubicBezTo>
                  <a:pt x="543538" y="774222"/>
                  <a:pt x="549129" y="784490"/>
                  <a:pt x="558206" y="791834"/>
                </a:cubicBezTo>
                <a:cubicBezTo>
                  <a:pt x="566750" y="798758"/>
                  <a:pt x="578485" y="803092"/>
                  <a:pt x="591363" y="803178"/>
                </a:cubicBezTo>
                <a:cubicBezTo>
                  <a:pt x="612956" y="803492"/>
                  <a:pt x="634683" y="803359"/>
                  <a:pt x="656295" y="803454"/>
                </a:cubicBezTo>
                <a:cubicBezTo>
                  <a:pt x="669211" y="803511"/>
                  <a:pt x="681079" y="799292"/>
                  <a:pt x="689756" y="792453"/>
                </a:cubicBezTo>
                <a:cubicBezTo>
                  <a:pt x="698995" y="785166"/>
                  <a:pt x="704777" y="774898"/>
                  <a:pt x="704844" y="763411"/>
                </a:cubicBezTo>
                <a:lnTo>
                  <a:pt x="706111" y="576235"/>
                </a:lnTo>
                <a:cubicBezTo>
                  <a:pt x="706139" y="575959"/>
                  <a:pt x="706149" y="575683"/>
                  <a:pt x="706149" y="575407"/>
                </a:cubicBezTo>
                <a:lnTo>
                  <a:pt x="706149" y="575368"/>
                </a:lnTo>
                <a:lnTo>
                  <a:pt x="706120" y="575368"/>
                </a:lnTo>
                <a:cubicBezTo>
                  <a:pt x="706158" y="563938"/>
                  <a:pt x="700558" y="553670"/>
                  <a:pt x="691490" y="546327"/>
                </a:cubicBezTo>
                <a:cubicBezTo>
                  <a:pt x="688756" y="544117"/>
                  <a:pt x="685699" y="542164"/>
                  <a:pt x="682384" y="540536"/>
                </a:cubicBezTo>
                <a:lnTo>
                  <a:pt x="682098" y="456258"/>
                </a:lnTo>
                <a:lnTo>
                  <a:pt x="682098" y="456258"/>
                </a:lnTo>
                <a:close/>
                <a:moveTo>
                  <a:pt x="625786" y="552232"/>
                </a:moveTo>
                <a:lnTo>
                  <a:pt x="658152" y="552366"/>
                </a:lnTo>
                <a:lnTo>
                  <a:pt x="658219" y="552366"/>
                </a:lnTo>
                <a:cubicBezTo>
                  <a:pt x="667010" y="552413"/>
                  <a:pt x="674878" y="555261"/>
                  <a:pt x="680498" y="559814"/>
                </a:cubicBezTo>
                <a:cubicBezTo>
                  <a:pt x="685594" y="563938"/>
                  <a:pt x="688737" y="569434"/>
                  <a:pt x="688708" y="575302"/>
                </a:cubicBezTo>
                <a:lnTo>
                  <a:pt x="688708" y="575330"/>
                </a:lnTo>
                <a:lnTo>
                  <a:pt x="688670" y="575330"/>
                </a:lnTo>
                <a:lnTo>
                  <a:pt x="688670" y="575368"/>
                </a:lnTo>
                <a:cubicBezTo>
                  <a:pt x="688670" y="575607"/>
                  <a:pt x="688680" y="575845"/>
                  <a:pt x="688699" y="576083"/>
                </a:cubicBezTo>
                <a:lnTo>
                  <a:pt x="687432" y="763306"/>
                </a:lnTo>
                <a:cubicBezTo>
                  <a:pt x="687403" y="769145"/>
                  <a:pt x="684155" y="774612"/>
                  <a:pt x="678964" y="778699"/>
                </a:cubicBezTo>
                <a:cubicBezTo>
                  <a:pt x="673192" y="783252"/>
                  <a:pt x="665182" y="786052"/>
                  <a:pt x="656362" y="786014"/>
                </a:cubicBezTo>
                <a:cubicBezTo>
                  <a:pt x="634721" y="785919"/>
                  <a:pt x="613070" y="785852"/>
                  <a:pt x="591439" y="785738"/>
                </a:cubicBezTo>
                <a:cubicBezTo>
                  <a:pt x="582676" y="785680"/>
                  <a:pt x="574808" y="782832"/>
                  <a:pt x="569198" y="778289"/>
                </a:cubicBezTo>
                <a:cubicBezTo>
                  <a:pt x="564112" y="774165"/>
                  <a:pt x="560978" y="768688"/>
                  <a:pt x="560997" y="762830"/>
                </a:cubicBezTo>
                <a:lnTo>
                  <a:pt x="562274" y="574797"/>
                </a:lnTo>
                <a:cubicBezTo>
                  <a:pt x="562312" y="568958"/>
                  <a:pt x="565560" y="563491"/>
                  <a:pt x="570751" y="559405"/>
                </a:cubicBezTo>
                <a:cubicBezTo>
                  <a:pt x="575389" y="555747"/>
                  <a:pt x="581466" y="553223"/>
                  <a:pt x="588248" y="552394"/>
                </a:cubicBezTo>
                <a:lnTo>
                  <a:pt x="625786" y="552232"/>
                </a:lnTo>
                <a:lnTo>
                  <a:pt x="625786" y="552232"/>
                </a:lnTo>
                <a:close/>
                <a:moveTo>
                  <a:pt x="586305" y="460297"/>
                </a:moveTo>
                <a:cubicBezTo>
                  <a:pt x="599735" y="462535"/>
                  <a:pt x="613556" y="463612"/>
                  <a:pt x="627644" y="463431"/>
                </a:cubicBezTo>
                <a:cubicBezTo>
                  <a:pt x="640274" y="463269"/>
                  <a:pt x="652647" y="462088"/>
                  <a:pt x="664696" y="459992"/>
                </a:cubicBezTo>
                <a:lnTo>
                  <a:pt x="664944" y="534659"/>
                </a:lnTo>
                <a:lnTo>
                  <a:pt x="625796" y="534830"/>
                </a:lnTo>
                <a:lnTo>
                  <a:pt x="593411" y="534697"/>
                </a:lnTo>
                <a:cubicBezTo>
                  <a:pt x="591325" y="534687"/>
                  <a:pt x="589258" y="534792"/>
                  <a:pt x="587229" y="535001"/>
                </a:cubicBezTo>
                <a:lnTo>
                  <a:pt x="586553" y="535001"/>
                </a:lnTo>
                <a:lnTo>
                  <a:pt x="586305" y="460297"/>
                </a:lnTo>
                <a:lnTo>
                  <a:pt x="586305" y="460297"/>
                </a:lnTo>
                <a:close/>
                <a:moveTo>
                  <a:pt x="622624" y="69572"/>
                </a:moveTo>
                <a:lnTo>
                  <a:pt x="622624" y="69610"/>
                </a:lnTo>
                <a:lnTo>
                  <a:pt x="622519" y="69610"/>
                </a:lnTo>
                <a:cubicBezTo>
                  <a:pt x="577733" y="70191"/>
                  <a:pt x="537432" y="88870"/>
                  <a:pt x="508486" y="118588"/>
                </a:cubicBezTo>
                <a:cubicBezTo>
                  <a:pt x="479720" y="148125"/>
                  <a:pt x="462147" y="188568"/>
                  <a:pt x="462509" y="233021"/>
                </a:cubicBezTo>
                <a:cubicBezTo>
                  <a:pt x="462490" y="233249"/>
                  <a:pt x="462480" y="233488"/>
                  <a:pt x="462480" y="233726"/>
                </a:cubicBezTo>
                <a:lnTo>
                  <a:pt x="462518" y="233726"/>
                </a:lnTo>
                <a:lnTo>
                  <a:pt x="462518" y="233830"/>
                </a:lnTo>
                <a:cubicBezTo>
                  <a:pt x="463099" y="278608"/>
                  <a:pt x="481778" y="318917"/>
                  <a:pt x="511496" y="347864"/>
                </a:cubicBezTo>
                <a:cubicBezTo>
                  <a:pt x="541204" y="376810"/>
                  <a:pt x="581971" y="394422"/>
                  <a:pt x="626739" y="393841"/>
                </a:cubicBezTo>
                <a:cubicBezTo>
                  <a:pt x="671525" y="393250"/>
                  <a:pt x="711826" y="374581"/>
                  <a:pt x="740772" y="344863"/>
                </a:cubicBezTo>
                <a:cubicBezTo>
                  <a:pt x="769547" y="315336"/>
                  <a:pt x="787111" y="274883"/>
                  <a:pt x="786749" y="230430"/>
                </a:cubicBezTo>
                <a:cubicBezTo>
                  <a:pt x="786768" y="230192"/>
                  <a:pt x="786778" y="229963"/>
                  <a:pt x="786778" y="229716"/>
                </a:cubicBezTo>
                <a:lnTo>
                  <a:pt x="786749" y="229716"/>
                </a:lnTo>
                <a:lnTo>
                  <a:pt x="786749" y="229611"/>
                </a:lnTo>
                <a:cubicBezTo>
                  <a:pt x="786159" y="184834"/>
                  <a:pt x="767490" y="144534"/>
                  <a:pt x="737772" y="115578"/>
                </a:cubicBezTo>
                <a:cubicBezTo>
                  <a:pt x="708235" y="86803"/>
                  <a:pt x="667791" y="69238"/>
                  <a:pt x="623338" y="69600"/>
                </a:cubicBezTo>
                <a:cubicBezTo>
                  <a:pt x="623110" y="69581"/>
                  <a:pt x="622872" y="69572"/>
                  <a:pt x="622624" y="69572"/>
                </a:cubicBezTo>
                <a:lnTo>
                  <a:pt x="622624" y="69572"/>
                </a:lnTo>
                <a:close/>
                <a:moveTo>
                  <a:pt x="622633" y="87050"/>
                </a:moveTo>
                <a:lnTo>
                  <a:pt x="622633" y="87022"/>
                </a:lnTo>
                <a:cubicBezTo>
                  <a:pt x="582733" y="87574"/>
                  <a:pt x="546814" y="104233"/>
                  <a:pt x="520992" y="130741"/>
                </a:cubicBezTo>
                <a:cubicBezTo>
                  <a:pt x="495294" y="157116"/>
                  <a:pt x="479606" y="193235"/>
                  <a:pt x="479930" y="232907"/>
                </a:cubicBezTo>
                <a:cubicBezTo>
                  <a:pt x="479958" y="233173"/>
                  <a:pt x="479968" y="233449"/>
                  <a:pt x="479968" y="233726"/>
                </a:cubicBezTo>
                <a:lnTo>
                  <a:pt x="479939" y="233726"/>
                </a:lnTo>
                <a:cubicBezTo>
                  <a:pt x="480492" y="273626"/>
                  <a:pt x="497151" y="309545"/>
                  <a:pt x="523659" y="335367"/>
                </a:cubicBezTo>
                <a:cubicBezTo>
                  <a:pt x="550196" y="361218"/>
                  <a:pt x="586591" y="376944"/>
                  <a:pt x="626548" y="376420"/>
                </a:cubicBezTo>
                <a:cubicBezTo>
                  <a:pt x="666496" y="375896"/>
                  <a:pt x="702443" y="359227"/>
                  <a:pt x="728294" y="332700"/>
                </a:cubicBezTo>
                <a:cubicBezTo>
                  <a:pt x="753993" y="306325"/>
                  <a:pt x="769680" y="270206"/>
                  <a:pt x="769357" y="230535"/>
                </a:cubicBezTo>
                <a:cubicBezTo>
                  <a:pt x="769328" y="230259"/>
                  <a:pt x="769318" y="229992"/>
                  <a:pt x="769318" y="229706"/>
                </a:cubicBezTo>
                <a:lnTo>
                  <a:pt x="769347" y="229706"/>
                </a:lnTo>
                <a:cubicBezTo>
                  <a:pt x="768795" y="189806"/>
                  <a:pt x="752135" y="153887"/>
                  <a:pt x="725627" y="128065"/>
                </a:cubicBezTo>
                <a:cubicBezTo>
                  <a:pt x="699253" y="102366"/>
                  <a:pt x="663134" y="86679"/>
                  <a:pt x="623462" y="87003"/>
                </a:cubicBezTo>
                <a:cubicBezTo>
                  <a:pt x="623186" y="87031"/>
                  <a:pt x="622910" y="87050"/>
                  <a:pt x="622633" y="87050"/>
                </a:cubicBezTo>
                <a:lnTo>
                  <a:pt x="622633" y="87050"/>
                </a:lnTo>
                <a:close/>
                <a:moveTo>
                  <a:pt x="774186" y="78221"/>
                </a:moveTo>
                <a:cubicBezTo>
                  <a:pt x="734886" y="39940"/>
                  <a:pt x="680993" y="16651"/>
                  <a:pt x="621824" y="17422"/>
                </a:cubicBezTo>
                <a:cubicBezTo>
                  <a:pt x="562664" y="18194"/>
                  <a:pt x="509410" y="42883"/>
                  <a:pt x="471138" y="82173"/>
                </a:cubicBezTo>
                <a:cubicBezTo>
                  <a:pt x="432857" y="121464"/>
                  <a:pt x="409569" y="175356"/>
                  <a:pt x="410340" y="234535"/>
                </a:cubicBezTo>
                <a:cubicBezTo>
                  <a:pt x="411112" y="293695"/>
                  <a:pt x="435801" y="346949"/>
                  <a:pt x="475091" y="385221"/>
                </a:cubicBezTo>
                <a:cubicBezTo>
                  <a:pt x="514382" y="423502"/>
                  <a:pt x="568274" y="446790"/>
                  <a:pt x="627453" y="446019"/>
                </a:cubicBezTo>
                <a:cubicBezTo>
                  <a:pt x="686613" y="445247"/>
                  <a:pt x="739867" y="420559"/>
                  <a:pt x="778139" y="381268"/>
                </a:cubicBezTo>
                <a:cubicBezTo>
                  <a:pt x="816420" y="341977"/>
                  <a:pt x="839708" y="288085"/>
                  <a:pt x="838937" y="228906"/>
                </a:cubicBezTo>
                <a:cubicBezTo>
                  <a:pt x="838156" y="169746"/>
                  <a:pt x="813467" y="116492"/>
                  <a:pt x="774186" y="78221"/>
                </a:cubicBezTo>
                <a:lnTo>
                  <a:pt x="774186" y="78221"/>
                </a:lnTo>
                <a:close/>
                <a:moveTo>
                  <a:pt x="256026" y="127293"/>
                </a:moveTo>
                <a:lnTo>
                  <a:pt x="256054" y="127274"/>
                </a:lnTo>
                <a:lnTo>
                  <a:pt x="256073" y="127265"/>
                </a:lnTo>
                <a:lnTo>
                  <a:pt x="304632" y="97204"/>
                </a:lnTo>
                <a:cubicBezTo>
                  <a:pt x="305070" y="96871"/>
                  <a:pt x="305527" y="96594"/>
                  <a:pt x="306013" y="96356"/>
                </a:cubicBezTo>
                <a:cubicBezTo>
                  <a:pt x="316843" y="89917"/>
                  <a:pt x="329283" y="88355"/>
                  <a:pt x="340703" y="91041"/>
                </a:cubicBezTo>
                <a:cubicBezTo>
                  <a:pt x="352152" y="93737"/>
                  <a:pt x="362601" y="100690"/>
                  <a:pt x="369430" y="111282"/>
                </a:cubicBezTo>
                <a:cubicBezTo>
                  <a:pt x="369783" y="111739"/>
                  <a:pt x="370078" y="112234"/>
                  <a:pt x="370326" y="112739"/>
                </a:cubicBezTo>
                <a:cubicBezTo>
                  <a:pt x="376765" y="123569"/>
                  <a:pt x="378327" y="136009"/>
                  <a:pt x="375641" y="147439"/>
                </a:cubicBezTo>
                <a:cubicBezTo>
                  <a:pt x="372888" y="159145"/>
                  <a:pt x="365678" y="169813"/>
                  <a:pt x="354667" y="176623"/>
                </a:cubicBezTo>
                <a:lnTo>
                  <a:pt x="305460" y="207084"/>
                </a:lnTo>
                <a:lnTo>
                  <a:pt x="305441" y="207094"/>
                </a:lnTo>
                <a:lnTo>
                  <a:pt x="305432" y="207103"/>
                </a:lnTo>
                <a:lnTo>
                  <a:pt x="256873" y="237164"/>
                </a:lnTo>
                <a:cubicBezTo>
                  <a:pt x="256435" y="237488"/>
                  <a:pt x="255978" y="237774"/>
                  <a:pt x="255492" y="238002"/>
                </a:cubicBezTo>
                <a:cubicBezTo>
                  <a:pt x="244662" y="244441"/>
                  <a:pt x="232223" y="246003"/>
                  <a:pt x="220802" y="243317"/>
                </a:cubicBezTo>
                <a:cubicBezTo>
                  <a:pt x="209448" y="240650"/>
                  <a:pt x="199066" y="233773"/>
                  <a:pt x="192237" y="223315"/>
                </a:cubicBezTo>
                <a:cubicBezTo>
                  <a:pt x="182359" y="232078"/>
                  <a:pt x="170358" y="237631"/>
                  <a:pt x="157785" y="239717"/>
                </a:cubicBezTo>
                <a:cubicBezTo>
                  <a:pt x="140402" y="242603"/>
                  <a:pt x="121914" y="238850"/>
                  <a:pt x="106436" y="227792"/>
                </a:cubicBezTo>
                <a:lnTo>
                  <a:pt x="106436" y="227792"/>
                </a:lnTo>
                <a:cubicBezTo>
                  <a:pt x="90938" y="216705"/>
                  <a:pt x="81404" y="200388"/>
                  <a:pt x="78508" y="182977"/>
                </a:cubicBezTo>
                <a:cubicBezTo>
                  <a:pt x="75622" y="165593"/>
                  <a:pt x="79375" y="147105"/>
                  <a:pt x="90434" y="131627"/>
                </a:cubicBezTo>
                <a:cubicBezTo>
                  <a:pt x="101521" y="116130"/>
                  <a:pt x="117837" y="106596"/>
                  <a:pt x="135249" y="103700"/>
                </a:cubicBezTo>
                <a:cubicBezTo>
                  <a:pt x="152632" y="100814"/>
                  <a:pt x="171110" y="104557"/>
                  <a:pt x="186579" y="115616"/>
                </a:cubicBezTo>
                <a:lnTo>
                  <a:pt x="186588" y="115625"/>
                </a:lnTo>
                <a:lnTo>
                  <a:pt x="186588" y="115625"/>
                </a:lnTo>
                <a:lnTo>
                  <a:pt x="186598" y="115635"/>
                </a:lnTo>
                <a:lnTo>
                  <a:pt x="186598" y="115635"/>
                </a:lnTo>
                <a:cubicBezTo>
                  <a:pt x="200114" y="125303"/>
                  <a:pt x="209096" y="138952"/>
                  <a:pt x="213077" y="153849"/>
                </a:cubicBezTo>
                <a:lnTo>
                  <a:pt x="256026" y="127293"/>
                </a:lnTo>
                <a:lnTo>
                  <a:pt x="256026" y="127293"/>
                </a:lnTo>
                <a:close/>
                <a:moveTo>
                  <a:pt x="272609" y="137514"/>
                </a:moveTo>
                <a:lnTo>
                  <a:pt x="303689" y="187720"/>
                </a:lnTo>
                <a:lnTo>
                  <a:pt x="345513" y="161831"/>
                </a:lnTo>
                <a:cubicBezTo>
                  <a:pt x="352381" y="157573"/>
                  <a:pt x="356895" y="150868"/>
                  <a:pt x="358629" y="143495"/>
                </a:cubicBezTo>
                <a:cubicBezTo>
                  <a:pt x="360372" y="136104"/>
                  <a:pt x="359324" y="128074"/>
                  <a:pt x="355067" y="121188"/>
                </a:cubicBezTo>
                <a:lnTo>
                  <a:pt x="355057" y="121178"/>
                </a:lnTo>
                <a:cubicBezTo>
                  <a:pt x="350799" y="114311"/>
                  <a:pt x="344094" y="109796"/>
                  <a:pt x="336722" y="108062"/>
                </a:cubicBezTo>
                <a:cubicBezTo>
                  <a:pt x="329330" y="106329"/>
                  <a:pt x="321301" y="107367"/>
                  <a:pt x="314414" y="111634"/>
                </a:cubicBezTo>
                <a:lnTo>
                  <a:pt x="272609" y="137514"/>
                </a:lnTo>
                <a:lnTo>
                  <a:pt x="272609" y="137514"/>
                </a:lnTo>
                <a:close/>
                <a:moveTo>
                  <a:pt x="288887" y="196883"/>
                </a:moveTo>
                <a:lnTo>
                  <a:pt x="257807" y="146677"/>
                </a:lnTo>
                <a:lnTo>
                  <a:pt x="215973" y="172566"/>
                </a:lnTo>
                <a:cubicBezTo>
                  <a:pt x="215859" y="172632"/>
                  <a:pt x="215687" y="172747"/>
                  <a:pt x="215449" y="172909"/>
                </a:cubicBezTo>
                <a:cubicBezTo>
                  <a:pt x="215249" y="185434"/>
                  <a:pt x="211630" y="198026"/>
                  <a:pt x="204362" y="209218"/>
                </a:cubicBezTo>
                <a:lnTo>
                  <a:pt x="204476" y="209494"/>
                </a:lnTo>
                <a:cubicBezTo>
                  <a:pt x="205038" y="210780"/>
                  <a:pt x="205686" y="212028"/>
                  <a:pt x="206410" y="213199"/>
                </a:cubicBezTo>
                <a:lnTo>
                  <a:pt x="206420" y="213209"/>
                </a:lnTo>
                <a:cubicBezTo>
                  <a:pt x="210677" y="220076"/>
                  <a:pt x="217383" y="224591"/>
                  <a:pt x="224755" y="226325"/>
                </a:cubicBezTo>
                <a:cubicBezTo>
                  <a:pt x="232147" y="228068"/>
                  <a:pt x="240186" y="227020"/>
                  <a:pt x="247063" y="222762"/>
                </a:cubicBezTo>
                <a:lnTo>
                  <a:pt x="288887" y="196883"/>
                </a:lnTo>
                <a:lnTo>
                  <a:pt x="288887" y="196883"/>
                </a:lnTo>
                <a:close/>
                <a:moveTo>
                  <a:pt x="124076" y="218095"/>
                </a:moveTo>
                <a:lnTo>
                  <a:pt x="183150" y="135504"/>
                </a:lnTo>
                <a:cubicBezTo>
                  <a:pt x="190808" y="143229"/>
                  <a:pt x="195628" y="152992"/>
                  <a:pt x="197333" y="163269"/>
                </a:cubicBezTo>
                <a:cubicBezTo>
                  <a:pt x="199466" y="176099"/>
                  <a:pt x="196771" y="189730"/>
                  <a:pt x="188770" y="201207"/>
                </a:cubicBezTo>
                <a:cubicBezTo>
                  <a:pt x="188503" y="201522"/>
                  <a:pt x="188274" y="201846"/>
                  <a:pt x="188065" y="202188"/>
                </a:cubicBezTo>
                <a:cubicBezTo>
                  <a:pt x="179807" y="213466"/>
                  <a:pt x="167805" y="220410"/>
                  <a:pt x="154994" y="222534"/>
                </a:cubicBezTo>
                <a:cubicBezTo>
                  <a:pt x="144688" y="224248"/>
                  <a:pt x="133868" y="222848"/>
                  <a:pt x="124076" y="218095"/>
                </a:cubicBezTo>
                <a:close/>
              </a:path>
            </a:pathLst>
          </a:custGeom>
          <a:solidFill>
            <a:srgbClr val="00823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5ED474E-C1B0-CB71-AC88-361A7C197AA4}"/>
              </a:ext>
            </a:extLst>
          </p:cNvPr>
          <p:cNvGrpSpPr/>
          <p:nvPr/>
        </p:nvGrpSpPr>
        <p:grpSpPr>
          <a:xfrm>
            <a:off x="7269621" y="3215259"/>
            <a:ext cx="2062535" cy="1888557"/>
            <a:chOff x="656630" y="3472821"/>
            <a:chExt cx="2062535" cy="1383909"/>
          </a:xfrm>
        </p:grpSpPr>
        <p:sp>
          <p:nvSpPr>
            <p:cNvPr id="48" name="Pentagon 3">
              <a:extLst>
                <a:ext uri="{FF2B5EF4-FFF2-40B4-BE49-F238E27FC236}">
                  <a16:creationId xmlns:a16="http://schemas.microsoft.com/office/drawing/2014/main" id="{57CB66F8-E01F-C792-9228-1421DEF36E09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Network Influence: 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Top 10% </a:t>
              </a:r>
              <a:r>
                <a:rPr lang="en-US" sz="1100" u="sng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weighted indegree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Diagnosing Intensity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: First NT diagnosing volume ≥ 95</a:t>
              </a:r>
              <a:r>
                <a:rPr lang="en-US" sz="1100" baseline="300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th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 percentile 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Patient Volume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: Interacted patient volume ≥ 90th Percentile</a:t>
              </a:r>
            </a:p>
          </p:txBody>
        </p:sp>
        <p:sp>
          <p:nvSpPr>
            <p:cNvPr id="49" name="Pentagon 3">
              <a:extLst>
                <a:ext uri="{FF2B5EF4-FFF2-40B4-BE49-F238E27FC236}">
                  <a16:creationId xmlns:a16="http://schemas.microsoft.com/office/drawing/2014/main" id="{FB6F68E0-7A08-9A2E-5F68-27A0DEC6E5A7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sp>
        <p:nvSpPr>
          <p:cNvPr id="9" name="Chevron 7">
            <a:extLst>
              <a:ext uri="{FF2B5EF4-FFF2-40B4-BE49-F238E27FC236}">
                <a16:creationId xmlns:a16="http://schemas.microsoft.com/office/drawing/2014/main" id="{1DA22740-A6A9-C53D-2246-B6E97AC65D51}"/>
              </a:ext>
            </a:extLst>
          </p:cNvPr>
          <p:cNvSpPr/>
          <p:nvPr/>
        </p:nvSpPr>
        <p:spPr>
          <a:xfrm>
            <a:off x="9478932" y="1887042"/>
            <a:ext cx="2039674" cy="26665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Super Treaters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6F758D2-108D-5519-D538-8804F20D0740}"/>
              </a:ext>
            </a:extLst>
          </p:cNvPr>
          <p:cNvSpPr txBox="1">
            <a:spLocks/>
          </p:cNvSpPr>
          <p:nvPr/>
        </p:nvSpPr>
        <p:spPr>
          <a:xfrm>
            <a:off x="9575195" y="2164519"/>
            <a:ext cx="1847149" cy="72160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en-US"/>
            </a:defPPr>
            <a:lvl1pPr indent="0" defTabSz="1087636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>
                <a:latin typeface="+mj-lt"/>
                <a:ea typeface="League Spartan" charset="0"/>
                <a:cs typeface="Poppins" pitchFamily="2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b="1" noProof="0"/>
              <a:t>Managing NT1 relevant treatment</a:t>
            </a:r>
            <a:r>
              <a:rPr lang="en-US" noProof="0"/>
              <a:t> for a high-volume of patients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2D7B1A4-03FA-F79B-593C-36E8272A4767}"/>
              </a:ext>
            </a:extLst>
          </p:cNvPr>
          <p:cNvSpPr>
            <a:spLocks/>
          </p:cNvSpPr>
          <p:nvPr/>
        </p:nvSpPr>
        <p:spPr>
          <a:xfrm>
            <a:off x="10270169" y="1235641"/>
            <a:ext cx="457200" cy="484632"/>
          </a:xfrm>
          <a:custGeom>
            <a:avLst/>
            <a:gdLst>
              <a:gd name="connsiteX0" fmla="*/ 396088 w 738558"/>
              <a:gd name="connsiteY0" fmla="*/ 706745 h 857250"/>
              <a:gd name="connsiteX1" fmla="*/ 395754 w 738558"/>
              <a:gd name="connsiteY1" fmla="*/ 722490 h 857250"/>
              <a:gd name="connsiteX2" fmla="*/ 368703 w 738558"/>
              <a:gd name="connsiteY2" fmla="*/ 748417 h 857250"/>
              <a:gd name="connsiteX3" fmla="*/ 360998 w 738558"/>
              <a:gd name="connsiteY3" fmla="*/ 751513 h 857250"/>
              <a:gd name="connsiteX4" fmla="*/ 360188 w 738558"/>
              <a:gd name="connsiteY4" fmla="*/ 751484 h 857250"/>
              <a:gd name="connsiteX5" fmla="*/ 352206 w 738558"/>
              <a:gd name="connsiteY5" fmla="*/ 747217 h 857250"/>
              <a:gd name="connsiteX6" fmla="*/ 341700 w 738558"/>
              <a:gd name="connsiteY6" fmla="*/ 733711 h 857250"/>
              <a:gd name="connsiteX7" fmla="*/ 343653 w 738558"/>
              <a:gd name="connsiteY7" fmla="*/ 718090 h 857250"/>
              <a:gd name="connsiteX8" fmla="*/ 359273 w 738558"/>
              <a:gd name="connsiteY8" fmla="*/ 720042 h 857250"/>
              <a:gd name="connsiteX9" fmla="*/ 362198 w 738558"/>
              <a:gd name="connsiteY9" fmla="*/ 723805 h 857250"/>
              <a:gd name="connsiteX10" fmla="*/ 380333 w 738558"/>
              <a:gd name="connsiteY10" fmla="*/ 706422 h 857250"/>
              <a:gd name="connsiteX11" fmla="*/ 396088 w 738558"/>
              <a:gd name="connsiteY11" fmla="*/ 706745 h 857250"/>
              <a:gd name="connsiteX12" fmla="*/ 380048 w 738558"/>
              <a:gd name="connsiteY12" fmla="*/ 269157 h 857250"/>
              <a:gd name="connsiteX13" fmla="*/ 372285 w 738558"/>
              <a:gd name="connsiteY13" fmla="*/ 328689 h 857250"/>
              <a:gd name="connsiteX14" fmla="*/ 280111 w 738558"/>
              <a:gd name="connsiteY14" fmla="*/ 488337 h 857250"/>
              <a:gd name="connsiteX15" fmla="*/ 212017 w 738558"/>
              <a:gd name="connsiteY15" fmla="*/ 527561 h 857250"/>
              <a:gd name="connsiteX16" fmla="*/ 172917 w 738558"/>
              <a:gd name="connsiteY16" fmla="*/ 517065 h 857250"/>
              <a:gd name="connsiteX17" fmla="*/ 144189 w 738558"/>
              <a:gd name="connsiteY17" fmla="*/ 409861 h 857250"/>
              <a:gd name="connsiteX18" fmla="*/ 236363 w 738558"/>
              <a:gd name="connsiteY18" fmla="*/ 250212 h 857250"/>
              <a:gd name="connsiteX19" fmla="*/ 343557 w 738558"/>
              <a:gd name="connsiteY19" fmla="*/ 221485 h 857250"/>
              <a:gd name="connsiteX20" fmla="*/ 380048 w 738558"/>
              <a:gd name="connsiteY20" fmla="*/ 269157 h 857250"/>
              <a:gd name="connsiteX21" fmla="*/ 304162 w 738558"/>
              <a:gd name="connsiteY21" fmla="*/ 402155 h 857250"/>
              <a:gd name="connsiteX22" fmla="*/ 206826 w 738558"/>
              <a:gd name="connsiteY22" fmla="*/ 345910 h 857250"/>
              <a:gd name="connsiteX23" fmla="*/ 163478 w 738558"/>
              <a:gd name="connsiteY23" fmla="*/ 420986 h 857250"/>
              <a:gd name="connsiteX24" fmla="*/ 157944 w 738558"/>
              <a:gd name="connsiteY24" fmla="*/ 463620 h 857250"/>
              <a:gd name="connsiteX25" fmla="*/ 184052 w 738558"/>
              <a:gd name="connsiteY25" fmla="*/ 497767 h 857250"/>
              <a:gd name="connsiteX26" fmla="*/ 260833 w 738558"/>
              <a:gd name="connsiteY26" fmla="*/ 477193 h 857250"/>
              <a:gd name="connsiteX27" fmla="*/ 304162 w 738558"/>
              <a:gd name="connsiteY27" fmla="*/ 402155 h 857250"/>
              <a:gd name="connsiteX28" fmla="*/ 332432 w 738558"/>
              <a:gd name="connsiteY28" fmla="*/ 240773 h 857250"/>
              <a:gd name="connsiteX29" fmla="*/ 337995 w 738558"/>
              <a:gd name="connsiteY29" fmla="*/ 231134 h 857250"/>
              <a:gd name="connsiteX30" fmla="*/ 332432 w 738558"/>
              <a:gd name="connsiteY30" fmla="*/ 240773 h 857250"/>
              <a:gd name="connsiteX31" fmla="*/ 304419 w 738558"/>
              <a:gd name="connsiteY31" fmla="*/ 233258 h 857250"/>
              <a:gd name="connsiteX32" fmla="*/ 255641 w 738558"/>
              <a:gd name="connsiteY32" fmla="*/ 261347 h 857250"/>
              <a:gd name="connsiteX33" fmla="*/ 217980 w 738558"/>
              <a:gd name="connsiteY33" fmla="*/ 326584 h 857250"/>
              <a:gd name="connsiteX34" fmla="*/ 315316 w 738558"/>
              <a:gd name="connsiteY34" fmla="*/ 382829 h 857250"/>
              <a:gd name="connsiteX35" fmla="*/ 353006 w 738558"/>
              <a:gd name="connsiteY35" fmla="*/ 317554 h 857250"/>
              <a:gd name="connsiteX36" fmla="*/ 332432 w 738558"/>
              <a:gd name="connsiteY36" fmla="*/ 240773 h 857250"/>
              <a:gd name="connsiteX37" fmla="*/ 331584 w 738558"/>
              <a:gd name="connsiteY37" fmla="*/ 250574 h 857250"/>
              <a:gd name="connsiteX38" fmla="*/ 293494 w 738558"/>
              <a:gd name="connsiteY38" fmla="*/ 242964 h 857250"/>
              <a:gd name="connsiteX39" fmla="*/ 259852 w 738558"/>
              <a:gd name="connsiteY39" fmla="*/ 268834 h 857250"/>
              <a:gd name="connsiteX40" fmla="*/ 264128 w 738558"/>
              <a:gd name="connsiteY40" fmla="*/ 283988 h 857250"/>
              <a:gd name="connsiteX41" fmla="*/ 269557 w 738558"/>
              <a:gd name="connsiteY41" fmla="*/ 285407 h 857250"/>
              <a:gd name="connsiteX42" fmla="*/ 279283 w 738558"/>
              <a:gd name="connsiteY42" fmla="*/ 279711 h 857250"/>
              <a:gd name="connsiteX43" fmla="*/ 298447 w 738558"/>
              <a:gd name="connsiteY43" fmla="*/ 264671 h 857250"/>
              <a:gd name="connsiteX44" fmla="*/ 318802 w 738558"/>
              <a:gd name="connsiteY44" fmla="*/ 268796 h 857250"/>
              <a:gd name="connsiteX45" fmla="*/ 334308 w 738558"/>
              <a:gd name="connsiteY45" fmla="*/ 266081 h 857250"/>
              <a:gd name="connsiteX46" fmla="*/ 331584 w 738558"/>
              <a:gd name="connsiteY46" fmla="*/ 250574 h 857250"/>
              <a:gd name="connsiteX47" fmla="*/ 387658 w 738558"/>
              <a:gd name="connsiteY47" fmla="*/ 347434 h 857250"/>
              <a:gd name="connsiteX48" fmla="*/ 475555 w 738558"/>
              <a:gd name="connsiteY48" fmla="*/ 326384 h 857250"/>
              <a:gd name="connsiteX49" fmla="*/ 539515 w 738558"/>
              <a:gd name="connsiteY49" fmla="*/ 332394 h 857250"/>
              <a:gd name="connsiteX50" fmla="*/ 539944 w 738558"/>
              <a:gd name="connsiteY50" fmla="*/ 332508 h 857250"/>
              <a:gd name="connsiteX51" fmla="*/ 589940 w 738558"/>
              <a:gd name="connsiteY51" fmla="*/ 357321 h 857250"/>
              <a:gd name="connsiteX52" fmla="*/ 604818 w 738558"/>
              <a:gd name="connsiteY52" fmla="*/ 389172 h 857250"/>
              <a:gd name="connsiteX53" fmla="*/ 604818 w 738558"/>
              <a:gd name="connsiteY53" fmla="*/ 438093 h 857250"/>
              <a:gd name="connsiteX54" fmla="*/ 476736 w 738558"/>
              <a:gd name="connsiteY54" fmla="*/ 510483 h 857250"/>
              <a:gd name="connsiteX55" fmla="*/ 476126 w 738558"/>
              <a:gd name="connsiteY55" fmla="*/ 510502 h 857250"/>
              <a:gd name="connsiteX56" fmla="*/ 472850 w 738558"/>
              <a:gd name="connsiteY56" fmla="*/ 510521 h 857250"/>
              <a:gd name="connsiteX57" fmla="*/ 361045 w 738558"/>
              <a:gd name="connsiteY57" fmla="*/ 478479 h 857250"/>
              <a:gd name="connsiteX58" fmla="*/ 347186 w 738558"/>
              <a:gd name="connsiteY58" fmla="*/ 447456 h 857250"/>
              <a:gd name="connsiteX59" fmla="*/ 347186 w 738558"/>
              <a:gd name="connsiteY59" fmla="*/ 398526 h 857250"/>
              <a:gd name="connsiteX60" fmla="*/ 387658 w 738558"/>
              <a:gd name="connsiteY60" fmla="*/ 347434 h 857250"/>
              <a:gd name="connsiteX61" fmla="*/ 582549 w 738558"/>
              <a:gd name="connsiteY61" fmla="*/ 438074 h 857250"/>
              <a:gd name="connsiteX62" fmla="*/ 582549 w 738558"/>
              <a:gd name="connsiteY62" fmla="*/ 428568 h 857250"/>
              <a:gd name="connsiteX63" fmla="*/ 564337 w 738558"/>
              <a:gd name="connsiteY63" fmla="*/ 440246 h 857250"/>
              <a:gd name="connsiteX64" fmla="*/ 476441 w 738558"/>
              <a:gd name="connsiteY64" fmla="*/ 461296 h 857250"/>
              <a:gd name="connsiteX65" fmla="*/ 466134 w 738558"/>
              <a:gd name="connsiteY65" fmla="*/ 461505 h 857250"/>
              <a:gd name="connsiteX66" fmla="*/ 402250 w 738558"/>
              <a:gd name="connsiteY66" fmla="*/ 452399 h 857250"/>
              <a:gd name="connsiteX67" fmla="*/ 402184 w 738558"/>
              <a:gd name="connsiteY67" fmla="*/ 452380 h 857250"/>
              <a:gd name="connsiteX68" fmla="*/ 369456 w 738558"/>
              <a:gd name="connsiteY68" fmla="*/ 436521 h 857250"/>
              <a:gd name="connsiteX69" fmla="*/ 369456 w 738558"/>
              <a:gd name="connsiteY69" fmla="*/ 447446 h 857250"/>
              <a:gd name="connsiteX70" fmla="*/ 376695 w 738558"/>
              <a:gd name="connsiteY70" fmla="*/ 462629 h 857250"/>
              <a:gd name="connsiteX71" fmla="*/ 475555 w 738558"/>
              <a:gd name="connsiteY71" fmla="*/ 488232 h 857250"/>
              <a:gd name="connsiteX72" fmla="*/ 582549 w 738558"/>
              <a:gd name="connsiteY72" fmla="*/ 438074 h 857250"/>
              <a:gd name="connsiteX73" fmla="*/ 574510 w 738558"/>
              <a:gd name="connsiteY73" fmla="*/ 373361 h 857250"/>
              <a:gd name="connsiteX74" fmla="*/ 539439 w 738558"/>
              <a:gd name="connsiteY74" fmla="*/ 355368 h 857250"/>
              <a:gd name="connsiteX75" fmla="*/ 431549 w 738558"/>
              <a:gd name="connsiteY75" fmla="*/ 436521 h 857250"/>
              <a:gd name="connsiteX76" fmla="*/ 475555 w 738558"/>
              <a:gd name="connsiteY76" fmla="*/ 439045 h 857250"/>
              <a:gd name="connsiteX77" fmla="*/ 582549 w 738558"/>
              <a:gd name="connsiteY77" fmla="*/ 389153 h 857250"/>
              <a:gd name="connsiteX78" fmla="*/ 574510 w 738558"/>
              <a:gd name="connsiteY78" fmla="*/ 373361 h 857250"/>
              <a:gd name="connsiteX79" fmla="*/ 369446 w 738558"/>
              <a:gd name="connsiteY79" fmla="*/ 398526 h 857250"/>
              <a:gd name="connsiteX80" fmla="*/ 377485 w 738558"/>
              <a:gd name="connsiteY80" fmla="*/ 414318 h 857250"/>
              <a:gd name="connsiteX81" fmla="*/ 403851 w 738558"/>
              <a:gd name="connsiteY81" fmla="*/ 429492 h 857250"/>
              <a:gd name="connsiteX82" fmla="*/ 509892 w 738558"/>
              <a:gd name="connsiteY82" fmla="*/ 349729 h 857250"/>
              <a:gd name="connsiteX83" fmla="*/ 476441 w 738558"/>
              <a:gd name="connsiteY83" fmla="*/ 348634 h 857250"/>
              <a:gd name="connsiteX84" fmla="*/ 369446 w 738558"/>
              <a:gd name="connsiteY84" fmla="*/ 398526 h 857250"/>
              <a:gd name="connsiteX85" fmla="*/ 499110 w 738558"/>
              <a:gd name="connsiteY85" fmla="*/ 715061 h 857250"/>
              <a:gd name="connsiteX86" fmla="*/ 499110 w 738558"/>
              <a:gd name="connsiteY86" fmla="*/ 739769 h 857250"/>
              <a:gd name="connsiteX87" fmla="*/ 482327 w 738558"/>
              <a:gd name="connsiteY87" fmla="*/ 758676 h 857250"/>
              <a:gd name="connsiteX88" fmla="*/ 462858 w 738558"/>
              <a:gd name="connsiteY88" fmla="*/ 761009 h 857250"/>
              <a:gd name="connsiteX89" fmla="*/ 459200 w 738558"/>
              <a:gd name="connsiteY89" fmla="*/ 769830 h 857250"/>
              <a:gd name="connsiteX90" fmla="*/ 471326 w 738558"/>
              <a:gd name="connsiteY90" fmla="*/ 785251 h 857250"/>
              <a:gd name="connsiteX91" fmla="*/ 469821 w 738558"/>
              <a:gd name="connsiteY91" fmla="*/ 810492 h 857250"/>
              <a:gd name="connsiteX92" fmla="*/ 452352 w 738558"/>
              <a:gd name="connsiteY92" fmla="*/ 827961 h 857250"/>
              <a:gd name="connsiteX93" fmla="*/ 427120 w 738558"/>
              <a:gd name="connsiteY93" fmla="*/ 829466 h 857250"/>
              <a:gd name="connsiteX94" fmla="*/ 411690 w 738558"/>
              <a:gd name="connsiteY94" fmla="*/ 817340 h 857250"/>
              <a:gd name="connsiteX95" fmla="*/ 402879 w 738558"/>
              <a:gd name="connsiteY95" fmla="*/ 820998 h 857250"/>
              <a:gd name="connsiteX96" fmla="*/ 400545 w 738558"/>
              <a:gd name="connsiteY96" fmla="*/ 840476 h 857250"/>
              <a:gd name="connsiteX97" fmla="*/ 381629 w 738558"/>
              <a:gd name="connsiteY97" fmla="*/ 857250 h 857250"/>
              <a:gd name="connsiteX98" fmla="*/ 356930 w 738558"/>
              <a:gd name="connsiteY98" fmla="*/ 857250 h 857250"/>
              <a:gd name="connsiteX99" fmla="*/ 338023 w 738558"/>
              <a:gd name="connsiteY99" fmla="*/ 840467 h 857250"/>
              <a:gd name="connsiteX100" fmla="*/ 335690 w 738558"/>
              <a:gd name="connsiteY100" fmla="*/ 820988 h 857250"/>
              <a:gd name="connsiteX101" fmla="*/ 326869 w 738558"/>
              <a:gd name="connsiteY101" fmla="*/ 817331 h 857250"/>
              <a:gd name="connsiteX102" fmla="*/ 311439 w 738558"/>
              <a:gd name="connsiteY102" fmla="*/ 829456 h 857250"/>
              <a:gd name="connsiteX103" fmla="*/ 286198 w 738558"/>
              <a:gd name="connsiteY103" fmla="*/ 827951 h 857250"/>
              <a:gd name="connsiteX104" fmla="*/ 268729 w 738558"/>
              <a:gd name="connsiteY104" fmla="*/ 810482 h 857250"/>
              <a:gd name="connsiteX105" fmla="*/ 267224 w 738558"/>
              <a:gd name="connsiteY105" fmla="*/ 785241 h 857250"/>
              <a:gd name="connsiteX106" fmla="*/ 279349 w 738558"/>
              <a:gd name="connsiteY106" fmla="*/ 769811 h 857250"/>
              <a:gd name="connsiteX107" fmla="*/ 275692 w 738558"/>
              <a:gd name="connsiteY107" fmla="*/ 761000 h 857250"/>
              <a:gd name="connsiteX108" fmla="*/ 256213 w 738558"/>
              <a:gd name="connsiteY108" fmla="*/ 758666 h 857250"/>
              <a:gd name="connsiteX109" fmla="*/ 239430 w 738558"/>
              <a:gd name="connsiteY109" fmla="*/ 739759 h 857250"/>
              <a:gd name="connsiteX110" fmla="*/ 239430 w 738558"/>
              <a:gd name="connsiteY110" fmla="*/ 715051 h 857250"/>
              <a:gd name="connsiteX111" fmla="*/ 256203 w 738558"/>
              <a:gd name="connsiteY111" fmla="*/ 696144 h 857250"/>
              <a:gd name="connsiteX112" fmla="*/ 275682 w 738558"/>
              <a:gd name="connsiteY112" fmla="*/ 693811 h 857250"/>
              <a:gd name="connsiteX113" fmla="*/ 279340 w 738558"/>
              <a:gd name="connsiteY113" fmla="*/ 684990 h 857250"/>
              <a:gd name="connsiteX114" fmla="*/ 267214 w 738558"/>
              <a:gd name="connsiteY114" fmla="*/ 669560 h 857250"/>
              <a:gd name="connsiteX115" fmla="*/ 268719 w 738558"/>
              <a:gd name="connsiteY115" fmla="*/ 644319 h 857250"/>
              <a:gd name="connsiteX116" fmla="*/ 286188 w 738558"/>
              <a:gd name="connsiteY116" fmla="*/ 626850 h 857250"/>
              <a:gd name="connsiteX117" fmla="*/ 311420 w 738558"/>
              <a:gd name="connsiteY117" fmla="*/ 625335 h 857250"/>
              <a:gd name="connsiteX118" fmla="*/ 326850 w 738558"/>
              <a:gd name="connsiteY118" fmla="*/ 637461 h 857250"/>
              <a:gd name="connsiteX119" fmla="*/ 335661 w 738558"/>
              <a:gd name="connsiteY119" fmla="*/ 633803 h 857250"/>
              <a:gd name="connsiteX120" fmla="*/ 337995 w 738558"/>
              <a:gd name="connsiteY120" fmla="*/ 614324 h 857250"/>
              <a:gd name="connsiteX121" fmla="*/ 356902 w 738558"/>
              <a:gd name="connsiteY121" fmla="*/ 597541 h 857250"/>
              <a:gd name="connsiteX122" fmla="*/ 381600 w 738558"/>
              <a:gd name="connsiteY122" fmla="*/ 597541 h 857250"/>
              <a:gd name="connsiteX123" fmla="*/ 400507 w 738558"/>
              <a:gd name="connsiteY123" fmla="*/ 614324 h 857250"/>
              <a:gd name="connsiteX124" fmla="*/ 402841 w 738558"/>
              <a:gd name="connsiteY124" fmla="*/ 633803 h 857250"/>
              <a:gd name="connsiteX125" fmla="*/ 411661 w 738558"/>
              <a:gd name="connsiteY125" fmla="*/ 637461 h 857250"/>
              <a:gd name="connsiteX126" fmla="*/ 427091 w 738558"/>
              <a:gd name="connsiteY126" fmla="*/ 625335 h 857250"/>
              <a:gd name="connsiteX127" fmla="*/ 452333 w 738558"/>
              <a:gd name="connsiteY127" fmla="*/ 626840 h 857250"/>
              <a:gd name="connsiteX128" fmla="*/ 469802 w 738558"/>
              <a:gd name="connsiteY128" fmla="*/ 644309 h 857250"/>
              <a:gd name="connsiteX129" fmla="*/ 471307 w 738558"/>
              <a:gd name="connsiteY129" fmla="*/ 669541 h 857250"/>
              <a:gd name="connsiteX130" fmla="*/ 459181 w 738558"/>
              <a:gd name="connsiteY130" fmla="*/ 684971 h 857250"/>
              <a:gd name="connsiteX131" fmla="*/ 462839 w 738558"/>
              <a:gd name="connsiteY131" fmla="*/ 693782 h 857250"/>
              <a:gd name="connsiteX132" fmla="*/ 482317 w 738558"/>
              <a:gd name="connsiteY132" fmla="*/ 696116 h 857250"/>
              <a:gd name="connsiteX133" fmla="*/ 499110 w 738558"/>
              <a:gd name="connsiteY133" fmla="*/ 715061 h 857250"/>
              <a:gd name="connsiteX134" fmla="*/ 476850 w 738558"/>
              <a:gd name="connsiteY134" fmla="*/ 717918 h 857250"/>
              <a:gd name="connsiteX135" fmla="*/ 458210 w 738558"/>
              <a:gd name="connsiteY135" fmla="*/ 715680 h 857250"/>
              <a:gd name="connsiteX136" fmla="*/ 442427 w 738558"/>
              <a:gd name="connsiteY136" fmla="*/ 702840 h 857250"/>
              <a:gd name="connsiteX137" fmla="*/ 438379 w 738558"/>
              <a:gd name="connsiteY137" fmla="*/ 693087 h 857250"/>
              <a:gd name="connsiteX138" fmla="*/ 440455 w 738558"/>
              <a:gd name="connsiteY138" fmla="*/ 672827 h 857250"/>
              <a:gd name="connsiteX139" fmla="*/ 452066 w 738558"/>
              <a:gd name="connsiteY139" fmla="*/ 658054 h 857250"/>
              <a:gd name="connsiteX140" fmla="*/ 438636 w 738558"/>
              <a:gd name="connsiteY140" fmla="*/ 644623 h 857250"/>
              <a:gd name="connsiteX141" fmla="*/ 423872 w 738558"/>
              <a:gd name="connsiteY141" fmla="*/ 656225 h 857250"/>
              <a:gd name="connsiteX142" fmla="*/ 403612 w 738558"/>
              <a:gd name="connsiteY142" fmla="*/ 658301 h 857250"/>
              <a:gd name="connsiteX143" fmla="*/ 393859 w 738558"/>
              <a:gd name="connsiteY143" fmla="*/ 654263 h 857250"/>
              <a:gd name="connsiteX144" fmla="*/ 381010 w 738558"/>
              <a:gd name="connsiteY144" fmla="*/ 638470 h 857250"/>
              <a:gd name="connsiteX145" fmla="*/ 378781 w 738558"/>
              <a:gd name="connsiteY145" fmla="*/ 619839 h 857250"/>
              <a:gd name="connsiteX146" fmla="*/ 359788 w 738558"/>
              <a:gd name="connsiteY146" fmla="*/ 619839 h 857250"/>
              <a:gd name="connsiteX147" fmla="*/ 357549 w 738558"/>
              <a:gd name="connsiteY147" fmla="*/ 638480 h 857250"/>
              <a:gd name="connsiteX148" fmla="*/ 344710 w 738558"/>
              <a:gd name="connsiteY148" fmla="*/ 654272 h 857250"/>
              <a:gd name="connsiteX149" fmla="*/ 334956 w 738558"/>
              <a:gd name="connsiteY149" fmla="*/ 658311 h 857250"/>
              <a:gd name="connsiteX150" fmla="*/ 314696 w 738558"/>
              <a:gd name="connsiteY150" fmla="*/ 656244 h 857250"/>
              <a:gd name="connsiteX151" fmla="*/ 299933 w 738558"/>
              <a:gd name="connsiteY151" fmla="*/ 644633 h 857250"/>
              <a:gd name="connsiteX152" fmla="*/ 286503 w 738558"/>
              <a:gd name="connsiteY152" fmla="*/ 658063 h 857250"/>
              <a:gd name="connsiteX153" fmla="*/ 298104 w 738558"/>
              <a:gd name="connsiteY153" fmla="*/ 672827 h 857250"/>
              <a:gd name="connsiteX154" fmla="*/ 300180 w 738558"/>
              <a:gd name="connsiteY154" fmla="*/ 693087 h 857250"/>
              <a:gd name="connsiteX155" fmla="*/ 296142 w 738558"/>
              <a:gd name="connsiteY155" fmla="*/ 702840 h 857250"/>
              <a:gd name="connsiteX156" fmla="*/ 280359 w 738558"/>
              <a:gd name="connsiteY156" fmla="*/ 715689 h 857250"/>
              <a:gd name="connsiteX157" fmla="*/ 261718 w 738558"/>
              <a:gd name="connsiteY157" fmla="*/ 717928 h 857250"/>
              <a:gd name="connsiteX158" fmla="*/ 261718 w 738558"/>
              <a:gd name="connsiteY158" fmla="*/ 736921 h 857250"/>
              <a:gd name="connsiteX159" fmla="*/ 280359 w 738558"/>
              <a:gd name="connsiteY159" fmla="*/ 739159 h 857250"/>
              <a:gd name="connsiteX160" fmla="*/ 296142 w 738558"/>
              <a:gd name="connsiteY160" fmla="*/ 751999 h 857250"/>
              <a:gd name="connsiteX161" fmla="*/ 300190 w 738558"/>
              <a:gd name="connsiteY161" fmla="*/ 761743 h 857250"/>
              <a:gd name="connsiteX162" fmla="*/ 298113 w 738558"/>
              <a:gd name="connsiteY162" fmla="*/ 782003 h 857250"/>
              <a:gd name="connsiteX163" fmla="*/ 286512 w 738558"/>
              <a:gd name="connsiteY163" fmla="*/ 796766 h 857250"/>
              <a:gd name="connsiteX164" fmla="*/ 299942 w 738558"/>
              <a:gd name="connsiteY164" fmla="*/ 810197 h 857250"/>
              <a:gd name="connsiteX165" fmla="*/ 314706 w 738558"/>
              <a:gd name="connsiteY165" fmla="*/ 798595 h 857250"/>
              <a:gd name="connsiteX166" fmla="*/ 334966 w 738558"/>
              <a:gd name="connsiteY166" fmla="*/ 796519 h 857250"/>
              <a:gd name="connsiteX167" fmla="*/ 344719 w 738558"/>
              <a:gd name="connsiteY167" fmla="*/ 800557 h 857250"/>
              <a:gd name="connsiteX168" fmla="*/ 357569 w 738558"/>
              <a:gd name="connsiteY168" fmla="*/ 816350 h 857250"/>
              <a:gd name="connsiteX169" fmla="*/ 359807 w 738558"/>
              <a:gd name="connsiteY169" fmla="*/ 834990 h 857250"/>
              <a:gd name="connsiteX170" fmla="*/ 378800 w 738558"/>
              <a:gd name="connsiteY170" fmla="*/ 834990 h 857250"/>
              <a:gd name="connsiteX171" fmla="*/ 381029 w 738558"/>
              <a:gd name="connsiteY171" fmla="*/ 816350 h 857250"/>
              <a:gd name="connsiteX172" fmla="*/ 393868 w 738558"/>
              <a:gd name="connsiteY172" fmla="*/ 800557 h 857250"/>
              <a:gd name="connsiteX173" fmla="*/ 403622 w 738558"/>
              <a:gd name="connsiteY173" fmla="*/ 796509 h 857250"/>
              <a:gd name="connsiteX174" fmla="*/ 423882 w 738558"/>
              <a:gd name="connsiteY174" fmla="*/ 798586 h 857250"/>
              <a:gd name="connsiteX175" fmla="*/ 438645 w 738558"/>
              <a:gd name="connsiteY175" fmla="*/ 810187 h 857250"/>
              <a:gd name="connsiteX176" fmla="*/ 452076 w 738558"/>
              <a:gd name="connsiteY176" fmla="*/ 796757 h 857250"/>
              <a:gd name="connsiteX177" fmla="*/ 440474 w 738558"/>
              <a:gd name="connsiteY177" fmla="*/ 781993 h 857250"/>
              <a:gd name="connsiteX178" fmla="*/ 438398 w 738558"/>
              <a:gd name="connsiteY178" fmla="*/ 761733 h 857250"/>
              <a:gd name="connsiteX179" fmla="*/ 442446 w 738558"/>
              <a:gd name="connsiteY179" fmla="*/ 751980 h 857250"/>
              <a:gd name="connsiteX180" fmla="*/ 458238 w 738558"/>
              <a:gd name="connsiteY180" fmla="*/ 739130 h 857250"/>
              <a:gd name="connsiteX181" fmla="*/ 476869 w 738558"/>
              <a:gd name="connsiteY181" fmla="*/ 736892 h 857250"/>
              <a:gd name="connsiteX182" fmla="*/ 476869 w 738558"/>
              <a:gd name="connsiteY182" fmla="*/ 717918 h 857250"/>
              <a:gd name="connsiteX183" fmla="*/ 433511 w 738558"/>
              <a:gd name="connsiteY183" fmla="*/ 727415 h 857250"/>
              <a:gd name="connsiteX184" fmla="*/ 369275 w 738558"/>
              <a:gd name="connsiteY184" fmla="*/ 791651 h 857250"/>
              <a:gd name="connsiteX185" fmla="*/ 305038 w 738558"/>
              <a:gd name="connsiteY185" fmla="*/ 727415 h 857250"/>
              <a:gd name="connsiteX186" fmla="*/ 369275 w 738558"/>
              <a:gd name="connsiteY186" fmla="*/ 663178 h 857250"/>
              <a:gd name="connsiteX187" fmla="*/ 433511 w 738558"/>
              <a:gd name="connsiteY187" fmla="*/ 727415 h 857250"/>
              <a:gd name="connsiteX188" fmla="*/ 411242 w 738558"/>
              <a:gd name="connsiteY188" fmla="*/ 727415 h 857250"/>
              <a:gd name="connsiteX189" fmla="*/ 369275 w 738558"/>
              <a:gd name="connsiteY189" fmla="*/ 685448 h 857250"/>
              <a:gd name="connsiteX190" fmla="*/ 327308 w 738558"/>
              <a:gd name="connsiteY190" fmla="*/ 727415 h 857250"/>
              <a:gd name="connsiteX191" fmla="*/ 369275 w 738558"/>
              <a:gd name="connsiteY191" fmla="*/ 769382 h 857250"/>
              <a:gd name="connsiteX192" fmla="*/ 411242 w 738558"/>
              <a:gd name="connsiteY192" fmla="*/ 727415 h 857250"/>
              <a:gd name="connsiteX193" fmla="*/ 369275 w 738558"/>
              <a:gd name="connsiteY193" fmla="*/ 0 h 857250"/>
              <a:gd name="connsiteX194" fmla="*/ 0 w 738558"/>
              <a:gd name="connsiteY194" fmla="*/ 369275 h 857250"/>
              <a:gd name="connsiteX195" fmla="*/ 58055 w 738558"/>
              <a:gd name="connsiteY195" fmla="*/ 568119 h 857250"/>
              <a:gd name="connsiteX196" fmla="*/ 208740 w 738558"/>
              <a:gd name="connsiteY196" fmla="*/ 701916 h 857250"/>
              <a:gd name="connsiteX197" fmla="*/ 213579 w 738558"/>
              <a:gd name="connsiteY197" fmla="*/ 703031 h 857250"/>
              <a:gd name="connsiteX198" fmla="*/ 223609 w 738558"/>
              <a:gd name="connsiteY198" fmla="*/ 696744 h 857250"/>
              <a:gd name="connsiteX199" fmla="*/ 218427 w 738558"/>
              <a:gd name="connsiteY199" fmla="*/ 681876 h 857250"/>
              <a:gd name="connsiteX200" fmla="*/ 22260 w 738558"/>
              <a:gd name="connsiteY200" fmla="*/ 369275 h 857250"/>
              <a:gd name="connsiteX201" fmla="*/ 369275 w 738558"/>
              <a:gd name="connsiteY201" fmla="*/ 22269 h 857250"/>
              <a:gd name="connsiteX202" fmla="*/ 716280 w 738558"/>
              <a:gd name="connsiteY202" fmla="*/ 369275 h 857250"/>
              <a:gd name="connsiteX203" fmla="*/ 558175 w 738558"/>
              <a:gd name="connsiteY203" fmla="*/ 660502 h 857250"/>
              <a:gd name="connsiteX204" fmla="*/ 561384 w 738558"/>
              <a:gd name="connsiteY204" fmla="*/ 655472 h 857250"/>
              <a:gd name="connsiteX205" fmla="*/ 557984 w 738558"/>
              <a:gd name="connsiteY205" fmla="*/ 640099 h 857250"/>
              <a:gd name="connsiteX206" fmla="*/ 542611 w 738558"/>
              <a:gd name="connsiteY206" fmla="*/ 643499 h 857250"/>
              <a:gd name="connsiteX207" fmla="*/ 515579 w 738558"/>
              <a:gd name="connsiteY207" fmla="*/ 685914 h 857250"/>
              <a:gd name="connsiteX208" fmla="*/ 515341 w 738558"/>
              <a:gd name="connsiteY208" fmla="*/ 697487 h 857250"/>
              <a:gd name="connsiteX209" fmla="*/ 525504 w 738558"/>
              <a:gd name="connsiteY209" fmla="*/ 703021 h 857250"/>
              <a:gd name="connsiteX210" fmla="*/ 575739 w 738558"/>
              <a:gd name="connsiteY210" fmla="*/ 700602 h 857250"/>
              <a:gd name="connsiteX211" fmla="*/ 586321 w 738558"/>
              <a:gd name="connsiteY211" fmla="*/ 688943 h 857250"/>
              <a:gd name="connsiteX212" fmla="*/ 574662 w 738558"/>
              <a:gd name="connsiteY212" fmla="*/ 678361 h 857250"/>
              <a:gd name="connsiteX213" fmla="*/ 571176 w 738558"/>
              <a:gd name="connsiteY213" fmla="*/ 678532 h 857250"/>
              <a:gd name="connsiteX214" fmla="*/ 680990 w 738558"/>
              <a:gd name="connsiteY214" fmla="*/ 567357 h 857250"/>
              <a:gd name="connsiteX215" fmla="*/ 738559 w 738558"/>
              <a:gd name="connsiteY215" fmla="*/ 369275 h 857250"/>
              <a:gd name="connsiteX216" fmla="*/ 369275 w 738558"/>
              <a:gd name="connsiteY216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738558" h="857250">
                <a:moveTo>
                  <a:pt x="396088" y="706745"/>
                </a:moveTo>
                <a:cubicBezTo>
                  <a:pt x="400345" y="711184"/>
                  <a:pt x="400193" y="718233"/>
                  <a:pt x="395754" y="722490"/>
                </a:cubicBezTo>
                <a:lnTo>
                  <a:pt x="368703" y="748417"/>
                </a:lnTo>
                <a:cubicBezTo>
                  <a:pt x="366627" y="750408"/>
                  <a:pt x="363865" y="751513"/>
                  <a:pt x="360998" y="751513"/>
                </a:cubicBezTo>
                <a:cubicBezTo>
                  <a:pt x="360731" y="751513"/>
                  <a:pt x="360455" y="751504"/>
                  <a:pt x="360188" y="751484"/>
                </a:cubicBezTo>
                <a:cubicBezTo>
                  <a:pt x="357045" y="751256"/>
                  <a:pt x="354149" y="749703"/>
                  <a:pt x="352206" y="747217"/>
                </a:cubicBezTo>
                <a:lnTo>
                  <a:pt x="341700" y="733711"/>
                </a:lnTo>
                <a:cubicBezTo>
                  <a:pt x="337928" y="728863"/>
                  <a:pt x="338795" y="721862"/>
                  <a:pt x="343653" y="718090"/>
                </a:cubicBezTo>
                <a:cubicBezTo>
                  <a:pt x="348510" y="714318"/>
                  <a:pt x="355502" y="715194"/>
                  <a:pt x="359273" y="720042"/>
                </a:cubicBezTo>
                <a:lnTo>
                  <a:pt x="362198" y="723805"/>
                </a:lnTo>
                <a:lnTo>
                  <a:pt x="380333" y="706422"/>
                </a:lnTo>
                <a:cubicBezTo>
                  <a:pt x="384791" y="702154"/>
                  <a:pt x="391839" y="702307"/>
                  <a:pt x="396088" y="706745"/>
                </a:cubicBezTo>
                <a:close/>
                <a:moveTo>
                  <a:pt x="380048" y="269157"/>
                </a:moveTo>
                <a:cubicBezTo>
                  <a:pt x="385486" y="289455"/>
                  <a:pt x="382734" y="310591"/>
                  <a:pt x="372285" y="328689"/>
                </a:cubicBezTo>
                <a:lnTo>
                  <a:pt x="280111" y="488337"/>
                </a:lnTo>
                <a:cubicBezTo>
                  <a:pt x="265595" y="513483"/>
                  <a:pt x="239154" y="527552"/>
                  <a:pt x="212017" y="527561"/>
                </a:cubicBezTo>
                <a:cubicBezTo>
                  <a:pt x="198711" y="527561"/>
                  <a:pt x="185242" y="524180"/>
                  <a:pt x="172917" y="517065"/>
                </a:cubicBezTo>
                <a:cubicBezTo>
                  <a:pt x="135446" y="495424"/>
                  <a:pt x="122558" y="447342"/>
                  <a:pt x="144189" y="409861"/>
                </a:cubicBezTo>
                <a:lnTo>
                  <a:pt x="236363" y="250212"/>
                </a:lnTo>
                <a:cubicBezTo>
                  <a:pt x="258004" y="212741"/>
                  <a:pt x="306086" y="199854"/>
                  <a:pt x="343557" y="221485"/>
                </a:cubicBezTo>
                <a:cubicBezTo>
                  <a:pt x="361655" y="231934"/>
                  <a:pt x="374609" y="248860"/>
                  <a:pt x="380048" y="269157"/>
                </a:cubicBezTo>
                <a:close/>
                <a:moveTo>
                  <a:pt x="304162" y="402155"/>
                </a:moveTo>
                <a:cubicBezTo>
                  <a:pt x="272996" y="381152"/>
                  <a:pt x="240344" y="362283"/>
                  <a:pt x="206826" y="345910"/>
                </a:cubicBezTo>
                <a:lnTo>
                  <a:pt x="163478" y="420986"/>
                </a:lnTo>
                <a:cubicBezTo>
                  <a:pt x="156010" y="433921"/>
                  <a:pt x="154038" y="449066"/>
                  <a:pt x="157944" y="463620"/>
                </a:cubicBezTo>
                <a:cubicBezTo>
                  <a:pt x="161839" y="478174"/>
                  <a:pt x="171117" y="490299"/>
                  <a:pt x="184052" y="497767"/>
                </a:cubicBezTo>
                <a:cubicBezTo>
                  <a:pt x="210893" y="513264"/>
                  <a:pt x="245335" y="504034"/>
                  <a:pt x="260833" y="477193"/>
                </a:cubicBezTo>
                <a:lnTo>
                  <a:pt x="304162" y="402155"/>
                </a:lnTo>
                <a:close/>
                <a:moveTo>
                  <a:pt x="332432" y="240773"/>
                </a:moveTo>
                <a:lnTo>
                  <a:pt x="337995" y="231134"/>
                </a:lnTo>
                <a:lnTo>
                  <a:pt x="332432" y="240773"/>
                </a:lnTo>
                <a:cubicBezTo>
                  <a:pt x="323602" y="235677"/>
                  <a:pt x="313954" y="233258"/>
                  <a:pt x="304419" y="233258"/>
                </a:cubicBezTo>
                <a:cubicBezTo>
                  <a:pt x="284979" y="233258"/>
                  <a:pt x="266043" y="243335"/>
                  <a:pt x="255641" y="261347"/>
                </a:cubicBezTo>
                <a:lnTo>
                  <a:pt x="217980" y="326584"/>
                </a:lnTo>
                <a:cubicBezTo>
                  <a:pt x="251470" y="343024"/>
                  <a:pt x="284121" y="361883"/>
                  <a:pt x="315316" y="382829"/>
                </a:cubicBezTo>
                <a:lnTo>
                  <a:pt x="353006" y="317554"/>
                </a:lnTo>
                <a:cubicBezTo>
                  <a:pt x="368503" y="290713"/>
                  <a:pt x="359273" y="256270"/>
                  <a:pt x="332432" y="240773"/>
                </a:cubicBezTo>
                <a:close/>
                <a:moveTo>
                  <a:pt x="331584" y="250574"/>
                </a:moveTo>
                <a:cubicBezTo>
                  <a:pt x="320288" y="242640"/>
                  <a:pt x="306762" y="239935"/>
                  <a:pt x="293494" y="242964"/>
                </a:cubicBezTo>
                <a:cubicBezTo>
                  <a:pt x="279540" y="246145"/>
                  <a:pt x="267272" y="255575"/>
                  <a:pt x="259852" y="268834"/>
                </a:cubicBezTo>
                <a:cubicBezTo>
                  <a:pt x="256851" y="274196"/>
                  <a:pt x="258756" y="280978"/>
                  <a:pt x="264128" y="283988"/>
                </a:cubicBezTo>
                <a:cubicBezTo>
                  <a:pt x="265852" y="284950"/>
                  <a:pt x="267719" y="285407"/>
                  <a:pt x="269557" y="285407"/>
                </a:cubicBezTo>
                <a:cubicBezTo>
                  <a:pt x="273453" y="285407"/>
                  <a:pt x="277244" y="283359"/>
                  <a:pt x="279283" y="279711"/>
                </a:cubicBezTo>
                <a:cubicBezTo>
                  <a:pt x="283702" y="271824"/>
                  <a:pt x="290503" y="266481"/>
                  <a:pt x="298447" y="264671"/>
                </a:cubicBezTo>
                <a:cubicBezTo>
                  <a:pt x="305495" y="263061"/>
                  <a:pt x="312725" y="264528"/>
                  <a:pt x="318802" y="268796"/>
                </a:cubicBezTo>
                <a:cubicBezTo>
                  <a:pt x="323831" y="272329"/>
                  <a:pt x="330775" y="271110"/>
                  <a:pt x="334308" y="266081"/>
                </a:cubicBezTo>
                <a:cubicBezTo>
                  <a:pt x="337833" y="261052"/>
                  <a:pt x="336614" y="254108"/>
                  <a:pt x="331584" y="250574"/>
                </a:cubicBezTo>
                <a:close/>
                <a:moveTo>
                  <a:pt x="387658" y="347434"/>
                </a:moveTo>
                <a:cubicBezTo>
                  <a:pt x="411309" y="335175"/>
                  <a:pt x="442522" y="327698"/>
                  <a:pt x="475555" y="326384"/>
                </a:cubicBezTo>
                <a:cubicBezTo>
                  <a:pt x="498558" y="325469"/>
                  <a:pt x="520475" y="327631"/>
                  <a:pt x="539515" y="332394"/>
                </a:cubicBezTo>
                <a:cubicBezTo>
                  <a:pt x="539658" y="332423"/>
                  <a:pt x="539801" y="332470"/>
                  <a:pt x="539944" y="332508"/>
                </a:cubicBezTo>
                <a:cubicBezTo>
                  <a:pt x="560994" y="337823"/>
                  <a:pt x="578491" y="346310"/>
                  <a:pt x="589940" y="357321"/>
                </a:cubicBezTo>
                <a:cubicBezTo>
                  <a:pt x="599675" y="366674"/>
                  <a:pt x="604818" y="377685"/>
                  <a:pt x="604818" y="389172"/>
                </a:cubicBezTo>
                <a:lnTo>
                  <a:pt x="604818" y="438093"/>
                </a:lnTo>
                <a:cubicBezTo>
                  <a:pt x="604818" y="481898"/>
                  <a:pt x="538429" y="506320"/>
                  <a:pt x="476736" y="510483"/>
                </a:cubicBezTo>
                <a:cubicBezTo>
                  <a:pt x="476536" y="510502"/>
                  <a:pt x="476326" y="510502"/>
                  <a:pt x="476126" y="510502"/>
                </a:cubicBezTo>
                <a:cubicBezTo>
                  <a:pt x="475040" y="510521"/>
                  <a:pt x="473945" y="510521"/>
                  <a:pt x="472850" y="510521"/>
                </a:cubicBezTo>
                <a:cubicBezTo>
                  <a:pt x="433864" y="510521"/>
                  <a:pt x="385010" y="502158"/>
                  <a:pt x="361045" y="478479"/>
                </a:cubicBezTo>
                <a:cubicBezTo>
                  <a:pt x="351977" y="469516"/>
                  <a:pt x="347186" y="458791"/>
                  <a:pt x="347186" y="447456"/>
                </a:cubicBezTo>
                <a:lnTo>
                  <a:pt x="347186" y="398526"/>
                </a:lnTo>
                <a:cubicBezTo>
                  <a:pt x="347177" y="379114"/>
                  <a:pt x="361559" y="360969"/>
                  <a:pt x="387658" y="347434"/>
                </a:cubicBezTo>
                <a:close/>
                <a:moveTo>
                  <a:pt x="582549" y="438074"/>
                </a:moveTo>
                <a:lnTo>
                  <a:pt x="582549" y="428568"/>
                </a:lnTo>
                <a:cubicBezTo>
                  <a:pt x="577329" y="432740"/>
                  <a:pt x="571262" y="436664"/>
                  <a:pt x="564337" y="440246"/>
                </a:cubicBezTo>
                <a:cubicBezTo>
                  <a:pt x="540687" y="452504"/>
                  <a:pt x="509473" y="459981"/>
                  <a:pt x="476441" y="461296"/>
                </a:cubicBezTo>
                <a:cubicBezTo>
                  <a:pt x="472983" y="461429"/>
                  <a:pt x="469535" y="461505"/>
                  <a:pt x="466134" y="461505"/>
                </a:cubicBezTo>
                <a:cubicBezTo>
                  <a:pt x="442722" y="461505"/>
                  <a:pt x="420757" y="458286"/>
                  <a:pt x="402250" y="452399"/>
                </a:cubicBezTo>
                <a:cubicBezTo>
                  <a:pt x="402231" y="452390"/>
                  <a:pt x="402203" y="452390"/>
                  <a:pt x="402184" y="452380"/>
                </a:cubicBezTo>
                <a:cubicBezTo>
                  <a:pt x="389411" y="448313"/>
                  <a:pt x="378285" y="442960"/>
                  <a:pt x="369456" y="436521"/>
                </a:cubicBezTo>
                <a:lnTo>
                  <a:pt x="369456" y="447446"/>
                </a:lnTo>
                <a:cubicBezTo>
                  <a:pt x="369456" y="452847"/>
                  <a:pt x="371827" y="457819"/>
                  <a:pt x="376695" y="462629"/>
                </a:cubicBezTo>
                <a:cubicBezTo>
                  <a:pt x="392687" y="478431"/>
                  <a:pt x="432397" y="488709"/>
                  <a:pt x="475555" y="488232"/>
                </a:cubicBezTo>
                <a:cubicBezTo>
                  <a:pt x="534581" y="484184"/>
                  <a:pt x="582549" y="461715"/>
                  <a:pt x="582549" y="438074"/>
                </a:cubicBezTo>
                <a:close/>
                <a:moveTo>
                  <a:pt x="574510" y="373361"/>
                </a:moveTo>
                <a:cubicBezTo>
                  <a:pt x="566623" y="365789"/>
                  <a:pt x="554384" y="359654"/>
                  <a:pt x="539439" y="355368"/>
                </a:cubicBezTo>
                <a:lnTo>
                  <a:pt x="431549" y="436521"/>
                </a:lnTo>
                <a:cubicBezTo>
                  <a:pt x="445151" y="438741"/>
                  <a:pt x="460105" y="439664"/>
                  <a:pt x="475555" y="439045"/>
                </a:cubicBezTo>
                <a:cubicBezTo>
                  <a:pt x="538610" y="436540"/>
                  <a:pt x="582549" y="410737"/>
                  <a:pt x="582549" y="389153"/>
                </a:cubicBezTo>
                <a:cubicBezTo>
                  <a:pt x="582549" y="383800"/>
                  <a:pt x="579844" y="378485"/>
                  <a:pt x="574510" y="373361"/>
                </a:cubicBezTo>
                <a:close/>
                <a:moveTo>
                  <a:pt x="369446" y="398526"/>
                </a:moveTo>
                <a:cubicBezTo>
                  <a:pt x="369446" y="403879"/>
                  <a:pt x="372151" y="409194"/>
                  <a:pt x="377485" y="414318"/>
                </a:cubicBezTo>
                <a:cubicBezTo>
                  <a:pt x="383781" y="420367"/>
                  <a:pt x="392849" y="425491"/>
                  <a:pt x="403851" y="429492"/>
                </a:cubicBezTo>
                <a:lnTo>
                  <a:pt x="509892" y="349729"/>
                </a:lnTo>
                <a:cubicBezTo>
                  <a:pt x="499253" y="348577"/>
                  <a:pt x="487985" y="348177"/>
                  <a:pt x="476441" y="348634"/>
                </a:cubicBezTo>
                <a:cubicBezTo>
                  <a:pt x="413385" y="351139"/>
                  <a:pt x="369446" y="376942"/>
                  <a:pt x="369446" y="398526"/>
                </a:cubicBezTo>
                <a:close/>
                <a:moveTo>
                  <a:pt x="499110" y="715061"/>
                </a:moveTo>
                <a:lnTo>
                  <a:pt x="499110" y="739769"/>
                </a:lnTo>
                <a:cubicBezTo>
                  <a:pt x="499110" y="749408"/>
                  <a:pt x="491890" y="757533"/>
                  <a:pt x="482327" y="758676"/>
                </a:cubicBezTo>
                <a:lnTo>
                  <a:pt x="462858" y="761009"/>
                </a:lnTo>
                <a:cubicBezTo>
                  <a:pt x="461782" y="764000"/>
                  <a:pt x="460562" y="766953"/>
                  <a:pt x="459200" y="769830"/>
                </a:cubicBezTo>
                <a:lnTo>
                  <a:pt x="471326" y="785251"/>
                </a:lnTo>
                <a:cubicBezTo>
                  <a:pt x="477279" y="792823"/>
                  <a:pt x="476631" y="803672"/>
                  <a:pt x="469821" y="810492"/>
                </a:cubicBezTo>
                <a:lnTo>
                  <a:pt x="452352" y="827961"/>
                </a:lnTo>
                <a:cubicBezTo>
                  <a:pt x="445541" y="834771"/>
                  <a:pt x="434692" y="835419"/>
                  <a:pt x="427120" y="829466"/>
                </a:cubicBezTo>
                <a:lnTo>
                  <a:pt x="411690" y="817340"/>
                </a:lnTo>
                <a:cubicBezTo>
                  <a:pt x="408813" y="818693"/>
                  <a:pt x="405870" y="819922"/>
                  <a:pt x="402879" y="820998"/>
                </a:cubicBezTo>
                <a:lnTo>
                  <a:pt x="400545" y="840476"/>
                </a:lnTo>
                <a:cubicBezTo>
                  <a:pt x="399393" y="850040"/>
                  <a:pt x="391258" y="857250"/>
                  <a:pt x="381629" y="857250"/>
                </a:cubicBezTo>
                <a:lnTo>
                  <a:pt x="356930" y="857250"/>
                </a:lnTo>
                <a:cubicBezTo>
                  <a:pt x="347291" y="857250"/>
                  <a:pt x="339166" y="850040"/>
                  <a:pt x="338023" y="840467"/>
                </a:cubicBezTo>
                <a:lnTo>
                  <a:pt x="335690" y="820988"/>
                </a:lnTo>
                <a:cubicBezTo>
                  <a:pt x="332699" y="819912"/>
                  <a:pt x="329746" y="818693"/>
                  <a:pt x="326869" y="817331"/>
                </a:cubicBezTo>
                <a:lnTo>
                  <a:pt x="311439" y="829456"/>
                </a:lnTo>
                <a:cubicBezTo>
                  <a:pt x="303857" y="835409"/>
                  <a:pt x="293008" y="834762"/>
                  <a:pt x="286198" y="827951"/>
                </a:cubicBezTo>
                <a:lnTo>
                  <a:pt x="268729" y="810482"/>
                </a:lnTo>
                <a:cubicBezTo>
                  <a:pt x="261918" y="803672"/>
                  <a:pt x="261271" y="792823"/>
                  <a:pt x="267224" y="785241"/>
                </a:cubicBezTo>
                <a:lnTo>
                  <a:pt x="279349" y="769811"/>
                </a:lnTo>
                <a:cubicBezTo>
                  <a:pt x="277997" y="766943"/>
                  <a:pt x="276768" y="763991"/>
                  <a:pt x="275692" y="761000"/>
                </a:cubicBezTo>
                <a:lnTo>
                  <a:pt x="256213" y="758666"/>
                </a:lnTo>
                <a:cubicBezTo>
                  <a:pt x="246650" y="757523"/>
                  <a:pt x="239430" y="749389"/>
                  <a:pt x="239430" y="739759"/>
                </a:cubicBezTo>
                <a:lnTo>
                  <a:pt x="239430" y="715051"/>
                </a:lnTo>
                <a:cubicBezTo>
                  <a:pt x="239430" y="705422"/>
                  <a:pt x="246640" y="697287"/>
                  <a:pt x="256203" y="696144"/>
                </a:cubicBezTo>
                <a:lnTo>
                  <a:pt x="275682" y="693811"/>
                </a:lnTo>
                <a:cubicBezTo>
                  <a:pt x="276758" y="690820"/>
                  <a:pt x="277978" y="687877"/>
                  <a:pt x="279340" y="684990"/>
                </a:cubicBezTo>
                <a:lnTo>
                  <a:pt x="267214" y="669560"/>
                </a:lnTo>
                <a:cubicBezTo>
                  <a:pt x="261261" y="661988"/>
                  <a:pt x="261909" y="651139"/>
                  <a:pt x="268719" y="644319"/>
                </a:cubicBezTo>
                <a:lnTo>
                  <a:pt x="286188" y="626850"/>
                </a:lnTo>
                <a:cubicBezTo>
                  <a:pt x="292999" y="620039"/>
                  <a:pt x="303848" y="619392"/>
                  <a:pt x="311420" y="625335"/>
                </a:cubicBezTo>
                <a:lnTo>
                  <a:pt x="326850" y="637461"/>
                </a:lnTo>
                <a:cubicBezTo>
                  <a:pt x="329727" y="636108"/>
                  <a:pt x="332680" y="634879"/>
                  <a:pt x="335661" y="633803"/>
                </a:cubicBezTo>
                <a:lnTo>
                  <a:pt x="337995" y="614324"/>
                </a:lnTo>
                <a:cubicBezTo>
                  <a:pt x="339138" y="604761"/>
                  <a:pt x="347272" y="597541"/>
                  <a:pt x="356902" y="597541"/>
                </a:cubicBezTo>
                <a:lnTo>
                  <a:pt x="381600" y="597541"/>
                </a:lnTo>
                <a:cubicBezTo>
                  <a:pt x="391239" y="597541"/>
                  <a:pt x="399364" y="604752"/>
                  <a:pt x="400507" y="614324"/>
                </a:cubicBezTo>
                <a:lnTo>
                  <a:pt x="402841" y="633803"/>
                </a:lnTo>
                <a:cubicBezTo>
                  <a:pt x="405832" y="634879"/>
                  <a:pt x="408784" y="636099"/>
                  <a:pt x="411661" y="637461"/>
                </a:cubicBezTo>
                <a:lnTo>
                  <a:pt x="427091" y="625335"/>
                </a:lnTo>
                <a:cubicBezTo>
                  <a:pt x="434664" y="619382"/>
                  <a:pt x="445513" y="620030"/>
                  <a:pt x="452333" y="626840"/>
                </a:cubicBezTo>
                <a:lnTo>
                  <a:pt x="469802" y="644309"/>
                </a:lnTo>
                <a:cubicBezTo>
                  <a:pt x="476612" y="651120"/>
                  <a:pt x="477260" y="661968"/>
                  <a:pt x="471307" y="669541"/>
                </a:cubicBezTo>
                <a:lnTo>
                  <a:pt x="459181" y="684971"/>
                </a:lnTo>
                <a:cubicBezTo>
                  <a:pt x="460534" y="687848"/>
                  <a:pt x="461762" y="690791"/>
                  <a:pt x="462839" y="693782"/>
                </a:cubicBezTo>
                <a:lnTo>
                  <a:pt x="482317" y="696116"/>
                </a:lnTo>
                <a:cubicBezTo>
                  <a:pt x="491900" y="697297"/>
                  <a:pt x="499110" y="705431"/>
                  <a:pt x="499110" y="715061"/>
                </a:cubicBezTo>
                <a:close/>
                <a:moveTo>
                  <a:pt x="476850" y="717918"/>
                </a:moveTo>
                <a:lnTo>
                  <a:pt x="458210" y="715680"/>
                </a:lnTo>
                <a:cubicBezTo>
                  <a:pt x="450837" y="714804"/>
                  <a:pt x="444789" y="709879"/>
                  <a:pt x="442427" y="702840"/>
                </a:cubicBezTo>
                <a:cubicBezTo>
                  <a:pt x="441312" y="699516"/>
                  <a:pt x="439950" y="696239"/>
                  <a:pt x="438379" y="693087"/>
                </a:cubicBezTo>
                <a:cubicBezTo>
                  <a:pt x="435064" y="686429"/>
                  <a:pt x="435864" y="678666"/>
                  <a:pt x="440455" y="672827"/>
                </a:cubicBezTo>
                <a:lnTo>
                  <a:pt x="452066" y="658054"/>
                </a:lnTo>
                <a:lnTo>
                  <a:pt x="438636" y="644623"/>
                </a:lnTo>
                <a:lnTo>
                  <a:pt x="423872" y="656225"/>
                </a:lnTo>
                <a:cubicBezTo>
                  <a:pt x="418033" y="660816"/>
                  <a:pt x="410270" y="661616"/>
                  <a:pt x="403612" y="658301"/>
                </a:cubicBezTo>
                <a:cubicBezTo>
                  <a:pt x="400460" y="656730"/>
                  <a:pt x="397183" y="655377"/>
                  <a:pt x="393859" y="654263"/>
                </a:cubicBezTo>
                <a:cubicBezTo>
                  <a:pt x="386810" y="651901"/>
                  <a:pt x="381895" y="645843"/>
                  <a:pt x="381010" y="638470"/>
                </a:cubicBezTo>
                <a:lnTo>
                  <a:pt x="378781" y="619839"/>
                </a:lnTo>
                <a:lnTo>
                  <a:pt x="359788" y="619839"/>
                </a:lnTo>
                <a:lnTo>
                  <a:pt x="357549" y="638480"/>
                </a:lnTo>
                <a:cubicBezTo>
                  <a:pt x="356664" y="645852"/>
                  <a:pt x="351749" y="651901"/>
                  <a:pt x="344710" y="654272"/>
                </a:cubicBezTo>
                <a:cubicBezTo>
                  <a:pt x="341386" y="655387"/>
                  <a:pt x="338109" y="656749"/>
                  <a:pt x="334956" y="658311"/>
                </a:cubicBezTo>
                <a:cubicBezTo>
                  <a:pt x="328298" y="661626"/>
                  <a:pt x="320535" y="660835"/>
                  <a:pt x="314696" y="656244"/>
                </a:cubicBezTo>
                <a:lnTo>
                  <a:pt x="299933" y="644633"/>
                </a:lnTo>
                <a:lnTo>
                  <a:pt x="286503" y="658063"/>
                </a:lnTo>
                <a:lnTo>
                  <a:pt x="298104" y="672827"/>
                </a:lnTo>
                <a:cubicBezTo>
                  <a:pt x="302695" y="678675"/>
                  <a:pt x="303495" y="686438"/>
                  <a:pt x="300180" y="693087"/>
                </a:cubicBezTo>
                <a:cubicBezTo>
                  <a:pt x="298609" y="696239"/>
                  <a:pt x="297256" y="699516"/>
                  <a:pt x="296142" y="702840"/>
                </a:cubicBezTo>
                <a:cubicBezTo>
                  <a:pt x="293770" y="709879"/>
                  <a:pt x="287722" y="714804"/>
                  <a:pt x="280359" y="715689"/>
                </a:cubicBezTo>
                <a:lnTo>
                  <a:pt x="261718" y="717928"/>
                </a:lnTo>
                <a:lnTo>
                  <a:pt x="261718" y="736921"/>
                </a:lnTo>
                <a:lnTo>
                  <a:pt x="280359" y="739159"/>
                </a:lnTo>
                <a:cubicBezTo>
                  <a:pt x="287731" y="740045"/>
                  <a:pt x="293780" y="744969"/>
                  <a:pt x="296142" y="751999"/>
                </a:cubicBezTo>
                <a:cubicBezTo>
                  <a:pt x="297256" y="755323"/>
                  <a:pt x="298618" y="758609"/>
                  <a:pt x="300190" y="761743"/>
                </a:cubicBezTo>
                <a:cubicBezTo>
                  <a:pt x="303505" y="768401"/>
                  <a:pt x="302705" y="776164"/>
                  <a:pt x="298113" y="782003"/>
                </a:cubicBezTo>
                <a:lnTo>
                  <a:pt x="286512" y="796766"/>
                </a:lnTo>
                <a:lnTo>
                  <a:pt x="299942" y="810197"/>
                </a:lnTo>
                <a:lnTo>
                  <a:pt x="314706" y="798595"/>
                </a:lnTo>
                <a:cubicBezTo>
                  <a:pt x="320545" y="794004"/>
                  <a:pt x="328308" y="793204"/>
                  <a:pt x="334966" y="796519"/>
                </a:cubicBezTo>
                <a:cubicBezTo>
                  <a:pt x="338109" y="798090"/>
                  <a:pt x="341395" y="799443"/>
                  <a:pt x="344719" y="800557"/>
                </a:cubicBezTo>
                <a:cubicBezTo>
                  <a:pt x="351758" y="802919"/>
                  <a:pt x="356683" y="808977"/>
                  <a:pt x="357569" y="816350"/>
                </a:cubicBezTo>
                <a:lnTo>
                  <a:pt x="359807" y="834990"/>
                </a:lnTo>
                <a:lnTo>
                  <a:pt x="378800" y="834990"/>
                </a:lnTo>
                <a:lnTo>
                  <a:pt x="381029" y="816350"/>
                </a:lnTo>
                <a:cubicBezTo>
                  <a:pt x="381914" y="808977"/>
                  <a:pt x="386839" y="802929"/>
                  <a:pt x="393868" y="800557"/>
                </a:cubicBezTo>
                <a:cubicBezTo>
                  <a:pt x="397193" y="799443"/>
                  <a:pt x="400469" y="798081"/>
                  <a:pt x="403622" y="796509"/>
                </a:cubicBezTo>
                <a:cubicBezTo>
                  <a:pt x="410280" y="793194"/>
                  <a:pt x="418043" y="793995"/>
                  <a:pt x="423882" y="798586"/>
                </a:cubicBezTo>
                <a:lnTo>
                  <a:pt x="438645" y="810187"/>
                </a:lnTo>
                <a:lnTo>
                  <a:pt x="452076" y="796757"/>
                </a:lnTo>
                <a:lnTo>
                  <a:pt x="440474" y="781993"/>
                </a:lnTo>
                <a:cubicBezTo>
                  <a:pt x="435883" y="776154"/>
                  <a:pt x="435083" y="768391"/>
                  <a:pt x="438398" y="761733"/>
                </a:cubicBezTo>
                <a:cubicBezTo>
                  <a:pt x="439969" y="758590"/>
                  <a:pt x="441322" y="755304"/>
                  <a:pt x="442446" y="751980"/>
                </a:cubicBezTo>
                <a:cubicBezTo>
                  <a:pt x="444808" y="744941"/>
                  <a:pt x="450866" y="740016"/>
                  <a:pt x="458238" y="739130"/>
                </a:cubicBezTo>
                <a:lnTo>
                  <a:pt x="476869" y="736892"/>
                </a:lnTo>
                <a:lnTo>
                  <a:pt x="476869" y="717918"/>
                </a:lnTo>
                <a:close/>
                <a:moveTo>
                  <a:pt x="433511" y="727415"/>
                </a:moveTo>
                <a:cubicBezTo>
                  <a:pt x="433511" y="762838"/>
                  <a:pt x="404698" y="791651"/>
                  <a:pt x="369275" y="791651"/>
                </a:cubicBezTo>
                <a:cubicBezTo>
                  <a:pt x="333851" y="791651"/>
                  <a:pt x="305038" y="762838"/>
                  <a:pt x="305038" y="727415"/>
                </a:cubicBezTo>
                <a:cubicBezTo>
                  <a:pt x="305038" y="691991"/>
                  <a:pt x="333851" y="663178"/>
                  <a:pt x="369275" y="663178"/>
                </a:cubicBezTo>
                <a:cubicBezTo>
                  <a:pt x="404698" y="663178"/>
                  <a:pt x="433511" y="691991"/>
                  <a:pt x="433511" y="727415"/>
                </a:cubicBezTo>
                <a:close/>
                <a:moveTo>
                  <a:pt x="411242" y="727415"/>
                </a:moveTo>
                <a:cubicBezTo>
                  <a:pt x="411242" y="704269"/>
                  <a:pt x="392411" y="685448"/>
                  <a:pt x="369275" y="685448"/>
                </a:cubicBezTo>
                <a:cubicBezTo>
                  <a:pt x="346139" y="685448"/>
                  <a:pt x="327308" y="704279"/>
                  <a:pt x="327308" y="727415"/>
                </a:cubicBezTo>
                <a:cubicBezTo>
                  <a:pt x="327308" y="750561"/>
                  <a:pt x="346139" y="769382"/>
                  <a:pt x="369275" y="769382"/>
                </a:cubicBezTo>
                <a:cubicBezTo>
                  <a:pt x="392411" y="769382"/>
                  <a:pt x="411242" y="750561"/>
                  <a:pt x="411242" y="727415"/>
                </a:cubicBezTo>
                <a:close/>
                <a:moveTo>
                  <a:pt x="369275" y="0"/>
                </a:moveTo>
                <a:cubicBezTo>
                  <a:pt x="165659" y="0"/>
                  <a:pt x="0" y="165659"/>
                  <a:pt x="0" y="369275"/>
                </a:cubicBezTo>
                <a:cubicBezTo>
                  <a:pt x="0" y="440036"/>
                  <a:pt x="20079" y="508797"/>
                  <a:pt x="58055" y="568119"/>
                </a:cubicBezTo>
                <a:cubicBezTo>
                  <a:pt x="95031" y="625869"/>
                  <a:pt x="147133" y="672141"/>
                  <a:pt x="208740" y="701916"/>
                </a:cubicBezTo>
                <a:cubicBezTo>
                  <a:pt x="210302" y="702669"/>
                  <a:pt x="211950" y="703031"/>
                  <a:pt x="213579" y="703031"/>
                </a:cubicBezTo>
                <a:cubicBezTo>
                  <a:pt x="217713" y="703031"/>
                  <a:pt x="221685" y="700716"/>
                  <a:pt x="223609" y="696744"/>
                </a:cubicBezTo>
                <a:cubicBezTo>
                  <a:pt x="226285" y="691210"/>
                  <a:pt x="223971" y="684552"/>
                  <a:pt x="218427" y="681876"/>
                </a:cubicBezTo>
                <a:cubicBezTo>
                  <a:pt x="99260" y="624269"/>
                  <a:pt x="22260" y="501558"/>
                  <a:pt x="22260" y="369275"/>
                </a:cubicBezTo>
                <a:cubicBezTo>
                  <a:pt x="22269" y="177937"/>
                  <a:pt x="177937" y="22269"/>
                  <a:pt x="369275" y="22269"/>
                </a:cubicBezTo>
                <a:cubicBezTo>
                  <a:pt x="560613" y="22269"/>
                  <a:pt x="716280" y="177937"/>
                  <a:pt x="716280" y="369275"/>
                </a:cubicBezTo>
                <a:cubicBezTo>
                  <a:pt x="716280" y="488737"/>
                  <a:pt x="656644" y="596922"/>
                  <a:pt x="558175" y="660502"/>
                </a:cubicBezTo>
                <a:lnTo>
                  <a:pt x="561384" y="655472"/>
                </a:lnTo>
                <a:cubicBezTo>
                  <a:pt x="564690" y="650291"/>
                  <a:pt x="563166" y="643404"/>
                  <a:pt x="557984" y="640099"/>
                </a:cubicBezTo>
                <a:cubicBezTo>
                  <a:pt x="552802" y="636794"/>
                  <a:pt x="545916" y="638318"/>
                  <a:pt x="542611" y="643499"/>
                </a:cubicBezTo>
                <a:lnTo>
                  <a:pt x="515579" y="685914"/>
                </a:lnTo>
                <a:cubicBezTo>
                  <a:pt x="513340" y="689420"/>
                  <a:pt x="513245" y="693887"/>
                  <a:pt x="515341" y="697487"/>
                </a:cubicBezTo>
                <a:cubicBezTo>
                  <a:pt x="517427" y="701088"/>
                  <a:pt x="521341" y="703221"/>
                  <a:pt x="525504" y="703021"/>
                </a:cubicBezTo>
                <a:lnTo>
                  <a:pt x="575739" y="700602"/>
                </a:lnTo>
                <a:cubicBezTo>
                  <a:pt x="581882" y="700307"/>
                  <a:pt x="586616" y="695087"/>
                  <a:pt x="586321" y="688943"/>
                </a:cubicBezTo>
                <a:cubicBezTo>
                  <a:pt x="586026" y="682800"/>
                  <a:pt x="580815" y="678056"/>
                  <a:pt x="574662" y="678361"/>
                </a:cubicBezTo>
                <a:lnTo>
                  <a:pt x="571176" y="678532"/>
                </a:lnTo>
                <a:cubicBezTo>
                  <a:pt x="615096" y="649824"/>
                  <a:pt x="652567" y="611991"/>
                  <a:pt x="680990" y="567357"/>
                </a:cubicBezTo>
                <a:cubicBezTo>
                  <a:pt x="718652" y="508216"/>
                  <a:pt x="738559" y="439722"/>
                  <a:pt x="738559" y="369275"/>
                </a:cubicBezTo>
                <a:cubicBezTo>
                  <a:pt x="738549" y="165659"/>
                  <a:pt x="572891" y="0"/>
                  <a:pt x="369275" y="0"/>
                </a:cubicBezTo>
                <a:close/>
              </a:path>
            </a:pathLst>
          </a:custGeom>
          <a:solidFill>
            <a:srgbClr val="ED7C7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D40ABCE-1B12-6570-CC9E-97556E0E7609}"/>
              </a:ext>
            </a:extLst>
          </p:cNvPr>
          <p:cNvGrpSpPr/>
          <p:nvPr/>
        </p:nvGrpSpPr>
        <p:grpSpPr>
          <a:xfrm>
            <a:off x="9467502" y="3215259"/>
            <a:ext cx="2062535" cy="1888557"/>
            <a:chOff x="656630" y="3472821"/>
            <a:chExt cx="2062535" cy="1383909"/>
          </a:xfrm>
        </p:grpSpPr>
        <p:sp>
          <p:nvSpPr>
            <p:cNvPr id="37" name="Pentagon 3">
              <a:extLst>
                <a:ext uri="{FF2B5EF4-FFF2-40B4-BE49-F238E27FC236}">
                  <a16:creationId xmlns:a16="http://schemas.microsoft.com/office/drawing/2014/main" id="{4540BA2E-A2B7-34D0-7629-ED9D44FCEDB2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Network Influence: 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Top 10% </a:t>
              </a:r>
              <a:r>
                <a:rPr lang="en-US" sz="1100" u="sng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weighted indegree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Treatment Intensity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: NT-treated patient volume &gt; 95</a:t>
              </a:r>
              <a:r>
                <a:rPr lang="en-US" sz="1100" baseline="300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th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 percentile 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Patient Volume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: Interacted patient volume ≥ 90</a:t>
              </a:r>
              <a:r>
                <a:rPr lang="en-US" sz="1100" baseline="300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th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Percentile</a:t>
              </a:r>
            </a:p>
          </p:txBody>
        </p:sp>
        <p:sp>
          <p:nvSpPr>
            <p:cNvPr id="36" name="Pentagon 3">
              <a:extLst>
                <a:ext uri="{FF2B5EF4-FFF2-40B4-BE49-F238E27FC236}">
                  <a16:creationId xmlns:a16="http://schemas.microsoft.com/office/drawing/2014/main" id="{2DCC1AB4-81FD-5162-4D14-BD0B25470F8E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ED7C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sp>
        <p:nvSpPr>
          <p:cNvPr id="6" name="Chevron 4">
            <a:extLst>
              <a:ext uri="{FF2B5EF4-FFF2-40B4-BE49-F238E27FC236}">
                <a16:creationId xmlns:a16="http://schemas.microsoft.com/office/drawing/2014/main" id="{A9010524-F2AE-E635-515B-05A7DA944BA4}"/>
              </a:ext>
            </a:extLst>
          </p:cNvPr>
          <p:cNvSpPr/>
          <p:nvPr/>
        </p:nvSpPr>
        <p:spPr>
          <a:xfrm>
            <a:off x="2885290" y="1887042"/>
            <a:ext cx="2039674" cy="26665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Key Influencers</a:t>
            </a:r>
          </a:p>
        </p:txBody>
      </p:sp>
      <p:sp>
        <p:nvSpPr>
          <p:cNvPr id="12" name="Freeform 945">
            <a:extLst>
              <a:ext uri="{FF2B5EF4-FFF2-40B4-BE49-F238E27FC236}">
                <a16:creationId xmlns:a16="http://schemas.microsoft.com/office/drawing/2014/main" id="{8047D4B6-B9D7-F0AE-778C-31BC5E1F4E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9698" y="1234952"/>
            <a:ext cx="390858" cy="486011"/>
          </a:xfrm>
          <a:custGeom>
            <a:avLst/>
            <a:gdLst>
              <a:gd name="T0" fmla="*/ 632245 w 232462"/>
              <a:gd name="T1" fmla="*/ 3076609 h 289974"/>
              <a:gd name="T2" fmla="*/ 1993938 w 232462"/>
              <a:gd name="T3" fmla="*/ 3076609 h 289974"/>
              <a:gd name="T4" fmla="*/ 2091190 w 232462"/>
              <a:gd name="T5" fmla="*/ 2375186 h 289974"/>
              <a:gd name="T6" fmla="*/ 2038519 w 232462"/>
              <a:gd name="T7" fmla="*/ 3199466 h 289974"/>
              <a:gd name="T8" fmla="*/ 603868 w 232462"/>
              <a:gd name="T9" fmla="*/ 3195485 h 289974"/>
              <a:gd name="T10" fmla="*/ 534968 w 232462"/>
              <a:gd name="T11" fmla="*/ 2375186 h 289974"/>
              <a:gd name="T12" fmla="*/ 1193690 w 232462"/>
              <a:gd name="T13" fmla="*/ 1084957 h 289974"/>
              <a:gd name="T14" fmla="*/ 1084413 w 232462"/>
              <a:gd name="T15" fmla="*/ 1332847 h 289974"/>
              <a:gd name="T16" fmla="*/ 1290835 w 232462"/>
              <a:gd name="T17" fmla="*/ 1516759 h 289974"/>
              <a:gd name="T18" fmla="*/ 1529635 w 232462"/>
              <a:gd name="T19" fmla="*/ 1376818 h 289974"/>
              <a:gd name="T20" fmla="*/ 1468921 w 232462"/>
              <a:gd name="T21" fmla="*/ 1108951 h 289974"/>
              <a:gd name="T22" fmla="*/ 1270596 w 232462"/>
              <a:gd name="T23" fmla="*/ 713128 h 289974"/>
              <a:gd name="T24" fmla="*/ 1849413 w 232462"/>
              <a:gd name="T25" fmla="*/ 1064956 h 289974"/>
              <a:gd name="T26" fmla="*/ 1630824 w 232462"/>
              <a:gd name="T27" fmla="*/ 1384830 h 289974"/>
              <a:gd name="T28" fmla="*/ 1618692 w 232462"/>
              <a:gd name="T29" fmla="*/ 1772641 h 289974"/>
              <a:gd name="T30" fmla="*/ 987257 w 232462"/>
              <a:gd name="T31" fmla="*/ 1776636 h 289974"/>
              <a:gd name="T32" fmla="*/ 995349 w 232462"/>
              <a:gd name="T33" fmla="*/ 1384830 h 289974"/>
              <a:gd name="T34" fmla="*/ 776770 w 232462"/>
              <a:gd name="T35" fmla="*/ 1064956 h 289974"/>
              <a:gd name="T36" fmla="*/ 1306159 w 232462"/>
              <a:gd name="T37" fmla="*/ 482625 h 289974"/>
              <a:gd name="T38" fmla="*/ 2119160 w 232462"/>
              <a:gd name="T39" fmla="*/ 1276673 h 289974"/>
              <a:gd name="T40" fmla="*/ 2216743 w 232462"/>
              <a:gd name="T41" fmla="*/ 1276673 h 289974"/>
              <a:gd name="T42" fmla="*/ 1306159 w 232462"/>
              <a:gd name="T43" fmla="*/ 383378 h 289974"/>
              <a:gd name="T44" fmla="*/ 1083222 w 232462"/>
              <a:gd name="T45" fmla="*/ 251380 h 289974"/>
              <a:gd name="T46" fmla="*/ 700781 w 232462"/>
              <a:gd name="T47" fmla="*/ 417639 h 289974"/>
              <a:gd name="T48" fmla="*/ 407860 w 232462"/>
              <a:gd name="T49" fmla="*/ 710574 h 289974"/>
              <a:gd name="T50" fmla="*/ 253257 w 232462"/>
              <a:gd name="T51" fmla="*/ 1090626 h 289974"/>
              <a:gd name="T52" fmla="*/ 261393 w 232462"/>
              <a:gd name="T53" fmla="*/ 1498350 h 289974"/>
              <a:gd name="T54" fmla="*/ 428191 w 232462"/>
              <a:gd name="T55" fmla="*/ 1874447 h 289974"/>
              <a:gd name="T56" fmla="*/ 733337 w 232462"/>
              <a:gd name="T57" fmla="*/ 2159477 h 289974"/>
              <a:gd name="T58" fmla="*/ 1095420 w 232462"/>
              <a:gd name="T59" fmla="*/ 2298020 h 289974"/>
              <a:gd name="T60" fmla="*/ 1506329 w 232462"/>
              <a:gd name="T61" fmla="*/ 2309889 h 289974"/>
              <a:gd name="T62" fmla="*/ 1896907 w 232462"/>
              <a:gd name="T63" fmla="*/ 2159477 h 289974"/>
              <a:gd name="T64" fmla="*/ 2197968 w 232462"/>
              <a:gd name="T65" fmla="*/ 1874447 h 289974"/>
              <a:gd name="T66" fmla="*/ 2368839 w 232462"/>
              <a:gd name="T67" fmla="*/ 1498350 h 289974"/>
              <a:gd name="T68" fmla="*/ 2372910 w 232462"/>
              <a:gd name="T69" fmla="*/ 1090626 h 289974"/>
              <a:gd name="T70" fmla="*/ 2222381 w 232462"/>
              <a:gd name="T71" fmla="*/ 710574 h 289974"/>
              <a:gd name="T72" fmla="*/ 1929440 w 232462"/>
              <a:gd name="T73" fmla="*/ 417639 h 289974"/>
              <a:gd name="T74" fmla="*/ 1546995 w 232462"/>
              <a:gd name="T75" fmla="*/ 251380 h 289974"/>
              <a:gd name="T76" fmla="*/ 1282577 w 232462"/>
              <a:gd name="T77" fmla="*/ 5940 h 289974"/>
              <a:gd name="T78" fmla="*/ 1787059 w 232462"/>
              <a:gd name="T79" fmla="*/ 93038 h 289974"/>
              <a:gd name="T80" fmla="*/ 2214256 w 232462"/>
              <a:gd name="T81" fmla="*/ 358253 h 289974"/>
              <a:gd name="T82" fmla="*/ 2507166 w 232462"/>
              <a:gd name="T83" fmla="*/ 762044 h 289974"/>
              <a:gd name="T84" fmla="*/ 2617013 w 232462"/>
              <a:gd name="T85" fmla="*/ 1245006 h 289974"/>
              <a:gd name="T86" fmla="*/ 2531574 w 232462"/>
              <a:gd name="T87" fmla="*/ 1735895 h 289974"/>
              <a:gd name="T88" fmla="*/ 2258976 w 232462"/>
              <a:gd name="T89" fmla="*/ 2151533 h 289974"/>
              <a:gd name="T90" fmla="*/ 1839944 w 232462"/>
              <a:gd name="T91" fmla="*/ 2436573 h 289974"/>
              <a:gd name="T92" fmla="*/ 1343589 w 232462"/>
              <a:gd name="T93" fmla="*/ 2543461 h 289974"/>
              <a:gd name="T94" fmla="*/ 1083222 w 232462"/>
              <a:gd name="T95" fmla="*/ 2400937 h 289974"/>
              <a:gd name="T96" fmla="*/ 660104 w 232462"/>
              <a:gd name="T97" fmla="*/ 2226766 h 289974"/>
              <a:gd name="T98" fmla="*/ 334636 w 232462"/>
              <a:gd name="T99" fmla="*/ 1910073 h 289974"/>
              <a:gd name="T100" fmla="*/ 159692 w 232462"/>
              <a:gd name="T101" fmla="*/ 1498350 h 289974"/>
              <a:gd name="T102" fmla="*/ 159692 w 232462"/>
              <a:gd name="T103" fmla="*/ 1051026 h 289974"/>
              <a:gd name="T104" fmla="*/ 334636 w 232462"/>
              <a:gd name="T105" fmla="*/ 639327 h 289974"/>
              <a:gd name="T106" fmla="*/ 660104 w 232462"/>
              <a:gd name="T107" fmla="*/ 322629 h 289974"/>
              <a:gd name="T108" fmla="*/ 1083222 w 232462"/>
              <a:gd name="T109" fmla="*/ 152424 h 289974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232462" h="289974">
                <a:moveTo>
                  <a:pt x="51660" y="210958"/>
                </a:moveTo>
                <a:cubicBezTo>
                  <a:pt x="54171" y="210958"/>
                  <a:pt x="55965" y="212754"/>
                  <a:pt x="55965" y="215268"/>
                </a:cubicBezTo>
                <a:lnTo>
                  <a:pt x="55965" y="278840"/>
                </a:lnTo>
                <a:lnTo>
                  <a:pt x="114438" y="251903"/>
                </a:lnTo>
                <a:cubicBezTo>
                  <a:pt x="115514" y="251543"/>
                  <a:pt x="116949" y="251543"/>
                  <a:pt x="118025" y="251903"/>
                </a:cubicBezTo>
                <a:lnTo>
                  <a:pt x="176499" y="278840"/>
                </a:lnTo>
                <a:lnTo>
                  <a:pt x="176499" y="215268"/>
                </a:lnTo>
                <a:cubicBezTo>
                  <a:pt x="176499" y="212754"/>
                  <a:pt x="178292" y="210958"/>
                  <a:pt x="180445" y="210958"/>
                </a:cubicBezTo>
                <a:cubicBezTo>
                  <a:pt x="182956" y="210958"/>
                  <a:pt x="185108" y="212754"/>
                  <a:pt x="185108" y="215268"/>
                </a:cubicBezTo>
                <a:lnTo>
                  <a:pt x="185108" y="285305"/>
                </a:lnTo>
                <a:cubicBezTo>
                  <a:pt x="185108" y="287101"/>
                  <a:pt x="184391" y="288537"/>
                  <a:pt x="182956" y="289256"/>
                </a:cubicBezTo>
                <a:cubicBezTo>
                  <a:pt x="182239" y="289615"/>
                  <a:pt x="181521" y="289974"/>
                  <a:pt x="180445" y="289974"/>
                </a:cubicBezTo>
                <a:cubicBezTo>
                  <a:pt x="180086" y="289974"/>
                  <a:pt x="179369" y="289974"/>
                  <a:pt x="178651" y="289615"/>
                </a:cubicBezTo>
                <a:lnTo>
                  <a:pt x="116232" y="260882"/>
                </a:lnTo>
                <a:lnTo>
                  <a:pt x="53453" y="289615"/>
                </a:lnTo>
                <a:cubicBezTo>
                  <a:pt x="52377" y="289974"/>
                  <a:pt x="50584" y="289974"/>
                  <a:pt x="49149" y="289256"/>
                </a:cubicBezTo>
                <a:cubicBezTo>
                  <a:pt x="48072" y="288537"/>
                  <a:pt x="47355" y="287101"/>
                  <a:pt x="47355" y="285305"/>
                </a:cubicBezTo>
                <a:lnTo>
                  <a:pt x="47355" y="215268"/>
                </a:lnTo>
                <a:cubicBezTo>
                  <a:pt x="47355" y="212754"/>
                  <a:pt x="49149" y="210958"/>
                  <a:pt x="51660" y="210958"/>
                </a:cubicBezTo>
                <a:close/>
                <a:moveTo>
                  <a:pt x="116411" y="76590"/>
                </a:moveTo>
                <a:lnTo>
                  <a:pt x="105662" y="98332"/>
                </a:lnTo>
                <a:cubicBezTo>
                  <a:pt x="104946" y="99419"/>
                  <a:pt x="104229" y="100143"/>
                  <a:pt x="102438" y="100506"/>
                </a:cubicBezTo>
                <a:lnTo>
                  <a:pt x="79149" y="103767"/>
                </a:lnTo>
                <a:lnTo>
                  <a:pt x="95989" y="120798"/>
                </a:lnTo>
                <a:cubicBezTo>
                  <a:pt x="97063" y="121885"/>
                  <a:pt x="97422" y="123335"/>
                  <a:pt x="97422" y="124784"/>
                </a:cubicBezTo>
                <a:lnTo>
                  <a:pt x="93480" y="148338"/>
                </a:lnTo>
                <a:lnTo>
                  <a:pt x="114261" y="137467"/>
                </a:lnTo>
                <a:cubicBezTo>
                  <a:pt x="115695" y="136380"/>
                  <a:pt x="117128" y="136380"/>
                  <a:pt x="118203" y="137467"/>
                </a:cubicBezTo>
                <a:lnTo>
                  <a:pt x="139342" y="148338"/>
                </a:lnTo>
                <a:lnTo>
                  <a:pt x="135401" y="124784"/>
                </a:lnTo>
                <a:cubicBezTo>
                  <a:pt x="135042" y="123335"/>
                  <a:pt x="135401" y="121885"/>
                  <a:pt x="136834" y="120798"/>
                </a:cubicBezTo>
                <a:lnTo>
                  <a:pt x="153673" y="103767"/>
                </a:lnTo>
                <a:lnTo>
                  <a:pt x="130026" y="100506"/>
                </a:lnTo>
                <a:cubicBezTo>
                  <a:pt x="128593" y="100143"/>
                  <a:pt x="127518" y="99419"/>
                  <a:pt x="127160" y="98332"/>
                </a:cubicBezTo>
                <a:lnTo>
                  <a:pt x="116411" y="76590"/>
                </a:lnTo>
                <a:close/>
                <a:moveTo>
                  <a:pt x="112470" y="64632"/>
                </a:moveTo>
                <a:cubicBezTo>
                  <a:pt x="113903" y="61733"/>
                  <a:pt x="118919" y="61733"/>
                  <a:pt x="120352" y="64632"/>
                </a:cubicBezTo>
                <a:lnTo>
                  <a:pt x="133609" y="92171"/>
                </a:lnTo>
                <a:lnTo>
                  <a:pt x="163706" y="96520"/>
                </a:lnTo>
                <a:cubicBezTo>
                  <a:pt x="165497" y="96520"/>
                  <a:pt x="166930" y="97969"/>
                  <a:pt x="167289" y="99419"/>
                </a:cubicBezTo>
                <a:cubicBezTo>
                  <a:pt x="167647" y="101231"/>
                  <a:pt x="167289" y="103042"/>
                  <a:pt x="166214" y="104129"/>
                </a:cubicBezTo>
                <a:lnTo>
                  <a:pt x="144358" y="125509"/>
                </a:lnTo>
                <a:lnTo>
                  <a:pt x="149732" y="155947"/>
                </a:lnTo>
                <a:cubicBezTo>
                  <a:pt x="149732" y="157759"/>
                  <a:pt x="149374" y="159208"/>
                  <a:pt x="147941" y="160296"/>
                </a:cubicBezTo>
                <a:cubicBezTo>
                  <a:pt x="146508" y="161383"/>
                  <a:pt x="144716" y="161383"/>
                  <a:pt x="143283" y="160658"/>
                </a:cubicBezTo>
                <a:lnTo>
                  <a:pt x="116411" y="146163"/>
                </a:lnTo>
                <a:lnTo>
                  <a:pt x="89539" y="160658"/>
                </a:lnTo>
                <a:cubicBezTo>
                  <a:pt x="88823" y="160658"/>
                  <a:pt x="88106" y="161020"/>
                  <a:pt x="87390" y="161020"/>
                </a:cubicBezTo>
                <a:cubicBezTo>
                  <a:pt x="86673" y="161020"/>
                  <a:pt x="85598" y="160658"/>
                  <a:pt x="84881" y="160296"/>
                </a:cubicBezTo>
                <a:cubicBezTo>
                  <a:pt x="83448" y="159208"/>
                  <a:pt x="82732" y="157759"/>
                  <a:pt x="83090" y="155947"/>
                </a:cubicBezTo>
                <a:lnTo>
                  <a:pt x="88106" y="125509"/>
                </a:lnTo>
                <a:lnTo>
                  <a:pt x="66250" y="104129"/>
                </a:lnTo>
                <a:cubicBezTo>
                  <a:pt x="65175" y="103042"/>
                  <a:pt x="64817" y="101231"/>
                  <a:pt x="65175" y="99419"/>
                </a:cubicBezTo>
                <a:cubicBezTo>
                  <a:pt x="65892" y="97969"/>
                  <a:pt x="67325" y="96520"/>
                  <a:pt x="68758" y="96520"/>
                </a:cubicBezTo>
                <a:lnTo>
                  <a:pt x="98855" y="92171"/>
                </a:lnTo>
                <a:lnTo>
                  <a:pt x="112470" y="64632"/>
                </a:lnTo>
                <a:close/>
                <a:moveTo>
                  <a:pt x="115618" y="43741"/>
                </a:moveTo>
                <a:cubicBezTo>
                  <a:pt x="76036" y="43741"/>
                  <a:pt x="43651" y="76126"/>
                  <a:pt x="43651" y="115708"/>
                </a:cubicBezTo>
                <a:cubicBezTo>
                  <a:pt x="43651" y="155289"/>
                  <a:pt x="76036" y="187674"/>
                  <a:pt x="115618" y="187674"/>
                </a:cubicBezTo>
                <a:cubicBezTo>
                  <a:pt x="155199" y="187674"/>
                  <a:pt x="187584" y="155289"/>
                  <a:pt x="187584" y="115708"/>
                </a:cubicBezTo>
                <a:cubicBezTo>
                  <a:pt x="187584" y="76126"/>
                  <a:pt x="155199" y="43741"/>
                  <a:pt x="115618" y="43741"/>
                </a:cubicBezTo>
                <a:close/>
                <a:moveTo>
                  <a:pt x="115618" y="34745"/>
                </a:moveTo>
                <a:cubicBezTo>
                  <a:pt x="159877" y="34745"/>
                  <a:pt x="196220" y="71088"/>
                  <a:pt x="196220" y="115708"/>
                </a:cubicBezTo>
                <a:cubicBezTo>
                  <a:pt x="196220" y="159967"/>
                  <a:pt x="159877" y="196310"/>
                  <a:pt x="115618" y="196310"/>
                </a:cubicBezTo>
                <a:cubicBezTo>
                  <a:pt x="70998" y="196310"/>
                  <a:pt x="34655" y="159967"/>
                  <a:pt x="34655" y="115708"/>
                </a:cubicBezTo>
                <a:cubicBezTo>
                  <a:pt x="34655" y="71088"/>
                  <a:pt x="70998" y="34745"/>
                  <a:pt x="115618" y="34745"/>
                </a:cubicBezTo>
                <a:close/>
                <a:moveTo>
                  <a:pt x="116411" y="9866"/>
                </a:moveTo>
                <a:lnTo>
                  <a:pt x="99485" y="22065"/>
                </a:lnTo>
                <a:cubicBezTo>
                  <a:pt x="98405" y="22782"/>
                  <a:pt x="97324" y="23141"/>
                  <a:pt x="95884" y="22782"/>
                </a:cubicBezTo>
                <a:lnTo>
                  <a:pt x="75717" y="17759"/>
                </a:lnTo>
                <a:lnTo>
                  <a:pt x="64913" y="35698"/>
                </a:lnTo>
                <a:cubicBezTo>
                  <a:pt x="64193" y="36775"/>
                  <a:pt x="63112" y="37492"/>
                  <a:pt x="62032" y="37851"/>
                </a:cubicBezTo>
                <a:lnTo>
                  <a:pt x="41144" y="40721"/>
                </a:lnTo>
                <a:lnTo>
                  <a:pt x="37903" y="61531"/>
                </a:lnTo>
                <a:cubicBezTo>
                  <a:pt x="37903" y="62607"/>
                  <a:pt x="37183" y="63684"/>
                  <a:pt x="36103" y="64401"/>
                </a:cubicBezTo>
                <a:lnTo>
                  <a:pt x="18096" y="75165"/>
                </a:lnTo>
                <a:lnTo>
                  <a:pt x="23138" y="95257"/>
                </a:lnTo>
                <a:cubicBezTo>
                  <a:pt x="23498" y="96333"/>
                  <a:pt x="23138" y="97768"/>
                  <a:pt x="22418" y="98845"/>
                </a:cubicBezTo>
                <a:lnTo>
                  <a:pt x="10174" y="115708"/>
                </a:lnTo>
                <a:lnTo>
                  <a:pt x="22418" y="132212"/>
                </a:lnTo>
                <a:cubicBezTo>
                  <a:pt x="23138" y="133288"/>
                  <a:pt x="23498" y="134723"/>
                  <a:pt x="23138" y="135799"/>
                </a:cubicBezTo>
                <a:lnTo>
                  <a:pt x="18096" y="156250"/>
                </a:lnTo>
                <a:lnTo>
                  <a:pt x="36103" y="167014"/>
                </a:lnTo>
                <a:cubicBezTo>
                  <a:pt x="37183" y="167731"/>
                  <a:pt x="37903" y="168449"/>
                  <a:pt x="37903" y="169884"/>
                </a:cubicBezTo>
                <a:lnTo>
                  <a:pt x="41144" y="190335"/>
                </a:lnTo>
                <a:lnTo>
                  <a:pt x="62032" y="193564"/>
                </a:lnTo>
                <a:cubicBezTo>
                  <a:pt x="63112" y="193564"/>
                  <a:pt x="64193" y="194640"/>
                  <a:pt x="64913" y="195717"/>
                </a:cubicBezTo>
                <a:lnTo>
                  <a:pt x="75717" y="213656"/>
                </a:lnTo>
                <a:lnTo>
                  <a:pt x="95884" y="208274"/>
                </a:lnTo>
                <a:cubicBezTo>
                  <a:pt x="96244" y="208274"/>
                  <a:pt x="96604" y="208274"/>
                  <a:pt x="96964" y="208274"/>
                </a:cubicBezTo>
                <a:cubicBezTo>
                  <a:pt x="97685" y="208274"/>
                  <a:pt x="98765" y="208633"/>
                  <a:pt x="99485" y="209350"/>
                </a:cubicBezTo>
                <a:lnTo>
                  <a:pt x="116411" y="221549"/>
                </a:lnTo>
                <a:lnTo>
                  <a:pt x="133337" y="209350"/>
                </a:lnTo>
                <a:cubicBezTo>
                  <a:pt x="134417" y="208274"/>
                  <a:pt x="135498" y="208274"/>
                  <a:pt x="136938" y="208274"/>
                </a:cubicBezTo>
                <a:lnTo>
                  <a:pt x="157105" y="213656"/>
                </a:lnTo>
                <a:lnTo>
                  <a:pt x="167909" y="195717"/>
                </a:lnTo>
                <a:cubicBezTo>
                  <a:pt x="168629" y="194640"/>
                  <a:pt x="169710" y="193564"/>
                  <a:pt x="170790" y="193564"/>
                </a:cubicBezTo>
                <a:lnTo>
                  <a:pt x="191678" y="190335"/>
                </a:lnTo>
                <a:lnTo>
                  <a:pt x="194559" y="169884"/>
                </a:lnTo>
                <a:cubicBezTo>
                  <a:pt x="194559" y="168449"/>
                  <a:pt x="195639" y="167731"/>
                  <a:pt x="196719" y="167014"/>
                </a:cubicBezTo>
                <a:lnTo>
                  <a:pt x="214726" y="156250"/>
                </a:lnTo>
                <a:lnTo>
                  <a:pt x="209684" y="135799"/>
                </a:lnTo>
                <a:cubicBezTo>
                  <a:pt x="209324" y="134723"/>
                  <a:pt x="209684" y="133288"/>
                  <a:pt x="210044" y="132212"/>
                </a:cubicBezTo>
                <a:lnTo>
                  <a:pt x="222648" y="115708"/>
                </a:lnTo>
                <a:lnTo>
                  <a:pt x="210044" y="98845"/>
                </a:lnTo>
                <a:cubicBezTo>
                  <a:pt x="209684" y="97768"/>
                  <a:pt x="209324" y="96333"/>
                  <a:pt x="209684" y="95257"/>
                </a:cubicBezTo>
                <a:lnTo>
                  <a:pt x="214726" y="75165"/>
                </a:lnTo>
                <a:lnTo>
                  <a:pt x="196719" y="64401"/>
                </a:lnTo>
                <a:cubicBezTo>
                  <a:pt x="195639" y="63684"/>
                  <a:pt x="194559" y="62607"/>
                  <a:pt x="194559" y="61531"/>
                </a:cubicBezTo>
                <a:lnTo>
                  <a:pt x="191678" y="40721"/>
                </a:lnTo>
                <a:lnTo>
                  <a:pt x="170790" y="37851"/>
                </a:lnTo>
                <a:cubicBezTo>
                  <a:pt x="169710" y="37492"/>
                  <a:pt x="168629" y="36775"/>
                  <a:pt x="167909" y="35698"/>
                </a:cubicBezTo>
                <a:lnTo>
                  <a:pt x="157105" y="17759"/>
                </a:lnTo>
                <a:lnTo>
                  <a:pt x="136938" y="22782"/>
                </a:lnTo>
                <a:cubicBezTo>
                  <a:pt x="135498" y="23141"/>
                  <a:pt x="134417" y="22782"/>
                  <a:pt x="133337" y="22065"/>
                </a:cubicBezTo>
                <a:lnTo>
                  <a:pt x="116411" y="9866"/>
                </a:lnTo>
                <a:close/>
                <a:moveTo>
                  <a:pt x="113530" y="538"/>
                </a:moveTo>
                <a:cubicBezTo>
                  <a:pt x="115331" y="-180"/>
                  <a:pt x="117492" y="-180"/>
                  <a:pt x="118932" y="538"/>
                </a:cubicBezTo>
                <a:lnTo>
                  <a:pt x="136938" y="13813"/>
                </a:lnTo>
                <a:lnTo>
                  <a:pt x="158186" y="8431"/>
                </a:lnTo>
                <a:cubicBezTo>
                  <a:pt x="159986" y="8072"/>
                  <a:pt x="161787" y="8790"/>
                  <a:pt x="162867" y="10225"/>
                </a:cubicBezTo>
                <a:lnTo>
                  <a:pt x="174392" y="29240"/>
                </a:lnTo>
                <a:lnTo>
                  <a:pt x="195999" y="32469"/>
                </a:lnTo>
                <a:cubicBezTo>
                  <a:pt x="197800" y="32828"/>
                  <a:pt x="199240" y="34263"/>
                  <a:pt x="199960" y="36416"/>
                </a:cubicBezTo>
                <a:lnTo>
                  <a:pt x="202842" y="57943"/>
                </a:lnTo>
                <a:lnTo>
                  <a:pt x="221928" y="69066"/>
                </a:lnTo>
                <a:cubicBezTo>
                  <a:pt x="223369" y="70142"/>
                  <a:pt x="224449" y="72295"/>
                  <a:pt x="224089" y="74088"/>
                </a:cubicBezTo>
                <a:lnTo>
                  <a:pt x="218687" y="95257"/>
                </a:lnTo>
                <a:lnTo>
                  <a:pt x="231652" y="112837"/>
                </a:lnTo>
                <a:cubicBezTo>
                  <a:pt x="232732" y="114631"/>
                  <a:pt x="232732" y="116784"/>
                  <a:pt x="231652" y="118219"/>
                </a:cubicBezTo>
                <a:lnTo>
                  <a:pt x="218687" y="135799"/>
                </a:lnTo>
                <a:lnTo>
                  <a:pt x="224089" y="157327"/>
                </a:lnTo>
                <a:cubicBezTo>
                  <a:pt x="224449" y="159121"/>
                  <a:pt x="223369" y="160914"/>
                  <a:pt x="221928" y="161991"/>
                </a:cubicBezTo>
                <a:lnTo>
                  <a:pt x="202842" y="173113"/>
                </a:lnTo>
                <a:lnTo>
                  <a:pt x="199960" y="194999"/>
                </a:lnTo>
                <a:cubicBezTo>
                  <a:pt x="199240" y="196793"/>
                  <a:pt x="197800" y="198587"/>
                  <a:pt x="195999" y="198587"/>
                </a:cubicBezTo>
                <a:lnTo>
                  <a:pt x="174392" y="201816"/>
                </a:lnTo>
                <a:lnTo>
                  <a:pt x="162867" y="220831"/>
                </a:lnTo>
                <a:cubicBezTo>
                  <a:pt x="161787" y="222267"/>
                  <a:pt x="159986" y="222984"/>
                  <a:pt x="158186" y="222625"/>
                </a:cubicBezTo>
                <a:lnTo>
                  <a:pt x="136938" y="217602"/>
                </a:lnTo>
                <a:lnTo>
                  <a:pt x="118932" y="230519"/>
                </a:lnTo>
                <a:cubicBezTo>
                  <a:pt x="118212" y="231236"/>
                  <a:pt x="117131" y="231236"/>
                  <a:pt x="116411" y="231236"/>
                </a:cubicBezTo>
                <a:cubicBezTo>
                  <a:pt x="115331" y="231236"/>
                  <a:pt x="114610" y="231236"/>
                  <a:pt x="113530" y="230519"/>
                </a:cubicBezTo>
                <a:lnTo>
                  <a:pt x="95884" y="217602"/>
                </a:lnTo>
                <a:lnTo>
                  <a:pt x="74636" y="222625"/>
                </a:lnTo>
                <a:cubicBezTo>
                  <a:pt x="72836" y="222984"/>
                  <a:pt x="70675" y="222267"/>
                  <a:pt x="69595" y="220831"/>
                </a:cubicBezTo>
                <a:lnTo>
                  <a:pt x="58431" y="201816"/>
                </a:lnTo>
                <a:lnTo>
                  <a:pt x="36823" y="198587"/>
                </a:lnTo>
                <a:cubicBezTo>
                  <a:pt x="35022" y="198587"/>
                  <a:pt x="33222" y="196793"/>
                  <a:pt x="32862" y="194999"/>
                </a:cubicBezTo>
                <a:lnTo>
                  <a:pt x="29620" y="173113"/>
                </a:lnTo>
                <a:lnTo>
                  <a:pt x="10534" y="161991"/>
                </a:lnTo>
                <a:cubicBezTo>
                  <a:pt x="9093" y="160914"/>
                  <a:pt x="8373" y="159121"/>
                  <a:pt x="8733" y="157327"/>
                </a:cubicBezTo>
                <a:lnTo>
                  <a:pt x="14135" y="135799"/>
                </a:lnTo>
                <a:lnTo>
                  <a:pt x="810" y="118219"/>
                </a:lnTo>
                <a:cubicBezTo>
                  <a:pt x="-270" y="116784"/>
                  <a:pt x="-270" y="114631"/>
                  <a:pt x="810" y="112837"/>
                </a:cubicBezTo>
                <a:lnTo>
                  <a:pt x="14135" y="95257"/>
                </a:lnTo>
                <a:lnTo>
                  <a:pt x="8733" y="74088"/>
                </a:lnTo>
                <a:cubicBezTo>
                  <a:pt x="8373" y="72295"/>
                  <a:pt x="9093" y="70142"/>
                  <a:pt x="10534" y="69066"/>
                </a:cubicBezTo>
                <a:lnTo>
                  <a:pt x="29620" y="57943"/>
                </a:lnTo>
                <a:lnTo>
                  <a:pt x="32862" y="36416"/>
                </a:lnTo>
                <a:cubicBezTo>
                  <a:pt x="33222" y="34263"/>
                  <a:pt x="35022" y="32828"/>
                  <a:pt x="36823" y="32469"/>
                </a:cubicBezTo>
                <a:lnTo>
                  <a:pt x="58431" y="29240"/>
                </a:lnTo>
                <a:lnTo>
                  <a:pt x="69595" y="10225"/>
                </a:lnTo>
                <a:cubicBezTo>
                  <a:pt x="70675" y="8790"/>
                  <a:pt x="72836" y="8072"/>
                  <a:pt x="74636" y="8431"/>
                </a:cubicBezTo>
                <a:lnTo>
                  <a:pt x="95884" y="13813"/>
                </a:lnTo>
                <a:lnTo>
                  <a:pt x="113530" y="538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anchor="ctr"/>
          <a:lstStyle/>
          <a:p>
            <a:endParaRPr lang="en-US" sz="900" noProof="0">
              <a:latin typeface="+mj-lt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8C61398-7E6F-680B-034D-56C435C92847}"/>
              </a:ext>
            </a:extLst>
          </p:cNvPr>
          <p:cNvSpPr txBox="1">
            <a:spLocks/>
          </p:cNvSpPr>
          <p:nvPr/>
        </p:nvSpPr>
        <p:spPr>
          <a:xfrm>
            <a:off x="2981553" y="2164519"/>
            <a:ext cx="1847149" cy="721608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en-US"/>
            </a:defPPr>
            <a:lvl1pPr indent="0" defTabSz="1087636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>
                <a:latin typeface="+mj-lt"/>
                <a:ea typeface="League Spartan" charset="0"/>
                <a:cs typeface="Poppins" pitchFamily="2" charset="77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b="1" noProof="0"/>
              <a:t>Highly connected</a:t>
            </a:r>
            <a:r>
              <a:rPr lang="en-US" noProof="0"/>
              <a:t> HCPs </a:t>
            </a:r>
            <a:r>
              <a:rPr lang="en-US" b="1" noProof="0"/>
              <a:t>managing and redirecting </a:t>
            </a:r>
            <a:r>
              <a:rPr lang="en-US" noProof="0"/>
              <a:t>a</a:t>
            </a:r>
            <a:r>
              <a:rPr lang="en-US" b="1" noProof="0"/>
              <a:t> high-volume </a:t>
            </a:r>
            <a:r>
              <a:rPr lang="en-US" noProof="0"/>
              <a:t>of patients 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FFA24A0-DF5A-9AAD-5B0D-D0B1B372B2B4}"/>
              </a:ext>
            </a:extLst>
          </p:cNvPr>
          <p:cNvGrpSpPr/>
          <p:nvPr/>
        </p:nvGrpSpPr>
        <p:grpSpPr>
          <a:xfrm>
            <a:off x="2873860" y="3215259"/>
            <a:ext cx="2062535" cy="1888557"/>
            <a:chOff x="656630" y="3472821"/>
            <a:chExt cx="2062535" cy="1383909"/>
          </a:xfrm>
        </p:grpSpPr>
        <p:sp>
          <p:nvSpPr>
            <p:cNvPr id="63" name="Pentagon 3">
              <a:extLst>
                <a:ext uri="{FF2B5EF4-FFF2-40B4-BE49-F238E27FC236}">
                  <a16:creationId xmlns:a16="http://schemas.microsoft.com/office/drawing/2014/main" id="{A5D1097A-F05E-6C0A-3556-A3DB987D21DF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Network Influence: 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Top 10% </a:t>
              </a:r>
              <a:r>
                <a:rPr lang="en-US" sz="1100" u="sng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PageRank</a:t>
              </a:r>
            </a:p>
            <a:p>
              <a:r>
                <a:rPr lang="en-US" sz="1100" i="1">
                  <a:solidFill>
                    <a:schemeClr val="tx1"/>
                  </a:solidFill>
                  <a:ea typeface="League Spartan" charset="0"/>
                  <a:cs typeface="Poppins" pitchFamily="2" charset="77"/>
                </a:rPr>
                <a:t>OR</a:t>
              </a:r>
              <a:endParaRPr lang="en-US" sz="1100" noProof="0">
                <a:solidFill>
                  <a:schemeClr val="tx1"/>
                </a:solidFill>
                <a:latin typeface="+mj-lt"/>
                <a:ea typeface="League Spartan" charset="0"/>
                <a:cs typeface="Poppins" pitchFamily="2" charset="77"/>
              </a:endParaRP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Connection Strength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: Unique # of Connected HCPs </a:t>
              </a:r>
              <a:r>
                <a:rPr lang="en-US" sz="1100" u="sng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&gt;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 median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b="1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Patient Volume</a:t>
              </a:r>
              <a:r>
                <a:rPr lang="en-US" sz="1100" noProof="0">
                  <a:solidFill>
                    <a:schemeClr val="tx1"/>
                  </a:solidFill>
                  <a:latin typeface="+mj-lt"/>
                  <a:ea typeface="League Spartan" charset="0"/>
                  <a:cs typeface="Poppins" pitchFamily="2" charset="77"/>
                </a:rPr>
                <a:t>: Interacted patient volume ≥ ~90th Percentile</a:t>
              </a:r>
            </a:p>
          </p:txBody>
        </p:sp>
        <p:sp>
          <p:nvSpPr>
            <p:cNvPr id="64" name="Pentagon 3">
              <a:extLst>
                <a:ext uri="{FF2B5EF4-FFF2-40B4-BE49-F238E27FC236}">
                  <a16:creationId xmlns:a16="http://schemas.microsoft.com/office/drawing/2014/main" id="{C0711E9D-1DAD-B3D3-D751-0CF1EE8B8CA0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73945FE-6580-637E-F41D-423D7EE7C2EA}"/>
              </a:ext>
            </a:extLst>
          </p:cNvPr>
          <p:cNvSpPr/>
          <p:nvPr/>
        </p:nvSpPr>
        <p:spPr>
          <a:xfrm>
            <a:off x="615603" y="5387788"/>
            <a:ext cx="2122912" cy="833718"/>
          </a:xfrm>
          <a:prstGeom prst="roundRect">
            <a:avLst>
              <a:gd name="adj" fmla="val 7621"/>
            </a:avLst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200" b="1"/>
              <a:t>Referrers</a:t>
            </a:r>
            <a:r>
              <a:rPr kumimoji="1" lang="en-US" sz="1200"/>
              <a:t>: Referred out </a:t>
            </a:r>
            <a:r>
              <a:rPr kumimoji="1" lang="en-US" sz="1200" err="1"/>
              <a:t>atleast</a:t>
            </a:r>
            <a:r>
              <a:rPr kumimoji="1" lang="en-US" sz="1200"/>
              <a:t> 1 patient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F54FB8-71C5-A7A3-0686-4A15A1A12756}"/>
              </a:ext>
            </a:extLst>
          </p:cNvPr>
          <p:cNvSpPr/>
          <p:nvPr/>
        </p:nvSpPr>
        <p:spPr>
          <a:xfrm>
            <a:off x="2835302" y="5387788"/>
            <a:ext cx="2122912" cy="833718"/>
          </a:xfrm>
          <a:prstGeom prst="roundRect">
            <a:avLst>
              <a:gd name="adj" fmla="val 7621"/>
            </a:avLst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200" b="1"/>
              <a:t>Influencers</a:t>
            </a:r>
            <a:r>
              <a:rPr kumimoji="1" lang="en-US" sz="1200"/>
              <a:t>: Referral activity with </a:t>
            </a:r>
            <a:r>
              <a:rPr kumimoji="1" lang="en-US" sz="1200" err="1"/>
              <a:t>atleast</a:t>
            </a:r>
            <a:r>
              <a:rPr kumimoji="1" lang="en-US" sz="1200"/>
              <a:t> 4 patient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2684E62-4627-C921-EA3C-58F22F4AE141}"/>
              </a:ext>
            </a:extLst>
          </p:cNvPr>
          <p:cNvSpPr/>
          <p:nvPr/>
        </p:nvSpPr>
        <p:spPr>
          <a:xfrm>
            <a:off x="7274700" y="5387788"/>
            <a:ext cx="2122912" cy="833718"/>
          </a:xfrm>
          <a:prstGeom prst="roundRect">
            <a:avLst>
              <a:gd name="adj" fmla="val 7621"/>
            </a:avLst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200" b="1" err="1"/>
              <a:t>Diagnosers</a:t>
            </a:r>
            <a:r>
              <a:rPr kumimoji="1" lang="en-US" sz="1200"/>
              <a:t>: First NT diagnosing volume ≥ 90th  percentile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6E674EA-CA85-AEDD-6609-DE186FA8719B}"/>
              </a:ext>
            </a:extLst>
          </p:cNvPr>
          <p:cNvSpPr/>
          <p:nvPr/>
        </p:nvSpPr>
        <p:spPr>
          <a:xfrm>
            <a:off x="9494400" y="5387788"/>
            <a:ext cx="2122912" cy="833718"/>
          </a:xfrm>
          <a:prstGeom prst="roundRect">
            <a:avLst>
              <a:gd name="adj" fmla="val 7621"/>
            </a:avLst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200" b="1"/>
              <a:t>Treaters</a:t>
            </a:r>
            <a:r>
              <a:rPr kumimoji="1" lang="en-US" sz="1200"/>
              <a:t>: NT-treated patient volume </a:t>
            </a:r>
            <a:r>
              <a:rPr kumimoji="1" lang="en-US" sz="1200" u="sng"/>
              <a:t>&gt;</a:t>
            </a:r>
            <a:r>
              <a:rPr kumimoji="1" lang="en-US" sz="1200"/>
              <a:t> 90th  percentile </a:t>
            </a:r>
          </a:p>
        </p:txBody>
      </p:sp>
    </p:spTree>
    <p:extLst>
      <p:ext uri="{BB962C8B-B14F-4D97-AF65-F5344CB8AC3E}">
        <p14:creationId xmlns:p14="http://schemas.microsoft.com/office/powerpoint/2010/main" val="181019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E6A15-B54A-D0C8-CE75-F63533CFC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6FEE-3353-7B7A-25B9-DBB9CF79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A small, high-impact cohort of 5% HCPs accounts for a disproportionate share of 62% of top-decile targets in the NT network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F6F65C7-08EA-0DCF-F622-C4F132662ADA}"/>
              </a:ext>
            </a:extLst>
          </p:cNvPr>
          <p:cNvGrpSpPr/>
          <p:nvPr/>
        </p:nvGrpSpPr>
        <p:grpSpPr>
          <a:xfrm>
            <a:off x="435748" y="1803061"/>
            <a:ext cx="4325085" cy="3447613"/>
            <a:chOff x="435748" y="1803061"/>
            <a:chExt cx="4325085" cy="3447613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3E0CD0B4-F8A0-86E4-B14D-2DA1E3F16DB0}"/>
                </a:ext>
              </a:extLst>
            </p:cNvPr>
            <p:cNvCxnSpPr>
              <a:cxnSpLocks/>
              <a:stCxn id="4" idx="5"/>
              <a:endCxn id="50" idx="1"/>
            </p:cNvCxnSpPr>
            <p:nvPr/>
          </p:nvCxnSpPr>
          <p:spPr>
            <a:xfrm>
              <a:off x="1967202" y="2472521"/>
              <a:ext cx="1084575" cy="1769895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22E4D34-8BDE-27A4-0C37-4FC93DBBE6C6}"/>
                </a:ext>
              </a:extLst>
            </p:cNvPr>
            <p:cNvCxnSpPr>
              <a:cxnSpLocks/>
              <a:stCxn id="6" idx="4"/>
              <a:endCxn id="9" idx="1"/>
            </p:cNvCxnSpPr>
            <p:nvPr/>
          </p:nvCxnSpPr>
          <p:spPr>
            <a:xfrm>
              <a:off x="886466" y="3906095"/>
              <a:ext cx="1364211" cy="855641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4508E12E-26F0-F111-F87F-16D743B0A89B}"/>
                </a:ext>
              </a:extLst>
            </p:cNvPr>
            <p:cNvCxnSpPr>
              <a:cxnSpLocks/>
              <a:stCxn id="9" idx="0"/>
              <a:endCxn id="11" idx="2"/>
            </p:cNvCxnSpPr>
            <p:nvPr/>
          </p:nvCxnSpPr>
          <p:spPr>
            <a:xfrm flipV="1">
              <a:off x="2357588" y="3186528"/>
              <a:ext cx="1517624" cy="1530924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F84D6F59-AF6A-93D0-99D8-EE584D4DA6AF}"/>
                </a:ext>
              </a:extLst>
            </p:cNvPr>
            <p:cNvCxnSpPr>
              <a:cxnSpLocks/>
              <a:endCxn id="16" idx="7"/>
            </p:cNvCxnSpPr>
            <p:nvPr/>
          </p:nvCxnSpPr>
          <p:spPr>
            <a:xfrm flipH="1">
              <a:off x="3560064" y="3296411"/>
              <a:ext cx="350122" cy="1337665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CF74BD3-CA18-BC35-B434-B962270B11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7742" y="1803061"/>
              <a:ext cx="784321" cy="784321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 sz="1200">
                <a:solidFill>
                  <a:schemeClr val="bg1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8F0F7B0-3489-206B-4C4F-8F458C5F83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5043" y="3583249"/>
              <a:ext cx="322846" cy="322846"/>
            </a:xfrm>
            <a:prstGeom prst="ellipse">
              <a:avLst/>
            </a:prstGeom>
            <a:solidFill>
              <a:srgbClr val="E1242A">
                <a:alpha val="40000"/>
              </a:srgb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1F7CB05-6B7D-F755-B625-E10AA3AB85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827" y="4717452"/>
              <a:ext cx="302390" cy="30239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731344A-3254-246E-11E8-E06ED5D530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75212" y="2830018"/>
              <a:ext cx="713019" cy="713019"/>
            </a:xfrm>
            <a:prstGeom prst="ellipse">
              <a:avLst/>
            </a:prstGeom>
            <a:solidFill>
              <a:srgbClr val="00B050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 sz="1200">
                <a:solidFill>
                  <a:schemeClr val="bg1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5ED3A02-9C8C-2246-3889-51E760B9C171}"/>
                </a:ext>
              </a:extLst>
            </p:cNvPr>
            <p:cNvCxnSpPr>
              <a:cxnSpLocks/>
              <a:stCxn id="11" idx="2"/>
              <a:endCxn id="4" idx="5"/>
            </p:cNvCxnSpPr>
            <p:nvPr/>
          </p:nvCxnSpPr>
          <p:spPr>
            <a:xfrm flipH="1" flipV="1">
              <a:off x="1967202" y="2472521"/>
              <a:ext cx="1908010" cy="71400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762DF5C-2722-C8B5-960C-FCA8250C11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44382" y="4562756"/>
              <a:ext cx="487002" cy="487002"/>
            </a:xfrm>
            <a:prstGeom prst="ellipse">
              <a:avLst/>
            </a:prstGeom>
            <a:solidFill>
              <a:srgbClr val="00B050">
                <a:alpha val="40000"/>
              </a:srgb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CDC7E97-0CCE-9DAA-2F7A-D2344E020175}"/>
                </a:ext>
              </a:extLst>
            </p:cNvPr>
            <p:cNvSpPr txBox="1"/>
            <p:nvPr/>
          </p:nvSpPr>
          <p:spPr>
            <a:xfrm>
              <a:off x="2964973" y="5007995"/>
              <a:ext cx="8458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i="1" err="1"/>
                <a:t>Diagnoser</a:t>
              </a:r>
              <a:endParaRPr lang="en-US" sz="900" b="1" i="1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3630DED-81B5-0DAF-00F9-4D2DB84B06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1886" y="2798697"/>
              <a:ext cx="365892" cy="365892"/>
            </a:xfrm>
            <a:prstGeom prst="ellipse">
              <a:avLst/>
            </a:prstGeom>
            <a:solidFill>
              <a:schemeClr val="accent1">
                <a:alpha val="40000"/>
              </a:scheme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020D0B3-03E4-40E6-1B70-782B9C7523E4}"/>
                </a:ext>
              </a:extLst>
            </p:cNvPr>
            <p:cNvSpPr txBox="1"/>
            <p:nvPr/>
          </p:nvSpPr>
          <p:spPr>
            <a:xfrm>
              <a:off x="451922" y="3089585"/>
              <a:ext cx="8458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i="1"/>
                <a:t>Treater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E4BCAD-BDF2-EEF6-7AE4-6E05024B0F3A}"/>
                </a:ext>
              </a:extLst>
            </p:cNvPr>
            <p:cNvSpPr txBox="1"/>
            <p:nvPr/>
          </p:nvSpPr>
          <p:spPr>
            <a:xfrm>
              <a:off x="435748" y="5019842"/>
              <a:ext cx="11485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i="1"/>
                <a:t>Peripheral HCP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D02A127-91B5-5D59-5C41-338FF1AEB0CC}"/>
                </a:ext>
              </a:extLst>
            </p:cNvPr>
            <p:cNvCxnSpPr>
              <a:cxnSpLocks/>
              <a:stCxn id="14" idx="7"/>
              <a:endCxn id="11" idx="4"/>
            </p:cNvCxnSpPr>
            <p:nvPr/>
          </p:nvCxnSpPr>
          <p:spPr>
            <a:xfrm flipV="1">
              <a:off x="3986864" y="3543037"/>
              <a:ext cx="244858" cy="23799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F75C1D8-B617-DDFF-E5D3-B5F31AE30665}"/>
                </a:ext>
              </a:extLst>
            </p:cNvPr>
            <p:cNvCxnSpPr>
              <a:cxnSpLocks/>
              <a:stCxn id="14" idx="2"/>
              <a:endCxn id="4" idx="5"/>
            </p:cNvCxnSpPr>
            <p:nvPr/>
          </p:nvCxnSpPr>
          <p:spPr>
            <a:xfrm flipH="1" flipV="1">
              <a:off x="1967202" y="2472521"/>
              <a:ext cx="1603980" cy="1480695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08038F4-F606-FDB5-AE49-C7D97F6D59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71182" y="3709715"/>
              <a:ext cx="487002" cy="487002"/>
            </a:xfrm>
            <a:prstGeom prst="ellipse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0BE3B29-C7E4-6507-EA83-C6AE909AED7C}"/>
                </a:ext>
              </a:extLst>
            </p:cNvPr>
            <p:cNvSpPr txBox="1"/>
            <p:nvPr/>
          </p:nvSpPr>
          <p:spPr>
            <a:xfrm>
              <a:off x="3240409" y="4145727"/>
              <a:ext cx="114854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i="1"/>
                <a:t>Bridgers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1DB916E-ED9F-1D31-188B-BCD71B03C155}"/>
                </a:ext>
              </a:extLst>
            </p:cNvPr>
            <p:cNvCxnSpPr>
              <a:cxnSpLocks/>
              <a:stCxn id="7" idx="4"/>
              <a:endCxn id="15" idx="6"/>
            </p:cNvCxnSpPr>
            <p:nvPr/>
          </p:nvCxnSpPr>
          <p:spPr>
            <a:xfrm flipH="1" flipV="1">
              <a:off x="1057778" y="2981643"/>
              <a:ext cx="1028304" cy="396054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1E0482A-53E6-CD61-F0E8-A4F293BBF369}"/>
                </a:ext>
              </a:extLst>
            </p:cNvPr>
            <p:cNvCxnSpPr>
              <a:cxnSpLocks/>
              <a:stCxn id="7" idx="5"/>
              <a:endCxn id="14" idx="1"/>
            </p:cNvCxnSpPr>
            <p:nvPr/>
          </p:nvCxnSpPr>
          <p:spPr>
            <a:xfrm>
              <a:off x="2215444" y="3324113"/>
              <a:ext cx="1427058" cy="456922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D710E67-A6BF-E83F-93A9-575E75BE5CD1}"/>
                </a:ext>
              </a:extLst>
            </p:cNvPr>
            <p:cNvCxnSpPr>
              <a:cxnSpLocks/>
              <a:stCxn id="7" idx="5"/>
              <a:endCxn id="16" idx="1"/>
            </p:cNvCxnSpPr>
            <p:nvPr/>
          </p:nvCxnSpPr>
          <p:spPr>
            <a:xfrm>
              <a:off x="2215444" y="3324113"/>
              <a:ext cx="1000258" cy="1309963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2975250-AC25-1B42-BC40-2650AE8065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06393" y="4717452"/>
              <a:ext cx="302390" cy="302390"/>
            </a:xfrm>
            <a:prstGeom prst="ellipse">
              <a:avLst/>
            </a:prstGeom>
            <a:solidFill>
              <a:srgbClr val="0070C0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60CDA63-D096-2571-A01A-4159CF423298}"/>
                </a:ext>
              </a:extLst>
            </p:cNvPr>
            <p:cNvSpPr txBox="1"/>
            <p:nvPr/>
          </p:nvSpPr>
          <p:spPr>
            <a:xfrm>
              <a:off x="1934678" y="5019842"/>
              <a:ext cx="8458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i="1"/>
                <a:t>Referrers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A687519-0691-AFDA-A313-3813972B12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04497" y="4195136"/>
              <a:ext cx="322846" cy="322846"/>
            </a:xfrm>
            <a:prstGeom prst="ellipse">
              <a:avLst/>
            </a:prstGeom>
            <a:solidFill>
              <a:srgbClr val="00B0F0">
                <a:alpha val="40000"/>
              </a:srgb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D2C0970-3C1F-7689-794F-3A4D663D60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13002" y="4465727"/>
              <a:ext cx="322846" cy="322846"/>
            </a:xfrm>
            <a:prstGeom prst="ellipse">
              <a:avLst/>
            </a:prstGeom>
            <a:solidFill>
              <a:srgbClr val="002060">
                <a:alpha val="40000"/>
              </a:srgbClr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5FC18AF-F5FD-0405-30AE-8CBBC5D3A90F}"/>
                </a:ext>
              </a:extLst>
            </p:cNvPr>
            <p:cNvCxnSpPr>
              <a:cxnSpLocks/>
              <a:stCxn id="9" idx="0"/>
              <a:endCxn id="33" idx="0"/>
            </p:cNvCxnSpPr>
            <p:nvPr/>
          </p:nvCxnSpPr>
          <p:spPr>
            <a:xfrm flipH="1" flipV="1">
              <a:off x="2086082" y="3377101"/>
              <a:ext cx="271506" cy="134035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DB0E68A-1E88-E505-5E2A-2BAFD5FA6C36}"/>
                </a:ext>
              </a:extLst>
            </p:cNvPr>
            <p:cNvCxnSpPr>
              <a:cxnSpLocks/>
              <a:stCxn id="51" idx="0"/>
            </p:cNvCxnSpPr>
            <p:nvPr/>
          </p:nvCxnSpPr>
          <p:spPr>
            <a:xfrm flipH="1" flipV="1">
              <a:off x="3842897" y="4118143"/>
              <a:ext cx="431528" cy="347584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6A052AE9-78C3-ADF9-CF5A-337127C1B608}"/>
                </a:ext>
              </a:extLst>
            </p:cNvPr>
            <p:cNvCxnSpPr>
              <a:cxnSpLocks/>
              <a:stCxn id="50" idx="0"/>
              <a:endCxn id="14" idx="2"/>
            </p:cNvCxnSpPr>
            <p:nvPr/>
          </p:nvCxnSpPr>
          <p:spPr>
            <a:xfrm flipV="1">
              <a:off x="3165920" y="3953216"/>
              <a:ext cx="405262" cy="24192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C57DEEE6-EB2F-CD3D-2521-675207C8A336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 flipV="1">
              <a:off x="899453" y="3324113"/>
              <a:ext cx="1057267" cy="291094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20C63A4-3F70-57EB-6AD0-DA1536CEE140}"/>
                </a:ext>
              </a:extLst>
            </p:cNvPr>
            <p:cNvCxnSpPr>
              <a:cxnSpLocks/>
              <a:stCxn id="9" idx="0"/>
              <a:endCxn id="16" idx="1"/>
            </p:cNvCxnSpPr>
            <p:nvPr/>
          </p:nvCxnSpPr>
          <p:spPr>
            <a:xfrm flipV="1">
              <a:off x="2357588" y="4634076"/>
              <a:ext cx="858114" cy="83376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27DEE464-E3F8-0320-818D-798104AA14EC}"/>
                </a:ext>
              </a:extLst>
            </p:cNvPr>
            <p:cNvCxnSpPr>
              <a:cxnSpLocks/>
              <a:stCxn id="15" idx="6"/>
              <a:endCxn id="7" idx="1"/>
            </p:cNvCxnSpPr>
            <p:nvPr/>
          </p:nvCxnSpPr>
          <p:spPr>
            <a:xfrm>
              <a:off x="1057778" y="2981643"/>
              <a:ext cx="898942" cy="83746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21A48FE-CAC9-CF80-43C1-18BA38A14E35}"/>
                </a:ext>
              </a:extLst>
            </p:cNvPr>
            <p:cNvSpPr txBox="1"/>
            <p:nvPr/>
          </p:nvSpPr>
          <p:spPr>
            <a:xfrm>
              <a:off x="1620881" y="3377101"/>
              <a:ext cx="930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i="1"/>
                <a:t>Key Influencer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037646A-8573-3EAE-D2AE-8205CBE298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03136" y="3011805"/>
              <a:ext cx="365892" cy="365892"/>
            </a:xfrm>
            <a:prstGeom prst="ellipse">
              <a:avLst/>
            </a:prstGeom>
            <a:solidFill>
              <a:srgbClr val="4C628F"/>
            </a:soli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kumimoji="1" lang="en-US"/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869D3A84-93FB-46E3-62BF-67C794476C48}"/>
                </a:ext>
              </a:extLst>
            </p:cNvPr>
            <p:cNvCxnSpPr>
              <a:cxnSpLocks/>
              <a:stCxn id="7" idx="6"/>
              <a:endCxn id="51" idx="1"/>
            </p:cNvCxnSpPr>
            <p:nvPr/>
          </p:nvCxnSpPr>
          <p:spPr>
            <a:xfrm>
              <a:off x="2269028" y="3194751"/>
              <a:ext cx="1891254" cy="1318256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2EAB669-81DE-979B-41D6-18BAD9A5C81E}"/>
                </a:ext>
              </a:extLst>
            </p:cNvPr>
            <p:cNvSpPr txBox="1"/>
            <p:nvPr/>
          </p:nvSpPr>
          <p:spPr>
            <a:xfrm>
              <a:off x="1290291" y="2542073"/>
              <a:ext cx="8458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i="1"/>
                <a:t>Super Treater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5CA69CC-4A6C-0033-DD98-0CDB601268D6}"/>
                </a:ext>
              </a:extLst>
            </p:cNvPr>
            <p:cNvSpPr txBox="1"/>
            <p:nvPr/>
          </p:nvSpPr>
          <p:spPr>
            <a:xfrm>
              <a:off x="3715092" y="3579625"/>
              <a:ext cx="1023442" cy="668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i="1"/>
                <a:t>Super </a:t>
              </a:r>
              <a:r>
                <a:rPr lang="en-US" sz="900" b="1" i="1" err="1"/>
                <a:t>Diagnosers</a:t>
              </a:r>
              <a:endParaRPr lang="en-US" sz="900" b="1" i="1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EA6E9D2-5956-BD91-387F-F9828AB8FA86}"/>
                </a:ext>
              </a:extLst>
            </p:cNvPr>
            <p:cNvSpPr txBox="1"/>
            <p:nvPr/>
          </p:nvSpPr>
          <p:spPr>
            <a:xfrm>
              <a:off x="3830431" y="4812571"/>
              <a:ext cx="93040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i="1"/>
                <a:t>Influencer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DB4A7BE2-6A02-90B6-674B-1B8A3C65F128}"/>
                </a:ext>
              </a:extLst>
            </p:cNvPr>
            <p:cNvCxnSpPr>
              <a:cxnSpLocks/>
              <a:stCxn id="7" idx="6"/>
              <a:endCxn id="11" idx="2"/>
            </p:cNvCxnSpPr>
            <p:nvPr/>
          </p:nvCxnSpPr>
          <p:spPr>
            <a:xfrm flipV="1">
              <a:off x="2269028" y="3186528"/>
              <a:ext cx="1606184" cy="8223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6465774-F82B-21E1-97F5-35CC82362ADD}"/>
              </a:ext>
            </a:extLst>
          </p:cNvPr>
          <p:cNvGrpSpPr/>
          <p:nvPr/>
        </p:nvGrpSpPr>
        <p:grpSpPr>
          <a:xfrm>
            <a:off x="6096000" y="1727704"/>
            <a:ext cx="2062535" cy="373641"/>
            <a:chOff x="656630" y="3472821"/>
            <a:chExt cx="2062535" cy="1383909"/>
          </a:xfrm>
        </p:grpSpPr>
        <p:sp>
          <p:nvSpPr>
            <p:cNvPr id="93" name="Pentagon 3">
              <a:extLst>
                <a:ext uri="{FF2B5EF4-FFF2-40B4-BE49-F238E27FC236}">
                  <a16:creationId xmlns:a16="http://schemas.microsoft.com/office/drawing/2014/main" id="{13F8DD98-8A21-A8BB-9BF7-AB2EC5D22748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Super Treaters: 0.47% </a:t>
              </a:r>
              <a:r>
                <a:rPr kumimoji="0" lang="en-US" sz="120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(n=315)</a:t>
              </a:r>
              <a:endParaRPr kumimoji="0" lang="en-US" sz="1400" i="1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94" name="Pentagon 3">
              <a:extLst>
                <a:ext uri="{FF2B5EF4-FFF2-40B4-BE49-F238E27FC236}">
                  <a16:creationId xmlns:a16="http://schemas.microsoft.com/office/drawing/2014/main" id="{E5A29195-CDD3-22FB-6393-9358B1E6A137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F194C72-D239-2C79-39D7-CB18617A5A1E}"/>
              </a:ext>
            </a:extLst>
          </p:cNvPr>
          <p:cNvGrpSpPr/>
          <p:nvPr/>
        </p:nvGrpSpPr>
        <p:grpSpPr>
          <a:xfrm>
            <a:off x="9539851" y="1727704"/>
            <a:ext cx="2062535" cy="373641"/>
            <a:chOff x="656630" y="3472821"/>
            <a:chExt cx="2062535" cy="1383909"/>
          </a:xfrm>
        </p:grpSpPr>
        <p:sp>
          <p:nvSpPr>
            <p:cNvPr id="108" name="Pentagon 3">
              <a:extLst>
                <a:ext uri="{FF2B5EF4-FFF2-40B4-BE49-F238E27FC236}">
                  <a16:creationId xmlns:a16="http://schemas.microsoft.com/office/drawing/2014/main" id="{310C34CE-5EB1-B3A8-47A5-E6E2442B3398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Treaters: 0.43%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</a:br>
              <a:r>
                <a: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(n=286)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109" name="Pentagon 3">
              <a:extLst>
                <a:ext uri="{FF2B5EF4-FFF2-40B4-BE49-F238E27FC236}">
                  <a16:creationId xmlns:a16="http://schemas.microsoft.com/office/drawing/2014/main" id="{2A8003CE-16C9-8BC7-DB36-DD662B6B12FC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F3A7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48089E0-00F1-0358-755E-EE5FC2C4E4CE}"/>
              </a:ext>
            </a:extLst>
          </p:cNvPr>
          <p:cNvGrpSpPr/>
          <p:nvPr/>
        </p:nvGrpSpPr>
        <p:grpSpPr>
          <a:xfrm>
            <a:off x="6096000" y="2419036"/>
            <a:ext cx="2062535" cy="373641"/>
            <a:chOff x="656630" y="3472821"/>
            <a:chExt cx="2062535" cy="1383909"/>
          </a:xfrm>
        </p:grpSpPr>
        <p:sp>
          <p:nvSpPr>
            <p:cNvPr id="111" name="Pentagon 3">
              <a:extLst>
                <a:ext uri="{FF2B5EF4-FFF2-40B4-BE49-F238E27FC236}">
                  <a16:creationId xmlns:a16="http://schemas.microsoft.com/office/drawing/2014/main" id="{B928831B-6107-CAE0-921F-3AD2D5EAC4F1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Super </a:t>
              </a:r>
              <a:r>
                <a:rPr kumimoji="0" lang="en-US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Diagnosers</a:t>
              </a: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: 1.07%</a:t>
              </a:r>
              <a:r>
                <a: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 (n=717)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112" name="Pentagon 3">
              <a:extLst>
                <a:ext uri="{FF2B5EF4-FFF2-40B4-BE49-F238E27FC236}">
                  <a16:creationId xmlns:a16="http://schemas.microsoft.com/office/drawing/2014/main" id="{172FB449-A389-475D-E52B-C115BA89B388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311CD03-44C1-A043-D975-A26C2E31510D}"/>
              </a:ext>
            </a:extLst>
          </p:cNvPr>
          <p:cNvGrpSpPr/>
          <p:nvPr/>
        </p:nvGrpSpPr>
        <p:grpSpPr>
          <a:xfrm>
            <a:off x="9539851" y="2419036"/>
            <a:ext cx="2062535" cy="373641"/>
            <a:chOff x="656630" y="3472821"/>
            <a:chExt cx="2062535" cy="1383909"/>
          </a:xfrm>
        </p:grpSpPr>
        <p:sp>
          <p:nvSpPr>
            <p:cNvPr id="114" name="Pentagon 3">
              <a:extLst>
                <a:ext uri="{FF2B5EF4-FFF2-40B4-BE49-F238E27FC236}">
                  <a16:creationId xmlns:a16="http://schemas.microsoft.com/office/drawing/2014/main" id="{AC2A0F49-FEC3-B382-4FAB-342FC3513FD3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400" b="1" i="0" u="none" strike="noStrike" kern="1200" cap="none" spc="0" normalizeH="0" baseline="0" noProof="0" err="1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Diagnosers</a:t>
              </a: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: 0.64%</a:t>
              </a:r>
            </a:p>
            <a:p>
              <a:r>
                <a: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(n=430)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115" name="Pentagon 3">
              <a:extLst>
                <a:ext uri="{FF2B5EF4-FFF2-40B4-BE49-F238E27FC236}">
                  <a16:creationId xmlns:a16="http://schemas.microsoft.com/office/drawing/2014/main" id="{DD78EEB8-B599-17E1-A5F1-EFB37FB61326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99DF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AB47506-7A23-3ACF-F40E-25359160D3AC}"/>
              </a:ext>
            </a:extLst>
          </p:cNvPr>
          <p:cNvGrpSpPr/>
          <p:nvPr/>
        </p:nvGrpSpPr>
        <p:grpSpPr>
          <a:xfrm>
            <a:off x="6096000" y="3110368"/>
            <a:ext cx="2062535" cy="373641"/>
            <a:chOff x="656630" y="3472821"/>
            <a:chExt cx="2062535" cy="1383909"/>
          </a:xfrm>
        </p:grpSpPr>
        <p:sp>
          <p:nvSpPr>
            <p:cNvPr id="117" name="Pentagon 3">
              <a:extLst>
                <a:ext uri="{FF2B5EF4-FFF2-40B4-BE49-F238E27FC236}">
                  <a16:creationId xmlns:a16="http://schemas.microsoft.com/office/drawing/2014/main" id="{356931DA-CC66-B694-A591-DB8CB38137A3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Bridgers: 0.42%</a:t>
              </a:r>
            </a:p>
            <a:p>
              <a:r>
                <a: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(n=280)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118" name="Pentagon 3">
              <a:extLst>
                <a:ext uri="{FF2B5EF4-FFF2-40B4-BE49-F238E27FC236}">
                  <a16:creationId xmlns:a16="http://schemas.microsoft.com/office/drawing/2014/main" id="{207D95FC-837E-96F8-5FA7-D2AB65F159DA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752E5C0-BB25-292B-50C3-91975F07B2D1}"/>
              </a:ext>
            </a:extLst>
          </p:cNvPr>
          <p:cNvGrpSpPr/>
          <p:nvPr/>
        </p:nvGrpSpPr>
        <p:grpSpPr>
          <a:xfrm>
            <a:off x="6096000" y="3801700"/>
            <a:ext cx="2062535" cy="373641"/>
            <a:chOff x="656630" y="3472821"/>
            <a:chExt cx="2062535" cy="1383909"/>
          </a:xfrm>
        </p:grpSpPr>
        <p:sp>
          <p:nvSpPr>
            <p:cNvPr id="123" name="Pentagon 3">
              <a:extLst>
                <a:ext uri="{FF2B5EF4-FFF2-40B4-BE49-F238E27FC236}">
                  <a16:creationId xmlns:a16="http://schemas.microsoft.com/office/drawing/2014/main" id="{3B317041-C9C0-8A67-6693-FD28C18643F7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Key Influencers: 1.9%</a:t>
              </a:r>
            </a:p>
            <a:p>
              <a:r>
                <a: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(n=1271)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124" name="Pentagon 3">
              <a:extLst>
                <a:ext uri="{FF2B5EF4-FFF2-40B4-BE49-F238E27FC236}">
                  <a16:creationId xmlns:a16="http://schemas.microsoft.com/office/drawing/2014/main" id="{CA9667C6-E8A1-5E64-3922-7B635F27BB60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AFCD821-926B-C280-66EF-B8FA21551A7B}"/>
              </a:ext>
            </a:extLst>
          </p:cNvPr>
          <p:cNvGrpSpPr/>
          <p:nvPr/>
        </p:nvGrpSpPr>
        <p:grpSpPr>
          <a:xfrm>
            <a:off x="9539851" y="3801700"/>
            <a:ext cx="2062535" cy="373641"/>
            <a:chOff x="656630" y="3472821"/>
            <a:chExt cx="2062535" cy="1383909"/>
          </a:xfrm>
        </p:grpSpPr>
        <p:sp>
          <p:nvSpPr>
            <p:cNvPr id="126" name="Pentagon 3">
              <a:extLst>
                <a:ext uri="{FF2B5EF4-FFF2-40B4-BE49-F238E27FC236}">
                  <a16:creationId xmlns:a16="http://schemas.microsoft.com/office/drawing/2014/main" id="{F1598405-4CCF-A206-FD1A-49AC5A092D42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Influencers: 0.93%</a:t>
              </a:r>
            </a:p>
            <a:p>
              <a:r>
                <a: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(n=628)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127" name="Pentagon 3">
              <a:extLst>
                <a:ext uri="{FF2B5EF4-FFF2-40B4-BE49-F238E27FC236}">
                  <a16:creationId xmlns:a16="http://schemas.microsoft.com/office/drawing/2014/main" id="{EECFF1BC-45A4-AC58-813A-BA45CA2E1D55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99A6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CF2D5B7-BA71-B8B6-695E-E88390079174}"/>
              </a:ext>
            </a:extLst>
          </p:cNvPr>
          <p:cNvGrpSpPr/>
          <p:nvPr/>
        </p:nvGrpSpPr>
        <p:grpSpPr>
          <a:xfrm>
            <a:off x="6096000" y="4493031"/>
            <a:ext cx="2062535" cy="373641"/>
            <a:chOff x="656630" y="3472821"/>
            <a:chExt cx="2062535" cy="1383909"/>
          </a:xfrm>
        </p:grpSpPr>
        <p:sp>
          <p:nvSpPr>
            <p:cNvPr id="129" name="Pentagon 3">
              <a:extLst>
                <a:ext uri="{FF2B5EF4-FFF2-40B4-BE49-F238E27FC236}">
                  <a16:creationId xmlns:a16="http://schemas.microsoft.com/office/drawing/2014/main" id="{8A824CF8-48E7-FB04-10B2-C6E67FB76EF2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Super Referrers: 0.82%</a:t>
              </a:r>
            </a:p>
            <a:p>
              <a:r>
                <a: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(n=549)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130" name="Pentagon 3">
              <a:extLst>
                <a:ext uri="{FF2B5EF4-FFF2-40B4-BE49-F238E27FC236}">
                  <a16:creationId xmlns:a16="http://schemas.microsoft.com/office/drawing/2014/main" id="{A33B6697-F80A-FE9B-1A10-F18CAC7A5D8D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139A014-9E6B-E0C1-39D2-55E8AF496B5F}"/>
              </a:ext>
            </a:extLst>
          </p:cNvPr>
          <p:cNvGrpSpPr/>
          <p:nvPr/>
        </p:nvGrpSpPr>
        <p:grpSpPr>
          <a:xfrm>
            <a:off x="9539851" y="4493031"/>
            <a:ext cx="2062535" cy="373641"/>
            <a:chOff x="656630" y="3472821"/>
            <a:chExt cx="2062535" cy="1383909"/>
          </a:xfrm>
        </p:grpSpPr>
        <p:sp>
          <p:nvSpPr>
            <p:cNvPr id="132" name="Pentagon 3">
              <a:extLst>
                <a:ext uri="{FF2B5EF4-FFF2-40B4-BE49-F238E27FC236}">
                  <a16:creationId xmlns:a16="http://schemas.microsoft.com/office/drawing/2014/main" id="{8BBF434F-3E1E-607B-B2E9-0FF4479C6B42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Referrers: 67%</a:t>
              </a:r>
            </a:p>
            <a:p>
              <a:r>
                <a:rPr kumimoji="0" lang="en-US" sz="1200" b="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(n=44,753)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133" name="Pentagon 3">
              <a:extLst>
                <a:ext uri="{FF2B5EF4-FFF2-40B4-BE49-F238E27FC236}">
                  <a16:creationId xmlns:a16="http://schemas.microsoft.com/office/drawing/2014/main" id="{02AFCD8D-B485-962B-EEE9-105BA267E224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rgbClr val="F3A7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7D916AA0-7340-94B5-D5A0-DDC23777572B}"/>
              </a:ext>
            </a:extLst>
          </p:cNvPr>
          <p:cNvSpPr/>
          <p:nvPr/>
        </p:nvSpPr>
        <p:spPr>
          <a:xfrm>
            <a:off x="5817375" y="5387787"/>
            <a:ext cx="2737982" cy="1028887"/>
          </a:xfrm>
          <a:prstGeom prst="roundRect">
            <a:avLst>
              <a:gd name="adj" fmla="val 7621"/>
            </a:avLst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kumimoji="1" lang="en-US" sz="1200" b="1"/>
              <a:t>Total HCPs</a:t>
            </a:r>
            <a:r>
              <a:rPr kumimoji="1" lang="en-US" sz="1200"/>
              <a:t>: 3,132 </a:t>
            </a:r>
            <a:r>
              <a:rPr kumimoji="1" lang="en-US" sz="1100" i="1"/>
              <a:t>(5% of the Universe)</a:t>
            </a:r>
          </a:p>
          <a:p>
            <a:pPr>
              <a:spcBef>
                <a:spcPts val="600"/>
              </a:spcBef>
            </a:pPr>
            <a:r>
              <a:rPr kumimoji="1" lang="en-US" sz="1200" b="1"/>
              <a:t>% of Identified Targets Covered</a:t>
            </a:r>
            <a:r>
              <a:rPr kumimoji="1" lang="en-US" sz="1200" b="1" baseline="30000"/>
              <a:t>*</a:t>
            </a:r>
            <a:r>
              <a:rPr kumimoji="1" lang="en-US" sz="1200" b="1"/>
              <a:t>: </a:t>
            </a:r>
            <a:r>
              <a:rPr kumimoji="1" lang="en-US" sz="1200"/>
              <a:t>29%</a:t>
            </a:r>
            <a:r>
              <a:rPr kumimoji="1" lang="en-US" sz="1200" b="1"/>
              <a:t> </a:t>
            </a:r>
          </a:p>
          <a:p>
            <a:pPr>
              <a:spcBef>
                <a:spcPts val="600"/>
              </a:spcBef>
            </a:pPr>
            <a:r>
              <a:rPr kumimoji="1" lang="en-US" sz="1200" b="1"/>
              <a:t>% of Identified Decile 6-10 Targets Covered</a:t>
            </a:r>
            <a:r>
              <a:rPr kumimoji="1" lang="en-US" sz="1200" b="1" baseline="30000"/>
              <a:t>^</a:t>
            </a:r>
            <a:r>
              <a:rPr kumimoji="1" lang="en-US" sz="1200" b="1"/>
              <a:t>: </a:t>
            </a:r>
            <a:r>
              <a:rPr kumimoji="1" lang="en-US" sz="1200"/>
              <a:t>62%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04FDACAF-FB2E-759D-970D-E7AF315A98C1}"/>
              </a:ext>
            </a:extLst>
          </p:cNvPr>
          <p:cNvSpPr/>
          <p:nvPr/>
        </p:nvSpPr>
        <p:spPr>
          <a:xfrm>
            <a:off x="9149591" y="5387787"/>
            <a:ext cx="2737982" cy="1028887"/>
          </a:xfrm>
          <a:prstGeom prst="roundRect">
            <a:avLst>
              <a:gd name="adj" fmla="val 7621"/>
            </a:avLst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r>
              <a:rPr kumimoji="1" lang="en-US" sz="1200" b="1"/>
              <a:t>Total HCPs</a:t>
            </a:r>
            <a:r>
              <a:rPr kumimoji="1" lang="en-US" sz="1200"/>
              <a:t>: 46,097 </a:t>
            </a:r>
            <a:r>
              <a:rPr kumimoji="1" lang="en-US" sz="1100" i="1"/>
              <a:t>(69% of the Universe)</a:t>
            </a:r>
          </a:p>
          <a:p>
            <a:pPr>
              <a:spcBef>
                <a:spcPts val="600"/>
              </a:spcBef>
            </a:pPr>
            <a:r>
              <a:rPr kumimoji="1" lang="en-US" sz="1200" b="1"/>
              <a:t>% of Identified Targets Covered*: </a:t>
            </a:r>
            <a:r>
              <a:rPr kumimoji="1" lang="en-US" sz="1200"/>
              <a:t>46%</a:t>
            </a:r>
            <a:r>
              <a:rPr kumimoji="1" lang="en-US" sz="1200" b="1"/>
              <a:t> </a:t>
            </a:r>
          </a:p>
          <a:p>
            <a:pPr>
              <a:spcBef>
                <a:spcPts val="600"/>
              </a:spcBef>
            </a:pPr>
            <a:r>
              <a:rPr kumimoji="1" lang="en-US" sz="1200" b="1"/>
              <a:t>% of Identified Decile 6-10 Targets Covered^: </a:t>
            </a:r>
            <a:r>
              <a:rPr kumimoji="1" lang="en-US" sz="1200"/>
              <a:t>28%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394E395-145B-08E1-EC4B-3BBE093BC05B}"/>
              </a:ext>
            </a:extLst>
          </p:cNvPr>
          <p:cNvSpPr/>
          <p:nvPr/>
        </p:nvSpPr>
        <p:spPr>
          <a:xfrm>
            <a:off x="340659" y="1488141"/>
            <a:ext cx="4554070" cy="4329953"/>
          </a:xfrm>
          <a:custGeom>
            <a:avLst/>
            <a:gdLst>
              <a:gd name="csX0" fmla="*/ 806823 w 4554070"/>
              <a:gd name="csY0" fmla="*/ 215153 h 4329953"/>
              <a:gd name="csX1" fmla="*/ 806823 w 4554070"/>
              <a:gd name="csY1" fmla="*/ 215153 h 4329953"/>
              <a:gd name="csX2" fmla="*/ 1111623 w 4554070"/>
              <a:gd name="csY2" fmla="*/ 116541 h 4329953"/>
              <a:gd name="csX3" fmla="*/ 1622612 w 4554070"/>
              <a:gd name="csY3" fmla="*/ 35859 h 4329953"/>
              <a:gd name="csX4" fmla="*/ 2052917 w 4554070"/>
              <a:gd name="csY4" fmla="*/ 0 h 4329953"/>
              <a:gd name="csX5" fmla="*/ 2626659 w 4554070"/>
              <a:gd name="csY5" fmla="*/ 89647 h 4329953"/>
              <a:gd name="csX6" fmla="*/ 2904565 w 4554070"/>
              <a:gd name="csY6" fmla="*/ 224118 h 4329953"/>
              <a:gd name="csX7" fmla="*/ 3048000 w 4554070"/>
              <a:gd name="csY7" fmla="*/ 322730 h 4329953"/>
              <a:gd name="csX8" fmla="*/ 3343835 w 4554070"/>
              <a:gd name="csY8" fmla="*/ 466165 h 4329953"/>
              <a:gd name="csX9" fmla="*/ 3478306 w 4554070"/>
              <a:gd name="csY9" fmla="*/ 582706 h 4329953"/>
              <a:gd name="csX10" fmla="*/ 3514165 w 4554070"/>
              <a:gd name="csY10" fmla="*/ 618565 h 4329953"/>
              <a:gd name="csX11" fmla="*/ 3558988 w 4554070"/>
              <a:gd name="csY11" fmla="*/ 645459 h 4329953"/>
              <a:gd name="csX12" fmla="*/ 3594847 w 4554070"/>
              <a:gd name="csY12" fmla="*/ 672353 h 4329953"/>
              <a:gd name="csX13" fmla="*/ 3648635 w 4554070"/>
              <a:gd name="csY13" fmla="*/ 699247 h 4329953"/>
              <a:gd name="csX14" fmla="*/ 3711388 w 4554070"/>
              <a:gd name="csY14" fmla="*/ 735106 h 4329953"/>
              <a:gd name="csX15" fmla="*/ 3863788 w 4554070"/>
              <a:gd name="csY15" fmla="*/ 851647 h 4329953"/>
              <a:gd name="csX16" fmla="*/ 4043082 w 4554070"/>
              <a:gd name="csY16" fmla="*/ 1066800 h 4329953"/>
              <a:gd name="csX17" fmla="*/ 4087906 w 4554070"/>
              <a:gd name="csY17" fmla="*/ 1129553 h 4329953"/>
              <a:gd name="csX18" fmla="*/ 4141694 w 4554070"/>
              <a:gd name="csY18" fmla="*/ 1183341 h 4329953"/>
              <a:gd name="csX19" fmla="*/ 4231341 w 4554070"/>
              <a:gd name="csY19" fmla="*/ 1290918 h 4329953"/>
              <a:gd name="csX20" fmla="*/ 4276165 w 4554070"/>
              <a:gd name="csY20" fmla="*/ 1344706 h 4329953"/>
              <a:gd name="csX21" fmla="*/ 4410635 w 4554070"/>
              <a:gd name="csY21" fmla="*/ 1550894 h 4329953"/>
              <a:gd name="csX22" fmla="*/ 4473388 w 4554070"/>
              <a:gd name="csY22" fmla="*/ 1721224 h 4329953"/>
              <a:gd name="csX23" fmla="*/ 4527176 w 4554070"/>
              <a:gd name="csY23" fmla="*/ 1810871 h 4329953"/>
              <a:gd name="csX24" fmla="*/ 4527176 w 4554070"/>
              <a:gd name="csY24" fmla="*/ 1819835 h 4329953"/>
              <a:gd name="csX25" fmla="*/ 4554070 w 4554070"/>
              <a:gd name="csY25" fmla="*/ 2492188 h 4329953"/>
              <a:gd name="csX26" fmla="*/ 4123765 w 4554070"/>
              <a:gd name="csY26" fmla="*/ 3792071 h 4329953"/>
              <a:gd name="csX27" fmla="*/ 3836894 w 4554070"/>
              <a:gd name="csY27" fmla="*/ 4034118 h 4329953"/>
              <a:gd name="csX28" fmla="*/ 2438400 w 4554070"/>
              <a:gd name="csY28" fmla="*/ 4329953 h 4329953"/>
              <a:gd name="csX29" fmla="*/ 394447 w 4554070"/>
              <a:gd name="csY29" fmla="*/ 4087906 h 4329953"/>
              <a:gd name="csX30" fmla="*/ 224117 w 4554070"/>
              <a:gd name="csY30" fmla="*/ 3917577 h 4329953"/>
              <a:gd name="csX31" fmla="*/ 71717 w 4554070"/>
              <a:gd name="csY31" fmla="*/ 3720353 h 4329953"/>
              <a:gd name="csX32" fmla="*/ 0 w 4554070"/>
              <a:gd name="csY32" fmla="*/ 3505200 h 4329953"/>
              <a:gd name="csX33" fmla="*/ 8965 w 4554070"/>
              <a:gd name="csY33" fmla="*/ 3307977 h 4329953"/>
              <a:gd name="csX34" fmla="*/ 17929 w 4554070"/>
              <a:gd name="csY34" fmla="*/ 3245224 h 4329953"/>
              <a:gd name="csX35" fmla="*/ 44823 w 4554070"/>
              <a:gd name="csY35" fmla="*/ 3092824 h 4329953"/>
              <a:gd name="csX36" fmla="*/ 53788 w 4554070"/>
              <a:gd name="csY36" fmla="*/ 2779059 h 4329953"/>
              <a:gd name="csX37" fmla="*/ 44823 w 4554070"/>
              <a:gd name="csY37" fmla="*/ 2474259 h 4329953"/>
              <a:gd name="csX38" fmla="*/ 44823 w 4554070"/>
              <a:gd name="csY38" fmla="*/ 2286000 h 4329953"/>
              <a:gd name="csX39" fmla="*/ 107576 w 4554070"/>
              <a:gd name="csY39" fmla="*/ 484094 h 4329953"/>
              <a:gd name="csX40" fmla="*/ 806823 w 4554070"/>
              <a:gd name="csY40" fmla="*/ 215153 h 4329953"/>
              <a:gd name="csX0" fmla="*/ 806823 w 4554070"/>
              <a:gd name="csY0" fmla="*/ 215153 h 4329953"/>
              <a:gd name="csX1" fmla="*/ 806823 w 4554070"/>
              <a:gd name="csY1" fmla="*/ 215153 h 4329953"/>
              <a:gd name="csX2" fmla="*/ 1111623 w 4554070"/>
              <a:gd name="csY2" fmla="*/ 116541 h 4329953"/>
              <a:gd name="csX3" fmla="*/ 1622612 w 4554070"/>
              <a:gd name="csY3" fmla="*/ 35859 h 4329953"/>
              <a:gd name="csX4" fmla="*/ 2052917 w 4554070"/>
              <a:gd name="csY4" fmla="*/ 0 h 4329953"/>
              <a:gd name="csX5" fmla="*/ 2626659 w 4554070"/>
              <a:gd name="csY5" fmla="*/ 89647 h 4329953"/>
              <a:gd name="csX6" fmla="*/ 2904565 w 4554070"/>
              <a:gd name="csY6" fmla="*/ 224118 h 4329953"/>
              <a:gd name="csX7" fmla="*/ 3048000 w 4554070"/>
              <a:gd name="csY7" fmla="*/ 322730 h 4329953"/>
              <a:gd name="csX8" fmla="*/ 3343835 w 4554070"/>
              <a:gd name="csY8" fmla="*/ 466165 h 4329953"/>
              <a:gd name="csX9" fmla="*/ 3478306 w 4554070"/>
              <a:gd name="csY9" fmla="*/ 582706 h 4329953"/>
              <a:gd name="csX10" fmla="*/ 3514165 w 4554070"/>
              <a:gd name="csY10" fmla="*/ 618565 h 4329953"/>
              <a:gd name="csX11" fmla="*/ 3558988 w 4554070"/>
              <a:gd name="csY11" fmla="*/ 645459 h 4329953"/>
              <a:gd name="csX12" fmla="*/ 3594847 w 4554070"/>
              <a:gd name="csY12" fmla="*/ 672353 h 4329953"/>
              <a:gd name="csX13" fmla="*/ 3648635 w 4554070"/>
              <a:gd name="csY13" fmla="*/ 699247 h 4329953"/>
              <a:gd name="csX14" fmla="*/ 3711388 w 4554070"/>
              <a:gd name="csY14" fmla="*/ 735106 h 4329953"/>
              <a:gd name="csX15" fmla="*/ 3863788 w 4554070"/>
              <a:gd name="csY15" fmla="*/ 851647 h 4329953"/>
              <a:gd name="csX16" fmla="*/ 4043082 w 4554070"/>
              <a:gd name="csY16" fmla="*/ 1066800 h 4329953"/>
              <a:gd name="csX17" fmla="*/ 4087906 w 4554070"/>
              <a:gd name="csY17" fmla="*/ 1129553 h 4329953"/>
              <a:gd name="csX18" fmla="*/ 4141694 w 4554070"/>
              <a:gd name="csY18" fmla="*/ 1183341 h 4329953"/>
              <a:gd name="csX19" fmla="*/ 4231341 w 4554070"/>
              <a:gd name="csY19" fmla="*/ 1290918 h 4329953"/>
              <a:gd name="csX20" fmla="*/ 4276165 w 4554070"/>
              <a:gd name="csY20" fmla="*/ 1344706 h 4329953"/>
              <a:gd name="csX21" fmla="*/ 4410635 w 4554070"/>
              <a:gd name="csY21" fmla="*/ 1550894 h 4329953"/>
              <a:gd name="csX22" fmla="*/ 4473388 w 4554070"/>
              <a:gd name="csY22" fmla="*/ 1721224 h 4329953"/>
              <a:gd name="csX23" fmla="*/ 4527176 w 4554070"/>
              <a:gd name="csY23" fmla="*/ 1810871 h 4329953"/>
              <a:gd name="csX24" fmla="*/ 4527176 w 4554070"/>
              <a:gd name="csY24" fmla="*/ 1819835 h 4329953"/>
              <a:gd name="csX25" fmla="*/ 4554070 w 4554070"/>
              <a:gd name="csY25" fmla="*/ 2492188 h 4329953"/>
              <a:gd name="csX26" fmla="*/ 4123765 w 4554070"/>
              <a:gd name="csY26" fmla="*/ 3792071 h 4329953"/>
              <a:gd name="csX27" fmla="*/ 3836894 w 4554070"/>
              <a:gd name="csY27" fmla="*/ 4034118 h 4329953"/>
              <a:gd name="csX28" fmla="*/ 2438400 w 4554070"/>
              <a:gd name="csY28" fmla="*/ 4329953 h 4329953"/>
              <a:gd name="csX29" fmla="*/ 394447 w 4554070"/>
              <a:gd name="csY29" fmla="*/ 4087906 h 4329953"/>
              <a:gd name="csX30" fmla="*/ 224117 w 4554070"/>
              <a:gd name="csY30" fmla="*/ 3917577 h 4329953"/>
              <a:gd name="csX31" fmla="*/ 71717 w 4554070"/>
              <a:gd name="csY31" fmla="*/ 3720353 h 4329953"/>
              <a:gd name="csX32" fmla="*/ 0 w 4554070"/>
              <a:gd name="csY32" fmla="*/ 3505200 h 4329953"/>
              <a:gd name="csX33" fmla="*/ 8965 w 4554070"/>
              <a:gd name="csY33" fmla="*/ 3307977 h 4329953"/>
              <a:gd name="csX34" fmla="*/ 17929 w 4554070"/>
              <a:gd name="csY34" fmla="*/ 3245224 h 4329953"/>
              <a:gd name="csX35" fmla="*/ 44823 w 4554070"/>
              <a:gd name="csY35" fmla="*/ 3092824 h 4329953"/>
              <a:gd name="csX36" fmla="*/ 53788 w 4554070"/>
              <a:gd name="csY36" fmla="*/ 2779059 h 4329953"/>
              <a:gd name="csX37" fmla="*/ 44823 w 4554070"/>
              <a:gd name="csY37" fmla="*/ 2474259 h 4329953"/>
              <a:gd name="csX38" fmla="*/ 44823 w 4554070"/>
              <a:gd name="csY38" fmla="*/ 2286000 h 4329953"/>
              <a:gd name="csX39" fmla="*/ 152399 w 4554070"/>
              <a:gd name="csY39" fmla="*/ 1057835 h 4329953"/>
              <a:gd name="csX40" fmla="*/ 806823 w 4554070"/>
              <a:gd name="csY40" fmla="*/ 215153 h 4329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4554070" h="4329953">
                <a:moveTo>
                  <a:pt x="806823" y="215153"/>
                </a:moveTo>
                <a:lnTo>
                  <a:pt x="806823" y="215153"/>
                </a:lnTo>
                <a:cubicBezTo>
                  <a:pt x="908423" y="182282"/>
                  <a:pt x="1008026" y="142440"/>
                  <a:pt x="1111623" y="116541"/>
                </a:cubicBezTo>
                <a:cubicBezTo>
                  <a:pt x="1150827" y="106740"/>
                  <a:pt x="1569041" y="41573"/>
                  <a:pt x="1622612" y="35859"/>
                </a:cubicBezTo>
                <a:cubicBezTo>
                  <a:pt x="1765732" y="20593"/>
                  <a:pt x="2052917" y="0"/>
                  <a:pt x="2052917" y="0"/>
                </a:cubicBezTo>
                <a:cubicBezTo>
                  <a:pt x="2380999" y="30519"/>
                  <a:pt x="2376210" y="6164"/>
                  <a:pt x="2626659" y="89647"/>
                </a:cubicBezTo>
                <a:cubicBezTo>
                  <a:pt x="2734701" y="125661"/>
                  <a:pt x="2806960" y="163115"/>
                  <a:pt x="2904565" y="224118"/>
                </a:cubicBezTo>
                <a:cubicBezTo>
                  <a:pt x="2953767" y="254869"/>
                  <a:pt x="2998798" y="291979"/>
                  <a:pt x="3048000" y="322730"/>
                </a:cubicBezTo>
                <a:cubicBezTo>
                  <a:pt x="3183240" y="407255"/>
                  <a:pt x="3196871" y="405650"/>
                  <a:pt x="3343835" y="466165"/>
                </a:cubicBezTo>
                <a:cubicBezTo>
                  <a:pt x="3388659" y="505012"/>
                  <a:pt x="3436364" y="540764"/>
                  <a:pt x="3478306" y="582706"/>
                </a:cubicBezTo>
                <a:cubicBezTo>
                  <a:pt x="3490259" y="594659"/>
                  <a:pt x="3500822" y="608187"/>
                  <a:pt x="3514165" y="618565"/>
                </a:cubicBezTo>
                <a:cubicBezTo>
                  <a:pt x="3527919" y="629262"/>
                  <a:pt x="3544490" y="635794"/>
                  <a:pt x="3558988" y="645459"/>
                </a:cubicBezTo>
                <a:cubicBezTo>
                  <a:pt x="3571420" y="653747"/>
                  <a:pt x="3582035" y="664666"/>
                  <a:pt x="3594847" y="672353"/>
                </a:cubicBezTo>
                <a:cubicBezTo>
                  <a:pt x="3612036" y="682666"/>
                  <a:pt x="3630985" y="689743"/>
                  <a:pt x="3648635" y="699247"/>
                </a:cubicBezTo>
                <a:cubicBezTo>
                  <a:pt x="3669847" y="710669"/>
                  <a:pt x="3690958" y="722337"/>
                  <a:pt x="3711388" y="735106"/>
                </a:cubicBezTo>
                <a:cubicBezTo>
                  <a:pt x="3784673" y="780909"/>
                  <a:pt x="3800989" y="792773"/>
                  <a:pt x="3863788" y="851647"/>
                </a:cubicBezTo>
                <a:cubicBezTo>
                  <a:pt x="3957205" y="939226"/>
                  <a:pt x="3951567" y="942986"/>
                  <a:pt x="4043082" y="1066800"/>
                </a:cubicBezTo>
                <a:cubicBezTo>
                  <a:pt x="4058361" y="1087472"/>
                  <a:pt x="4069729" y="1111376"/>
                  <a:pt x="4087906" y="1129553"/>
                </a:cubicBezTo>
                <a:cubicBezTo>
                  <a:pt x="4105835" y="1147482"/>
                  <a:pt x="4124848" y="1164390"/>
                  <a:pt x="4141694" y="1183341"/>
                </a:cubicBezTo>
                <a:cubicBezTo>
                  <a:pt x="4172705" y="1218229"/>
                  <a:pt x="4201459" y="1255059"/>
                  <a:pt x="4231341" y="1290918"/>
                </a:cubicBezTo>
                <a:lnTo>
                  <a:pt x="4276165" y="1344706"/>
                </a:lnTo>
                <a:cubicBezTo>
                  <a:pt x="4331801" y="1411469"/>
                  <a:pt x="4377129" y="1459949"/>
                  <a:pt x="4410635" y="1550894"/>
                </a:cubicBezTo>
                <a:cubicBezTo>
                  <a:pt x="4431553" y="1607671"/>
                  <a:pt x="4449812" y="1665499"/>
                  <a:pt x="4473388" y="1721224"/>
                </a:cubicBezTo>
                <a:cubicBezTo>
                  <a:pt x="4541267" y="1881665"/>
                  <a:pt x="4483954" y="1724428"/>
                  <a:pt x="4527176" y="1810871"/>
                </a:cubicBezTo>
                <a:cubicBezTo>
                  <a:pt x="4528512" y="1813544"/>
                  <a:pt x="4527176" y="1816847"/>
                  <a:pt x="4527176" y="1819835"/>
                </a:cubicBezTo>
                <a:lnTo>
                  <a:pt x="4554070" y="2492188"/>
                </a:lnTo>
                <a:lnTo>
                  <a:pt x="4123765" y="3792071"/>
                </a:lnTo>
                <a:lnTo>
                  <a:pt x="3836894" y="4034118"/>
                </a:lnTo>
                <a:lnTo>
                  <a:pt x="2438400" y="4329953"/>
                </a:lnTo>
                <a:lnTo>
                  <a:pt x="394447" y="4087906"/>
                </a:lnTo>
                <a:cubicBezTo>
                  <a:pt x="337670" y="4031130"/>
                  <a:pt x="279923" y="3975307"/>
                  <a:pt x="224117" y="3917577"/>
                </a:cubicBezTo>
                <a:cubicBezTo>
                  <a:pt x="159953" y="3851201"/>
                  <a:pt x="112983" y="3802885"/>
                  <a:pt x="71717" y="3720353"/>
                </a:cubicBezTo>
                <a:cubicBezTo>
                  <a:pt x="37864" y="3652646"/>
                  <a:pt x="18266" y="3578260"/>
                  <a:pt x="0" y="3505200"/>
                </a:cubicBezTo>
                <a:cubicBezTo>
                  <a:pt x="2988" y="3439459"/>
                  <a:pt x="4437" y="3373630"/>
                  <a:pt x="8965" y="3307977"/>
                </a:cubicBezTo>
                <a:cubicBezTo>
                  <a:pt x="10419" y="3286897"/>
                  <a:pt x="15136" y="3266169"/>
                  <a:pt x="17929" y="3245224"/>
                </a:cubicBezTo>
                <a:cubicBezTo>
                  <a:pt x="32373" y="3136890"/>
                  <a:pt x="19310" y="3207635"/>
                  <a:pt x="44823" y="3092824"/>
                </a:cubicBezTo>
                <a:cubicBezTo>
                  <a:pt x="47811" y="2988236"/>
                  <a:pt x="53788" y="2883690"/>
                  <a:pt x="53788" y="2779059"/>
                </a:cubicBezTo>
                <a:cubicBezTo>
                  <a:pt x="53788" y="2677415"/>
                  <a:pt x="46671" y="2575886"/>
                  <a:pt x="44823" y="2474259"/>
                </a:cubicBezTo>
                <a:cubicBezTo>
                  <a:pt x="43682" y="2411516"/>
                  <a:pt x="44823" y="2348753"/>
                  <a:pt x="44823" y="2286000"/>
                </a:cubicBezTo>
                <a:lnTo>
                  <a:pt x="152399" y="1057835"/>
                </a:lnTo>
                <a:lnTo>
                  <a:pt x="806823" y="215153"/>
                </a:lnTo>
                <a:close/>
              </a:path>
            </a:pathLst>
          </a:custGeom>
          <a:noFill/>
          <a:ln w="12700">
            <a:solidFill>
              <a:schemeClr val="bg1">
                <a:lumMod val="85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3E802F-DDDB-72C3-2B5F-4C3039507D0C}"/>
              </a:ext>
            </a:extLst>
          </p:cNvPr>
          <p:cNvSpPr/>
          <p:nvPr/>
        </p:nvSpPr>
        <p:spPr>
          <a:xfrm>
            <a:off x="606078" y="6417980"/>
            <a:ext cx="6507092" cy="266657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t"/>
          <a:lstStyle/>
          <a:p>
            <a:r>
              <a:rPr kumimoji="1" lang="en-US" sz="800"/>
              <a:t>* Amongst target list HCPs who are part of Referral Universe : N=7562</a:t>
            </a:r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A18B488A-932B-2884-552A-8F356BA3EC12}"/>
              </a:ext>
            </a:extLst>
          </p:cNvPr>
          <p:cNvSpPr/>
          <p:nvPr/>
        </p:nvSpPr>
        <p:spPr>
          <a:xfrm>
            <a:off x="8743507" y="5819523"/>
            <a:ext cx="217934" cy="210055"/>
          </a:xfrm>
          <a:prstGeom prst="plus">
            <a:avLst>
              <a:gd name="adj" fmla="val 44064"/>
            </a:avLst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571560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3F307-F3BE-D3FA-300A-E607DC2C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B4D43C-C845-254A-7AE9-AF355197D1D4}"/>
              </a:ext>
            </a:extLst>
          </p:cNvPr>
          <p:cNvCxnSpPr>
            <a:cxnSpLocks/>
            <a:stCxn id="5" idx="1"/>
          </p:cNvCxnSpPr>
          <p:nvPr/>
        </p:nvCxnSpPr>
        <p:spPr>
          <a:xfrm flipV="1">
            <a:off x="687410" y="1778324"/>
            <a:ext cx="10894990" cy="1"/>
          </a:xfrm>
          <a:prstGeom prst="straightConnector1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B1111A3A-DA6D-0909-A218-8B3D17110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03" y="161605"/>
            <a:ext cx="10111766" cy="685801"/>
          </a:xfrm>
        </p:spPr>
        <p:txBody>
          <a:bodyPr>
            <a:noAutofit/>
          </a:bodyPr>
          <a:lstStyle/>
          <a:p>
            <a:r>
              <a:rPr lang="en-US" sz="2000" noProof="0">
                <a:latin typeface="+mj-lt"/>
              </a:rPr>
              <a:t>While Super </a:t>
            </a:r>
            <a:r>
              <a:rPr lang="en-US" sz="2000" noProof="0" err="1">
                <a:latin typeface="+mj-lt"/>
              </a:rPr>
              <a:t>Diagnosers</a:t>
            </a:r>
            <a:r>
              <a:rPr lang="en-US" sz="2000" noProof="0">
                <a:latin typeface="+mj-lt"/>
              </a:rPr>
              <a:t> and Key Influencers drive the highest share of top-decile targets, they require fundamentally different engagement strategies due to distinct specialty and profile mix</a:t>
            </a:r>
          </a:p>
        </p:txBody>
      </p:sp>
      <p:sp>
        <p:nvSpPr>
          <p:cNvPr id="39" name="Slide Number Placeholder 4">
            <a:extLst>
              <a:ext uri="{FF2B5EF4-FFF2-40B4-BE49-F238E27FC236}">
                <a16:creationId xmlns:a16="http://schemas.microsoft.com/office/drawing/2014/main" id="{B2228A14-EF5B-9452-BD5F-5D3486FA9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1150" y="6523001"/>
            <a:ext cx="294928" cy="196131"/>
          </a:xfrm>
        </p:spPr>
        <p:txBody>
          <a:bodyPr/>
          <a:lstStyle/>
          <a:p>
            <a:pPr defTabSz="1218810"/>
            <a:fld id="{E9B57936-92EF-4126-AE48-1D9D36D15E98}" type="slidenum">
              <a:rPr lang="ja-JP" altLang="en-US" smtClean="0"/>
              <a:pPr defTabSz="1218810"/>
              <a:t>8</a:t>
            </a:fld>
            <a:endParaRPr lang="ja-JP" altLang="en-US"/>
          </a:p>
        </p:txBody>
      </p:sp>
      <p:sp>
        <p:nvSpPr>
          <p:cNvPr id="5" name="Pentagon 3">
            <a:extLst>
              <a:ext uri="{FF2B5EF4-FFF2-40B4-BE49-F238E27FC236}">
                <a16:creationId xmlns:a16="http://schemas.microsoft.com/office/drawing/2014/main" id="{2DC4E77C-DC69-A399-B7FA-E27558635428}"/>
              </a:ext>
            </a:extLst>
          </p:cNvPr>
          <p:cNvSpPr/>
          <p:nvPr/>
        </p:nvSpPr>
        <p:spPr>
          <a:xfrm>
            <a:off x="687410" y="1644995"/>
            <a:ext cx="2039674" cy="26665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rPr>
              <a:t>Super Referrers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0C66C99-DD47-750A-84EA-933D0CDF6301}"/>
              </a:ext>
            </a:extLst>
          </p:cNvPr>
          <p:cNvGrpSpPr/>
          <p:nvPr/>
        </p:nvGrpSpPr>
        <p:grpSpPr>
          <a:xfrm>
            <a:off x="1464931" y="993594"/>
            <a:ext cx="484632" cy="484631"/>
            <a:chOff x="10962044" y="4875330"/>
            <a:chExt cx="338329" cy="338059"/>
          </a:xfrm>
          <a:solidFill>
            <a:srgbClr val="002060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F48A760-6B03-8604-55D3-F7B09998C87C}"/>
                </a:ext>
              </a:extLst>
            </p:cNvPr>
            <p:cNvSpPr/>
            <p:nvPr/>
          </p:nvSpPr>
          <p:spPr>
            <a:xfrm>
              <a:off x="10962044" y="4956914"/>
              <a:ext cx="208190" cy="256475"/>
            </a:xfrm>
            <a:custGeom>
              <a:avLst/>
              <a:gdLst>
                <a:gd name="connsiteX0" fmla="*/ 1567960 w 2326195"/>
                <a:gd name="connsiteY0" fmla="*/ 1192881 h 2865702"/>
                <a:gd name="connsiteX1" fmla="*/ 1626748 w 2326195"/>
                <a:gd name="connsiteY1" fmla="*/ 1095398 h 2865702"/>
                <a:gd name="connsiteX2" fmla="*/ 1628981 w 2326195"/>
                <a:gd name="connsiteY2" fmla="*/ 1090933 h 2865702"/>
                <a:gd name="connsiteX3" fmla="*/ 1658002 w 2326195"/>
                <a:gd name="connsiteY3" fmla="*/ 1033634 h 2865702"/>
                <a:gd name="connsiteX4" fmla="*/ 1670651 w 2326195"/>
                <a:gd name="connsiteY4" fmla="*/ 1005356 h 2865702"/>
                <a:gd name="connsiteX5" fmla="*/ 1687022 w 2326195"/>
                <a:gd name="connsiteY5" fmla="*/ 967405 h 2865702"/>
                <a:gd name="connsiteX6" fmla="*/ 1704884 w 2326195"/>
                <a:gd name="connsiteY6" fmla="*/ 920523 h 2865702"/>
                <a:gd name="connsiteX7" fmla="*/ 1713814 w 2326195"/>
                <a:gd name="connsiteY7" fmla="*/ 896710 h 2865702"/>
                <a:gd name="connsiteX8" fmla="*/ 1730929 w 2326195"/>
                <a:gd name="connsiteY8" fmla="*/ 840155 h 2865702"/>
                <a:gd name="connsiteX9" fmla="*/ 1736137 w 2326195"/>
                <a:gd name="connsiteY9" fmla="*/ 823040 h 2865702"/>
                <a:gd name="connsiteX10" fmla="*/ 1749533 w 2326195"/>
                <a:gd name="connsiteY10" fmla="*/ 764999 h 2865702"/>
                <a:gd name="connsiteX11" fmla="*/ 1753252 w 2326195"/>
                <a:gd name="connsiteY11" fmla="*/ 748627 h 2865702"/>
                <a:gd name="connsiteX12" fmla="*/ 1761439 w 2326195"/>
                <a:gd name="connsiteY12" fmla="*/ 692071 h 2865702"/>
                <a:gd name="connsiteX13" fmla="*/ 1763672 w 2326195"/>
                <a:gd name="connsiteY13" fmla="*/ 675700 h 2865702"/>
                <a:gd name="connsiteX14" fmla="*/ 1767391 w 2326195"/>
                <a:gd name="connsiteY14" fmla="*/ 607238 h 2865702"/>
                <a:gd name="connsiteX15" fmla="*/ 1160153 w 2326195"/>
                <a:gd name="connsiteY15" fmla="*/ 0 h 2865702"/>
                <a:gd name="connsiteX16" fmla="*/ 552915 w 2326195"/>
                <a:gd name="connsiteY16" fmla="*/ 607238 h 2865702"/>
                <a:gd name="connsiteX17" fmla="*/ 556637 w 2326195"/>
                <a:gd name="connsiteY17" fmla="*/ 675700 h 2865702"/>
                <a:gd name="connsiteX18" fmla="*/ 558870 w 2326195"/>
                <a:gd name="connsiteY18" fmla="*/ 693561 h 2865702"/>
                <a:gd name="connsiteX19" fmla="*/ 567054 w 2326195"/>
                <a:gd name="connsiteY19" fmla="*/ 748627 h 2865702"/>
                <a:gd name="connsiteX20" fmla="*/ 570776 w 2326195"/>
                <a:gd name="connsiteY20" fmla="*/ 767231 h 2865702"/>
                <a:gd name="connsiteX21" fmla="*/ 583425 w 2326195"/>
                <a:gd name="connsiteY21" fmla="*/ 823040 h 2865702"/>
                <a:gd name="connsiteX22" fmla="*/ 589377 w 2326195"/>
                <a:gd name="connsiteY22" fmla="*/ 843130 h 2865702"/>
                <a:gd name="connsiteX23" fmla="*/ 605748 w 2326195"/>
                <a:gd name="connsiteY23" fmla="*/ 896706 h 2865702"/>
                <a:gd name="connsiteX24" fmla="*/ 614679 w 2326195"/>
                <a:gd name="connsiteY24" fmla="*/ 922752 h 2865702"/>
                <a:gd name="connsiteX25" fmla="*/ 631793 w 2326195"/>
                <a:gd name="connsiteY25" fmla="*/ 968144 h 2865702"/>
                <a:gd name="connsiteX26" fmla="*/ 648165 w 2326195"/>
                <a:gd name="connsiteY26" fmla="*/ 1005349 h 2865702"/>
                <a:gd name="connsiteX27" fmla="*/ 661561 w 2326195"/>
                <a:gd name="connsiteY27" fmla="*/ 1034373 h 2865702"/>
                <a:gd name="connsiteX28" fmla="*/ 689092 w 2326195"/>
                <a:gd name="connsiteY28" fmla="*/ 1088696 h 2865702"/>
                <a:gd name="connsiteX29" fmla="*/ 692814 w 2326195"/>
                <a:gd name="connsiteY29" fmla="*/ 1095394 h 2865702"/>
                <a:gd name="connsiteX30" fmla="*/ 752346 w 2326195"/>
                <a:gd name="connsiteY30" fmla="*/ 1193616 h 2865702"/>
                <a:gd name="connsiteX31" fmla="*/ 2232 w 2326195"/>
                <a:gd name="connsiteY31" fmla="*/ 2123066 h 2865702"/>
                <a:gd name="connsiteX32" fmla="*/ 0 w 2326195"/>
                <a:gd name="connsiteY32" fmla="*/ 2190038 h 2865702"/>
                <a:gd name="connsiteX33" fmla="*/ 0 w 2326195"/>
                <a:gd name="connsiteY33" fmla="*/ 2865703 h 2865702"/>
                <a:gd name="connsiteX34" fmla="*/ 2326196 w 2326195"/>
                <a:gd name="connsiteY34" fmla="*/ 2865703 h 2865702"/>
                <a:gd name="connsiteX35" fmla="*/ 2326196 w 2326195"/>
                <a:gd name="connsiteY35" fmla="*/ 2190038 h 2865702"/>
                <a:gd name="connsiteX36" fmla="*/ 2323963 w 2326195"/>
                <a:gd name="connsiteY36" fmla="*/ 2121576 h 2865702"/>
                <a:gd name="connsiteX37" fmla="*/ 1567907 w 2326195"/>
                <a:gd name="connsiteY37" fmla="*/ 1192888 h 2865702"/>
                <a:gd name="connsiteX38" fmla="*/ 1159414 w 2326195"/>
                <a:gd name="connsiteY38" fmla="*/ 122804 h 2865702"/>
                <a:gd name="connsiteX39" fmla="*/ 1644579 w 2326195"/>
                <a:gd name="connsiteY39" fmla="*/ 607969 h 2865702"/>
                <a:gd name="connsiteX40" fmla="*/ 1640857 w 2326195"/>
                <a:gd name="connsiteY40" fmla="*/ 670476 h 2865702"/>
                <a:gd name="connsiteX41" fmla="*/ 1637138 w 2326195"/>
                <a:gd name="connsiteY41" fmla="*/ 700244 h 2865702"/>
                <a:gd name="connsiteX42" fmla="*/ 1631930 w 2326195"/>
                <a:gd name="connsiteY42" fmla="*/ 732983 h 2865702"/>
                <a:gd name="connsiteX43" fmla="*/ 1623742 w 2326195"/>
                <a:gd name="connsiteY43" fmla="*/ 773910 h 2865702"/>
                <a:gd name="connsiteX44" fmla="*/ 1620024 w 2326195"/>
                <a:gd name="connsiteY44" fmla="*/ 789539 h 2865702"/>
                <a:gd name="connsiteX45" fmla="*/ 1565701 w 2326195"/>
                <a:gd name="connsiteY45" fmla="*/ 948042 h 2865702"/>
                <a:gd name="connsiteX46" fmla="*/ 1557513 w 2326195"/>
                <a:gd name="connsiteY46" fmla="*/ 966647 h 2865702"/>
                <a:gd name="connsiteX47" fmla="*/ 1538166 w 2326195"/>
                <a:gd name="connsiteY47" fmla="*/ 1006831 h 2865702"/>
                <a:gd name="connsiteX48" fmla="*/ 1521051 w 2326195"/>
                <a:gd name="connsiteY48" fmla="*/ 1039574 h 2865702"/>
                <a:gd name="connsiteX49" fmla="*/ 1505423 w 2326195"/>
                <a:gd name="connsiteY49" fmla="*/ 1067848 h 2865702"/>
                <a:gd name="connsiteX50" fmla="*/ 1419846 w 2326195"/>
                <a:gd name="connsiteY50" fmla="*/ 1188400 h 2865702"/>
                <a:gd name="connsiteX51" fmla="*/ 1160884 w 2326195"/>
                <a:gd name="connsiteY51" fmla="*/ 1337226 h 2865702"/>
                <a:gd name="connsiteX52" fmla="*/ 904155 w 2326195"/>
                <a:gd name="connsiteY52" fmla="*/ 1190629 h 2865702"/>
                <a:gd name="connsiteX53" fmla="*/ 776162 w 2326195"/>
                <a:gd name="connsiteY53" fmla="*/ 991198 h 2865702"/>
                <a:gd name="connsiteX54" fmla="*/ 773186 w 2326195"/>
                <a:gd name="connsiteY54" fmla="*/ 985247 h 2865702"/>
                <a:gd name="connsiteX55" fmla="*/ 741933 w 2326195"/>
                <a:gd name="connsiteY55" fmla="*/ 913810 h 2865702"/>
                <a:gd name="connsiteX56" fmla="*/ 740443 w 2326195"/>
                <a:gd name="connsiteY56" fmla="*/ 910834 h 2865702"/>
                <a:gd name="connsiteX57" fmla="*/ 713655 w 2326195"/>
                <a:gd name="connsiteY57" fmla="*/ 833445 h 2865702"/>
                <a:gd name="connsiteX58" fmla="*/ 712912 w 2326195"/>
                <a:gd name="connsiteY58" fmla="*/ 831955 h 2865702"/>
                <a:gd name="connsiteX59" fmla="*/ 695051 w 2326195"/>
                <a:gd name="connsiteY59" fmla="*/ 764240 h 2865702"/>
                <a:gd name="connsiteX60" fmla="*/ 690589 w 2326195"/>
                <a:gd name="connsiteY60" fmla="*/ 743403 h 2865702"/>
                <a:gd name="connsiteX61" fmla="*/ 682402 w 2326195"/>
                <a:gd name="connsiteY61" fmla="*/ 693546 h 2865702"/>
                <a:gd name="connsiteX62" fmla="*/ 679426 w 2326195"/>
                <a:gd name="connsiteY62" fmla="*/ 672713 h 2865702"/>
                <a:gd name="connsiteX63" fmla="*/ 675704 w 2326195"/>
                <a:gd name="connsiteY63" fmla="*/ 608716 h 2865702"/>
                <a:gd name="connsiteX64" fmla="*/ 1159383 w 2326195"/>
                <a:gd name="connsiteY64" fmla="*/ 122789 h 2865702"/>
                <a:gd name="connsiteX65" fmla="*/ 1325358 w 2326195"/>
                <a:gd name="connsiteY65" fmla="*/ 1416109 h 2865702"/>
                <a:gd name="connsiteX66" fmla="*/ 1159414 w 2326195"/>
                <a:gd name="connsiteY66" fmla="*/ 1844733 h 2865702"/>
                <a:gd name="connsiteX67" fmla="*/ 993469 w 2326195"/>
                <a:gd name="connsiteY67" fmla="*/ 1416870 h 2865702"/>
                <a:gd name="connsiteX68" fmla="*/ 1158667 w 2326195"/>
                <a:gd name="connsiteY68" fmla="*/ 1459287 h 2865702"/>
                <a:gd name="connsiteX69" fmla="*/ 1325354 w 2326195"/>
                <a:gd name="connsiteY69" fmla="*/ 1416128 h 2865702"/>
                <a:gd name="connsiteX70" fmla="*/ 2204173 w 2326195"/>
                <a:gd name="connsiteY70" fmla="*/ 2745151 h 2865702"/>
                <a:gd name="connsiteX71" fmla="*/ 122084 w 2326195"/>
                <a:gd name="connsiteY71" fmla="*/ 2745151 h 2865702"/>
                <a:gd name="connsiteX72" fmla="*/ 122084 w 2326195"/>
                <a:gd name="connsiteY72" fmla="*/ 2191520 h 2865702"/>
                <a:gd name="connsiteX73" fmla="*/ 123572 w 2326195"/>
                <a:gd name="connsiteY73" fmla="*/ 2131246 h 2865702"/>
                <a:gd name="connsiteX74" fmla="*/ 819356 w 2326195"/>
                <a:gd name="connsiteY74" fmla="*/ 1303752 h 2865702"/>
                <a:gd name="connsiteX75" fmla="*/ 1158682 w 2326195"/>
                <a:gd name="connsiteY75" fmla="*/ 2182566 h 2865702"/>
                <a:gd name="connsiteX76" fmla="*/ 1500241 w 2326195"/>
                <a:gd name="connsiteY76" fmla="*/ 1301504 h 2865702"/>
                <a:gd name="connsiteX77" fmla="*/ 2201967 w 2326195"/>
                <a:gd name="connsiteY77" fmla="*/ 2130483 h 2865702"/>
                <a:gd name="connsiteX78" fmla="*/ 2203453 w 2326195"/>
                <a:gd name="connsiteY78" fmla="*/ 2191504 h 2865702"/>
                <a:gd name="connsiteX79" fmla="*/ 2203453 w 2326195"/>
                <a:gd name="connsiteY79" fmla="*/ 2745135 h 286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2326195" h="2865702">
                  <a:moveTo>
                    <a:pt x="1567960" y="1192881"/>
                  </a:moveTo>
                  <a:cubicBezTo>
                    <a:pt x="1588797" y="1162370"/>
                    <a:pt x="1608144" y="1129627"/>
                    <a:pt x="1626748" y="1095398"/>
                  </a:cubicBezTo>
                  <a:cubicBezTo>
                    <a:pt x="1627491" y="1093908"/>
                    <a:pt x="1628238" y="1092422"/>
                    <a:pt x="1628981" y="1090933"/>
                  </a:cubicBezTo>
                  <a:cubicBezTo>
                    <a:pt x="1639397" y="1072328"/>
                    <a:pt x="1649071" y="1052981"/>
                    <a:pt x="1658002" y="1033634"/>
                  </a:cubicBezTo>
                  <a:cubicBezTo>
                    <a:pt x="1662467" y="1023960"/>
                    <a:pt x="1666932" y="1015030"/>
                    <a:pt x="1670651" y="1005356"/>
                  </a:cubicBezTo>
                  <a:cubicBezTo>
                    <a:pt x="1675863" y="992707"/>
                    <a:pt x="1681814" y="980058"/>
                    <a:pt x="1687022" y="967405"/>
                  </a:cubicBezTo>
                  <a:cubicBezTo>
                    <a:pt x="1693720" y="951780"/>
                    <a:pt x="1698929" y="936151"/>
                    <a:pt x="1704884" y="920523"/>
                  </a:cubicBezTo>
                  <a:cubicBezTo>
                    <a:pt x="1707859" y="912339"/>
                    <a:pt x="1710835" y="904898"/>
                    <a:pt x="1713814" y="896710"/>
                  </a:cubicBezTo>
                  <a:cubicBezTo>
                    <a:pt x="1720509" y="878110"/>
                    <a:pt x="1725721" y="858759"/>
                    <a:pt x="1730929" y="840155"/>
                  </a:cubicBezTo>
                  <a:cubicBezTo>
                    <a:pt x="1732415" y="834203"/>
                    <a:pt x="1734647" y="828248"/>
                    <a:pt x="1736137" y="823040"/>
                  </a:cubicBezTo>
                  <a:cubicBezTo>
                    <a:pt x="1741345" y="803693"/>
                    <a:pt x="1745811" y="784346"/>
                    <a:pt x="1749533" y="764999"/>
                  </a:cubicBezTo>
                  <a:cubicBezTo>
                    <a:pt x="1750276" y="759790"/>
                    <a:pt x="1751766" y="753835"/>
                    <a:pt x="1753252" y="748627"/>
                  </a:cubicBezTo>
                  <a:cubicBezTo>
                    <a:pt x="1756974" y="729280"/>
                    <a:pt x="1759207" y="710676"/>
                    <a:pt x="1761439" y="692071"/>
                  </a:cubicBezTo>
                  <a:cubicBezTo>
                    <a:pt x="1762182" y="686863"/>
                    <a:pt x="1762925" y="680912"/>
                    <a:pt x="1763672" y="675700"/>
                  </a:cubicBezTo>
                  <a:cubicBezTo>
                    <a:pt x="1765901" y="652634"/>
                    <a:pt x="1767391" y="629564"/>
                    <a:pt x="1767391" y="607238"/>
                  </a:cubicBezTo>
                  <a:cubicBezTo>
                    <a:pt x="1767391" y="272373"/>
                    <a:pt x="1495037" y="0"/>
                    <a:pt x="1160153" y="0"/>
                  </a:cubicBezTo>
                  <a:cubicBezTo>
                    <a:pt x="825288" y="0"/>
                    <a:pt x="552915" y="272354"/>
                    <a:pt x="552915" y="607238"/>
                  </a:cubicBezTo>
                  <a:cubicBezTo>
                    <a:pt x="552915" y="629564"/>
                    <a:pt x="554405" y="652630"/>
                    <a:pt x="556637" y="675700"/>
                  </a:cubicBezTo>
                  <a:cubicBezTo>
                    <a:pt x="557380" y="681655"/>
                    <a:pt x="558123" y="687606"/>
                    <a:pt x="558870" y="693561"/>
                  </a:cubicBezTo>
                  <a:cubicBezTo>
                    <a:pt x="561103" y="711419"/>
                    <a:pt x="563331" y="730023"/>
                    <a:pt x="567054" y="748627"/>
                  </a:cubicBezTo>
                  <a:cubicBezTo>
                    <a:pt x="568544" y="754578"/>
                    <a:pt x="570029" y="761276"/>
                    <a:pt x="570776" y="767231"/>
                  </a:cubicBezTo>
                  <a:cubicBezTo>
                    <a:pt x="574495" y="785832"/>
                    <a:pt x="578960" y="804436"/>
                    <a:pt x="583425" y="823040"/>
                  </a:cubicBezTo>
                  <a:cubicBezTo>
                    <a:pt x="584911" y="829734"/>
                    <a:pt x="587144" y="836432"/>
                    <a:pt x="589377" y="843130"/>
                  </a:cubicBezTo>
                  <a:cubicBezTo>
                    <a:pt x="594589" y="860988"/>
                    <a:pt x="599797" y="878849"/>
                    <a:pt x="605748" y="896706"/>
                  </a:cubicBezTo>
                  <a:cubicBezTo>
                    <a:pt x="608728" y="905637"/>
                    <a:pt x="611703" y="913821"/>
                    <a:pt x="614679" y="922752"/>
                  </a:cubicBezTo>
                  <a:cubicBezTo>
                    <a:pt x="619887" y="937633"/>
                    <a:pt x="625842" y="953262"/>
                    <a:pt x="631793" y="968144"/>
                  </a:cubicBezTo>
                  <a:cubicBezTo>
                    <a:pt x="637002" y="980793"/>
                    <a:pt x="642214" y="993442"/>
                    <a:pt x="648165" y="1005349"/>
                  </a:cubicBezTo>
                  <a:cubicBezTo>
                    <a:pt x="652630" y="1015026"/>
                    <a:pt x="657096" y="1024700"/>
                    <a:pt x="661561" y="1034373"/>
                  </a:cubicBezTo>
                  <a:cubicBezTo>
                    <a:pt x="670492" y="1052974"/>
                    <a:pt x="679418" y="1070835"/>
                    <a:pt x="689092" y="1088696"/>
                  </a:cubicBezTo>
                  <a:cubicBezTo>
                    <a:pt x="690582" y="1090929"/>
                    <a:pt x="691325" y="1093161"/>
                    <a:pt x="692814" y="1095394"/>
                  </a:cubicBezTo>
                  <a:cubicBezTo>
                    <a:pt x="711419" y="1129623"/>
                    <a:pt x="731509" y="1163105"/>
                    <a:pt x="752346" y="1193616"/>
                  </a:cubicBezTo>
                  <a:cubicBezTo>
                    <a:pt x="330426" y="1320119"/>
                    <a:pt x="26807" y="1689948"/>
                    <a:pt x="2232" y="2123066"/>
                  </a:cubicBezTo>
                  <a:cubicBezTo>
                    <a:pt x="744" y="2145392"/>
                    <a:pt x="0" y="2167715"/>
                    <a:pt x="0" y="2190038"/>
                  </a:cubicBezTo>
                  <a:lnTo>
                    <a:pt x="0" y="2865703"/>
                  </a:lnTo>
                  <a:lnTo>
                    <a:pt x="2326196" y="2865703"/>
                  </a:lnTo>
                  <a:lnTo>
                    <a:pt x="2326196" y="2190038"/>
                  </a:lnTo>
                  <a:cubicBezTo>
                    <a:pt x="2326196" y="2166972"/>
                    <a:pt x="2325453" y="2144645"/>
                    <a:pt x="2323963" y="2121576"/>
                  </a:cubicBezTo>
                  <a:cubicBezTo>
                    <a:pt x="2298661" y="1687731"/>
                    <a:pt x="1992821" y="1317170"/>
                    <a:pt x="1567907" y="1192888"/>
                  </a:cubicBezTo>
                  <a:close/>
                  <a:moveTo>
                    <a:pt x="1159414" y="122804"/>
                  </a:moveTo>
                  <a:cubicBezTo>
                    <a:pt x="1427302" y="122804"/>
                    <a:pt x="1644579" y="340839"/>
                    <a:pt x="1644579" y="607969"/>
                  </a:cubicBezTo>
                  <a:cubicBezTo>
                    <a:pt x="1644579" y="628060"/>
                    <a:pt x="1643089" y="648896"/>
                    <a:pt x="1640857" y="670476"/>
                  </a:cubicBezTo>
                  <a:cubicBezTo>
                    <a:pt x="1640114" y="680150"/>
                    <a:pt x="1638628" y="689823"/>
                    <a:pt x="1637138" y="700244"/>
                  </a:cubicBezTo>
                  <a:cubicBezTo>
                    <a:pt x="1635648" y="710660"/>
                    <a:pt x="1633416" y="721824"/>
                    <a:pt x="1631930" y="732983"/>
                  </a:cubicBezTo>
                  <a:cubicBezTo>
                    <a:pt x="1629697" y="746379"/>
                    <a:pt x="1626718" y="759775"/>
                    <a:pt x="1623742" y="773910"/>
                  </a:cubicBezTo>
                  <a:cubicBezTo>
                    <a:pt x="1622256" y="779118"/>
                    <a:pt x="1620767" y="784330"/>
                    <a:pt x="1620024" y="789539"/>
                  </a:cubicBezTo>
                  <a:cubicBezTo>
                    <a:pt x="1606628" y="841629"/>
                    <a:pt x="1588023" y="895205"/>
                    <a:pt x="1565701" y="948042"/>
                  </a:cubicBezTo>
                  <a:cubicBezTo>
                    <a:pt x="1562721" y="953994"/>
                    <a:pt x="1560492" y="960692"/>
                    <a:pt x="1557513" y="966647"/>
                  </a:cubicBezTo>
                  <a:cubicBezTo>
                    <a:pt x="1551562" y="980039"/>
                    <a:pt x="1544864" y="993435"/>
                    <a:pt x="1538166" y="1006831"/>
                  </a:cubicBezTo>
                  <a:cubicBezTo>
                    <a:pt x="1532957" y="1017990"/>
                    <a:pt x="1527006" y="1028411"/>
                    <a:pt x="1521051" y="1039574"/>
                  </a:cubicBezTo>
                  <a:cubicBezTo>
                    <a:pt x="1515843" y="1049247"/>
                    <a:pt x="1510635" y="1058921"/>
                    <a:pt x="1505423" y="1067848"/>
                  </a:cubicBezTo>
                  <a:cubicBezTo>
                    <a:pt x="1479381" y="1111750"/>
                    <a:pt x="1451100" y="1152681"/>
                    <a:pt x="1419846" y="1188400"/>
                  </a:cubicBezTo>
                  <a:cubicBezTo>
                    <a:pt x="1343943" y="1277699"/>
                    <a:pt x="1254648" y="1337226"/>
                    <a:pt x="1160884" y="1337226"/>
                  </a:cubicBezTo>
                  <a:cubicBezTo>
                    <a:pt x="1067867" y="1337226"/>
                    <a:pt x="980058" y="1278438"/>
                    <a:pt x="904155" y="1190629"/>
                  </a:cubicBezTo>
                  <a:cubicBezTo>
                    <a:pt x="855787" y="1134820"/>
                    <a:pt x="812627" y="1065615"/>
                    <a:pt x="776162" y="991198"/>
                  </a:cubicBezTo>
                  <a:cubicBezTo>
                    <a:pt x="775419" y="988966"/>
                    <a:pt x="773929" y="987480"/>
                    <a:pt x="773186" y="985247"/>
                  </a:cubicBezTo>
                  <a:cubicBezTo>
                    <a:pt x="762023" y="961435"/>
                    <a:pt x="751606" y="937622"/>
                    <a:pt x="741933" y="913810"/>
                  </a:cubicBezTo>
                  <a:cubicBezTo>
                    <a:pt x="741190" y="913067"/>
                    <a:pt x="741190" y="911577"/>
                    <a:pt x="740443" y="910834"/>
                  </a:cubicBezTo>
                  <a:cubicBezTo>
                    <a:pt x="730027" y="885532"/>
                    <a:pt x="721096" y="859487"/>
                    <a:pt x="713655" y="833445"/>
                  </a:cubicBezTo>
                  <a:cubicBezTo>
                    <a:pt x="713655" y="832698"/>
                    <a:pt x="713655" y="831955"/>
                    <a:pt x="712912" y="831955"/>
                  </a:cubicBezTo>
                  <a:cubicBezTo>
                    <a:pt x="706214" y="808886"/>
                    <a:pt x="700263" y="786563"/>
                    <a:pt x="695051" y="764240"/>
                  </a:cubicBezTo>
                  <a:cubicBezTo>
                    <a:pt x="693565" y="757542"/>
                    <a:pt x="692075" y="750101"/>
                    <a:pt x="690589" y="743403"/>
                  </a:cubicBezTo>
                  <a:cubicBezTo>
                    <a:pt x="686867" y="726289"/>
                    <a:pt x="684634" y="709917"/>
                    <a:pt x="682402" y="693546"/>
                  </a:cubicBezTo>
                  <a:cubicBezTo>
                    <a:pt x="681659" y="686848"/>
                    <a:pt x="680169" y="679407"/>
                    <a:pt x="679426" y="672713"/>
                  </a:cubicBezTo>
                  <a:cubicBezTo>
                    <a:pt x="677193" y="650386"/>
                    <a:pt x="675704" y="628810"/>
                    <a:pt x="675704" y="608716"/>
                  </a:cubicBezTo>
                  <a:cubicBezTo>
                    <a:pt x="673471" y="340827"/>
                    <a:pt x="891506" y="122789"/>
                    <a:pt x="1159383" y="122789"/>
                  </a:cubicBezTo>
                  <a:close/>
                  <a:moveTo>
                    <a:pt x="1325358" y="1416109"/>
                  </a:moveTo>
                  <a:lnTo>
                    <a:pt x="1159414" y="1844733"/>
                  </a:lnTo>
                  <a:lnTo>
                    <a:pt x="993469" y="1416870"/>
                  </a:lnTo>
                  <a:cubicBezTo>
                    <a:pt x="1046302" y="1443659"/>
                    <a:pt x="1101368" y="1459287"/>
                    <a:pt x="1158667" y="1459287"/>
                  </a:cubicBezTo>
                  <a:cubicBezTo>
                    <a:pt x="1216708" y="1459287"/>
                    <a:pt x="1272521" y="1443659"/>
                    <a:pt x="1325354" y="1416128"/>
                  </a:cubicBezTo>
                  <a:close/>
                  <a:moveTo>
                    <a:pt x="2204173" y="2745151"/>
                  </a:moveTo>
                  <a:lnTo>
                    <a:pt x="122084" y="2745151"/>
                  </a:lnTo>
                  <a:lnTo>
                    <a:pt x="122084" y="2191520"/>
                  </a:lnTo>
                  <a:cubicBezTo>
                    <a:pt x="122084" y="2171430"/>
                    <a:pt x="122828" y="2151336"/>
                    <a:pt x="123572" y="2131246"/>
                  </a:cubicBezTo>
                  <a:cubicBezTo>
                    <a:pt x="145896" y="1739082"/>
                    <a:pt x="429414" y="1405707"/>
                    <a:pt x="819356" y="1303752"/>
                  </a:cubicBezTo>
                  <a:lnTo>
                    <a:pt x="1158682" y="2182566"/>
                  </a:lnTo>
                  <a:lnTo>
                    <a:pt x="1500241" y="1301504"/>
                  </a:lnTo>
                  <a:cubicBezTo>
                    <a:pt x="1893128" y="1401962"/>
                    <a:pt x="2178878" y="1735348"/>
                    <a:pt x="2201967" y="2130483"/>
                  </a:cubicBezTo>
                  <a:cubicBezTo>
                    <a:pt x="2203453" y="2150574"/>
                    <a:pt x="2203453" y="2171411"/>
                    <a:pt x="2203453" y="2191504"/>
                  </a:cubicBezTo>
                  <a:lnTo>
                    <a:pt x="2203453" y="2745135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7ED5093-39E9-C106-67D8-F9F72372D192}"/>
                </a:ext>
              </a:extLst>
            </p:cNvPr>
            <p:cNvSpPr/>
            <p:nvPr/>
          </p:nvSpPr>
          <p:spPr>
            <a:xfrm>
              <a:off x="11136738" y="4875330"/>
              <a:ext cx="163635" cy="154177"/>
            </a:xfrm>
            <a:custGeom>
              <a:avLst/>
              <a:gdLst>
                <a:gd name="connsiteX0" fmla="*/ 1466705 w 1828361"/>
                <a:gd name="connsiteY0" fmla="*/ 0 h 1722681"/>
                <a:gd name="connsiteX1" fmla="*/ 361653 w 1828361"/>
                <a:gd name="connsiteY1" fmla="*/ 0 h 1722681"/>
                <a:gd name="connsiteX2" fmla="*/ 0 w 1828361"/>
                <a:gd name="connsiteY2" fmla="*/ 361653 h 1722681"/>
                <a:gd name="connsiteX3" fmla="*/ 0 w 1828361"/>
                <a:gd name="connsiteY3" fmla="*/ 857983 h 1722681"/>
                <a:gd name="connsiteX4" fmla="*/ 300632 w 1828361"/>
                <a:gd name="connsiteY4" fmla="*/ 1214428 h 1722681"/>
                <a:gd name="connsiteX5" fmla="*/ 305840 w 1828361"/>
                <a:gd name="connsiteY5" fmla="*/ 1722682 h 1722681"/>
                <a:gd name="connsiteX6" fmla="*/ 880312 w 1828361"/>
                <a:gd name="connsiteY6" fmla="*/ 1219647 h 1722681"/>
                <a:gd name="connsiteX7" fmla="*/ 1466709 w 1828361"/>
                <a:gd name="connsiteY7" fmla="*/ 1219647 h 1722681"/>
                <a:gd name="connsiteX8" fmla="*/ 1828362 w 1828361"/>
                <a:gd name="connsiteY8" fmla="*/ 857995 h 1722681"/>
                <a:gd name="connsiteX9" fmla="*/ 1828362 w 1828361"/>
                <a:gd name="connsiteY9" fmla="*/ 361664 h 1722681"/>
                <a:gd name="connsiteX10" fmla="*/ 1466709 w 1828361"/>
                <a:gd name="connsiteY10" fmla="*/ 11 h 1722681"/>
                <a:gd name="connsiteX11" fmla="*/ 1706320 w 1828361"/>
                <a:gd name="connsiteY11" fmla="*/ 858014 h 1722681"/>
                <a:gd name="connsiteX12" fmla="*/ 1466705 w 1828361"/>
                <a:gd name="connsiteY12" fmla="*/ 1097628 h 1722681"/>
                <a:gd name="connsiteX13" fmla="*/ 834169 w 1828361"/>
                <a:gd name="connsiteY13" fmla="*/ 1097628 h 1722681"/>
                <a:gd name="connsiteX14" fmla="*/ 424899 w 1828361"/>
                <a:gd name="connsiteY14" fmla="*/ 1456306 h 1722681"/>
                <a:gd name="connsiteX15" fmla="*/ 421176 w 1828361"/>
                <a:gd name="connsiteY15" fmla="*/ 1097628 h 1722681"/>
                <a:gd name="connsiteX16" fmla="*/ 360902 w 1828361"/>
                <a:gd name="connsiteY16" fmla="*/ 1097628 h 1722681"/>
                <a:gd name="connsiteX17" fmla="*/ 121288 w 1828361"/>
                <a:gd name="connsiteY17" fmla="*/ 858014 h 1722681"/>
                <a:gd name="connsiteX18" fmla="*/ 121288 w 1828361"/>
                <a:gd name="connsiteY18" fmla="*/ 361683 h 1722681"/>
                <a:gd name="connsiteX19" fmla="*/ 360902 w 1828361"/>
                <a:gd name="connsiteY19" fmla="*/ 122069 h 1722681"/>
                <a:gd name="connsiteX20" fmla="*/ 1466679 w 1828361"/>
                <a:gd name="connsiteY20" fmla="*/ 122069 h 1722681"/>
                <a:gd name="connsiteX21" fmla="*/ 1706293 w 1828361"/>
                <a:gd name="connsiteY21" fmla="*/ 361683 h 1722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28361" h="1722681">
                  <a:moveTo>
                    <a:pt x="1466705" y="0"/>
                  </a:moveTo>
                  <a:lnTo>
                    <a:pt x="361653" y="0"/>
                  </a:lnTo>
                  <a:cubicBezTo>
                    <a:pt x="162222" y="0"/>
                    <a:pt x="0" y="162222"/>
                    <a:pt x="0" y="361653"/>
                  </a:cubicBezTo>
                  <a:lnTo>
                    <a:pt x="0" y="857983"/>
                  </a:lnTo>
                  <a:cubicBezTo>
                    <a:pt x="0" y="1036577"/>
                    <a:pt x="130226" y="1185407"/>
                    <a:pt x="300632" y="1214428"/>
                  </a:cubicBezTo>
                  <a:lnTo>
                    <a:pt x="305840" y="1722682"/>
                  </a:lnTo>
                  <a:lnTo>
                    <a:pt x="880312" y="1219647"/>
                  </a:lnTo>
                  <a:lnTo>
                    <a:pt x="1466709" y="1219647"/>
                  </a:lnTo>
                  <a:cubicBezTo>
                    <a:pt x="1666140" y="1219647"/>
                    <a:pt x="1828362" y="1057425"/>
                    <a:pt x="1828362" y="857995"/>
                  </a:cubicBezTo>
                  <a:lnTo>
                    <a:pt x="1828362" y="361664"/>
                  </a:lnTo>
                  <a:cubicBezTo>
                    <a:pt x="1828362" y="162234"/>
                    <a:pt x="1666140" y="11"/>
                    <a:pt x="1466709" y="11"/>
                  </a:cubicBezTo>
                  <a:close/>
                  <a:moveTo>
                    <a:pt x="1706320" y="858014"/>
                  </a:moveTo>
                  <a:cubicBezTo>
                    <a:pt x="1706320" y="989725"/>
                    <a:pt x="1599164" y="1097628"/>
                    <a:pt x="1466705" y="1097628"/>
                  </a:cubicBezTo>
                  <a:lnTo>
                    <a:pt x="834169" y="1097628"/>
                  </a:lnTo>
                  <a:lnTo>
                    <a:pt x="424899" y="1456306"/>
                  </a:lnTo>
                  <a:lnTo>
                    <a:pt x="421176" y="1097628"/>
                  </a:lnTo>
                  <a:lnTo>
                    <a:pt x="360902" y="1097628"/>
                  </a:lnTo>
                  <a:cubicBezTo>
                    <a:pt x="229191" y="1097628"/>
                    <a:pt x="121288" y="990472"/>
                    <a:pt x="121288" y="858014"/>
                  </a:cubicBezTo>
                  <a:lnTo>
                    <a:pt x="121288" y="361683"/>
                  </a:lnTo>
                  <a:cubicBezTo>
                    <a:pt x="121288" y="229972"/>
                    <a:pt x="228444" y="122069"/>
                    <a:pt x="360902" y="122069"/>
                  </a:cubicBezTo>
                  <a:lnTo>
                    <a:pt x="1466679" y="122069"/>
                  </a:lnTo>
                  <a:cubicBezTo>
                    <a:pt x="1598390" y="122069"/>
                    <a:pt x="1706293" y="229225"/>
                    <a:pt x="1706293" y="361683"/>
                  </a:cubicBez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65B42F0-3C1F-6D58-A299-6254DC30964D}"/>
                </a:ext>
              </a:extLst>
            </p:cNvPr>
            <p:cNvSpPr/>
            <p:nvPr/>
          </p:nvSpPr>
          <p:spPr>
            <a:xfrm>
              <a:off x="11093116" y="5137133"/>
              <a:ext cx="49085" cy="10922"/>
            </a:xfrm>
            <a:custGeom>
              <a:avLst/>
              <a:gdLst>
                <a:gd name="connsiteX0" fmla="*/ 0 w 548449"/>
                <a:gd name="connsiteY0" fmla="*/ 0 h 122037"/>
                <a:gd name="connsiteX1" fmla="*/ 548450 w 548449"/>
                <a:gd name="connsiteY1" fmla="*/ 0 h 122037"/>
                <a:gd name="connsiteX2" fmla="*/ 548450 w 548449"/>
                <a:gd name="connsiteY2" fmla="*/ 122038 h 122037"/>
                <a:gd name="connsiteX3" fmla="*/ 0 w 548449"/>
                <a:gd name="connsiteY3" fmla="*/ 122038 h 122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8449" h="122037">
                  <a:moveTo>
                    <a:pt x="0" y="0"/>
                  </a:moveTo>
                  <a:lnTo>
                    <a:pt x="548450" y="0"/>
                  </a:lnTo>
                  <a:lnTo>
                    <a:pt x="548450" y="122038"/>
                  </a:lnTo>
                  <a:lnTo>
                    <a:pt x="0" y="122038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7A8B174-9B92-91D8-4F85-E26BCC52DF14}"/>
                </a:ext>
              </a:extLst>
            </p:cNvPr>
            <p:cNvSpPr/>
            <p:nvPr/>
          </p:nvSpPr>
          <p:spPr>
            <a:xfrm>
              <a:off x="11166244" y="4908097"/>
              <a:ext cx="39160" cy="38161"/>
            </a:xfrm>
            <a:custGeom>
              <a:avLst/>
              <a:gdLst>
                <a:gd name="connsiteX0" fmla="*/ 385462 w 437551"/>
                <a:gd name="connsiteY0" fmla="*/ 66229 h 426392"/>
                <a:gd name="connsiteX1" fmla="*/ 279795 w 437551"/>
                <a:gd name="connsiteY1" fmla="*/ 116087 h 426392"/>
                <a:gd name="connsiteX2" fmla="*/ 279795 w 437551"/>
                <a:gd name="connsiteY2" fmla="*/ 0 h 426392"/>
                <a:gd name="connsiteX3" fmla="*/ 157757 w 437551"/>
                <a:gd name="connsiteY3" fmla="*/ 0 h 426392"/>
                <a:gd name="connsiteX4" fmla="*/ 157757 w 437551"/>
                <a:gd name="connsiteY4" fmla="*/ 116087 h 426392"/>
                <a:gd name="connsiteX5" fmla="*/ 52833 w 437551"/>
                <a:gd name="connsiteY5" fmla="*/ 66229 h 426392"/>
                <a:gd name="connsiteX6" fmla="*/ 0 w 437551"/>
                <a:gd name="connsiteY6" fmla="*/ 176361 h 426392"/>
                <a:gd name="connsiteX7" fmla="*/ 77389 w 437551"/>
                <a:gd name="connsiteY7" fmla="*/ 212823 h 426392"/>
                <a:gd name="connsiteX8" fmla="*/ 0 w 437551"/>
                <a:gd name="connsiteY8" fmla="*/ 250031 h 426392"/>
                <a:gd name="connsiteX9" fmla="*/ 52833 w 437551"/>
                <a:gd name="connsiteY9" fmla="*/ 360163 h 426392"/>
                <a:gd name="connsiteX10" fmla="*/ 157757 w 437551"/>
                <a:gd name="connsiteY10" fmla="*/ 309562 h 426392"/>
                <a:gd name="connsiteX11" fmla="*/ 157757 w 437551"/>
                <a:gd name="connsiteY11" fmla="*/ 426392 h 426392"/>
                <a:gd name="connsiteX12" fmla="*/ 279795 w 437551"/>
                <a:gd name="connsiteY12" fmla="*/ 426392 h 426392"/>
                <a:gd name="connsiteX13" fmla="*/ 279795 w 437551"/>
                <a:gd name="connsiteY13" fmla="*/ 309562 h 426392"/>
                <a:gd name="connsiteX14" fmla="*/ 385462 w 437551"/>
                <a:gd name="connsiteY14" fmla="*/ 360163 h 426392"/>
                <a:gd name="connsiteX15" fmla="*/ 437552 w 437551"/>
                <a:gd name="connsiteY15" fmla="*/ 250031 h 426392"/>
                <a:gd name="connsiteX16" fmla="*/ 360163 w 437551"/>
                <a:gd name="connsiteY16" fmla="*/ 212823 h 426392"/>
                <a:gd name="connsiteX17" fmla="*/ 437552 w 437551"/>
                <a:gd name="connsiteY17" fmla="*/ 176361 h 426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7551" h="426392">
                  <a:moveTo>
                    <a:pt x="385462" y="66229"/>
                  </a:moveTo>
                  <a:lnTo>
                    <a:pt x="279795" y="116087"/>
                  </a:lnTo>
                  <a:lnTo>
                    <a:pt x="279795" y="0"/>
                  </a:lnTo>
                  <a:lnTo>
                    <a:pt x="157757" y="0"/>
                  </a:lnTo>
                  <a:lnTo>
                    <a:pt x="157757" y="116087"/>
                  </a:lnTo>
                  <a:lnTo>
                    <a:pt x="52833" y="66229"/>
                  </a:lnTo>
                  <a:lnTo>
                    <a:pt x="0" y="176361"/>
                  </a:lnTo>
                  <a:lnTo>
                    <a:pt x="77389" y="212823"/>
                  </a:lnTo>
                  <a:lnTo>
                    <a:pt x="0" y="250031"/>
                  </a:lnTo>
                  <a:lnTo>
                    <a:pt x="52833" y="360163"/>
                  </a:lnTo>
                  <a:lnTo>
                    <a:pt x="157757" y="309562"/>
                  </a:lnTo>
                  <a:lnTo>
                    <a:pt x="157757" y="426392"/>
                  </a:lnTo>
                  <a:lnTo>
                    <a:pt x="279795" y="426392"/>
                  </a:lnTo>
                  <a:lnTo>
                    <a:pt x="279795" y="309562"/>
                  </a:lnTo>
                  <a:lnTo>
                    <a:pt x="385462" y="360163"/>
                  </a:lnTo>
                  <a:lnTo>
                    <a:pt x="437552" y="250031"/>
                  </a:lnTo>
                  <a:lnTo>
                    <a:pt x="360163" y="212823"/>
                  </a:lnTo>
                  <a:lnTo>
                    <a:pt x="437552" y="17636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FBC972-DCD3-38CF-AB9F-025A616FBA61}"/>
                </a:ext>
              </a:extLst>
            </p:cNvPr>
            <p:cNvSpPr/>
            <p:nvPr/>
          </p:nvSpPr>
          <p:spPr>
            <a:xfrm>
              <a:off x="11231709" y="4908097"/>
              <a:ext cx="39160" cy="38161"/>
            </a:xfrm>
            <a:custGeom>
              <a:avLst/>
              <a:gdLst>
                <a:gd name="connsiteX0" fmla="*/ 384719 w 437552"/>
                <a:gd name="connsiteY0" fmla="*/ 66229 h 426392"/>
                <a:gd name="connsiteX1" fmla="*/ 279795 w 437552"/>
                <a:gd name="connsiteY1" fmla="*/ 116087 h 426392"/>
                <a:gd name="connsiteX2" fmla="*/ 279795 w 437552"/>
                <a:gd name="connsiteY2" fmla="*/ 0 h 426392"/>
                <a:gd name="connsiteX3" fmla="*/ 157757 w 437552"/>
                <a:gd name="connsiteY3" fmla="*/ 0 h 426392"/>
                <a:gd name="connsiteX4" fmla="*/ 157757 w 437552"/>
                <a:gd name="connsiteY4" fmla="*/ 116087 h 426392"/>
                <a:gd name="connsiteX5" fmla="*/ 52833 w 437552"/>
                <a:gd name="connsiteY5" fmla="*/ 66229 h 426392"/>
                <a:gd name="connsiteX6" fmla="*/ 0 w 437552"/>
                <a:gd name="connsiteY6" fmla="*/ 176361 h 426392"/>
                <a:gd name="connsiteX7" fmla="*/ 77389 w 437552"/>
                <a:gd name="connsiteY7" fmla="*/ 212823 h 426392"/>
                <a:gd name="connsiteX8" fmla="*/ 0 w 437552"/>
                <a:gd name="connsiteY8" fmla="*/ 250031 h 426392"/>
                <a:gd name="connsiteX9" fmla="*/ 52833 w 437552"/>
                <a:gd name="connsiteY9" fmla="*/ 360163 h 426392"/>
                <a:gd name="connsiteX10" fmla="*/ 157757 w 437552"/>
                <a:gd name="connsiteY10" fmla="*/ 309562 h 426392"/>
                <a:gd name="connsiteX11" fmla="*/ 157757 w 437552"/>
                <a:gd name="connsiteY11" fmla="*/ 426392 h 426392"/>
                <a:gd name="connsiteX12" fmla="*/ 279795 w 437552"/>
                <a:gd name="connsiteY12" fmla="*/ 426392 h 426392"/>
                <a:gd name="connsiteX13" fmla="*/ 279795 w 437552"/>
                <a:gd name="connsiteY13" fmla="*/ 309562 h 426392"/>
                <a:gd name="connsiteX14" fmla="*/ 384719 w 437552"/>
                <a:gd name="connsiteY14" fmla="*/ 360163 h 426392"/>
                <a:gd name="connsiteX15" fmla="*/ 437552 w 437552"/>
                <a:gd name="connsiteY15" fmla="*/ 250031 h 426392"/>
                <a:gd name="connsiteX16" fmla="*/ 360163 w 437552"/>
                <a:gd name="connsiteY16" fmla="*/ 212823 h 426392"/>
                <a:gd name="connsiteX17" fmla="*/ 437552 w 437552"/>
                <a:gd name="connsiteY17" fmla="*/ 176361 h 426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7552" h="426392">
                  <a:moveTo>
                    <a:pt x="384719" y="66229"/>
                  </a:moveTo>
                  <a:lnTo>
                    <a:pt x="279795" y="116087"/>
                  </a:lnTo>
                  <a:lnTo>
                    <a:pt x="279795" y="0"/>
                  </a:lnTo>
                  <a:lnTo>
                    <a:pt x="157757" y="0"/>
                  </a:lnTo>
                  <a:lnTo>
                    <a:pt x="157757" y="116087"/>
                  </a:lnTo>
                  <a:lnTo>
                    <a:pt x="52833" y="66229"/>
                  </a:lnTo>
                  <a:lnTo>
                    <a:pt x="0" y="176361"/>
                  </a:lnTo>
                  <a:lnTo>
                    <a:pt x="77389" y="212823"/>
                  </a:lnTo>
                  <a:lnTo>
                    <a:pt x="0" y="250031"/>
                  </a:lnTo>
                  <a:lnTo>
                    <a:pt x="52833" y="360163"/>
                  </a:lnTo>
                  <a:lnTo>
                    <a:pt x="157757" y="309562"/>
                  </a:lnTo>
                  <a:lnTo>
                    <a:pt x="157757" y="426392"/>
                  </a:lnTo>
                  <a:lnTo>
                    <a:pt x="279795" y="426392"/>
                  </a:lnTo>
                  <a:lnTo>
                    <a:pt x="279795" y="309562"/>
                  </a:lnTo>
                  <a:lnTo>
                    <a:pt x="384719" y="360163"/>
                  </a:lnTo>
                  <a:lnTo>
                    <a:pt x="437552" y="250031"/>
                  </a:lnTo>
                  <a:lnTo>
                    <a:pt x="360163" y="212823"/>
                  </a:lnTo>
                  <a:lnTo>
                    <a:pt x="437552" y="176361"/>
                  </a:lnTo>
                  <a:close/>
                </a:path>
              </a:pathLst>
            </a:custGeom>
            <a:grpFill/>
            <a:ln w="38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7" name="Chevron 5">
            <a:extLst>
              <a:ext uri="{FF2B5EF4-FFF2-40B4-BE49-F238E27FC236}">
                <a16:creationId xmlns:a16="http://schemas.microsoft.com/office/drawing/2014/main" id="{C88CFC22-4DD2-F6DB-6E83-ACD0F40DCDEC}"/>
              </a:ext>
            </a:extLst>
          </p:cNvPr>
          <p:cNvSpPr/>
          <p:nvPr/>
        </p:nvSpPr>
        <p:spPr>
          <a:xfrm>
            <a:off x="5083171" y="1644995"/>
            <a:ext cx="2039674" cy="26665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Bridgers</a:t>
            </a:r>
          </a:p>
        </p:txBody>
      </p:sp>
      <p:sp>
        <p:nvSpPr>
          <p:cNvPr id="14" name="Freeform 949">
            <a:extLst>
              <a:ext uri="{FF2B5EF4-FFF2-40B4-BE49-F238E27FC236}">
                <a16:creationId xmlns:a16="http://schemas.microsoft.com/office/drawing/2014/main" id="{57240D21-5B87-4914-7AAC-57D9CAA2C3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9271" y="991441"/>
            <a:ext cx="487475" cy="488939"/>
          </a:xfrm>
          <a:custGeom>
            <a:avLst/>
            <a:gdLst>
              <a:gd name="T0" fmla="*/ 873075 w 291288"/>
              <a:gd name="T1" fmla="*/ 2795955 h 291739"/>
              <a:gd name="T2" fmla="*/ 825138 w 291288"/>
              <a:gd name="T3" fmla="*/ 3109255 h 291739"/>
              <a:gd name="T4" fmla="*/ 1567832 w 291288"/>
              <a:gd name="T5" fmla="*/ 3109255 h 291739"/>
              <a:gd name="T6" fmla="*/ 1567832 w 291288"/>
              <a:gd name="T7" fmla="*/ 2795955 h 291739"/>
              <a:gd name="T8" fmla="*/ 932966 w 291288"/>
              <a:gd name="T9" fmla="*/ 2427114 h 291739"/>
              <a:gd name="T10" fmla="*/ 889032 w 291288"/>
              <a:gd name="T11" fmla="*/ 2696803 h 291739"/>
              <a:gd name="T12" fmla="*/ 1615749 w 291288"/>
              <a:gd name="T13" fmla="*/ 2696803 h 291739"/>
              <a:gd name="T14" fmla="*/ 1663649 w 291288"/>
              <a:gd name="T15" fmla="*/ 2748367 h 291739"/>
              <a:gd name="T16" fmla="*/ 1663649 w 291288"/>
              <a:gd name="T17" fmla="*/ 3109255 h 291739"/>
              <a:gd name="T18" fmla="*/ 2973334 w 291288"/>
              <a:gd name="T19" fmla="*/ 3109255 h 291739"/>
              <a:gd name="T20" fmla="*/ 1603782 w 291288"/>
              <a:gd name="T21" fmla="*/ 2427114 h 291739"/>
              <a:gd name="T22" fmla="*/ 322044 w 291288"/>
              <a:gd name="T23" fmla="*/ 2427114 h 291739"/>
              <a:gd name="T24" fmla="*/ 114416 w 291288"/>
              <a:gd name="T25" fmla="*/ 3109255 h 291739"/>
              <a:gd name="T26" fmla="*/ 725308 w 291288"/>
              <a:gd name="T27" fmla="*/ 3109255 h 291739"/>
              <a:gd name="T28" fmla="*/ 837119 w 291288"/>
              <a:gd name="T29" fmla="*/ 2427114 h 291739"/>
              <a:gd name="T30" fmla="*/ 2861559 w 291288"/>
              <a:gd name="T31" fmla="*/ 2268491 h 291739"/>
              <a:gd name="T32" fmla="*/ 2178738 w 291288"/>
              <a:gd name="T33" fmla="*/ 2609551 h 291739"/>
              <a:gd name="T34" fmla="*/ 3101105 w 291288"/>
              <a:gd name="T35" fmla="*/ 3065636 h 291739"/>
              <a:gd name="T36" fmla="*/ 2090912 w 291288"/>
              <a:gd name="T37" fmla="*/ 1911559 h 291739"/>
              <a:gd name="T38" fmla="*/ 1695617 w 291288"/>
              <a:gd name="T39" fmla="*/ 2367632 h 291739"/>
              <a:gd name="T40" fmla="*/ 2070956 w 291288"/>
              <a:gd name="T41" fmla="*/ 2550070 h 291739"/>
              <a:gd name="T42" fmla="*/ 2833573 w 291288"/>
              <a:gd name="T43" fmla="*/ 2173303 h 291739"/>
              <a:gd name="T44" fmla="*/ 2753701 w 291288"/>
              <a:gd name="T45" fmla="*/ 1911559 h 291739"/>
              <a:gd name="T46" fmla="*/ 1020803 w 291288"/>
              <a:gd name="T47" fmla="*/ 1911559 h 291739"/>
              <a:gd name="T48" fmla="*/ 952932 w 291288"/>
              <a:gd name="T49" fmla="*/ 2331935 h 291739"/>
              <a:gd name="T50" fmla="*/ 1495937 w 291288"/>
              <a:gd name="T51" fmla="*/ 2331935 h 291739"/>
              <a:gd name="T52" fmla="*/ 1140594 w 291288"/>
              <a:gd name="T53" fmla="*/ 1911559 h 291739"/>
              <a:gd name="T54" fmla="*/ 477753 w 291288"/>
              <a:gd name="T55" fmla="*/ 1911559 h 291739"/>
              <a:gd name="T56" fmla="*/ 349984 w 291288"/>
              <a:gd name="T57" fmla="*/ 2331935 h 291739"/>
              <a:gd name="T58" fmla="*/ 853117 w 291288"/>
              <a:gd name="T59" fmla="*/ 2331935 h 291739"/>
              <a:gd name="T60" fmla="*/ 920988 w 291288"/>
              <a:gd name="T61" fmla="*/ 1911559 h 291739"/>
              <a:gd name="T62" fmla="*/ 1615749 w 291288"/>
              <a:gd name="T63" fmla="*/ 566600 h 291739"/>
              <a:gd name="T64" fmla="*/ 1277311 w 291288"/>
              <a:gd name="T65" fmla="*/ 907845 h 291739"/>
              <a:gd name="T66" fmla="*/ 1615749 w 291288"/>
              <a:gd name="T67" fmla="*/ 1245099 h 291739"/>
              <a:gd name="T68" fmla="*/ 1954201 w 291288"/>
              <a:gd name="T69" fmla="*/ 907845 h 291739"/>
              <a:gd name="T70" fmla="*/ 1615749 w 291288"/>
              <a:gd name="T71" fmla="*/ 566600 h 291739"/>
              <a:gd name="T72" fmla="*/ 1615749 w 291288"/>
              <a:gd name="T73" fmla="*/ 471356 h 291739"/>
              <a:gd name="T74" fmla="*/ 2053733 w 291288"/>
              <a:gd name="T75" fmla="*/ 907845 h 291739"/>
              <a:gd name="T76" fmla="*/ 1615749 w 291288"/>
              <a:gd name="T77" fmla="*/ 1340336 h 291739"/>
              <a:gd name="T78" fmla="*/ 1177757 w 291288"/>
              <a:gd name="T79" fmla="*/ 907845 h 291739"/>
              <a:gd name="T80" fmla="*/ 1615749 w 291288"/>
              <a:gd name="T81" fmla="*/ 471356 h 291739"/>
              <a:gd name="T82" fmla="*/ 1615749 w 291288"/>
              <a:gd name="T83" fmla="*/ 95201 h 291739"/>
              <a:gd name="T84" fmla="*/ 809176 w 291288"/>
              <a:gd name="T85" fmla="*/ 896289 h 291739"/>
              <a:gd name="T86" fmla="*/ 1615749 w 291288"/>
              <a:gd name="T87" fmla="*/ 2312106 h 291739"/>
              <a:gd name="T88" fmla="*/ 2418321 w 291288"/>
              <a:gd name="T89" fmla="*/ 896289 h 291739"/>
              <a:gd name="T90" fmla="*/ 1615749 w 291288"/>
              <a:gd name="T91" fmla="*/ 95201 h 291739"/>
              <a:gd name="T92" fmla="*/ 1615749 w 291288"/>
              <a:gd name="T93" fmla="*/ 0 h 291739"/>
              <a:gd name="T94" fmla="*/ 2514142 w 291288"/>
              <a:gd name="T95" fmla="*/ 896289 h 291739"/>
              <a:gd name="T96" fmla="*/ 2154774 w 291288"/>
              <a:gd name="T97" fmla="*/ 1812402 h 291739"/>
              <a:gd name="T98" fmla="*/ 2789634 w 291288"/>
              <a:gd name="T99" fmla="*/ 1812402 h 291739"/>
              <a:gd name="T100" fmla="*/ 2833573 w 291288"/>
              <a:gd name="T101" fmla="*/ 1848099 h 291739"/>
              <a:gd name="T102" fmla="*/ 3224882 w 291288"/>
              <a:gd name="T103" fmla="*/ 3140984 h 291739"/>
              <a:gd name="T104" fmla="*/ 3220897 w 291288"/>
              <a:gd name="T105" fmla="*/ 3188573 h 291739"/>
              <a:gd name="T106" fmla="*/ 3180961 w 291288"/>
              <a:gd name="T107" fmla="*/ 3208396 h 291739"/>
              <a:gd name="T108" fmla="*/ 46558 w 291288"/>
              <a:gd name="T109" fmla="*/ 3208396 h 291739"/>
              <a:gd name="T110" fmla="*/ 6633 w 291288"/>
              <a:gd name="T111" fmla="*/ 3188573 h 291739"/>
              <a:gd name="T112" fmla="*/ 2641 w 291288"/>
              <a:gd name="T113" fmla="*/ 3140984 h 291739"/>
              <a:gd name="T114" fmla="*/ 393917 w 291288"/>
              <a:gd name="T115" fmla="*/ 1848099 h 291739"/>
              <a:gd name="T116" fmla="*/ 441828 w 291288"/>
              <a:gd name="T117" fmla="*/ 1812402 h 291739"/>
              <a:gd name="T118" fmla="*/ 1068706 w 291288"/>
              <a:gd name="T119" fmla="*/ 1812402 h 291739"/>
              <a:gd name="T120" fmla="*/ 713343 w 291288"/>
              <a:gd name="T121" fmla="*/ 896289 h 291739"/>
              <a:gd name="T122" fmla="*/ 1615749 w 291288"/>
              <a:gd name="T123" fmla="*/ 0 h 291739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91288" h="291739">
                <a:moveTo>
                  <a:pt x="78754" y="254235"/>
                </a:moveTo>
                <a:lnTo>
                  <a:pt x="74431" y="282724"/>
                </a:lnTo>
                <a:lnTo>
                  <a:pt x="141424" y="282724"/>
                </a:lnTo>
                <a:lnTo>
                  <a:pt x="141424" y="254235"/>
                </a:lnTo>
                <a:lnTo>
                  <a:pt x="78754" y="254235"/>
                </a:lnTo>
                <a:close/>
                <a:moveTo>
                  <a:pt x="84156" y="220698"/>
                </a:moveTo>
                <a:lnTo>
                  <a:pt x="80194" y="245220"/>
                </a:lnTo>
                <a:lnTo>
                  <a:pt x="145746" y="245220"/>
                </a:lnTo>
                <a:cubicBezTo>
                  <a:pt x="147907" y="245220"/>
                  <a:pt x="150068" y="247384"/>
                  <a:pt x="150068" y="249908"/>
                </a:cubicBezTo>
                <a:lnTo>
                  <a:pt x="150068" y="282724"/>
                </a:lnTo>
                <a:lnTo>
                  <a:pt x="268205" y="282724"/>
                </a:lnTo>
                <a:lnTo>
                  <a:pt x="144666" y="220698"/>
                </a:lnTo>
                <a:lnTo>
                  <a:pt x="84156" y="220698"/>
                </a:lnTo>
                <a:close/>
                <a:moveTo>
                  <a:pt x="29050" y="220698"/>
                </a:moveTo>
                <a:lnTo>
                  <a:pt x="10321" y="282724"/>
                </a:lnTo>
                <a:lnTo>
                  <a:pt x="65427" y="282724"/>
                </a:lnTo>
                <a:lnTo>
                  <a:pt x="75512" y="220698"/>
                </a:lnTo>
                <a:lnTo>
                  <a:pt x="29050" y="220698"/>
                </a:lnTo>
                <a:close/>
                <a:moveTo>
                  <a:pt x="258120" y="206273"/>
                </a:moveTo>
                <a:lnTo>
                  <a:pt x="196530" y="237286"/>
                </a:lnTo>
                <a:lnTo>
                  <a:pt x="279730" y="278757"/>
                </a:lnTo>
                <a:lnTo>
                  <a:pt x="258120" y="206273"/>
                </a:lnTo>
                <a:close/>
                <a:moveTo>
                  <a:pt x="188607" y="173818"/>
                </a:moveTo>
                <a:cubicBezTo>
                  <a:pt x="174200" y="192930"/>
                  <a:pt x="160153" y="208076"/>
                  <a:pt x="152950" y="215289"/>
                </a:cubicBezTo>
                <a:lnTo>
                  <a:pt x="186806" y="231877"/>
                </a:lnTo>
                <a:lnTo>
                  <a:pt x="255599" y="197618"/>
                </a:lnTo>
                <a:lnTo>
                  <a:pt x="248395" y="173818"/>
                </a:lnTo>
                <a:lnTo>
                  <a:pt x="188607" y="173818"/>
                </a:lnTo>
                <a:close/>
                <a:moveTo>
                  <a:pt x="92080" y="173818"/>
                </a:moveTo>
                <a:lnTo>
                  <a:pt x="85957" y="212043"/>
                </a:lnTo>
                <a:lnTo>
                  <a:pt x="134941" y="212043"/>
                </a:lnTo>
                <a:cubicBezTo>
                  <a:pt x="127377" y="204109"/>
                  <a:pt x="115131" y="190406"/>
                  <a:pt x="102885" y="173818"/>
                </a:cubicBezTo>
                <a:lnTo>
                  <a:pt x="92080" y="173818"/>
                </a:lnTo>
                <a:close/>
                <a:moveTo>
                  <a:pt x="43096" y="173818"/>
                </a:moveTo>
                <a:lnTo>
                  <a:pt x="31571" y="212043"/>
                </a:lnTo>
                <a:lnTo>
                  <a:pt x="76953" y="212043"/>
                </a:lnTo>
                <a:lnTo>
                  <a:pt x="83076" y="173818"/>
                </a:lnTo>
                <a:lnTo>
                  <a:pt x="43096" y="173818"/>
                </a:lnTo>
                <a:close/>
                <a:moveTo>
                  <a:pt x="145746" y="51521"/>
                </a:moveTo>
                <a:cubicBezTo>
                  <a:pt x="128866" y="51521"/>
                  <a:pt x="115217" y="65592"/>
                  <a:pt x="115217" y="82550"/>
                </a:cubicBezTo>
                <a:cubicBezTo>
                  <a:pt x="115217" y="99507"/>
                  <a:pt x="128866" y="113217"/>
                  <a:pt x="145746" y="113217"/>
                </a:cubicBezTo>
                <a:cubicBezTo>
                  <a:pt x="162627" y="113217"/>
                  <a:pt x="176275" y="99507"/>
                  <a:pt x="176275" y="82550"/>
                </a:cubicBezTo>
                <a:cubicBezTo>
                  <a:pt x="176275" y="65592"/>
                  <a:pt x="162627" y="51521"/>
                  <a:pt x="145746" y="51521"/>
                </a:cubicBezTo>
                <a:close/>
                <a:moveTo>
                  <a:pt x="145746" y="42862"/>
                </a:moveTo>
                <a:cubicBezTo>
                  <a:pt x="167296" y="42862"/>
                  <a:pt x="185254" y="60541"/>
                  <a:pt x="185254" y="82550"/>
                </a:cubicBezTo>
                <a:cubicBezTo>
                  <a:pt x="185254" y="104197"/>
                  <a:pt x="167296" y="121876"/>
                  <a:pt x="145746" y="121876"/>
                </a:cubicBezTo>
                <a:cubicBezTo>
                  <a:pt x="123837" y="121876"/>
                  <a:pt x="106238" y="104197"/>
                  <a:pt x="106238" y="82550"/>
                </a:cubicBezTo>
                <a:cubicBezTo>
                  <a:pt x="106238" y="60541"/>
                  <a:pt x="123837" y="42862"/>
                  <a:pt x="145746" y="42862"/>
                </a:cubicBezTo>
                <a:close/>
                <a:moveTo>
                  <a:pt x="145746" y="8655"/>
                </a:moveTo>
                <a:cubicBezTo>
                  <a:pt x="105767" y="8655"/>
                  <a:pt x="72991" y="41471"/>
                  <a:pt x="72991" y="81500"/>
                </a:cubicBezTo>
                <a:cubicBezTo>
                  <a:pt x="72991" y="133428"/>
                  <a:pt x="131339" y="195815"/>
                  <a:pt x="145746" y="210240"/>
                </a:cubicBezTo>
                <a:cubicBezTo>
                  <a:pt x="159793" y="195815"/>
                  <a:pt x="218141" y="133068"/>
                  <a:pt x="218141" y="81500"/>
                </a:cubicBezTo>
                <a:cubicBezTo>
                  <a:pt x="218141" y="41471"/>
                  <a:pt x="185725" y="8655"/>
                  <a:pt x="145746" y="8655"/>
                </a:cubicBezTo>
                <a:close/>
                <a:moveTo>
                  <a:pt x="145746" y="0"/>
                </a:moveTo>
                <a:cubicBezTo>
                  <a:pt x="190408" y="0"/>
                  <a:pt x="226785" y="36422"/>
                  <a:pt x="226785" y="81500"/>
                </a:cubicBezTo>
                <a:cubicBezTo>
                  <a:pt x="226785" y="109628"/>
                  <a:pt x="211658" y="139920"/>
                  <a:pt x="194369" y="164802"/>
                </a:cubicBezTo>
                <a:lnTo>
                  <a:pt x="251637" y="164802"/>
                </a:lnTo>
                <a:cubicBezTo>
                  <a:pt x="253438" y="164802"/>
                  <a:pt x="255239" y="166245"/>
                  <a:pt x="255599" y="168048"/>
                </a:cubicBezTo>
                <a:lnTo>
                  <a:pt x="290896" y="285609"/>
                </a:lnTo>
                <a:cubicBezTo>
                  <a:pt x="291616" y="287051"/>
                  <a:pt x="291256" y="288494"/>
                  <a:pt x="290536" y="289936"/>
                </a:cubicBezTo>
                <a:cubicBezTo>
                  <a:pt x="289455" y="291018"/>
                  <a:pt x="288375" y="291739"/>
                  <a:pt x="286934" y="291739"/>
                </a:cubicBezTo>
                <a:lnTo>
                  <a:pt x="4198" y="291739"/>
                </a:lnTo>
                <a:cubicBezTo>
                  <a:pt x="3117" y="291739"/>
                  <a:pt x="1677" y="291018"/>
                  <a:pt x="596" y="289936"/>
                </a:cubicBezTo>
                <a:cubicBezTo>
                  <a:pt x="-124" y="288494"/>
                  <a:pt x="-124" y="287051"/>
                  <a:pt x="236" y="285609"/>
                </a:cubicBezTo>
                <a:lnTo>
                  <a:pt x="35533" y="168048"/>
                </a:lnTo>
                <a:cubicBezTo>
                  <a:pt x="36253" y="166245"/>
                  <a:pt x="37694" y="164802"/>
                  <a:pt x="39855" y="164802"/>
                </a:cubicBezTo>
                <a:lnTo>
                  <a:pt x="96402" y="164802"/>
                </a:lnTo>
                <a:cubicBezTo>
                  <a:pt x="79834" y="139920"/>
                  <a:pt x="64347" y="109628"/>
                  <a:pt x="64347" y="81500"/>
                </a:cubicBezTo>
                <a:cubicBezTo>
                  <a:pt x="64347" y="36422"/>
                  <a:pt x="100724" y="0"/>
                  <a:pt x="145746" y="0"/>
                </a:cubicBezTo>
                <a:close/>
              </a:path>
            </a:pathLst>
          </a:custGeom>
          <a:solidFill>
            <a:srgbClr val="CC9B00"/>
          </a:solidFill>
          <a:ln>
            <a:noFill/>
          </a:ln>
          <a:effectLst/>
        </p:spPr>
        <p:txBody>
          <a:bodyPr anchor="ctr"/>
          <a:lstStyle/>
          <a:p>
            <a:endParaRPr lang="en-US" sz="900" noProof="0">
              <a:latin typeface="+mj-lt"/>
            </a:endParaRPr>
          </a:p>
        </p:txBody>
      </p:sp>
      <p:sp>
        <p:nvSpPr>
          <p:cNvPr id="8" name="Chevron 6">
            <a:extLst>
              <a:ext uri="{FF2B5EF4-FFF2-40B4-BE49-F238E27FC236}">
                <a16:creationId xmlns:a16="http://schemas.microsoft.com/office/drawing/2014/main" id="{2A8E648B-052F-2265-5C16-5D438600C7B6}"/>
              </a:ext>
            </a:extLst>
          </p:cNvPr>
          <p:cNvSpPr/>
          <p:nvPr/>
        </p:nvSpPr>
        <p:spPr>
          <a:xfrm>
            <a:off x="7281051" y="1644995"/>
            <a:ext cx="2039674" cy="26665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Super </a:t>
            </a:r>
            <a:r>
              <a:rPr lang="en-US" sz="1400" b="1" noProof="0" err="1">
                <a:solidFill>
                  <a:schemeClr val="bg1"/>
                </a:solidFill>
                <a:latin typeface="+mj-lt"/>
                <a:cs typeface="Poppins" pitchFamily="2" charset="77"/>
              </a:rPr>
              <a:t>Diagnosers</a:t>
            </a:r>
            <a:endParaRPr lang="en-US" sz="1400" b="1" noProof="0">
              <a:solidFill>
                <a:schemeClr val="bg1"/>
              </a:solidFill>
              <a:latin typeface="+mj-lt"/>
              <a:cs typeface="Poppins" pitchFamily="2" charset="77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9005667-054A-DE1A-EC26-E06CD19ECD95}"/>
              </a:ext>
            </a:extLst>
          </p:cNvPr>
          <p:cNvSpPr>
            <a:spLocks noChangeAspect="1"/>
          </p:cNvSpPr>
          <p:nvPr/>
        </p:nvSpPr>
        <p:spPr>
          <a:xfrm>
            <a:off x="8050049" y="1007310"/>
            <a:ext cx="501678" cy="457200"/>
          </a:xfrm>
          <a:custGeom>
            <a:avLst/>
            <a:gdLst>
              <a:gd name="connsiteX0" fmla="*/ 168967 w 856359"/>
              <a:gd name="connsiteY0" fmla="*/ 125369 h 803463"/>
              <a:gd name="connsiteX1" fmla="*/ 138059 w 856359"/>
              <a:gd name="connsiteY1" fmla="*/ 120931 h 803463"/>
              <a:gd name="connsiteX2" fmla="*/ 104654 w 856359"/>
              <a:gd name="connsiteY2" fmla="*/ 141743 h 803463"/>
              <a:gd name="connsiteX3" fmla="*/ 104645 w 856359"/>
              <a:gd name="connsiteY3" fmla="*/ 141762 h 803463"/>
              <a:gd name="connsiteX4" fmla="*/ 95720 w 856359"/>
              <a:gd name="connsiteY4" fmla="*/ 180205 h 803463"/>
              <a:gd name="connsiteX5" fmla="*/ 109903 w 856359"/>
              <a:gd name="connsiteY5" fmla="*/ 207970 h 803463"/>
              <a:gd name="connsiteX6" fmla="*/ 168967 w 856359"/>
              <a:gd name="connsiteY6" fmla="*/ 125369 h 803463"/>
              <a:gd name="connsiteX7" fmla="*/ 168967 w 856359"/>
              <a:gd name="connsiteY7" fmla="*/ 125369 h 803463"/>
              <a:gd name="connsiteX8" fmla="*/ 594049 w 856359"/>
              <a:gd name="connsiteY8" fmla="*/ 131246 h 803463"/>
              <a:gd name="connsiteX9" fmla="*/ 655218 w 856359"/>
              <a:gd name="connsiteY9" fmla="*/ 131246 h 803463"/>
              <a:gd name="connsiteX10" fmla="*/ 663962 w 856359"/>
              <a:gd name="connsiteY10" fmla="*/ 139990 h 803463"/>
              <a:gd name="connsiteX11" fmla="*/ 663962 w 856359"/>
              <a:gd name="connsiteY11" fmla="*/ 192425 h 803463"/>
              <a:gd name="connsiteX12" fmla="*/ 716340 w 856359"/>
              <a:gd name="connsiteY12" fmla="*/ 192425 h 803463"/>
              <a:gd name="connsiteX13" fmla="*/ 725084 w 856359"/>
              <a:gd name="connsiteY13" fmla="*/ 201160 h 803463"/>
              <a:gd name="connsiteX14" fmla="*/ 725084 w 856359"/>
              <a:gd name="connsiteY14" fmla="*/ 262282 h 803463"/>
              <a:gd name="connsiteX15" fmla="*/ 716340 w 856359"/>
              <a:gd name="connsiteY15" fmla="*/ 271026 h 803463"/>
              <a:gd name="connsiteX16" fmla="*/ 663962 w 856359"/>
              <a:gd name="connsiteY16" fmla="*/ 271026 h 803463"/>
              <a:gd name="connsiteX17" fmla="*/ 663962 w 856359"/>
              <a:gd name="connsiteY17" fmla="*/ 323461 h 803463"/>
              <a:gd name="connsiteX18" fmla="*/ 655218 w 856359"/>
              <a:gd name="connsiteY18" fmla="*/ 332205 h 803463"/>
              <a:gd name="connsiteX19" fmla="*/ 594049 w 856359"/>
              <a:gd name="connsiteY19" fmla="*/ 332205 h 803463"/>
              <a:gd name="connsiteX20" fmla="*/ 585315 w 856359"/>
              <a:gd name="connsiteY20" fmla="*/ 323461 h 803463"/>
              <a:gd name="connsiteX21" fmla="*/ 585315 w 856359"/>
              <a:gd name="connsiteY21" fmla="*/ 271026 h 803463"/>
              <a:gd name="connsiteX22" fmla="*/ 532927 w 856359"/>
              <a:gd name="connsiteY22" fmla="*/ 271026 h 803463"/>
              <a:gd name="connsiteX23" fmla="*/ 524183 w 856359"/>
              <a:gd name="connsiteY23" fmla="*/ 262282 h 803463"/>
              <a:gd name="connsiteX24" fmla="*/ 524183 w 856359"/>
              <a:gd name="connsiteY24" fmla="*/ 201160 h 803463"/>
              <a:gd name="connsiteX25" fmla="*/ 532927 w 856359"/>
              <a:gd name="connsiteY25" fmla="*/ 192425 h 803463"/>
              <a:gd name="connsiteX26" fmla="*/ 585315 w 856359"/>
              <a:gd name="connsiteY26" fmla="*/ 192425 h 803463"/>
              <a:gd name="connsiteX27" fmla="*/ 585315 w 856359"/>
              <a:gd name="connsiteY27" fmla="*/ 139981 h 803463"/>
              <a:gd name="connsiteX28" fmla="*/ 594049 w 856359"/>
              <a:gd name="connsiteY28" fmla="*/ 131246 h 803463"/>
              <a:gd name="connsiteX29" fmla="*/ 594049 w 856359"/>
              <a:gd name="connsiteY29" fmla="*/ 131246 h 803463"/>
              <a:gd name="connsiteX30" fmla="*/ 646484 w 856359"/>
              <a:gd name="connsiteY30" fmla="*/ 148725 h 803463"/>
              <a:gd name="connsiteX31" fmla="*/ 602783 w 856359"/>
              <a:gd name="connsiteY31" fmla="*/ 148725 h 803463"/>
              <a:gd name="connsiteX32" fmla="*/ 602783 w 856359"/>
              <a:gd name="connsiteY32" fmla="*/ 201160 h 803463"/>
              <a:gd name="connsiteX33" fmla="*/ 594049 w 856359"/>
              <a:gd name="connsiteY33" fmla="*/ 209894 h 803463"/>
              <a:gd name="connsiteX34" fmla="*/ 541661 w 856359"/>
              <a:gd name="connsiteY34" fmla="*/ 209894 h 803463"/>
              <a:gd name="connsiteX35" fmla="*/ 541661 w 856359"/>
              <a:gd name="connsiteY35" fmla="*/ 253538 h 803463"/>
              <a:gd name="connsiteX36" fmla="*/ 594049 w 856359"/>
              <a:gd name="connsiteY36" fmla="*/ 253538 h 803463"/>
              <a:gd name="connsiteX37" fmla="*/ 602783 w 856359"/>
              <a:gd name="connsiteY37" fmla="*/ 262272 h 803463"/>
              <a:gd name="connsiteX38" fmla="*/ 602783 w 856359"/>
              <a:gd name="connsiteY38" fmla="*/ 314707 h 803463"/>
              <a:gd name="connsiteX39" fmla="*/ 646484 w 856359"/>
              <a:gd name="connsiteY39" fmla="*/ 314707 h 803463"/>
              <a:gd name="connsiteX40" fmla="*/ 646484 w 856359"/>
              <a:gd name="connsiteY40" fmla="*/ 262282 h 803463"/>
              <a:gd name="connsiteX41" fmla="*/ 655218 w 856359"/>
              <a:gd name="connsiteY41" fmla="*/ 253547 h 803463"/>
              <a:gd name="connsiteX42" fmla="*/ 707606 w 856359"/>
              <a:gd name="connsiteY42" fmla="*/ 253547 h 803463"/>
              <a:gd name="connsiteX43" fmla="*/ 707606 w 856359"/>
              <a:gd name="connsiteY43" fmla="*/ 209894 h 803463"/>
              <a:gd name="connsiteX44" fmla="*/ 655218 w 856359"/>
              <a:gd name="connsiteY44" fmla="*/ 209894 h 803463"/>
              <a:gd name="connsiteX45" fmla="*/ 646484 w 856359"/>
              <a:gd name="connsiteY45" fmla="*/ 201160 h 803463"/>
              <a:gd name="connsiteX46" fmla="*/ 646484 w 856359"/>
              <a:gd name="connsiteY46" fmla="*/ 148725 h 803463"/>
              <a:gd name="connsiteX47" fmla="*/ 646484 w 856359"/>
              <a:gd name="connsiteY47" fmla="*/ 148725 h 803463"/>
              <a:gd name="connsiteX48" fmla="*/ 240900 w 856359"/>
              <a:gd name="connsiteY48" fmla="*/ 503931 h 803463"/>
              <a:gd name="connsiteX49" fmla="*/ 270237 w 856359"/>
              <a:gd name="connsiteY49" fmla="*/ 516085 h 803463"/>
              <a:gd name="connsiteX50" fmla="*/ 282391 w 856359"/>
              <a:gd name="connsiteY50" fmla="*/ 545422 h 803463"/>
              <a:gd name="connsiteX51" fmla="*/ 270237 w 856359"/>
              <a:gd name="connsiteY51" fmla="*/ 574759 h 803463"/>
              <a:gd name="connsiteX52" fmla="*/ 240900 w 856359"/>
              <a:gd name="connsiteY52" fmla="*/ 586913 h 803463"/>
              <a:gd name="connsiteX53" fmla="*/ 211563 w 856359"/>
              <a:gd name="connsiteY53" fmla="*/ 574759 h 803463"/>
              <a:gd name="connsiteX54" fmla="*/ 199409 w 856359"/>
              <a:gd name="connsiteY54" fmla="*/ 545422 h 803463"/>
              <a:gd name="connsiteX55" fmla="*/ 211563 w 856359"/>
              <a:gd name="connsiteY55" fmla="*/ 516085 h 803463"/>
              <a:gd name="connsiteX56" fmla="*/ 240900 w 856359"/>
              <a:gd name="connsiteY56" fmla="*/ 503931 h 803463"/>
              <a:gd name="connsiteX57" fmla="*/ 240900 w 856359"/>
              <a:gd name="connsiteY57" fmla="*/ 503931 h 803463"/>
              <a:gd name="connsiteX58" fmla="*/ 257883 w 856359"/>
              <a:gd name="connsiteY58" fmla="*/ 528448 h 803463"/>
              <a:gd name="connsiteX59" fmla="*/ 240900 w 856359"/>
              <a:gd name="connsiteY59" fmla="*/ 521419 h 803463"/>
              <a:gd name="connsiteX60" fmla="*/ 223917 w 856359"/>
              <a:gd name="connsiteY60" fmla="*/ 528448 h 803463"/>
              <a:gd name="connsiteX61" fmla="*/ 216887 w 856359"/>
              <a:gd name="connsiteY61" fmla="*/ 545431 h 803463"/>
              <a:gd name="connsiteX62" fmla="*/ 223917 w 856359"/>
              <a:gd name="connsiteY62" fmla="*/ 562414 h 803463"/>
              <a:gd name="connsiteX63" fmla="*/ 240900 w 856359"/>
              <a:gd name="connsiteY63" fmla="*/ 569444 h 803463"/>
              <a:gd name="connsiteX64" fmla="*/ 257883 w 856359"/>
              <a:gd name="connsiteY64" fmla="*/ 562414 h 803463"/>
              <a:gd name="connsiteX65" fmla="*/ 264913 w 856359"/>
              <a:gd name="connsiteY65" fmla="*/ 545431 h 803463"/>
              <a:gd name="connsiteX66" fmla="*/ 257883 w 856359"/>
              <a:gd name="connsiteY66" fmla="*/ 528448 h 803463"/>
              <a:gd name="connsiteX67" fmla="*/ 257883 w 856359"/>
              <a:gd name="connsiteY67" fmla="*/ 528448 h 803463"/>
              <a:gd name="connsiteX68" fmla="*/ 332026 w 856359"/>
              <a:gd name="connsiteY68" fmla="*/ 568768 h 803463"/>
              <a:gd name="connsiteX69" fmla="*/ 289144 w 856359"/>
              <a:gd name="connsiteY69" fmla="*/ 586532 h 803463"/>
              <a:gd name="connsiteX70" fmla="*/ 271380 w 856359"/>
              <a:gd name="connsiteY70" fmla="*/ 629413 h 803463"/>
              <a:gd name="connsiteX71" fmla="*/ 289144 w 856359"/>
              <a:gd name="connsiteY71" fmla="*/ 672295 h 803463"/>
              <a:gd name="connsiteX72" fmla="*/ 332026 w 856359"/>
              <a:gd name="connsiteY72" fmla="*/ 690059 h 803463"/>
              <a:gd name="connsiteX73" fmla="*/ 374907 w 856359"/>
              <a:gd name="connsiteY73" fmla="*/ 672295 h 803463"/>
              <a:gd name="connsiteX74" fmla="*/ 392671 w 856359"/>
              <a:gd name="connsiteY74" fmla="*/ 629413 h 803463"/>
              <a:gd name="connsiteX75" fmla="*/ 374907 w 856359"/>
              <a:gd name="connsiteY75" fmla="*/ 586532 h 803463"/>
              <a:gd name="connsiteX76" fmla="*/ 332026 w 856359"/>
              <a:gd name="connsiteY76" fmla="*/ 568768 h 803463"/>
              <a:gd name="connsiteX77" fmla="*/ 332026 w 856359"/>
              <a:gd name="connsiteY77" fmla="*/ 568768 h 803463"/>
              <a:gd name="connsiteX78" fmla="*/ 362544 w 856359"/>
              <a:gd name="connsiteY78" fmla="*/ 598886 h 803463"/>
              <a:gd name="connsiteX79" fmla="*/ 375183 w 856359"/>
              <a:gd name="connsiteY79" fmla="*/ 629404 h 803463"/>
              <a:gd name="connsiteX80" fmla="*/ 362544 w 856359"/>
              <a:gd name="connsiteY80" fmla="*/ 659922 h 803463"/>
              <a:gd name="connsiteX81" fmla="*/ 332026 w 856359"/>
              <a:gd name="connsiteY81" fmla="*/ 672562 h 803463"/>
              <a:gd name="connsiteX82" fmla="*/ 301508 w 856359"/>
              <a:gd name="connsiteY82" fmla="*/ 659922 h 803463"/>
              <a:gd name="connsiteX83" fmla="*/ 288868 w 856359"/>
              <a:gd name="connsiteY83" fmla="*/ 629404 h 803463"/>
              <a:gd name="connsiteX84" fmla="*/ 301508 w 856359"/>
              <a:gd name="connsiteY84" fmla="*/ 598886 h 803463"/>
              <a:gd name="connsiteX85" fmla="*/ 332026 w 856359"/>
              <a:gd name="connsiteY85" fmla="*/ 586246 h 803463"/>
              <a:gd name="connsiteX86" fmla="*/ 362544 w 856359"/>
              <a:gd name="connsiteY86" fmla="*/ 598886 h 803463"/>
              <a:gd name="connsiteX87" fmla="*/ 362544 w 856359"/>
              <a:gd name="connsiteY87" fmla="*/ 598886 h 803463"/>
              <a:gd name="connsiteX88" fmla="*/ 175492 w 856359"/>
              <a:gd name="connsiteY88" fmla="*/ 595466 h 803463"/>
              <a:gd name="connsiteX89" fmla="*/ 230927 w 856359"/>
              <a:gd name="connsiteY89" fmla="*/ 618431 h 803463"/>
              <a:gd name="connsiteX90" fmla="*/ 253892 w 856359"/>
              <a:gd name="connsiteY90" fmla="*/ 673866 h 803463"/>
              <a:gd name="connsiteX91" fmla="*/ 230927 w 856359"/>
              <a:gd name="connsiteY91" fmla="*/ 729302 h 803463"/>
              <a:gd name="connsiteX92" fmla="*/ 175492 w 856359"/>
              <a:gd name="connsiteY92" fmla="*/ 752267 h 803463"/>
              <a:gd name="connsiteX93" fmla="*/ 120056 w 856359"/>
              <a:gd name="connsiteY93" fmla="*/ 729302 h 803463"/>
              <a:gd name="connsiteX94" fmla="*/ 97092 w 856359"/>
              <a:gd name="connsiteY94" fmla="*/ 673866 h 803463"/>
              <a:gd name="connsiteX95" fmla="*/ 120056 w 856359"/>
              <a:gd name="connsiteY95" fmla="*/ 618431 h 803463"/>
              <a:gd name="connsiteX96" fmla="*/ 175492 w 856359"/>
              <a:gd name="connsiteY96" fmla="*/ 595466 h 803463"/>
              <a:gd name="connsiteX97" fmla="*/ 175492 w 856359"/>
              <a:gd name="connsiteY97" fmla="*/ 595466 h 803463"/>
              <a:gd name="connsiteX98" fmla="*/ 218564 w 856359"/>
              <a:gd name="connsiteY98" fmla="*/ 630785 h 803463"/>
              <a:gd name="connsiteX99" fmla="*/ 175482 w 856359"/>
              <a:gd name="connsiteY99" fmla="*/ 612945 h 803463"/>
              <a:gd name="connsiteX100" fmla="*/ 132410 w 856359"/>
              <a:gd name="connsiteY100" fmla="*/ 630785 h 803463"/>
              <a:gd name="connsiteX101" fmla="*/ 114570 w 856359"/>
              <a:gd name="connsiteY101" fmla="*/ 673857 h 803463"/>
              <a:gd name="connsiteX102" fmla="*/ 132410 w 856359"/>
              <a:gd name="connsiteY102" fmla="*/ 716939 h 803463"/>
              <a:gd name="connsiteX103" fmla="*/ 175482 w 856359"/>
              <a:gd name="connsiteY103" fmla="*/ 734779 h 803463"/>
              <a:gd name="connsiteX104" fmla="*/ 218564 w 856359"/>
              <a:gd name="connsiteY104" fmla="*/ 716939 h 803463"/>
              <a:gd name="connsiteX105" fmla="*/ 236404 w 856359"/>
              <a:gd name="connsiteY105" fmla="*/ 673857 h 803463"/>
              <a:gd name="connsiteX106" fmla="*/ 218564 w 856359"/>
              <a:gd name="connsiteY106" fmla="*/ 630785 h 803463"/>
              <a:gd name="connsiteX107" fmla="*/ 218564 w 856359"/>
              <a:gd name="connsiteY107" fmla="*/ 630785 h 803463"/>
              <a:gd name="connsiteX108" fmla="*/ 332102 w 856359"/>
              <a:gd name="connsiteY108" fmla="*/ 342168 h 803463"/>
              <a:gd name="connsiteX109" fmla="*/ 352971 w 856359"/>
              <a:gd name="connsiteY109" fmla="*/ 333338 h 803463"/>
              <a:gd name="connsiteX110" fmla="*/ 361801 w 856359"/>
              <a:gd name="connsiteY110" fmla="*/ 312088 h 803463"/>
              <a:gd name="connsiteX111" fmla="*/ 352971 w 856359"/>
              <a:gd name="connsiteY111" fmla="*/ 290838 h 803463"/>
              <a:gd name="connsiteX112" fmla="*/ 331721 w 856359"/>
              <a:gd name="connsiteY112" fmla="*/ 282008 h 803463"/>
              <a:gd name="connsiteX113" fmla="*/ 163243 w 856359"/>
              <a:gd name="connsiteY113" fmla="*/ 282008 h 803463"/>
              <a:gd name="connsiteX114" fmla="*/ 141992 w 856359"/>
              <a:gd name="connsiteY114" fmla="*/ 290838 h 803463"/>
              <a:gd name="connsiteX115" fmla="*/ 133163 w 856359"/>
              <a:gd name="connsiteY115" fmla="*/ 312088 h 803463"/>
              <a:gd name="connsiteX116" fmla="*/ 141992 w 856359"/>
              <a:gd name="connsiteY116" fmla="*/ 333338 h 803463"/>
              <a:gd name="connsiteX117" fmla="*/ 162862 w 856359"/>
              <a:gd name="connsiteY117" fmla="*/ 342168 h 803463"/>
              <a:gd name="connsiteX118" fmla="*/ 162862 w 856359"/>
              <a:gd name="connsiteY118" fmla="*/ 381277 h 803463"/>
              <a:gd name="connsiteX119" fmla="*/ 162185 w 856359"/>
              <a:gd name="connsiteY119" fmla="*/ 389393 h 803463"/>
              <a:gd name="connsiteX120" fmla="*/ 160090 w 856359"/>
              <a:gd name="connsiteY120" fmla="*/ 395851 h 803463"/>
              <a:gd name="connsiteX121" fmla="*/ 159776 w 856359"/>
              <a:gd name="connsiteY121" fmla="*/ 396422 h 803463"/>
              <a:gd name="connsiteX122" fmla="*/ 6880 w 856359"/>
              <a:gd name="connsiteY122" fmla="*/ 702394 h 803463"/>
              <a:gd name="connsiteX123" fmla="*/ 6909 w 856359"/>
              <a:gd name="connsiteY123" fmla="*/ 702403 h 803463"/>
              <a:gd name="connsiteX124" fmla="*/ 222 w 856359"/>
              <a:gd name="connsiteY124" fmla="*/ 736703 h 803463"/>
              <a:gd name="connsiteX125" fmla="*/ 12310 w 856359"/>
              <a:gd name="connsiteY125" fmla="*/ 770869 h 803463"/>
              <a:gd name="connsiteX126" fmla="*/ 38151 w 856359"/>
              <a:gd name="connsiteY126" fmla="*/ 794996 h 803463"/>
              <a:gd name="connsiteX127" fmla="*/ 72412 w 856359"/>
              <a:gd name="connsiteY127" fmla="*/ 803464 h 803463"/>
              <a:gd name="connsiteX128" fmla="*/ 440735 w 856359"/>
              <a:gd name="connsiteY128" fmla="*/ 803464 h 803463"/>
              <a:gd name="connsiteX129" fmla="*/ 475729 w 856359"/>
              <a:gd name="connsiteY129" fmla="*/ 794586 h 803463"/>
              <a:gd name="connsiteX130" fmla="*/ 501714 w 856359"/>
              <a:gd name="connsiteY130" fmla="*/ 769536 h 803463"/>
              <a:gd name="connsiteX131" fmla="*/ 512658 w 856359"/>
              <a:gd name="connsiteY131" fmla="*/ 735122 h 803463"/>
              <a:gd name="connsiteX132" fmla="*/ 505066 w 856359"/>
              <a:gd name="connsiteY132" fmla="*/ 699851 h 803463"/>
              <a:gd name="connsiteX133" fmla="*/ 505066 w 856359"/>
              <a:gd name="connsiteY133" fmla="*/ 699851 h 803463"/>
              <a:gd name="connsiteX134" fmla="*/ 504866 w 856359"/>
              <a:gd name="connsiteY134" fmla="*/ 699470 h 803463"/>
              <a:gd name="connsiteX135" fmla="*/ 335864 w 856359"/>
              <a:gd name="connsiteY135" fmla="*/ 396879 h 803463"/>
              <a:gd name="connsiteX136" fmla="*/ 332950 w 856359"/>
              <a:gd name="connsiteY136" fmla="*/ 389164 h 803463"/>
              <a:gd name="connsiteX137" fmla="*/ 332102 w 856359"/>
              <a:gd name="connsiteY137" fmla="*/ 380182 h 803463"/>
              <a:gd name="connsiteX138" fmla="*/ 332102 w 856359"/>
              <a:gd name="connsiteY138" fmla="*/ 342168 h 803463"/>
              <a:gd name="connsiteX139" fmla="*/ 332102 w 856359"/>
              <a:gd name="connsiteY139" fmla="*/ 342168 h 803463"/>
              <a:gd name="connsiteX140" fmla="*/ 180331 w 856359"/>
              <a:gd name="connsiteY140" fmla="*/ 342168 h 803463"/>
              <a:gd name="connsiteX141" fmla="*/ 180331 w 856359"/>
              <a:gd name="connsiteY141" fmla="*/ 381277 h 803463"/>
              <a:gd name="connsiteX142" fmla="*/ 179311 w 856359"/>
              <a:gd name="connsiteY142" fmla="*/ 392746 h 803463"/>
              <a:gd name="connsiteX143" fmla="*/ 175730 w 856359"/>
              <a:gd name="connsiteY143" fmla="*/ 403490 h 803463"/>
              <a:gd name="connsiteX144" fmla="*/ 175416 w 856359"/>
              <a:gd name="connsiteY144" fmla="*/ 404214 h 803463"/>
              <a:gd name="connsiteX145" fmla="*/ 22520 w 856359"/>
              <a:gd name="connsiteY145" fmla="*/ 710176 h 803463"/>
              <a:gd name="connsiteX146" fmla="*/ 22492 w 856359"/>
              <a:gd name="connsiteY146" fmla="*/ 710166 h 803463"/>
              <a:gd name="connsiteX147" fmla="*/ 22482 w 856359"/>
              <a:gd name="connsiteY147" fmla="*/ 710176 h 803463"/>
              <a:gd name="connsiteX148" fmla="*/ 17624 w 856359"/>
              <a:gd name="connsiteY148" fmla="*/ 735341 h 803463"/>
              <a:gd name="connsiteX149" fmla="*/ 26911 w 856359"/>
              <a:gd name="connsiteY149" fmla="*/ 761392 h 803463"/>
              <a:gd name="connsiteX150" fmla="*/ 46409 w 856359"/>
              <a:gd name="connsiteY150" fmla="*/ 779642 h 803463"/>
              <a:gd name="connsiteX151" fmla="*/ 72412 w 856359"/>
              <a:gd name="connsiteY151" fmla="*/ 785985 h 803463"/>
              <a:gd name="connsiteX152" fmla="*/ 440735 w 856359"/>
              <a:gd name="connsiteY152" fmla="*/ 785985 h 803463"/>
              <a:gd name="connsiteX153" fmla="*/ 467262 w 856359"/>
              <a:gd name="connsiteY153" fmla="*/ 779365 h 803463"/>
              <a:gd name="connsiteX154" fmla="*/ 486893 w 856359"/>
              <a:gd name="connsiteY154" fmla="*/ 760325 h 803463"/>
              <a:gd name="connsiteX155" fmla="*/ 495246 w 856359"/>
              <a:gd name="connsiteY155" fmla="*/ 734303 h 803463"/>
              <a:gd name="connsiteX156" fmla="*/ 489464 w 856359"/>
              <a:gd name="connsiteY156" fmla="*/ 707642 h 803463"/>
              <a:gd name="connsiteX157" fmla="*/ 320634 w 856359"/>
              <a:gd name="connsiteY157" fmla="*/ 405347 h 803463"/>
              <a:gd name="connsiteX158" fmla="*/ 315881 w 856359"/>
              <a:gd name="connsiteY158" fmla="*/ 392860 h 803463"/>
              <a:gd name="connsiteX159" fmla="*/ 314624 w 856359"/>
              <a:gd name="connsiteY159" fmla="*/ 380192 h 803463"/>
              <a:gd name="connsiteX160" fmla="*/ 314624 w 856359"/>
              <a:gd name="connsiteY160" fmla="*/ 342168 h 803463"/>
              <a:gd name="connsiteX161" fmla="*/ 180331 w 856359"/>
              <a:gd name="connsiteY161" fmla="*/ 342168 h 803463"/>
              <a:gd name="connsiteX162" fmla="*/ 180331 w 856359"/>
              <a:gd name="connsiteY162" fmla="*/ 342168 h 803463"/>
              <a:gd name="connsiteX163" fmla="*/ 331721 w 856359"/>
              <a:gd name="connsiteY163" fmla="*/ 299486 h 803463"/>
              <a:gd name="connsiteX164" fmla="*/ 340617 w 856359"/>
              <a:gd name="connsiteY164" fmla="*/ 303192 h 803463"/>
              <a:gd name="connsiteX165" fmla="*/ 344322 w 856359"/>
              <a:gd name="connsiteY165" fmla="*/ 312088 h 803463"/>
              <a:gd name="connsiteX166" fmla="*/ 340617 w 856359"/>
              <a:gd name="connsiteY166" fmla="*/ 320984 h 803463"/>
              <a:gd name="connsiteX167" fmla="*/ 331721 w 856359"/>
              <a:gd name="connsiteY167" fmla="*/ 324689 h 803463"/>
              <a:gd name="connsiteX168" fmla="*/ 323367 w 856359"/>
              <a:gd name="connsiteY168" fmla="*/ 324689 h 803463"/>
              <a:gd name="connsiteX169" fmla="*/ 171596 w 856359"/>
              <a:gd name="connsiteY169" fmla="*/ 324689 h 803463"/>
              <a:gd name="connsiteX170" fmla="*/ 163243 w 856359"/>
              <a:gd name="connsiteY170" fmla="*/ 324689 h 803463"/>
              <a:gd name="connsiteX171" fmla="*/ 154346 w 856359"/>
              <a:gd name="connsiteY171" fmla="*/ 320984 h 803463"/>
              <a:gd name="connsiteX172" fmla="*/ 150632 w 856359"/>
              <a:gd name="connsiteY172" fmla="*/ 312088 h 803463"/>
              <a:gd name="connsiteX173" fmla="*/ 154346 w 856359"/>
              <a:gd name="connsiteY173" fmla="*/ 303192 h 803463"/>
              <a:gd name="connsiteX174" fmla="*/ 163243 w 856359"/>
              <a:gd name="connsiteY174" fmla="*/ 299486 h 803463"/>
              <a:gd name="connsiteX175" fmla="*/ 331721 w 856359"/>
              <a:gd name="connsiteY175" fmla="*/ 299486 h 803463"/>
              <a:gd name="connsiteX176" fmla="*/ 331721 w 856359"/>
              <a:gd name="connsiteY176" fmla="*/ 299486 h 803463"/>
              <a:gd name="connsiteX177" fmla="*/ 682098 w 856359"/>
              <a:gd name="connsiteY177" fmla="*/ 456258 h 803463"/>
              <a:gd name="connsiteX178" fmla="*/ 790626 w 856359"/>
              <a:gd name="connsiteY178" fmla="*/ 393422 h 803463"/>
              <a:gd name="connsiteX179" fmla="*/ 856339 w 856359"/>
              <a:gd name="connsiteY179" fmla="*/ 228706 h 803463"/>
              <a:gd name="connsiteX180" fmla="*/ 786330 w 856359"/>
              <a:gd name="connsiteY180" fmla="*/ 65733 h 803463"/>
              <a:gd name="connsiteX181" fmla="*/ 621614 w 856359"/>
              <a:gd name="connsiteY181" fmla="*/ 20 h 803463"/>
              <a:gd name="connsiteX182" fmla="*/ 458632 w 856359"/>
              <a:gd name="connsiteY182" fmla="*/ 70029 h 803463"/>
              <a:gd name="connsiteX183" fmla="*/ 392919 w 856359"/>
              <a:gd name="connsiteY183" fmla="*/ 234745 h 803463"/>
              <a:gd name="connsiteX184" fmla="*/ 462918 w 856359"/>
              <a:gd name="connsiteY184" fmla="*/ 397718 h 803463"/>
              <a:gd name="connsiteX185" fmla="*/ 568874 w 856359"/>
              <a:gd name="connsiteY185" fmla="*/ 456706 h 803463"/>
              <a:gd name="connsiteX186" fmla="*/ 569151 w 856359"/>
              <a:gd name="connsiteY186" fmla="*/ 540012 h 803463"/>
              <a:gd name="connsiteX187" fmla="*/ 559959 w 856359"/>
              <a:gd name="connsiteY187" fmla="*/ 545698 h 803463"/>
              <a:gd name="connsiteX188" fmla="*/ 544862 w 856359"/>
              <a:gd name="connsiteY188" fmla="*/ 574749 h 803463"/>
              <a:gd name="connsiteX189" fmla="*/ 543586 w 856359"/>
              <a:gd name="connsiteY189" fmla="*/ 762792 h 803463"/>
              <a:gd name="connsiteX190" fmla="*/ 558206 w 856359"/>
              <a:gd name="connsiteY190" fmla="*/ 791834 h 803463"/>
              <a:gd name="connsiteX191" fmla="*/ 591363 w 856359"/>
              <a:gd name="connsiteY191" fmla="*/ 803178 h 803463"/>
              <a:gd name="connsiteX192" fmla="*/ 656295 w 856359"/>
              <a:gd name="connsiteY192" fmla="*/ 803454 h 803463"/>
              <a:gd name="connsiteX193" fmla="*/ 689756 w 856359"/>
              <a:gd name="connsiteY193" fmla="*/ 792453 h 803463"/>
              <a:gd name="connsiteX194" fmla="*/ 704844 w 856359"/>
              <a:gd name="connsiteY194" fmla="*/ 763411 h 803463"/>
              <a:gd name="connsiteX195" fmla="*/ 706111 w 856359"/>
              <a:gd name="connsiteY195" fmla="*/ 576235 h 803463"/>
              <a:gd name="connsiteX196" fmla="*/ 706149 w 856359"/>
              <a:gd name="connsiteY196" fmla="*/ 575407 h 803463"/>
              <a:gd name="connsiteX197" fmla="*/ 706149 w 856359"/>
              <a:gd name="connsiteY197" fmla="*/ 575368 h 803463"/>
              <a:gd name="connsiteX198" fmla="*/ 706120 w 856359"/>
              <a:gd name="connsiteY198" fmla="*/ 575368 h 803463"/>
              <a:gd name="connsiteX199" fmla="*/ 691490 w 856359"/>
              <a:gd name="connsiteY199" fmla="*/ 546327 h 803463"/>
              <a:gd name="connsiteX200" fmla="*/ 682384 w 856359"/>
              <a:gd name="connsiteY200" fmla="*/ 540536 h 803463"/>
              <a:gd name="connsiteX201" fmla="*/ 682098 w 856359"/>
              <a:gd name="connsiteY201" fmla="*/ 456258 h 803463"/>
              <a:gd name="connsiteX202" fmla="*/ 682098 w 856359"/>
              <a:gd name="connsiteY202" fmla="*/ 456258 h 803463"/>
              <a:gd name="connsiteX203" fmla="*/ 625786 w 856359"/>
              <a:gd name="connsiteY203" fmla="*/ 552232 h 803463"/>
              <a:gd name="connsiteX204" fmla="*/ 658152 w 856359"/>
              <a:gd name="connsiteY204" fmla="*/ 552366 h 803463"/>
              <a:gd name="connsiteX205" fmla="*/ 658219 w 856359"/>
              <a:gd name="connsiteY205" fmla="*/ 552366 h 803463"/>
              <a:gd name="connsiteX206" fmla="*/ 680498 w 856359"/>
              <a:gd name="connsiteY206" fmla="*/ 559814 h 803463"/>
              <a:gd name="connsiteX207" fmla="*/ 688708 w 856359"/>
              <a:gd name="connsiteY207" fmla="*/ 575302 h 803463"/>
              <a:gd name="connsiteX208" fmla="*/ 688708 w 856359"/>
              <a:gd name="connsiteY208" fmla="*/ 575330 h 803463"/>
              <a:gd name="connsiteX209" fmla="*/ 688670 w 856359"/>
              <a:gd name="connsiteY209" fmla="*/ 575330 h 803463"/>
              <a:gd name="connsiteX210" fmla="*/ 688670 w 856359"/>
              <a:gd name="connsiteY210" fmla="*/ 575368 h 803463"/>
              <a:gd name="connsiteX211" fmla="*/ 688699 w 856359"/>
              <a:gd name="connsiteY211" fmla="*/ 576083 h 803463"/>
              <a:gd name="connsiteX212" fmla="*/ 687432 w 856359"/>
              <a:gd name="connsiteY212" fmla="*/ 763306 h 803463"/>
              <a:gd name="connsiteX213" fmla="*/ 678964 w 856359"/>
              <a:gd name="connsiteY213" fmla="*/ 778699 h 803463"/>
              <a:gd name="connsiteX214" fmla="*/ 656362 w 856359"/>
              <a:gd name="connsiteY214" fmla="*/ 786014 h 803463"/>
              <a:gd name="connsiteX215" fmla="*/ 591439 w 856359"/>
              <a:gd name="connsiteY215" fmla="*/ 785738 h 803463"/>
              <a:gd name="connsiteX216" fmla="*/ 569198 w 856359"/>
              <a:gd name="connsiteY216" fmla="*/ 778289 h 803463"/>
              <a:gd name="connsiteX217" fmla="*/ 560997 w 856359"/>
              <a:gd name="connsiteY217" fmla="*/ 762830 h 803463"/>
              <a:gd name="connsiteX218" fmla="*/ 562274 w 856359"/>
              <a:gd name="connsiteY218" fmla="*/ 574797 h 803463"/>
              <a:gd name="connsiteX219" fmla="*/ 570751 w 856359"/>
              <a:gd name="connsiteY219" fmla="*/ 559405 h 803463"/>
              <a:gd name="connsiteX220" fmla="*/ 588248 w 856359"/>
              <a:gd name="connsiteY220" fmla="*/ 552394 h 803463"/>
              <a:gd name="connsiteX221" fmla="*/ 625786 w 856359"/>
              <a:gd name="connsiteY221" fmla="*/ 552232 h 803463"/>
              <a:gd name="connsiteX222" fmla="*/ 625786 w 856359"/>
              <a:gd name="connsiteY222" fmla="*/ 552232 h 803463"/>
              <a:gd name="connsiteX223" fmla="*/ 586305 w 856359"/>
              <a:gd name="connsiteY223" fmla="*/ 460297 h 803463"/>
              <a:gd name="connsiteX224" fmla="*/ 627644 w 856359"/>
              <a:gd name="connsiteY224" fmla="*/ 463431 h 803463"/>
              <a:gd name="connsiteX225" fmla="*/ 664696 w 856359"/>
              <a:gd name="connsiteY225" fmla="*/ 459992 h 803463"/>
              <a:gd name="connsiteX226" fmla="*/ 664944 w 856359"/>
              <a:gd name="connsiteY226" fmla="*/ 534659 h 803463"/>
              <a:gd name="connsiteX227" fmla="*/ 625796 w 856359"/>
              <a:gd name="connsiteY227" fmla="*/ 534830 h 803463"/>
              <a:gd name="connsiteX228" fmla="*/ 593411 w 856359"/>
              <a:gd name="connsiteY228" fmla="*/ 534697 h 803463"/>
              <a:gd name="connsiteX229" fmla="*/ 587229 w 856359"/>
              <a:gd name="connsiteY229" fmla="*/ 535001 h 803463"/>
              <a:gd name="connsiteX230" fmla="*/ 586553 w 856359"/>
              <a:gd name="connsiteY230" fmla="*/ 535001 h 803463"/>
              <a:gd name="connsiteX231" fmla="*/ 586305 w 856359"/>
              <a:gd name="connsiteY231" fmla="*/ 460297 h 803463"/>
              <a:gd name="connsiteX232" fmla="*/ 586305 w 856359"/>
              <a:gd name="connsiteY232" fmla="*/ 460297 h 803463"/>
              <a:gd name="connsiteX233" fmla="*/ 622624 w 856359"/>
              <a:gd name="connsiteY233" fmla="*/ 69572 h 803463"/>
              <a:gd name="connsiteX234" fmla="*/ 622624 w 856359"/>
              <a:gd name="connsiteY234" fmla="*/ 69610 h 803463"/>
              <a:gd name="connsiteX235" fmla="*/ 622519 w 856359"/>
              <a:gd name="connsiteY235" fmla="*/ 69610 h 803463"/>
              <a:gd name="connsiteX236" fmla="*/ 508486 w 856359"/>
              <a:gd name="connsiteY236" fmla="*/ 118588 h 803463"/>
              <a:gd name="connsiteX237" fmla="*/ 462509 w 856359"/>
              <a:gd name="connsiteY237" fmla="*/ 233021 h 803463"/>
              <a:gd name="connsiteX238" fmla="*/ 462480 w 856359"/>
              <a:gd name="connsiteY238" fmla="*/ 233726 h 803463"/>
              <a:gd name="connsiteX239" fmla="*/ 462518 w 856359"/>
              <a:gd name="connsiteY239" fmla="*/ 233726 h 803463"/>
              <a:gd name="connsiteX240" fmla="*/ 462518 w 856359"/>
              <a:gd name="connsiteY240" fmla="*/ 233830 h 803463"/>
              <a:gd name="connsiteX241" fmla="*/ 511496 w 856359"/>
              <a:gd name="connsiteY241" fmla="*/ 347864 h 803463"/>
              <a:gd name="connsiteX242" fmla="*/ 626739 w 856359"/>
              <a:gd name="connsiteY242" fmla="*/ 393841 h 803463"/>
              <a:gd name="connsiteX243" fmla="*/ 740772 w 856359"/>
              <a:gd name="connsiteY243" fmla="*/ 344863 h 803463"/>
              <a:gd name="connsiteX244" fmla="*/ 786749 w 856359"/>
              <a:gd name="connsiteY244" fmla="*/ 230430 h 803463"/>
              <a:gd name="connsiteX245" fmla="*/ 786778 w 856359"/>
              <a:gd name="connsiteY245" fmla="*/ 229716 h 803463"/>
              <a:gd name="connsiteX246" fmla="*/ 786749 w 856359"/>
              <a:gd name="connsiteY246" fmla="*/ 229716 h 803463"/>
              <a:gd name="connsiteX247" fmla="*/ 786749 w 856359"/>
              <a:gd name="connsiteY247" fmla="*/ 229611 h 803463"/>
              <a:gd name="connsiteX248" fmla="*/ 737772 w 856359"/>
              <a:gd name="connsiteY248" fmla="*/ 115578 h 803463"/>
              <a:gd name="connsiteX249" fmla="*/ 623338 w 856359"/>
              <a:gd name="connsiteY249" fmla="*/ 69600 h 803463"/>
              <a:gd name="connsiteX250" fmla="*/ 622624 w 856359"/>
              <a:gd name="connsiteY250" fmla="*/ 69572 h 803463"/>
              <a:gd name="connsiteX251" fmla="*/ 622624 w 856359"/>
              <a:gd name="connsiteY251" fmla="*/ 69572 h 803463"/>
              <a:gd name="connsiteX252" fmla="*/ 622633 w 856359"/>
              <a:gd name="connsiteY252" fmla="*/ 87050 h 803463"/>
              <a:gd name="connsiteX253" fmla="*/ 622633 w 856359"/>
              <a:gd name="connsiteY253" fmla="*/ 87022 h 803463"/>
              <a:gd name="connsiteX254" fmla="*/ 520992 w 856359"/>
              <a:gd name="connsiteY254" fmla="*/ 130741 h 803463"/>
              <a:gd name="connsiteX255" fmla="*/ 479930 w 856359"/>
              <a:gd name="connsiteY255" fmla="*/ 232907 h 803463"/>
              <a:gd name="connsiteX256" fmla="*/ 479968 w 856359"/>
              <a:gd name="connsiteY256" fmla="*/ 233726 h 803463"/>
              <a:gd name="connsiteX257" fmla="*/ 479939 w 856359"/>
              <a:gd name="connsiteY257" fmla="*/ 233726 h 803463"/>
              <a:gd name="connsiteX258" fmla="*/ 523659 w 856359"/>
              <a:gd name="connsiteY258" fmla="*/ 335367 h 803463"/>
              <a:gd name="connsiteX259" fmla="*/ 626548 w 856359"/>
              <a:gd name="connsiteY259" fmla="*/ 376420 h 803463"/>
              <a:gd name="connsiteX260" fmla="*/ 728294 w 856359"/>
              <a:gd name="connsiteY260" fmla="*/ 332700 h 803463"/>
              <a:gd name="connsiteX261" fmla="*/ 769357 w 856359"/>
              <a:gd name="connsiteY261" fmla="*/ 230535 h 803463"/>
              <a:gd name="connsiteX262" fmla="*/ 769318 w 856359"/>
              <a:gd name="connsiteY262" fmla="*/ 229706 h 803463"/>
              <a:gd name="connsiteX263" fmla="*/ 769347 w 856359"/>
              <a:gd name="connsiteY263" fmla="*/ 229706 h 803463"/>
              <a:gd name="connsiteX264" fmla="*/ 725627 w 856359"/>
              <a:gd name="connsiteY264" fmla="*/ 128065 h 803463"/>
              <a:gd name="connsiteX265" fmla="*/ 623462 w 856359"/>
              <a:gd name="connsiteY265" fmla="*/ 87003 h 803463"/>
              <a:gd name="connsiteX266" fmla="*/ 622633 w 856359"/>
              <a:gd name="connsiteY266" fmla="*/ 87050 h 803463"/>
              <a:gd name="connsiteX267" fmla="*/ 622633 w 856359"/>
              <a:gd name="connsiteY267" fmla="*/ 87050 h 803463"/>
              <a:gd name="connsiteX268" fmla="*/ 774186 w 856359"/>
              <a:gd name="connsiteY268" fmla="*/ 78221 h 803463"/>
              <a:gd name="connsiteX269" fmla="*/ 621824 w 856359"/>
              <a:gd name="connsiteY269" fmla="*/ 17422 h 803463"/>
              <a:gd name="connsiteX270" fmla="*/ 471138 w 856359"/>
              <a:gd name="connsiteY270" fmla="*/ 82173 h 803463"/>
              <a:gd name="connsiteX271" fmla="*/ 410340 w 856359"/>
              <a:gd name="connsiteY271" fmla="*/ 234535 h 803463"/>
              <a:gd name="connsiteX272" fmla="*/ 475091 w 856359"/>
              <a:gd name="connsiteY272" fmla="*/ 385221 h 803463"/>
              <a:gd name="connsiteX273" fmla="*/ 627453 w 856359"/>
              <a:gd name="connsiteY273" fmla="*/ 446019 h 803463"/>
              <a:gd name="connsiteX274" fmla="*/ 778139 w 856359"/>
              <a:gd name="connsiteY274" fmla="*/ 381268 h 803463"/>
              <a:gd name="connsiteX275" fmla="*/ 838937 w 856359"/>
              <a:gd name="connsiteY275" fmla="*/ 228906 h 803463"/>
              <a:gd name="connsiteX276" fmla="*/ 774186 w 856359"/>
              <a:gd name="connsiteY276" fmla="*/ 78221 h 803463"/>
              <a:gd name="connsiteX277" fmla="*/ 774186 w 856359"/>
              <a:gd name="connsiteY277" fmla="*/ 78221 h 803463"/>
              <a:gd name="connsiteX278" fmla="*/ 256026 w 856359"/>
              <a:gd name="connsiteY278" fmla="*/ 127293 h 803463"/>
              <a:gd name="connsiteX279" fmla="*/ 256054 w 856359"/>
              <a:gd name="connsiteY279" fmla="*/ 127274 h 803463"/>
              <a:gd name="connsiteX280" fmla="*/ 256073 w 856359"/>
              <a:gd name="connsiteY280" fmla="*/ 127265 h 803463"/>
              <a:gd name="connsiteX281" fmla="*/ 304632 w 856359"/>
              <a:gd name="connsiteY281" fmla="*/ 97204 h 803463"/>
              <a:gd name="connsiteX282" fmla="*/ 306013 w 856359"/>
              <a:gd name="connsiteY282" fmla="*/ 96356 h 803463"/>
              <a:gd name="connsiteX283" fmla="*/ 340703 w 856359"/>
              <a:gd name="connsiteY283" fmla="*/ 91041 h 803463"/>
              <a:gd name="connsiteX284" fmla="*/ 369430 w 856359"/>
              <a:gd name="connsiteY284" fmla="*/ 111282 h 803463"/>
              <a:gd name="connsiteX285" fmla="*/ 370326 w 856359"/>
              <a:gd name="connsiteY285" fmla="*/ 112739 h 803463"/>
              <a:gd name="connsiteX286" fmla="*/ 375641 w 856359"/>
              <a:gd name="connsiteY286" fmla="*/ 147439 h 803463"/>
              <a:gd name="connsiteX287" fmla="*/ 354667 w 856359"/>
              <a:gd name="connsiteY287" fmla="*/ 176623 h 803463"/>
              <a:gd name="connsiteX288" fmla="*/ 305460 w 856359"/>
              <a:gd name="connsiteY288" fmla="*/ 207084 h 803463"/>
              <a:gd name="connsiteX289" fmla="*/ 305441 w 856359"/>
              <a:gd name="connsiteY289" fmla="*/ 207094 h 803463"/>
              <a:gd name="connsiteX290" fmla="*/ 305432 w 856359"/>
              <a:gd name="connsiteY290" fmla="*/ 207103 h 803463"/>
              <a:gd name="connsiteX291" fmla="*/ 256873 w 856359"/>
              <a:gd name="connsiteY291" fmla="*/ 237164 h 803463"/>
              <a:gd name="connsiteX292" fmla="*/ 255492 w 856359"/>
              <a:gd name="connsiteY292" fmla="*/ 238002 h 803463"/>
              <a:gd name="connsiteX293" fmla="*/ 220802 w 856359"/>
              <a:gd name="connsiteY293" fmla="*/ 243317 h 803463"/>
              <a:gd name="connsiteX294" fmla="*/ 192237 w 856359"/>
              <a:gd name="connsiteY294" fmla="*/ 223315 h 803463"/>
              <a:gd name="connsiteX295" fmla="*/ 157785 w 856359"/>
              <a:gd name="connsiteY295" fmla="*/ 239717 h 803463"/>
              <a:gd name="connsiteX296" fmla="*/ 106436 w 856359"/>
              <a:gd name="connsiteY296" fmla="*/ 227792 h 803463"/>
              <a:gd name="connsiteX297" fmla="*/ 106436 w 856359"/>
              <a:gd name="connsiteY297" fmla="*/ 227792 h 803463"/>
              <a:gd name="connsiteX298" fmla="*/ 78508 w 856359"/>
              <a:gd name="connsiteY298" fmla="*/ 182977 h 803463"/>
              <a:gd name="connsiteX299" fmla="*/ 90434 w 856359"/>
              <a:gd name="connsiteY299" fmla="*/ 131627 h 803463"/>
              <a:gd name="connsiteX300" fmla="*/ 135249 w 856359"/>
              <a:gd name="connsiteY300" fmla="*/ 103700 h 803463"/>
              <a:gd name="connsiteX301" fmla="*/ 186579 w 856359"/>
              <a:gd name="connsiteY301" fmla="*/ 115616 h 803463"/>
              <a:gd name="connsiteX302" fmla="*/ 186588 w 856359"/>
              <a:gd name="connsiteY302" fmla="*/ 115625 h 803463"/>
              <a:gd name="connsiteX303" fmla="*/ 186588 w 856359"/>
              <a:gd name="connsiteY303" fmla="*/ 115625 h 803463"/>
              <a:gd name="connsiteX304" fmla="*/ 186598 w 856359"/>
              <a:gd name="connsiteY304" fmla="*/ 115635 h 803463"/>
              <a:gd name="connsiteX305" fmla="*/ 186598 w 856359"/>
              <a:gd name="connsiteY305" fmla="*/ 115635 h 803463"/>
              <a:gd name="connsiteX306" fmla="*/ 213077 w 856359"/>
              <a:gd name="connsiteY306" fmla="*/ 153849 h 803463"/>
              <a:gd name="connsiteX307" fmla="*/ 256026 w 856359"/>
              <a:gd name="connsiteY307" fmla="*/ 127293 h 803463"/>
              <a:gd name="connsiteX308" fmla="*/ 256026 w 856359"/>
              <a:gd name="connsiteY308" fmla="*/ 127293 h 803463"/>
              <a:gd name="connsiteX309" fmla="*/ 272609 w 856359"/>
              <a:gd name="connsiteY309" fmla="*/ 137514 h 803463"/>
              <a:gd name="connsiteX310" fmla="*/ 303689 w 856359"/>
              <a:gd name="connsiteY310" fmla="*/ 187720 h 803463"/>
              <a:gd name="connsiteX311" fmla="*/ 345513 w 856359"/>
              <a:gd name="connsiteY311" fmla="*/ 161831 h 803463"/>
              <a:gd name="connsiteX312" fmla="*/ 358629 w 856359"/>
              <a:gd name="connsiteY312" fmla="*/ 143495 h 803463"/>
              <a:gd name="connsiteX313" fmla="*/ 355067 w 856359"/>
              <a:gd name="connsiteY313" fmla="*/ 121188 h 803463"/>
              <a:gd name="connsiteX314" fmla="*/ 355057 w 856359"/>
              <a:gd name="connsiteY314" fmla="*/ 121178 h 803463"/>
              <a:gd name="connsiteX315" fmla="*/ 336722 w 856359"/>
              <a:gd name="connsiteY315" fmla="*/ 108062 h 803463"/>
              <a:gd name="connsiteX316" fmla="*/ 314414 w 856359"/>
              <a:gd name="connsiteY316" fmla="*/ 111634 h 803463"/>
              <a:gd name="connsiteX317" fmla="*/ 272609 w 856359"/>
              <a:gd name="connsiteY317" fmla="*/ 137514 h 803463"/>
              <a:gd name="connsiteX318" fmla="*/ 272609 w 856359"/>
              <a:gd name="connsiteY318" fmla="*/ 137514 h 803463"/>
              <a:gd name="connsiteX319" fmla="*/ 288887 w 856359"/>
              <a:gd name="connsiteY319" fmla="*/ 196883 h 803463"/>
              <a:gd name="connsiteX320" fmla="*/ 257807 w 856359"/>
              <a:gd name="connsiteY320" fmla="*/ 146677 h 803463"/>
              <a:gd name="connsiteX321" fmla="*/ 215973 w 856359"/>
              <a:gd name="connsiteY321" fmla="*/ 172566 h 803463"/>
              <a:gd name="connsiteX322" fmla="*/ 215449 w 856359"/>
              <a:gd name="connsiteY322" fmla="*/ 172909 h 803463"/>
              <a:gd name="connsiteX323" fmla="*/ 204362 w 856359"/>
              <a:gd name="connsiteY323" fmla="*/ 209218 h 803463"/>
              <a:gd name="connsiteX324" fmla="*/ 204476 w 856359"/>
              <a:gd name="connsiteY324" fmla="*/ 209494 h 803463"/>
              <a:gd name="connsiteX325" fmla="*/ 206410 w 856359"/>
              <a:gd name="connsiteY325" fmla="*/ 213199 h 803463"/>
              <a:gd name="connsiteX326" fmla="*/ 206420 w 856359"/>
              <a:gd name="connsiteY326" fmla="*/ 213209 h 803463"/>
              <a:gd name="connsiteX327" fmla="*/ 224755 w 856359"/>
              <a:gd name="connsiteY327" fmla="*/ 226325 h 803463"/>
              <a:gd name="connsiteX328" fmla="*/ 247063 w 856359"/>
              <a:gd name="connsiteY328" fmla="*/ 222762 h 803463"/>
              <a:gd name="connsiteX329" fmla="*/ 288887 w 856359"/>
              <a:gd name="connsiteY329" fmla="*/ 196883 h 803463"/>
              <a:gd name="connsiteX330" fmla="*/ 288887 w 856359"/>
              <a:gd name="connsiteY330" fmla="*/ 196883 h 803463"/>
              <a:gd name="connsiteX331" fmla="*/ 124076 w 856359"/>
              <a:gd name="connsiteY331" fmla="*/ 218095 h 803463"/>
              <a:gd name="connsiteX332" fmla="*/ 183150 w 856359"/>
              <a:gd name="connsiteY332" fmla="*/ 135504 h 803463"/>
              <a:gd name="connsiteX333" fmla="*/ 197333 w 856359"/>
              <a:gd name="connsiteY333" fmla="*/ 163269 h 803463"/>
              <a:gd name="connsiteX334" fmla="*/ 188770 w 856359"/>
              <a:gd name="connsiteY334" fmla="*/ 201207 h 803463"/>
              <a:gd name="connsiteX335" fmla="*/ 188065 w 856359"/>
              <a:gd name="connsiteY335" fmla="*/ 202188 h 803463"/>
              <a:gd name="connsiteX336" fmla="*/ 154994 w 856359"/>
              <a:gd name="connsiteY336" fmla="*/ 222534 h 803463"/>
              <a:gd name="connsiteX337" fmla="*/ 124076 w 856359"/>
              <a:gd name="connsiteY337" fmla="*/ 218095 h 803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</a:cxnLst>
            <a:rect l="l" t="t" r="r" b="b"/>
            <a:pathLst>
              <a:path w="856359" h="803463">
                <a:moveTo>
                  <a:pt x="168967" y="125369"/>
                </a:moveTo>
                <a:cubicBezTo>
                  <a:pt x="159166" y="120616"/>
                  <a:pt x="148355" y="119216"/>
                  <a:pt x="138059" y="120931"/>
                </a:cubicBezTo>
                <a:cubicBezTo>
                  <a:pt x="125076" y="123083"/>
                  <a:pt x="112913" y="130189"/>
                  <a:pt x="104654" y="141743"/>
                </a:cubicBezTo>
                <a:lnTo>
                  <a:pt x="104645" y="141762"/>
                </a:lnTo>
                <a:cubicBezTo>
                  <a:pt x="96368" y="153335"/>
                  <a:pt x="93558" y="167184"/>
                  <a:pt x="95720" y="180205"/>
                </a:cubicBezTo>
                <a:cubicBezTo>
                  <a:pt x="97425" y="190482"/>
                  <a:pt x="102235" y="200245"/>
                  <a:pt x="109903" y="207970"/>
                </a:cubicBezTo>
                <a:lnTo>
                  <a:pt x="168967" y="125369"/>
                </a:lnTo>
                <a:lnTo>
                  <a:pt x="168967" y="125369"/>
                </a:lnTo>
                <a:close/>
                <a:moveTo>
                  <a:pt x="594049" y="131246"/>
                </a:moveTo>
                <a:lnTo>
                  <a:pt x="655218" y="131246"/>
                </a:lnTo>
                <a:cubicBezTo>
                  <a:pt x="660048" y="131246"/>
                  <a:pt x="663962" y="135161"/>
                  <a:pt x="663962" y="139990"/>
                </a:cubicBezTo>
                <a:lnTo>
                  <a:pt x="663962" y="192425"/>
                </a:lnTo>
                <a:lnTo>
                  <a:pt x="716340" y="192425"/>
                </a:lnTo>
                <a:cubicBezTo>
                  <a:pt x="721170" y="192425"/>
                  <a:pt x="725084" y="196340"/>
                  <a:pt x="725084" y="201160"/>
                </a:cubicBezTo>
                <a:lnTo>
                  <a:pt x="725084" y="262282"/>
                </a:lnTo>
                <a:cubicBezTo>
                  <a:pt x="725084" y="267111"/>
                  <a:pt x="721170" y="271026"/>
                  <a:pt x="716340" y="271026"/>
                </a:cubicBezTo>
                <a:lnTo>
                  <a:pt x="663962" y="271026"/>
                </a:lnTo>
                <a:lnTo>
                  <a:pt x="663962" y="323461"/>
                </a:lnTo>
                <a:cubicBezTo>
                  <a:pt x="663962" y="328290"/>
                  <a:pt x="660048" y="332205"/>
                  <a:pt x="655218" y="332205"/>
                </a:cubicBezTo>
                <a:lnTo>
                  <a:pt x="594049" y="332205"/>
                </a:lnTo>
                <a:cubicBezTo>
                  <a:pt x="589220" y="332205"/>
                  <a:pt x="585315" y="328290"/>
                  <a:pt x="585315" y="323461"/>
                </a:cubicBezTo>
                <a:lnTo>
                  <a:pt x="585315" y="271026"/>
                </a:lnTo>
                <a:lnTo>
                  <a:pt x="532927" y="271026"/>
                </a:lnTo>
                <a:cubicBezTo>
                  <a:pt x="528098" y="271026"/>
                  <a:pt x="524183" y="267111"/>
                  <a:pt x="524183" y="262282"/>
                </a:cubicBezTo>
                <a:lnTo>
                  <a:pt x="524183" y="201160"/>
                </a:lnTo>
                <a:cubicBezTo>
                  <a:pt x="524183" y="196331"/>
                  <a:pt x="528098" y="192425"/>
                  <a:pt x="532927" y="192425"/>
                </a:cubicBezTo>
                <a:lnTo>
                  <a:pt x="585315" y="192425"/>
                </a:lnTo>
                <a:lnTo>
                  <a:pt x="585315" y="139981"/>
                </a:lnTo>
                <a:cubicBezTo>
                  <a:pt x="585305" y="135161"/>
                  <a:pt x="589220" y="131246"/>
                  <a:pt x="594049" y="131246"/>
                </a:cubicBezTo>
                <a:lnTo>
                  <a:pt x="594049" y="131246"/>
                </a:lnTo>
                <a:close/>
                <a:moveTo>
                  <a:pt x="646484" y="148725"/>
                </a:moveTo>
                <a:lnTo>
                  <a:pt x="602783" y="148725"/>
                </a:lnTo>
                <a:lnTo>
                  <a:pt x="602783" y="201160"/>
                </a:lnTo>
                <a:cubicBezTo>
                  <a:pt x="602783" y="205989"/>
                  <a:pt x="598869" y="209894"/>
                  <a:pt x="594049" y="209894"/>
                </a:cubicBezTo>
                <a:lnTo>
                  <a:pt x="541661" y="209894"/>
                </a:lnTo>
                <a:lnTo>
                  <a:pt x="541661" y="253538"/>
                </a:lnTo>
                <a:lnTo>
                  <a:pt x="594049" y="253538"/>
                </a:lnTo>
                <a:cubicBezTo>
                  <a:pt x="598878" y="253538"/>
                  <a:pt x="602783" y="257452"/>
                  <a:pt x="602783" y="262272"/>
                </a:cubicBezTo>
                <a:lnTo>
                  <a:pt x="602783" y="314707"/>
                </a:lnTo>
                <a:lnTo>
                  <a:pt x="646484" y="314707"/>
                </a:lnTo>
                <a:lnTo>
                  <a:pt x="646484" y="262282"/>
                </a:lnTo>
                <a:cubicBezTo>
                  <a:pt x="646484" y="257452"/>
                  <a:pt x="650399" y="253547"/>
                  <a:pt x="655218" y="253547"/>
                </a:cubicBezTo>
                <a:lnTo>
                  <a:pt x="707606" y="253547"/>
                </a:lnTo>
                <a:lnTo>
                  <a:pt x="707606" y="209894"/>
                </a:lnTo>
                <a:lnTo>
                  <a:pt x="655218" y="209894"/>
                </a:lnTo>
                <a:cubicBezTo>
                  <a:pt x="650389" y="209894"/>
                  <a:pt x="646484" y="205979"/>
                  <a:pt x="646484" y="201160"/>
                </a:cubicBezTo>
                <a:lnTo>
                  <a:pt x="646484" y="148725"/>
                </a:lnTo>
                <a:lnTo>
                  <a:pt x="646484" y="148725"/>
                </a:lnTo>
                <a:close/>
                <a:moveTo>
                  <a:pt x="240900" y="503931"/>
                </a:moveTo>
                <a:cubicBezTo>
                  <a:pt x="252359" y="503931"/>
                  <a:pt x="262731" y="508579"/>
                  <a:pt x="270237" y="516085"/>
                </a:cubicBezTo>
                <a:cubicBezTo>
                  <a:pt x="277743" y="523590"/>
                  <a:pt x="282391" y="533963"/>
                  <a:pt x="282391" y="545422"/>
                </a:cubicBezTo>
                <a:cubicBezTo>
                  <a:pt x="282391" y="556880"/>
                  <a:pt x="277743" y="567253"/>
                  <a:pt x="270237" y="574759"/>
                </a:cubicBezTo>
                <a:cubicBezTo>
                  <a:pt x="262731" y="582265"/>
                  <a:pt x="252359" y="586913"/>
                  <a:pt x="240900" y="586913"/>
                </a:cubicBezTo>
                <a:cubicBezTo>
                  <a:pt x="229441" y="586913"/>
                  <a:pt x="219069" y="582265"/>
                  <a:pt x="211563" y="574759"/>
                </a:cubicBezTo>
                <a:cubicBezTo>
                  <a:pt x="204057" y="567253"/>
                  <a:pt x="199409" y="556880"/>
                  <a:pt x="199409" y="545422"/>
                </a:cubicBezTo>
                <a:cubicBezTo>
                  <a:pt x="199409" y="533963"/>
                  <a:pt x="204057" y="523590"/>
                  <a:pt x="211563" y="516085"/>
                </a:cubicBezTo>
                <a:cubicBezTo>
                  <a:pt x="219069" y="508579"/>
                  <a:pt x="229441" y="503931"/>
                  <a:pt x="240900" y="503931"/>
                </a:cubicBezTo>
                <a:lnTo>
                  <a:pt x="240900" y="503931"/>
                </a:lnTo>
                <a:close/>
                <a:moveTo>
                  <a:pt x="257883" y="528448"/>
                </a:moveTo>
                <a:cubicBezTo>
                  <a:pt x="253540" y="524105"/>
                  <a:pt x="247529" y="521419"/>
                  <a:pt x="240900" y="521419"/>
                </a:cubicBezTo>
                <a:cubicBezTo>
                  <a:pt x="234271" y="521419"/>
                  <a:pt x="228260" y="524105"/>
                  <a:pt x="223917" y="528448"/>
                </a:cubicBezTo>
                <a:cubicBezTo>
                  <a:pt x="219574" y="532792"/>
                  <a:pt x="216887" y="538792"/>
                  <a:pt x="216887" y="545431"/>
                </a:cubicBezTo>
                <a:cubicBezTo>
                  <a:pt x="216887" y="552061"/>
                  <a:pt x="219574" y="558071"/>
                  <a:pt x="223917" y="562414"/>
                </a:cubicBezTo>
                <a:cubicBezTo>
                  <a:pt x="228260" y="566758"/>
                  <a:pt x="234271" y="569444"/>
                  <a:pt x="240900" y="569444"/>
                </a:cubicBezTo>
                <a:cubicBezTo>
                  <a:pt x="247529" y="569444"/>
                  <a:pt x="253540" y="566758"/>
                  <a:pt x="257883" y="562414"/>
                </a:cubicBezTo>
                <a:cubicBezTo>
                  <a:pt x="262227" y="558071"/>
                  <a:pt x="264913" y="552061"/>
                  <a:pt x="264913" y="545431"/>
                </a:cubicBezTo>
                <a:cubicBezTo>
                  <a:pt x="264913" y="538792"/>
                  <a:pt x="262227" y="532792"/>
                  <a:pt x="257883" y="528448"/>
                </a:cubicBezTo>
                <a:lnTo>
                  <a:pt x="257883" y="528448"/>
                </a:lnTo>
                <a:close/>
                <a:moveTo>
                  <a:pt x="332026" y="568768"/>
                </a:moveTo>
                <a:cubicBezTo>
                  <a:pt x="315281" y="568768"/>
                  <a:pt x="300117" y="575559"/>
                  <a:pt x="289144" y="586532"/>
                </a:cubicBezTo>
                <a:cubicBezTo>
                  <a:pt x="278171" y="597505"/>
                  <a:pt x="271380" y="612668"/>
                  <a:pt x="271380" y="629413"/>
                </a:cubicBezTo>
                <a:cubicBezTo>
                  <a:pt x="271380" y="646158"/>
                  <a:pt x="278171" y="661322"/>
                  <a:pt x="289144" y="672295"/>
                </a:cubicBezTo>
                <a:cubicBezTo>
                  <a:pt x="300117" y="683268"/>
                  <a:pt x="315281" y="690059"/>
                  <a:pt x="332026" y="690059"/>
                </a:cubicBezTo>
                <a:cubicBezTo>
                  <a:pt x="348771" y="690059"/>
                  <a:pt x="363934" y="683268"/>
                  <a:pt x="374907" y="672295"/>
                </a:cubicBezTo>
                <a:cubicBezTo>
                  <a:pt x="385880" y="661322"/>
                  <a:pt x="392671" y="646158"/>
                  <a:pt x="392671" y="629413"/>
                </a:cubicBezTo>
                <a:cubicBezTo>
                  <a:pt x="392671" y="612668"/>
                  <a:pt x="385880" y="597505"/>
                  <a:pt x="374907" y="586532"/>
                </a:cubicBezTo>
                <a:cubicBezTo>
                  <a:pt x="363925" y="575559"/>
                  <a:pt x="348771" y="568768"/>
                  <a:pt x="332026" y="568768"/>
                </a:cubicBezTo>
                <a:lnTo>
                  <a:pt x="332026" y="568768"/>
                </a:lnTo>
                <a:close/>
                <a:moveTo>
                  <a:pt x="362544" y="598886"/>
                </a:moveTo>
                <a:cubicBezTo>
                  <a:pt x="370354" y="606696"/>
                  <a:pt x="375183" y="617488"/>
                  <a:pt x="375183" y="629404"/>
                </a:cubicBezTo>
                <a:cubicBezTo>
                  <a:pt x="375183" y="641320"/>
                  <a:pt x="370354" y="652111"/>
                  <a:pt x="362544" y="659922"/>
                </a:cubicBezTo>
                <a:cubicBezTo>
                  <a:pt x="354733" y="667732"/>
                  <a:pt x="343941" y="672562"/>
                  <a:pt x="332026" y="672562"/>
                </a:cubicBezTo>
                <a:cubicBezTo>
                  <a:pt x="320110" y="672562"/>
                  <a:pt x="309318" y="667732"/>
                  <a:pt x="301508" y="659922"/>
                </a:cubicBezTo>
                <a:cubicBezTo>
                  <a:pt x="293697" y="652111"/>
                  <a:pt x="288868" y="641320"/>
                  <a:pt x="288868" y="629404"/>
                </a:cubicBezTo>
                <a:cubicBezTo>
                  <a:pt x="288868" y="617478"/>
                  <a:pt x="293697" y="606696"/>
                  <a:pt x="301508" y="598886"/>
                </a:cubicBezTo>
                <a:cubicBezTo>
                  <a:pt x="309318" y="591075"/>
                  <a:pt x="320110" y="586246"/>
                  <a:pt x="332026" y="586246"/>
                </a:cubicBezTo>
                <a:cubicBezTo>
                  <a:pt x="343941" y="586246"/>
                  <a:pt x="354733" y="591075"/>
                  <a:pt x="362544" y="598886"/>
                </a:cubicBezTo>
                <a:lnTo>
                  <a:pt x="362544" y="598886"/>
                </a:lnTo>
                <a:close/>
                <a:moveTo>
                  <a:pt x="175492" y="595466"/>
                </a:moveTo>
                <a:cubicBezTo>
                  <a:pt x="197142" y="595466"/>
                  <a:pt x="216735" y="604239"/>
                  <a:pt x="230927" y="618431"/>
                </a:cubicBezTo>
                <a:cubicBezTo>
                  <a:pt x="245110" y="632623"/>
                  <a:pt x="253892" y="652216"/>
                  <a:pt x="253892" y="673866"/>
                </a:cubicBezTo>
                <a:cubicBezTo>
                  <a:pt x="253892" y="695517"/>
                  <a:pt x="245120" y="715110"/>
                  <a:pt x="230927" y="729302"/>
                </a:cubicBezTo>
                <a:cubicBezTo>
                  <a:pt x="216735" y="743494"/>
                  <a:pt x="197142" y="752267"/>
                  <a:pt x="175492" y="752267"/>
                </a:cubicBezTo>
                <a:cubicBezTo>
                  <a:pt x="153851" y="752267"/>
                  <a:pt x="134249" y="743494"/>
                  <a:pt x="120056" y="729302"/>
                </a:cubicBezTo>
                <a:cubicBezTo>
                  <a:pt x="105874" y="715119"/>
                  <a:pt x="97092" y="695517"/>
                  <a:pt x="97092" y="673866"/>
                </a:cubicBezTo>
                <a:cubicBezTo>
                  <a:pt x="97092" y="652226"/>
                  <a:pt x="105874" y="632623"/>
                  <a:pt x="120056" y="618431"/>
                </a:cubicBezTo>
                <a:cubicBezTo>
                  <a:pt x="134239" y="604248"/>
                  <a:pt x="153842" y="595466"/>
                  <a:pt x="175492" y="595466"/>
                </a:cubicBezTo>
                <a:lnTo>
                  <a:pt x="175492" y="595466"/>
                </a:lnTo>
                <a:close/>
                <a:moveTo>
                  <a:pt x="218564" y="630785"/>
                </a:moveTo>
                <a:cubicBezTo>
                  <a:pt x="207543" y="619764"/>
                  <a:pt x="192313" y="612945"/>
                  <a:pt x="175482" y="612945"/>
                </a:cubicBezTo>
                <a:cubicBezTo>
                  <a:pt x="158652" y="612945"/>
                  <a:pt x="143431" y="619764"/>
                  <a:pt x="132410" y="630785"/>
                </a:cubicBezTo>
                <a:cubicBezTo>
                  <a:pt x="121390" y="641805"/>
                  <a:pt x="114570" y="657036"/>
                  <a:pt x="114570" y="673857"/>
                </a:cubicBezTo>
                <a:cubicBezTo>
                  <a:pt x="114570" y="690678"/>
                  <a:pt x="121390" y="705909"/>
                  <a:pt x="132410" y="716939"/>
                </a:cubicBezTo>
                <a:cubicBezTo>
                  <a:pt x="143431" y="727959"/>
                  <a:pt x="158661" y="734779"/>
                  <a:pt x="175482" y="734779"/>
                </a:cubicBezTo>
                <a:cubicBezTo>
                  <a:pt x="192303" y="734779"/>
                  <a:pt x="207534" y="727959"/>
                  <a:pt x="218564" y="716939"/>
                </a:cubicBezTo>
                <a:cubicBezTo>
                  <a:pt x="229584" y="705918"/>
                  <a:pt x="236404" y="690688"/>
                  <a:pt x="236404" y="673857"/>
                </a:cubicBezTo>
                <a:cubicBezTo>
                  <a:pt x="236404" y="657036"/>
                  <a:pt x="229594" y="641805"/>
                  <a:pt x="218564" y="630785"/>
                </a:cubicBezTo>
                <a:lnTo>
                  <a:pt x="218564" y="630785"/>
                </a:lnTo>
                <a:close/>
                <a:moveTo>
                  <a:pt x="332102" y="342168"/>
                </a:moveTo>
                <a:cubicBezTo>
                  <a:pt x="340236" y="342063"/>
                  <a:pt x="347609" y="338701"/>
                  <a:pt x="352971" y="333338"/>
                </a:cubicBezTo>
                <a:cubicBezTo>
                  <a:pt x="358419" y="327890"/>
                  <a:pt x="361801" y="320365"/>
                  <a:pt x="361801" y="312088"/>
                </a:cubicBezTo>
                <a:cubicBezTo>
                  <a:pt x="361801" y="303811"/>
                  <a:pt x="358419" y="296286"/>
                  <a:pt x="352971" y="290838"/>
                </a:cubicBezTo>
                <a:cubicBezTo>
                  <a:pt x="347523" y="285389"/>
                  <a:pt x="339998" y="282008"/>
                  <a:pt x="331721" y="282008"/>
                </a:cubicBezTo>
                <a:lnTo>
                  <a:pt x="163243" y="282008"/>
                </a:lnTo>
                <a:cubicBezTo>
                  <a:pt x="154965" y="282008"/>
                  <a:pt x="147441" y="285389"/>
                  <a:pt x="141992" y="290838"/>
                </a:cubicBezTo>
                <a:cubicBezTo>
                  <a:pt x="136544" y="296286"/>
                  <a:pt x="133163" y="303811"/>
                  <a:pt x="133163" y="312088"/>
                </a:cubicBezTo>
                <a:cubicBezTo>
                  <a:pt x="133163" y="320365"/>
                  <a:pt x="136544" y="327890"/>
                  <a:pt x="141992" y="333338"/>
                </a:cubicBezTo>
                <a:cubicBezTo>
                  <a:pt x="147355" y="338701"/>
                  <a:pt x="154727" y="342063"/>
                  <a:pt x="162862" y="342168"/>
                </a:cubicBezTo>
                <a:lnTo>
                  <a:pt x="162862" y="381277"/>
                </a:lnTo>
                <a:cubicBezTo>
                  <a:pt x="162862" y="384211"/>
                  <a:pt x="162671" y="386897"/>
                  <a:pt x="162185" y="389393"/>
                </a:cubicBezTo>
                <a:cubicBezTo>
                  <a:pt x="161747" y="391631"/>
                  <a:pt x="161071" y="393765"/>
                  <a:pt x="160090" y="395851"/>
                </a:cubicBezTo>
                <a:cubicBezTo>
                  <a:pt x="159976" y="396032"/>
                  <a:pt x="159880" y="396222"/>
                  <a:pt x="159776" y="396422"/>
                </a:cubicBezTo>
                <a:lnTo>
                  <a:pt x="6880" y="702394"/>
                </a:lnTo>
                <a:lnTo>
                  <a:pt x="6909" y="702403"/>
                </a:lnTo>
                <a:cubicBezTo>
                  <a:pt x="1356" y="713519"/>
                  <a:pt x="-730" y="725206"/>
                  <a:pt x="222" y="736703"/>
                </a:cubicBezTo>
                <a:cubicBezTo>
                  <a:pt x="1194" y="748590"/>
                  <a:pt x="5394" y="760268"/>
                  <a:pt x="12310" y="770869"/>
                </a:cubicBezTo>
                <a:cubicBezTo>
                  <a:pt x="19120" y="781308"/>
                  <a:pt x="27921" y="789452"/>
                  <a:pt x="38151" y="794996"/>
                </a:cubicBezTo>
                <a:cubicBezTo>
                  <a:pt x="48390" y="800539"/>
                  <a:pt x="59992" y="803464"/>
                  <a:pt x="72412" y="803464"/>
                </a:cubicBezTo>
                <a:lnTo>
                  <a:pt x="440735" y="803464"/>
                </a:lnTo>
                <a:cubicBezTo>
                  <a:pt x="453431" y="803464"/>
                  <a:pt x="465300" y="800387"/>
                  <a:pt x="475729" y="794586"/>
                </a:cubicBezTo>
                <a:cubicBezTo>
                  <a:pt x="486140" y="788795"/>
                  <a:pt x="495008" y="780327"/>
                  <a:pt x="501714" y="769536"/>
                </a:cubicBezTo>
                <a:cubicBezTo>
                  <a:pt x="508419" y="758725"/>
                  <a:pt x="512086" y="747018"/>
                  <a:pt x="512658" y="735122"/>
                </a:cubicBezTo>
                <a:cubicBezTo>
                  <a:pt x="513229" y="723244"/>
                  <a:pt x="510715" y="711252"/>
                  <a:pt x="505066" y="699851"/>
                </a:cubicBezTo>
                <a:lnTo>
                  <a:pt x="505066" y="699851"/>
                </a:lnTo>
                <a:lnTo>
                  <a:pt x="504866" y="699470"/>
                </a:lnTo>
                <a:lnTo>
                  <a:pt x="335864" y="396879"/>
                </a:lnTo>
                <a:cubicBezTo>
                  <a:pt x="334464" y="394374"/>
                  <a:pt x="333540" y="391831"/>
                  <a:pt x="332950" y="389164"/>
                </a:cubicBezTo>
                <a:cubicBezTo>
                  <a:pt x="332340" y="386383"/>
                  <a:pt x="332102" y="383411"/>
                  <a:pt x="332102" y="380182"/>
                </a:cubicBezTo>
                <a:lnTo>
                  <a:pt x="332102" y="342168"/>
                </a:lnTo>
                <a:lnTo>
                  <a:pt x="332102" y="342168"/>
                </a:lnTo>
                <a:close/>
                <a:moveTo>
                  <a:pt x="180331" y="342168"/>
                </a:moveTo>
                <a:lnTo>
                  <a:pt x="180331" y="381277"/>
                </a:lnTo>
                <a:cubicBezTo>
                  <a:pt x="180331" y="385221"/>
                  <a:pt x="180045" y="388983"/>
                  <a:pt x="179311" y="392746"/>
                </a:cubicBezTo>
                <a:cubicBezTo>
                  <a:pt x="178607" y="396327"/>
                  <a:pt x="177464" y="399861"/>
                  <a:pt x="175730" y="403490"/>
                </a:cubicBezTo>
                <a:cubicBezTo>
                  <a:pt x="175635" y="403728"/>
                  <a:pt x="175530" y="403976"/>
                  <a:pt x="175416" y="404214"/>
                </a:cubicBezTo>
                <a:lnTo>
                  <a:pt x="22520" y="710176"/>
                </a:lnTo>
                <a:lnTo>
                  <a:pt x="22492" y="710166"/>
                </a:lnTo>
                <a:lnTo>
                  <a:pt x="22482" y="710176"/>
                </a:lnTo>
                <a:cubicBezTo>
                  <a:pt x="18444" y="718262"/>
                  <a:pt x="16929" y="726845"/>
                  <a:pt x="17624" y="735341"/>
                </a:cubicBezTo>
                <a:cubicBezTo>
                  <a:pt x="18358" y="744313"/>
                  <a:pt x="21587" y="753219"/>
                  <a:pt x="26911" y="761392"/>
                </a:cubicBezTo>
                <a:cubicBezTo>
                  <a:pt x="32093" y="769326"/>
                  <a:pt x="38722" y="775479"/>
                  <a:pt x="46409" y="779642"/>
                </a:cubicBezTo>
                <a:cubicBezTo>
                  <a:pt x="54086" y="783804"/>
                  <a:pt x="62887" y="785985"/>
                  <a:pt x="72412" y="785985"/>
                </a:cubicBezTo>
                <a:lnTo>
                  <a:pt x="440735" y="785985"/>
                </a:lnTo>
                <a:cubicBezTo>
                  <a:pt x="450488" y="785985"/>
                  <a:pt x="459480" y="783690"/>
                  <a:pt x="467262" y="779365"/>
                </a:cubicBezTo>
                <a:cubicBezTo>
                  <a:pt x="475063" y="775022"/>
                  <a:pt x="481759" y="768593"/>
                  <a:pt x="486893" y="760325"/>
                </a:cubicBezTo>
                <a:cubicBezTo>
                  <a:pt x="492017" y="752067"/>
                  <a:pt x="494808" y="743218"/>
                  <a:pt x="495246" y="734303"/>
                </a:cubicBezTo>
                <a:cubicBezTo>
                  <a:pt x="495675" y="725397"/>
                  <a:pt x="493751" y="716329"/>
                  <a:pt x="489464" y="707642"/>
                </a:cubicBezTo>
                <a:lnTo>
                  <a:pt x="320634" y="405347"/>
                </a:lnTo>
                <a:cubicBezTo>
                  <a:pt x="318329" y="401213"/>
                  <a:pt x="316814" y="397099"/>
                  <a:pt x="315881" y="392860"/>
                </a:cubicBezTo>
                <a:cubicBezTo>
                  <a:pt x="314976" y="388736"/>
                  <a:pt x="314624" y="384564"/>
                  <a:pt x="314624" y="380192"/>
                </a:cubicBezTo>
                <a:lnTo>
                  <a:pt x="314624" y="342168"/>
                </a:lnTo>
                <a:lnTo>
                  <a:pt x="180331" y="342168"/>
                </a:lnTo>
                <a:lnTo>
                  <a:pt x="180331" y="342168"/>
                </a:lnTo>
                <a:close/>
                <a:moveTo>
                  <a:pt x="331721" y="299486"/>
                </a:moveTo>
                <a:cubicBezTo>
                  <a:pt x="335178" y="299486"/>
                  <a:pt x="338331" y="300906"/>
                  <a:pt x="340617" y="303192"/>
                </a:cubicBezTo>
                <a:cubicBezTo>
                  <a:pt x="342903" y="305478"/>
                  <a:pt x="344322" y="308630"/>
                  <a:pt x="344322" y="312088"/>
                </a:cubicBezTo>
                <a:cubicBezTo>
                  <a:pt x="344322" y="315545"/>
                  <a:pt x="342903" y="318698"/>
                  <a:pt x="340617" y="320984"/>
                </a:cubicBezTo>
                <a:cubicBezTo>
                  <a:pt x="338331" y="323270"/>
                  <a:pt x="335178" y="324689"/>
                  <a:pt x="331721" y="324689"/>
                </a:cubicBezTo>
                <a:lnTo>
                  <a:pt x="323367" y="324689"/>
                </a:lnTo>
                <a:lnTo>
                  <a:pt x="171596" y="324689"/>
                </a:lnTo>
                <a:lnTo>
                  <a:pt x="163243" y="324689"/>
                </a:lnTo>
                <a:cubicBezTo>
                  <a:pt x="159785" y="324689"/>
                  <a:pt x="156632" y="323270"/>
                  <a:pt x="154346" y="320984"/>
                </a:cubicBezTo>
                <a:cubicBezTo>
                  <a:pt x="152060" y="318698"/>
                  <a:pt x="150632" y="315545"/>
                  <a:pt x="150632" y="312088"/>
                </a:cubicBezTo>
                <a:cubicBezTo>
                  <a:pt x="150632" y="308630"/>
                  <a:pt x="152051" y="305478"/>
                  <a:pt x="154346" y="303192"/>
                </a:cubicBezTo>
                <a:cubicBezTo>
                  <a:pt x="156632" y="300906"/>
                  <a:pt x="159785" y="299486"/>
                  <a:pt x="163243" y="299486"/>
                </a:cubicBezTo>
                <a:lnTo>
                  <a:pt x="331721" y="299486"/>
                </a:lnTo>
                <a:lnTo>
                  <a:pt x="331721" y="299486"/>
                </a:lnTo>
                <a:close/>
                <a:moveTo>
                  <a:pt x="682098" y="456258"/>
                </a:moveTo>
                <a:cubicBezTo>
                  <a:pt x="724056" y="445562"/>
                  <a:pt x="761394" y="423426"/>
                  <a:pt x="790626" y="393422"/>
                </a:cubicBezTo>
                <a:cubicBezTo>
                  <a:pt x="832003" y="350950"/>
                  <a:pt x="857177" y="292685"/>
                  <a:pt x="856339" y="228706"/>
                </a:cubicBezTo>
                <a:cubicBezTo>
                  <a:pt x="855501" y="164708"/>
                  <a:pt x="828812" y="107110"/>
                  <a:pt x="786330" y="65733"/>
                </a:cubicBezTo>
                <a:cubicBezTo>
                  <a:pt x="743858" y="24357"/>
                  <a:pt x="685594" y="-818"/>
                  <a:pt x="621614" y="20"/>
                </a:cubicBezTo>
                <a:cubicBezTo>
                  <a:pt x="557616" y="858"/>
                  <a:pt x="500018" y="27548"/>
                  <a:pt x="458632" y="70029"/>
                </a:cubicBezTo>
                <a:cubicBezTo>
                  <a:pt x="417255" y="112501"/>
                  <a:pt x="392081" y="170765"/>
                  <a:pt x="392919" y="234745"/>
                </a:cubicBezTo>
                <a:cubicBezTo>
                  <a:pt x="393757" y="298743"/>
                  <a:pt x="420446" y="356341"/>
                  <a:pt x="462918" y="397718"/>
                </a:cubicBezTo>
                <a:cubicBezTo>
                  <a:pt x="491931" y="425988"/>
                  <a:pt x="528326" y="446686"/>
                  <a:pt x="568874" y="456706"/>
                </a:cubicBezTo>
                <a:lnTo>
                  <a:pt x="569151" y="540012"/>
                </a:lnTo>
                <a:cubicBezTo>
                  <a:pt x="565807" y="541602"/>
                  <a:pt x="562721" y="543517"/>
                  <a:pt x="559959" y="545698"/>
                </a:cubicBezTo>
                <a:cubicBezTo>
                  <a:pt x="550720" y="552975"/>
                  <a:pt x="544938" y="563253"/>
                  <a:pt x="544862" y="574749"/>
                </a:cubicBezTo>
                <a:lnTo>
                  <a:pt x="543586" y="762792"/>
                </a:lnTo>
                <a:cubicBezTo>
                  <a:pt x="543538" y="774222"/>
                  <a:pt x="549129" y="784490"/>
                  <a:pt x="558206" y="791834"/>
                </a:cubicBezTo>
                <a:cubicBezTo>
                  <a:pt x="566750" y="798758"/>
                  <a:pt x="578485" y="803092"/>
                  <a:pt x="591363" y="803178"/>
                </a:cubicBezTo>
                <a:cubicBezTo>
                  <a:pt x="612956" y="803492"/>
                  <a:pt x="634683" y="803359"/>
                  <a:pt x="656295" y="803454"/>
                </a:cubicBezTo>
                <a:cubicBezTo>
                  <a:pt x="669211" y="803511"/>
                  <a:pt x="681079" y="799292"/>
                  <a:pt x="689756" y="792453"/>
                </a:cubicBezTo>
                <a:cubicBezTo>
                  <a:pt x="698995" y="785166"/>
                  <a:pt x="704777" y="774898"/>
                  <a:pt x="704844" y="763411"/>
                </a:cubicBezTo>
                <a:lnTo>
                  <a:pt x="706111" y="576235"/>
                </a:lnTo>
                <a:cubicBezTo>
                  <a:pt x="706139" y="575959"/>
                  <a:pt x="706149" y="575683"/>
                  <a:pt x="706149" y="575407"/>
                </a:cubicBezTo>
                <a:lnTo>
                  <a:pt x="706149" y="575368"/>
                </a:lnTo>
                <a:lnTo>
                  <a:pt x="706120" y="575368"/>
                </a:lnTo>
                <a:cubicBezTo>
                  <a:pt x="706158" y="563938"/>
                  <a:pt x="700558" y="553670"/>
                  <a:pt x="691490" y="546327"/>
                </a:cubicBezTo>
                <a:cubicBezTo>
                  <a:pt x="688756" y="544117"/>
                  <a:pt x="685699" y="542164"/>
                  <a:pt x="682384" y="540536"/>
                </a:cubicBezTo>
                <a:lnTo>
                  <a:pt x="682098" y="456258"/>
                </a:lnTo>
                <a:lnTo>
                  <a:pt x="682098" y="456258"/>
                </a:lnTo>
                <a:close/>
                <a:moveTo>
                  <a:pt x="625786" y="552232"/>
                </a:moveTo>
                <a:lnTo>
                  <a:pt x="658152" y="552366"/>
                </a:lnTo>
                <a:lnTo>
                  <a:pt x="658219" y="552366"/>
                </a:lnTo>
                <a:cubicBezTo>
                  <a:pt x="667010" y="552413"/>
                  <a:pt x="674878" y="555261"/>
                  <a:pt x="680498" y="559814"/>
                </a:cubicBezTo>
                <a:cubicBezTo>
                  <a:pt x="685594" y="563938"/>
                  <a:pt x="688737" y="569434"/>
                  <a:pt x="688708" y="575302"/>
                </a:cubicBezTo>
                <a:lnTo>
                  <a:pt x="688708" y="575330"/>
                </a:lnTo>
                <a:lnTo>
                  <a:pt x="688670" y="575330"/>
                </a:lnTo>
                <a:lnTo>
                  <a:pt x="688670" y="575368"/>
                </a:lnTo>
                <a:cubicBezTo>
                  <a:pt x="688670" y="575607"/>
                  <a:pt x="688680" y="575845"/>
                  <a:pt x="688699" y="576083"/>
                </a:cubicBezTo>
                <a:lnTo>
                  <a:pt x="687432" y="763306"/>
                </a:lnTo>
                <a:cubicBezTo>
                  <a:pt x="687403" y="769145"/>
                  <a:pt x="684155" y="774612"/>
                  <a:pt x="678964" y="778699"/>
                </a:cubicBezTo>
                <a:cubicBezTo>
                  <a:pt x="673192" y="783252"/>
                  <a:pt x="665182" y="786052"/>
                  <a:pt x="656362" y="786014"/>
                </a:cubicBezTo>
                <a:cubicBezTo>
                  <a:pt x="634721" y="785919"/>
                  <a:pt x="613070" y="785852"/>
                  <a:pt x="591439" y="785738"/>
                </a:cubicBezTo>
                <a:cubicBezTo>
                  <a:pt x="582676" y="785680"/>
                  <a:pt x="574808" y="782832"/>
                  <a:pt x="569198" y="778289"/>
                </a:cubicBezTo>
                <a:cubicBezTo>
                  <a:pt x="564112" y="774165"/>
                  <a:pt x="560978" y="768688"/>
                  <a:pt x="560997" y="762830"/>
                </a:cubicBezTo>
                <a:lnTo>
                  <a:pt x="562274" y="574797"/>
                </a:lnTo>
                <a:cubicBezTo>
                  <a:pt x="562312" y="568958"/>
                  <a:pt x="565560" y="563491"/>
                  <a:pt x="570751" y="559405"/>
                </a:cubicBezTo>
                <a:cubicBezTo>
                  <a:pt x="575389" y="555747"/>
                  <a:pt x="581466" y="553223"/>
                  <a:pt x="588248" y="552394"/>
                </a:cubicBezTo>
                <a:lnTo>
                  <a:pt x="625786" y="552232"/>
                </a:lnTo>
                <a:lnTo>
                  <a:pt x="625786" y="552232"/>
                </a:lnTo>
                <a:close/>
                <a:moveTo>
                  <a:pt x="586305" y="460297"/>
                </a:moveTo>
                <a:cubicBezTo>
                  <a:pt x="599735" y="462535"/>
                  <a:pt x="613556" y="463612"/>
                  <a:pt x="627644" y="463431"/>
                </a:cubicBezTo>
                <a:cubicBezTo>
                  <a:pt x="640274" y="463269"/>
                  <a:pt x="652647" y="462088"/>
                  <a:pt x="664696" y="459992"/>
                </a:cubicBezTo>
                <a:lnTo>
                  <a:pt x="664944" y="534659"/>
                </a:lnTo>
                <a:lnTo>
                  <a:pt x="625796" y="534830"/>
                </a:lnTo>
                <a:lnTo>
                  <a:pt x="593411" y="534697"/>
                </a:lnTo>
                <a:cubicBezTo>
                  <a:pt x="591325" y="534687"/>
                  <a:pt x="589258" y="534792"/>
                  <a:pt x="587229" y="535001"/>
                </a:cubicBezTo>
                <a:lnTo>
                  <a:pt x="586553" y="535001"/>
                </a:lnTo>
                <a:lnTo>
                  <a:pt x="586305" y="460297"/>
                </a:lnTo>
                <a:lnTo>
                  <a:pt x="586305" y="460297"/>
                </a:lnTo>
                <a:close/>
                <a:moveTo>
                  <a:pt x="622624" y="69572"/>
                </a:moveTo>
                <a:lnTo>
                  <a:pt x="622624" y="69610"/>
                </a:lnTo>
                <a:lnTo>
                  <a:pt x="622519" y="69610"/>
                </a:lnTo>
                <a:cubicBezTo>
                  <a:pt x="577733" y="70191"/>
                  <a:pt x="537432" y="88870"/>
                  <a:pt x="508486" y="118588"/>
                </a:cubicBezTo>
                <a:cubicBezTo>
                  <a:pt x="479720" y="148125"/>
                  <a:pt x="462147" y="188568"/>
                  <a:pt x="462509" y="233021"/>
                </a:cubicBezTo>
                <a:cubicBezTo>
                  <a:pt x="462490" y="233249"/>
                  <a:pt x="462480" y="233488"/>
                  <a:pt x="462480" y="233726"/>
                </a:cubicBezTo>
                <a:lnTo>
                  <a:pt x="462518" y="233726"/>
                </a:lnTo>
                <a:lnTo>
                  <a:pt x="462518" y="233830"/>
                </a:lnTo>
                <a:cubicBezTo>
                  <a:pt x="463099" y="278608"/>
                  <a:pt x="481778" y="318917"/>
                  <a:pt x="511496" y="347864"/>
                </a:cubicBezTo>
                <a:cubicBezTo>
                  <a:pt x="541204" y="376810"/>
                  <a:pt x="581971" y="394422"/>
                  <a:pt x="626739" y="393841"/>
                </a:cubicBezTo>
                <a:cubicBezTo>
                  <a:pt x="671525" y="393250"/>
                  <a:pt x="711826" y="374581"/>
                  <a:pt x="740772" y="344863"/>
                </a:cubicBezTo>
                <a:cubicBezTo>
                  <a:pt x="769547" y="315336"/>
                  <a:pt x="787111" y="274883"/>
                  <a:pt x="786749" y="230430"/>
                </a:cubicBezTo>
                <a:cubicBezTo>
                  <a:pt x="786768" y="230192"/>
                  <a:pt x="786778" y="229963"/>
                  <a:pt x="786778" y="229716"/>
                </a:cubicBezTo>
                <a:lnTo>
                  <a:pt x="786749" y="229716"/>
                </a:lnTo>
                <a:lnTo>
                  <a:pt x="786749" y="229611"/>
                </a:lnTo>
                <a:cubicBezTo>
                  <a:pt x="786159" y="184834"/>
                  <a:pt x="767490" y="144534"/>
                  <a:pt x="737772" y="115578"/>
                </a:cubicBezTo>
                <a:cubicBezTo>
                  <a:pt x="708235" y="86803"/>
                  <a:pt x="667791" y="69238"/>
                  <a:pt x="623338" y="69600"/>
                </a:cubicBezTo>
                <a:cubicBezTo>
                  <a:pt x="623110" y="69581"/>
                  <a:pt x="622872" y="69572"/>
                  <a:pt x="622624" y="69572"/>
                </a:cubicBezTo>
                <a:lnTo>
                  <a:pt x="622624" y="69572"/>
                </a:lnTo>
                <a:close/>
                <a:moveTo>
                  <a:pt x="622633" y="87050"/>
                </a:moveTo>
                <a:lnTo>
                  <a:pt x="622633" y="87022"/>
                </a:lnTo>
                <a:cubicBezTo>
                  <a:pt x="582733" y="87574"/>
                  <a:pt x="546814" y="104233"/>
                  <a:pt x="520992" y="130741"/>
                </a:cubicBezTo>
                <a:cubicBezTo>
                  <a:pt x="495294" y="157116"/>
                  <a:pt x="479606" y="193235"/>
                  <a:pt x="479930" y="232907"/>
                </a:cubicBezTo>
                <a:cubicBezTo>
                  <a:pt x="479958" y="233173"/>
                  <a:pt x="479968" y="233449"/>
                  <a:pt x="479968" y="233726"/>
                </a:cubicBezTo>
                <a:lnTo>
                  <a:pt x="479939" y="233726"/>
                </a:lnTo>
                <a:cubicBezTo>
                  <a:pt x="480492" y="273626"/>
                  <a:pt x="497151" y="309545"/>
                  <a:pt x="523659" y="335367"/>
                </a:cubicBezTo>
                <a:cubicBezTo>
                  <a:pt x="550196" y="361218"/>
                  <a:pt x="586591" y="376944"/>
                  <a:pt x="626548" y="376420"/>
                </a:cubicBezTo>
                <a:cubicBezTo>
                  <a:pt x="666496" y="375896"/>
                  <a:pt x="702443" y="359227"/>
                  <a:pt x="728294" y="332700"/>
                </a:cubicBezTo>
                <a:cubicBezTo>
                  <a:pt x="753993" y="306325"/>
                  <a:pt x="769680" y="270206"/>
                  <a:pt x="769357" y="230535"/>
                </a:cubicBezTo>
                <a:cubicBezTo>
                  <a:pt x="769328" y="230259"/>
                  <a:pt x="769318" y="229992"/>
                  <a:pt x="769318" y="229706"/>
                </a:cubicBezTo>
                <a:lnTo>
                  <a:pt x="769347" y="229706"/>
                </a:lnTo>
                <a:cubicBezTo>
                  <a:pt x="768795" y="189806"/>
                  <a:pt x="752135" y="153887"/>
                  <a:pt x="725627" y="128065"/>
                </a:cubicBezTo>
                <a:cubicBezTo>
                  <a:pt x="699253" y="102366"/>
                  <a:pt x="663134" y="86679"/>
                  <a:pt x="623462" y="87003"/>
                </a:cubicBezTo>
                <a:cubicBezTo>
                  <a:pt x="623186" y="87031"/>
                  <a:pt x="622910" y="87050"/>
                  <a:pt x="622633" y="87050"/>
                </a:cubicBezTo>
                <a:lnTo>
                  <a:pt x="622633" y="87050"/>
                </a:lnTo>
                <a:close/>
                <a:moveTo>
                  <a:pt x="774186" y="78221"/>
                </a:moveTo>
                <a:cubicBezTo>
                  <a:pt x="734886" y="39940"/>
                  <a:pt x="680993" y="16651"/>
                  <a:pt x="621824" y="17422"/>
                </a:cubicBezTo>
                <a:cubicBezTo>
                  <a:pt x="562664" y="18194"/>
                  <a:pt x="509410" y="42883"/>
                  <a:pt x="471138" y="82173"/>
                </a:cubicBezTo>
                <a:cubicBezTo>
                  <a:pt x="432857" y="121464"/>
                  <a:pt x="409569" y="175356"/>
                  <a:pt x="410340" y="234535"/>
                </a:cubicBezTo>
                <a:cubicBezTo>
                  <a:pt x="411112" y="293695"/>
                  <a:pt x="435801" y="346949"/>
                  <a:pt x="475091" y="385221"/>
                </a:cubicBezTo>
                <a:cubicBezTo>
                  <a:pt x="514382" y="423502"/>
                  <a:pt x="568274" y="446790"/>
                  <a:pt x="627453" y="446019"/>
                </a:cubicBezTo>
                <a:cubicBezTo>
                  <a:pt x="686613" y="445247"/>
                  <a:pt x="739867" y="420559"/>
                  <a:pt x="778139" y="381268"/>
                </a:cubicBezTo>
                <a:cubicBezTo>
                  <a:pt x="816420" y="341977"/>
                  <a:pt x="839708" y="288085"/>
                  <a:pt x="838937" y="228906"/>
                </a:cubicBezTo>
                <a:cubicBezTo>
                  <a:pt x="838156" y="169746"/>
                  <a:pt x="813467" y="116492"/>
                  <a:pt x="774186" y="78221"/>
                </a:cubicBezTo>
                <a:lnTo>
                  <a:pt x="774186" y="78221"/>
                </a:lnTo>
                <a:close/>
                <a:moveTo>
                  <a:pt x="256026" y="127293"/>
                </a:moveTo>
                <a:lnTo>
                  <a:pt x="256054" y="127274"/>
                </a:lnTo>
                <a:lnTo>
                  <a:pt x="256073" y="127265"/>
                </a:lnTo>
                <a:lnTo>
                  <a:pt x="304632" y="97204"/>
                </a:lnTo>
                <a:cubicBezTo>
                  <a:pt x="305070" y="96871"/>
                  <a:pt x="305527" y="96594"/>
                  <a:pt x="306013" y="96356"/>
                </a:cubicBezTo>
                <a:cubicBezTo>
                  <a:pt x="316843" y="89917"/>
                  <a:pt x="329283" y="88355"/>
                  <a:pt x="340703" y="91041"/>
                </a:cubicBezTo>
                <a:cubicBezTo>
                  <a:pt x="352152" y="93737"/>
                  <a:pt x="362601" y="100690"/>
                  <a:pt x="369430" y="111282"/>
                </a:cubicBezTo>
                <a:cubicBezTo>
                  <a:pt x="369783" y="111739"/>
                  <a:pt x="370078" y="112234"/>
                  <a:pt x="370326" y="112739"/>
                </a:cubicBezTo>
                <a:cubicBezTo>
                  <a:pt x="376765" y="123569"/>
                  <a:pt x="378327" y="136009"/>
                  <a:pt x="375641" y="147439"/>
                </a:cubicBezTo>
                <a:cubicBezTo>
                  <a:pt x="372888" y="159145"/>
                  <a:pt x="365678" y="169813"/>
                  <a:pt x="354667" y="176623"/>
                </a:cubicBezTo>
                <a:lnTo>
                  <a:pt x="305460" y="207084"/>
                </a:lnTo>
                <a:lnTo>
                  <a:pt x="305441" y="207094"/>
                </a:lnTo>
                <a:lnTo>
                  <a:pt x="305432" y="207103"/>
                </a:lnTo>
                <a:lnTo>
                  <a:pt x="256873" y="237164"/>
                </a:lnTo>
                <a:cubicBezTo>
                  <a:pt x="256435" y="237488"/>
                  <a:pt x="255978" y="237774"/>
                  <a:pt x="255492" y="238002"/>
                </a:cubicBezTo>
                <a:cubicBezTo>
                  <a:pt x="244662" y="244441"/>
                  <a:pt x="232223" y="246003"/>
                  <a:pt x="220802" y="243317"/>
                </a:cubicBezTo>
                <a:cubicBezTo>
                  <a:pt x="209448" y="240650"/>
                  <a:pt x="199066" y="233773"/>
                  <a:pt x="192237" y="223315"/>
                </a:cubicBezTo>
                <a:cubicBezTo>
                  <a:pt x="182359" y="232078"/>
                  <a:pt x="170358" y="237631"/>
                  <a:pt x="157785" y="239717"/>
                </a:cubicBezTo>
                <a:cubicBezTo>
                  <a:pt x="140402" y="242603"/>
                  <a:pt x="121914" y="238850"/>
                  <a:pt x="106436" y="227792"/>
                </a:cubicBezTo>
                <a:lnTo>
                  <a:pt x="106436" y="227792"/>
                </a:lnTo>
                <a:cubicBezTo>
                  <a:pt x="90938" y="216705"/>
                  <a:pt x="81404" y="200388"/>
                  <a:pt x="78508" y="182977"/>
                </a:cubicBezTo>
                <a:cubicBezTo>
                  <a:pt x="75622" y="165593"/>
                  <a:pt x="79375" y="147105"/>
                  <a:pt x="90434" y="131627"/>
                </a:cubicBezTo>
                <a:cubicBezTo>
                  <a:pt x="101521" y="116130"/>
                  <a:pt x="117837" y="106596"/>
                  <a:pt x="135249" y="103700"/>
                </a:cubicBezTo>
                <a:cubicBezTo>
                  <a:pt x="152632" y="100814"/>
                  <a:pt x="171110" y="104557"/>
                  <a:pt x="186579" y="115616"/>
                </a:cubicBezTo>
                <a:lnTo>
                  <a:pt x="186588" y="115625"/>
                </a:lnTo>
                <a:lnTo>
                  <a:pt x="186588" y="115625"/>
                </a:lnTo>
                <a:lnTo>
                  <a:pt x="186598" y="115635"/>
                </a:lnTo>
                <a:lnTo>
                  <a:pt x="186598" y="115635"/>
                </a:lnTo>
                <a:cubicBezTo>
                  <a:pt x="200114" y="125303"/>
                  <a:pt x="209096" y="138952"/>
                  <a:pt x="213077" y="153849"/>
                </a:cubicBezTo>
                <a:lnTo>
                  <a:pt x="256026" y="127293"/>
                </a:lnTo>
                <a:lnTo>
                  <a:pt x="256026" y="127293"/>
                </a:lnTo>
                <a:close/>
                <a:moveTo>
                  <a:pt x="272609" y="137514"/>
                </a:moveTo>
                <a:lnTo>
                  <a:pt x="303689" y="187720"/>
                </a:lnTo>
                <a:lnTo>
                  <a:pt x="345513" y="161831"/>
                </a:lnTo>
                <a:cubicBezTo>
                  <a:pt x="352381" y="157573"/>
                  <a:pt x="356895" y="150868"/>
                  <a:pt x="358629" y="143495"/>
                </a:cubicBezTo>
                <a:cubicBezTo>
                  <a:pt x="360372" y="136104"/>
                  <a:pt x="359324" y="128074"/>
                  <a:pt x="355067" y="121188"/>
                </a:cubicBezTo>
                <a:lnTo>
                  <a:pt x="355057" y="121178"/>
                </a:lnTo>
                <a:cubicBezTo>
                  <a:pt x="350799" y="114311"/>
                  <a:pt x="344094" y="109796"/>
                  <a:pt x="336722" y="108062"/>
                </a:cubicBezTo>
                <a:cubicBezTo>
                  <a:pt x="329330" y="106329"/>
                  <a:pt x="321301" y="107367"/>
                  <a:pt x="314414" y="111634"/>
                </a:cubicBezTo>
                <a:lnTo>
                  <a:pt x="272609" y="137514"/>
                </a:lnTo>
                <a:lnTo>
                  <a:pt x="272609" y="137514"/>
                </a:lnTo>
                <a:close/>
                <a:moveTo>
                  <a:pt x="288887" y="196883"/>
                </a:moveTo>
                <a:lnTo>
                  <a:pt x="257807" y="146677"/>
                </a:lnTo>
                <a:lnTo>
                  <a:pt x="215973" y="172566"/>
                </a:lnTo>
                <a:cubicBezTo>
                  <a:pt x="215859" y="172632"/>
                  <a:pt x="215687" y="172747"/>
                  <a:pt x="215449" y="172909"/>
                </a:cubicBezTo>
                <a:cubicBezTo>
                  <a:pt x="215249" y="185434"/>
                  <a:pt x="211630" y="198026"/>
                  <a:pt x="204362" y="209218"/>
                </a:cubicBezTo>
                <a:lnTo>
                  <a:pt x="204476" y="209494"/>
                </a:lnTo>
                <a:cubicBezTo>
                  <a:pt x="205038" y="210780"/>
                  <a:pt x="205686" y="212028"/>
                  <a:pt x="206410" y="213199"/>
                </a:cubicBezTo>
                <a:lnTo>
                  <a:pt x="206420" y="213209"/>
                </a:lnTo>
                <a:cubicBezTo>
                  <a:pt x="210677" y="220076"/>
                  <a:pt x="217383" y="224591"/>
                  <a:pt x="224755" y="226325"/>
                </a:cubicBezTo>
                <a:cubicBezTo>
                  <a:pt x="232147" y="228068"/>
                  <a:pt x="240186" y="227020"/>
                  <a:pt x="247063" y="222762"/>
                </a:cubicBezTo>
                <a:lnTo>
                  <a:pt x="288887" y="196883"/>
                </a:lnTo>
                <a:lnTo>
                  <a:pt x="288887" y="196883"/>
                </a:lnTo>
                <a:close/>
                <a:moveTo>
                  <a:pt x="124076" y="218095"/>
                </a:moveTo>
                <a:lnTo>
                  <a:pt x="183150" y="135504"/>
                </a:lnTo>
                <a:cubicBezTo>
                  <a:pt x="190808" y="143229"/>
                  <a:pt x="195628" y="152992"/>
                  <a:pt x="197333" y="163269"/>
                </a:cubicBezTo>
                <a:cubicBezTo>
                  <a:pt x="199466" y="176099"/>
                  <a:pt x="196771" y="189730"/>
                  <a:pt x="188770" y="201207"/>
                </a:cubicBezTo>
                <a:cubicBezTo>
                  <a:pt x="188503" y="201522"/>
                  <a:pt x="188274" y="201846"/>
                  <a:pt x="188065" y="202188"/>
                </a:cubicBezTo>
                <a:cubicBezTo>
                  <a:pt x="179807" y="213466"/>
                  <a:pt x="167805" y="220410"/>
                  <a:pt x="154994" y="222534"/>
                </a:cubicBezTo>
                <a:cubicBezTo>
                  <a:pt x="144688" y="224248"/>
                  <a:pt x="133868" y="222848"/>
                  <a:pt x="124076" y="218095"/>
                </a:cubicBezTo>
                <a:close/>
              </a:path>
            </a:pathLst>
          </a:custGeom>
          <a:solidFill>
            <a:srgbClr val="00823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9" name="Chevron 7">
            <a:extLst>
              <a:ext uri="{FF2B5EF4-FFF2-40B4-BE49-F238E27FC236}">
                <a16:creationId xmlns:a16="http://schemas.microsoft.com/office/drawing/2014/main" id="{957544C5-2720-F5F5-3B3F-8F05FA7E3F3C}"/>
              </a:ext>
            </a:extLst>
          </p:cNvPr>
          <p:cNvSpPr/>
          <p:nvPr/>
        </p:nvSpPr>
        <p:spPr>
          <a:xfrm>
            <a:off x="9478932" y="1644995"/>
            <a:ext cx="2039674" cy="26665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Super Treaters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541FC7E-A08A-0092-AB35-6F9C3E254A6F}"/>
              </a:ext>
            </a:extLst>
          </p:cNvPr>
          <p:cNvSpPr>
            <a:spLocks/>
          </p:cNvSpPr>
          <p:nvPr/>
        </p:nvSpPr>
        <p:spPr>
          <a:xfrm>
            <a:off x="10270169" y="993594"/>
            <a:ext cx="457200" cy="484632"/>
          </a:xfrm>
          <a:custGeom>
            <a:avLst/>
            <a:gdLst>
              <a:gd name="connsiteX0" fmla="*/ 396088 w 738558"/>
              <a:gd name="connsiteY0" fmla="*/ 706745 h 857250"/>
              <a:gd name="connsiteX1" fmla="*/ 395754 w 738558"/>
              <a:gd name="connsiteY1" fmla="*/ 722490 h 857250"/>
              <a:gd name="connsiteX2" fmla="*/ 368703 w 738558"/>
              <a:gd name="connsiteY2" fmla="*/ 748417 h 857250"/>
              <a:gd name="connsiteX3" fmla="*/ 360998 w 738558"/>
              <a:gd name="connsiteY3" fmla="*/ 751513 h 857250"/>
              <a:gd name="connsiteX4" fmla="*/ 360188 w 738558"/>
              <a:gd name="connsiteY4" fmla="*/ 751484 h 857250"/>
              <a:gd name="connsiteX5" fmla="*/ 352206 w 738558"/>
              <a:gd name="connsiteY5" fmla="*/ 747217 h 857250"/>
              <a:gd name="connsiteX6" fmla="*/ 341700 w 738558"/>
              <a:gd name="connsiteY6" fmla="*/ 733711 h 857250"/>
              <a:gd name="connsiteX7" fmla="*/ 343653 w 738558"/>
              <a:gd name="connsiteY7" fmla="*/ 718090 h 857250"/>
              <a:gd name="connsiteX8" fmla="*/ 359273 w 738558"/>
              <a:gd name="connsiteY8" fmla="*/ 720042 h 857250"/>
              <a:gd name="connsiteX9" fmla="*/ 362198 w 738558"/>
              <a:gd name="connsiteY9" fmla="*/ 723805 h 857250"/>
              <a:gd name="connsiteX10" fmla="*/ 380333 w 738558"/>
              <a:gd name="connsiteY10" fmla="*/ 706422 h 857250"/>
              <a:gd name="connsiteX11" fmla="*/ 396088 w 738558"/>
              <a:gd name="connsiteY11" fmla="*/ 706745 h 857250"/>
              <a:gd name="connsiteX12" fmla="*/ 380048 w 738558"/>
              <a:gd name="connsiteY12" fmla="*/ 269157 h 857250"/>
              <a:gd name="connsiteX13" fmla="*/ 372285 w 738558"/>
              <a:gd name="connsiteY13" fmla="*/ 328689 h 857250"/>
              <a:gd name="connsiteX14" fmla="*/ 280111 w 738558"/>
              <a:gd name="connsiteY14" fmla="*/ 488337 h 857250"/>
              <a:gd name="connsiteX15" fmla="*/ 212017 w 738558"/>
              <a:gd name="connsiteY15" fmla="*/ 527561 h 857250"/>
              <a:gd name="connsiteX16" fmla="*/ 172917 w 738558"/>
              <a:gd name="connsiteY16" fmla="*/ 517065 h 857250"/>
              <a:gd name="connsiteX17" fmla="*/ 144189 w 738558"/>
              <a:gd name="connsiteY17" fmla="*/ 409861 h 857250"/>
              <a:gd name="connsiteX18" fmla="*/ 236363 w 738558"/>
              <a:gd name="connsiteY18" fmla="*/ 250212 h 857250"/>
              <a:gd name="connsiteX19" fmla="*/ 343557 w 738558"/>
              <a:gd name="connsiteY19" fmla="*/ 221485 h 857250"/>
              <a:gd name="connsiteX20" fmla="*/ 380048 w 738558"/>
              <a:gd name="connsiteY20" fmla="*/ 269157 h 857250"/>
              <a:gd name="connsiteX21" fmla="*/ 304162 w 738558"/>
              <a:gd name="connsiteY21" fmla="*/ 402155 h 857250"/>
              <a:gd name="connsiteX22" fmla="*/ 206826 w 738558"/>
              <a:gd name="connsiteY22" fmla="*/ 345910 h 857250"/>
              <a:gd name="connsiteX23" fmla="*/ 163478 w 738558"/>
              <a:gd name="connsiteY23" fmla="*/ 420986 h 857250"/>
              <a:gd name="connsiteX24" fmla="*/ 157944 w 738558"/>
              <a:gd name="connsiteY24" fmla="*/ 463620 h 857250"/>
              <a:gd name="connsiteX25" fmla="*/ 184052 w 738558"/>
              <a:gd name="connsiteY25" fmla="*/ 497767 h 857250"/>
              <a:gd name="connsiteX26" fmla="*/ 260833 w 738558"/>
              <a:gd name="connsiteY26" fmla="*/ 477193 h 857250"/>
              <a:gd name="connsiteX27" fmla="*/ 304162 w 738558"/>
              <a:gd name="connsiteY27" fmla="*/ 402155 h 857250"/>
              <a:gd name="connsiteX28" fmla="*/ 332432 w 738558"/>
              <a:gd name="connsiteY28" fmla="*/ 240773 h 857250"/>
              <a:gd name="connsiteX29" fmla="*/ 337995 w 738558"/>
              <a:gd name="connsiteY29" fmla="*/ 231134 h 857250"/>
              <a:gd name="connsiteX30" fmla="*/ 332432 w 738558"/>
              <a:gd name="connsiteY30" fmla="*/ 240773 h 857250"/>
              <a:gd name="connsiteX31" fmla="*/ 304419 w 738558"/>
              <a:gd name="connsiteY31" fmla="*/ 233258 h 857250"/>
              <a:gd name="connsiteX32" fmla="*/ 255641 w 738558"/>
              <a:gd name="connsiteY32" fmla="*/ 261347 h 857250"/>
              <a:gd name="connsiteX33" fmla="*/ 217980 w 738558"/>
              <a:gd name="connsiteY33" fmla="*/ 326584 h 857250"/>
              <a:gd name="connsiteX34" fmla="*/ 315316 w 738558"/>
              <a:gd name="connsiteY34" fmla="*/ 382829 h 857250"/>
              <a:gd name="connsiteX35" fmla="*/ 353006 w 738558"/>
              <a:gd name="connsiteY35" fmla="*/ 317554 h 857250"/>
              <a:gd name="connsiteX36" fmla="*/ 332432 w 738558"/>
              <a:gd name="connsiteY36" fmla="*/ 240773 h 857250"/>
              <a:gd name="connsiteX37" fmla="*/ 331584 w 738558"/>
              <a:gd name="connsiteY37" fmla="*/ 250574 h 857250"/>
              <a:gd name="connsiteX38" fmla="*/ 293494 w 738558"/>
              <a:gd name="connsiteY38" fmla="*/ 242964 h 857250"/>
              <a:gd name="connsiteX39" fmla="*/ 259852 w 738558"/>
              <a:gd name="connsiteY39" fmla="*/ 268834 h 857250"/>
              <a:gd name="connsiteX40" fmla="*/ 264128 w 738558"/>
              <a:gd name="connsiteY40" fmla="*/ 283988 h 857250"/>
              <a:gd name="connsiteX41" fmla="*/ 269557 w 738558"/>
              <a:gd name="connsiteY41" fmla="*/ 285407 h 857250"/>
              <a:gd name="connsiteX42" fmla="*/ 279283 w 738558"/>
              <a:gd name="connsiteY42" fmla="*/ 279711 h 857250"/>
              <a:gd name="connsiteX43" fmla="*/ 298447 w 738558"/>
              <a:gd name="connsiteY43" fmla="*/ 264671 h 857250"/>
              <a:gd name="connsiteX44" fmla="*/ 318802 w 738558"/>
              <a:gd name="connsiteY44" fmla="*/ 268796 h 857250"/>
              <a:gd name="connsiteX45" fmla="*/ 334308 w 738558"/>
              <a:gd name="connsiteY45" fmla="*/ 266081 h 857250"/>
              <a:gd name="connsiteX46" fmla="*/ 331584 w 738558"/>
              <a:gd name="connsiteY46" fmla="*/ 250574 h 857250"/>
              <a:gd name="connsiteX47" fmla="*/ 387658 w 738558"/>
              <a:gd name="connsiteY47" fmla="*/ 347434 h 857250"/>
              <a:gd name="connsiteX48" fmla="*/ 475555 w 738558"/>
              <a:gd name="connsiteY48" fmla="*/ 326384 h 857250"/>
              <a:gd name="connsiteX49" fmla="*/ 539515 w 738558"/>
              <a:gd name="connsiteY49" fmla="*/ 332394 h 857250"/>
              <a:gd name="connsiteX50" fmla="*/ 539944 w 738558"/>
              <a:gd name="connsiteY50" fmla="*/ 332508 h 857250"/>
              <a:gd name="connsiteX51" fmla="*/ 589940 w 738558"/>
              <a:gd name="connsiteY51" fmla="*/ 357321 h 857250"/>
              <a:gd name="connsiteX52" fmla="*/ 604818 w 738558"/>
              <a:gd name="connsiteY52" fmla="*/ 389172 h 857250"/>
              <a:gd name="connsiteX53" fmla="*/ 604818 w 738558"/>
              <a:gd name="connsiteY53" fmla="*/ 438093 h 857250"/>
              <a:gd name="connsiteX54" fmla="*/ 476736 w 738558"/>
              <a:gd name="connsiteY54" fmla="*/ 510483 h 857250"/>
              <a:gd name="connsiteX55" fmla="*/ 476126 w 738558"/>
              <a:gd name="connsiteY55" fmla="*/ 510502 h 857250"/>
              <a:gd name="connsiteX56" fmla="*/ 472850 w 738558"/>
              <a:gd name="connsiteY56" fmla="*/ 510521 h 857250"/>
              <a:gd name="connsiteX57" fmla="*/ 361045 w 738558"/>
              <a:gd name="connsiteY57" fmla="*/ 478479 h 857250"/>
              <a:gd name="connsiteX58" fmla="*/ 347186 w 738558"/>
              <a:gd name="connsiteY58" fmla="*/ 447456 h 857250"/>
              <a:gd name="connsiteX59" fmla="*/ 347186 w 738558"/>
              <a:gd name="connsiteY59" fmla="*/ 398526 h 857250"/>
              <a:gd name="connsiteX60" fmla="*/ 387658 w 738558"/>
              <a:gd name="connsiteY60" fmla="*/ 347434 h 857250"/>
              <a:gd name="connsiteX61" fmla="*/ 582549 w 738558"/>
              <a:gd name="connsiteY61" fmla="*/ 438074 h 857250"/>
              <a:gd name="connsiteX62" fmla="*/ 582549 w 738558"/>
              <a:gd name="connsiteY62" fmla="*/ 428568 h 857250"/>
              <a:gd name="connsiteX63" fmla="*/ 564337 w 738558"/>
              <a:gd name="connsiteY63" fmla="*/ 440246 h 857250"/>
              <a:gd name="connsiteX64" fmla="*/ 476441 w 738558"/>
              <a:gd name="connsiteY64" fmla="*/ 461296 h 857250"/>
              <a:gd name="connsiteX65" fmla="*/ 466134 w 738558"/>
              <a:gd name="connsiteY65" fmla="*/ 461505 h 857250"/>
              <a:gd name="connsiteX66" fmla="*/ 402250 w 738558"/>
              <a:gd name="connsiteY66" fmla="*/ 452399 h 857250"/>
              <a:gd name="connsiteX67" fmla="*/ 402184 w 738558"/>
              <a:gd name="connsiteY67" fmla="*/ 452380 h 857250"/>
              <a:gd name="connsiteX68" fmla="*/ 369456 w 738558"/>
              <a:gd name="connsiteY68" fmla="*/ 436521 h 857250"/>
              <a:gd name="connsiteX69" fmla="*/ 369456 w 738558"/>
              <a:gd name="connsiteY69" fmla="*/ 447446 h 857250"/>
              <a:gd name="connsiteX70" fmla="*/ 376695 w 738558"/>
              <a:gd name="connsiteY70" fmla="*/ 462629 h 857250"/>
              <a:gd name="connsiteX71" fmla="*/ 475555 w 738558"/>
              <a:gd name="connsiteY71" fmla="*/ 488232 h 857250"/>
              <a:gd name="connsiteX72" fmla="*/ 582549 w 738558"/>
              <a:gd name="connsiteY72" fmla="*/ 438074 h 857250"/>
              <a:gd name="connsiteX73" fmla="*/ 574510 w 738558"/>
              <a:gd name="connsiteY73" fmla="*/ 373361 h 857250"/>
              <a:gd name="connsiteX74" fmla="*/ 539439 w 738558"/>
              <a:gd name="connsiteY74" fmla="*/ 355368 h 857250"/>
              <a:gd name="connsiteX75" fmla="*/ 431549 w 738558"/>
              <a:gd name="connsiteY75" fmla="*/ 436521 h 857250"/>
              <a:gd name="connsiteX76" fmla="*/ 475555 w 738558"/>
              <a:gd name="connsiteY76" fmla="*/ 439045 h 857250"/>
              <a:gd name="connsiteX77" fmla="*/ 582549 w 738558"/>
              <a:gd name="connsiteY77" fmla="*/ 389153 h 857250"/>
              <a:gd name="connsiteX78" fmla="*/ 574510 w 738558"/>
              <a:gd name="connsiteY78" fmla="*/ 373361 h 857250"/>
              <a:gd name="connsiteX79" fmla="*/ 369446 w 738558"/>
              <a:gd name="connsiteY79" fmla="*/ 398526 h 857250"/>
              <a:gd name="connsiteX80" fmla="*/ 377485 w 738558"/>
              <a:gd name="connsiteY80" fmla="*/ 414318 h 857250"/>
              <a:gd name="connsiteX81" fmla="*/ 403851 w 738558"/>
              <a:gd name="connsiteY81" fmla="*/ 429492 h 857250"/>
              <a:gd name="connsiteX82" fmla="*/ 509892 w 738558"/>
              <a:gd name="connsiteY82" fmla="*/ 349729 h 857250"/>
              <a:gd name="connsiteX83" fmla="*/ 476441 w 738558"/>
              <a:gd name="connsiteY83" fmla="*/ 348634 h 857250"/>
              <a:gd name="connsiteX84" fmla="*/ 369446 w 738558"/>
              <a:gd name="connsiteY84" fmla="*/ 398526 h 857250"/>
              <a:gd name="connsiteX85" fmla="*/ 499110 w 738558"/>
              <a:gd name="connsiteY85" fmla="*/ 715061 h 857250"/>
              <a:gd name="connsiteX86" fmla="*/ 499110 w 738558"/>
              <a:gd name="connsiteY86" fmla="*/ 739769 h 857250"/>
              <a:gd name="connsiteX87" fmla="*/ 482327 w 738558"/>
              <a:gd name="connsiteY87" fmla="*/ 758676 h 857250"/>
              <a:gd name="connsiteX88" fmla="*/ 462858 w 738558"/>
              <a:gd name="connsiteY88" fmla="*/ 761009 h 857250"/>
              <a:gd name="connsiteX89" fmla="*/ 459200 w 738558"/>
              <a:gd name="connsiteY89" fmla="*/ 769830 h 857250"/>
              <a:gd name="connsiteX90" fmla="*/ 471326 w 738558"/>
              <a:gd name="connsiteY90" fmla="*/ 785251 h 857250"/>
              <a:gd name="connsiteX91" fmla="*/ 469821 w 738558"/>
              <a:gd name="connsiteY91" fmla="*/ 810492 h 857250"/>
              <a:gd name="connsiteX92" fmla="*/ 452352 w 738558"/>
              <a:gd name="connsiteY92" fmla="*/ 827961 h 857250"/>
              <a:gd name="connsiteX93" fmla="*/ 427120 w 738558"/>
              <a:gd name="connsiteY93" fmla="*/ 829466 h 857250"/>
              <a:gd name="connsiteX94" fmla="*/ 411690 w 738558"/>
              <a:gd name="connsiteY94" fmla="*/ 817340 h 857250"/>
              <a:gd name="connsiteX95" fmla="*/ 402879 w 738558"/>
              <a:gd name="connsiteY95" fmla="*/ 820998 h 857250"/>
              <a:gd name="connsiteX96" fmla="*/ 400545 w 738558"/>
              <a:gd name="connsiteY96" fmla="*/ 840476 h 857250"/>
              <a:gd name="connsiteX97" fmla="*/ 381629 w 738558"/>
              <a:gd name="connsiteY97" fmla="*/ 857250 h 857250"/>
              <a:gd name="connsiteX98" fmla="*/ 356930 w 738558"/>
              <a:gd name="connsiteY98" fmla="*/ 857250 h 857250"/>
              <a:gd name="connsiteX99" fmla="*/ 338023 w 738558"/>
              <a:gd name="connsiteY99" fmla="*/ 840467 h 857250"/>
              <a:gd name="connsiteX100" fmla="*/ 335690 w 738558"/>
              <a:gd name="connsiteY100" fmla="*/ 820988 h 857250"/>
              <a:gd name="connsiteX101" fmla="*/ 326869 w 738558"/>
              <a:gd name="connsiteY101" fmla="*/ 817331 h 857250"/>
              <a:gd name="connsiteX102" fmla="*/ 311439 w 738558"/>
              <a:gd name="connsiteY102" fmla="*/ 829456 h 857250"/>
              <a:gd name="connsiteX103" fmla="*/ 286198 w 738558"/>
              <a:gd name="connsiteY103" fmla="*/ 827951 h 857250"/>
              <a:gd name="connsiteX104" fmla="*/ 268729 w 738558"/>
              <a:gd name="connsiteY104" fmla="*/ 810482 h 857250"/>
              <a:gd name="connsiteX105" fmla="*/ 267224 w 738558"/>
              <a:gd name="connsiteY105" fmla="*/ 785241 h 857250"/>
              <a:gd name="connsiteX106" fmla="*/ 279349 w 738558"/>
              <a:gd name="connsiteY106" fmla="*/ 769811 h 857250"/>
              <a:gd name="connsiteX107" fmla="*/ 275692 w 738558"/>
              <a:gd name="connsiteY107" fmla="*/ 761000 h 857250"/>
              <a:gd name="connsiteX108" fmla="*/ 256213 w 738558"/>
              <a:gd name="connsiteY108" fmla="*/ 758666 h 857250"/>
              <a:gd name="connsiteX109" fmla="*/ 239430 w 738558"/>
              <a:gd name="connsiteY109" fmla="*/ 739759 h 857250"/>
              <a:gd name="connsiteX110" fmla="*/ 239430 w 738558"/>
              <a:gd name="connsiteY110" fmla="*/ 715051 h 857250"/>
              <a:gd name="connsiteX111" fmla="*/ 256203 w 738558"/>
              <a:gd name="connsiteY111" fmla="*/ 696144 h 857250"/>
              <a:gd name="connsiteX112" fmla="*/ 275682 w 738558"/>
              <a:gd name="connsiteY112" fmla="*/ 693811 h 857250"/>
              <a:gd name="connsiteX113" fmla="*/ 279340 w 738558"/>
              <a:gd name="connsiteY113" fmla="*/ 684990 h 857250"/>
              <a:gd name="connsiteX114" fmla="*/ 267214 w 738558"/>
              <a:gd name="connsiteY114" fmla="*/ 669560 h 857250"/>
              <a:gd name="connsiteX115" fmla="*/ 268719 w 738558"/>
              <a:gd name="connsiteY115" fmla="*/ 644319 h 857250"/>
              <a:gd name="connsiteX116" fmla="*/ 286188 w 738558"/>
              <a:gd name="connsiteY116" fmla="*/ 626850 h 857250"/>
              <a:gd name="connsiteX117" fmla="*/ 311420 w 738558"/>
              <a:gd name="connsiteY117" fmla="*/ 625335 h 857250"/>
              <a:gd name="connsiteX118" fmla="*/ 326850 w 738558"/>
              <a:gd name="connsiteY118" fmla="*/ 637461 h 857250"/>
              <a:gd name="connsiteX119" fmla="*/ 335661 w 738558"/>
              <a:gd name="connsiteY119" fmla="*/ 633803 h 857250"/>
              <a:gd name="connsiteX120" fmla="*/ 337995 w 738558"/>
              <a:gd name="connsiteY120" fmla="*/ 614324 h 857250"/>
              <a:gd name="connsiteX121" fmla="*/ 356902 w 738558"/>
              <a:gd name="connsiteY121" fmla="*/ 597541 h 857250"/>
              <a:gd name="connsiteX122" fmla="*/ 381600 w 738558"/>
              <a:gd name="connsiteY122" fmla="*/ 597541 h 857250"/>
              <a:gd name="connsiteX123" fmla="*/ 400507 w 738558"/>
              <a:gd name="connsiteY123" fmla="*/ 614324 h 857250"/>
              <a:gd name="connsiteX124" fmla="*/ 402841 w 738558"/>
              <a:gd name="connsiteY124" fmla="*/ 633803 h 857250"/>
              <a:gd name="connsiteX125" fmla="*/ 411661 w 738558"/>
              <a:gd name="connsiteY125" fmla="*/ 637461 h 857250"/>
              <a:gd name="connsiteX126" fmla="*/ 427091 w 738558"/>
              <a:gd name="connsiteY126" fmla="*/ 625335 h 857250"/>
              <a:gd name="connsiteX127" fmla="*/ 452333 w 738558"/>
              <a:gd name="connsiteY127" fmla="*/ 626840 h 857250"/>
              <a:gd name="connsiteX128" fmla="*/ 469802 w 738558"/>
              <a:gd name="connsiteY128" fmla="*/ 644309 h 857250"/>
              <a:gd name="connsiteX129" fmla="*/ 471307 w 738558"/>
              <a:gd name="connsiteY129" fmla="*/ 669541 h 857250"/>
              <a:gd name="connsiteX130" fmla="*/ 459181 w 738558"/>
              <a:gd name="connsiteY130" fmla="*/ 684971 h 857250"/>
              <a:gd name="connsiteX131" fmla="*/ 462839 w 738558"/>
              <a:gd name="connsiteY131" fmla="*/ 693782 h 857250"/>
              <a:gd name="connsiteX132" fmla="*/ 482317 w 738558"/>
              <a:gd name="connsiteY132" fmla="*/ 696116 h 857250"/>
              <a:gd name="connsiteX133" fmla="*/ 499110 w 738558"/>
              <a:gd name="connsiteY133" fmla="*/ 715061 h 857250"/>
              <a:gd name="connsiteX134" fmla="*/ 476850 w 738558"/>
              <a:gd name="connsiteY134" fmla="*/ 717918 h 857250"/>
              <a:gd name="connsiteX135" fmla="*/ 458210 w 738558"/>
              <a:gd name="connsiteY135" fmla="*/ 715680 h 857250"/>
              <a:gd name="connsiteX136" fmla="*/ 442427 w 738558"/>
              <a:gd name="connsiteY136" fmla="*/ 702840 h 857250"/>
              <a:gd name="connsiteX137" fmla="*/ 438379 w 738558"/>
              <a:gd name="connsiteY137" fmla="*/ 693087 h 857250"/>
              <a:gd name="connsiteX138" fmla="*/ 440455 w 738558"/>
              <a:gd name="connsiteY138" fmla="*/ 672827 h 857250"/>
              <a:gd name="connsiteX139" fmla="*/ 452066 w 738558"/>
              <a:gd name="connsiteY139" fmla="*/ 658054 h 857250"/>
              <a:gd name="connsiteX140" fmla="*/ 438636 w 738558"/>
              <a:gd name="connsiteY140" fmla="*/ 644623 h 857250"/>
              <a:gd name="connsiteX141" fmla="*/ 423872 w 738558"/>
              <a:gd name="connsiteY141" fmla="*/ 656225 h 857250"/>
              <a:gd name="connsiteX142" fmla="*/ 403612 w 738558"/>
              <a:gd name="connsiteY142" fmla="*/ 658301 h 857250"/>
              <a:gd name="connsiteX143" fmla="*/ 393859 w 738558"/>
              <a:gd name="connsiteY143" fmla="*/ 654263 h 857250"/>
              <a:gd name="connsiteX144" fmla="*/ 381010 w 738558"/>
              <a:gd name="connsiteY144" fmla="*/ 638470 h 857250"/>
              <a:gd name="connsiteX145" fmla="*/ 378781 w 738558"/>
              <a:gd name="connsiteY145" fmla="*/ 619839 h 857250"/>
              <a:gd name="connsiteX146" fmla="*/ 359788 w 738558"/>
              <a:gd name="connsiteY146" fmla="*/ 619839 h 857250"/>
              <a:gd name="connsiteX147" fmla="*/ 357549 w 738558"/>
              <a:gd name="connsiteY147" fmla="*/ 638480 h 857250"/>
              <a:gd name="connsiteX148" fmla="*/ 344710 w 738558"/>
              <a:gd name="connsiteY148" fmla="*/ 654272 h 857250"/>
              <a:gd name="connsiteX149" fmla="*/ 334956 w 738558"/>
              <a:gd name="connsiteY149" fmla="*/ 658311 h 857250"/>
              <a:gd name="connsiteX150" fmla="*/ 314696 w 738558"/>
              <a:gd name="connsiteY150" fmla="*/ 656244 h 857250"/>
              <a:gd name="connsiteX151" fmla="*/ 299933 w 738558"/>
              <a:gd name="connsiteY151" fmla="*/ 644633 h 857250"/>
              <a:gd name="connsiteX152" fmla="*/ 286503 w 738558"/>
              <a:gd name="connsiteY152" fmla="*/ 658063 h 857250"/>
              <a:gd name="connsiteX153" fmla="*/ 298104 w 738558"/>
              <a:gd name="connsiteY153" fmla="*/ 672827 h 857250"/>
              <a:gd name="connsiteX154" fmla="*/ 300180 w 738558"/>
              <a:gd name="connsiteY154" fmla="*/ 693087 h 857250"/>
              <a:gd name="connsiteX155" fmla="*/ 296142 w 738558"/>
              <a:gd name="connsiteY155" fmla="*/ 702840 h 857250"/>
              <a:gd name="connsiteX156" fmla="*/ 280359 w 738558"/>
              <a:gd name="connsiteY156" fmla="*/ 715689 h 857250"/>
              <a:gd name="connsiteX157" fmla="*/ 261718 w 738558"/>
              <a:gd name="connsiteY157" fmla="*/ 717928 h 857250"/>
              <a:gd name="connsiteX158" fmla="*/ 261718 w 738558"/>
              <a:gd name="connsiteY158" fmla="*/ 736921 h 857250"/>
              <a:gd name="connsiteX159" fmla="*/ 280359 w 738558"/>
              <a:gd name="connsiteY159" fmla="*/ 739159 h 857250"/>
              <a:gd name="connsiteX160" fmla="*/ 296142 w 738558"/>
              <a:gd name="connsiteY160" fmla="*/ 751999 h 857250"/>
              <a:gd name="connsiteX161" fmla="*/ 300190 w 738558"/>
              <a:gd name="connsiteY161" fmla="*/ 761743 h 857250"/>
              <a:gd name="connsiteX162" fmla="*/ 298113 w 738558"/>
              <a:gd name="connsiteY162" fmla="*/ 782003 h 857250"/>
              <a:gd name="connsiteX163" fmla="*/ 286512 w 738558"/>
              <a:gd name="connsiteY163" fmla="*/ 796766 h 857250"/>
              <a:gd name="connsiteX164" fmla="*/ 299942 w 738558"/>
              <a:gd name="connsiteY164" fmla="*/ 810197 h 857250"/>
              <a:gd name="connsiteX165" fmla="*/ 314706 w 738558"/>
              <a:gd name="connsiteY165" fmla="*/ 798595 h 857250"/>
              <a:gd name="connsiteX166" fmla="*/ 334966 w 738558"/>
              <a:gd name="connsiteY166" fmla="*/ 796519 h 857250"/>
              <a:gd name="connsiteX167" fmla="*/ 344719 w 738558"/>
              <a:gd name="connsiteY167" fmla="*/ 800557 h 857250"/>
              <a:gd name="connsiteX168" fmla="*/ 357569 w 738558"/>
              <a:gd name="connsiteY168" fmla="*/ 816350 h 857250"/>
              <a:gd name="connsiteX169" fmla="*/ 359807 w 738558"/>
              <a:gd name="connsiteY169" fmla="*/ 834990 h 857250"/>
              <a:gd name="connsiteX170" fmla="*/ 378800 w 738558"/>
              <a:gd name="connsiteY170" fmla="*/ 834990 h 857250"/>
              <a:gd name="connsiteX171" fmla="*/ 381029 w 738558"/>
              <a:gd name="connsiteY171" fmla="*/ 816350 h 857250"/>
              <a:gd name="connsiteX172" fmla="*/ 393868 w 738558"/>
              <a:gd name="connsiteY172" fmla="*/ 800557 h 857250"/>
              <a:gd name="connsiteX173" fmla="*/ 403622 w 738558"/>
              <a:gd name="connsiteY173" fmla="*/ 796509 h 857250"/>
              <a:gd name="connsiteX174" fmla="*/ 423882 w 738558"/>
              <a:gd name="connsiteY174" fmla="*/ 798586 h 857250"/>
              <a:gd name="connsiteX175" fmla="*/ 438645 w 738558"/>
              <a:gd name="connsiteY175" fmla="*/ 810187 h 857250"/>
              <a:gd name="connsiteX176" fmla="*/ 452076 w 738558"/>
              <a:gd name="connsiteY176" fmla="*/ 796757 h 857250"/>
              <a:gd name="connsiteX177" fmla="*/ 440474 w 738558"/>
              <a:gd name="connsiteY177" fmla="*/ 781993 h 857250"/>
              <a:gd name="connsiteX178" fmla="*/ 438398 w 738558"/>
              <a:gd name="connsiteY178" fmla="*/ 761733 h 857250"/>
              <a:gd name="connsiteX179" fmla="*/ 442446 w 738558"/>
              <a:gd name="connsiteY179" fmla="*/ 751980 h 857250"/>
              <a:gd name="connsiteX180" fmla="*/ 458238 w 738558"/>
              <a:gd name="connsiteY180" fmla="*/ 739130 h 857250"/>
              <a:gd name="connsiteX181" fmla="*/ 476869 w 738558"/>
              <a:gd name="connsiteY181" fmla="*/ 736892 h 857250"/>
              <a:gd name="connsiteX182" fmla="*/ 476869 w 738558"/>
              <a:gd name="connsiteY182" fmla="*/ 717918 h 857250"/>
              <a:gd name="connsiteX183" fmla="*/ 433511 w 738558"/>
              <a:gd name="connsiteY183" fmla="*/ 727415 h 857250"/>
              <a:gd name="connsiteX184" fmla="*/ 369275 w 738558"/>
              <a:gd name="connsiteY184" fmla="*/ 791651 h 857250"/>
              <a:gd name="connsiteX185" fmla="*/ 305038 w 738558"/>
              <a:gd name="connsiteY185" fmla="*/ 727415 h 857250"/>
              <a:gd name="connsiteX186" fmla="*/ 369275 w 738558"/>
              <a:gd name="connsiteY186" fmla="*/ 663178 h 857250"/>
              <a:gd name="connsiteX187" fmla="*/ 433511 w 738558"/>
              <a:gd name="connsiteY187" fmla="*/ 727415 h 857250"/>
              <a:gd name="connsiteX188" fmla="*/ 411242 w 738558"/>
              <a:gd name="connsiteY188" fmla="*/ 727415 h 857250"/>
              <a:gd name="connsiteX189" fmla="*/ 369275 w 738558"/>
              <a:gd name="connsiteY189" fmla="*/ 685448 h 857250"/>
              <a:gd name="connsiteX190" fmla="*/ 327308 w 738558"/>
              <a:gd name="connsiteY190" fmla="*/ 727415 h 857250"/>
              <a:gd name="connsiteX191" fmla="*/ 369275 w 738558"/>
              <a:gd name="connsiteY191" fmla="*/ 769382 h 857250"/>
              <a:gd name="connsiteX192" fmla="*/ 411242 w 738558"/>
              <a:gd name="connsiteY192" fmla="*/ 727415 h 857250"/>
              <a:gd name="connsiteX193" fmla="*/ 369275 w 738558"/>
              <a:gd name="connsiteY193" fmla="*/ 0 h 857250"/>
              <a:gd name="connsiteX194" fmla="*/ 0 w 738558"/>
              <a:gd name="connsiteY194" fmla="*/ 369275 h 857250"/>
              <a:gd name="connsiteX195" fmla="*/ 58055 w 738558"/>
              <a:gd name="connsiteY195" fmla="*/ 568119 h 857250"/>
              <a:gd name="connsiteX196" fmla="*/ 208740 w 738558"/>
              <a:gd name="connsiteY196" fmla="*/ 701916 h 857250"/>
              <a:gd name="connsiteX197" fmla="*/ 213579 w 738558"/>
              <a:gd name="connsiteY197" fmla="*/ 703031 h 857250"/>
              <a:gd name="connsiteX198" fmla="*/ 223609 w 738558"/>
              <a:gd name="connsiteY198" fmla="*/ 696744 h 857250"/>
              <a:gd name="connsiteX199" fmla="*/ 218427 w 738558"/>
              <a:gd name="connsiteY199" fmla="*/ 681876 h 857250"/>
              <a:gd name="connsiteX200" fmla="*/ 22260 w 738558"/>
              <a:gd name="connsiteY200" fmla="*/ 369275 h 857250"/>
              <a:gd name="connsiteX201" fmla="*/ 369275 w 738558"/>
              <a:gd name="connsiteY201" fmla="*/ 22269 h 857250"/>
              <a:gd name="connsiteX202" fmla="*/ 716280 w 738558"/>
              <a:gd name="connsiteY202" fmla="*/ 369275 h 857250"/>
              <a:gd name="connsiteX203" fmla="*/ 558175 w 738558"/>
              <a:gd name="connsiteY203" fmla="*/ 660502 h 857250"/>
              <a:gd name="connsiteX204" fmla="*/ 561384 w 738558"/>
              <a:gd name="connsiteY204" fmla="*/ 655472 h 857250"/>
              <a:gd name="connsiteX205" fmla="*/ 557984 w 738558"/>
              <a:gd name="connsiteY205" fmla="*/ 640099 h 857250"/>
              <a:gd name="connsiteX206" fmla="*/ 542611 w 738558"/>
              <a:gd name="connsiteY206" fmla="*/ 643499 h 857250"/>
              <a:gd name="connsiteX207" fmla="*/ 515579 w 738558"/>
              <a:gd name="connsiteY207" fmla="*/ 685914 h 857250"/>
              <a:gd name="connsiteX208" fmla="*/ 515341 w 738558"/>
              <a:gd name="connsiteY208" fmla="*/ 697487 h 857250"/>
              <a:gd name="connsiteX209" fmla="*/ 525504 w 738558"/>
              <a:gd name="connsiteY209" fmla="*/ 703021 h 857250"/>
              <a:gd name="connsiteX210" fmla="*/ 575739 w 738558"/>
              <a:gd name="connsiteY210" fmla="*/ 700602 h 857250"/>
              <a:gd name="connsiteX211" fmla="*/ 586321 w 738558"/>
              <a:gd name="connsiteY211" fmla="*/ 688943 h 857250"/>
              <a:gd name="connsiteX212" fmla="*/ 574662 w 738558"/>
              <a:gd name="connsiteY212" fmla="*/ 678361 h 857250"/>
              <a:gd name="connsiteX213" fmla="*/ 571176 w 738558"/>
              <a:gd name="connsiteY213" fmla="*/ 678532 h 857250"/>
              <a:gd name="connsiteX214" fmla="*/ 680990 w 738558"/>
              <a:gd name="connsiteY214" fmla="*/ 567357 h 857250"/>
              <a:gd name="connsiteX215" fmla="*/ 738559 w 738558"/>
              <a:gd name="connsiteY215" fmla="*/ 369275 h 857250"/>
              <a:gd name="connsiteX216" fmla="*/ 369275 w 738558"/>
              <a:gd name="connsiteY216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738558" h="857250">
                <a:moveTo>
                  <a:pt x="396088" y="706745"/>
                </a:moveTo>
                <a:cubicBezTo>
                  <a:pt x="400345" y="711184"/>
                  <a:pt x="400193" y="718233"/>
                  <a:pt x="395754" y="722490"/>
                </a:cubicBezTo>
                <a:lnTo>
                  <a:pt x="368703" y="748417"/>
                </a:lnTo>
                <a:cubicBezTo>
                  <a:pt x="366627" y="750408"/>
                  <a:pt x="363865" y="751513"/>
                  <a:pt x="360998" y="751513"/>
                </a:cubicBezTo>
                <a:cubicBezTo>
                  <a:pt x="360731" y="751513"/>
                  <a:pt x="360455" y="751504"/>
                  <a:pt x="360188" y="751484"/>
                </a:cubicBezTo>
                <a:cubicBezTo>
                  <a:pt x="357045" y="751256"/>
                  <a:pt x="354149" y="749703"/>
                  <a:pt x="352206" y="747217"/>
                </a:cubicBezTo>
                <a:lnTo>
                  <a:pt x="341700" y="733711"/>
                </a:lnTo>
                <a:cubicBezTo>
                  <a:pt x="337928" y="728863"/>
                  <a:pt x="338795" y="721862"/>
                  <a:pt x="343653" y="718090"/>
                </a:cubicBezTo>
                <a:cubicBezTo>
                  <a:pt x="348510" y="714318"/>
                  <a:pt x="355502" y="715194"/>
                  <a:pt x="359273" y="720042"/>
                </a:cubicBezTo>
                <a:lnTo>
                  <a:pt x="362198" y="723805"/>
                </a:lnTo>
                <a:lnTo>
                  <a:pt x="380333" y="706422"/>
                </a:lnTo>
                <a:cubicBezTo>
                  <a:pt x="384791" y="702154"/>
                  <a:pt x="391839" y="702307"/>
                  <a:pt x="396088" y="706745"/>
                </a:cubicBezTo>
                <a:close/>
                <a:moveTo>
                  <a:pt x="380048" y="269157"/>
                </a:moveTo>
                <a:cubicBezTo>
                  <a:pt x="385486" y="289455"/>
                  <a:pt x="382734" y="310591"/>
                  <a:pt x="372285" y="328689"/>
                </a:cubicBezTo>
                <a:lnTo>
                  <a:pt x="280111" y="488337"/>
                </a:lnTo>
                <a:cubicBezTo>
                  <a:pt x="265595" y="513483"/>
                  <a:pt x="239154" y="527552"/>
                  <a:pt x="212017" y="527561"/>
                </a:cubicBezTo>
                <a:cubicBezTo>
                  <a:pt x="198711" y="527561"/>
                  <a:pt x="185242" y="524180"/>
                  <a:pt x="172917" y="517065"/>
                </a:cubicBezTo>
                <a:cubicBezTo>
                  <a:pt x="135446" y="495424"/>
                  <a:pt x="122558" y="447342"/>
                  <a:pt x="144189" y="409861"/>
                </a:cubicBezTo>
                <a:lnTo>
                  <a:pt x="236363" y="250212"/>
                </a:lnTo>
                <a:cubicBezTo>
                  <a:pt x="258004" y="212741"/>
                  <a:pt x="306086" y="199854"/>
                  <a:pt x="343557" y="221485"/>
                </a:cubicBezTo>
                <a:cubicBezTo>
                  <a:pt x="361655" y="231934"/>
                  <a:pt x="374609" y="248860"/>
                  <a:pt x="380048" y="269157"/>
                </a:cubicBezTo>
                <a:close/>
                <a:moveTo>
                  <a:pt x="304162" y="402155"/>
                </a:moveTo>
                <a:cubicBezTo>
                  <a:pt x="272996" y="381152"/>
                  <a:pt x="240344" y="362283"/>
                  <a:pt x="206826" y="345910"/>
                </a:cubicBezTo>
                <a:lnTo>
                  <a:pt x="163478" y="420986"/>
                </a:lnTo>
                <a:cubicBezTo>
                  <a:pt x="156010" y="433921"/>
                  <a:pt x="154038" y="449066"/>
                  <a:pt x="157944" y="463620"/>
                </a:cubicBezTo>
                <a:cubicBezTo>
                  <a:pt x="161839" y="478174"/>
                  <a:pt x="171117" y="490299"/>
                  <a:pt x="184052" y="497767"/>
                </a:cubicBezTo>
                <a:cubicBezTo>
                  <a:pt x="210893" y="513264"/>
                  <a:pt x="245335" y="504034"/>
                  <a:pt x="260833" y="477193"/>
                </a:cubicBezTo>
                <a:lnTo>
                  <a:pt x="304162" y="402155"/>
                </a:lnTo>
                <a:close/>
                <a:moveTo>
                  <a:pt x="332432" y="240773"/>
                </a:moveTo>
                <a:lnTo>
                  <a:pt x="337995" y="231134"/>
                </a:lnTo>
                <a:lnTo>
                  <a:pt x="332432" y="240773"/>
                </a:lnTo>
                <a:cubicBezTo>
                  <a:pt x="323602" y="235677"/>
                  <a:pt x="313954" y="233258"/>
                  <a:pt x="304419" y="233258"/>
                </a:cubicBezTo>
                <a:cubicBezTo>
                  <a:pt x="284979" y="233258"/>
                  <a:pt x="266043" y="243335"/>
                  <a:pt x="255641" y="261347"/>
                </a:cubicBezTo>
                <a:lnTo>
                  <a:pt x="217980" y="326584"/>
                </a:lnTo>
                <a:cubicBezTo>
                  <a:pt x="251470" y="343024"/>
                  <a:pt x="284121" y="361883"/>
                  <a:pt x="315316" y="382829"/>
                </a:cubicBezTo>
                <a:lnTo>
                  <a:pt x="353006" y="317554"/>
                </a:lnTo>
                <a:cubicBezTo>
                  <a:pt x="368503" y="290713"/>
                  <a:pt x="359273" y="256270"/>
                  <a:pt x="332432" y="240773"/>
                </a:cubicBezTo>
                <a:close/>
                <a:moveTo>
                  <a:pt x="331584" y="250574"/>
                </a:moveTo>
                <a:cubicBezTo>
                  <a:pt x="320288" y="242640"/>
                  <a:pt x="306762" y="239935"/>
                  <a:pt x="293494" y="242964"/>
                </a:cubicBezTo>
                <a:cubicBezTo>
                  <a:pt x="279540" y="246145"/>
                  <a:pt x="267272" y="255575"/>
                  <a:pt x="259852" y="268834"/>
                </a:cubicBezTo>
                <a:cubicBezTo>
                  <a:pt x="256851" y="274196"/>
                  <a:pt x="258756" y="280978"/>
                  <a:pt x="264128" y="283988"/>
                </a:cubicBezTo>
                <a:cubicBezTo>
                  <a:pt x="265852" y="284950"/>
                  <a:pt x="267719" y="285407"/>
                  <a:pt x="269557" y="285407"/>
                </a:cubicBezTo>
                <a:cubicBezTo>
                  <a:pt x="273453" y="285407"/>
                  <a:pt x="277244" y="283359"/>
                  <a:pt x="279283" y="279711"/>
                </a:cubicBezTo>
                <a:cubicBezTo>
                  <a:pt x="283702" y="271824"/>
                  <a:pt x="290503" y="266481"/>
                  <a:pt x="298447" y="264671"/>
                </a:cubicBezTo>
                <a:cubicBezTo>
                  <a:pt x="305495" y="263061"/>
                  <a:pt x="312725" y="264528"/>
                  <a:pt x="318802" y="268796"/>
                </a:cubicBezTo>
                <a:cubicBezTo>
                  <a:pt x="323831" y="272329"/>
                  <a:pt x="330775" y="271110"/>
                  <a:pt x="334308" y="266081"/>
                </a:cubicBezTo>
                <a:cubicBezTo>
                  <a:pt x="337833" y="261052"/>
                  <a:pt x="336614" y="254108"/>
                  <a:pt x="331584" y="250574"/>
                </a:cubicBezTo>
                <a:close/>
                <a:moveTo>
                  <a:pt x="387658" y="347434"/>
                </a:moveTo>
                <a:cubicBezTo>
                  <a:pt x="411309" y="335175"/>
                  <a:pt x="442522" y="327698"/>
                  <a:pt x="475555" y="326384"/>
                </a:cubicBezTo>
                <a:cubicBezTo>
                  <a:pt x="498558" y="325469"/>
                  <a:pt x="520475" y="327631"/>
                  <a:pt x="539515" y="332394"/>
                </a:cubicBezTo>
                <a:cubicBezTo>
                  <a:pt x="539658" y="332423"/>
                  <a:pt x="539801" y="332470"/>
                  <a:pt x="539944" y="332508"/>
                </a:cubicBezTo>
                <a:cubicBezTo>
                  <a:pt x="560994" y="337823"/>
                  <a:pt x="578491" y="346310"/>
                  <a:pt x="589940" y="357321"/>
                </a:cubicBezTo>
                <a:cubicBezTo>
                  <a:pt x="599675" y="366674"/>
                  <a:pt x="604818" y="377685"/>
                  <a:pt x="604818" y="389172"/>
                </a:cubicBezTo>
                <a:lnTo>
                  <a:pt x="604818" y="438093"/>
                </a:lnTo>
                <a:cubicBezTo>
                  <a:pt x="604818" y="481898"/>
                  <a:pt x="538429" y="506320"/>
                  <a:pt x="476736" y="510483"/>
                </a:cubicBezTo>
                <a:cubicBezTo>
                  <a:pt x="476536" y="510502"/>
                  <a:pt x="476326" y="510502"/>
                  <a:pt x="476126" y="510502"/>
                </a:cubicBezTo>
                <a:cubicBezTo>
                  <a:pt x="475040" y="510521"/>
                  <a:pt x="473945" y="510521"/>
                  <a:pt x="472850" y="510521"/>
                </a:cubicBezTo>
                <a:cubicBezTo>
                  <a:pt x="433864" y="510521"/>
                  <a:pt x="385010" y="502158"/>
                  <a:pt x="361045" y="478479"/>
                </a:cubicBezTo>
                <a:cubicBezTo>
                  <a:pt x="351977" y="469516"/>
                  <a:pt x="347186" y="458791"/>
                  <a:pt x="347186" y="447456"/>
                </a:cubicBezTo>
                <a:lnTo>
                  <a:pt x="347186" y="398526"/>
                </a:lnTo>
                <a:cubicBezTo>
                  <a:pt x="347177" y="379114"/>
                  <a:pt x="361559" y="360969"/>
                  <a:pt x="387658" y="347434"/>
                </a:cubicBezTo>
                <a:close/>
                <a:moveTo>
                  <a:pt x="582549" y="438074"/>
                </a:moveTo>
                <a:lnTo>
                  <a:pt x="582549" y="428568"/>
                </a:lnTo>
                <a:cubicBezTo>
                  <a:pt x="577329" y="432740"/>
                  <a:pt x="571262" y="436664"/>
                  <a:pt x="564337" y="440246"/>
                </a:cubicBezTo>
                <a:cubicBezTo>
                  <a:pt x="540687" y="452504"/>
                  <a:pt x="509473" y="459981"/>
                  <a:pt x="476441" y="461296"/>
                </a:cubicBezTo>
                <a:cubicBezTo>
                  <a:pt x="472983" y="461429"/>
                  <a:pt x="469535" y="461505"/>
                  <a:pt x="466134" y="461505"/>
                </a:cubicBezTo>
                <a:cubicBezTo>
                  <a:pt x="442722" y="461505"/>
                  <a:pt x="420757" y="458286"/>
                  <a:pt x="402250" y="452399"/>
                </a:cubicBezTo>
                <a:cubicBezTo>
                  <a:pt x="402231" y="452390"/>
                  <a:pt x="402203" y="452390"/>
                  <a:pt x="402184" y="452380"/>
                </a:cubicBezTo>
                <a:cubicBezTo>
                  <a:pt x="389411" y="448313"/>
                  <a:pt x="378285" y="442960"/>
                  <a:pt x="369456" y="436521"/>
                </a:cubicBezTo>
                <a:lnTo>
                  <a:pt x="369456" y="447446"/>
                </a:lnTo>
                <a:cubicBezTo>
                  <a:pt x="369456" y="452847"/>
                  <a:pt x="371827" y="457819"/>
                  <a:pt x="376695" y="462629"/>
                </a:cubicBezTo>
                <a:cubicBezTo>
                  <a:pt x="392687" y="478431"/>
                  <a:pt x="432397" y="488709"/>
                  <a:pt x="475555" y="488232"/>
                </a:cubicBezTo>
                <a:cubicBezTo>
                  <a:pt x="534581" y="484184"/>
                  <a:pt x="582549" y="461715"/>
                  <a:pt x="582549" y="438074"/>
                </a:cubicBezTo>
                <a:close/>
                <a:moveTo>
                  <a:pt x="574510" y="373361"/>
                </a:moveTo>
                <a:cubicBezTo>
                  <a:pt x="566623" y="365789"/>
                  <a:pt x="554384" y="359654"/>
                  <a:pt x="539439" y="355368"/>
                </a:cubicBezTo>
                <a:lnTo>
                  <a:pt x="431549" y="436521"/>
                </a:lnTo>
                <a:cubicBezTo>
                  <a:pt x="445151" y="438741"/>
                  <a:pt x="460105" y="439664"/>
                  <a:pt x="475555" y="439045"/>
                </a:cubicBezTo>
                <a:cubicBezTo>
                  <a:pt x="538610" y="436540"/>
                  <a:pt x="582549" y="410737"/>
                  <a:pt x="582549" y="389153"/>
                </a:cubicBezTo>
                <a:cubicBezTo>
                  <a:pt x="582549" y="383800"/>
                  <a:pt x="579844" y="378485"/>
                  <a:pt x="574510" y="373361"/>
                </a:cubicBezTo>
                <a:close/>
                <a:moveTo>
                  <a:pt x="369446" y="398526"/>
                </a:moveTo>
                <a:cubicBezTo>
                  <a:pt x="369446" y="403879"/>
                  <a:pt x="372151" y="409194"/>
                  <a:pt x="377485" y="414318"/>
                </a:cubicBezTo>
                <a:cubicBezTo>
                  <a:pt x="383781" y="420367"/>
                  <a:pt x="392849" y="425491"/>
                  <a:pt x="403851" y="429492"/>
                </a:cubicBezTo>
                <a:lnTo>
                  <a:pt x="509892" y="349729"/>
                </a:lnTo>
                <a:cubicBezTo>
                  <a:pt x="499253" y="348577"/>
                  <a:pt x="487985" y="348177"/>
                  <a:pt x="476441" y="348634"/>
                </a:cubicBezTo>
                <a:cubicBezTo>
                  <a:pt x="413385" y="351139"/>
                  <a:pt x="369446" y="376942"/>
                  <a:pt x="369446" y="398526"/>
                </a:cubicBezTo>
                <a:close/>
                <a:moveTo>
                  <a:pt x="499110" y="715061"/>
                </a:moveTo>
                <a:lnTo>
                  <a:pt x="499110" y="739769"/>
                </a:lnTo>
                <a:cubicBezTo>
                  <a:pt x="499110" y="749408"/>
                  <a:pt x="491890" y="757533"/>
                  <a:pt x="482327" y="758676"/>
                </a:cubicBezTo>
                <a:lnTo>
                  <a:pt x="462858" y="761009"/>
                </a:lnTo>
                <a:cubicBezTo>
                  <a:pt x="461782" y="764000"/>
                  <a:pt x="460562" y="766953"/>
                  <a:pt x="459200" y="769830"/>
                </a:cubicBezTo>
                <a:lnTo>
                  <a:pt x="471326" y="785251"/>
                </a:lnTo>
                <a:cubicBezTo>
                  <a:pt x="477279" y="792823"/>
                  <a:pt x="476631" y="803672"/>
                  <a:pt x="469821" y="810492"/>
                </a:cubicBezTo>
                <a:lnTo>
                  <a:pt x="452352" y="827961"/>
                </a:lnTo>
                <a:cubicBezTo>
                  <a:pt x="445541" y="834771"/>
                  <a:pt x="434692" y="835419"/>
                  <a:pt x="427120" y="829466"/>
                </a:cubicBezTo>
                <a:lnTo>
                  <a:pt x="411690" y="817340"/>
                </a:lnTo>
                <a:cubicBezTo>
                  <a:pt x="408813" y="818693"/>
                  <a:pt x="405870" y="819922"/>
                  <a:pt x="402879" y="820998"/>
                </a:cubicBezTo>
                <a:lnTo>
                  <a:pt x="400545" y="840476"/>
                </a:lnTo>
                <a:cubicBezTo>
                  <a:pt x="399393" y="850040"/>
                  <a:pt x="391258" y="857250"/>
                  <a:pt x="381629" y="857250"/>
                </a:cubicBezTo>
                <a:lnTo>
                  <a:pt x="356930" y="857250"/>
                </a:lnTo>
                <a:cubicBezTo>
                  <a:pt x="347291" y="857250"/>
                  <a:pt x="339166" y="850040"/>
                  <a:pt x="338023" y="840467"/>
                </a:cubicBezTo>
                <a:lnTo>
                  <a:pt x="335690" y="820988"/>
                </a:lnTo>
                <a:cubicBezTo>
                  <a:pt x="332699" y="819912"/>
                  <a:pt x="329746" y="818693"/>
                  <a:pt x="326869" y="817331"/>
                </a:cubicBezTo>
                <a:lnTo>
                  <a:pt x="311439" y="829456"/>
                </a:lnTo>
                <a:cubicBezTo>
                  <a:pt x="303857" y="835409"/>
                  <a:pt x="293008" y="834762"/>
                  <a:pt x="286198" y="827951"/>
                </a:cubicBezTo>
                <a:lnTo>
                  <a:pt x="268729" y="810482"/>
                </a:lnTo>
                <a:cubicBezTo>
                  <a:pt x="261918" y="803672"/>
                  <a:pt x="261271" y="792823"/>
                  <a:pt x="267224" y="785241"/>
                </a:cubicBezTo>
                <a:lnTo>
                  <a:pt x="279349" y="769811"/>
                </a:lnTo>
                <a:cubicBezTo>
                  <a:pt x="277997" y="766943"/>
                  <a:pt x="276768" y="763991"/>
                  <a:pt x="275692" y="761000"/>
                </a:cubicBezTo>
                <a:lnTo>
                  <a:pt x="256213" y="758666"/>
                </a:lnTo>
                <a:cubicBezTo>
                  <a:pt x="246650" y="757523"/>
                  <a:pt x="239430" y="749389"/>
                  <a:pt x="239430" y="739759"/>
                </a:cubicBezTo>
                <a:lnTo>
                  <a:pt x="239430" y="715051"/>
                </a:lnTo>
                <a:cubicBezTo>
                  <a:pt x="239430" y="705422"/>
                  <a:pt x="246640" y="697287"/>
                  <a:pt x="256203" y="696144"/>
                </a:cubicBezTo>
                <a:lnTo>
                  <a:pt x="275682" y="693811"/>
                </a:lnTo>
                <a:cubicBezTo>
                  <a:pt x="276758" y="690820"/>
                  <a:pt x="277978" y="687877"/>
                  <a:pt x="279340" y="684990"/>
                </a:cubicBezTo>
                <a:lnTo>
                  <a:pt x="267214" y="669560"/>
                </a:lnTo>
                <a:cubicBezTo>
                  <a:pt x="261261" y="661988"/>
                  <a:pt x="261909" y="651139"/>
                  <a:pt x="268719" y="644319"/>
                </a:cubicBezTo>
                <a:lnTo>
                  <a:pt x="286188" y="626850"/>
                </a:lnTo>
                <a:cubicBezTo>
                  <a:pt x="292999" y="620039"/>
                  <a:pt x="303848" y="619392"/>
                  <a:pt x="311420" y="625335"/>
                </a:cubicBezTo>
                <a:lnTo>
                  <a:pt x="326850" y="637461"/>
                </a:lnTo>
                <a:cubicBezTo>
                  <a:pt x="329727" y="636108"/>
                  <a:pt x="332680" y="634879"/>
                  <a:pt x="335661" y="633803"/>
                </a:cubicBezTo>
                <a:lnTo>
                  <a:pt x="337995" y="614324"/>
                </a:lnTo>
                <a:cubicBezTo>
                  <a:pt x="339138" y="604761"/>
                  <a:pt x="347272" y="597541"/>
                  <a:pt x="356902" y="597541"/>
                </a:cubicBezTo>
                <a:lnTo>
                  <a:pt x="381600" y="597541"/>
                </a:lnTo>
                <a:cubicBezTo>
                  <a:pt x="391239" y="597541"/>
                  <a:pt x="399364" y="604752"/>
                  <a:pt x="400507" y="614324"/>
                </a:cubicBezTo>
                <a:lnTo>
                  <a:pt x="402841" y="633803"/>
                </a:lnTo>
                <a:cubicBezTo>
                  <a:pt x="405832" y="634879"/>
                  <a:pt x="408784" y="636099"/>
                  <a:pt x="411661" y="637461"/>
                </a:cubicBezTo>
                <a:lnTo>
                  <a:pt x="427091" y="625335"/>
                </a:lnTo>
                <a:cubicBezTo>
                  <a:pt x="434664" y="619382"/>
                  <a:pt x="445513" y="620030"/>
                  <a:pt x="452333" y="626840"/>
                </a:cubicBezTo>
                <a:lnTo>
                  <a:pt x="469802" y="644309"/>
                </a:lnTo>
                <a:cubicBezTo>
                  <a:pt x="476612" y="651120"/>
                  <a:pt x="477260" y="661968"/>
                  <a:pt x="471307" y="669541"/>
                </a:cubicBezTo>
                <a:lnTo>
                  <a:pt x="459181" y="684971"/>
                </a:lnTo>
                <a:cubicBezTo>
                  <a:pt x="460534" y="687848"/>
                  <a:pt x="461762" y="690791"/>
                  <a:pt x="462839" y="693782"/>
                </a:cubicBezTo>
                <a:lnTo>
                  <a:pt x="482317" y="696116"/>
                </a:lnTo>
                <a:cubicBezTo>
                  <a:pt x="491900" y="697297"/>
                  <a:pt x="499110" y="705431"/>
                  <a:pt x="499110" y="715061"/>
                </a:cubicBezTo>
                <a:close/>
                <a:moveTo>
                  <a:pt x="476850" y="717918"/>
                </a:moveTo>
                <a:lnTo>
                  <a:pt x="458210" y="715680"/>
                </a:lnTo>
                <a:cubicBezTo>
                  <a:pt x="450837" y="714804"/>
                  <a:pt x="444789" y="709879"/>
                  <a:pt x="442427" y="702840"/>
                </a:cubicBezTo>
                <a:cubicBezTo>
                  <a:pt x="441312" y="699516"/>
                  <a:pt x="439950" y="696239"/>
                  <a:pt x="438379" y="693087"/>
                </a:cubicBezTo>
                <a:cubicBezTo>
                  <a:pt x="435064" y="686429"/>
                  <a:pt x="435864" y="678666"/>
                  <a:pt x="440455" y="672827"/>
                </a:cubicBezTo>
                <a:lnTo>
                  <a:pt x="452066" y="658054"/>
                </a:lnTo>
                <a:lnTo>
                  <a:pt x="438636" y="644623"/>
                </a:lnTo>
                <a:lnTo>
                  <a:pt x="423872" y="656225"/>
                </a:lnTo>
                <a:cubicBezTo>
                  <a:pt x="418033" y="660816"/>
                  <a:pt x="410270" y="661616"/>
                  <a:pt x="403612" y="658301"/>
                </a:cubicBezTo>
                <a:cubicBezTo>
                  <a:pt x="400460" y="656730"/>
                  <a:pt x="397183" y="655377"/>
                  <a:pt x="393859" y="654263"/>
                </a:cubicBezTo>
                <a:cubicBezTo>
                  <a:pt x="386810" y="651901"/>
                  <a:pt x="381895" y="645843"/>
                  <a:pt x="381010" y="638470"/>
                </a:cubicBezTo>
                <a:lnTo>
                  <a:pt x="378781" y="619839"/>
                </a:lnTo>
                <a:lnTo>
                  <a:pt x="359788" y="619839"/>
                </a:lnTo>
                <a:lnTo>
                  <a:pt x="357549" y="638480"/>
                </a:lnTo>
                <a:cubicBezTo>
                  <a:pt x="356664" y="645852"/>
                  <a:pt x="351749" y="651901"/>
                  <a:pt x="344710" y="654272"/>
                </a:cubicBezTo>
                <a:cubicBezTo>
                  <a:pt x="341386" y="655387"/>
                  <a:pt x="338109" y="656749"/>
                  <a:pt x="334956" y="658311"/>
                </a:cubicBezTo>
                <a:cubicBezTo>
                  <a:pt x="328298" y="661626"/>
                  <a:pt x="320535" y="660835"/>
                  <a:pt x="314696" y="656244"/>
                </a:cubicBezTo>
                <a:lnTo>
                  <a:pt x="299933" y="644633"/>
                </a:lnTo>
                <a:lnTo>
                  <a:pt x="286503" y="658063"/>
                </a:lnTo>
                <a:lnTo>
                  <a:pt x="298104" y="672827"/>
                </a:lnTo>
                <a:cubicBezTo>
                  <a:pt x="302695" y="678675"/>
                  <a:pt x="303495" y="686438"/>
                  <a:pt x="300180" y="693087"/>
                </a:cubicBezTo>
                <a:cubicBezTo>
                  <a:pt x="298609" y="696239"/>
                  <a:pt x="297256" y="699516"/>
                  <a:pt x="296142" y="702840"/>
                </a:cubicBezTo>
                <a:cubicBezTo>
                  <a:pt x="293770" y="709879"/>
                  <a:pt x="287722" y="714804"/>
                  <a:pt x="280359" y="715689"/>
                </a:cubicBezTo>
                <a:lnTo>
                  <a:pt x="261718" y="717928"/>
                </a:lnTo>
                <a:lnTo>
                  <a:pt x="261718" y="736921"/>
                </a:lnTo>
                <a:lnTo>
                  <a:pt x="280359" y="739159"/>
                </a:lnTo>
                <a:cubicBezTo>
                  <a:pt x="287731" y="740045"/>
                  <a:pt x="293780" y="744969"/>
                  <a:pt x="296142" y="751999"/>
                </a:cubicBezTo>
                <a:cubicBezTo>
                  <a:pt x="297256" y="755323"/>
                  <a:pt x="298618" y="758609"/>
                  <a:pt x="300190" y="761743"/>
                </a:cubicBezTo>
                <a:cubicBezTo>
                  <a:pt x="303505" y="768401"/>
                  <a:pt x="302705" y="776164"/>
                  <a:pt x="298113" y="782003"/>
                </a:cubicBezTo>
                <a:lnTo>
                  <a:pt x="286512" y="796766"/>
                </a:lnTo>
                <a:lnTo>
                  <a:pt x="299942" y="810197"/>
                </a:lnTo>
                <a:lnTo>
                  <a:pt x="314706" y="798595"/>
                </a:lnTo>
                <a:cubicBezTo>
                  <a:pt x="320545" y="794004"/>
                  <a:pt x="328308" y="793204"/>
                  <a:pt x="334966" y="796519"/>
                </a:cubicBezTo>
                <a:cubicBezTo>
                  <a:pt x="338109" y="798090"/>
                  <a:pt x="341395" y="799443"/>
                  <a:pt x="344719" y="800557"/>
                </a:cubicBezTo>
                <a:cubicBezTo>
                  <a:pt x="351758" y="802919"/>
                  <a:pt x="356683" y="808977"/>
                  <a:pt x="357569" y="816350"/>
                </a:cubicBezTo>
                <a:lnTo>
                  <a:pt x="359807" y="834990"/>
                </a:lnTo>
                <a:lnTo>
                  <a:pt x="378800" y="834990"/>
                </a:lnTo>
                <a:lnTo>
                  <a:pt x="381029" y="816350"/>
                </a:lnTo>
                <a:cubicBezTo>
                  <a:pt x="381914" y="808977"/>
                  <a:pt x="386839" y="802929"/>
                  <a:pt x="393868" y="800557"/>
                </a:cubicBezTo>
                <a:cubicBezTo>
                  <a:pt x="397193" y="799443"/>
                  <a:pt x="400469" y="798081"/>
                  <a:pt x="403622" y="796509"/>
                </a:cubicBezTo>
                <a:cubicBezTo>
                  <a:pt x="410280" y="793194"/>
                  <a:pt x="418043" y="793995"/>
                  <a:pt x="423882" y="798586"/>
                </a:cubicBezTo>
                <a:lnTo>
                  <a:pt x="438645" y="810187"/>
                </a:lnTo>
                <a:lnTo>
                  <a:pt x="452076" y="796757"/>
                </a:lnTo>
                <a:lnTo>
                  <a:pt x="440474" y="781993"/>
                </a:lnTo>
                <a:cubicBezTo>
                  <a:pt x="435883" y="776154"/>
                  <a:pt x="435083" y="768391"/>
                  <a:pt x="438398" y="761733"/>
                </a:cubicBezTo>
                <a:cubicBezTo>
                  <a:pt x="439969" y="758590"/>
                  <a:pt x="441322" y="755304"/>
                  <a:pt x="442446" y="751980"/>
                </a:cubicBezTo>
                <a:cubicBezTo>
                  <a:pt x="444808" y="744941"/>
                  <a:pt x="450866" y="740016"/>
                  <a:pt x="458238" y="739130"/>
                </a:cubicBezTo>
                <a:lnTo>
                  <a:pt x="476869" y="736892"/>
                </a:lnTo>
                <a:lnTo>
                  <a:pt x="476869" y="717918"/>
                </a:lnTo>
                <a:close/>
                <a:moveTo>
                  <a:pt x="433511" y="727415"/>
                </a:moveTo>
                <a:cubicBezTo>
                  <a:pt x="433511" y="762838"/>
                  <a:pt x="404698" y="791651"/>
                  <a:pt x="369275" y="791651"/>
                </a:cubicBezTo>
                <a:cubicBezTo>
                  <a:pt x="333851" y="791651"/>
                  <a:pt x="305038" y="762838"/>
                  <a:pt x="305038" y="727415"/>
                </a:cubicBezTo>
                <a:cubicBezTo>
                  <a:pt x="305038" y="691991"/>
                  <a:pt x="333851" y="663178"/>
                  <a:pt x="369275" y="663178"/>
                </a:cubicBezTo>
                <a:cubicBezTo>
                  <a:pt x="404698" y="663178"/>
                  <a:pt x="433511" y="691991"/>
                  <a:pt x="433511" y="727415"/>
                </a:cubicBezTo>
                <a:close/>
                <a:moveTo>
                  <a:pt x="411242" y="727415"/>
                </a:moveTo>
                <a:cubicBezTo>
                  <a:pt x="411242" y="704269"/>
                  <a:pt x="392411" y="685448"/>
                  <a:pt x="369275" y="685448"/>
                </a:cubicBezTo>
                <a:cubicBezTo>
                  <a:pt x="346139" y="685448"/>
                  <a:pt x="327308" y="704279"/>
                  <a:pt x="327308" y="727415"/>
                </a:cubicBezTo>
                <a:cubicBezTo>
                  <a:pt x="327308" y="750561"/>
                  <a:pt x="346139" y="769382"/>
                  <a:pt x="369275" y="769382"/>
                </a:cubicBezTo>
                <a:cubicBezTo>
                  <a:pt x="392411" y="769382"/>
                  <a:pt x="411242" y="750561"/>
                  <a:pt x="411242" y="727415"/>
                </a:cubicBezTo>
                <a:close/>
                <a:moveTo>
                  <a:pt x="369275" y="0"/>
                </a:moveTo>
                <a:cubicBezTo>
                  <a:pt x="165659" y="0"/>
                  <a:pt x="0" y="165659"/>
                  <a:pt x="0" y="369275"/>
                </a:cubicBezTo>
                <a:cubicBezTo>
                  <a:pt x="0" y="440036"/>
                  <a:pt x="20079" y="508797"/>
                  <a:pt x="58055" y="568119"/>
                </a:cubicBezTo>
                <a:cubicBezTo>
                  <a:pt x="95031" y="625869"/>
                  <a:pt x="147133" y="672141"/>
                  <a:pt x="208740" y="701916"/>
                </a:cubicBezTo>
                <a:cubicBezTo>
                  <a:pt x="210302" y="702669"/>
                  <a:pt x="211950" y="703031"/>
                  <a:pt x="213579" y="703031"/>
                </a:cubicBezTo>
                <a:cubicBezTo>
                  <a:pt x="217713" y="703031"/>
                  <a:pt x="221685" y="700716"/>
                  <a:pt x="223609" y="696744"/>
                </a:cubicBezTo>
                <a:cubicBezTo>
                  <a:pt x="226285" y="691210"/>
                  <a:pt x="223971" y="684552"/>
                  <a:pt x="218427" y="681876"/>
                </a:cubicBezTo>
                <a:cubicBezTo>
                  <a:pt x="99260" y="624269"/>
                  <a:pt x="22260" y="501558"/>
                  <a:pt x="22260" y="369275"/>
                </a:cubicBezTo>
                <a:cubicBezTo>
                  <a:pt x="22269" y="177937"/>
                  <a:pt x="177937" y="22269"/>
                  <a:pt x="369275" y="22269"/>
                </a:cubicBezTo>
                <a:cubicBezTo>
                  <a:pt x="560613" y="22269"/>
                  <a:pt x="716280" y="177937"/>
                  <a:pt x="716280" y="369275"/>
                </a:cubicBezTo>
                <a:cubicBezTo>
                  <a:pt x="716280" y="488737"/>
                  <a:pt x="656644" y="596922"/>
                  <a:pt x="558175" y="660502"/>
                </a:cubicBezTo>
                <a:lnTo>
                  <a:pt x="561384" y="655472"/>
                </a:lnTo>
                <a:cubicBezTo>
                  <a:pt x="564690" y="650291"/>
                  <a:pt x="563166" y="643404"/>
                  <a:pt x="557984" y="640099"/>
                </a:cubicBezTo>
                <a:cubicBezTo>
                  <a:pt x="552802" y="636794"/>
                  <a:pt x="545916" y="638318"/>
                  <a:pt x="542611" y="643499"/>
                </a:cubicBezTo>
                <a:lnTo>
                  <a:pt x="515579" y="685914"/>
                </a:lnTo>
                <a:cubicBezTo>
                  <a:pt x="513340" y="689420"/>
                  <a:pt x="513245" y="693887"/>
                  <a:pt x="515341" y="697487"/>
                </a:cubicBezTo>
                <a:cubicBezTo>
                  <a:pt x="517427" y="701088"/>
                  <a:pt x="521341" y="703221"/>
                  <a:pt x="525504" y="703021"/>
                </a:cubicBezTo>
                <a:lnTo>
                  <a:pt x="575739" y="700602"/>
                </a:lnTo>
                <a:cubicBezTo>
                  <a:pt x="581882" y="700307"/>
                  <a:pt x="586616" y="695087"/>
                  <a:pt x="586321" y="688943"/>
                </a:cubicBezTo>
                <a:cubicBezTo>
                  <a:pt x="586026" y="682800"/>
                  <a:pt x="580815" y="678056"/>
                  <a:pt x="574662" y="678361"/>
                </a:cubicBezTo>
                <a:lnTo>
                  <a:pt x="571176" y="678532"/>
                </a:lnTo>
                <a:cubicBezTo>
                  <a:pt x="615096" y="649824"/>
                  <a:pt x="652567" y="611991"/>
                  <a:pt x="680990" y="567357"/>
                </a:cubicBezTo>
                <a:cubicBezTo>
                  <a:pt x="718652" y="508216"/>
                  <a:pt x="738559" y="439722"/>
                  <a:pt x="738559" y="369275"/>
                </a:cubicBezTo>
                <a:cubicBezTo>
                  <a:pt x="738549" y="165659"/>
                  <a:pt x="572891" y="0"/>
                  <a:pt x="369275" y="0"/>
                </a:cubicBezTo>
                <a:close/>
              </a:path>
            </a:pathLst>
          </a:custGeom>
          <a:solidFill>
            <a:srgbClr val="ED7C7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6" name="Chevron 4">
            <a:extLst>
              <a:ext uri="{FF2B5EF4-FFF2-40B4-BE49-F238E27FC236}">
                <a16:creationId xmlns:a16="http://schemas.microsoft.com/office/drawing/2014/main" id="{8D5781F4-9B3A-A022-AAE7-AE588A60BF6C}"/>
              </a:ext>
            </a:extLst>
          </p:cNvPr>
          <p:cNvSpPr/>
          <p:nvPr/>
        </p:nvSpPr>
        <p:spPr>
          <a:xfrm>
            <a:off x="2885290" y="1644995"/>
            <a:ext cx="2039674" cy="266659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>
                <a:solidFill>
                  <a:schemeClr val="bg1"/>
                </a:solidFill>
                <a:latin typeface="+mj-lt"/>
                <a:cs typeface="Poppins" pitchFamily="2" charset="77"/>
              </a:rPr>
              <a:t>Key Influencers</a:t>
            </a:r>
          </a:p>
        </p:txBody>
      </p:sp>
      <p:sp>
        <p:nvSpPr>
          <p:cNvPr id="12" name="Freeform 945">
            <a:extLst>
              <a:ext uri="{FF2B5EF4-FFF2-40B4-BE49-F238E27FC236}">
                <a16:creationId xmlns:a16="http://schemas.microsoft.com/office/drawing/2014/main" id="{19641045-52D8-F72E-2CA5-65456FE177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09698" y="992905"/>
            <a:ext cx="390858" cy="486011"/>
          </a:xfrm>
          <a:custGeom>
            <a:avLst/>
            <a:gdLst>
              <a:gd name="T0" fmla="*/ 632245 w 232462"/>
              <a:gd name="T1" fmla="*/ 3076609 h 289974"/>
              <a:gd name="T2" fmla="*/ 1993938 w 232462"/>
              <a:gd name="T3" fmla="*/ 3076609 h 289974"/>
              <a:gd name="T4" fmla="*/ 2091190 w 232462"/>
              <a:gd name="T5" fmla="*/ 2375186 h 289974"/>
              <a:gd name="T6" fmla="*/ 2038519 w 232462"/>
              <a:gd name="T7" fmla="*/ 3199466 h 289974"/>
              <a:gd name="T8" fmla="*/ 603868 w 232462"/>
              <a:gd name="T9" fmla="*/ 3195485 h 289974"/>
              <a:gd name="T10" fmla="*/ 534968 w 232462"/>
              <a:gd name="T11" fmla="*/ 2375186 h 289974"/>
              <a:gd name="T12" fmla="*/ 1193690 w 232462"/>
              <a:gd name="T13" fmla="*/ 1084957 h 289974"/>
              <a:gd name="T14" fmla="*/ 1084413 w 232462"/>
              <a:gd name="T15" fmla="*/ 1332847 h 289974"/>
              <a:gd name="T16" fmla="*/ 1290835 w 232462"/>
              <a:gd name="T17" fmla="*/ 1516759 h 289974"/>
              <a:gd name="T18" fmla="*/ 1529635 w 232462"/>
              <a:gd name="T19" fmla="*/ 1376818 h 289974"/>
              <a:gd name="T20" fmla="*/ 1468921 w 232462"/>
              <a:gd name="T21" fmla="*/ 1108951 h 289974"/>
              <a:gd name="T22" fmla="*/ 1270596 w 232462"/>
              <a:gd name="T23" fmla="*/ 713128 h 289974"/>
              <a:gd name="T24" fmla="*/ 1849413 w 232462"/>
              <a:gd name="T25" fmla="*/ 1064956 h 289974"/>
              <a:gd name="T26" fmla="*/ 1630824 w 232462"/>
              <a:gd name="T27" fmla="*/ 1384830 h 289974"/>
              <a:gd name="T28" fmla="*/ 1618692 w 232462"/>
              <a:gd name="T29" fmla="*/ 1772641 h 289974"/>
              <a:gd name="T30" fmla="*/ 987257 w 232462"/>
              <a:gd name="T31" fmla="*/ 1776636 h 289974"/>
              <a:gd name="T32" fmla="*/ 995349 w 232462"/>
              <a:gd name="T33" fmla="*/ 1384830 h 289974"/>
              <a:gd name="T34" fmla="*/ 776770 w 232462"/>
              <a:gd name="T35" fmla="*/ 1064956 h 289974"/>
              <a:gd name="T36" fmla="*/ 1306159 w 232462"/>
              <a:gd name="T37" fmla="*/ 482625 h 289974"/>
              <a:gd name="T38" fmla="*/ 2119160 w 232462"/>
              <a:gd name="T39" fmla="*/ 1276673 h 289974"/>
              <a:gd name="T40" fmla="*/ 2216743 w 232462"/>
              <a:gd name="T41" fmla="*/ 1276673 h 289974"/>
              <a:gd name="T42" fmla="*/ 1306159 w 232462"/>
              <a:gd name="T43" fmla="*/ 383378 h 289974"/>
              <a:gd name="T44" fmla="*/ 1083222 w 232462"/>
              <a:gd name="T45" fmla="*/ 251380 h 289974"/>
              <a:gd name="T46" fmla="*/ 700781 w 232462"/>
              <a:gd name="T47" fmla="*/ 417639 h 289974"/>
              <a:gd name="T48" fmla="*/ 407860 w 232462"/>
              <a:gd name="T49" fmla="*/ 710574 h 289974"/>
              <a:gd name="T50" fmla="*/ 253257 w 232462"/>
              <a:gd name="T51" fmla="*/ 1090626 h 289974"/>
              <a:gd name="T52" fmla="*/ 261393 w 232462"/>
              <a:gd name="T53" fmla="*/ 1498350 h 289974"/>
              <a:gd name="T54" fmla="*/ 428191 w 232462"/>
              <a:gd name="T55" fmla="*/ 1874447 h 289974"/>
              <a:gd name="T56" fmla="*/ 733337 w 232462"/>
              <a:gd name="T57" fmla="*/ 2159477 h 289974"/>
              <a:gd name="T58" fmla="*/ 1095420 w 232462"/>
              <a:gd name="T59" fmla="*/ 2298020 h 289974"/>
              <a:gd name="T60" fmla="*/ 1506329 w 232462"/>
              <a:gd name="T61" fmla="*/ 2309889 h 289974"/>
              <a:gd name="T62" fmla="*/ 1896907 w 232462"/>
              <a:gd name="T63" fmla="*/ 2159477 h 289974"/>
              <a:gd name="T64" fmla="*/ 2197968 w 232462"/>
              <a:gd name="T65" fmla="*/ 1874447 h 289974"/>
              <a:gd name="T66" fmla="*/ 2368839 w 232462"/>
              <a:gd name="T67" fmla="*/ 1498350 h 289974"/>
              <a:gd name="T68" fmla="*/ 2372910 w 232462"/>
              <a:gd name="T69" fmla="*/ 1090626 h 289974"/>
              <a:gd name="T70" fmla="*/ 2222381 w 232462"/>
              <a:gd name="T71" fmla="*/ 710574 h 289974"/>
              <a:gd name="T72" fmla="*/ 1929440 w 232462"/>
              <a:gd name="T73" fmla="*/ 417639 h 289974"/>
              <a:gd name="T74" fmla="*/ 1546995 w 232462"/>
              <a:gd name="T75" fmla="*/ 251380 h 289974"/>
              <a:gd name="T76" fmla="*/ 1282577 w 232462"/>
              <a:gd name="T77" fmla="*/ 5940 h 289974"/>
              <a:gd name="T78" fmla="*/ 1787059 w 232462"/>
              <a:gd name="T79" fmla="*/ 93038 h 289974"/>
              <a:gd name="T80" fmla="*/ 2214256 w 232462"/>
              <a:gd name="T81" fmla="*/ 358253 h 289974"/>
              <a:gd name="T82" fmla="*/ 2507166 w 232462"/>
              <a:gd name="T83" fmla="*/ 762044 h 289974"/>
              <a:gd name="T84" fmla="*/ 2617013 w 232462"/>
              <a:gd name="T85" fmla="*/ 1245006 h 289974"/>
              <a:gd name="T86" fmla="*/ 2531574 w 232462"/>
              <a:gd name="T87" fmla="*/ 1735895 h 289974"/>
              <a:gd name="T88" fmla="*/ 2258976 w 232462"/>
              <a:gd name="T89" fmla="*/ 2151533 h 289974"/>
              <a:gd name="T90" fmla="*/ 1839944 w 232462"/>
              <a:gd name="T91" fmla="*/ 2436573 h 289974"/>
              <a:gd name="T92" fmla="*/ 1343589 w 232462"/>
              <a:gd name="T93" fmla="*/ 2543461 h 289974"/>
              <a:gd name="T94" fmla="*/ 1083222 w 232462"/>
              <a:gd name="T95" fmla="*/ 2400937 h 289974"/>
              <a:gd name="T96" fmla="*/ 660104 w 232462"/>
              <a:gd name="T97" fmla="*/ 2226766 h 289974"/>
              <a:gd name="T98" fmla="*/ 334636 w 232462"/>
              <a:gd name="T99" fmla="*/ 1910073 h 289974"/>
              <a:gd name="T100" fmla="*/ 159692 w 232462"/>
              <a:gd name="T101" fmla="*/ 1498350 h 289974"/>
              <a:gd name="T102" fmla="*/ 159692 w 232462"/>
              <a:gd name="T103" fmla="*/ 1051026 h 289974"/>
              <a:gd name="T104" fmla="*/ 334636 w 232462"/>
              <a:gd name="T105" fmla="*/ 639327 h 289974"/>
              <a:gd name="T106" fmla="*/ 660104 w 232462"/>
              <a:gd name="T107" fmla="*/ 322629 h 289974"/>
              <a:gd name="T108" fmla="*/ 1083222 w 232462"/>
              <a:gd name="T109" fmla="*/ 152424 h 289974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232462" h="289974">
                <a:moveTo>
                  <a:pt x="51660" y="210958"/>
                </a:moveTo>
                <a:cubicBezTo>
                  <a:pt x="54171" y="210958"/>
                  <a:pt x="55965" y="212754"/>
                  <a:pt x="55965" y="215268"/>
                </a:cubicBezTo>
                <a:lnTo>
                  <a:pt x="55965" y="278840"/>
                </a:lnTo>
                <a:lnTo>
                  <a:pt x="114438" y="251903"/>
                </a:lnTo>
                <a:cubicBezTo>
                  <a:pt x="115514" y="251543"/>
                  <a:pt x="116949" y="251543"/>
                  <a:pt x="118025" y="251903"/>
                </a:cubicBezTo>
                <a:lnTo>
                  <a:pt x="176499" y="278840"/>
                </a:lnTo>
                <a:lnTo>
                  <a:pt x="176499" y="215268"/>
                </a:lnTo>
                <a:cubicBezTo>
                  <a:pt x="176499" y="212754"/>
                  <a:pt x="178292" y="210958"/>
                  <a:pt x="180445" y="210958"/>
                </a:cubicBezTo>
                <a:cubicBezTo>
                  <a:pt x="182956" y="210958"/>
                  <a:pt x="185108" y="212754"/>
                  <a:pt x="185108" y="215268"/>
                </a:cubicBezTo>
                <a:lnTo>
                  <a:pt x="185108" y="285305"/>
                </a:lnTo>
                <a:cubicBezTo>
                  <a:pt x="185108" y="287101"/>
                  <a:pt x="184391" y="288537"/>
                  <a:pt x="182956" y="289256"/>
                </a:cubicBezTo>
                <a:cubicBezTo>
                  <a:pt x="182239" y="289615"/>
                  <a:pt x="181521" y="289974"/>
                  <a:pt x="180445" y="289974"/>
                </a:cubicBezTo>
                <a:cubicBezTo>
                  <a:pt x="180086" y="289974"/>
                  <a:pt x="179369" y="289974"/>
                  <a:pt x="178651" y="289615"/>
                </a:cubicBezTo>
                <a:lnTo>
                  <a:pt x="116232" y="260882"/>
                </a:lnTo>
                <a:lnTo>
                  <a:pt x="53453" y="289615"/>
                </a:lnTo>
                <a:cubicBezTo>
                  <a:pt x="52377" y="289974"/>
                  <a:pt x="50584" y="289974"/>
                  <a:pt x="49149" y="289256"/>
                </a:cubicBezTo>
                <a:cubicBezTo>
                  <a:pt x="48072" y="288537"/>
                  <a:pt x="47355" y="287101"/>
                  <a:pt x="47355" y="285305"/>
                </a:cubicBezTo>
                <a:lnTo>
                  <a:pt x="47355" y="215268"/>
                </a:lnTo>
                <a:cubicBezTo>
                  <a:pt x="47355" y="212754"/>
                  <a:pt x="49149" y="210958"/>
                  <a:pt x="51660" y="210958"/>
                </a:cubicBezTo>
                <a:close/>
                <a:moveTo>
                  <a:pt x="116411" y="76590"/>
                </a:moveTo>
                <a:lnTo>
                  <a:pt x="105662" y="98332"/>
                </a:lnTo>
                <a:cubicBezTo>
                  <a:pt x="104946" y="99419"/>
                  <a:pt x="104229" y="100143"/>
                  <a:pt x="102438" y="100506"/>
                </a:cubicBezTo>
                <a:lnTo>
                  <a:pt x="79149" y="103767"/>
                </a:lnTo>
                <a:lnTo>
                  <a:pt x="95989" y="120798"/>
                </a:lnTo>
                <a:cubicBezTo>
                  <a:pt x="97063" y="121885"/>
                  <a:pt x="97422" y="123335"/>
                  <a:pt x="97422" y="124784"/>
                </a:cubicBezTo>
                <a:lnTo>
                  <a:pt x="93480" y="148338"/>
                </a:lnTo>
                <a:lnTo>
                  <a:pt x="114261" y="137467"/>
                </a:lnTo>
                <a:cubicBezTo>
                  <a:pt x="115695" y="136380"/>
                  <a:pt x="117128" y="136380"/>
                  <a:pt x="118203" y="137467"/>
                </a:cubicBezTo>
                <a:lnTo>
                  <a:pt x="139342" y="148338"/>
                </a:lnTo>
                <a:lnTo>
                  <a:pt x="135401" y="124784"/>
                </a:lnTo>
                <a:cubicBezTo>
                  <a:pt x="135042" y="123335"/>
                  <a:pt x="135401" y="121885"/>
                  <a:pt x="136834" y="120798"/>
                </a:cubicBezTo>
                <a:lnTo>
                  <a:pt x="153673" y="103767"/>
                </a:lnTo>
                <a:lnTo>
                  <a:pt x="130026" y="100506"/>
                </a:lnTo>
                <a:cubicBezTo>
                  <a:pt x="128593" y="100143"/>
                  <a:pt x="127518" y="99419"/>
                  <a:pt x="127160" y="98332"/>
                </a:cubicBezTo>
                <a:lnTo>
                  <a:pt x="116411" y="76590"/>
                </a:lnTo>
                <a:close/>
                <a:moveTo>
                  <a:pt x="112470" y="64632"/>
                </a:moveTo>
                <a:cubicBezTo>
                  <a:pt x="113903" y="61733"/>
                  <a:pt x="118919" y="61733"/>
                  <a:pt x="120352" y="64632"/>
                </a:cubicBezTo>
                <a:lnTo>
                  <a:pt x="133609" y="92171"/>
                </a:lnTo>
                <a:lnTo>
                  <a:pt x="163706" y="96520"/>
                </a:lnTo>
                <a:cubicBezTo>
                  <a:pt x="165497" y="96520"/>
                  <a:pt x="166930" y="97969"/>
                  <a:pt x="167289" y="99419"/>
                </a:cubicBezTo>
                <a:cubicBezTo>
                  <a:pt x="167647" y="101231"/>
                  <a:pt x="167289" y="103042"/>
                  <a:pt x="166214" y="104129"/>
                </a:cubicBezTo>
                <a:lnTo>
                  <a:pt x="144358" y="125509"/>
                </a:lnTo>
                <a:lnTo>
                  <a:pt x="149732" y="155947"/>
                </a:lnTo>
                <a:cubicBezTo>
                  <a:pt x="149732" y="157759"/>
                  <a:pt x="149374" y="159208"/>
                  <a:pt x="147941" y="160296"/>
                </a:cubicBezTo>
                <a:cubicBezTo>
                  <a:pt x="146508" y="161383"/>
                  <a:pt x="144716" y="161383"/>
                  <a:pt x="143283" y="160658"/>
                </a:cubicBezTo>
                <a:lnTo>
                  <a:pt x="116411" y="146163"/>
                </a:lnTo>
                <a:lnTo>
                  <a:pt x="89539" y="160658"/>
                </a:lnTo>
                <a:cubicBezTo>
                  <a:pt x="88823" y="160658"/>
                  <a:pt x="88106" y="161020"/>
                  <a:pt x="87390" y="161020"/>
                </a:cubicBezTo>
                <a:cubicBezTo>
                  <a:pt x="86673" y="161020"/>
                  <a:pt x="85598" y="160658"/>
                  <a:pt x="84881" y="160296"/>
                </a:cubicBezTo>
                <a:cubicBezTo>
                  <a:pt x="83448" y="159208"/>
                  <a:pt x="82732" y="157759"/>
                  <a:pt x="83090" y="155947"/>
                </a:cubicBezTo>
                <a:lnTo>
                  <a:pt x="88106" y="125509"/>
                </a:lnTo>
                <a:lnTo>
                  <a:pt x="66250" y="104129"/>
                </a:lnTo>
                <a:cubicBezTo>
                  <a:pt x="65175" y="103042"/>
                  <a:pt x="64817" y="101231"/>
                  <a:pt x="65175" y="99419"/>
                </a:cubicBezTo>
                <a:cubicBezTo>
                  <a:pt x="65892" y="97969"/>
                  <a:pt x="67325" y="96520"/>
                  <a:pt x="68758" y="96520"/>
                </a:cubicBezTo>
                <a:lnTo>
                  <a:pt x="98855" y="92171"/>
                </a:lnTo>
                <a:lnTo>
                  <a:pt x="112470" y="64632"/>
                </a:lnTo>
                <a:close/>
                <a:moveTo>
                  <a:pt x="115618" y="43741"/>
                </a:moveTo>
                <a:cubicBezTo>
                  <a:pt x="76036" y="43741"/>
                  <a:pt x="43651" y="76126"/>
                  <a:pt x="43651" y="115708"/>
                </a:cubicBezTo>
                <a:cubicBezTo>
                  <a:pt x="43651" y="155289"/>
                  <a:pt x="76036" y="187674"/>
                  <a:pt x="115618" y="187674"/>
                </a:cubicBezTo>
                <a:cubicBezTo>
                  <a:pt x="155199" y="187674"/>
                  <a:pt x="187584" y="155289"/>
                  <a:pt x="187584" y="115708"/>
                </a:cubicBezTo>
                <a:cubicBezTo>
                  <a:pt x="187584" y="76126"/>
                  <a:pt x="155199" y="43741"/>
                  <a:pt x="115618" y="43741"/>
                </a:cubicBezTo>
                <a:close/>
                <a:moveTo>
                  <a:pt x="115618" y="34745"/>
                </a:moveTo>
                <a:cubicBezTo>
                  <a:pt x="159877" y="34745"/>
                  <a:pt x="196220" y="71088"/>
                  <a:pt x="196220" y="115708"/>
                </a:cubicBezTo>
                <a:cubicBezTo>
                  <a:pt x="196220" y="159967"/>
                  <a:pt x="159877" y="196310"/>
                  <a:pt x="115618" y="196310"/>
                </a:cubicBezTo>
                <a:cubicBezTo>
                  <a:pt x="70998" y="196310"/>
                  <a:pt x="34655" y="159967"/>
                  <a:pt x="34655" y="115708"/>
                </a:cubicBezTo>
                <a:cubicBezTo>
                  <a:pt x="34655" y="71088"/>
                  <a:pt x="70998" y="34745"/>
                  <a:pt x="115618" y="34745"/>
                </a:cubicBezTo>
                <a:close/>
                <a:moveTo>
                  <a:pt x="116411" y="9866"/>
                </a:moveTo>
                <a:lnTo>
                  <a:pt x="99485" y="22065"/>
                </a:lnTo>
                <a:cubicBezTo>
                  <a:pt x="98405" y="22782"/>
                  <a:pt x="97324" y="23141"/>
                  <a:pt x="95884" y="22782"/>
                </a:cubicBezTo>
                <a:lnTo>
                  <a:pt x="75717" y="17759"/>
                </a:lnTo>
                <a:lnTo>
                  <a:pt x="64913" y="35698"/>
                </a:lnTo>
                <a:cubicBezTo>
                  <a:pt x="64193" y="36775"/>
                  <a:pt x="63112" y="37492"/>
                  <a:pt x="62032" y="37851"/>
                </a:cubicBezTo>
                <a:lnTo>
                  <a:pt x="41144" y="40721"/>
                </a:lnTo>
                <a:lnTo>
                  <a:pt x="37903" y="61531"/>
                </a:lnTo>
                <a:cubicBezTo>
                  <a:pt x="37903" y="62607"/>
                  <a:pt x="37183" y="63684"/>
                  <a:pt x="36103" y="64401"/>
                </a:cubicBezTo>
                <a:lnTo>
                  <a:pt x="18096" y="75165"/>
                </a:lnTo>
                <a:lnTo>
                  <a:pt x="23138" y="95257"/>
                </a:lnTo>
                <a:cubicBezTo>
                  <a:pt x="23498" y="96333"/>
                  <a:pt x="23138" y="97768"/>
                  <a:pt x="22418" y="98845"/>
                </a:cubicBezTo>
                <a:lnTo>
                  <a:pt x="10174" y="115708"/>
                </a:lnTo>
                <a:lnTo>
                  <a:pt x="22418" y="132212"/>
                </a:lnTo>
                <a:cubicBezTo>
                  <a:pt x="23138" y="133288"/>
                  <a:pt x="23498" y="134723"/>
                  <a:pt x="23138" y="135799"/>
                </a:cubicBezTo>
                <a:lnTo>
                  <a:pt x="18096" y="156250"/>
                </a:lnTo>
                <a:lnTo>
                  <a:pt x="36103" y="167014"/>
                </a:lnTo>
                <a:cubicBezTo>
                  <a:pt x="37183" y="167731"/>
                  <a:pt x="37903" y="168449"/>
                  <a:pt x="37903" y="169884"/>
                </a:cubicBezTo>
                <a:lnTo>
                  <a:pt x="41144" y="190335"/>
                </a:lnTo>
                <a:lnTo>
                  <a:pt x="62032" y="193564"/>
                </a:lnTo>
                <a:cubicBezTo>
                  <a:pt x="63112" y="193564"/>
                  <a:pt x="64193" y="194640"/>
                  <a:pt x="64913" y="195717"/>
                </a:cubicBezTo>
                <a:lnTo>
                  <a:pt x="75717" y="213656"/>
                </a:lnTo>
                <a:lnTo>
                  <a:pt x="95884" y="208274"/>
                </a:lnTo>
                <a:cubicBezTo>
                  <a:pt x="96244" y="208274"/>
                  <a:pt x="96604" y="208274"/>
                  <a:pt x="96964" y="208274"/>
                </a:cubicBezTo>
                <a:cubicBezTo>
                  <a:pt x="97685" y="208274"/>
                  <a:pt x="98765" y="208633"/>
                  <a:pt x="99485" y="209350"/>
                </a:cubicBezTo>
                <a:lnTo>
                  <a:pt x="116411" y="221549"/>
                </a:lnTo>
                <a:lnTo>
                  <a:pt x="133337" y="209350"/>
                </a:lnTo>
                <a:cubicBezTo>
                  <a:pt x="134417" y="208274"/>
                  <a:pt x="135498" y="208274"/>
                  <a:pt x="136938" y="208274"/>
                </a:cubicBezTo>
                <a:lnTo>
                  <a:pt x="157105" y="213656"/>
                </a:lnTo>
                <a:lnTo>
                  <a:pt x="167909" y="195717"/>
                </a:lnTo>
                <a:cubicBezTo>
                  <a:pt x="168629" y="194640"/>
                  <a:pt x="169710" y="193564"/>
                  <a:pt x="170790" y="193564"/>
                </a:cubicBezTo>
                <a:lnTo>
                  <a:pt x="191678" y="190335"/>
                </a:lnTo>
                <a:lnTo>
                  <a:pt x="194559" y="169884"/>
                </a:lnTo>
                <a:cubicBezTo>
                  <a:pt x="194559" y="168449"/>
                  <a:pt x="195639" y="167731"/>
                  <a:pt x="196719" y="167014"/>
                </a:cubicBezTo>
                <a:lnTo>
                  <a:pt x="214726" y="156250"/>
                </a:lnTo>
                <a:lnTo>
                  <a:pt x="209684" y="135799"/>
                </a:lnTo>
                <a:cubicBezTo>
                  <a:pt x="209324" y="134723"/>
                  <a:pt x="209684" y="133288"/>
                  <a:pt x="210044" y="132212"/>
                </a:cubicBezTo>
                <a:lnTo>
                  <a:pt x="222648" y="115708"/>
                </a:lnTo>
                <a:lnTo>
                  <a:pt x="210044" y="98845"/>
                </a:lnTo>
                <a:cubicBezTo>
                  <a:pt x="209684" y="97768"/>
                  <a:pt x="209324" y="96333"/>
                  <a:pt x="209684" y="95257"/>
                </a:cubicBezTo>
                <a:lnTo>
                  <a:pt x="214726" y="75165"/>
                </a:lnTo>
                <a:lnTo>
                  <a:pt x="196719" y="64401"/>
                </a:lnTo>
                <a:cubicBezTo>
                  <a:pt x="195639" y="63684"/>
                  <a:pt x="194559" y="62607"/>
                  <a:pt x="194559" y="61531"/>
                </a:cubicBezTo>
                <a:lnTo>
                  <a:pt x="191678" y="40721"/>
                </a:lnTo>
                <a:lnTo>
                  <a:pt x="170790" y="37851"/>
                </a:lnTo>
                <a:cubicBezTo>
                  <a:pt x="169710" y="37492"/>
                  <a:pt x="168629" y="36775"/>
                  <a:pt x="167909" y="35698"/>
                </a:cubicBezTo>
                <a:lnTo>
                  <a:pt x="157105" y="17759"/>
                </a:lnTo>
                <a:lnTo>
                  <a:pt x="136938" y="22782"/>
                </a:lnTo>
                <a:cubicBezTo>
                  <a:pt x="135498" y="23141"/>
                  <a:pt x="134417" y="22782"/>
                  <a:pt x="133337" y="22065"/>
                </a:cubicBezTo>
                <a:lnTo>
                  <a:pt x="116411" y="9866"/>
                </a:lnTo>
                <a:close/>
                <a:moveTo>
                  <a:pt x="113530" y="538"/>
                </a:moveTo>
                <a:cubicBezTo>
                  <a:pt x="115331" y="-180"/>
                  <a:pt x="117492" y="-180"/>
                  <a:pt x="118932" y="538"/>
                </a:cubicBezTo>
                <a:lnTo>
                  <a:pt x="136938" y="13813"/>
                </a:lnTo>
                <a:lnTo>
                  <a:pt x="158186" y="8431"/>
                </a:lnTo>
                <a:cubicBezTo>
                  <a:pt x="159986" y="8072"/>
                  <a:pt x="161787" y="8790"/>
                  <a:pt x="162867" y="10225"/>
                </a:cubicBezTo>
                <a:lnTo>
                  <a:pt x="174392" y="29240"/>
                </a:lnTo>
                <a:lnTo>
                  <a:pt x="195999" y="32469"/>
                </a:lnTo>
                <a:cubicBezTo>
                  <a:pt x="197800" y="32828"/>
                  <a:pt x="199240" y="34263"/>
                  <a:pt x="199960" y="36416"/>
                </a:cubicBezTo>
                <a:lnTo>
                  <a:pt x="202842" y="57943"/>
                </a:lnTo>
                <a:lnTo>
                  <a:pt x="221928" y="69066"/>
                </a:lnTo>
                <a:cubicBezTo>
                  <a:pt x="223369" y="70142"/>
                  <a:pt x="224449" y="72295"/>
                  <a:pt x="224089" y="74088"/>
                </a:cubicBezTo>
                <a:lnTo>
                  <a:pt x="218687" y="95257"/>
                </a:lnTo>
                <a:lnTo>
                  <a:pt x="231652" y="112837"/>
                </a:lnTo>
                <a:cubicBezTo>
                  <a:pt x="232732" y="114631"/>
                  <a:pt x="232732" y="116784"/>
                  <a:pt x="231652" y="118219"/>
                </a:cubicBezTo>
                <a:lnTo>
                  <a:pt x="218687" y="135799"/>
                </a:lnTo>
                <a:lnTo>
                  <a:pt x="224089" y="157327"/>
                </a:lnTo>
                <a:cubicBezTo>
                  <a:pt x="224449" y="159121"/>
                  <a:pt x="223369" y="160914"/>
                  <a:pt x="221928" y="161991"/>
                </a:cubicBezTo>
                <a:lnTo>
                  <a:pt x="202842" y="173113"/>
                </a:lnTo>
                <a:lnTo>
                  <a:pt x="199960" y="194999"/>
                </a:lnTo>
                <a:cubicBezTo>
                  <a:pt x="199240" y="196793"/>
                  <a:pt x="197800" y="198587"/>
                  <a:pt x="195999" y="198587"/>
                </a:cubicBezTo>
                <a:lnTo>
                  <a:pt x="174392" y="201816"/>
                </a:lnTo>
                <a:lnTo>
                  <a:pt x="162867" y="220831"/>
                </a:lnTo>
                <a:cubicBezTo>
                  <a:pt x="161787" y="222267"/>
                  <a:pt x="159986" y="222984"/>
                  <a:pt x="158186" y="222625"/>
                </a:cubicBezTo>
                <a:lnTo>
                  <a:pt x="136938" y="217602"/>
                </a:lnTo>
                <a:lnTo>
                  <a:pt x="118932" y="230519"/>
                </a:lnTo>
                <a:cubicBezTo>
                  <a:pt x="118212" y="231236"/>
                  <a:pt x="117131" y="231236"/>
                  <a:pt x="116411" y="231236"/>
                </a:cubicBezTo>
                <a:cubicBezTo>
                  <a:pt x="115331" y="231236"/>
                  <a:pt x="114610" y="231236"/>
                  <a:pt x="113530" y="230519"/>
                </a:cubicBezTo>
                <a:lnTo>
                  <a:pt x="95884" y="217602"/>
                </a:lnTo>
                <a:lnTo>
                  <a:pt x="74636" y="222625"/>
                </a:lnTo>
                <a:cubicBezTo>
                  <a:pt x="72836" y="222984"/>
                  <a:pt x="70675" y="222267"/>
                  <a:pt x="69595" y="220831"/>
                </a:cubicBezTo>
                <a:lnTo>
                  <a:pt x="58431" y="201816"/>
                </a:lnTo>
                <a:lnTo>
                  <a:pt x="36823" y="198587"/>
                </a:lnTo>
                <a:cubicBezTo>
                  <a:pt x="35022" y="198587"/>
                  <a:pt x="33222" y="196793"/>
                  <a:pt x="32862" y="194999"/>
                </a:cubicBezTo>
                <a:lnTo>
                  <a:pt x="29620" y="173113"/>
                </a:lnTo>
                <a:lnTo>
                  <a:pt x="10534" y="161991"/>
                </a:lnTo>
                <a:cubicBezTo>
                  <a:pt x="9093" y="160914"/>
                  <a:pt x="8373" y="159121"/>
                  <a:pt x="8733" y="157327"/>
                </a:cubicBezTo>
                <a:lnTo>
                  <a:pt x="14135" y="135799"/>
                </a:lnTo>
                <a:lnTo>
                  <a:pt x="810" y="118219"/>
                </a:lnTo>
                <a:cubicBezTo>
                  <a:pt x="-270" y="116784"/>
                  <a:pt x="-270" y="114631"/>
                  <a:pt x="810" y="112837"/>
                </a:cubicBezTo>
                <a:lnTo>
                  <a:pt x="14135" y="95257"/>
                </a:lnTo>
                <a:lnTo>
                  <a:pt x="8733" y="74088"/>
                </a:lnTo>
                <a:cubicBezTo>
                  <a:pt x="8373" y="72295"/>
                  <a:pt x="9093" y="70142"/>
                  <a:pt x="10534" y="69066"/>
                </a:cubicBezTo>
                <a:lnTo>
                  <a:pt x="29620" y="57943"/>
                </a:lnTo>
                <a:lnTo>
                  <a:pt x="32862" y="36416"/>
                </a:lnTo>
                <a:cubicBezTo>
                  <a:pt x="33222" y="34263"/>
                  <a:pt x="35022" y="32828"/>
                  <a:pt x="36823" y="32469"/>
                </a:cubicBezTo>
                <a:lnTo>
                  <a:pt x="58431" y="29240"/>
                </a:lnTo>
                <a:lnTo>
                  <a:pt x="69595" y="10225"/>
                </a:lnTo>
                <a:cubicBezTo>
                  <a:pt x="70675" y="8790"/>
                  <a:pt x="72836" y="8072"/>
                  <a:pt x="74636" y="8431"/>
                </a:cubicBezTo>
                <a:lnTo>
                  <a:pt x="95884" y="13813"/>
                </a:lnTo>
                <a:lnTo>
                  <a:pt x="113530" y="538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anchor="ctr"/>
          <a:lstStyle/>
          <a:p>
            <a:endParaRPr lang="en-US" sz="900" noProof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E903FE-F6B6-92E5-FFBA-262D541B0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917" y="2207417"/>
            <a:ext cx="1749704" cy="168873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E545699-2D99-A1CF-F8B8-2A60B3E81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036" y="2207417"/>
            <a:ext cx="1749704" cy="168873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E46F0EB-6B3B-2629-AD09-D33D11403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156" y="2207417"/>
            <a:ext cx="1749704" cy="1688738"/>
          </a:xfrm>
          <a:prstGeom prst="rect">
            <a:avLst/>
          </a:prstGeom>
        </p:spPr>
      </p:pic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D86B4C80-3E92-D266-C558-7FF0F44EA8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6342304"/>
              </p:ext>
            </p:extLst>
          </p:nvPr>
        </p:nvGraphicFramePr>
        <p:xfrm>
          <a:off x="832477" y="2207068"/>
          <a:ext cx="1749540" cy="1689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60" name="Picture 59">
            <a:extLst>
              <a:ext uri="{FF2B5EF4-FFF2-40B4-BE49-F238E27FC236}">
                <a16:creationId xmlns:a16="http://schemas.microsoft.com/office/drawing/2014/main" id="{81C0ECE8-574B-7B38-1291-656AEEB75C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0275" y="2207417"/>
            <a:ext cx="1749704" cy="168873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85BCADD-9F19-BEEA-1ED2-EFF0CDE032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7880" y="3773054"/>
            <a:ext cx="2695951" cy="476316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C12A8574-D9DC-084E-D734-D48660D61D98}"/>
              </a:ext>
            </a:extLst>
          </p:cNvPr>
          <p:cNvGrpSpPr/>
          <p:nvPr/>
        </p:nvGrpSpPr>
        <p:grpSpPr>
          <a:xfrm>
            <a:off x="1" y="2729632"/>
            <a:ext cx="1021976" cy="426894"/>
            <a:chOff x="-6266" y="3696091"/>
            <a:chExt cx="1707243" cy="568195"/>
          </a:xfrm>
        </p:grpSpPr>
        <p:sp>
          <p:nvSpPr>
            <p:cNvPr id="67" name="Title 1">
              <a:extLst>
                <a:ext uri="{FF2B5EF4-FFF2-40B4-BE49-F238E27FC236}">
                  <a16:creationId xmlns:a16="http://schemas.microsoft.com/office/drawing/2014/main" id="{40C4B0DA-EC41-243D-33FA-26B286716D7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Title 1">
              <a:extLst>
                <a:ext uri="{FF2B5EF4-FFF2-40B4-BE49-F238E27FC236}">
                  <a16:creationId xmlns:a16="http://schemas.microsoft.com/office/drawing/2014/main" id="{783F7BEF-AE92-5540-2C49-AE48BE01026D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Specialty Mix</a:t>
              </a:r>
              <a:endParaRPr kumimoji="0" 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1B587559-60D5-1130-58BC-C6F85FACE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762211"/>
              </p:ext>
            </p:extLst>
          </p:nvPr>
        </p:nvGraphicFramePr>
        <p:xfrm>
          <a:off x="1181896" y="4436415"/>
          <a:ext cx="10336710" cy="1754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67342">
                  <a:extLst>
                    <a:ext uri="{9D8B030D-6E8A-4147-A177-3AD203B41FA5}">
                      <a16:colId xmlns:a16="http://schemas.microsoft.com/office/drawing/2014/main" val="1040189262"/>
                    </a:ext>
                  </a:extLst>
                </a:gridCol>
                <a:gridCol w="2067342">
                  <a:extLst>
                    <a:ext uri="{9D8B030D-6E8A-4147-A177-3AD203B41FA5}">
                      <a16:colId xmlns:a16="http://schemas.microsoft.com/office/drawing/2014/main" val="2798584100"/>
                    </a:ext>
                  </a:extLst>
                </a:gridCol>
                <a:gridCol w="2067342">
                  <a:extLst>
                    <a:ext uri="{9D8B030D-6E8A-4147-A177-3AD203B41FA5}">
                      <a16:colId xmlns:a16="http://schemas.microsoft.com/office/drawing/2014/main" val="2916637611"/>
                    </a:ext>
                  </a:extLst>
                </a:gridCol>
                <a:gridCol w="2067342">
                  <a:extLst>
                    <a:ext uri="{9D8B030D-6E8A-4147-A177-3AD203B41FA5}">
                      <a16:colId xmlns:a16="http://schemas.microsoft.com/office/drawing/2014/main" val="2975080040"/>
                    </a:ext>
                  </a:extLst>
                </a:gridCol>
                <a:gridCol w="2067342">
                  <a:extLst>
                    <a:ext uri="{9D8B030D-6E8A-4147-A177-3AD203B41FA5}">
                      <a16:colId xmlns:a16="http://schemas.microsoft.com/office/drawing/2014/main" val="1852653959"/>
                    </a:ext>
                  </a:extLst>
                </a:gridCol>
              </a:tblGrid>
              <a:tr h="438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633945"/>
                  </a:ext>
                </a:extLst>
              </a:tr>
              <a:tr h="4385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14%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79707"/>
                  </a:ext>
                </a:extLst>
              </a:tr>
              <a:tr h="438554"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Holistic Treaters </a:t>
                      </a:r>
                      <a:r>
                        <a:rPr kumimoji="1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(53%)</a:t>
                      </a:r>
                      <a:endParaRPr kumimoji="1" lang="en-IN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Innovators </a:t>
                      </a:r>
                      <a:r>
                        <a:rPr kumimoji="1" lang="en-IN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(50%</a:t>
                      </a:r>
                      <a:r>
                        <a:rPr kumimoji="1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|</a:t>
                      </a:r>
                      <a:r>
                        <a:rPr kumimoji="1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kumimoji="1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Holistic Treaters </a:t>
                      </a:r>
                      <a:r>
                        <a:rPr kumimoji="1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(40%)</a:t>
                      </a:r>
                      <a:endParaRPr kumimoji="1" lang="en-IN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Innovators </a:t>
                      </a:r>
                      <a:r>
                        <a:rPr kumimoji="1" lang="en-IN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(45%</a:t>
                      </a:r>
                      <a:r>
                        <a:rPr kumimoji="1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 |</a:t>
                      </a:r>
                      <a:r>
                        <a:rPr kumimoji="1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</a:t>
                      </a:r>
                      <a:br>
                        <a:rPr kumimoji="1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</a:br>
                      <a:r>
                        <a:rPr kumimoji="1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Holistic Treaters </a:t>
                      </a:r>
                      <a:r>
                        <a:rPr kumimoji="1" lang="en-US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(42%)</a:t>
                      </a:r>
                      <a:endParaRPr kumimoji="1" lang="en-IN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Innovators </a:t>
                      </a:r>
                      <a:r>
                        <a:rPr kumimoji="1" lang="en-IN" sz="105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(73%</a:t>
                      </a:r>
                      <a:r>
                        <a:rPr kumimoji="1" lang="en-US" sz="105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</a:t>
                      </a:r>
                      <a:endParaRPr kumimoji="1" lang="en-IN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Innovators </a:t>
                      </a:r>
                      <a:r>
                        <a:rPr lang="en-IN" sz="105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(75%</a:t>
                      </a:r>
                      <a:r>
                        <a:rPr lang="en-US" sz="105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en-IN" sz="1200" b="0" i="1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10687"/>
                  </a:ext>
                </a:extLst>
              </a:tr>
              <a:tr h="438554"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~3 pts/HCP receiving referrals vs market avg. &lt;2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~9 pts/HCP managed vs market avg. ~2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~12 pts/HCP managed vs market avg. ~2</a:t>
                      </a:r>
                      <a:endParaRPr kumimoji="1" lang="en-IN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~16 pts/HCP receiving NT diagnosis vs market avg. ~1</a:t>
                      </a:r>
                      <a:endParaRPr kumimoji="1" lang="en-IN" sz="1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1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IN" sz="11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~7 pts/HCP receiving NT treatments vs market avg. &lt;1</a:t>
                      </a:r>
                    </a:p>
                  </a:txBody>
                  <a:tcPr marT="434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18188"/>
                  </a:ext>
                </a:extLst>
              </a:tr>
            </a:tbl>
          </a:graphicData>
        </a:graphic>
      </p:graphicFrame>
      <p:sp>
        <p:nvSpPr>
          <p:cNvPr id="73" name="Rectangle 72">
            <a:extLst>
              <a:ext uri="{FF2B5EF4-FFF2-40B4-BE49-F238E27FC236}">
                <a16:creationId xmlns:a16="http://schemas.microsoft.com/office/drawing/2014/main" id="{4F61F82A-B052-8440-A6F0-8F89868C08A1}"/>
              </a:ext>
            </a:extLst>
          </p:cNvPr>
          <p:cNvSpPr/>
          <p:nvPr/>
        </p:nvSpPr>
        <p:spPr>
          <a:xfrm>
            <a:off x="606078" y="6417980"/>
            <a:ext cx="6507092" cy="266657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t"/>
          <a:lstStyle/>
          <a:p>
            <a:r>
              <a:rPr kumimoji="1" lang="en-US" sz="800"/>
              <a:t>* Amongst target list HCPs who are part of Referral Universe : N=7585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429FA32-D4B9-CF15-1A3E-F10D6A920181}"/>
              </a:ext>
            </a:extLst>
          </p:cNvPr>
          <p:cNvGrpSpPr/>
          <p:nvPr/>
        </p:nvGrpSpPr>
        <p:grpSpPr>
          <a:xfrm>
            <a:off x="1" y="4407635"/>
            <a:ext cx="1021976" cy="426894"/>
            <a:chOff x="-6266" y="3696091"/>
            <a:chExt cx="1707243" cy="568195"/>
          </a:xfrm>
        </p:grpSpPr>
        <p:sp>
          <p:nvSpPr>
            <p:cNvPr id="75" name="Title 1">
              <a:extLst>
                <a:ext uri="{FF2B5EF4-FFF2-40B4-BE49-F238E27FC236}">
                  <a16:creationId xmlns:a16="http://schemas.microsoft.com/office/drawing/2014/main" id="{7671ECD0-8D69-2221-471D-7ECB0F0CE5EE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6" name="Title 1">
              <a:extLst>
                <a:ext uri="{FF2B5EF4-FFF2-40B4-BE49-F238E27FC236}">
                  <a16:creationId xmlns:a16="http://schemas.microsoft.com/office/drawing/2014/main" id="{48630E26-E8F5-EA90-B181-437D6FC1B947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% of Target List Covered*</a:t>
              </a:r>
              <a:endParaRPr kumimoji="0" 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CA6EBBE-507F-6AED-FE92-AF7354C7790F}"/>
              </a:ext>
            </a:extLst>
          </p:cNvPr>
          <p:cNvGrpSpPr/>
          <p:nvPr/>
        </p:nvGrpSpPr>
        <p:grpSpPr>
          <a:xfrm>
            <a:off x="1" y="4858468"/>
            <a:ext cx="1021976" cy="426894"/>
            <a:chOff x="-6266" y="3696091"/>
            <a:chExt cx="1707243" cy="568195"/>
          </a:xfrm>
        </p:grpSpPr>
        <p:sp>
          <p:nvSpPr>
            <p:cNvPr id="78" name="Title 1">
              <a:extLst>
                <a:ext uri="{FF2B5EF4-FFF2-40B4-BE49-F238E27FC236}">
                  <a16:creationId xmlns:a16="http://schemas.microsoft.com/office/drawing/2014/main" id="{130972D2-A8C8-E1E2-84EA-AD147F74C8F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Title 1">
              <a:extLst>
                <a:ext uri="{FF2B5EF4-FFF2-40B4-BE49-F238E27FC236}">
                  <a16:creationId xmlns:a16="http://schemas.microsoft.com/office/drawing/2014/main" id="{39C9F1C5-0F0B-1F8D-DDCB-41970AAD520A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% of Decile 6-10 Covered*</a:t>
              </a:r>
              <a:endParaRPr kumimoji="0" lang="en-US" sz="11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553E8A-27FE-5512-13E7-B6894183D76B}"/>
              </a:ext>
            </a:extLst>
          </p:cNvPr>
          <p:cNvGrpSpPr/>
          <p:nvPr/>
        </p:nvGrpSpPr>
        <p:grpSpPr>
          <a:xfrm>
            <a:off x="1" y="5309301"/>
            <a:ext cx="1021976" cy="435475"/>
            <a:chOff x="-6266" y="3696091"/>
            <a:chExt cx="1707243" cy="568195"/>
          </a:xfrm>
        </p:grpSpPr>
        <p:sp>
          <p:nvSpPr>
            <p:cNvPr id="81" name="Title 1">
              <a:extLst>
                <a:ext uri="{FF2B5EF4-FFF2-40B4-BE49-F238E27FC236}">
                  <a16:creationId xmlns:a16="http://schemas.microsoft.com/office/drawing/2014/main" id="{D6F25D2F-C98C-F8E6-EC14-EEACEC5AFF6E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Title 1">
              <a:extLst>
                <a:ext uri="{FF2B5EF4-FFF2-40B4-BE49-F238E27FC236}">
                  <a16:creationId xmlns:a16="http://schemas.microsoft.com/office/drawing/2014/main" id="{37A38161-6F37-CB08-B153-1A1FD50BDF57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0" tIns="72000" rIns="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Primary Attitudinal Segment</a:t>
              </a:r>
              <a:endParaRPr kumimoji="0" lang="en-US" sz="9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34272D7-1553-FF25-3729-E1952990A4B1}"/>
              </a:ext>
            </a:extLst>
          </p:cNvPr>
          <p:cNvGrpSpPr/>
          <p:nvPr/>
        </p:nvGrpSpPr>
        <p:grpSpPr>
          <a:xfrm>
            <a:off x="1" y="5768715"/>
            <a:ext cx="1021976" cy="435475"/>
            <a:chOff x="-6266" y="3696091"/>
            <a:chExt cx="1707243" cy="568195"/>
          </a:xfrm>
        </p:grpSpPr>
        <p:sp>
          <p:nvSpPr>
            <p:cNvPr id="84" name="Title 1">
              <a:extLst>
                <a:ext uri="{FF2B5EF4-FFF2-40B4-BE49-F238E27FC236}">
                  <a16:creationId xmlns:a16="http://schemas.microsoft.com/office/drawing/2014/main" id="{BCE88A9D-00BA-30CA-3E7C-4B8574D8A8C1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696091"/>
              <a:ext cx="1460511" cy="568195"/>
            </a:xfrm>
            <a:prstGeom prst="homePlate">
              <a:avLst>
                <a:gd name="adj" fmla="val 12882"/>
              </a:avLst>
            </a:prstGeom>
            <a:solidFill>
              <a:schemeClr val="bg1">
                <a:lumMod val="85000"/>
              </a:schemeClr>
            </a:solidFill>
          </p:spPr>
          <p:txBody>
            <a:bodyPr vert="horz" lIns="72000" tIns="72000" rIns="7200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Title 1">
              <a:extLst>
                <a:ext uri="{FF2B5EF4-FFF2-40B4-BE49-F238E27FC236}">
                  <a16:creationId xmlns:a16="http://schemas.microsoft.com/office/drawing/2014/main" id="{C300C018-EB33-043A-7A28-FBDC568EBEB5}"/>
                </a:ext>
              </a:extLst>
            </p:cNvPr>
            <p:cNvSpPr txBox="1">
              <a:spLocks/>
            </p:cNvSpPr>
            <p:nvPr/>
          </p:nvSpPr>
          <p:spPr>
            <a:xfrm>
              <a:off x="-6266" y="3766741"/>
              <a:ext cx="1707243" cy="426894"/>
            </a:xfrm>
            <a:prstGeom prst="homePlate">
              <a:avLst>
                <a:gd name="adj" fmla="val 12882"/>
              </a:avLst>
            </a:prstGeom>
            <a:solidFill>
              <a:schemeClr val="tx1">
                <a:lumMod val="40000"/>
                <a:lumOff val="60000"/>
              </a:schemeClr>
            </a:solidFill>
          </p:spPr>
          <p:txBody>
            <a:bodyPr vert="horz" lIns="0" tIns="72000" rIns="0" bIns="72000" rtlCol="0" anchor="ctr">
              <a:no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200" b="1" kern="1200" baseline="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patient referral insights</a:t>
              </a:r>
              <a:endParaRPr kumimoji="0" lang="en-US" sz="9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Pentagon 3">
            <a:extLst>
              <a:ext uri="{FF2B5EF4-FFF2-40B4-BE49-F238E27FC236}">
                <a16:creationId xmlns:a16="http://schemas.microsoft.com/office/drawing/2014/main" id="{59186B3C-729C-B5EA-3476-AD3E01518759}"/>
              </a:ext>
            </a:extLst>
          </p:cNvPr>
          <p:cNvSpPr/>
          <p:nvPr/>
        </p:nvSpPr>
        <p:spPr>
          <a:xfrm>
            <a:off x="1344550" y="1913395"/>
            <a:ext cx="881859" cy="255203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200" i="1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(n=549)</a:t>
            </a:r>
            <a:endParaRPr kumimoji="0" lang="en-US" sz="1400" i="1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League Spartan" charset="0"/>
              <a:cs typeface="Poppins" pitchFamily="2" charset="77"/>
            </a:endParaRPr>
          </a:p>
        </p:txBody>
      </p:sp>
      <p:sp>
        <p:nvSpPr>
          <p:cNvPr id="10" name="Pentagon 3">
            <a:extLst>
              <a:ext uri="{FF2B5EF4-FFF2-40B4-BE49-F238E27FC236}">
                <a16:creationId xmlns:a16="http://schemas.microsoft.com/office/drawing/2014/main" id="{05139D5A-000D-F8EB-8965-ACB67A04CCEE}"/>
              </a:ext>
            </a:extLst>
          </p:cNvPr>
          <p:cNvSpPr/>
          <p:nvPr/>
        </p:nvSpPr>
        <p:spPr>
          <a:xfrm>
            <a:off x="3464197" y="1913395"/>
            <a:ext cx="881859" cy="255203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200" i="1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(n=1271)</a:t>
            </a:r>
            <a:endParaRPr kumimoji="0" lang="en-US" sz="1400" i="1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League Spartan" charset="0"/>
              <a:cs typeface="Poppins" pitchFamily="2" charset="77"/>
            </a:endParaRPr>
          </a:p>
        </p:txBody>
      </p:sp>
      <p:sp>
        <p:nvSpPr>
          <p:cNvPr id="11" name="Pentagon 3">
            <a:extLst>
              <a:ext uri="{FF2B5EF4-FFF2-40B4-BE49-F238E27FC236}">
                <a16:creationId xmlns:a16="http://schemas.microsoft.com/office/drawing/2014/main" id="{70F8B20F-106D-FD86-F5EC-E9AF53FE5C54}"/>
              </a:ext>
            </a:extLst>
          </p:cNvPr>
          <p:cNvSpPr/>
          <p:nvPr/>
        </p:nvSpPr>
        <p:spPr>
          <a:xfrm>
            <a:off x="5662079" y="1913395"/>
            <a:ext cx="881859" cy="255203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200" i="1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(n=280)</a:t>
            </a:r>
            <a:endParaRPr kumimoji="0" lang="en-US" sz="1400" i="1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League Spartan" charset="0"/>
              <a:cs typeface="Poppins" pitchFamily="2" charset="77"/>
            </a:endParaRPr>
          </a:p>
        </p:txBody>
      </p:sp>
      <p:sp>
        <p:nvSpPr>
          <p:cNvPr id="15" name="Pentagon 3">
            <a:extLst>
              <a:ext uri="{FF2B5EF4-FFF2-40B4-BE49-F238E27FC236}">
                <a16:creationId xmlns:a16="http://schemas.microsoft.com/office/drawing/2014/main" id="{943EDCC6-0B0A-40C1-EE3C-8A357E324E27}"/>
              </a:ext>
            </a:extLst>
          </p:cNvPr>
          <p:cNvSpPr/>
          <p:nvPr/>
        </p:nvSpPr>
        <p:spPr>
          <a:xfrm>
            <a:off x="7859959" y="1913395"/>
            <a:ext cx="881859" cy="255203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200" i="1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(n=717)</a:t>
            </a:r>
            <a:endParaRPr kumimoji="0" lang="en-US" sz="1400" i="1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League Spartan" charset="0"/>
              <a:cs typeface="Poppins" pitchFamily="2" charset="77"/>
            </a:endParaRPr>
          </a:p>
        </p:txBody>
      </p:sp>
      <p:sp>
        <p:nvSpPr>
          <p:cNvPr id="16" name="Pentagon 3">
            <a:extLst>
              <a:ext uri="{FF2B5EF4-FFF2-40B4-BE49-F238E27FC236}">
                <a16:creationId xmlns:a16="http://schemas.microsoft.com/office/drawing/2014/main" id="{CC7E3AC5-8C6B-46FE-22EF-A98656775A9A}"/>
              </a:ext>
            </a:extLst>
          </p:cNvPr>
          <p:cNvSpPr/>
          <p:nvPr/>
        </p:nvSpPr>
        <p:spPr>
          <a:xfrm>
            <a:off x="10057839" y="1913395"/>
            <a:ext cx="881859" cy="255203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1200" i="1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rPr>
              <a:t>(n=315)</a:t>
            </a:r>
            <a:endParaRPr kumimoji="0" lang="en-US" sz="1400" i="1" u="none" strike="noStrike" kern="1200" cap="none" spc="0" normalizeH="0" baseline="0" noProof="0">
              <a:ln>
                <a:noFill/>
              </a:ln>
              <a:solidFill>
                <a:srgbClr val="34373F"/>
              </a:solidFill>
              <a:effectLst/>
              <a:uLnTx/>
              <a:uFillTx/>
              <a:latin typeface="Calibri" panose="020F0502020204030204"/>
              <a:ea typeface="League Spartan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4756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73143-31CD-BF9A-D6A1-54E67DAE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2071E-D3A6-D8E9-0CA6-0EE82B1B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NT referral activity is geographically concentrated in the Southeast and mid-Atlantic, but high volume does not always signal a well-connected network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5C9318-E530-19CB-BB47-7E3B9EF5B1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56"/>
          <a:stretch>
            <a:fillRect/>
          </a:stretch>
        </p:blipFill>
        <p:spPr>
          <a:xfrm>
            <a:off x="292168" y="1306528"/>
            <a:ext cx="5753032" cy="31232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53F8C1B-0A59-2444-66DD-72C1DB6C26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00"/>
          <a:stretch>
            <a:fillRect/>
          </a:stretch>
        </p:blipFill>
        <p:spPr>
          <a:xfrm>
            <a:off x="5797078" y="1349421"/>
            <a:ext cx="5635267" cy="3123232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B3D6E8-B408-25AA-D703-34E81326AC56}"/>
              </a:ext>
            </a:extLst>
          </p:cNvPr>
          <p:cNvSpPr/>
          <p:nvPr/>
        </p:nvSpPr>
        <p:spPr>
          <a:xfrm>
            <a:off x="1117" y="5586303"/>
            <a:ext cx="12190881" cy="1271689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OH is the single most active referral hub in the country with HCPs referring and rendering activity, followed by MI, PA and NY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The Southeast corridor (VA, TN, GA, NC, SC, FL) shows consistently elevated activity across both metrics indicating regional clusters with more structured referral activities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3448058-1738-09F5-2035-E5771F8E5DF3}"/>
              </a:ext>
            </a:extLst>
          </p:cNvPr>
          <p:cNvGrpSpPr/>
          <p:nvPr/>
        </p:nvGrpSpPr>
        <p:grpSpPr>
          <a:xfrm>
            <a:off x="1113" y="5280485"/>
            <a:ext cx="5795965" cy="319265"/>
            <a:chOff x="0" y="2140992"/>
            <a:chExt cx="2880042" cy="34718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444179F-C018-C7D7-0930-41643682993B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9776AAF-9244-4959-252C-E795675F118A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3847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7F6E5-D073-129C-588C-A407FF31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5DD8-827E-43E6-F102-27307866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Michigan, Pennsylvania, and Ohio form the structural backbone of the NT referral network, where engagement has the highest systemic leverage beyond raw volume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8F7EF-F034-FD53-059F-E0855EDAB1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" r="31285" b="729"/>
          <a:stretch>
            <a:fillRect/>
          </a:stretch>
        </p:blipFill>
        <p:spPr>
          <a:xfrm>
            <a:off x="259878" y="1284143"/>
            <a:ext cx="5547360" cy="329161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9E147DE-0B8F-54CD-4657-1F9C43D89B2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79"/>
          <a:stretch>
            <a:fillRect/>
          </a:stretch>
        </p:blipFill>
        <p:spPr>
          <a:xfrm>
            <a:off x="5977449" y="1287996"/>
            <a:ext cx="6003114" cy="329160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4BBD3D-B737-90A1-A8B4-E1075BB91798}"/>
              </a:ext>
            </a:extLst>
          </p:cNvPr>
          <p:cNvSpPr/>
          <p:nvPr/>
        </p:nvSpPr>
        <p:spPr>
          <a:xfrm>
            <a:off x="1117" y="5586303"/>
            <a:ext cx="12190881" cy="1271689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FL and CA shows strong indegree and outdegree consistent with specialist concentration, but the network influence metrics indicate a lack of establish referral pattern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MI, PA and OH show strongest signal of a mature, trusted referral network with most critical bridges and high-quality inflow making them most structurally complete market in the country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70B46E-B9BD-A9B6-5117-15D740966A59}"/>
              </a:ext>
            </a:extLst>
          </p:cNvPr>
          <p:cNvGrpSpPr/>
          <p:nvPr/>
        </p:nvGrpSpPr>
        <p:grpSpPr>
          <a:xfrm>
            <a:off x="1113" y="5280485"/>
            <a:ext cx="5795965" cy="319265"/>
            <a:chOff x="0" y="2140992"/>
            <a:chExt cx="2880042" cy="3471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CB45BF-5E73-815B-2C52-4B01868356EF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3C3A4E6-2435-0A12-42B5-88B29EB5F496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17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666E-7D7E-1F4C-32AF-F871F09D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DDFF-A4E0-74B6-71B2-09B65A823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NT referral communities are defined by relationships, not institutions as HCPs consistently refer within their behavioral network regardless of where they practice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16F11F-F740-9B67-8405-5D8D3E2781C7}"/>
              </a:ext>
            </a:extLst>
          </p:cNvPr>
          <p:cNvGrpSpPr/>
          <p:nvPr/>
        </p:nvGrpSpPr>
        <p:grpSpPr>
          <a:xfrm>
            <a:off x="4480733" y="1601584"/>
            <a:ext cx="2062535" cy="1344176"/>
            <a:chOff x="656630" y="3472821"/>
            <a:chExt cx="2062535" cy="1383909"/>
          </a:xfrm>
        </p:grpSpPr>
        <p:sp>
          <p:nvSpPr>
            <p:cNvPr id="4" name="Pentagon 3">
              <a:extLst>
                <a:ext uri="{FF2B5EF4-FFF2-40B4-BE49-F238E27FC236}">
                  <a16:creationId xmlns:a16="http://schemas.microsoft.com/office/drawing/2014/main" id="{CFD2B5E9-17A5-E446-A18F-76A59AD643BC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6,174</a:t>
              </a:r>
            </a:p>
            <a:p>
              <a:pPr algn="ctr"/>
              <a:r>
                <a:rPr kumimoji="0" lang="en-US" sz="140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Total HCP Clusters</a:t>
              </a:r>
            </a:p>
            <a:p>
              <a:pPr algn="ctr"/>
              <a:endParaRPr lang="en-US" sz="1400" i="1">
                <a:solidFill>
                  <a:srgbClr val="34373F"/>
                </a:solidFill>
                <a:latin typeface="Calibri" panose="020F0502020204030204"/>
                <a:ea typeface="League Spartan" charset="0"/>
                <a:cs typeface="Poppins" pitchFamily="2" charset="77"/>
              </a:endParaRPr>
            </a:p>
            <a:p>
              <a:pPr algn="ctr"/>
              <a:r>
                <a:rPr kumimoji="0" lang="en-US" sz="110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Communities with 3 or more HCPs exchanging the referrals primarily amongst themselves</a:t>
              </a:r>
              <a:endParaRPr kumimoji="0" lang="en-US" sz="105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9601D27C-D707-9BD4-EDD2-386D853F11DF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F8D9350-F151-5602-D500-30AB6B3BC5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8114307"/>
              </p:ext>
            </p:extLst>
          </p:nvPr>
        </p:nvGraphicFramePr>
        <p:xfrm>
          <a:off x="661212" y="1600200"/>
          <a:ext cx="2589831" cy="3364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9D1745-319D-AF66-E698-869DF73357AD}"/>
              </a:ext>
            </a:extLst>
          </p:cNvPr>
          <p:cNvSpPr/>
          <p:nvPr/>
        </p:nvSpPr>
        <p:spPr>
          <a:xfrm>
            <a:off x="600076" y="5248656"/>
            <a:ext cx="2712103" cy="1241044"/>
          </a:xfrm>
          <a:prstGeom prst="roundRect">
            <a:avLst>
              <a:gd name="adj" fmla="val 6554"/>
            </a:avLst>
          </a:prstGeom>
          <a:solidFill>
            <a:schemeClr val="accent1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algn="ctr"/>
            <a:r>
              <a:rPr kumimoji="1" lang="en-US" sz="1200">
                <a:solidFill>
                  <a:schemeClr val="bg1"/>
                </a:solidFill>
              </a:rPr>
              <a:t>Only 26% of the referrals are within the same corporate account, indicating cross-institutional communities participating in referrals</a:t>
            </a:r>
          </a:p>
          <a:p>
            <a:pPr algn="ctr"/>
            <a:r>
              <a:rPr kumimoji="1" lang="en-US" sz="1200">
                <a:solidFill>
                  <a:schemeClr val="bg1"/>
                </a:solidFill>
              </a:rPr>
              <a:t>Identifying these communities requires uncovering HCP clusters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852AE5-F4FB-3459-F6FB-39AABC04BD69}"/>
              </a:ext>
            </a:extLst>
          </p:cNvPr>
          <p:cNvGrpSpPr/>
          <p:nvPr/>
        </p:nvGrpSpPr>
        <p:grpSpPr>
          <a:xfrm>
            <a:off x="0" y="1064170"/>
            <a:ext cx="3312180" cy="319265"/>
            <a:chOff x="0" y="2140992"/>
            <a:chExt cx="2880042" cy="34718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01C099-F564-A514-B17C-94ABD36032D9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508670A-3E3B-16C0-EDC3-CE454D5398E0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Referral activity concentration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0EB1A3A-A123-7E24-14D2-1ABF5781CA26}"/>
              </a:ext>
            </a:extLst>
          </p:cNvPr>
          <p:cNvGrpSpPr/>
          <p:nvPr/>
        </p:nvGrpSpPr>
        <p:grpSpPr>
          <a:xfrm>
            <a:off x="4476122" y="1064170"/>
            <a:ext cx="3312181" cy="319265"/>
            <a:chOff x="0" y="2140992"/>
            <a:chExt cx="2880042" cy="34718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AFF68F-A2E8-8E7E-1404-281AAA5287DB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2F1EA34-1301-DEF9-E5DA-706B1E6F282C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kern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Identifying the underlying clusters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4A473F-B085-1890-961F-3B0D1CDAC455}"/>
              </a:ext>
            </a:extLst>
          </p:cNvPr>
          <p:cNvGrpSpPr/>
          <p:nvPr/>
        </p:nvGrpSpPr>
        <p:grpSpPr>
          <a:xfrm>
            <a:off x="7155081" y="1601584"/>
            <a:ext cx="2062535" cy="1344176"/>
            <a:chOff x="656630" y="3472821"/>
            <a:chExt cx="2062535" cy="1383909"/>
          </a:xfrm>
        </p:grpSpPr>
        <p:sp>
          <p:nvSpPr>
            <p:cNvPr id="23" name="Pentagon 3">
              <a:extLst>
                <a:ext uri="{FF2B5EF4-FFF2-40B4-BE49-F238E27FC236}">
                  <a16:creationId xmlns:a16="http://schemas.microsoft.com/office/drawing/2014/main" id="{919EC5B8-E663-7B4B-4653-60D4EE0E1506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548</a:t>
              </a:r>
            </a:p>
            <a:p>
              <a:pPr algn="ctr"/>
              <a:r>
                <a:rPr kumimoji="0" lang="en-US" sz="140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Self-sustained HCP HUBs</a:t>
              </a:r>
            </a:p>
            <a:p>
              <a:pPr algn="ctr"/>
              <a:endParaRPr lang="en-US" sz="200" i="1">
                <a:solidFill>
                  <a:srgbClr val="34373F"/>
                </a:solidFill>
                <a:latin typeface="Calibri" panose="020F0502020204030204"/>
                <a:ea typeface="League Spartan" charset="0"/>
                <a:cs typeface="Poppins" pitchFamily="2" charset="77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Communities with 1-2 HCPs managing 2+ patients and diagnosing or treating more than 67% of them</a:t>
              </a: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24" name="Pentagon 3">
              <a:extLst>
                <a:ext uri="{FF2B5EF4-FFF2-40B4-BE49-F238E27FC236}">
                  <a16:creationId xmlns:a16="http://schemas.microsoft.com/office/drawing/2014/main" id="{533185A8-1BDA-196B-AB6C-FE37CD35895B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D9D8C8-95CD-54AC-2E8B-0AB75EEE493A}"/>
              </a:ext>
            </a:extLst>
          </p:cNvPr>
          <p:cNvGrpSpPr/>
          <p:nvPr/>
        </p:nvGrpSpPr>
        <p:grpSpPr>
          <a:xfrm>
            <a:off x="9829428" y="1601584"/>
            <a:ext cx="2062535" cy="1344176"/>
            <a:chOff x="656630" y="3472821"/>
            <a:chExt cx="2062535" cy="1383909"/>
          </a:xfrm>
        </p:grpSpPr>
        <p:sp>
          <p:nvSpPr>
            <p:cNvPr id="26" name="Pentagon 3">
              <a:extLst>
                <a:ext uri="{FF2B5EF4-FFF2-40B4-BE49-F238E27FC236}">
                  <a16:creationId xmlns:a16="http://schemas.microsoft.com/office/drawing/2014/main" id="{4A5AA76B-22AE-E508-3276-57EFF45E808D}"/>
                </a:ext>
              </a:extLst>
            </p:cNvPr>
            <p:cNvSpPr/>
            <p:nvPr/>
          </p:nvSpPr>
          <p:spPr>
            <a:xfrm>
              <a:off x="656631" y="3472821"/>
              <a:ext cx="2062534" cy="1383909"/>
            </a:xfrm>
            <a:prstGeom prst="roundRect">
              <a:avLst>
                <a:gd name="adj" fmla="val 5311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4,871</a:t>
              </a:r>
            </a:p>
            <a:p>
              <a:pPr algn="ctr"/>
              <a:r>
                <a:rPr kumimoji="0" lang="en-US" sz="1400" i="1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Standalone HCPs cohorts</a:t>
              </a:r>
            </a:p>
            <a:p>
              <a:pPr algn="ctr"/>
              <a:endParaRPr lang="en-US" sz="1400" i="1">
                <a:solidFill>
                  <a:srgbClr val="34373F"/>
                </a:solidFill>
                <a:latin typeface="Calibri" panose="020F0502020204030204"/>
                <a:ea typeface="League Spartan" charset="0"/>
                <a:cs typeface="Poppins" pitchFamily="2" charset="77"/>
              </a:endParaRPr>
            </a:p>
            <a:p>
              <a:pPr algn="ctr"/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34373F"/>
                  </a:solidFill>
                  <a:effectLst/>
                  <a:uLnTx/>
                  <a:uFillTx/>
                  <a:latin typeface="Calibri" panose="020F0502020204030204"/>
                  <a:ea typeface="League Spartan" charset="0"/>
                  <a:cs typeface="Poppins" pitchFamily="2" charset="77"/>
                </a:rPr>
                <a:t>1-2 connected HCPs with no prominent referral or treatment activity</a:t>
              </a:r>
              <a:endParaRPr kumimoji="0" lang="en-US" sz="1400" i="1" u="none" strike="noStrike" kern="1200" cap="none" spc="0" normalizeH="0" baseline="0" noProof="0">
                <a:ln>
                  <a:noFill/>
                </a:ln>
                <a:solidFill>
                  <a:srgbClr val="34373F"/>
                </a:solidFill>
                <a:effectLst/>
                <a:uLnTx/>
                <a:uFillTx/>
                <a:latin typeface="Calibri" panose="020F0502020204030204"/>
                <a:ea typeface="League Spartan" charset="0"/>
                <a:cs typeface="Poppins" pitchFamily="2" charset="77"/>
              </a:endParaRPr>
            </a:p>
          </p:txBody>
        </p:sp>
        <p:sp>
          <p:nvSpPr>
            <p:cNvPr id="27" name="Pentagon 3">
              <a:extLst>
                <a:ext uri="{FF2B5EF4-FFF2-40B4-BE49-F238E27FC236}">
                  <a16:creationId xmlns:a16="http://schemas.microsoft.com/office/drawing/2014/main" id="{301A7694-6B6A-0B97-414B-75FBE9524CAE}"/>
                </a:ext>
              </a:extLst>
            </p:cNvPr>
            <p:cNvSpPr/>
            <p:nvPr/>
          </p:nvSpPr>
          <p:spPr>
            <a:xfrm>
              <a:off x="656630" y="3472821"/>
              <a:ext cx="45719" cy="13839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noProof="0">
                <a:solidFill>
                  <a:schemeClr val="bg1"/>
                </a:solidFill>
                <a:latin typeface="+mj-lt"/>
                <a:ea typeface="League Spartan" charset="0"/>
                <a:cs typeface="Poppins" pitchFamily="2" charset="77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7EFE6-8F8D-0DBC-BB8B-EEFE402323B6}"/>
              </a:ext>
            </a:extLst>
          </p:cNvPr>
          <p:cNvSpPr/>
          <p:nvPr/>
        </p:nvSpPr>
        <p:spPr>
          <a:xfrm>
            <a:off x="4476122" y="3456701"/>
            <a:ext cx="7713336" cy="222972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B76AE13-83F6-E870-5FAC-E35CAFB69BC9}"/>
              </a:ext>
            </a:extLst>
          </p:cNvPr>
          <p:cNvGrpSpPr/>
          <p:nvPr/>
        </p:nvGrpSpPr>
        <p:grpSpPr>
          <a:xfrm>
            <a:off x="3999431" y="1233488"/>
            <a:ext cx="264669" cy="5500687"/>
            <a:chOff x="3999431" y="1233488"/>
            <a:chExt cx="264669" cy="550068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CA1F243-800D-0204-B24D-BC5869CD8654}"/>
                </a:ext>
              </a:extLst>
            </p:cNvPr>
            <p:cNvCxnSpPr>
              <a:cxnSpLocks/>
            </p:cNvCxnSpPr>
            <p:nvPr/>
          </p:nvCxnSpPr>
          <p:spPr>
            <a:xfrm>
              <a:off x="4131772" y="1233488"/>
              <a:ext cx="0" cy="5500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A5B222E-8EF2-AAB2-144E-E98790791A33}"/>
                </a:ext>
              </a:extLst>
            </p:cNvPr>
            <p:cNvGrpSpPr/>
            <p:nvPr/>
          </p:nvGrpSpPr>
          <p:grpSpPr>
            <a:xfrm>
              <a:off x="3999431" y="3872611"/>
              <a:ext cx="264669" cy="222441"/>
              <a:chOff x="3790950" y="3711384"/>
              <a:chExt cx="567344" cy="222441"/>
            </a:xfrm>
          </p:grpSpPr>
          <p:sp>
            <p:nvSpPr>
              <p:cNvPr id="33" name="Arrow: Chevron 32">
                <a:extLst>
                  <a:ext uri="{FF2B5EF4-FFF2-40B4-BE49-F238E27FC236}">
                    <a16:creationId xmlns:a16="http://schemas.microsoft.com/office/drawing/2014/main" id="{6690E29D-25EB-608F-D5DF-A0A08AE5751A}"/>
                  </a:ext>
                </a:extLst>
              </p:cNvPr>
              <p:cNvSpPr/>
              <p:nvPr/>
            </p:nvSpPr>
            <p:spPr>
              <a:xfrm>
                <a:off x="3790950" y="3711384"/>
                <a:ext cx="222441" cy="222441"/>
              </a:xfrm>
              <a:prstGeom prst="chevron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Arrow: Chevron 33">
                <a:extLst>
                  <a:ext uri="{FF2B5EF4-FFF2-40B4-BE49-F238E27FC236}">
                    <a16:creationId xmlns:a16="http://schemas.microsoft.com/office/drawing/2014/main" id="{62C4CC7F-02F5-4B79-5415-65BDEBADD015}"/>
                  </a:ext>
                </a:extLst>
              </p:cNvPr>
              <p:cNvSpPr/>
              <p:nvPr/>
            </p:nvSpPr>
            <p:spPr>
              <a:xfrm>
                <a:off x="3957638" y="3711384"/>
                <a:ext cx="222441" cy="222441"/>
              </a:xfrm>
              <a:prstGeom prst="chevron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Arrow: Chevron 34">
                <a:extLst>
                  <a:ext uri="{FF2B5EF4-FFF2-40B4-BE49-F238E27FC236}">
                    <a16:creationId xmlns:a16="http://schemas.microsoft.com/office/drawing/2014/main" id="{E93574D3-65A5-B2E0-7965-BD40784DAAB8}"/>
                  </a:ext>
                </a:extLst>
              </p:cNvPr>
              <p:cNvSpPr/>
              <p:nvPr/>
            </p:nvSpPr>
            <p:spPr>
              <a:xfrm>
                <a:off x="4135853" y="3711384"/>
                <a:ext cx="222441" cy="222441"/>
              </a:xfrm>
              <a:prstGeom prst="chevron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186CF39-D615-99D3-96A0-0CC155F4924B}"/>
              </a:ext>
            </a:extLst>
          </p:cNvPr>
          <p:cNvSpPr/>
          <p:nvPr/>
        </p:nvSpPr>
        <p:spPr>
          <a:xfrm>
            <a:off x="4626871" y="3666250"/>
            <a:ext cx="7265092" cy="1934450"/>
          </a:xfrm>
          <a:prstGeom prst="roundRect">
            <a:avLst>
              <a:gd name="adj" fmla="val 28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Patients are not being systematically funneled toward high-expertise centers. Instead, wherever a patient lands, a micro-community of HCPs manages them in isolation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99% of identified HCP clusters contain the majority of their referral activity within the community. Confirming that </a:t>
            </a:r>
            <a:r>
              <a:rPr lang="en-US" sz="1200" b="1">
                <a:solidFill>
                  <a:schemeClr val="accent1"/>
                </a:solidFill>
                <a:cs typeface="Arial" panose="020B0604020202020204" pitchFamily="34" charset="0"/>
              </a:rPr>
              <a:t>referral behavior in NT market is governed by established HCP relationships, not institutional proximity or affiliation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With ~5 patients per cluster, individual HCPs never accumulate sufficient NT patient volume to become confident specialists, which could potentially perpetuate misdiagnosis, diagnostic delay, and suboptimal treatment decisions at the community level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2115AE0-F36D-296C-634F-769FAF0947AD}"/>
              </a:ext>
            </a:extLst>
          </p:cNvPr>
          <p:cNvGrpSpPr/>
          <p:nvPr/>
        </p:nvGrpSpPr>
        <p:grpSpPr>
          <a:xfrm>
            <a:off x="4480733" y="3289836"/>
            <a:ext cx="3312181" cy="319265"/>
            <a:chOff x="0" y="2140992"/>
            <a:chExt cx="2880042" cy="34718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22DF6D0-B0B0-3F7F-2ED8-4EED7FDDAC87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99F30C3-493A-134D-4A24-AEDFAF05CFA4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3145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9835-0B57-3D59-A2B0-61DC968F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90E3-6538-2490-43CD-74407187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328622" cy="685801"/>
          </a:xfrm>
        </p:spPr>
        <p:txBody>
          <a:bodyPr>
            <a:noAutofit/>
          </a:bodyPr>
          <a:lstStyle/>
          <a:p>
            <a:r>
              <a:rPr lang="en-US" sz="2000" spc="-40">
                <a:latin typeface="Calibri"/>
                <a:ea typeface="メイリオ"/>
                <a:cs typeface="Calibri"/>
              </a:rPr>
              <a:t>The majority of NT referral clusters are small, PCP-led communities with near-zero overlap with current target lists, indicating that most NT patient management is occurring below the commercial radar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416F79-CF82-A512-3644-C78E9A2A13F0}"/>
              </a:ext>
            </a:extLst>
          </p:cNvPr>
          <p:cNvGrpSpPr/>
          <p:nvPr/>
        </p:nvGrpSpPr>
        <p:grpSpPr>
          <a:xfrm>
            <a:off x="0" y="1064170"/>
            <a:ext cx="3312181" cy="319265"/>
            <a:chOff x="0" y="2140992"/>
            <a:chExt cx="2880042" cy="34718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35C463-42AD-531F-3CD7-64DBACB20129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940C8F-84F6-EB22-3C0A-025488A892A5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Cluster Profiling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03B96D7-8DC9-97F3-75A1-AA0749C2B9A5}"/>
              </a:ext>
            </a:extLst>
          </p:cNvPr>
          <p:cNvGrpSpPr/>
          <p:nvPr/>
        </p:nvGrpSpPr>
        <p:grpSpPr>
          <a:xfrm>
            <a:off x="-2353" y="4216151"/>
            <a:ext cx="3395611" cy="2717208"/>
            <a:chOff x="4512495" y="3270060"/>
            <a:chExt cx="3395611" cy="271720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99479EC-EC5F-2D79-9BF7-D5958881FFDF}"/>
                </a:ext>
              </a:extLst>
            </p:cNvPr>
            <p:cNvSpPr/>
            <p:nvPr/>
          </p:nvSpPr>
          <p:spPr>
            <a:xfrm>
              <a:off x="5128176" y="3270060"/>
              <a:ext cx="2164249" cy="38366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1200" b="1"/>
                <a:t>Target List Constitution Within Clusters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E3E0BED-2C54-BD3B-9DBF-7A6CF2601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12495" y="3599145"/>
              <a:ext cx="3395611" cy="2388123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2A7C13-BCC0-1A44-E7B1-684B46FD3BAE}"/>
              </a:ext>
            </a:extLst>
          </p:cNvPr>
          <p:cNvGrpSpPr/>
          <p:nvPr/>
        </p:nvGrpSpPr>
        <p:grpSpPr>
          <a:xfrm>
            <a:off x="-16524" y="1500720"/>
            <a:ext cx="3328704" cy="2699239"/>
            <a:chOff x="8567803" y="3270060"/>
            <a:chExt cx="3328704" cy="269923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8F92AC2-2514-35FA-A806-8568BB0D7703}"/>
                </a:ext>
              </a:extLst>
            </p:cNvPr>
            <p:cNvSpPr/>
            <p:nvPr/>
          </p:nvSpPr>
          <p:spPr>
            <a:xfrm>
              <a:off x="9150031" y="3270060"/>
              <a:ext cx="2164249" cy="38366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en-US" sz="1200" b="1"/>
                <a:t>NT Patients Managed Across Clusters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CF2F559-980D-CF67-7679-E84013098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7803" y="3628232"/>
              <a:ext cx="3328704" cy="2341067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0FA01D-980B-F6F6-EBDF-86A42C3EA200}"/>
              </a:ext>
            </a:extLst>
          </p:cNvPr>
          <p:cNvGrpSpPr/>
          <p:nvPr/>
        </p:nvGrpSpPr>
        <p:grpSpPr>
          <a:xfrm>
            <a:off x="3629739" y="1352391"/>
            <a:ext cx="264669" cy="2776292"/>
            <a:chOff x="3999431" y="1233488"/>
            <a:chExt cx="264669" cy="550068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9E1C884-9096-39C7-69F7-6C41A1C677D9}"/>
                </a:ext>
              </a:extLst>
            </p:cNvPr>
            <p:cNvCxnSpPr>
              <a:cxnSpLocks/>
            </p:cNvCxnSpPr>
            <p:nvPr/>
          </p:nvCxnSpPr>
          <p:spPr>
            <a:xfrm>
              <a:off x="4131772" y="1233488"/>
              <a:ext cx="0" cy="5500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F029B07-48F6-FF79-6C62-0F771888DD65}"/>
                </a:ext>
              </a:extLst>
            </p:cNvPr>
            <p:cNvGrpSpPr/>
            <p:nvPr/>
          </p:nvGrpSpPr>
          <p:grpSpPr>
            <a:xfrm>
              <a:off x="3999431" y="3872611"/>
              <a:ext cx="264669" cy="222441"/>
              <a:chOff x="3790950" y="3711384"/>
              <a:chExt cx="567344" cy="222441"/>
            </a:xfrm>
          </p:grpSpPr>
          <p:sp>
            <p:nvSpPr>
              <p:cNvPr id="13" name="Arrow: Chevron 12">
                <a:extLst>
                  <a:ext uri="{FF2B5EF4-FFF2-40B4-BE49-F238E27FC236}">
                    <a16:creationId xmlns:a16="http://schemas.microsoft.com/office/drawing/2014/main" id="{70B7AB52-8EB5-0BF2-4124-5CF0F477F5AC}"/>
                  </a:ext>
                </a:extLst>
              </p:cNvPr>
              <p:cNvSpPr/>
              <p:nvPr/>
            </p:nvSpPr>
            <p:spPr>
              <a:xfrm>
                <a:off x="3790950" y="3711384"/>
                <a:ext cx="222441" cy="222441"/>
              </a:xfrm>
              <a:prstGeom prst="chevron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Arrow: Chevron 13">
                <a:extLst>
                  <a:ext uri="{FF2B5EF4-FFF2-40B4-BE49-F238E27FC236}">
                    <a16:creationId xmlns:a16="http://schemas.microsoft.com/office/drawing/2014/main" id="{A66BFCDA-9641-5880-2705-D183B10E1B70}"/>
                  </a:ext>
                </a:extLst>
              </p:cNvPr>
              <p:cNvSpPr/>
              <p:nvPr/>
            </p:nvSpPr>
            <p:spPr>
              <a:xfrm>
                <a:off x="3957638" y="3711384"/>
                <a:ext cx="222441" cy="222441"/>
              </a:xfrm>
              <a:prstGeom prst="chevron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Arrow: Chevron 14">
                <a:extLst>
                  <a:ext uri="{FF2B5EF4-FFF2-40B4-BE49-F238E27FC236}">
                    <a16:creationId xmlns:a16="http://schemas.microsoft.com/office/drawing/2014/main" id="{7D7A3BF8-314C-6D0D-278A-2393FADD71D5}"/>
                  </a:ext>
                </a:extLst>
              </p:cNvPr>
              <p:cNvSpPr/>
              <p:nvPr/>
            </p:nvSpPr>
            <p:spPr>
              <a:xfrm>
                <a:off x="4135853" y="3711384"/>
                <a:ext cx="222441" cy="222441"/>
              </a:xfrm>
              <a:prstGeom prst="chevron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F066CA-783E-9059-3F68-3CF34A929F0E}"/>
              </a:ext>
            </a:extLst>
          </p:cNvPr>
          <p:cNvGrpSpPr/>
          <p:nvPr/>
        </p:nvGrpSpPr>
        <p:grpSpPr>
          <a:xfrm>
            <a:off x="7662387" y="1352391"/>
            <a:ext cx="264669" cy="2776292"/>
            <a:chOff x="3999431" y="1233488"/>
            <a:chExt cx="264669" cy="550068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5D51D9-2B36-1CE5-C225-D9A4B61AB7C2}"/>
                </a:ext>
              </a:extLst>
            </p:cNvPr>
            <p:cNvCxnSpPr>
              <a:cxnSpLocks/>
            </p:cNvCxnSpPr>
            <p:nvPr/>
          </p:nvCxnSpPr>
          <p:spPr>
            <a:xfrm>
              <a:off x="4131772" y="1233488"/>
              <a:ext cx="0" cy="5500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A86D31A-79A1-0017-1213-55529C0C4AE9}"/>
                </a:ext>
              </a:extLst>
            </p:cNvPr>
            <p:cNvGrpSpPr/>
            <p:nvPr/>
          </p:nvGrpSpPr>
          <p:grpSpPr>
            <a:xfrm>
              <a:off x="3999431" y="3872611"/>
              <a:ext cx="264669" cy="222441"/>
              <a:chOff x="3790950" y="3711384"/>
              <a:chExt cx="567344" cy="222441"/>
            </a:xfrm>
          </p:grpSpPr>
          <p:sp>
            <p:nvSpPr>
              <p:cNvPr id="39" name="Arrow: Chevron 38">
                <a:extLst>
                  <a:ext uri="{FF2B5EF4-FFF2-40B4-BE49-F238E27FC236}">
                    <a16:creationId xmlns:a16="http://schemas.microsoft.com/office/drawing/2014/main" id="{6E5011AB-147F-70B7-76C6-64B5F2B5F7E9}"/>
                  </a:ext>
                </a:extLst>
              </p:cNvPr>
              <p:cNvSpPr/>
              <p:nvPr/>
            </p:nvSpPr>
            <p:spPr>
              <a:xfrm>
                <a:off x="3790950" y="3711384"/>
                <a:ext cx="222441" cy="222441"/>
              </a:xfrm>
              <a:prstGeom prst="chevron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Arrow: Chevron 39">
                <a:extLst>
                  <a:ext uri="{FF2B5EF4-FFF2-40B4-BE49-F238E27FC236}">
                    <a16:creationId xmlns:a16="http://schemas.microsoft.com/office/drawing/2014/main" id="{2603144C-E63E-DC19-26EE-CC1403DD032B}"/>
                  </a:ext>
                </a:extLst>
              </p:cNvPr>
              <p:cNvSpPr/>
              <p:nvPr/>
            </p:nvSpPr>
            <p:spPr>
              <a:xfrm>
                <a:off x="3957638" y="3711384"/>
                <a:ext cx="222441" cy="222441"/>
              </a:xfrm>
              <a:prstGeom prst="chevron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Arrow: Chevron 40">
                <a:extLst>
                  <a:ext uri="{FF2B5EF4-FFF2-40B4-BE49-F238E27FC236}">
                    <a16:creationId xmlns:a16="http://schemas.microsoft.com/office/drawing/2014/main" id="{A57C735D-7F37-B160-0331-4D7DFD4518A5}"/>
                  </a:ext>
                </a:extLst>
              </p:cNvPr>
              <p:cNvSpPr/>
              <p:nvPr/>
            </p:nvSpPr>
            <p:spPr>
              <a:xfrm>
                <a:off x="4135853" y="3711384"/>
                <a:ext cx="222441" cy="222441"/>
              </a:xfrm>
              <a:prstGeom prst="chevron">
                <a:avLst/>
              </a:prstGeom>
              <a:solidFill>
                <a:schemeClr val="accent1"/>
              </a:solidFill>
              <a:ln w="2857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rtlCol="0" anchor="ctr"/>
              <a:lstStyle/>
              <a:p>
                <a:pPr algn="ctr"/>
                <a:endParaRPr kumimoji="1" lang="en-US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76F304C9-2031-F6EC-3512-C28A7ADF0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96224"/>
              </p:ext>
            </p:extLst>
          </p:nvPr>
        </p:nvGraphicFramePr>
        <p:xfrm>
          <a:off x="8410409" y="1905000"/>
          <a:ext cx="3540769" cy="207656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33046">
                  <a:extLst>
                    <a:ext uri="{9D8B030D-6E8A-4147-A177-3AD203B41FA5}">
                      <a16:colId xmlns:a16="http://schemas.microsoft.com/office/drawing/2014/main" val="1478024431"/>
                    </a:ext>
                  </a:extLst>
                </a:gridCol>
                <a:gridCol w="2407723">
                  <a:extLst>
                    <a:ext uri="{9D8B030D-6E8A-4147-A177-3AD203B41FA5}">
                      <a16:colId xmlns:a16="http://schemas.microsoft.com/office/drawing/2014/main" val="1993261961"/>
                    </a:ext>
                  </a:extLst>
                </a:gridCol>
              </a:tblGrid>
              <a:tr h="1771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+mn-lt"/>
                        </a:rPr>
                        <a:t>State Code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259" marR="3259" marT="39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% of Clusters Covered</a:t>
                      </a:r>
                    </a:p>
                  </a:txBody>
                  <a:tcPr marL="3259" marR="3259" marT="3943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401961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TX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32376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CA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89483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FL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939617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OH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6%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130792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NY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841269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MI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563923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PA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35077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NC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14941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IN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28451"/>
                  </a:ext>
                </a:extLst>
              </a:tr>
              <a:tr h="1889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TN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87" marR="4887" marT="5914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083065"/>
                  </a:ext>
                </a:extLst>
              </a:tr>
            </a:tbl>
          </a:graphicData>
        </a:graphic>
      </p:graphicFrame>
      <p:graphicFrame>
        <p:nvGraphicFramePr>
          <p:cNvPr id="49" name="Chart 48">
            <a:extLst>
              <a:ext uri="{FF2B5EF4-FFF2-40B4-BE49-F238E27FC236}">
                <a16:creationId xmlns:a16="http://schemas.microsoft.com/office/drawing/2014/main" id="{888F31D4-D8F4-11A3-2BC7-D000D36979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3909347"/>
              </p:ext>
            </p:extLst>
          </p:nvPr>
        </p:nvGraphicFramePr>
        <p:xfrm>
          <a:off x="4114288" y="1873146"/>
          <a:ext cx="3328717" cy="2341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1" name="Rectangle 50">
            <a:extLst>
              <a:ext uri="{FF2B5EF4-FFF2-40B4-BE49-F238E27FC236}">
                <a16:creationId xmlns:a16="http://schemas.microsoft.com/office/drawing/2014/main" id="{51DE39B6-4F60-27D0-A5A0-8B37C6FAECE3}"/>
              </a:ext>
            </a:extLst>
          </p:cNvPr>
          <p:cNvSpPr/>
          <p:nvPr/>
        </p:nvSpPr>
        <p:spPr>
          <a:xfrm>
            <a:off x="4729485" y="1500720"/>
            <a:ext cx="2164249" cy="38366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200" b="1"/>
              <a:t>HCP Concentration Across Clusters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63C4AE-CF18-A60D-36A5-0D028222FE5E}"/>
              </a:ext>
            </a:extLst>
          </p:cNvPr>
          <p:cNvSpPr/>
          <p:nvPr/>
        </p:nvSpPr>
        <p:spPr>
          <a:xfrm>
            <a:off x="9098669" y="1500720"/>
            <a:ext cx="2164249" cy="38366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200" b="1"/>
              <a:t>Top 10 States Accounting for 50% of Cluster Concentrations</a:t>
            </a:r>
          </a:p>
        </p:txBody>
      </p:sp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888F31D4-D8F4-11A3-2BC7-D000D36979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4653951"/>
              </p:ext>
            </p:extLst>
          </p:nvPr>
        </p:nvGraphicFramePr>
        <p:xfrm>
          <a:off x="4100067" y="4562475"/>
          <a:ext cx="3320643" cy="2361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0" name="Rectangle 59">
            <a:extLst>
              <a:ext uri="{FF2B5EF4-FFF2-40B4-BE49-F238E27FC236}">
                <a16:creationId xmlns:a16="http://schemas.microsoft.com/office/drawing/2014/main" id="{B3FBB44E-8DB8-D912-9B4C-BA2C4D399F75}"/>
              </a:ext>
            </a:extLst>
          </p:cNvPr>
          <p:cNvSpPr/>
          <p:nvPr/>
        </p:nvSpPr>
        <p:spPr>
          <a:xfrm>
            <a:off x="4678263" y="4216151"/>
            <a:ext cx="2164249" cy="38366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200" b="1"/>
              <a:t>Decile 6-10 Constitution Within Clusters</a:t>
            </a:r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4BBD60D6-A046-C1AD-12EA-075168D50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302917"/>
              </p:ext>
            </p:extLst>
          </p:nvPr>
        </p:nvGraphicFramePr>
        <p:xfrm>
          <a:off x="8410409" y="4633380"/>
          <a:ext cx="3474720" cy="183349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147802443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993261961"/>
                    </a:ext>
                  </a:extLst>
                </a:gridCol>
              </a:tblGrid>
              <a:tr h="1366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>
                          <a:effectLst/>
                          <a:latin typeface="+mn-lt"/>
                        </a:rPr>
                        <a:t>Speciality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259" marR="3259" marT="39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% of Clusters Covered</a:t>
                      </a:r>
                    </a:p>
                  </a:txBody>
                  <a:tcPr marL="3259" marR="3259" marT="3943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401961"/>
                  </a:ext>
                </a:extLst>
              </a:tr>
              <a:tr h="274445"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Sleep Specialists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32376"/>
                  </a:ext>
                </a:extLst>
              </a:tr>
              <a:tr h="274445"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Neurology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789483"/>
                  </a:ext>
                </a:extLst>
              </a:tr>
              <a:tr h="274445"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Psychiatrist/ Psychologist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939617"/>
                  </a:ext>
                </a:extLst>
              </a:tr>
              <a:tr h="274445"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Pulmonologist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841269"/>
                  </a:ext>
                </a:extLst>
              </a:tr>
              <a:tr h="274445"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PCP/NP/PA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765420"/>
                  </a:ext>
                </a:extLst>
              </a:tr>
              <a:tr h="274445"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Others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2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171767"/>
                  </a:ext>
                </a:extLst>
              </a:tr>
            </a:tbl>
          </a:graphicData>
        </a:graphic>
      </p:graphicFrame>
      <p:sp>
        <p:nvSpPr>
          <p:cNvPr id="62" name="Rectangle 61">
            <a:extLst>
              <a:ext uri="{FF2B5EF4-FFF2-40B4-BE49-F238E27FC236}">
                <a16:creationId xmlns:a16="http://schemas.microsoft.com/office/drawing/2014/main" id="{C45559A2-D734-9869-C919-3B10A8D79D25}"/>
              </a:ext>
            </a:extLst>
          </p:cNvPr>
          <p:cNvSpPr/>
          <p:nvPr/>
        </p:nvSpPr>
        <p:spPr>
          <a:xfrm>
            <a:off x="9098669" y="4229100"/>
            <a:ext cx="2164249" cy="383668"/>
          </a:xfrm>
          <a:prstGeom prst="rect">
            <a:avLst/>
          </a:prstGeom>
          <a:noFill/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200" b="1"/>
              <a:t>Primary Specialty Across Clusters</a:t>
            </a:r>
          </a:p>
        </p:txBody>
      </p:sp>
    </p:spTree>
    <p:extLst>
      <p:ext uri="{BB962C8B-B14F-4D97-AF65-F5344CB8AC3E}">
        <p14:creationId xmlns:p14="http://schemas.microsoft.com/office/powerpoint/2010/main" val="2837753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54B63-E1B2-8CF1-EEC0-5BE9E962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A923-353E-3CAB-18CB-1D6B7E1DB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261947" cy="685801"/>
          </a:xfrm>
        </p:spPr>
        <p:txBody>
          <a:bodyPr>
            <a:noAutofit/>
          </a:bodyPr>
          <a:lstStyle/>
          <a:p>
            <a:r>
              <a:rPr lang="en-US" sz="2000" spc="-40"/>
              <a:t>Misdiagnosis affects at least 70% of NT patients, with Anxiety and Fatigue driving early diagnostic misdirection and Sleep-related conditions serving as the most proximate gateway to NT identification</a:t>
            </a:r>
            <a:endParaRPr lang="en-US" sz="2000" spc="-40">
              <a:latin typeface="Calibri"/>
              <a:ea typeface="メイリオ"/>
              <a:cs typeface="Calibri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EEC63D-1AD3-D3B5-5F07-5F9885FBC5A1}"/>
              </a:ext>
            </a:extLst>
          </p:cNvPr>
          <p:cNvSpPr/>
          <p:nvPr/>
        </p:nvSpPr>
        <p:spPr>
          <a:xfrm>
            <a:off x="1117" y="5291105"/>
            <a:ext cx="12190881" cy="1595790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sz="1200">
                <a:solidFill>
                  <a:schemeClr val="tx1">
                    <a:lumMod val="50000"/>
                  </a:schemeClr>
                </a:solidFill>
              </a:rPr>
              <a:t>The typical patient journey starts with non-specific psychological and fatigue-related conditions (Fatigue, Anxiety and Mood Disorder), transitions through neurological misclassifications (Epilepsy and ADHD), and eventually converges toward sleep-related diagnoses (Sleep Disorder, Sleep Apnea) just before narcolepsy is identified.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The proximity of a misdiagnosis to NT identification varies significantly by condition: </a:t>
            </a:r>
            <a:r>
              <a:rPr lang="en-US" sz="1200" b="1">
                <a:solidFill>
                  <a:schemeClr val="accent1"/>
                </a:solidFill>
                <a:cs typeface="Arial" panose="020B0604020202020204" pitchFamily="34" charset="0"/>
              </a:rPr>
              <a:t>Sleep Apnea and Sleep Disorder consistently appear as the final misdiagnosis before NT is confirmed, making the HCPs managing these patients, even beyond sleep specialists, the most actionable intervention point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Early journey HCPs: Those managing Fatigue, Anxiety, Mood Disorder pose an opportunity for awareness and earlier NT suspicion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Late journey HCPs: Those managing Sleep Apnea and ADHD showcase opportunity on building confirmation confidence for faster NT referrals &amp; Diagnosis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BE8A77-88E7-507C-628A-466454D91544}"/>
              </a:ext>
            </a:extLst>
          </p:cNvPr>
          <p:cNvGrpSpPr/>
          <p:nvPr/>
        </p:nvGrpSpPr>
        <p:grpSpPr>
          <a:xfrm>
            <a:off x="1113" y="4985287"/>
            <a:ext cx="5795964" cy="319265"/>
            <a:chOff x="0" y="2140992"/>
            <a:chExt cx="2880042" cy="3471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1549BE-BE08-9FE2-8366-4450CFFD8169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24911C-B5C9-B4EA-2C3A-A2EDB805049E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C27EBC2-9AB0-B82A-B51C-CEA5F2275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723795"/>
              </p:ext>
            </p:extLst>
          </p:nvPr>
        </p:nvGraphicFramePr>
        <p:xfrm>
          <a:off x="239347" y="1299814"/>
          <a:ext cx="11652618" cy="3537308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834208">
                  <a:extLst>
                    <a:ext uri="{9D8B030D-6E8A-4147-A177-3AD203B41FA5}">
                      <a16:colId xmlns:a16="http://schemas.microsoft.com/office/drawing/2014/main" val="3081656718"/>
                    </a:ext>
                  </a:extLst>
                </a:gridCol>
                <a:gridCol w="1402630">
                  <a:extLst>
                    <a:ext uri="{9D8B030D-6E8A-4147-A177-3AD203B41FA5}">
                      <a16:colId xmlns:a16="http://schemas.microsoft.com/office/drawing/2014/main" val="1486693464"/>
                    </a:ext>
                  </a:extLst>
                </a:gridCol>
                <a:gridCol w="1402630">
                  <a:extLst>
                    <a:ext uri="{9D8B030D-6E8A-4147-A177-3AD203B41FA5}">
                      <a16:colId xmlns:a16="http://schemas.microsoft.com/office/drawing/2014/main" val="3434168378"/>
                    </a:ext>
                  </a:extLst>
                </a:gridCol>
                <a:gridCol w="1402630">
                  <a:extLst>
                    <a:ext uri="{9D8B030D-6E8A-4147-A177-3AD203B41FA5}">
                      <a16:colId xmlns:a16="http://schemas.microsoft.com/office/drawing/2014/main" val="3044137385"/>
                    </a:ext>
                  </a:extLst>
                </a:gridCol>
                <a:gridCol w="1402630">
                  <a:extLst>
                    <a:ext uri="{9D8B030D-6E8A-4147-A177-3AD203B41FA5}">
                      <a16:colId xmlns:a16="http://schemas.microsoft.com/office/drawing/2014/main" val="3043087865"/>
                    </a:ext>
                  </a:extLst>
                </a:gridCol>
                <a:gridCol w="1402630">
                  <a:extLst>
                    <a:ext uri="{9D8B030D-6E8A-4147-A177-3AD203B41FA5}">
                      <a16:colId xmlns:a16="http://schemas.microsoft.com/office/drawing/2014/main" val="1643672433"/>
                    </a:ext>
                  </a:extLst>
                </a:gridCol>
                <a:gridCol w="1402630">
                  <a:extLst>
                    <a:ext uri="{9D8B030D-6E8A-4147-A177-3AD203B41FA5}">
                      <a16:colId xmlns:a16="http://schemas.microsoft.com/office/drawing/2014/main" val="2679980646"/>
                    </a:ext>
                  </a:extLst>
                </a:gridCol>
                <a:gridCol w="1402630">
                  <a:extLst>
                    <a:ext uri="{9D8B030D-6E8A-4147-A177-3AD203B41FA5}">
                      <a16:colId xmlns:a16="http://schemas.microsoft.com/office/drawing/2014/main" val="70828303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Where in the patient Journey are patients getting dropped</a:t>
                      </a: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1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Traits associated with these Leakage points</a:t>
                      </a: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562316"/>
                  </a:ext>
                </a:extLst>
              </a:tr>
              <a:tr h="7126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Misdiagnosis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Number of Patients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% of Patients that get this misdiagnosis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Avg Delay per Patient</a:t>
                      </a:r>
                      <a:b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b="0" i="1" u="none" strike="noStrike">
                          <a:solidFill>
                            <a:schemeClr val="bg1"/>
                          </a:solidFill>
                          <a:effectLst/>
                        </a:rPr>
                        <a:t>(# days)</a:t>
                      </a:r>
                      <a:endParaRPr lang="en-US" sz="1200" b="0" i="1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Median Delay per Patient</a:t>
                      </a:r>
                      <a:b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b="0" i="1" u="none" strike="noStrike">
                          <a:solidFill>
                            <a:schemeClr val="bg1"/>
                          </a:solidFill>
                          <a:effectLst/>
                        </a:rPr>
                        <a:t>(# days)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Total Delay for all Patients</a:t>
                      </a:r>
                      <a:b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200" b="0" i="1" u="none" strike="noStrike">
                          <a:solidFill>
                            <a:schemeClr val="bg1"/>
                          </a:solidFill>
                          <a:effectLst/>
                        </a:rPr>
                        <a:t>(# days)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Avg Days to NT Dx</a:t>
                      </a:r>
                      <a:b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(from the Last Dx)</a:t>
                      </a: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Median Days to NT Dx</a:t>
                      </a:r>
                      <a:b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(from the Last Dx)</a:t>
                      </a:r>
                    </a:p>
                  </a:txBody>
                  <a:tcPr marL="6045" marR="6045" marT="604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844885"/>
                  </a:ext>
                </a:extLst>
              </a:tr>
              <a:tr h="2696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Anxiety Disorder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23,680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8,492,939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335.47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122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85940490"/>
                  </a:ext>
                </a:extLst>
              </a:tr>
              <a:tr h="2696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Mood Disorder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24,554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8,857,740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318.95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117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227758"/>
                  </a:ext>
                </a:extLst>
              </a:tr>
              <a:tr h="2696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ADHD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8,216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2,846,010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331.42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98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91200668"/>
                  </a:ext>
                </a:extLst>
              </a:tr>
              <a:tr h="4782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Chronic Pulmonary Disease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4,782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1,566,489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361.15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130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730998"/>
                  </a:ext>
                </a:extLst>
              </a:tr>
              <a:tr h="2696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Epilepsy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2,907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679,325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409.82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179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35959575"/>
                  </a:ext>
                </a:extLst>
              </a:tr>
              <a:tr h="2696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Sleep Apnea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18,953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150" rtl="0" eaLnBrk="1" fontAlgn="b" latinLnBrk="0" hangingPunct="1">
                        <a:buNone/>
                      </a:pPr>
                      <a:r>
                        <a:rPr kumimoji="1"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344</a:t>
                      </a: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6,512,208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248.29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43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64330"/>
                  </a:ext>
                </a:extLst>
              </a:tr>
              <a:tr h="2696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Sleep Disorder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21,697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3,705,528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324.17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89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32048037"/>
                  </a:ext>
                </a:extLst>
              </a:tr>
              <a:tr h="2696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2,155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304,070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317.81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94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79943"/>
                  </a:ext>
                </a:extLst>
              </a:tr>
              <a:tr h="2696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Fatigue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21,613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2,784,873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45" marR="6045" marT="604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477.33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</a:rPr>
                        <a:t>286</a:t>
                      </a:r>
                      <a:endParaRPr lang="en-US" sz="1100" b="0" i="0" u="none" strike="noStrike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26076843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4E99A011-C6D0-732A-310F-7A9B6F3AAA52}"/>
              </a:ext>
            </a:extLst>
          </p:cNvPr>
          <p:cNvSpPr/>
          <p:nvPr/>
        </p:nvSpPr>
        <p:spPr>
          <a:xfrm>
            <a:off x="239347" y="3724275"/>
            <a:ext cx="11652618" cy="33337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1FC270-7947-D62B-499F-14A7601CDE16}"/>
              </a:ext>
            </a:extLst>
          </p:cNvPr>
          <p:cNvSpPr/>
          <p:nvPr/>
        </p:nvSpPr>
        <p:spPr>
          <a:xfrm>
            <a:off x="239347" y="2712769"/>
            <a:ext cx="11652618" cy="33337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3753992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CB8E-4C1F-DC41-2CD2-CB1351AB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F477-BBA3-C05D-C0F1-8D19C22C6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9" y="161605"/>
            <a:ext cx="9796353" cy="773879"/>
          </a:xfrm>
        </p:spPr>
        <p:txBody>
          <a:bodyPr>
            <a:noAutofit/>
          </a:bodyPr>
          <a:lstStyle/>
          <a:p>
            <a:r>
              <a:rPr lang="en-US" sz="2000"/>
              <a:t>Markov Chain Analysis Reveals Systemic Pre-Diagnosis Referral Leakage through Specialty and Persona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84D88D-C7D4-3580-4675-C515C97411D5}"/>
              </a:ext>
            </a:extLst>
          </p:cNvPr>
          <p:cNvSpPr/>
          <p:nvPr/>
        </p:nvSpPr>
        <p:spPr>
          <a:xfrm>
            <a:off x="1117" y="6464808"/>
            <a:ext cx="12190881" cy="393184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F384452-DADB-90FE-EBD8-99BA59BAD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87537"/>
              </p:ext>
            </p:extLst>
          </p:nvPr>
        </p:nvGraphicFramePr>
        <p:xfrm>
          <a:off x="7579505" y="1252129"/>
          <a:ext cx="4389120" cy="3534872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48669346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43416837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441373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88925089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7319982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83135309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BRIDGER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DIAGNOSER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INFLUENCER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REFERRER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TREATER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All Other HCPs in Referral Universe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844885"/>
                  </a:ext>
                </a:extLst>
              </a:tr>
              <a:tr h="361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36.20%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49.10%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940490"/>
                  </a:ext>
                </a:extLst>
              </a:tr>
              <a:tr h="361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15.40%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4.90%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2.70%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227758"/>
                  </a:ext>
                </a:extLst>
              </a:tr>
              <a:tr h="361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27.50%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12.70%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21.90%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6.60%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200668"/>
                  </a:ext>
                </a:extLst>
              </a:tr>
              <a:tr h="361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21.80%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23.10%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730998"/>
                  </a:ext>
                </a:extLst>
              </a:tr>
              <a:tr h="361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9.60%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16.50%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7.60%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959575"/>
                  </a:ext>
                </a:extLst>
              </a:tr>
              <a:tr h="361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0.70%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5.50%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64330"/>
                  </a:ext>
                </a:extLst>
              </a:tr>
              <a:tr h="361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3.60%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8037"/>
                  </a:ext>
                </a:extLst>
              </a:tr>
              <a:tr h="3618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717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1271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549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65039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2856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55111E6-4A09-9F66-D416-7A0E667EF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360835"/>
              </p:ext>
            </p:extLst>
          </p:nvPr>
        </p:nvGraphicFramePr>
        <p:xfrm>
          <a:off x="89057" y="1252129"/>
          <a:ext cx="7400861" cy="354875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817181">
                  <a:extLst>
                    <a:ext uri="{9D8B030D-6E8A-4147-A177-3AD203B41FA5}">
                      <a16:colId xmlns:a16="http://schemas.microsoft.com/office/drawing/2014/main" val="308165671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48669346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43416837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441373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88925089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7319982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83135309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99025543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6942043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98345104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Misreferring Score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NP/PA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Neurology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Other Non-Specialists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Other Specialists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PCP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Psychiatrist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Psychologist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Pulmonologist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Sleep Specialists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844885"/>
                  </a:ext>
                </a:extLst>
              </a:tr>
              <a:tr h="3999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47.70%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51.00%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46.30%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48.70%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52.30%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42.90%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46.50%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41.60%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55.70%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876274"/>
                  </a:ext>
                </a:extLst>
              </a:tr>
              <a:tr h="3485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0.0–0.2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85940490"/>
                  </a:ext>
                </a:extLst>
              </a:tr>
              <a:tr h="3485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0.2–0.4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6.60%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6.90%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7.20%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6.70%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6.50%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8.10%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7.20%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8.60%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7.80%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227758"/>
                  </a:ext>
                </a:extLst>
              </a:tr>
              <a:tr h="3999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0.4–0.6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12.60%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13.60%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91200668"/>
                  </a:ext>
                </a:extLst>
              </a:tr>
              <a:tr h="3485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0.6–0.8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730998"/>
                  </a:ext>
                </a:extLst>
              </a:tr>
              <a:tr h="3485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0.8–1.0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35959575"/>
                  </a:ext>
                </a:extLst>
              </a:tr>
              <a:tr h="3999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15.80%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22.20%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15.30%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20.40%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21.90%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19.80%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16.20%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64330"/>
                  </a:ext>
                </a:extLst>
              </a:tr>
              <a:tr h="3145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of HCPS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6724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2274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4786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5033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23499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3950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4051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2303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1407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803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22599D-9B46-5843-3771-86F8FA704469}"/>
              </a:ext>
            </a:extLst>
          </p:cNvPr>
          <p:cNvSpPr/>
          <p:nvPr/>
        </p:nvSpPr>
        <p:spPr>
          <a:xfrm>
            <a:off x="89057" y="1886987"/>
            <a:ext cx="7400861" cy="42164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F68232-EF0B-E54D-FADF-D24EA4CD2256}"/>
              </a:ext>
            </a:extLst>
          </p:cNvPr>
          <p:cNvSpPr/>
          <p:nvPr/>
        </p:nvSpPr>
        <p:spPr>
          <a:xfrm>
            <a:off x="0" y="5559536"/>
            <a:ext cx="12192000" cy="1296244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</a:rPr>
              <a:t>~56% of Sleep Specialists reliably reach Treaters/</a:t>
            </a:r>
            <a:r>
              <a:rPr lang="en-US" sz="1200" b="1" err="1">
                <a:solidFill>
                  <a:schemeClr val="tx1"/>
                </a:solidFill>
              </a:rPr>
              <a:t>Diagnosers</a:t>
            </a:r>
            <a:r>
              <a:rPr lang="en-US" sz="1200" b="1">
                <a:solidFill>
                  <a:schemeClr val="tx1"/>
                </a:solidFill>
              </a:rPr>
              <a:t> </a:t>
            </a:r>
            <a:r>
              <a:rPr lang="en-US" sz="1200">
                <a:solidFill>
                  <a:schemeClr val="tx1"/>
                </a:solidFill>
              </a:rPr>
              <a:t>through referrals acting as the most effective entry points into the correct care pathways, whereas </a:t>
            </a:r>
            <a:r>
              <a:rPr lang="en-US" sz="1200" b="1">
                <a:solidFill>
                  <a:schemeClr val="tx1"/>
                </a:solidFill>
              </a:rPr>
              <a:t>Psychologists, Psychiatrists, and Pulmonologists </a:t>
            </a:r>
            <a:r>
              <a:rPr lang="en-US" sz="1200">
                <a:solidFill>
                  <a:schemeClr val="tx1"/>
                </a:solidFill>
              </a:rPr>
              <a:t>lag with </a:t>
            </a:r>
            <a:r>
              <a:rPr lang="en-US" sz="1200" b="1">
                <a:solidFill>
                  <a:schemeClr val="tx1"/>
                </a:solidFill>
              </a:rPr>
              <a:t>~40% </a:t>
            </a:r>
            <a:r>
              <a:rPr lang="en-US" sz="1200">
                <a:solidFill>
                  <a:schemeClr val="tx1"/>
                </a:solidFill>
              </a:rPr>
              <a:t>of HCPs reaching target nodes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</a:rPr>
              <a:t>15–22% of HCPs</a:t>
            </a:r>
            <a:r>
              <a:rPr lang="en-US" sz="1200">
                <a:solidFill>
                  <a:schemeClr val="tx1"/>
                </a:solidFill>
              </a:rPr>
              <a:t> across most specialties fail to reroute their patients eventually for diagnosis and referrals. This consistent distribution across specialties suggest a systematic issue in the Narcolepsy Market beyond generalists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The identified Bridgers consistently maintain at least some referral relationship which helps redirect patients to targeted HCPs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D39BDE-456B-AF3F-1E25-B76A8DFFCCF9}"/>
              </a:ext>
            </a:extLst>
          </p:cNvPr>
          <p:cNvSpPr/>
          <p:nvPr/>
        </p:nvSpPr>
        <p:spPr>
          <a:xfrm>
            <a:off x="89057" y="4042024"/>
            <a:ext cx="8983225" cy="42164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endParaRPr kumimoji="1"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FA03960-4384-62F1-4441-BBFCE5FF56AB}"/>
              </a:ext>
            </a:extLst>
          </p:cNvPr>
          <p:cNvGrpSpPr/>
          <p:nvPr/>
        </p:nvGrpSpPr>
        <p:grpSpPr>
          <a:xfrm>
            <a:off x="0" y="5250399"/>
            <a:ext cx="5795964" cy="319265"/>
            <a:chOff x="0" y="2140992"/>
            <a:chExt cx="2880042" cy="3471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4B3804A-E9CF-572E-3B66-B429D5974EC5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199F95-ED33-374C-CB35-542207CBB4CD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7D946C-4439-DFD2-704C-FB250498D4CE}"/>
              </a:ext>
            </a:extLst>
          </p:cNvPr>
          <p:cNvSpPr txBox="1"/>
          <p:nvPr/>
        </p:nvSpPr>
        <p:spPr>
          <a:xfrm>
            <a:off x="8326839" y="1036685"/>
            <a:ext cx="38651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>
                <a:solidFill>
                  <a:srgbClr val="FF0000"/>
                </a:solidFill>
              </a:rPr>
              <a:t>* Treaters and </a:t>
            </a:r>
            <a:r>
              <a:rPr lang="en-US" sz="800" b="1" err="1">
                <a:solidFill>
                  <a:srgbClr val="FF0000"/>
                </a:solidFill>
              </a:rPr>
              <a:t>Diagnosers</a:t>
            </a:r>
            <a:r>
              <a:rPr lang="en-US" sz="800" b="1">
                <a:solidFill>
                  <a:srgbClr val="FF0000"/>
                </a:solidFill>
              </a:rPr>
              <a:t> are part of the targets, thus they have a 0-misreferring score</a:t>
            </a:r>
          </a:p>
        </p:txBody>
      </p:sp>
    </p:spTree>
    <p:extLst>
      <p:ext uri="{BB962C8B-B14F-4D97-AF65-F5344CB8AC3E}">
        <p14:creationId xmlns:p14="http://schemas.microsoft.com/office/powerpoint/2010/main" val="2169162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F49C2-5AD1-725C-C7AD-F4011B20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E411-0838-2327-068E-FC93220A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/>
              <a:t>Misdiagnosis and referral gaps in key specialties are driving the longest delays”</a:t>
            </a:r>
            <a:br>
              <a:rPr lang="en-US" sz="2000"/>
            </a:br>
            <a:r>
              <a:rPr lang="en-US" sz="2000"/>
              <a:t>“Psychiatry, PCPs, and NP/PAs emerge as major Sink Nodes in the journey</a:t>
            </a:r>
            <a:r>
              <a:rPr lang="en-US" sz="2000">
                <a:latin typeface="Calibri"/>
                <a:ea typeface="メイリオ"/>
                <a:cs typeface="Calibri"/>
              </a:rPr>
              <a:t>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2C2C382-E4EF-C325-6141-0E642C8239E7}"/>
              </a:ext>
            </a:extLst>
          </p:cNvPr>
          <p:cNvSpPr/>
          <p:nvPr/>
        </p:nvSpPr>
        <p:spPr>
          <a:xfrm>
            <a:off x="1117" y="6464808"/>
            <a:ext cx="12190881" cy="393184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endParaRPr lang="en-US" sz="12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3B337B-86B1-45B8-FE7F-8341C7B2A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357958"/>
              </p:ext>
            </p:extLst>
          </p:nvPr>
        </p:nvGraphicFramePr>
        <p:xfrm>
          <a:off x="420625" y="1415370"/>
          <a:ext cx="6540362" cy="269943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075814">
                  <a:extLst>
                    <a:ext uri="{9D8B030D-6E8A-4147-A177-3AD203B41FA5}">
                      <a16:colId xmlns:a16="http://schemas.microsoft.com/office/drawing/2014/main" val="3081656718"/>
                    </a:ext>
                  </a:extLst>
                </a:gridCol>
                <a:gridCol w="731200">
                  <a:extLst>
                    <a:ext uri="{9D8B030D-6E8A-4147-A177-3AD203B41FA5}">
                      <a16:colId xmlns:a16="http://schemas.microsoft.com/office/drawing/2014/main" val="1486693464"/>
                    </a:ext>
                  </a:extLst>
                </a:gridCol>
                <a:gridCol w="1689960">
                  <a:extLst>
                    <a:ext uri="{9D8B030D-6E8A-4147-A177-3AD203B41FA5}">
                      <a16:colId xmlns:a16="http://schemas.microsoft.com/office/drawing/2014/main" val="3434168378"/>
                    </a:ext>
                  </a:extLst>
                </a:gridCol>
                <a:gridCol w="1689960">
                  <a:extLst>
                    <a:ext uri="{9D8B030D-6E8A-4147-A177-3AD203B41FA5}">
                      <a16:colId xmlns:a16="http://schemas.microsoft.com/office/drawing/2014/main" val="3044137385"/>
                    </a:ext>
                  </a:extLst>
                </a:gridCol>
                <a:gridCol w="1353428">
                  <a:extLst>
                    <a:ext uri="{9D8B030D-6E8A-4147-A177-3AD203B41FA5}">
                      <a16:colId xmlns:a16="http://schemas.microsoft.com/office/drawing/2014/main" val="4247428164"/>
                    </a:ext>
                  </a:extLst>
                </a:gridCol>
              </a:tblGrid>
              <a:tr h="3868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Specialty</a:t>
                      </a: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Avg. delay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(#days) </a:t>
                      </a: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Primary Point of Delay (Overall)</a:t>
                      </a: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Primary Point of Delay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(Misdiagnosis) </a:t>
                      </a: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Referrals Made to Sink Nodes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844885"/>
                  </a:ext>
                </a:extLst>
              </a:tr>
              <a:tr h="3373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Sleep Specialists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59.06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Chronic Pulmonary Disease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85940490"/>
                  </a:ext>
                </a:extLst>
              </a:tr>
              <a:tr h="1970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Neurology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71.70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ADHD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Epilepsy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227758"/>
                  </a:ext>
                </a:extLst>
              </a:tr>
              <a:tr h="1970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Psychiatrist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149.55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ADHD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ADHD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91200668"/>
                  </a:ext>
                </a:extLst>
              </a:tr>
              <a:tr h="1970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Psychologist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206.79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Mood Disorder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559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730998"/>
                  </a:ext>
                </a:extLst>
              </a:tr>
              <a:tr h="3373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Pulmonologist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61.43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Chronic Pulmonary Disease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Chronic Pulmonary Disease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35959575"/>
                  </a:ext>
                </a:extLst>
              </a:tr>
              <a:tr h="1970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PCP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83.06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ADHD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ADHD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6452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64330"/>
                  </a:ext>
                </a:extLst>
              </a:tr>
              <a:tr h="2660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NP/PA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90.31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ADHD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ADHD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32048037"/>
                  </a:ext>
                </a:extLst>
              </a:tr>
              <a:tr h="1970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Other Specialists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55.65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Sleep Disorder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880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79943"/>
                  </a:ext>
                </a:extLst>
              </a:tr>
              <a:tr h="38682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Other Non-Specialists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51.28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Sleep Disorder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Sleep Disorder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2607684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16607CA-778D-C70D-47AE-818D381C4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820914"/>
              </p:ext>
            </p:extLst>
          </p:nvPr>
        </p:nvGraphicFramePr>
        <p:xfrm>
          <a:off x="8119871" y="1727878"/>
          <a:ext cx="3575305" cy="2240616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074744">
                  <a:extLst>
                    <a:ext uri="{9D8B030D-6E8A-4147-A177-3AD203B41FA5}">
                      <a16:colId xmlns:a16="http://schemas.microsoft.com/office/drawing/2014/main" val="3081656718"/>
                    </a:ext>
                  </a:extLst>
                </a:gridCol>
                <a:gridCol w="1500561">
                  <a:extLst>
                    <a:ext uri="{9D8B030D-6E8A-4147-A177-3AD203B41FA5}">
                      <a16:colId xmlns:a16="http://schemas.microsoft.com/office/drawing/2014/main" val="4281524914"/>
                    </a:ext>
                  </a:extLst>
                </a:gridCol>
              </a:tblGrid>
              <a:tr h="3876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Specialty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# of Sink Nodes</a:t>
                      </a:r>
                    </a:p>
                  </a:txBody>
                  <a:tcPr marL="6350" marR="6350" marT="635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844885"/>
                  </a:ext>
                </a:extLst>
              </a:tr>
              <a:tr h="2097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85940490"/>
                  </a:ext>
                </a:extLst>
              </a:tr>
              <a:tr h="2047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NP/PA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417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227758"/>
                  </a:ext>
                </a:extLst>
              </a:tr>
              <a:tr h="2047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Non-Specialist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91200668"/>
                  </a:ext>
                </a:extLst>
              </a:tr>
              <a:tr h="2047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Specialist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1218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730998"/>
                  </a:ext>
                </a:extLst>
              </a:tr>
              <a:tr h="2097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Pulmonologist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35959575"/>
                  </a:ext>
                </a:extLst>
              </a:tr>
              <a:tr h="2047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Psychologist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486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264330"/>
                  </a:ext>
                </a:extLst>
              </a:tr>
              <a:tr h="2047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Psychiatrist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934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32048037"/>
                  </a:ext>
                </a:extLst>
              </a:tr>
              <a:tr h="2047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Neurology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479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79943"/>
                  </a:ext>
                </a:extLst>
              </a:tr>
              <a:tr h="2047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Sleep Specialist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26076843"/>
                  </a:ext>
                </a:extLst>
              </a:tr>
            </a:tbl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68B97D0-B4F2-37C7-C104-66C47AF5DC8C}"/>
              </a:ext>
            </a:extLst>
          </p:cNvPr>
          <p:cNvSpPr/>
          <p:nvPr/>
        </p:nvSpPr>
        <p:spPr>
          <a:xfrm>
            <a:off x="1119" y="4982039"/>
            <a:ext cx="12190881" cy="1755318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>
                    <a:lumMod val="50000"/>
                  </a:schemeClr>
                </a:solidFill>
              </a:rPr>
              <a:t>Post-diagnosis HCP gap:</a:t>
            </a:r>
            <a:r>
              <a:rPr lang="en-US" sz="1200">
                <a:solidFill>
                  <a:schemeClr val="tx1">
                    <a:lumMod val="50000"/>
                  </a:schemeClr>
                </a:solidFill>
              </a:rPr>
              <a:t> Of </a:t>
            </a:r>
            <a:r>
              <a:rPr lang="en-US" sz="1200" b="1">
                <a:solidFill>
                  <a:schemeClr val="tx1">
                    <a:lumMod val="50000"/>
                  </a:schemeClr>
                </a:solidFill>
              </a:rPr>
              <a:t>28,864 HCPs</a:t>
            </a:r>
            <a:r>
              <a:rPr lang="en-US" sz="1200">
                <a:solidFill>
                  <a:schemeClr val="tx1">
                    <a:lumMod val="50000"/>
                  </a:schemeClr>
                </a:solidFill>
              </a:rPr>
              <a:t> interacting post-diagnosis, only </a:t>
            </a:r>
            <a:r>
              <a:rPr lang="en-US" sz="1200" b="1">
                <a:solidFill>
                  <a:schemeClr val="tx1">
                    <a:lumMod val="50000"/>
                  </a:schemeClr>
                </a:solidFill>
              </a:rPr>
              <a:t>5,052 actively refer</a:t>
            </a:r>
            <a:r>
              <a:rPr lang="en-US" sz="1200">
                <a:solidFill>
                  <a:schemeClr val="tx1">
                    <a:lumMod val="50000"/>
                  </a:schemeClr>
                </a:solidFill>
              </a:rPr>
              <a:t>, and </a:t>
            </a:r>
            <a:r>
              <a:rPr lang="en-US" sz="1200" b="1">
                <a:solidFill>
                  <a:schemeClr val="tx1">
                    <a:lumMod val="50000"/>
                  </a:schemeClr>
                </a:solidFill>
              </a:rPr>
              <a:t>19,141 neither refer nor provide relevant narcolepsy treatment</a:t>
            </a:r>
            <a:r>
              <a:rPr lang="en-US" sz="1200">
                <a:solidFill>
                  <a:schemeClr val="tx1">
                    <a:lumMod val="50000"/>
                  </a:schemeClr>
                </a:solidFill>
              </a:rPr>
              <a:t>, highlighting major post NT diagnosis care gap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>
                    <a:lumMod val="75000"/>
                  </a:schemeClr>
                </a:solidFill>
              </a:rPr>
              <a:t>Treatment leakage post-diagnosis:</a:t>
            </a:r>
            <a:r>
              <a:rPr lang="en-US" sz="12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200" b="1">
                <a:solidFill>
                  <a:schemeClr val="tx1">
                    <a:lumMod val="75000"/>
                  </a:schemeClr>
                </a:solidFill>
              </a:rPr>
              <a:t>3,454 patients</a:t>
            </a:r>
            <a:r>
              <a:rPr lang="en-US" sz="1200">
                <a:solidFill>
                  <a:schemeClr val="tx1">
                    <a:lumMod val="75000"/>
                  </a:schemeClr>
                </a:solidFill>
              </a:rPr>
              <a:t> receive no NT-specific treatment; most (</a:t>
            </a:r>
            <a:r>
              <a:rPr lang="en-US" sz="1200" b="1">
                <a:solidFill>
                  <a:schemeClr val="tx1">
                    <a:lumMod val="75000"/>
                  </a:schemeClr>
                </a:solidFill>
              </a:rPr>
              <a:t>3,333</a:t>
            </a:r>
            <a:r>
              <a:rPr lang="en-US" sz="1200">
                <a:solidFill>
                  <a:schemeClr val="tx1">
                    <a:lumMod val="75000"/>
                  </a:schemeClr>
                </a:solidFill>
              </a:rPr>
              <a:t>) remain in managed care, and </a:t>
            </a:r>
            <a:r>
              <a:rPr lang="en-US" sz="1200" b="1">
                <a:solidFill>
                  <a:schemeClr val="tx1">
                    <a:lumMod val="75000"/>
                  </a:schemeClr>
                </a:solidFill>
              </a:rPr>
              <a:t>2,152</a:t>
            </a:r>
            <a:r>
              <a:rPr lang="en-US" sz="1200">
                <a:solidFill>
                  <a:schemeClr val="tx1">
                    <a:lumMod val="75000"/>
                  </a:schemeClr>
                </a:solidFill>
              </a:rPr>
              <a:t> receive no further referrals—pointing to ineffective post-diagnosis management</a:t>
            </a:r>
            <a:endParaRPr lang="en-US" sz="1200">
              <a:solidFill>
                <a:schemeClr val="tx1">
                  <a:lumMod val="75000"/>
                </a:schemeClr>
              </a:solidFill>
              <a:cs typeface="Arial" panose="020B0604020202020204" pitchFamily="34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592E9D-84D6-480E-7297-DED1D10E9152}"/>
              </a:ext>
            </a:extLst>
          </p:cNvPr>
          <p:cNvGrpSpPr/>
          <p:nvPr/>
        </p:nvGrpSpPr>
        <p:grpSpPr>
          <a:xfrm>
            <a:off x="0" y="4606906"/>
            <a:ext cx="5795964" cy="319265"/>
            <a:chOff x="0" y="2140992"/>
            <a:chExt cx="2880042" cy="34718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E24F803-ED8A-A2A6-2993-ED8FC986B6EA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FBA76B3-AF57-5E7C-2373-A684C8C11721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5" name="Arrow: Notched Right 24">
            <a:extLst>
              <a:ext uri="{FF2B5EF4-FFF2-40B4-BE49-F238E27FC236}">
                <a16:creationId xmlns:a16="http://schemas.microsoft.com/office/drawing/2014/main" id="{F1FAC3FE-61F7-D2E0-3C8E-570A707D5CDD}"/>
              </a:ext>
            </a:extLst>
          </p:cNvPr>
          <p:cNvSpPr/>
          <p:nvPr/>
        </p:nvSpPr>
        <p:spPr>
          <a:xfrm>
            <a:off x="7061570" y="2523744"/>
            <a:ext cx="957718" cy="365760"/>
          </a:xfrm>
          <a:prstGeom prst="notchedRightArrow">
            <a:avLst/>
          </a:prstGeom>
          <a:solidFill>
            <a:schemeClr val="tx1">
              <a:lumMod val="40000"/>
              <a:lumOff val="60000"/>
            </a:schemeClr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kumimoji="1" lang="en-US" sz="1400"/>
              <a:t>Referral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F00732-EB39-0AA9-011B-049F494EF2B4}"/>
              </a:ext>
            </a:extLst>
          </p:cNvPr>
          <p:cNvSpPr txBox="1"/>
          <p:nvPr/>
        </p:nvSpPr>
        <p:spPr>
          <a:xfrm>
            <a:off x="-226026" y="6520675"/>
            <a:ext cx="109702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i="1">
                <a:solidFill>
                  <a:schemeClr val="accent1"/>
                </a:solidFill>
              </a:rPr>
              <a:t>*Sink Nodes ~ HCPS that only act as a rendering node (no outgoing referrals), have </a:t>
            </a:r>
            <a:r>
              <a:rPr lang="en-US" sz="1050" b="1" i="1">
                <a:solidFill>
                  <a:schemeClr val="accent1"/>
                </a:solidFill>
              </a:rPr>
              <a:t>No NT Activity</a:t>
            </a:r>
            <a:r>
              <a:rPr lang="en-US" sz="1050" i="1">
                <a:solidFill>
                  <a:schemeClr val="accent1"/>
                </a:solidFill>
              </a:rPr>
              <a:t>  and are interacting with</a:t>
            </a:r>
            <a:r>
              <a:rPr lang="en-US" sz="1050" b="1" i="1">
                <a:solidFill>
                  <a:schemeClr val="accent1"/>
                </a:solidFill>
              </a:rPr>
              <a:t> patients &gt;=1 are </a:t>
            </a:r>
            <a:r>
              <a:rPr lang="en-US" sz="1050" i="1">
                <a:solidFill>
                  <a:schemeClr val="accent1"/>
                </a:solidFill>
              </a:rPr>
              <a:t>classified as a </a:t>
            </a:r>
            <a:r>
              <a:rPr lang="en-US" sz="1050" b="1" i="1">
                <a:solidFill>
                  <a:schemeClr val="accent1"/>
                </a:solidFill>
              </a:rPr>
              <a:t>sink</a:t>
            </a:r>
            <a:r>
              <a:rPr lang="en-US" sz="1050" i="1">
                <a:solidFill>
                  <a:schemeClr val="accent1"/>
                </a:solidFill>
              </a:rPr>
              <a:t> </a:t>
            </a:r>
            <a:r>
              <a:rPr lang="en-US" sz="1050" b="1" i="1">
                <a:solidFill>
                  <a:schemeClr val="accent1"/>
                </a:solidFill>
              </a:rPr>
              <a:t>Nodes </a:t>
            </a:r>
            <a:endParaRPr kumimoji="1" lang="en-US" sz="1050" b="1" i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450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4802-FF01-7FE4-CF2F-4A76FF4D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19D0-700B-818E-E7A9-4F8D8F9AF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30004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States with the longest diagnostic gaps are not the same where treatment access is slowest, pointing to distinct regional intervention priorities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878CC4-48B3-E96F-FAC6-17AA835262E2}"/>
              </a:ext>
            </a:extLst>
          </p:cNvPr>
          <p:cNvSpPr/>
          <p:nvPr/>
        </p:nvSpPr>
        <p:spPr>
          <a:xfrm>
            <a:off x="1117" y="5246586"/>
            <a:ext cx="12190881" cy="1611414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/>
                </a:solidFill>
              </a:rPr>
              <a:t>Pre-diagnosis inefficiency:</a:t>
            </a:r>
            <a:r>
              <a:rPr lang="en-US" sz="1200">
                <a:solidFill>
                  <a:schemeClr val="tx1"/>
                </a:solidFill>
              </a:rPr>
              <a:t> Only </a:t>
            </a:r>
            <a:r>
              <a:rPr lang="en-US" sz="1200" b="1">
                <a:solidFill>
                  <a:schemeClr val="tx1"/>
                </a:solidFill>
              </a:rPr>
              <a:t>2,572 patients</a:t>
            </a:r>
            <a:r>
              <a:rPr lang="en-US" sz="1200">
                <a:solidFill>
                  <a:schemeClr val="tx1"/>
                </a:solidFill>
              </a:rPr>
              <a:t> reach the diagnosing HCP without reaching a sink point in their journey, while </a:t>
            </a:r>
            <a:r>
              <a:rPr lang="en-US" sz="1200" b="1">
                <a:solidFill>
                  <a:schemeClr val="tx1"/>
                </a:solidFill>
              </a:rPr>
              <a:t>30,086 patients average 4.01 loops</a:t>
            </a:r>
            <a:r>
              <a:rPr lang="en-US" sz="1200">
                <a:solidFill>
                  <a:schemeClr val="tx1"/>
                </a:solidFill>
              </a:rPr>
              <a:t>, indicating significant referral bottlenecks.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tx1">
                    <a:lumMod val="50000"/>
                  </a:schemeClr>
                </a:solidFill>
              </a:rPr>
              <a:t>Post-diagnosis treatment drop-off:</a:t>
            </a:r>
            <a:r>
              <a:rPr lang="en-US" sz="1200">
                <a:solidFill>
                  <a:schemeClr val="tx1">
                    <a:lumMod val="50000"/>
                  </a:schemeClr>
                </a:solidFill>
              </a:rPr>
              <a:t> Out of </a:t>
            </a:r>
            <a:r>
              <a:rPr lang="en-US" sz="1200" b="1">
                <a:solidFill>
                  <a:schemeClr val="tx1">
                    <a:lumMod val="50000"/>
                  </a:schemeClr>
                </a:solidFill>
              </a:rPr>
              <a:t>17.1K total treated patients</a:t>
            </a:r>
            <a:r>
              <a:rPr lang="en-US" sz="120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1200" b="1">
                <a:solidFill>
                  <a:schemeClr val="tx1">
                    <a:lumMod val="50000"/>
                  </a:schemeClr>
                </a:solidFill>
              </a:rPr>
              <a:t>9.4K received treatment pre-diagnosis</a:t>
            </a:r>
            <a:r>
              <a:rPr lang="en-US" sz="1200">
                <a:solidFill>
                  <a:schemeClr val="tx1">
                    <a:lumMod val="50000"/>
                  </a:schemeClr>
                </a:solidFill>
              </a:rPr>
              <a:t>, but </a:t>
            </a:r>
            <a:r>
              <a:rPr lang="en-US" sz="1200" b="1">
                <a:solidFill>
                  <a:schemeClr val="tx1">
                    <a:lumMod val="50000"/>
                  </a:schemeClr>
                </a:solidFill>
              </a:rPr>
              <a:t>3.5K (~37%) discontinue post-diagnosis</a:t>
            </a:r>
            <a:r>
              <a:rPr lang="en-US" sz="1200">
                <a:solidFill>
                  <a:schemeClr val="tx1">
                    <a:lumMod val="50000"/>
                  </a:schemeClr>
                </a:solidFill>
              </a:rPr>
              <a:t>, indicating a major gap in treatment continuity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20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62F7AA-DD46-6445-60F0-4971CAEC6243}"/>
              </a:ext>
            </a:extLst>
          </p:cNvPr>
          <p:cNvGrpSpPr/>
          <p:nvPr/>
        </p:nvGrpSpPr>
        <p:grpSpPr>
          <a:xfrm>
            <a:off x="1113" y="4940768"/>
            <a:ext cx="5795964" cy="319265"/>
            <a:chOff x="0" y="2140992"/>
            <a:chExt cx="2880042" cy="3471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01602E-888D-9CEB-65C8-8BE8DC4DE8B2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9B4103-5746-A898-35C7-912EEEDEEBDF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FE66C756-E519-F713-5BCA-902FB060335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063614"/>
            <a:ext cx="5486400" cy="3657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C3F400-D4A4-4D57-DF9B-F59F3E4552C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12285" y="1153224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16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A78487-E2C9-BD21-7440-FF5C6ED04891}"/>
              </a:ext>
            </a:extLst>
          </p:cNvPr>
          <p:cNvSpPr txBox="1"/>
          <p:nvPr/>
        </p:nvSpPr>
        <p:spPr>
          <a:xfrm>
            <a:off x="587375" y="1582341"/>
            <a:ext cx="98234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Slide Header: To be added</a:t>
            </a:r>
          </a:p>
          <a:p>
            <a:pPr>
              <a:buNone/>
            </a:pPr>
            <a:r>
              <a:rPr lang="en-US" b="1"/>
              <a:t>Slide title : Market Positioning: How large and active is this referral network?</a:t>
            </a:r>
          </a:p>
          <a:p>
            <a:pPr>
              <a:buNone/>
            </a:pPr>
            <a:r>
              <a:rPr lang="en-US" b="1"/>
              <a:t>Slide Narrative:</a:t>
            </a:r>
            <a:r>
              <a:rPr lang="en-US"/>
              <a:t> Of all HCPs touching NT patients, who is actually part of the referral ecosystem, and how active is 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Universe funnel: # HCPs managing NT patients (298k) -&gt; # involved in referrals (67k)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Patient funnel: # patients managed (46.8k) -&gt; # referred at least once (32k)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Referral volume: Total referrals | Avg referrals/patient (full universe vs referral-active subset) | Avg referrals/HCP (# of patients received through or sent for referral / Total patients managed)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# of HCPs a patient interacts with throughout the journey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Pre vs. post-diagnosis referral split at both patient and HCP level </a:t>
            </a:r>
            <a:r>
              <a:rPr lang="en-US" i="1"/>
              <a:t>(sets up the diagnosing and. treating persona distinction in Section 2)</a:t>
            </a:r>
          </a:p>
          <a:p>
            <a:pPr>
              <a:buFont typeface="Arial" panose="020B0604020202020204" pitchFamily="34" charset="0"/>
              <a:buChar char="•"/>
            </a:pPr>
            <a:endParaRPr lang="en-US" i="1"/>
          </a:p>
          <a:p>
            <a:endParaRPr lang="en-US" i="1"/>
          </a:p>
          <a:p>
            <a:r>
              <a:rPr lang="en-US" i="1"/>
              <a:t>O/p: </a:t>
            </a:r>
            <a:r>
              <a:rPr lang="en-US"/>
              <a:t>multi-specialty touchpoints, misdiagnosis. NT patients face a long, fragmented path to diagnosis and treatment</a:t>
            </a:r>
          </a:p>
        </p:txBody>
      </p:sp>
    </p:spTree>
    <p:extLst>
      <p:ext uri="{BB962C8B-B14F-4D97-AF65-F5344CB8AC3E}">
        <p14:creationId xmlns:p14="http://schemas.microsoft.com/office/powerpoint/2010/main" val="2810110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CD8E-B2CE-2978-FA20-168A0239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1CC93F-3BAE-F1B4-063D-E171DF3A88F0}"/>
              </a:ext>
            </a:extLst>
          </p:cNvPr>
          <p:cNvSpPr txBox="1"/>
          <p:nvPr/>
        </p:nvSpPr>
        <p:spPr>
          <a:xfrm>
            <a:off x="587375" y="751344"/>
            <a:ext cx="85566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Section 2 — HCP &amp; HCO Roles: What function does each node serve in this network?</a:t>
            </a:r>
          </a:p>
          <a:p>
            <a:pPr>
              <a:buNone/>
            </a:pPr>
            <a:r>
              <a:rPr lang="en-US" b="1"/>
              <a:t>Framing question:</a:t>
            </a:r>
            <a:r>
              <a:rPr lang="en-US"/>
              <a:t> Within the referral ecosystem, what distinct roles do HCPs and institutions play and who is connecting patients to the targeted parts of the network?</a:t>
            </a:r>
          </a:p>
          <a:p>
            <a:pPr>
              <a:buNone/>
            </a:pPr>
            <a:r>
              <a:rPr lang="en-US" b="1"/>
              <a:t>HCP Personas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trike="sngStrike"/>
              <a:t>Persona definitions (e.g., </a:t>
            </a:r>
            <a:r>
              <a:rPr lang="en-US" strike="sngStrike" err="1"/>
              <a:t>diagnoser</a:t>
            </a:r>
            <a:r>
              <a:rPr lang="en-US" strike="sngStrike"/>
              <a:t>, treater, referrers, </a:t>
            </a:r>
            <a:r>
              <a:rPr lang="en-US" strike="sngStrike" err="1"/>
              <a:t>bridgers</a:t>
            </a:r>
            <a:r>
              <a:rPr lang="en-US" strike="sngStrike"/>
              <a:t>, influencers)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trike="sngStrike"/>
              <a:t>Specialty, tier, and regional distribution per persona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trike="sngStrike"/>
              <a:t>Pre vs. post-diagnosis involvement by persona </a:t>
            </a:r>
            <a:r>
              <a:rPr lang="en-US" i="1" strike="sngStrike"/>
              <a:t>(connecting the story to Section 1 split)</a:t>
            </a:r>
            <a:endParaRPr lang="en-US" strike="sngStrike"/>
          </a:p>
          <a:p>
            <a:pPr>
              <a:buNone/>
            </a:pPr>
            <a:r>
              <a:rPr lang="en-US" b="1"/>
              <a:t>HCO Personas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Institution-level role definitions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Specialty, tier, and regional distribution</a:t>
            </a:r>
          </a:p>
          <a:p>
            <a:pPr>
              <a:buNone/>
            </a:pPr>
            <a:r>
              <a:rPr lang="en-US" b="1"/>
              <a:t>Bridger Profiles</a:t>
            </a:r>
            <a:r>
              <a:rPr lang="en-US"/>
              <a:t> </a:t>
            </a:r>
            <a:r>
              <a:rPr lang="en-US" i="1"/>
              <a:t>(can be a callout/highlight slide as they have mentioned </a:t>
            </a:r>
            <a:r>
              <a:rPr lang="en-US" i="1" err="1"/>
              <a:t>bridgers</a:t>
            </a:r>
            <a:r>
              <a:rPr lang="en-US" i="1"/>
              <a:t> in different context in their RFP’s KBQ)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HCPs and HCOs acting as </a:t>
            </a:r>
            <a:r>
              <a:rPr lang="en-US" err="1"/>
              <a:t>bridgers</a:t>
            </a:r>
            <a:r>
              <a:rPr lang="en-US"/>
              <a:t> between otherwise disconnected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Profile: specialty, region, patient management volume, HCP referral directionality</a:t>
            </a:r>
          </a:p>
        </p:txBody>
      </p:sp>
    </p:spTree>
    <p:extLst>
      <p:ext uri="{BB962C8B-B14F-4D97-AF65-F5344CB8AC3E}">
        <p14:creationId xmlns:p14="http://schemas.microsoft.com/office/powerpoint/2010/main" val="4036759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E3322-B95E-6397-0A99-32CD7BC9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8EFE22-BA6D-9530-532E-845D499D0DD5}"/>
              </a:ext>
            </a:extLst>
          </p:cNvPr>
          <p:cNvSpPr txBox="1"/>
          <p:nvPr/>
        </p:nvSpPr>
        <p:spPr>
          <a:xfrm>
            <a:off x="587375" y="751344"/>
            <a:ext cx="113045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Section 3 — Referral Concentration: Where do referral flows cluster geographically and structurally?</a:t>
            </a:r>
          </a:p>
          <a:p>
            <a:r>
              <a:rPr lang="en-US" b="1"/>
              <a:t>Framing question:</a:t>
            </a:r>
            <a:r>
              <a:rPr lang="en-US"/>
              <a:t> Which clusters dominate the referral network and where is referral activity self-contained vs. externally dependent?</a:t>
            </a:r>
          </a:p>
          <a:p>
            <a:r>
              <a:rPr lang="en-US" b="1"/>
              <a:t>Cluster Distribution</a:t>
            </a:r>
            <a:endParaRPr lang="en-US"/>
          </a:p>
          <a:p>
            <a:r>
              <a:rPr lang="en-US"/>
              <a:t>HCP-level, HCO-level, and regional cluster distribution</a:t>
            </a:r>
          </a:p>
          <a:p>
            <a:r>
              <a:rPr lang="en-US" b="1"/>
              <a:t>Cluster Profiles</a:t>
            </a:r>
            <a:r>
              <a:rPr lang="en-US"/>
              <a:t> </a:t>
            </a:r>
            <a:r>
              <a:rPr lang="en-US" i="1"/>
              <a:t>(top clusters by function)</a:t>
            </a:r>
            <a:endParaRPr lang="en-US"/>
          </a:p>
          <a:p>
            <a:r>
              <a:rPr lang="en-US"/>
              <a:t>Top treating clusters | Top diagnosing clusters | Top refer-out clusters</a:t>
            </a:r>
          </a:p>
          <a:p>
            <a:r>
              <a:rPr lang="en-US"/>
              <a:t>Per cluster: specialty mix, regional mix, pre/post-diagnosis involvement, misdiagnosed/diagnosed/treated patient counts, internal vs. external referral ratio</a:t>
            </a:r>
          </a:p>
          <a:p>
            <a:r>
              <a:rPr lang="en-US" b="1"/>
              <a:t>Institutional Concentration</a:t>
            </a:r>
            <a:endParaRPr lang="en-US"/>
          </a:p>
          <a:p>
            <a:r>
              <a:rPr lang="en-US">
                <a:highlight>
                  <a:srgbClr val="FFFF00"/>
                </a:highlight>
              </a:rPr>
              <a:t>% of referrals occurring within same HCO / </a:t>
            </a:r>
            <a:r>
              <a:rPr lang="en-US" err="1">
                <a:highlight>
                  <a:srgbClr val="FFFF00"/>
                </a:highlight>
              </a:rPr>
              <a:t>corp</a:t>
            </a:r>
            <a:r>
              <a:rPr lang="en-US">
                <a:highlight>
                  <a:srgbClr val="FFFF00"/>
                </a:highlight>
              </a:rPr>
              <a:t> parent </a:t>
            </a:r>
            <a:r>
              <a:rPr lang="en-US" i="1">
                <a:highlight>
                  <a:srgbClr val="FFFF00"/>
                </a:highlight>
              </a:rPr>
              <a:t>(moved from Section 2) -&gt; </a:t>
            </a:r>
            <a:endParaRPr lang="en-US">
              <a:highlight>
                <a:srgbClr val="FFFF00"/>
              </a:highlight>
            </a:endParaRPr>
          </a:p>
          <a:p>
            <a:r>
              <a:rPr lang="en-US">
                <a:highlight>
                  <a:srgbClr val="FFFF00"/>
                </a:highlight>
              </a:rPr>
              <a:t>Implication: how much of the network is self-referral vs. cross-institutional</a:t>
            </a:r>
          </a:p>
          <a:p>
            <a:r>
              <a:rPr lang="en-US" b="1"/>
              <a:t>Self-Sustained Hubs</a:t>
            </a:r>
            <a:r>
              <a:rPr lang="en-US"/>
              <a:t> </a:t>
            </a:r>
            <a:r>
              <a:rPr lang="en-US" i="1"/>
              <a:t>(highlight callout in the previous slide itself)</a:t>
            </a:r>
            <a:endParaRPr lang="en-US"/>
          </a:p>
          <a:p>
            <a:r>
              <a:rPr lang="en-US"/>
              <a:t>Single/double-HCP clusters with high treatment or diagnosis volume</a:t>
            </a:r>
          </a:p>
          <a:p>
            <a:r>
              <a:rPr lang="en-US"/>
              <a:t>Name, region, specialty, and treatment profile</a:t>
            </a:r>
          </a:p>
        </p:txBody>
      </p:sp>
    </p:spTree>
    <p:extLst>
      <p:ext uri="{BB962C8B-B14F-4D97-AF65-F5344CB8AC3E}">
        <p14:creationId xmlns:p14="http://schemas.microsoft.com/office/powerpoint/2010/main" val="2474697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AFFFE-2C02-286B-F484-0D66F87A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FC6D9-5692-B05E-832C-C3A3C7078424}"/>
              </a:ext>
            </a:extLst>
          </p:cNvPr>
          <p:cNvSpPr txBox="1"/>
          <p:nvPr/>
        </p:nvSpPr>
        <p:spPr>
          <a:xfrm>
            <a:off x="587375" y="751344"/>
            <a:ext cx="113045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Section 4 — Patient Leakage: Where are patients falling out of the care pathway?</a:t>
            </a:r>
          </a:p>
          <a:p>
            <a:r>
              <a:rPr lang="en-US" b="1"/>
              <a:t>Framing question:</a:t>
            </a:r>
            <a:r>
              <a:rPr lang="en-US"/>
              <a:t> At which points in the referral journey are patients failing to reach diagnosis or treatment and which network characteristics indicate leakage?</a:t>
            </a:r>
          </a:p>
          <a:p>
            <a:r>
              <a:rPr lang="en-US" i="1"/>
              <a:t>[Metrics still being assessed; placeholder framework below for when data is ready]</a:t>
            </a:r>
            <a:endParaRPr lang="en-US"/>
          </a:p>
          <a:p>
            <a:endParaRPr lang="en-US" b="1"/>
          </a:p>
          <a:p>
            <a:r>
              <a:rPr lang="en-US" b="1"/>
              <a:t>Patient Journey assessment</a:t>
            </a:r>
          </a:p>
          <a:p>
            <a:r>
              <a:rPr lang="en-US" b="1"/>
              <a:t>Drop-off by referral step:</a:t>
            </a:r>
            <a:r>
              <a:rPr lang="en-US"/>
              <a:t> % of referred patients who complete each handoff vs. drop out [patients who had to reinitiate their own journey]</a:t>
            </a:r>
          </a:p>
          <a:p>
            <a:r>
              <a:rPr lang="en-US" b="1"/>
              <a:t>Time-gap analysis:</a:t>
            </a:r>
            <a:r>
              <a:rPr lang="en-US"/>
              <a:t> Referral-to-diagnosis lag; diagnosis-to-treatment lag [by cluster and region]</a:t>
            </a:r>
          </a:p>
          <a:p>
            <a:r>
              <a:rPr lang="en-US" b="1"/>
              <a:t>Unresolved referral volume:</a:t>
            </a:r>
            <a:r>
              <a:rPr lang="en-US"/>
              <a:t> Patients referred but never reaching a treating HCP</a:t>
            </a:r>
          </a:p>
          <a:p>
            <a:endParaRPr lang="en-US" b="1"/>
          </a:p>
          <a:p>
            <a:r>
              <a:rPr lang="en-US" b="1"/>
              <a:t>HCP/HCO Assessment</a:t>
            </a:r>
          </a:p>
          <a:p>
            <a:r>
              <a:rPr lang="en-US" b="1"/>
              <a:t>Cycling patients:</a:t>
            </a:r>
            <a:r>
              <a:rPr lang="en-US"/>
              <a:t> Patients with ≥N referrals + NT diagnosis and no treatment initiation [likely diagnostic bottleneck]</a:t>
            </a:r>
          </a:p>
          <a:p>
            <a:r>
              <a:rPr lang="en-US" b="1"/>
              <a:t>Geographic access gaps:</a:t>
            </a:r>
            <a:r>
              <a:rPr lang="en-US"/>
              <a:t> Regions with high patient volume but low specialist density or cluster coverage</a:t>
            </a:r>
          </a:p>
        </p:txBody>
      </p:sp>
    </p:spTree>
    <p:extLst>
      <p:ext uri="{BB962C8B-B14F-4D97-AF65-F5344CB8AC3E}">
        <p14:creationId xmlns:p14="http://schemas.microsoft.com/office/powerpoint/2010/main" val="3240955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87AB47-A9D8-F0F5-F396-F081777C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ED1E-9E05-B12D-A683-E8CA023F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NT referral activity is geographically concentrated in the Southeast and mid-Atlantic, but high volume does not always signal a well-connected network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243414D-5866-7D26-E2DA-80ED0FCDC4A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6769" y="1232758"/>
            <a:ext cx="5728196" cy="328914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A27260D-63D8-0106-812A-8C36E64CF39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87035" y="1236729"/>
            <a:ext cx="5728196" cy="3291840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0D223D4-7758-C6DB-4AFB-0AD50CD41CA5}"/>
              </a:ext>
            </a:extLst>
          </p:cNvPr>
          <p:cNvSpPr/>
          <p:nvPr/>
        </p:nvSpPr>
        <p:spPr>
          <a:xfrm>
            <a:off x="1117" y="5586303"/>
            <a:ext cx="12190881" cy="1271689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TN is the single most active referral hub in the country with HCPs referring and rendering actively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The Southeast corridor (TN, GA, NC, SC, AL) shows consistently elevated activity across both metrics indicating regional clusters with more structured referral activities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7383D31-5F04-3DB3-16BB-B06A5CA2575C}"/>
              </a:ext>
            </a:extLst>
          </p:cNvPr>
          <p:cNvGrpSpPr/>
          <p:nvPr/>
        </p:nvGrpSpPr>
        <p:grpSpPr>
          <a:xfrm>
            <a:off x="1113" y="5280485"/>
            <a:ext cx="5795965" cy="319265"/>
            <a:chOff x="0" y="2140992"/>
            <a:chExt cx="2880042" cy="34718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CACAEED-6797-6EAD-F2A5-57AB23BF77D6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D50C42D-D524-2150-069E-B0DFDE3F163B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6165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3845C5-699C-0522-CEB4-945E220CF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321C5-A3AC-0A2B-592A-20D8F028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161605"/>
            <a:ext cx="10014297" cy="685801"/>
          </a:xfrm>
        </p:spPr>
        <p:txBody>
          <a:bodyPr>
            <a:noAutofit/>
          </a:bodyPr>
          <a:lstStyle/>
          <a:p>
            <a:r>
              <a:rPr lang="en-US" sz="2000">
                <a:latin typeface="Calibri"/>
                <a:ea typeface="メイリオ"/>
                <a:cs typeface="Calibri"/>
              </a:rPr>
              <a:t>Michigan, Pennsylvania, and Ohio form the structural backbone of the NT referral network, where engagement has the highest systemic leverage beyond raw volume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362C6-9E54-68CC-1D7A-AFFAB4B7ED1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45" r="1553" b="5825"/>
          <a:stretch>
            <a:fillRect/>
          </a:stretch>
        </p:blipFill>
        <p:spPr>
          <a:xfrm>
            <a:off x="306706" y="1195682"/>
            <a:ext cx="5739487" cy="331578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20EA9A4-5B47-503E-DF75-692E1F27508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05477" y="1263822"/>
            <a:ext cx="5681759" cy="326248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ACDF68-42A0-1F8A-F12C-A17ED6CDA877}"/>
              </a:ext>
            </a:extLst>
          </p:cNvPr>
          <p:cNvSpPr/>
          <p:nvPr/>
        </p:nvSpPr>
        <p:spPr>
          <a:xfrm>
            <a:off x="1117" y="5586303"/>
            <a:ext cx="12190881" cy="1271689"/>
          </a:xfrm>
          <a:prstGeom prst="roundRect">
            <a:avLst>
              <a:gd name="adj" fmla="val 2800"/>
            </a:avLst>
          </a:prstGeom>
          <a:solidFill>
            <a:schemeClr val="accent6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TX shows strong indegree and outdegree consistent with specialist concentration, but the network influence metrics indicate a lack of establish referral pattern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MI, PA and OH show strongest signal of a mature, trusted referral network with most critical bridges and high-quality inflow making them most structurally complete market in the country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cs typeface="Arial" panose="020B0604020202020204" pitchFamily="34" charset="0"/>
              </a:rPr>
              <a:t>MS appears prominently on PageRank despite being modest on volume metrics showing signs of a sleeper market with unexpectedly influential HCPs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94C9D8-24C1-DA3C-E310-A12D092869AB}"/>
              </a:ext>
            </a:extLst>
          </p:cNvPr>
          <p:cNvGrpSpPr/>
          <p:nvPr/>
        </p:nvGrpSpPr>
        <p:grpSpPr>
          <a:xfrm>
            <a:off x="1113" y="5280485"/>
            <a:ext cx="5795965" cy="319265"/>
            <a:chOff x="0" y="2140992"/>
            <a:chExt cx="2880042" cy="3471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67AD4D-B244-855B-A506-59A2B8BFF15A}"/>
                </a:ext>
              </a:extLst>
            </p:cNvPr>
            <p:cNvSpPr txBox="1"/>
            <p:nvPr/>
          </p:nvSpPr>
          <p:spPr>
            <a:xfrm>
              <a:off x="1760219" y="2140992"/>
              <a:ext cx="1119823" cy="347180"/>
            </a:xfrm>
            <a:prstGeom prst="parallelogram">
              <a:avLst/>
            </a:prstGeom>
            <a:gradFill rotWithShape="1">
              <a:gsLst>
                <a:gs pos="0">
                  <a:srgbClr val="001E96"/>
                </a:gs>
                <a:gs pos="3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ctr" defTabSz="914400">
                <a:defRPr sz="1400" b="1"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/>
              <a:lvl3pPr defTabSz="914400"/>
              <a:lvl4pPr defTabSz="914400"/>
              <a:lvl5pPr defTabSz="914400"/>
              <a:lvl6pPr defTabSz="914400"/>
              <a:lvl7pPr defTabSz="914400"/>
              <a:lvl8pPr defTabSz="914400"/>
              <a:lvl9pPr defTabSz="914400"/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64E7217-D015-954E-4F5D-2E7A9020E2D9}"/>
                </a:ext>
              </a:extLst>
            </p:cNvPr>
            <p:cNvSpPr txBox="1"/>
            <p:nvPr/>
          </p:nvSpPr>
          <p:spPr>
            <a:xfrm>
              <a:off x="0" y="2140992"/>
              <a:ext cx="2800190" cy="347180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182880" rtlCol="0" anchor="ctr"/>
            <a:lstStyle>
              <a:defPPr>
                <a:defRPr lang="en-US"/>
              </a:defPPr>
              <a:lvl1pPr algn="ctr" defTabSz="914400">
                <a:defRPr sz="1400" b="1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defTabSz="914400">
                <a:defRPr>
                  <a:solidFill>
                    <a:schemeClr val="lt1"/>
                  </a:solidFill>
                </a:defRPr>
              </a:lvl2pPr>
              <a:lvl3pPr defTabSz="914400">
                <a:defRPr>
                  <a:solidFill>
                    <a:schemeClr val="lt1"/>
                  </a:solidFill>
                </a:defRPr>
              </a:lvl3pPr>
              <a:lvl4pPr defTabSz="914400">
                <a:defRPr>
                  <a:solidFill>
                    <a:schemeClr val="lt1"/>
                  </a:solidFill>
                </a:defRPr>
              </a:lvl4pPr>
              <a:lvl5pPr defTabSz="914400">
                <a:defRPr>
                  <a:solidFill>
                    <a:schemeClr val="lt1"/>
                  </a:solidFill>
                </a:defRPr>
              </a:lvl5pPr>
              <a:lvl6pPr defTabSz="914400">
                <a:defRPr>
                  <a:solidFill>
                    <a:schemeClr val="lt1"/>
                  </a:solidFill>
                </a:defRPr>
              </a:lvl6pPr>
              <a:lvl7pPr defTabSz="914400">
                <a:defRPr>
                  <a:solidFill>
                    <a:schemeClr val="lt1"/>
                  </a:solidFill>
                </a:defRPr>
              </a:lvl7pPr>
              <a:lvl8pPr defTabSz="914400">
                <a:defRPr>
                  <a:solidFill>
                    <a:schemeClr val="lt1"/>
                  </a:solidFill>
                </a:defRPr>
              </a:lvl8pPr>
              <a:lvl9pPr defTabSz="914400"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Key Insights</a:t>
              </a:r>
              <a:endParaRPr kumimoji="0" lang="en-I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63624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1s2wmrLno._6pCV7LnEig"/>
</p:tagLst>
</file>

<file path=ppt/theme/theme1.xml><?xml version="1.0" encoding="utf-8"?>
<a:theme xmlns:a="http://schemas.openxmlformats.org/drawingml/2006/main" name="Takeda Slide Master">
  <a:themeElements>
    <a:clrScheme name="Takeda 2021">
      <a:dk1>
        <a:srgbClr val="34373F"/>
      </a:dk1>
      <a:lt1>
        <a:srgbClr val="FFFFFF"/>
      </a:lt1>
      <a:dk2>
        <a:srgbClr val="34373F"/>
      </a:dk2>
      <a:lt2>
        <a:srgbClr val="FFFFFF"/>
      </a:lt2>
      <a:accent1>
        <a:srgbClr val="E1242A"/>
      </a:accent1>
      <a:accent2>
        <a:srgbClr val="891515"/>
      </a:accent2>
      <a:accent3>
        <a:srgbClr val="34373F"/>
      </a:accent3>
      <a:accent4>
        <a:srgbClr val="A1A4AC"/>
      </a:accent4>
      <a:accent5>
        <a:srgbClr val="EDF2F4"/>
      </a:accent5>
      <a:accent6>
        <a:srgbClr val="FFFFFF"/>
      </a:accent6>
      <a:hlink>
        <a:srgbClr val="34373F"/>
      </a:hlink>
      <a:folHlink>
        <a:srgbClr val="34373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>
          <a:noFill/>
        </a:ln>
      </a:spPr>
      <a:bodyPr wrap="none" rtlCol="0" anchor="ctr"/>
      <a:lstStyle>
        <a:defPPr algn="ctr">
          <a:defRPr kumimoji="1"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CC671639-4675-498F-8406-CC38EFAC0128}" vid="{D2ECA16B-CEDF-4EB1-A5E5-09346E461B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C0ADFC5632814CA7D2D3F1C5FF0BA5" ma:contentTypeVersion="3" ma:contentTypeDescription="Create a new document." ma:contentTypeScope="" ma:versionID="8f94ccf661bcddf2add3d3c527f6f2b2">
  <xsd:schema xmlns:xsd="http://www.w3.org/2001/XMLSchema" xmlns:xs="http://www.w3.org/2001/XMLSchema" xmlns:p="http://schemas.microsoft.com/office/2006/metadata/properties" xmlns:ns2="29515f28-0067-4e3d-88f7-fd77f71d03fc" targetNamespace="http://schemas.microsoft.com/office/2006/metadata/properties" ma:root="true" ma:fieldsID="b8ae23a0b97d05e64ad6aa8bf5fb757d" ns2:_="">
    <xsd:import namespace="29515f28-0067-4e3d-88f7-fd77f71d03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515f28-0067-4e3d-88f7-fd77f71d03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BF8E4D-3837-4167-AF2B-0483A302A5CA}">
  <ds:schemaRefs>
    <ds:schemaRef ds:uri="29515f28-0067-4e3d-88f7-fd77f71d03f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488FFDA-66DF-4BBB-BDB8-2D01BEBAEE71}">
  <ds:schemaRefs>
    <ds:schemaRef ds:uri="29515f28-0067-4e3d-88f7-fd77f71d03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946E90B-F958-463E-A29E-0EAC991B4BE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fc6179-cf92-4f92-9433-e720ff626f56}" enabled="0" method="" siteId="{40fc6179-cf92-4f92-9433-e720ff626f5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3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Takeda Slide Master</vt:lpstr>
      <vt:lpstr>TAK-861 HCP Referral Analysis Project Updates Discussion</vt:lpstr>
      <vt:lpstr>Agenda </vt:lpstr>
      <vt:lpstr>The NT referral network is highly concentrated with a distinct group of HCPs forming its established core</vt:lpstr>
      <vt:lpstr>An average NT patient touches 7 HCPs before ever receiving a diagnosis, but only 2 of these interactions are through referrals and the journey doesn't simplify after</vt:lpstr>
      <vt:lpstr>These metrics together help identify who receives patients, redirects them, ensures correct routing, and drives overall influence in the referral network</vt:lpstr>
      <vt:lpstr>These HCP personas capture the distinct roles patients encounter as they navigate the NT1 referral network from initial symptoms to eventual treatment</vt:lpstr>
      <vt:lpstr>A small, high-impact cohort of 5% HCPs accounts for a disproportionate share of 62% of top-decile targets in the NT network</vt:lpstr>
      <vt:lpstr>While Super Diagnosers and Key Influencers drive the highest share of top-decile targets, they require fundamentally different engagement strategies due to distinct specialty and profile mix</vt:lpstr>
      <vt:lpstr>NT referral activity is geographically concentrated in the Southeast and mid-Atlantic, but high volume does not always signal a well-connected network</vt:lpstr>
      <vt:lpstr>Michigan, Pennsylvania, and Ohio form the structural backbone of the NT referral network, where engagement has the highest systemic leverage beyond raw volume</vt:lpstr>
      <vt:lpstr>NT referral communities are defined by relationships, not institutions as HCPs consistently refer within their behavioral network regardless of where they practice</vt:lpstr>
      <vt:lpstr>The majority of NT referral clusters are small, PCP-led communities with near-zero overlap with current target lists, indicating that most NT patient management is occurring below the commercial radar</vt:lpstr>
      <vt:lpstr>Misdiagnosis affects at least 70% of NT patients, with Anxiety and Fatigue driving early diagnostic misdirection and Sleep-related conditions serving as the most proximate gateway to NT identification</vt:lpstr>
      <vt:lpstr>Markov Chain Analysis Reveals Systemic Pre-Diagnosis Referral Leakage through Specialty and Persona</vt:lpstr>
      <vt:lpstr>Misdiagnosis and referral gaps in key specialties are driving the longest delays” “Psychiatry, PCPs, and NP/PAs emerge as major Sink Nodes in the journey </vt:lpstr>
      <vt:lpstr>States with the longest diagnostic gaps are not the same where treatment access is slowest, pointing to distinct regional intervention priorities</vt:lpstr>
      <vt:lpstr>PowerPoint Presentation</vt:lpstr>
      <vt:lpstr>PowerPoint Presentation</vt:lpstr>
      <vt:lpstr>PowerPoint Presentation</vt:lpstr>
      <vt:lpstr>PowerPoint Presentation</vt:lpstr>
      <vt:lpstr>NT referral activity is geographically concentrated in the Southeast and mid-Atlantic, but high volume does not always signal a well-connected network</vt:lpstr>
      <vt:lpstr>Michigan, Pennsylvania, and Ohio form the structural backbone of the NT referral network, where engagement has the highest systemic leverage beyond raw volume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Kanika Maheshwari</dc:creator>
  <cp:revision>1</cp:revision>
  <dcterms:created xsi:type="dcterms:W3CDTF">2026-04-27T13:52:18Z</dcterms:created>
  <dcterms:modified xsi:type="dcterms:W3CDTF">2026-05-05T06:24:15Z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0x0101004EC0ADFC5632814CA7D2D3F1C5FF0BA5</vt:lpwstr>
  </property>
</Properties>
</file>